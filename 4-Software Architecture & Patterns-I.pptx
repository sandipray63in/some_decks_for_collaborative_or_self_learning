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notesSlides/notesSlide1.xml" ContentType="application/vnd.openxmlformats-officedocument.presentationml.notesSlide+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notesSlides/notesSlide2.xml" ContentType="application/vnd.openxmlformats-officedocument.presentationml.notesSlide+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notesSlides/notesSlide3.xml" ContentType="application/vnd.openxmlformats-officedocument.presentationml.notesSlide+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notesSlides/notesSlide4.xml" ContentType="application/vnd.openxmlformats-officedocument.presentationml.notesSlide+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notesSlides/notesSlide5.xml" ContentType="application/vnd.openxmlformats-officedocument.presentationml.notesSlide+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notesSlides/notesSlide6.xml" ContentType="application/vnd.openxmlformats-officedocument.presentationml.notesSlide+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notesSlides/notesSlide7.xml" ContentType="application/vnd.openxmlformats-officedocument.presentationml.notesSlide+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notesSlides/notesSlide8.xml" ContentType="application/vnd.openxmlformats-officedocument.presentationml.notesSlide+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notesSlides/notesSlide9.xml" ContentType="application/vnd.openxmlformats-officedocument.presentationml.notesSlide+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notesSlides/notesSlide10.xml" ContentType="application/vnd.openxmlformats-officedocument.presentationml.notesSlide+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notesSlides/notesSlide11.xml" ContentType="application/vnd.openxmlformats-officedocument.presentationml.notesSlide+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notesSlides/notesSlide12.xml" ContentType="application/vnd.openxmlformats-officedocument.presentationml.notesSlide+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notesSlides/notesSlide13.xml" ContentType="application/vnd.openxmlformats-officedocument.presentationml.notesSlide+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notesSlides/notesSlide14.xml" ContentType="application/vnd.openxmlformats-officedocument.presentationml.notesSlide+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notesSlides/notesSlide15.xml" ContentType="application/vnd.openxmlformats-officedocument.presentationml.notesSlide+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diagrams/data183.xml" ContentType="application/vnd.openxmlformats-officedocument.drawingml.diagramData+xml"/>
  <Override PartName="/ppt/diagrams/layout183.xml" ContentType="application/vnd.openxmlformats-officedocument.drawingml.diagramLayout+xml"/>
  <Override PartName="/ppt/diagrams/quickStyle183.xml" ContentType="application/vnd.openxmlformats-officedocument.drawingml.diagramStyle+xml"/>
  <Override PartName="/ppt/diagrams/colors183.xml" ContentType="application/vnd.openxmlformats-officedocument.drawingml.diagramColors+xml"/>
  <Override PartName="/ppt/diagrams/drawing183.xml" ContentType="application/vnd.ms-office.drawingml.diagramDrawing+xml"/>
  <Override PartName="/ppt/diagrams/data184.xml" ContentType="application/vnd.openxmlformats-officedocument.drawingml.diagramData+xml"/>
  <Override PartName="/ppt/diagrams/layout184.xml" ContentType="application/vnd.openxmlformats-officedocument.drawingml.diagramLayout+xml"/>
  <Override PartName="/ppt/diagrams/quickStyle184.xml" ContentType="application/vnd.openxmlformats-officedocument.drawingml.diagramStyle+xml"/>
  <Override PartName="/ppt/diagrams/colors184.xml" ContentType="application/vnd.openxmlformats-officedocument.drawingml.diagramColors+xml"/>
  <Override PartName="/ppt/diagrams/drawing184.xml" ContentType="application/vnd.ms-office.drawingml.diagramDrawing+xml"/>
  <Override PartName="/ppt/diagrams/data185.xml" ContentType="application/vnd.openxmlformats-officedocument.drawingml.diagramData+xml"/>
  <Override PartName="/ppt/diagrams/layout185.xml" ContentType="application/vnd.openxmlformats-officedocument.drawingml.diagramLayout+xml"/>
  <Override PartName="/ppt/diagrams/quickStyle185.xml" ContentType="application/vnd.openxmlformats-officedocument.drawingml.diagramStyle+xml"/>
  <Override PartName="/ppt/diagrams/colors185.xml" ContentType="application/vnd.openxmlformats-officedocument.drawingml.diagramColors+xml"/>
  <Override PartName="/ppt/diagrams/drawing185.xml" ContentType="application/vnd.ms-office.drawingml.diagramDrawing+xml"/>
  <Override PartName="/ppt/diagrams/data186.xml" ContentType="application/vnd.openxmlformats-officedocument.drawingml.diagramData+xml"/>
  <Override PartName="/ppt/diagrams/layout186.xml" ContentType="application/vnd.openxmlformats-officedocument.drawingml.diagramLayout+xml"/>
  <Override PartName="/ppt/diagrams/quickStyle186.xml" ContentType="application/vnd.openxmlformats-officedocument.drawingml.diagramStyle+xml"/>
  <Override PartName="/ppt/diagrams/colors186.xml" ContentType="application/vnd.openxmlformats-officedocument.drawingml.diagramColors+xml"/>
  <Override PartName="/ppt/diagrams/drawing186.xml" ContentType="application/vnd.ms-office.drawingml.diagramDrawing+xml"/>
  <Override PartName="/ppt/notesSlides/notesSlide16.xml" ContentType="application/vnd.openxmlformats-officedocument.presentationml.notesSlide+xml"/>
  <Override PartName="/ppt/diagrams/data187.xml" ContentType="application/vnd.openxmlformats-officedocument.drawingml.diagramData+xml"/>
  <Override PartName="/ppt/diagrams/layout187.xml" ContentType="application/vnd.openxmlformats-officedocument.drawingml.diagramLayout+xml"/>
  <Override PartName="/ppt/diagrams/quickStyle187.xml" ContentType="application/vnd.openxmlformats-officedocument.drawingml.diagramStyle+xml"/>
  <Override PartName="/ppt/diagrams/colors187.xml" ContentType="application/vnd.openxmlformats-officedocument.drawingml.diagramColors+xml"/>
  <Override PartName="/ppt/diagrams/drawing187.xml" ContentType="application/vnd.ms-office.drawingml.diagramDrawing+xml"/>
  <Override PartName="/ppt/notesSlides/notesSlide17.xml" ContentType="application/vnd.openxmlformats-officedocument.presentationml.notesSlide+xml"/>
  <Override PartName="/ppt/diagrams/data188.xml" ContentType="application/vnd.openxmlformats-officedocument.drawingml.diagramData+xml"/>
  <Override PartName="/ppt/diagrams/layout188.xml" ContentType="application/vnd.openxmlformats-officedocument.drawingml.diagramLayout+xml"/>
  <Override PartName="/ppt/diagrams/quickStyle188.xml" ContentType="application/vnd.openxmlformats-officedocument.drawingml.diagramStyle+xml"/>
  <Override PartName="/ppt/diagrams/colors188.xml" ContentType="application/vnd.openxmlformats-officedocument.drawingml.diagramColors+xml"/>
  <Override PartName="/ppt/diagrams/drawing188.xml" ContentType="application/vnd.ms-office.drawingml.diagramDrawing+xml"/>
  <Override PartName="/ppt/diagrams/data189.xml" ContentType="application/vnd.openxmlformats-officedocument.drawingml.diagramData+xml"/>
  <Override PartName="/ppt/diagrams/layout189.xml" ContentType="application/vnd.openxmlformats-officedocument.drawingml.diagramLayout+xml"/>
  <Override PartName="/ppt/diagrams/quickStyle189.xml" ContentType="application/vnd.openxmlformats-officedocument.drawingml.diagramStyle+xml"/>
  <Override PartName="/ppt/diagrams/colors189.xml" ContentType="application/vnd.openxmlformats-officedocument.drawingml.diagramColors+xml"/>
  <Override PartName="/ppt/diagrams/drawing189.xml" ContentType="application/vnd.ms-office.drawingml.diagramDrawing+xml"/>
  <Override PartName="/ppt/diagrams/data190.xml" ContentType="application/vnd.openxmlformats-officedocument.drawingml.diagramData+xml"/>
  <Override PartName="/ppt/diagrams/layout190.xml" ContentType="application/vnd.openxmlformats-officedocument.drawingml.diagramLayout+xml"/>
  <Override PartName="/ppt/diagrams/quickStyle190.xml" ContentType="application/vnd.openxmlformats-officedocument.drawingml.diagramStyle+xml"/>
  <Override PartName="/ppt/diagrams/colors190.xml" ContentType="application/vnd.openxmlformats-officedocument.drawingml.diagramColors+xml"/>
  <Override PartName="/ppt/diagrams/drawing190.xml" ContentType="application/vnd.ms-office.drawingml.diagramDrawing+xml"/>
  <Override PartName="/ppt/diagrams/data191.xml" ContentType="application/vnd.openxmlformats-officedocument.drawingml.diagramData+xml"/>
  <Override PartName="/ppt/diagrams/layout191.xml" ContentType="application/vnd.openxmlformats-officedocument.drawingml.diagramLayout+xml"/>
  <Override PartName="/ppt/diagrams/quickStyle191.xml" ContentType="application/vnd.openxmlformats-officedocument.drawingml.diagramStyle+xml"/>
  <Override PartName="/ppt/diagrams/colors191.xml" ContentType="application/vnd.openxmlformats-officedocument.drawingml.diagramColors+xml"/>
  <Override PartName="/ppt/diagrams/drawing191.xml" ContentType="application/vnd.ms-office.drawingml.diagramDrawing+xml"/>
  <Override PartName="/ppt/diagrams/data192.xml" ContentType="application/vnd.openxmlformats-officedocument.drawingml.diagramData+xml"/>
  <Override PartName="/ppt/diagrams/layout192.xml" ContentType="application/vnd.openxmlformats-officedocument.drawingml.diagramLayout+xml"/>
  <Override PartName="/ppt/diagrams/quickStyle192.xml" ContentType="application/vnd.openxmlformats-officedocument.drawingml.diagramStyle+xml"/>
  <Override PartName="/ppt/diagrams/colors192.xml" ContentType="application/vnd.openxmlformats-officedocument.drawingml.diagramColors+xml"/>
  <Override PartName="/ppt/diagrams/drawing192.xml" ContentType="application/vnd.ms-office.drawingml.diagramDrawing+xml"/>
  <Override PartName="/ppt/diagrams/data193.xml" ContentType="application/vnd.openxmlformats-officedocument.drawingml.diagramData+xml"/>
  <Override PartName="/ppt/diagrams/layout193.xml" ContentType="application/vnd.openxmlformats-officedocument.drawingml.diagramLayout+xml"/>
  <Override PartName="/ppt/diagrams/quickStyle193.xml" ContentType="application/vnd.openxmlformats-officedocument.drawingml.diagramStyle+xml"/>
  <Override PartName="/ppt/diagrams/colors193.xml" ContentType="application/vnd.openxmlformats-officedocument.drawingml.diagramColors+xml"/>
  <Override PartName="/ppt/diagrams/drawing193.xml" ContentType="application/vnd.ms-office.drawingml.diagramDrawing+xml"/>
  <Override PartName="/ppt/diagrams/data194.xml" ContentType="application/vnd.openxmlformats-officedocument.drawingml.diagramData+xml"/>
  <Override PartName="/ppt/diagrams/layout194.xml" ContentType="application/vnd.openxmlformats-officedocument.drawingml.diagramLayout+xml"/>
  <Override PartName="/ppt/diagrams/quickStyle194.xml" ContentType="application/vnd.openxmlformats-officedocument.drawingml.diagramStyle+xml"/>
  <Override PartName="/ppt/diagrams/colors194.xml" ContentType="application/vnd.openxmlformats-officedocument.drawingml.diagramColors+xml"/>
  <Override PartName="/ppt/diagrams/drawing194.xml" ContentType="application/vnd.ms-office.drawingml.diagramDrawing+xml"/>
  <Override PartName="/ppt/diagrams/data195.xml" ContentType="application/vnd.openxmlformats-officedocument.drawingml.diagramData+xml"/>
  <Override PartName="/ppt/diagrams/layout195.xml" ContentType="application/vnd.openxmlformats-officedocument.drawingml.diagramLayout+xml"/>
  <Override PartName="/ppt/diagrams/quickStyle195.xml" ContentType="application/vnd.openxmlformats-officedocument.drawingml.diagramStyle+xml"/>
  <Override PartName="/ppt/diagrams/colors195.xml" ContentType="application/vnd.openxmlformats-officedocument.drawingml.diagramColors+xml"/>
  <Override PartName="/ppt/diagrams/drawing195.xml" ContentType="application/vnd.ms-office.drawingml.diagramDrawing+xml"/>
  <Override PartName="/ppt/diagrams/data196.xml" ContentType="application/vnd.openxmlformats-officedocument.drawingml.diagramData+xml"/>
  <Override PartName="/ppt/diagrams/layout196.xml" ContentType="application/vnd.openxmlformats-officedocument.drawingml.diagramLayout+xml"/>
  <Override PartName="/ppt/diagrams/quickStyle196.xml" ContentType="application/vnd.openxmlformats-officedocument.drawingml.diagramStyle+xml"/>
  <Override PartName="/ppt/diagrams/colors196.xml" ContentType="application/vnd.openxmlformats-officedocument.drawingml.diagramColors+xml"/>
  <Override PartName="/ppt/diagrams/drawing196.xml" ContentType="application/vnd.ms-office.drawingml.diagramDrawing+xml"/>
  <Override PartName="/ppt/diagrams/data197.xml" ContentType="application/vnd.openxmlformats-officedocument.drawingml.diagramData+xml"/>
  <Override PartName="/ppt/diagrams/layout197.xml" ContentType="application/vnd.openxmlformats-officedocument.drawingml.diagramLayout+xml"/>
  <Override PartName="/ppt/diagrams/quickStyle197.xml" ContentType="application/vnd.openxmlformats-officedocument.drawingml.diagramStyle+xml"/>
  <Override PartName="/ppt/diagrams/colors197.xml" ContentType="application/vnd.openxmlformats-officedocument.drawingml.diagramColors+xml"/>
  <Override PartName="/ppt/diagrams/drawing197.xml" ContentType="application/vnd.ms-office.drawingml.diagramDrawing+xml"/>
  <Override PartName="/ppt/diagrams/data198.xml" ContentType="application/vnd.openxmlformats-officedocument.drawingml.diagramData+xml"/>
  <Override PartName="/ppt/diagrams/layout198.xml" ContentType="application/vnd.openxmlformats-officedocument.drawingml.diagramLayout+xml"/>
  <Override PartName="/ppt/diagrams/quickStyle198.xml" ContentType="application/vnd.openxmlformats-officedocument.drawingml.diagramStyle+xml"/>
  <Override PartName="/ppt/diagrams/colors198.xml" ContentType="application/vnd.openxmlformats-officedocument.drawingml.diagramColors+xml"/>
  <Override PartName="/ppt/diagrams/drawing198.xml" ContentType="application/vnd.ms-office.drawingml.diagramDrawing+xml"/>
  <Override PartName="/ppt/diagrams/data199.xml" ContentType="application/vnd.openxmlformats-officedocument.drawingml.diagramData+xml"/>
  <Override PartName="/ppt/diagrams/layout199.xml" ContentType="application/vnd.openxmlformats-officedocument.drawingml.diagramLayout+xml"/>
  <Override PartName="/ppt/diagrams/quickStyle199.xml" ContentType="application/vnd.openxmlformats-officedocument.drawingml.diagramStyle+xml"/>
  <Override PartName="/ppt/diagrams/colors199.xml" ContentType="application/vnd.openxmlformats-officedocument.drawingml.diagramColors+xml"/>
  <Override PartName="/ppt/diagrams/drawing199.xml" ContentType="application/vnd.ms-office.drawingml.diagramDrawing+xml"/>
  <Override PartName="/ppt/diagrams/data200.xml" ContentType="application/vnd.openxmlformats-officedocument.drawingml.diagramData+xml"/>
  <Override PartName="/ppt/diagrams/layout200.xml" ContentType="application/vnd.openxmlformats-officedocument.drawingml.diagramLayout+xml"/>
  <Override PartName="/ppt/diagrams/quickStyle200.xml" ContentType="application/vnd.openxmlformats-officedocument.drawingml.diagramStyle+xml"/>
  <Override PartName="/ppt/diagrams/colors200.xml" ContentType="application/vnd.openxmlformats-officedocument.drawingml.diagramColors+xml"/>
  <Override PartName="/ppt/diagrams/drawing200.xml" ContentType="application/vnd.ms-office.drawingml.diagramDrawing+xml"/>
  <Override PartName="/ppt/diagrams/data201.xml" ContentType="application/vnd.openxmlformats-officedocument.drawingml.diagramData+xml"/>
  <Override PartName="/ppt/diagrams/layout201.xml" ContentType="application/vnd.openxmlformats-officedocument.drawingml.diagramLayout+xml"/>
  <Override PartName="/ppt/diagrams/quickStyle201.xml" ContentType="application/vnd.openxmlformats-officedocument.drawingml.diagramStyle+xml"/>
  <Override PartName="/ppt/diagrams/colors201.xml" ContentType="application/vnd.openxmlformats-officedocument.drawingml.diagramColors+xml"/>
  <Override PartName="/ppt/diagrams/drawing201.xml" ContentType="application/vnd.ms-office.drawingml.diagramDrawing+xml"/>
  <Override PartName="/ppt/diagrams/data202.xml" ContentType="application/vnd.openxmlformats-officedocument.drawingml.diagramData+xml"/>
  <Override PartName="/ppt/diagrams/layout202.xml" ContentType="application/vnd.openxmlformats-officedocument.drawingml.diagramLayout+xml"/>
  <Override PartName="/ppt/diagrams/quickStyle202.xml" ContentType="application/vnd.openxmlformats-officedocument.drawingml.diagramStyle+xml"/>
  <Override PartName="/ppt/diagrams/colors202.xml" ContentType="application/vnd.openxmlformats-officedocument.drawingml.diagramColors+xml"/>
  <Override PartName="/ppt/diagrams/drawing202.xml" ContentType="application/vnd.ms-office.drawingml.diagramDrawing+xml"/>
  <Override PartName="/ppt/diagrams/data203.xml" ContentType="application/vnd.openxmlformats-officedocument.drawingml.diagramData+xml"/>
  <Override PartName="/ppt/diagrams/layout203.xml" ContentType="application/vnd.openxmlformats-officedocument.drawingml.diagramLayout+xml"/>
  <Override PartName="/ppt/diagrams/quickStyle203.xml" ContentType="application/vnd.openxmlformats-officedocument.drawingml.diagramStyle+xml"/>
  <Override PartName="/ppt/diagrams/colors203.xml" ContentType="application/vnd.openxmlformats-officedocument.drawingml.diagramColors+xml"/>
  <Override PartName="/ppt/diagrams/drawing203.xml" ContentType="application/vnd.ms-office.drawingml.diagramDrawing+xml"/>
  <Override PartName="/ppt/diagrams/data204.xml" ContentType="application/vnd.openxmlformats-officedocument.drawingml.diagramData+xml"/>
  <Override PartName="/ppt/diagrams/layout204.xml" ContentType="application/vnd.openxmlformats-officedocument.drawingml.diagramLayout+xml"/>
  <Override PartName="/ppt/diagrams/quickStyle204.xml" ContentType="application/vnd.openxmlformats-officedocument.drawingml.diagramStyle+xml"/>
  <Override PartName="/ppt/diagrams/colors204.xml" ContentType="application/vnd.openxmlformats-officedocument.drawingml.diagramColors+xml"/>
  <Override PartName="/ppt/diagrams/drawing204.xml" ContentType="application/vnd.ms-office.drawingml.diagramDrawing+xml"/>
  <Override PartName="/ppt/diagrams/data205.xml" ContentType="application/vnd.openxmlformats-officedocument.drawingml.diagramData+xml"/>
  <Override PartName="/ppt/diagrams/layout205.xml" ContentType="application/vnd.openxmlformats-officedocument.drawingml.diagramLayout+xml"/>
  <Override PartName="/ppt/diagrams/quickStyle205.xml" ContentType="application/vnd.openxmlformats-officedocument.drawingml.diagramStyle+xml"/>
  <Override PartName="/ppt/diagrams/colors205.xml" ContentType="application/vnd.openxmlformats-officedocument.drawingml.diagramColors+xml"/>
  <Override PartName="/ppt/diagrams/drawing205.xml" ContentType="application/vnd.ms-office.drawingml.diagramDrawing+xml"/>
  <Override PartName="/ppt/diagrams/data206.xml" ContentType="application/vnd.openxmlformats-officedocument.drawingml.diagramData+xml"/>
  <Override PartName="/ppt/diagrams/layout206.xml" ContentType="application/vnd.openxmlformats-officedocument.drawingml.diagramLayout+xml"/>
  <Override PartName="/ppt/diagrams/quickStyle206.xml" ContentType="application/vnd.openxmlformats-officedocument.drawingml.diagramStyle+xml"/>
  <Override PartName="/ppt/diagrams/colors206.xml" ContentType="application/vnd.openxmlformats-officedocument.drawingml.diagramColors+xml"/>
  <Override PartName="/ppt/diagrams/drawing206.xml" ContentType="application/vnd.ms-office.drawingml.diagramDrawing+xml"/>
  <Override PartName="/ppt/diagrams/data207.xml" ContentType="application/vnd.openxmlformats-officedocument.drawingml.diagramData+xml"/>
  <Override PartName="/ppt/diagrams/layout207.xml" ContentType="application/vnd.openxmlformats-officedocument.drawingml.diagramLayout+xml"/>
  <Override PartName="/ppt/diagrams/quickStyle207.xml" ContentType="application/vnd.openxmlformats-officedocument.drawingml.diagramStyle+xml"/>
  <Override PartName="/ppt/diagrams/colors207.xml" ContentType="application/vnd.openxmlformats-officedocument.drawingml.diagramColors+xml"/>
  <Override PartName="/ppt/diagrams/drawing207.xml" ContentType="application/vnd.ms-office.drawingml.diagramDrawing+xml"/>
  <Override PartName="/ppt/diagrams/data208.xml" ContentType="application/vnd.openxmlformats-officedocument.drawingml.diagramData+xml"/>
  <Override PartName="/ppt/diagrams/layout208.xml" ContentType="application/vnd.openxmlformats-officedocument.drawingml.diagramLayout+xml"/>
  <Override PartName="/ppt/diagrams/quickStyle208.xml" ContentType="application/vnd.openxmlformats-officedocument.drawingml.diagramStyle+xml"/>
  <Override PartName="/ppt/diagrams/colors208.xml" ContentType="application/vnd.openxmlformats-officedocument.drawingml.diagramColors+xml"/>
  <Override PartName="/ppt/diagrams/drawing208.xml" ContentType="application/vnd.ms-office.drawingml.diagramDrawing+xml"/>
  <Override PartName="/ppt/diagrams/data209.xml" ContentType="application/vnd.openxmlformats-officedocument.drawingml.diagramData+xml"/>
  <Override PartName="/ppt/diagrams/layout209.xml" ContentType="application/vnd.openxmlformats-officedocument.drawingml.diagramLayout+xml"/>
  <Override PartName="/ppt/diagrams/quickStyle209.xml" ContentType="application/vnd.openxmlformats-officedocument.drawingml.diagramStyle+xml"/>
  <Override PartName="/ppt/diagrams/colors209.xml" ContentType="application/vnd.openxmlformats-officedocument.drawingml.diagramColors+xml"/>
  <Override PartName="/ppt/diagrams/drawing209.xml" ContentType="application/vnd.ms-office.drawingml.diagramDrawing+xml"/>
  <Override PartName="/ppt/diagrams/data210.xml" ContentType="application/vnd.openxmlformats-officedocument.drawingml.diagramData+xml"/>
  <Override PartName="/ppt/diagrams/layout210.xml" ContentType="application/vnd.openxmlformats-officedocument.drawingml.diagramLayout+xml"/>
  <Override PartName="/ppt/diagrams/quickStyle210.xml" ContentType="application/vnd.openxmlformats-officedocument.drawingml.diagramStyle+xml"/>
  <Override PartName="/ppt/diagrams/colors210.xml" ContentType="application/vnd.openxmlformats-officedocument.drawingml.diagramColors+xml"/>
  <Override PartName="/ppt/diagrams/drawing210.xml" ContentType="application/vnd.ms-office.drawingml.diagramDrawing+xml"/>
  <Override PartName="/ppt/diagrams/data211.xml" ContentType="application/vnd.openxmlformats-officedocument.drawingml.diagramData+xml"/>
  <Override PartName="/ppt/diagrams/layout211.xml" ContentType="application/vnd.openxmlformats-officedocument.drawingml.diagramLayout+xml"/>
  <Override PartName="/ppt/diagrams/quickStyle211.xml" ContentType="application/vnd.openxmlformats-officedocument.drawingml.diagramStyle+xml"/>
  <Override PartName="/ppt/diagrams/colors211.xml" ContentType="application/vnd.openxmlformats-officedocument.drawingml.diagramColors+xml"/>
  <Override PartName="/ppt/diagrams/drawing211.xml" ContentType="application/vnd.ms-office.drawingml.diagramDrawing+xml"/>
  <Override PartName="/ppt/diagrams/data212.xml" ContentType="application/vnd.openxmlformats-officedocument.drawingml.diagramData+xml"/>
  <Override PartName="/ppt/diagrams/layout212.xml" ContentType="application/vnd.openxmlformats-officedocument.drawingml.diagramLayout+xml"/>
  <Override PartName="/ppt/diagrams/quickStyle212.xml" ContentType="application/vnd.openxmlformats-officedocument.drawingml.diagramStyle+xml"/>
  <Override PartName="/ppt/diagrams/colors212.xml" ContentType="application/vnd.openxmlformats-officedocument.drawingml.diagramColors+xml"/>
  <Override PartName="/ppt/diagrams/drawing212.xml" ContentType="application/vnd.ms-office.drawingml.diagramDrawing+xml"/>
  <Override PartName="/ppt/diagrams/data213.xml" ContentType="application/vnd.openxmlformats-officedocument.drawingml.diagramData+xml"/>
  <Override PartName="/ppt/diagrams/layout213.xml" ContentType="application/vnd.openxmlformats-officedocument.drawingml.diagramLayout+xml"/>
  <Override PartName="/ppt/diagrams/quickStyle213.xml" ContentType="application/vnd.openxmlformats-officedocument.drawingml.diagramStyle+xml"/>
  <Override PartName="/ppt/diagrams/colors213.xml" ContentType="application/vnd.openxmlformats-officedocument.drawingml.diagramColors+xml"/>
  <Override PartName="/ppt/diagrams/drawing213.xml" ContentType="application/vnd.ms-office.drawingml.diagramDrawing+xml"/>
  <Override PartName="/ppt/diagrams/data214.xml" ContentType="application/vnd.openxmlformats-officedocument.drawingml.diagramData+xml"/>
  <Override PartName="/ppt/diagrams/layout214.xml" ContentType="application/vnd.openxmlformats-officedocument.drawingml.diagramLayout+xml"/>
  <Override PartName="/ppt/diagrams/quickStyle214.xml" ContentType="application/vnd.openxmlformats-officedocument.drawingml.diagramStyle+xml"/>
  <Override PartName="/ppt/diagrams/colors214.xml" ContentType="application/vnd.openxmlformats-officedocument.drawingml.diagramColors+xml"/>
  <Override PartName="/ppt/diagrams/drawing214.xml" ContentType="application/vnd.ms-office.drawingml.diagramDrawing+xml"/>
  <Override PartName="/ppt/diagrams/data215.xml" ContentType="application/vnd.openxmlformats-officedocument.drawingml.diagramData+xml"/>
  <Override PartName="/ppt/diagrams/layout215.xml" ContentType="application/vnd.openxmlformats-officedocument.drawingml.diagramLayout+xml"/>
  <Override PartName="/ppt/diagrams/quickStyle215.xml" ContentType="application/vnd.openxmlformats-officedocument.drawingml.diagramStyle+xml"/>
  <Override PartName="/ppt/diagrams/colors215.xml" ContentType="application/vnd.openxmlformats-officedocument.drawingml.diagramColors+xml"/>
  <Override PartName="/ppt/diagrams/drawing215.xml" ContentType="application/vnd.ms-office.drawingml.diagramDrawing+xml"/>
  <Override PartName="/ppt/diagrams/data216.xml" ContentType="application/vnd.openxmlformats-officedocument.drawingml.diagramData+xml"/>
  <Override PartName="/ppt/diagrams/layout216.xml" ContentType="application/vnd.openxmlformats-officedocument.drawingml.diagramLayout+xml"/>
  <Override PartName="/ppt/diagrams/quickStyle216.xml" ContentType="application/vnd.openxmlformats-officedocument.drawingml.diagramStyle+xml"/>
  <Override PartName="/ppt/diagrams/colors216.xml" ContentType="application/vnd.openxmlformats-officedocument.drawingml.diagramColors+xml"/>
  <Override PartName="/ppt/diagrams/drawing216.xml" ContentType="application/vnd.ms-office.drawingml.diagramDrawing+xml"/>
  <Override PartName="/ppt/diagrams/data217.xml" ContentType="application/vnd.openxmlformats-officedocument.drawingml.diagramData+xml"/>
  <Override PartName="/ppt/diagrams/layout217.xml" ContentType="application/vnd.openxmlformats-officedocument.drawingml.diagramLayout+xml"/>
  <Override PartName="/ppt/diagrams/quickStyle217.xml" ContentType="application/vnd.openxmlformats-officedocument.drawingml.diagramStyle+xml"/>
  <Override PartName="/ppt/diagrams/colors217.xml" ContentType="application/vnd.openxmlformats-officedocument.drawingml.diagramColors+xml"/>
  <Override PartName="/ppt/diagrams/drawing217.xml" ContentType="application/vnd.ms-office.drawingml.diagramDrawing+xml"/>
  <Override PartName="/ppt/diagrams/data218.xml" ContentType="application/vnd.openxmlformats-officedocument.drawingml.diagramData+xml"/>
  <Override PartName="/ppt/diagrams/layout218.xml" ContentType="application/vnd.openxmlformats-officedocument.drawingml.diagramLayout+xml"/>
  <Override PartName="/ppt/diagrams/quickStyle218.xml" ContentType="application/vnd.openxmlformats-officedocument.drawingml.diagramStyle+xml"/>
  <Override PartName="/ppt/diagrams/colors218.xml" ContentType="application/vnd.openxmlformats-officedocument.drawingml.diagramColors+xml"/>
  <Override PartName="/ppt/diagrams/drawing218.xml" ContentType="application/vnd.ms-office.drawingml.diagramDrawing+xml"/>
  <Override PartName="/ppt/diagrams/data219.xml" ContentType="application/vnd.openxmlformats-officedocument.drawingml.diagramData+xml"/>
  <Override PartName="/ppt/diagrams/layout219.xml" ContentType="application/vnd.openxmlformats-officedocument.drawingml.diagramLayout+xml"/>
  <Override PartName="/ppt/diagrams/quickStyle219.xml" ContentType="application/vnd.openxmlformats-officedocument.drawingml.diagramStyle+xml"/>
  <Override PartName="/ppt/diagrams/colors219.xml" ContentType="application/vnd.openxmlformats-officedocument.drawingml.diagramColors+xml"/>
  <Override PartName="/ppt/diagrams/drawing219.xml" ContentType="application/vnd.ms-office.drawingml.diagramDrawing+xml"/>
  <Override PartName="/ppt/diagrams/data220.xml" ContentType="application/vnd.openxmlformats-officedocument.drawingml.diagramData+xml"/>
  <Override PartName="/ppt/diagrams/layout220.xml" ContentType="application/vnd.openxmlformats-officedocument.drawingml.diagramLayout+xml"/>
  <Override PartName="/ppt/diagrams/quickStyle220.xml" ContentType="application/vnd.openxmlformats-officedocument.drawingml.diagramStyle+xml"/>
  <Override PartName="/ppt/diagrams/colors220.xml" ContentType="application/vnd.openxmlformats-officedocument.drawingml.diagramColors+xml"/>
  <Override PartName="/ppt/diagrams/drawing220.xml" ContentType="application/vnd.ms-office.drawingml.diagramDrawing+xml"/>
  <Override PartName="/ppt/diagrams/data221.xml" ContentType="application/vnd.openxmlformats-officedocument.drawingml.diagramData+xml"/>
  <Override PartName="/ppt/diagrams/layout221.xml" ContentType="application/vnd.openxmlformats-officedocument.drawingml.diagramLayout+xml"/>
  <Override PartName="/ppt/diagrams/quickStyle221.xml" ContentType="application/vnd.openxmlformats-officedocument.drawingml.diagramStyle+xml"/>
  <Override PartName="/ppt/diagrams/colors221.xml" ContentType="application/vnd.openxmlformats-officedocument.drawingml.diagramColors+xml"/>
  <Override PartName="/ppt/diagrams/drawing221.xml" ContentType="application/vnd.ms-office.drawingml.diagramDrawing+xml"/>
  <Override PartName="/ppt/diagrams/data222.xml" ContentType="application/vnd.openxmlformats-officedocument.drawingml.diagramData+xml"/>
  <Override PartName="/ppt/diagrams/layout222.xml" ContentType="application/vnd.openxmlformats-officedocument.drawingml.diagramLayout+xml"/>
  <Override PartName="/ppt/diagrams/quickStyle222.xml" ContentType="application/vnd.openxmlformats-officedocument.drawingml.diagramStyle+xml"/>
  <Override PartName="/ppt/diagrams/colors222.xml" ContentType="application/vnd.openxmlformats-officedocument.drawingml.diagramColors+xml"/>
  <Override PartName="/ppt/diagrams/drawing222.xml" ContentType="application/vnd.ms-office.drawingml.diagramDrawing+xml"/>
  <Override PartName="/ppt/diagrams/data223.xml" ContentType="application/vnd.openxmlformats-officedocument.drawingml.diagramData+xml"/>
  <Override PartName="/ppt/diagrams/layout223.xml" ContentType="application/vnd.openxmlformats-officedocument.drawingml.diagramLayout+xml"/>
  <Override PartName="/ppt/diagrams/quickStyle223.xml" ContentType="application/vnd.openxmlformats-officedocument.drawingml.diagramStyle+xml"/>
  <Override PartName="/ppt/diagrams/colors223.xml" ContentType="application/vnd.openxmlformats-officedocument.drawingml.diagramColors+xml"/>
  <Override PartName="/ppt/diagrams/drawing223.xml" ContentType="application/vnd.ms-office.drawingml.diagramDrawing+xml"/>
  <Override PartName="/ppt/diagrams/data224.xml" ContentType="application/vnd.openxmlformats-officedocument.drawingml.diagramData+xml"/>
  <Override PartName="/ppt/diagrams/layout224.xml" ContentType="application/vnd.openxmlformats-officedocument.drawingml.diagramLayout+xml"/>
  <Override PartName="/ppt/diagrams/quickStyle224.xml" ContentType="application/vnd.openxmlformats-officedocument.drawingml.diagramStyle+xml"/>
  <Override PartName="/ppt/diagrams/colors224.xml" ContentType="application/vnd.openxmlformats-officedocument.drawingml.diagramColors+xml"/>
  <Override PartName="/ppt/diagrams/drawing224.xml" ContentType="application/vnd.ms-office.drawingml.diagramDrawing+xml"/>
  <Override PartName="/ppt/diagrams/data225.xml" ContentType="application/vnd.openxmlformats-officedocument.drawingml.diagramData+xml"/>
  <Override PartName="/ppt/diagrams/layout225.xml" ContentType="application/vnd.openxmlformats-officedocument.drawingml.diagramLayout+xml"/>
  <Override PartName="/ppt/diagrams/quickStyle225.xml" ContentType="application/vnd.openxmlformats-officedocument.drawingml.diagramStyle+xml"/>
  <Override PartName="/ppt/diagrams/colors225.xml" ContentType="application/vnd.openxmlformats-officedocument.drawingml.diagramColors+xml"/>
  <Override PartName="/ppt/diagrams/drawing225.xml" ContentType="application/vnd.ms-office.drawingml.diagramDrawing+xml"/>
  <Override PartName="/ppt/diagrams/data226.xml" ContentType="application/vnd.openxmlformats-officedocument.drawingml.diagramData+xml"/>
  <Override PartName="/ppt/diagrams/layout226.xml" ContentType="application/vnd.openxmlformats-officedocument.drawingml.diagramLayout+xml"/>
  <Override PartName="/ppt/diagrams/quickStyle226.xml" ContentType="application/vnd.openxmlformats-officedocument.drawingml.diagramStyle+xml"/>
  <Override PartName="/ppt/diagrams/colors226.xml" ContentType="application/vnd.openxmlformats-officedocument.drawingml.diagramColors+xml"/>
  <Override PartName="/ppt/diagrams/drawing226.xml" ContentType="application/vnd.ms-office.drawingml.diagramDrawing+xml"/>
  <Override PartName="/ppt/diagrams/data227.xml" ContentType="application/vnd.openxmlformats-officedocument.drawingml.diagramData+xml"/>
  <Override PartName="/ppt/diagrams/layout227.xml" ContentType="application/vnd.openxmlformats-officedocument.drawingml.diagramLayout+xml"/>
  <Override PartName="/ppt/diagrams/quickStyle227.xml" ContentType="application/vnd.openxmlformats-officedocument.drawingml.diagramStyle+xml"/>
  <Override PartName="/ppt/diagrams/colors227.xml" ContentType="application/vnd.openxmlformats-officedocument.drawingml.diagramColors+xml"/>
  <Override PartName="/ppt/diagrams/drawing227.xml" ContentType="application/vnd.ms-office.drawingml.diagramDrawing+xml"/>
  <Override PartName="/ppt/diagrams/data228.xml" ContentType="application/vnd.openxmlformats-officedocument.drawingml.diagramData+xml"/>
  <Override PartName="/ppt/diagrams/layout228.xml" ContentType="application/vnd.openxmlformats-officedocument.drawingml.diagramLayout+xml"/>
  <Override PartName="/ppt/diagrams/quickStyle228.xml" ContentType="application/vnd.openxmlformats-officedocument.drawingml.diagramStyle+xml"/>
  <Override PartName="/ppt/diagrams/colors228.xml" ContentType="application/vnd.openxmlformats-officedocument.drawingml.diagramColors+xml"/>
  <Override PartName="/ppt/diagrams/drawing228.xml" ContentType="application/vnd.ms-office.drawingml.diagramDrawing+xml"/>
  <Override PartName="/ppt/diagrams/data229.xml" ContentType="application/vnd.openxmlformats-officedocument.drawingml.diagramData+xml"/>
  <Override PartName="/ppt/diagrams/layout229.xml" ContentType="application/vnd.openxmlformats-officedocument.drawingml.diagramLayout+xml"/>
  <Override PartName="/ppt/diagrams/quickStyle229.xml" ContentType="application/vnd.openxmlformats-officedocument.drawingml.diagramStyle+xml"/>
  <Override PartName="/ppt/diagrams/colors229.xml" ContentType="application/vnd.openxmlformats-officedocument.drawingml.diagramColors+xml"/>
  <Override PartName="/ppt/diagrams/drawing229.xml" ContentType="application/vnd.ms-office.drawingml.diagramDrawing+xml"/>
  <Override PartName="/ppt/diagrams/data230.xml" ContentType="application/vnd.openxmlformats-officedocument.drawingml.diagramData+xml"/>
  <Override PartName="/ppt/diagrams/layout230.xml" ContentType="application/vnd.openxmlformats-officedocument.drawingml.diagramLayout+xml"/>
  <Override PartName="/ppt/diagrams/quickStyle230.xml" ContentType="application/vnd.openxmlformats-officedocument.drawingml.diagramStyle+xml"/>
  <Override PartName="/ppt/diagrams/colors230.xml" ContentType="application/vnd.openxmlformats-officedocument.drawingml.diagramColors+xml"/>
  <Override PartName="/ppt/diagrams/drawing230.xml" ContentType="application/vnd.ms-office.drawingml.diagramDrawing+xml"/>
  <Override PartName="/ppt/diagrams/data231.xml" ContentType="application/vnd.openxmlformats-officedocument.drawingml.diagramData+xml"/>
  <Override PartName="/ppt/diagrams/layout231.xml" ContentType="application/vnd.openxmlformats-officedocument.drawingml.diagramLayout+xml"/>
  <Override PartName="/ppt/diagrams/quickStyle231.xml" ContentType="application/vnd.openxmlformats-officedocument.drawingml.diagramStyle+xml"/>
  <Override PartName="/ppt/diagrams/colors231.xml" ContentType="application/vnd.openxmlformats-officedocument.drawingml.diagramColors+xml"/>
  <Override PartName="/ppt/diagrams/drawing231.xml" ContentType="application/vnd.ms-office.drawingml.diagramDrawing+xml"/>
  <Override PartName="/ppt/diagrams/data232.xml" ContentType="application/vnd.openxmlformats-officedocument.drawingml.diagramData+xml"/>
  <Override PartName="/ppt/diagrams/layout232.xml" ContentType="application/vnd.openxmlformats-officedocument.drawingml.diagramLayout+xml"/>
  <Override PartName="/ppt/diagrams/quickStyle232.xml" ContentType="application/vnd.openxmlformats-officedocument.drawingml.diagramStyle+xml"/>
  <Override PartName="/ppt/diagrams/colors232.xml" ContentType="application/vnd.openxmlformats-officedocument.drawingml.diagramColors+xml"/>
  <Override PartName="/ppt/diagrams/drawing232.xml" ContentType="application/vnd.ms-office.drawingml.diagramDrawing+xml"/>
  <Override PartName="/ppt/diagrams/data233.xml" ContentType="application/vnd.openxmlformats-officedocument.drawingml.diagramData+xml"/>
  <Override PartName="/ppt/diagrams/layout233.xml" ContentType="application/vnd.openxmlformats-officedocument.drawingml.diagramLayout+xml"/>
  <Override PartName="/ppt/diagrams/quickStyle233.xml" ContentType="application/vnd.openxmlformats-officedocument.drawingml.diagramStyle+xml"/>
  <Override PartName="/ppt/diagrams/colors233.xml" ContentType="application/vnd.openxmlformats-officedocument.drawingml.diagramColors+xml"/>
  <Override PartName="/ppt/diagrams/drawing233.xml" ContentType="application/vnd.ms-office.drawingml.diagramDrawing+xml"/>
  <Override PartName="/ppt/diagrams/data234.xml" ContentType="application/vnd.openxmlformats-officedocument.drawingml.diagramData+xml"/>
  <Override PartName="/ppt/diagrams/layout234.xml" ContentType="application/vnd.openxmlformats-officedocument.drawingml.diagramLayout+xml"/>
  <Override PartName="/ppt/diagrams/quickStyle234.xml" ContentType="application/vnd.openxmlformats-officedocument.drawingml.diagramStyle+xml"/>
  <Override PartName="/ppt/diagrams/colors234.xml" ContentType="application/vnd.openxmlformats-officedocument.drawingml.diagramColors+xml"/>
  <Override PartName="/ppt/diagrams/drawing234.xml" ContentType="application/vnd.ms-office.drawingml.diagramDrawing+xml"/>
  <Override PartName="/ppt/diagrams/data235.xml" ContentType="application/vnd.openxmlformats-officedocument.drawingml.diagramData+xml"/>
  <Override PartName="/ppt/diagrams/layout235.xml" ContentType="application/vnd.openxmlformats-officedocument.drawingml.diagramLayout+xml"/>
  <Override PartName="/ppt/diagrams/quickStyle235.xml" ContentType="application/vnd.openxmlformats-officedocument.drawingml.diagramStyle+xml"/>
  <Override PartName="/ppt/diagrams/colors235.xml" ContentType="application/vnd.openxmlformats-officedocument.drawingml.diagramColors+xml"/>
  <Override PartName="/ppt/diagrams/drawing235.xml" ContentType="application/vnd.ms-office.drawingml.diagramDrawing+xml"/>
  <Override PartName="/ppt/diagrams/data236.xml" ContentType="application/vnd.openxmlformats-officedocument.drawingml.diagramData+xml"/>
  <Override PartName="/ppt/diagrams/layout236.xml" ContentType="application/vnd.openxmlformats-officedocument.drawingml.diagramLayout+xml"/>
  <Override PartName="/ppt/diagrams/quickStyle236.xml" ContentType="application/vnd.openxmlformats-officedocument.drawingml.diagramStyle+xml"/>
  <Override PartName="/ppt/diagrams/colors236.xml" ContentType="application/vnd.openxmlformats-officedocument.drawingml.diagramColors+xml"/>
  <Override PartName="/ppt/diagrams/drawing236.xml" ContentType="application/vnd.ms-office.drawingml.diagramDrawing+xml"/>
  <Override PartName="/ppt/diagrams/data237.xml" ContentType="application/vnd.openxmlformats-officedocument.drawingml.diagramData+xml"/>
  <Override PartName="/ppt/diagrams/layout237.xml" ContentType="application/vnd.openxmlformats-officedocument.drawingml.diagramLayout+xml"/>
  <Override PartName="/ppt/diagrams/quickStyle237.xml" ContentType="application/vnd.openxmlformats-officedocument.drawingml.diagramStyle+xml"/>
  <Override PartName="/ppt/diagrams/colors237.xml" ContentType="application/vnd.openxmlformats-officedocument.drawingml.diagramColors+xml"/>
  <Override PartName="/ppt/diagrams/drawing237.xml" ContentType="application/vnd.ms-office.drawingml.diagramDrawing+xml"/>
  <Override PartName="/ppt/diagrams/data238.xml" ContentType="application/vnd.openxmlformats-officedocument.drawingml.diagramData+xml"/>
  <Override PartName="/ppt/diagrams/layout238.xml" ContentType="application/vnd.openxmlformats-officedocument.drawingml.diagramLayout+xml"/>
  <Override PartName="/ppt/diagrams/quickStyle238.xml" ContentType="application/vnd.openxmlformats-officedocument.drawingml.diagramStyle+xml"/>
  <Override PartName="/ppt/diagrams/colors238.xml" ContentType="application/vnd.openxmlformats-officedocument.drawingml.diagramColors+xml"/>
  <Override PartName="/ppt/diagrams/drawing238.xml" ContentType="application/vnd.ms-office.drawingml.diagramDrawing+xml"/>
  <Override PartName="/ppt/diagrams/data239.xml" ContentType="application/vnd.openxmlformats-officedocument.drawingml.diagramData+xml"/>
  <Override PartName="/ppt/diagrams/layout239.xml" ContentType="application/vnd.openxmlformats-officedocument.drawingml.diagramLayout+xml"/>
  <Override PartName="/ppt/diagrams/quickStyle239.xml" ContentType="application/vnd.openxmlformats-officedocument.drawingml.diagramStyle+xml"/>
  <Override PartName="/ppt/diagrams/colors239.xml" ContentType="application/vnd.openxmlformats-officedocument.drawingml.diagramColors+xml"/>
  <Override PartName="/ppt/diagrams/drawing239.xml" ContentType="application/vnd.ms-office.drawingml.diagramDrawing+xml"/>
  <Override PartName="/ppt/diagrams/data240.xml" ContentType="application/vnd.openxmlformats-officedocument.drawingml.diagramData+xml"/>
  <Override PartName="/ppt/diagrams/layout240.xml" ContentType="application/vnd.openxmlformats-officedocument.drawingml.diagramLayout+xml"/>
  <Override PartName="/ppt/diagrams/quickStyle240.xml" ContentType="application/vnd.openxmlformats-officedocument.drawingml.diagramStyle+xml"/>
  <Override PartName="/ppt/diagrams/colors240.xml" ContentType="application/vnd.openxmlformats-officedocument.drawingml.diagramColors+xml"/>
  <Override PartName="/ppt/diagrams/drawing240.xml" ContentType="application/vnd.ms-office.drawingml.diagramDrawing+xml"/>
  <Override PartName="/ppt/diagrams/data241.xml" ContentType="application/vnd.openxmlformats-officedocument.drawingml.diagramData+xml"/>
  <Override PartName="/ppt/diagrams/layout241.xml" ContentType="application/vnd.openxmlformats-officedocument.drawingml.diagramLayout+xml"/>
  <Override PartName="/ppt/diagrams/quickStyle241.xml" ContentType="application/vnd.openxmlformats-officedocument.drawingml.diagramStyle+xml"/>
  <Override PartName="/ppt/diagrams/colors241.xml" ContentType="application/vnd.openxmlformats-officedocument.drawingml.diagramColors+xml"/>
  <Override PartName="/ppt/diagrams/drawing241.xml" ContentType="application/vnd.ms-office.drawingml.diagramDrawing+xml"/>
  <Override PartName="/ppt/diagrams/data242.xml" ContentType="application/vnd.openxmlformats-officedocument.drawingml.diagramData+xml"/>
  <Override PartName="/ppt/diagrams/layout242.xml" ContentType="application/vnd.openxmlformats-officedocument.drawingml.diagramLayout+xml"/>
  <Override PartName="/ppt/diagrams/quickStyle242.xml" ContentType="application/vnd.openxmlformats-officedocument.drawingml.diagramStyle+xml"/>
  <Override PartName="/ppt/diagrams/colors242.xml" ContentType="application/vnd.openxmlformats-officedocument.drawingml.diagramColors+xml"/>
  <Override PartName="/ppt/diagrams/drawing242.xml" ContentType="application/vnd.ms-office.drawingml.diagramDrawing+xml"/>
  <Override PartName="/ppt/diagrams/data243.xml" ContentType="application/vnd.openxmlformats-officedocument.drawingml.diagramData+xml"/>
  <Override PartName="/ppt/diagrams/layout243.xml" ContentType="application/vnd.openxmlformats-officedocument.drawingml.diagramLayout+xml"/>
  <Override PartName="/ppt/diagrams/quickStyle243.xml" ContentType="application/vnd.openxmlformats-officedocument.drawingml.diagramStyle+xml"/>
  <Override PartName="/ppt/diagrams/colors243.xml" ContentType="application/vnd.openxmlformats-officedocument.drawingml.diagramColors+xml"/>
  <Override PartName="/ppt/diagrams/drawing243.xml" ContentType="application/vnd.ms-office.drawingml.diagramDrawing+xml"/>
  <Override PartName="/ppt/diagrams/data244.xml" ContentType="application/vnd.openxmlformats-officedocument.drawingml.diagramData+xml"/>
  <Override PartName="/ppt/diagrams/layout244.xml" ContentType="application/vnd.openxmlformats-officedocument.drawingml.diagramLayout+xml"/>
  <Override PartName="/ppt/diagrams/quickStyle244.xml" ContentType="application/vnd.openxmlformats-officedocument.drawingml.diagramStyle+xml"/>
  <Override PartName="/ppt/diagrams/colors244.xml" ContentType="application/vnd.openxmlformats-officedocument.drawingml.diagramColors+xml"/>
  <Override PartName="/ppt/diagrams/drawing244.xml" ContentType="application/vnd.ms-office.drawingml.diagramDrawing+xml"/>
  <Override PartName="/ppt/diagrams/data245.xml" ContentType="application/vnd.openxmlformats-officedocument.drawingml.diagramData+xml"/>
  <Override PartName="/ppt/diagrams/layout245.xml" ContentType="application/vnd.openxmlformats-officedocument.drawingml.diagramLayout+xml"/>
  <Override PartName="/ppt/diagrams/quickStyle245.xml" ContentType="application/vnd.openxmlformats-officedocument.drawingml.diagramStyle+xml"/>
  <Override PartName="/ppt/diagrams/colors245.xml" ContentType="application/vnd.openxmlformats-officedocument.drawingml.diagramColors+xml"/>
  <Override PartName="/ppt/diagrams/drawing245.xml" ContentType="application/vnd.ms-office.drawingml.diagramDrawing+xml"/>
  <Override PartName="/ppt/diagrams/data246.xml" ContentType="application/vnd.openxmlformats-officedocument.drawingml.diagramData+xml"/>
  <Override PartName="/ppt/diagrams/layout246.xml" ContentType="application/vnd.openxmlformats-officedocument.drawingml.diagramLayout+xml"/>
  <Override PartName="/ppt/diagrams/quickStyle246.xml" ContentType="application/vnd.openxmlformats-officedocument.drawingml.diagramStyle+xml"/>
  <Override PartName="/ppt/diagrams/colors246.xml" ContentType="application/vnd.openxmlformats-officedocument.drawingml.diagramColors+xml"/>
  <Override PartName="/ppt/diagrams/drawing246.xml" ContentType="application/vnd.ms-office.drawingml.diagramDrawing+xml"/>
  <Override PartName="/ppt/diagrams/data247.xml" ContentType="application/vnd.openxmlformats-officedocument.drawingml.diagramData+xml"/>
  <Override PartName="/ppt/diagrams/layout247.xml" ContentType="application/vnd.openxmlformats-officedocument.drawingml.diagramLayout+xml"/>
  <Override PartName="/ppt/diagrams/quickStyle247.xml" ContentType="application/vnd.openxmlformats-officedocument.drawingml.diagramStyle+xml"/>
  <Override PartName="/ppt/diagrams/colors247.xml" ContentType="application/vnd.openxmlformats-officedocument.drawingml.diagramColors+xml"/>
  <Override PartName="/ppt/diagrams/drawing247.xml" ContentType="application/vnd.ms-office.drawingml.diagramDrawing+xml"/>
  <Override PartName="/ppt/diagrams/data248.xml" ContentType="application/vnd.openxmlformats-officedocument.drawingml.diagramData+xml"/>
  <Override PartName="/ppt/diagrams/layout248.xml" ContentType="application/vnd.openxmlformats-officedocument.drawingml.diagramLayout+xml"/>
  <Override PartName="/ppt/diagrams/quickStyle248.xml" ContentType="application/vnd.openxmlformats-officedocument.drawingml.diagramStyle+xml"/>
  <Override PartName="/ppt/diagrams/colors248.xml" ContentType="application/vnd.openxmlformats-officedocument.drawingml.diagramColors+xml"/>
  <Override PartName="/ppt/diagrams/drawing248.xml" ContentType="application/vnd.ms-office.drawingml.diagramDrawing+xml"/>
  <Override PartName="/ppt/diagrams/data249.xml" ContentType="application/vnd.openxmlformats-officedocument.drawingml.diagramData+xml"/>
  <Override PartName="/ppt/diagrams/layout249.xml" ContentType="application/vnd.openxmlformats-officedocument.drawingml.diagramLayout+xml"/>
  <Override PartName="/ppt/diagrams/quickStyle249.xml" ContentType="application/vnd.openxmlformats-officedocument.drawingml.diagramStyle+xml"/>
  <Override PartName="/ppt/diagrams/colors249.xml" ContentType="application/vnd.openxmlformats-officedocument.drawingml.diagramColors+xml"/>
  <Override PartName="/ppt/diagrams/drawing249.xml" ContentType="application/vnd.ms-office.drawingml.diagramDrawing+xml"/>
  <Override PartName="/ppt/diagrams/data250.xml" ContentType="application/vnd.openxmlformats-officedocument.drawingml.diagramData+xml"/>
  <Override PartName="/ppt/diagrams/layout250.xml" ContentType="application/vnd.openxmlformats-officedocument.drawingml.diagramLayout+xml"/>
  <Override PartName="/ppt/diagrams/quickStyle250.xml" ContentType="application/vnd.openxmlformats-officedocument.drawingml.diagramStyle+xml"/>
  <Override PartName="/ppt/diagrams/colors250.xml" ContentType="application/vnd.openxmlformats-officedocument.drawingml.diagramColors+xml"/>
  <Override PartName="/ppt/diagrams/drawing250.xml" ContentType="application/vnd.ms-office.drawingml.diagramDrawing+xml"/>
  <Override PartName="/ppt/diagrams/data251.xml" ContentType="application/vnd.openxmlformats-officedocument.drawingml.diagramData+xml"/>
  <Override PartName="/ppt/diagrams/layout251.xml" ContentType="application/vnd.openxmlformats-officedocument.drawingml.diagramLayout+xml"/>
  <Override PartName="/ppt/diagrams/quickStyle251.xml" ContentType="application/vnd.openxmlformats-officedocument.drawingml.diagramStyle+xml"/>
  <Override PartName="/ppt/diagrams/colors251.xml" ContentType="application/vnd.openxmlformats-officedocument.drawingml.diagramColors+xml"/>
  <Override PartName="/ppt/diagrams/drawing251.xml" ContentType="application/vnd.ms-office.drawingml.diagramDrawing+xml"/>
  <Override PartName="/ppt/diagrams/data252.xml" ContentType="application/vnd.openxmlformats-officedocument.drawingml.diagramData+xml"/>
  <Override PartName="/ppt/diagrams/layout252.xml" ContentType="application/vnd.openxmlformats-officedocument.drawingml.diagramLayout+xml"/>
  <Override PartName="/ppt/diagrams/quickStyle252.xml" ContentType="application/vnd.openxmlformats-officedocument.drawingml.diagramStyle+xml"/>
  <Override PartName="/ppt/diagrams/colors252.xml" ContentType="application/vnd.openxmlformats-officedocument.drawingml.diagramColors+xml"/>
  <Override PartName="/ppt/diagrams/drawing252.xml" ContentType="application/vnd.ms-office.drawingml.diagramDrawing+xml"/>
  <Override PartName="/ppt/diagrams/data253.xml" ContentType="application/vnd.openxmlformats-officedocument.drawingml.diagramData+xml"/>
  <Override PartName="/ppt/diagrams/layout253.xml" ContentType="application/vnd.openxmlformats-officedocument.drawingml.diagramLayout+xml"/>
  <Override PartName="/ppt/diagrams/quickStyle253.xml" ContentType="application/vnd.openxmlformats-officedocument.drawingml.diagramStyle+xml"/>
  <Override PartName="/ppt/diagrams/colors253.xml" ContentType="application/vnd.openxmlformats-officedocument.drawingml.diagramColors+xml"/>
  <Override PartName="/ppt/diagrams/drawing253.xml" ContentType="application/vnd.ms-office.drawingml.diagramDrawing+xml"/>
  <Override PartName="/ppt/diagrams/data254.xml" ContentType="application/vnd.openxmlformats-officedocument.drawingml.diagramData+xml"/>
  <Override PartName="/ppt/diagrams/layout254.xml" ContentType="application/vnd.openxmlformats-officedocument.drawingml.diagramLayout+xml"/>
  <Override PartName="/ppt/diagrams/quickStyle254.xml" ContentType="application/vnd.openxmlformats-officedocument.drawingml.diagramStyle+xml"/>
  <Override PartName="/ppt/diagrams/colors254.xml" ContentType="application/vnd.openxmlformats-officedocument.drawingml.diagramColors+xml"/>
  <Override PartName="/ppt/diagrams/drawing254.xml" ContentType="application/vnd.ms-office.drawingml.diagramDrawing+xml"/>
  <Override PartName="/ppt/diagrams/data255.xml" ContentType="application/vnd.openxmlformats-officedocument.drawingml.diagramData+xml"/>
  <Override PartName="/ppt/diagrams/layout255.xml" ContentType="application/vnd.openxmlformats-officedocument.drawingml.diagramLayout+xml"/>
  <Override PartName="/ppt/diagrams/quickStyle255.xml" ContentType="application/vnd.openxmlformats-officedocument.drawingml.diagramStyle+xml"/>
  <Override PartName="/ppt/diagrams/colors255.xml" ContentType="application/vnd.openxmlformats-officedocument.drawingml.diagramColors+xml"/>
  <Override PartName="/ppt/diagrams/drawing255.xml" ContentType="application/vnd.ms-office.drawingml.diagramDrawing+xml"/>
  <Override PartName="/ppt/diagrams/data256.xml" ContentType="application/vnd.openxmlformats-officedocument.drawingml.diagramData+xml"/>
  <Override PartName="/ppt/diagrams/layout256.xml" ContentType="application/vnd.openxmlformats-officedocument.drawingml.diagramLayout+xml"/>
  <Override PartName="/ppt/diagrams/quickStyle256.xml" ContentType="application/vnd.openxmlformats-officedocument.drawingml.diagramStyle+xml"/>
  <Override PartName="/ppt/diagrams/colors256.xml" ContentType="application/vnd.openxmlformats-officedocument.drawingml.diagramColors+xml"/>
  <Override PartName="/ppt/diagrams/drawing256.xml" ContentType="application/vnd.ms-office.drawingml.diagramDrawing+xml"/>
  <Override PartName="/ppt/diagrams/data257.xml" ContentType="application/vnd.openxmlformats-officedocument.drawingml.diagramData+xml"/>
  <Override PartName="/ppt/diagrams/layout257.xml" ContentType="application/vnd.openxmlformats-officedocument.drawingml.diagramLayout+xml"/>
  <Override PartName="/ppt/diagrams/quickStyle257.xml" ContentType="application/vnd.openxmlformats-officedocument.drawingml.diagramStyle+xml"/>
  <Override PartName="/ppt/diagrams/colors257.xml" ContentType="application/vnd.openxmlformats-officedocument.drawingml.diagramColors+xml"/>
  <Override PartName="/ppt/diagrams/drawing257.xml" ContentType="application/vnd.ms-office.drawingml.diagramDrawing+xml"/>
  <Override PartName="/ppt/diagrams/data258.xml" ContentType="application/vnd.openxmlformats-officedocument.drawingml.diagramData+xml"/>
  <Override PartName="/ppt/diagrams/layout258.xml" ContentType="application/vnd.openxmlformats-officedocument.drawingml.diagramLayout+xml"/>
  <Override PartName="/ppt/diagrams/quickStyle258.xml" ContentType="application/vnd.openxmlformats-officedocument.drawingml.diagramStyle+xml"/>
  <Override PartName="/ppt/diagrams/colors258.xml" ContentType="application/vnd.openxmlformats-officedocument.drawingml.diagramColors+xml"/>
  <Override PartName="/ppt/diagrams/drawing258.xml" ContentType="application/vnd.ms-office.drawingml.diagramDrawing+xml"/>
  <Override PartName="/ppt/diagrams/data259.xml" ContentType="application/vnd.openxmlformats-officedocument.drawingml.diagramData+xml"/>
  <Override PartName="/ppt/diagrams/layout259.xml" ContentType="application/vnd.openxmlformats-officedocument.drawingml.diagramLayout+xml"/>
  <Override PartName="/ppt/diagrams/quickStyle259.xml" ContentType="application/vnd.openxmlformats-officedocument.drawingml.diagramStyle+xml"/>
  <Override PartName="/ppt/diagrams/colors259.xml" ContentType="application/vnd.openxmlformats-officedocument.drawingml.diagramColors+xml"/>
  <Override PartName="/ppt/diagrams/drawing259.xml" ContentType="application/vnd.ms-office.drawingml.diagramDrawing+xml"/>
  <Override PartName="/ppt/diagrams/data260.xml" ContentType="application/vnd.openxmlformats-officedocument.drawingml.diagramData+xml"/>
  <Override PartName="/ppt/diagrams/layout260.xml" ContentType="application/vnd.openxmlformats-officedocument.drawingml.diagramLayout+xml"/>
  <Override PartName="/ppt/diagrams/quickStyle260.xml" ContentType="application/vnd.openxmlformats-officedocument.drawingml.diagramStyle+xml"/>
  <Override PartName="/ppt/diagrams/colors260.xml" ContentType="application/vnd.openxmlformats-officedocument.drawingml.diagramColors+xml"/>
  <Override PartName="/ppt/diagrams/drawing260.xml" ContentType="application/vnd.ms-office.drawingml.diagramDrawing+xml"/>
  <Override PartName="/ppt/diagrams/data261.xml" ContentType="application/vnd.openxmlformats-officedocument.drawingml.diagramData+xml"/>
  <Override PartName="/ppt/diagrams/layout261.xml" ContentType="application/vnd.openxmlformats-officedocument.drawingml.diagramLayout+xml"/>
  <Override PartName="/ppt/diagrams/quickStyle261.xml" ContentType="application/vnd.openxmlformats-officedocument.drawingml.diagramStyle+xml"/>
  <Override PartName="/ppt/diagrams/colors261.xml" ContentType="application/vnd.openxmlformats-officedocument.drawingml.diagramColors+xml"/>
  <Override PartName="/ppt/diagrams/drawing261.xml" ContentType="application/vnd.ms-office.drawingml.diagramDrawing+xml"/>
  <Override PartName="/ppt/diagrams/data262.xml" ContentType="application/vnd.openxmlformats-officedocument.drawingml.diagramData+xml"/>
  <Override PartName="/ppt/diagrams/layout262.xml" ContentType="application/vnd.openxmlformats-officedocument.drawingml.diagramLayout+xml"/>
  <Override PartName="/ppt/diagrams/quickStyle262.xml" ContentType="application/vnd.openxmlformats-officedocument.drawingml.diagramStyle+xml"/>
  <Override PartName="/ppt/diagrams/colors262.xml" ContentType="application/vnd.openxmlformats-officedocument.drawingml.diagramColors+xml"/>
  <Override PartName="/ppt/diagrams/drawing262.xml" ContentType="application/vnd.ms-office.drawingml.diagramDrawing+xml"/>
  <Override PartName="/ppt/notesSlides/notesSlide18.xml" ContentType="application/vnd.openxmlformats-officedocument.presentationml.notesSlide+xml"/>
  <Override PartName="/ppt/diagrams/data263.xml" ContentType="application/vnd.openxmlformats-officedocument.drawingml.diagramData+xml"/>
  <Override PartName="/ppt/diagrams/layout263.xml" ContentType="application/vnd.openxmlformats-officedocument.drawingml.diagramLayout+xml"/>
  <Override PartName="/ppt/diagrams/quickStyle263.xml" ContentType="application/vnd.openxmlformats-officedocument.drawingml.diagramStyle+xml"/>
  <Override PartName="/ppt/diagrams/colors263.xml" ContentType="application/vnd.openxmlformats-officedocument.drawingml.diagramColors+xml"/>
  <Override PartName="/ppt/diagrams/drawing263.xml" ContentType="application/vnd.ms-office.drawingml.diagramDrawing+xml"/>
  <Override PartName="/ppt/notesSlides/notesSlide19.xml" ContentType="application/vnd.openxmlformats-officedocument.presentationml.notesSlide+xml"/>
  <Override PartName="/ppt/diagrams/data264.xml" ContentType="application/vnd.openxmlformats-officedocument.drawingml.diagramData+xml"/>
  <Override PartName="/ppt/diagrams/layout264.xml" ContentType="application/vnd.openxmlformats-officedocument.drawingml.diagramLayout+xml"/>
  <Override PartName="/ppt/diagrams/quickStyle264.xml" ContentType="application/vnd.openxmlformats-officedocument.drawingml.diagramStyle+xml"/>
  <Override PartName="/ppt/diagrams/colors264.xml" ContentType="application/vnd.openxmlformats-officedocument.drawingml.diagramColors+xml"/>
  <Override PartName="/ppt/diagrams/drawing264.xml" ContentType="application/vnd.ms-office.drawingml.diagramDrawing+xml"/>
  <Override PartName="/ppt/diagrams/data265.xml" ContentType="application/vnd.openxmlformats-officedocument.drawingml.diagramData+xml"/>
  <Override PartName="/ppt/diagrams/layout265.xml" ContentType="application/vnd.openxmlformats-officedocument.drawingml.diagramLayout+xml"/>
  <Override PartName="/ppt/diagrams/quickStyle265.xml" ContentType="application/vnd.openxmlformats-officedocument.drawingml.diagramStyle+xml"/>
  <Override PartName="/ppt/diagrams/colors265.xml" ContentType="application/vnd.openxmlformats-officedocument.drawingml.diagramColors+xml"/>
  <Override PartName="/ppt/diagrams/drawing265.xml" ContentType="application/vnd.ms-office.drawingml.diagramDrawing+xml"/>
  <Override PartName="/ppt/diagrams/data266.xml" ContentType="application/vnd.openxmlformats-officedocument.drawingml.diagramData+xml"/>
  <Override PartName="/ppt/diagrams/layout266.xml" ContentType="application/vnd.openxmlformats-officedocument.drawingml.diagramLayout+xml"/>
  <Override PartName="/ppt/diagrams/quickStyle266.xml" ContentType="application/vnd.openxmlformats-officedocument.drawingml.diagramStyle+xml"/>
  <Override PartName="/ppt/diagrams/colors266.xml" ContentType="application/vnd.openxmlformats-officedocument.drawingml.diagramColors+xml"/>
  <Override PartName="/ppt/diagrams/drawing266.xml" ContentType="application/vnd.ms-office.drawingml.diagramDrawing+xml"/>
  <Override PartName="/ppt/notesSlides/notesSlide20.xml" ContentType="application/vnd.openxmlformats-officedocument.presentationml.notesSlide+xml"/>
  <Override PartName="/ppt/diagrams/data267.xml" ContentType="application/vnd.openxmlformats-officedocument.drawingml.diagramData+xml"/>
  <Override PartName="/ppt/diagrams/layout267.xml" ContentType="application/vnd.openxmlformats-officedocument.drawingml.diagramLayout+xml"/>
  <Override PartName="/ppt/diagrams/quickStyle267.xml" ContentType="application/vnd.openxmlformats-officedocument.drawingml.diagramStyle+xml"/>
  <Override PartName="/ppt/diagrams/colors267.xml" ContentType="application/vnd.openxmlformats-officedocument.drawingml.diagramColors+xml"/>
  <Override PartName="/ppt/diagrams/drawing267.xml" ContentType="application/vnd.ms-office.drawingml.diagramDrawing+xml"/>
  <Override PartName="/ppt/notesSlides/notesSlide21.xml" ContentType="application/vnd.openxmlformats-officedocument.presentationml.notesSlide+xml"/>
  <Override PartName="/ppt/diagrams/data268.xml" ContentType="application/vnd.openxmlformats-officedocument.drawingml.diagramData+xml"/>
  <Override PartName="/ppt/diagrams/layout268.xml" ContentType="application/vnd.openxmlformats-officedocument.drawingml.diagramLayout+xml"/>
  <Override PartName="/ppt/diagrams/quickStyle268.xml" ContentType="application/vnd.openxmlformats-officedocument.drawingml.diagramStyle+xml"/>
  <Override PartName="/ppt/diagrams/colors268.xml" ContentType="application/vnd.openxmlformats-officedocument.drawingml.diagramColors+xml"/>
  <Override PartName="/ppt/diagrams/drawing268.xml" ContentType="application/vnd.ms-office.drawingml.diagramDrawing+xml"/>
  <Override PartName="/ppt/notesSlides/notesSlide22.xml" ContentType="application/vnd.openxmlformats-officedocument.presentationml.notesSlide+xml"/>
  <Override PartName="/ppt/diagrams/data269.xml" ContentType="application/vnd.openxmlformats-officedocument.drawingml.diagramData+xml"/>
  <Override PartName="/ppt/diagrams/layout269.xml" ContentType="application/vnd.openxmlformats-officedocument.drawingml.diagramLayout+xml"/>
  <Override PartName="/ppt/diagrams/quickStyle269.xml" ContentType="application/vnd.openxmlformats-officedocument.drawingml.diagramStyle+xml"/>
  <Override PartName="/ppt/diagrams/colors269.xml" ContentType="application/vnd.openxmlformats-officedocument.drawingml.diagramColors+xml"/>
  <Override PartName="/ppt/diagrams/drawing269.xml" ContentType="application/vnd.ms-office.drawingml.diagramDrawing+xml"/>
  <Override PartName="/ppt/notesSlides/notesSlide23.xml" ContentType="application/vnd.openxmlformats-officedocument.presentationml.notesSlide+xml"/>
  <Override PartName="/ppt/diagrams/data270.xml" ContentType="application/vnd.openxmlformats-officedocument.drawingml.diagramData+xml"/>
  <Override PartName="/ppt/diagrams/layout270.xml" ContentType="application/vnd.openxmlformats-officedocument.drawingml.diagramLayout+xml"/>
  <Override PartName="/ppt/diagrams/quickStyle270.xml" ContentType="application/vnd.openxmlformats-officedocument.drawingml.diagramStyle+xml"/>
  <Override PartName="/ppt/diagrams/colors270.xml" ContentType="application/vnd.openxmlformats-officedocument.drawingml.diagramColors+xml"/>
  <Override PartName="/ppt/diagrams/drawing270.xml" ContentType="application/vnd.ms-office.drawingml.diagramDrawing+xml"/>
  <Override PartName="/ppt/notesSlides/notesSlide24.xml" ContentType="application/vnd.openxmlformats-officedocument.presentationml.notesSlide+xml"/>
  <Override PartName="/ppt/diagrams/data271.xml" ContentType="application/vnd.openxmlformats-officedocument.drawingml.diagramData+xml"/>
  <Override PartName="/ppt/diagrams/layout271.xml" ContentType="application/vnd.openxmlformats-officedocument.drawingml.diagramLayout+xml"/>
  <Override PartName="/ppt/diagrams/quickStyle271.xml" ContentType="application/vnd.openxmlformats-officedocument.drawingml.diagramStyle+xml"/>
  <Override PartName="/ppt/diagrams/colors271.xml" ContentType="application/vnd.openxmlformats-officedocument.drawingml.diagramColors+xml"/>
  <Override PartName="/ppt/diagrams/drawing271.xml" ContentType="application/vnd.ms-office.drawingml.diagramDrawing+xml"/>
  <Override PartName="/ppt/diagrams/data272.xml" ContentType="application/vnd.openxmlformats-officedocument.drawingml.diagramData+xml"/>
  <Override PartName="/ppt/diagrams/layout272.xml" ContentType="application/vnd.openxmlformats-officedocument.drawingml.diagramLayout+xml"/>
  <Override PartName="/ppt/diagrams/quickStyle272.xml" ContentType="application/vnd.openxmlformats-officedocument.drawingml.diagramStyle+xml"/>
  <Override PartName="/ppt/diagrams/colors272.xml" ContentType="application/vnd.openxmlformats-officedocument.drawingml.diagramColors+xml"/>
  <Override PartName="/ppt/diagrams/drawing272.xml" ContentType="application/vnd.ms-office.drawingml.diagramDrawing+xml"/>
  <Override PartName="/ppt/diagrams/data273.xml" ContentType="application/vnd.openxmlformats-officedocument.drawingml.diagramData+xml"/>
  <Override PartName="/ppt/diagrams/layout273.xml" ContentType="application/vnd.openxmlformats-officedocument.drawingml.diagramLayout+xml"/>
  <Override PartName="/ppt/diagrams/quickStyle273.xml" ContentType="application/vnd.openxmlformats-officedocument.drawingml.diagramStyle+xml"/>
  <Override PartName="/ppt/diagrams/colors273.xml" ContentType="application/vnd.openxmlformats-officedocument.drawingml.diagramColors+xml"/>
  <Override PartName="/ppt/diagrams/drawing273.xml" ContentType="application/vnd.ms-office.drawingml.diagramDrawing+xml"/>
  <Override PartName="/ppt/notesSlides/notesSlide25.xml" ContentType="application/vnd.openxmlformats-officedocument.presentationml.notesSlide+xml"/>
  <Override PartName="/ppt/diagrams/data274.xml" ContentType="application/vnd.openxmlformats-officedocument.drawingml.diagramData+xml"/>
  <Override PartName="/ppt/diagrams/layout274.xml" ContentType="application/vnd.openxmlformats-officedocument.drawingml.diagramLayout+xml"/>
  <Override PartName="/ppt/diagrams/quickStyle274.xml" ContentType="application/vnd.openxmlformats-officedocument.drawingml.diagramStyle+xml"/>
  <Override PartName="/ppt/diagrams/colors274.xml" ContentType="application/vnd.openxmlformats-officedocument.drawingml.diagramColors+xml"/>
  <Override PartName="/ppt/diagrams/drawing274.xml" ContentType="application/vnd.ms-office.drawingml.diagramDrawing+xml"/>
  <Override PartName="/ppt/notesSlides/notesSlide26.xml" ContentType="application/vnd.openxmlformats-officedocument.presentationml.notesSlide+xml"/>
  <Override PartName="/ppt/diagrams/data275.xml" ContentType="application/vnd.openxmlformats-officedocument.drawingml.diagramData+xml"/>
  <Override PartName="/ppt/diagrams/layout275.xml" ContentType="application/vnd.openxmlformats-officedocument.drawingml.diagramLayout+xml"/>
  <Override PartName="/ppt/diagrams/quickStyle275.xml" ContentType="application/vnd.openxmlformats-officedocument.drawingml.diagramStyle+xml"/>
  <Override PartName="/ppt/diagrams/colors275.xml" ContentType="application/vnd.openxmlformats-officedocument.drawingml.diagramColors+xml"/>
  <Override PartName="/ppt/diagrams/drawing275.xml" ContentType="application/vnd.ms-office.drawingml.diagramDrawing+xml"/>
  <Override PartName="/ppt/notesSlides/notesSlide27.xml" ContentType="application/vnd.openxmlformats-officedocument.presentationml.notesSlide+xml"/>
  <Override PartName="/ppt/diagrams/data276.xml" ContentType="application/vnd.openxmlformats-officedocument.drawingml.diagramData+xml"/>
  <Override PartName="/ppt/diagrams/layout276.xml" ContentType="application/vnd.openxmlformats-officedocument.drawingml.diagramLayout+xml"/>
  <Override PartName="/ppt/diagrams/quickStyle276.xml" ContentType="application/vnd.openxmlformats-officedocument.drawingml.diagramStyle+xml"/>
  <Override PartName="/ppt/diagrams/colors276.xml" ContentType="application/vnd.openxmlformats-officedocument.drawingml.diagramColors+xml"/>
  <Override PartName="/ppt/diagrams/drawing276.xml" ContentType="application/vnd.ms-office.drawingml.diagramDrawing+xml"/>
  <Override PartName="/ppt/notesSlides/notesSlide28.xml" ContentType="application/vnd.openxmlformats-officedocument.presentationml.notesSlide+xml"/>
  <Override PartName="/ppt/diagrams/data277.xml" ContentType="application/vnd.openxmlformats-officedocument.drawingml.diagramData+xml"/>
  <Override PartName="/ppt/diagrams/layout277.xml" ContentType="application/vnd.openxmlformats-officedocument.drawingml.diagramLayout+xml"/>
  <Override PartName="/ppt/diagrams/quickStyle277.xml" ContentType="application/vnd.openxmlformats-officedocument.drawingml.diagramStyle+xml"/>
  <Override PartName="/ppt/diagrams/colors277.xml" ContentType="application/vnd.openxmlformats-officedocument.drawingml.diagramColors+xml"/>
  <Override PartName="/ppt/diagrams/drawing277.xml" ContentType="application/vnd.ms-office.drawingml.diagramDrawing+xml"/>
  <Override PartName="/ppt/notesSlides/notesSlide29.xml" ContentType="application/vnd.openxmlformats-officedocument.presentationml.notesSlide+xml"/>
  <Override PartName="/ppt/diagrams/data278.xml" ContentType="application/vnd.openxmlformats-officedocument.drawingml.diagramData+xml"/>
  <Override PartName="/ppt/diagrams/layout278.xml" ContentType="application/vnd.openxmlformats-officedocument.drawingml.diagramLayout+xml"/>
  <Override PartName="/ppt/diagrams/quickStyle278.xml" ContentType="application/vnd.openxmlformats-officedocument.drawingml.diagramStyle+xml"/>
  <Override PartName="/ppt/diagrams/colors278.xml" ContentType="application/vnd.openxmlformats-officedocument.drawingml.diagramColors+xml"/>
  <Override PartName="/ppt/diagrams/drawing278.xml" ContentType="application/vnd.ms-office.drawingml.diagramDrawing+xml"/>
  <Override PartName="/ppt/notesSlides/notesSlide30.xml" ContentType="application/vnd.openxmlformats-officedocument.presentationml.notesSlide+xml"/>
  <Override PartName="/ppt/diagrams/data279.xml" ContentType="application/vnd.openxmlformats-officedocument.drawingml.diagramData+xml"/>
  <Override PartName="/ppt/diagrams/layout279.xml" ContentType="application/vnd.openxmlformats-officedocument.drawingml.diagramLayout+xml"/>
  <Override PartName="/ppt/diagrams/quickStyle279.xml" ContentType="application/vnd.openxmlformats-officedocument.drawingml.diagramStyle+xml"/>
  <Override PartName="/ppt/diagrams/colors279.xml" ContentType="application/vnd.openxmlformats-officedocument.drawingml.diagramColors+xml"/>
  <Override PartName="/ppt/diagrams/drawing279.xml" ContentType="application/vnd.ms-office.drawingml.diagramDrawing+xml"/>
  <Override PartName="/ppt/notesSlides/notesSlide31.xml" ContentType="application/vnd.openxmlformats-officedocument.presentationml.notesSlide+xml"/>
  <Override PartName="/ppt/diagrams/data280.xml" ContentType="application/vnd.openxmlformats-officedocument.drawingml.diagramData+xml"/>
  <Override PartName="/ppt/diagrams/layout280.xml" ContentType="application/vnd.openxmlformats-officedocument.drawingml.diagramLayout+xml"/>
  <Override PartName="/ppt/diagrams/quickStyle280.xml" ContentType="application/vnd.openxmlformats-officedocument.drawingml.diagramStyle+xml"/>
  <Override PartName="/ppt/diagrams/colors280.xml" ContentType="application/vnd.openxmlformats-officedocument.drawingml.diagramColors+xml"/>
  <Override PartName="/ppt/diagrams/drawing280.xml" ContentType="application/vnd.ms-office.drawingml.diagramDrawing+xml"/>
  <Override PartName="/ppt/notesSlides/notesSlide32.xml" ContentType="application/vnd.openxmlformats-officedocument.presentationml.notesSlide+xml"/>
  <Override PartName="/ppt/diagrams/data281.xml" ContentType="application/vnd.openxmlformats-officedocument.drawingml.diagramData+xml"/>
  <Override PartName="/ppt/diagrams/layout281.xml" ContentType="application/vnd.openxmlformats-officedocument.drawingml.diagramLayout+xml"/>
  <Override PartName="/ppt/diagrams/quickStyle281.xml" ContentType="application/vnd.openxmlformats-officedocument.drawingml.diagramStyle+xml"/>
  <Override PartName="/ppt/diagrams/colors281.xml" ContentType="application/vnd.openxmlformats-officedocument.drawingml.diagramColors+xml"/>
  <Override PartName="/ppt/diagrams/drawing281.xml" ContentType="application/vnd.ms-office.drawingml.diagramDrawing+xml"/>
  <Override PartName="/ppt/notesSlides/notesSlide33.xml" ContentType="application/vnd.openxmlformats-officedocument.presentationml.notesSlide+xml"/>
  <Override PartName="/ppt/diagrams/data282.xml" ContentType="application/vnd.openxmlformats-officedocument.drawingml.diagramData+xml"/>
  <Override PartName="/ppt/diagrams/layout282.xml" ContentType="application/vnd.openxmlformats-officedocument.drawingml.diagramLayout+xml"/>
  <Override PartName="/ppt/diagrams/quickStyle282.xml" ContentType="application/vnd.openxmlformats-officedocument.drawingml.diagramStyle+xml"/>
  <Override PartName="/ppt/diagrams/colors282.xml" ContentType="application/vnd.openxmlformats-officedocument.drawingml.diagramColors+xml"/>
  <Override PartName="/ppt/diagrams/drawing282.xml" ContentType="application/vnd.ms-office.drawingml.diagramDrawing+xml"/>
  <Override PartName="/ppt/notesSlides/notesSlide34.xml" ContentType="application/vnd.openxmlformats-officedocument.presentationml.notesSlide+xml"/>
  <Override PartName="/ppt/diagrams/data283.xml" ContentType="application/vnd.openxmlformats-officedocument.drawingml.diagramData+xml"/>
  <Override PartName="/ppt/diagrams/layout283.xml" ContentType="application/vnd.openxmlformats-officedocument.drawingml.diagramLayout+xml"/>
  <Override PartName="/ppt/diagrams/quickStyle283.xml" ContentType="application/vnd.openxmlformats-officedocument.drawingml.diagramStyle+xml"/>
  <Override PartName="/ppt/diagrams/colors283.xml" ContentType="application/vnd.openxmlformats-officedocument.drawingml.diagramColors+xml"/>
  <Override PartName="/ppt/diagrams/drawing283.xml" ContentType="application/vnd.ms-office.drawingml.diagramDrawing+xml"/>
  <Override PartName="/ppt/notesSlides/notesSlide35.xml" ContentType="application/vnd.openxmlformats-officedocument.presentationml.notesSlide+xml"/>
  <Override PartName="/ppt/diagrams/data284.xml" ContentType="application/vnd.openxmlformats-officedocument.drawingml.diagramData+xml"/>
  <Override PartName="/ppt/diagrams/layout284.xml" ContentType="application/vnd.openxmlformats-officedocument.drawingml.diagramLayout+xml"/>
  <Override PartName="/ppt/diagrams/quickStyle284.xml" ContentType="application/vnd.openxmlformats-officedocument.drawingml.diagramStyle+xml"/>
  <Override PartName="/ppt/diagrams/colors284.xml" ContentType="application/vnd.openxmlformats-officedocument.drawingml.diagramColors+xml"/>
  <Override PartName="/ppt/diagrams/drawing284.xml" ContentType="application/vnd.ms-office.drawingml.diagramDrawing+xml"/>
  <Override PartName="/ppt/notesSlides/notesSlide36.xml" ContentType="application/vnd.openxmlformats-officedocument.presentationml.notesSlide+xml"/>
  <Override PartName="/ppt/diagrams/data285.xml" ContentType="application/vnd.openxmlformats-officedocument.drawingml.diagramData+xml"/>
  <Override PartName="/ppt/diagrams/layout285.xml" ContentType="application/vnd.openxmlformats-officedocument.drawingml.diagramLayout+xml"/>
  <Override PartName="/ppt/diagrams/quickStyle285.xml" ContentType="application/vnd.openxmlformats-officedocument.drawingml.diagramStyle+xml"/>
  <Override PartName="/ppt/diagrams/colors285.xml" ContentType="application/vnd.openxmlformats-officedocument.drawingml.diagramColors+xml"/>
  <Override PartName="/ppt/diagrams/drawing285.xml" ContentType="application/vnd.ms-office.drawingml.diagramDrawing+xml"/>
  <Override PartName="/ppt/notesSlides/notesSlide37.xml" ContentType="application/vnd.openxmlformats-officedocument.presentationml.notesSlide+xml"/>
  <Override PartName="/ppt/diagrams/data286.xml" ContentType="application/vnd.openxmlformats-officedocument.drawingml.diagramData+xml"/>
  <Override PartName="/ppt/diagrams/layout286.xml" ContentType="application/vnd.openxmlformats-officedocument.drawingml.diagramLayout+xml"/>
  <Override PartName="/ppt/diagrams/quickStyle286.xml" ContentType="application/vnd.openxmlformats-officedocument.drawingml.diagramStyle+xml"/>
  <Override PartName="/ppt/diagrams/colors286.xml" ContentType="application/vnd.openxmlformats-officedocument.drawingml.diagramColors+xml"/>
  <Override PartName="/ppt/diagrams/drawing286.xml" ContentType="application/vnd.ms-office.drawingml.diagramDrawing+xml"/>
  <Override PartName="/ppt/notesSlides/notesSlide38.xml" ContentType="application/vnd.openxmlformats-officedocument.presentationml.notesSlide+xml"/>
  <Override PartName="/ppt/diagrams/data287.xml" ContentType="application/vnd.openxmlformats-officedocument.drawingml.diagramData+xml"/>
  <Override PartName="/ppt/diagrams/layout287.xml" ContentType="application/vnd.openxmlformats-officedocument.drawingml.diagramLayout+xml"/>
  <Override PartName="/ppt/diagrams/quickStyle287.xml" ContentType="application/vnd.openxmlformats-officedocument.drawingml.diagramStyle+xml"/>
  <Override PartName="/ppt/diagrams/colors287.xml" ContentType="application/vnd.openxmlformats-officedocument.drawingml.diagramColors+xml"/>
  <Override PartName="/ppt/diagrams/drawing287.xml" ContentType="application/vnd.ms-office.drawingml.diagramDrawing+xml"/>
  <Override PartName="/ppt/notesSlides/notesSlide39.xml" ContentType="application/vnd.openxmlformats-officedocument.presentationml.notesSlide+xml"/>
  <Override PartName="/ppt/diagrams/data288.xml" ContentType="application/vnd.openxmlformats-officedocument.drawingml.diagramData+xml"/>
  <Override PartName="/ppt/diagrams/layout288.xml" ContentType="application/vnd.openxmlformats-officedocument.drawingml.diagramLayout+xml"/>
  <Override PartName="/ppt/diagrams/quickStyle288.xml" ContentType="application/vnd.openxmlformats-officedocument.drawingml.diagramStyle+xml"/>
  <Override PartName="/ppt/diagrams/colors288.xml" ContentType="application/vnd.openxmlformats-officedocument.drawingml.diagramColors+xml"/>
  <Override PartName="/ppt/diagrams/drawing288.xml" ContentType="application/vnd.ms-office.drawingml.diagramDrawing+xml"/>
  <Override PartName="/ppt/notesSlides/notesSlide40.xml" ContentType="application/vnd.openxmlformats-officedocument.presentationml.notesSlide+xml"/>
  <Override PartName="/ppt/diagrams/data289.xml" ContentType="application/vnd.openxmlformats-officedocument.drawingml.diagramData+xml"/>
  <Override PartName="/ppt/diagrams/layout289.xml" ContentType="application/vnd.openxmlformats-officedocument.drawingml.diagramLayout+xml"/>
  <Override PartName="/ppt/diagrams/quickStyle289.xml" ContentType="application/vnd.openxmlformats-officedocument.drawingml.diagramStyle+xml"/>
  <Override PartName="/ppt/diagrams/colors289.xml" ContentType="application/vnd.openxmlformats-officedocument.drawingml.diagramColors+xml"/>
  <Override PartName="/ppt/diagrams/drawing289.xml" ContentType="application/vnd.ms-office.drawingml.diagramDrawing+xml"/>
  <Override PartName="/ppt/notesSlides/notesSlide41.xml" ContentType="application/vnd.openxmlformats-officedocument.presentationml.notesSlide+xml"/>
  <Override PartName="/ppt/diagrams/data290.xml" ContentType="application/vnd.openxmlformats-officedocument.drawingml.diagramData+xml"/>
  <Override PartName="/ppt/diagrams/layout290.xml" ContentType="application/vnd.openxmlformats-officedocument.drawingml.diagramLayout+xml"/>
  <Override PartName="/ppt/diagrams/quickStyle290.xml" ContentType="application/vnd.openxmlformats-officedocument.drawingml.diagramStyle+xml"/>
  <Override PartName="/ppt/diagrams/colors290.xml" ContentType="application/vnd.openxmlformats-officedocument.drawingml.diagramColors+xml"/>
  <Override PartName="/ppt/diagrams/drawing290.xml" ContentType="application/vnd.ms-office.drawingml.diagramDrawing+xml"/>
  <Override PartName="/ppt/notesSlides/notesSlide42.xml" ContentType="application/vnd.openxmlformats-officedocument.presentationml.notesSlide+xml"/>
  <Override PartName="/ppt/diagrams/data291.xml" ContentType="application/vnd.openxmlformats-officedocument.drawingml.diagramData+xml"/>
  <Override PartName="/ppt/diagrams/layout291.xml" ContentType="application/vnd.openxmlformats-officedocument.drawingml.diagramLayout+xml"/>
  <Override PartName="/ppt/diagrams/quickStyle291.xml" ContentType="application/vnd.openxmlformats-officedocument.drawingml.diagramStyle+xml"/>
  <Override PartName="/ppt/diagrams/colors291.xml" ContentType="application/vnd.openxmlformats-officedocument.drawingml.diagramColors+xml"/>
  <Override PartName="/ppt/diagrams/drawing291.xml" ContentType="application/vnd.ms-office.drawingml.diagramDrawing+xml"/>
  <Override PartName="/ppt/notesSlides/notesSlide43.xml" ContentType="application/vnd.openxmlformats-officedocument.presentationml.notesSlide+xml"/>
  <Override PartName="/ppt/diagrams/data292.xml" ContentType="application/vnd.openxmlformats-officedocument.drawingml.diagramData+xml"/>
  <Override PartName="/ppt/diagrams/layout292.xml" ContentType="application/vnd.openxmlformats-officedocument.drawingml.diagramLayout+xml"/>
  <Override PartName="/ppt/diagrams/quickStyle292.xml" ContentType="application/vnd.openxmlformats-officedocument.drawingml.diagramStyle+xml"/>
  <Override PartName="/ppt/diagrams/colors292.xml" ContentType="application/vnd.openxmlformats-officedocument.drawingml.diagramColors+xml"/>
  <Override PartName="/ppt/diagrams/drawing292.xml" ContentType="application/vnd.ms-office.drawingml.diagramDrawing+xml"/>
  <Override PartName="/ppt/notesSlides/notesSlide44.xml" ContentType="application/vnd.openxmlformats-officedocument.presentationml.notesSlide+xml"/>
  <Override PartName="/ppt/diagrams/data293.xml" ContentType="application/vnd.openxmlformats-officedocument.drawingml.diagramData+xml"/>
  <Override PartName="/ppt/diagrams/layout293.xml" ContentType="application/vnd.openxmlformats-officedocument.drawingml.diagramLayout+xml"/>
  <Override PartName="/ppt/diagrams/quickStyle293.xml" ContentType="application/vnd.openxmlformats-officedocument.drawingml.diagramStyle+xml"/>
  <Override PartName="/ppt/diagrams/colors293.xml" ContentType="application/vnd.openxmlformats-officedocument.drawingml.diagramColors+xml"/>
  <Override PartName="/ppt/diagrams/drawing293.xml" ContentType="application/vnd.ms-office.drawingml.diagramDrawing+xml"/>
  <Override PartName="/ppt/notesSlides/notesSlide45.xml" ContentType="application/vnd.openxmlformats-officedocument.presentationml.notesSlide+xml"/>
  <Override PartName="/ppt/diagrams/data294.xml" ContentType="application/vnd.openxmlformats-officedocument.drawingml.diagramData+xml"/>
  <Override PartName="/ppt/diagrams/layout294.xml" ContentType="application/vnd.openxmlformats-officedocument.drawingml.diagramLayout+xml"/>
  <Override PartName="/ppt/diagrams/quickStyle294.xml" ContentType="application/vnd.openxmlformats-officedocument.drawingml.diagramStyle+xml"/>
  <Override PartName="/ppt/diagrams/colors294.xml" ContentType="application/vnd.openxmlformats-officedocument.drawingml.diagramColors+xml"/>
  <Override PartName="/ppt/diagrams/drawing294.xml" ContentType="application/vnd.ms-office.drawingml.diagramDrawing+xml"/>
  <Override PartName="/ppt/notesSlides/notesSlide46.xml" ContentType="application/vnd.openxmlformats-officedocument.presentationml.notesSlide+xml"/>
  <Override PartName="/ppt/diagrams/data295.xml" ContentType="application/vnd.openxmlformats-officedocument.drawingml.diagramData+xml"/>
  <Override PartName="/ppt/diagrams/layout295.xml" ContentType="application/vnd.openxmlformats-officedocument.drawingml.diagramLayout+xml"/>
  <Override PartName="/ppt/diagrams/quickStyle295.xml" ContentType="application/vnd.openxmlformats-officedocument.drawingml.diagramStyle+xml"/>
  <Override PartName="/ppt/diagrams/colors295.xml" ContentType="application/vnd.openxmlformats-officedocument.drawingml.diagramColors+xml"/>
  <Override PartName="/ppt/diagrams/drawing295.xml" ContentType="application/vnd.ms-office.drawingml.diagramDrawing+xml"/>
  <Override PartName="/ppt/notesSlides/notesSlide47.xml" ContentType="application/vnd.openxmlformats-officedocument.presentationml.notesSlide+xml"/>
  <Override PartName="/ppt/diagrams/data296.xml" ContentType="application/vnd.openxmlformats-officedocument.drawingml.diagramData+xml"/>
  <Override PartName="/ppt/diagrams/layout296.xml" ContentType="application/vnd.openxmlformats-officedocument.drawingml.diagramLayout+xml"/>
  <Override PartName="/ppt/diagrams/quickStyle296.xml" ContentType="application/vnd.openxmlformats-officedocument.drawingml.diagramStyle+xml"/>
  <Override PartName="/ppt/diagrams/colors296.xml" ContentType="application/vnd.openxmlformats-officedocument.drawingml.diagramColors+xml"/>
  <Override PartName="/ppt/diagrams/drawing296.xml" ContentType="application/vnd.ms-office.drawingml.diagramDrawing+xml"/>
  <Override PartName="/ppt/notesSlides/notesSlide48.xml" ContentType="application/vnd.openxmlformats-officedocument.presentationml.notesSlide+xml"/>
  <Override PartName="/ppt/diagrams/data297.xml" ContentType="application/vnd.openxmlformats-officedocument.drawingml.diagramData+xml"/>
  <Override PartName="/ppt/diagrams/layout297.xml" ContentType="application/vnd.openxmlformats-officedocument.drawingml.diagramLayout+xml"/>
  <Override PartName="/ppt/diagrams/quickStyle297.xml" ContentType="application/vnd.openxmlformats-officedocument.drawingml.diagramStyle+xml"/>
  <Override PartName="/ppt/diagrams/colors297.xml" ContentType="application/vnd.openxmlformats-officedocument.drawingml.diagramColors+xml"/>
  <Override PartName="/ppt/diagrams/drawing297.xml" ContentType="application/vnd.ms-office.drawingml.diagramDrawing+xml"/>
  <Override PartName="/ppt/notesSlides/notesSlide49.xml" ContentType="application/vnd.openxmlformats-officedocument.presentationml.notesSlide+xml"/>
  <Override PartName="/ppt/diagrams/data298.xml" ContentType="application/vnd.openxmlformats-officedocument.drawingml.diagramData+xml"/>
  <Override PartName="/ppt/diagrams/layout298.xml" ContentType="application/vnd.openxmlformats-officedocument.drawingml.diagramLayout+xml"/>
  <Override PartName="/ppt/diagrams/quickStyle298.xml" ContentType="application/vnd.openxmlformats-officedocument.drawingml.diagramStyle+xml"/>
  <Override PartName="/ppt/diagrams/colors298.xml" ContentType="application/vnd.openxmlformats-officedocument.drawingml.diagramColors+xml"/>
  <Override PartName="/ppt/diagrams/drawing298.xml" ContentType="application/vnd.ms-office.drawingml.diagramDrawing+xml"/>
  <Override PartName="/ppt/notesSlides/notesSlide50.xml" ContentType="application/vnd.openxmlformats-officedocument.presentationml.notesSlide+xml"/>
  <Override PartName="/ppt/diagrams/data299.xml" ContentType="application/vnd.openxmlformats-officedocument.drawingml.diagramData+xml"/>
  <Override PartName="/ppt/diagrams/layout299.xml" ContentType="application/vnd.openxmlformats-officedocument.drawingml.diagramLayout+xml"/>
  <Override PartName="/ppt/diagrams/quickStyle299.xml" ContentType="application/vnd.openxmlformats-officedocument.drawingml.diagramStyle+xml"/>
  <Override PartName="/ppt/diagrams/colors299.xml" ContentType="application/vnd.openxmlformats-officedocument.drawingml.diagramColors+xml"/>
  <Override PartName="/ppt/diagrams/drawing299.xml" ContentType="application/vnd.ms-office.drawingml.diagramDrawing+xml"/>
  <Override PartName="/ppt/notesSlides/notesSlide51.xml" ContentType="application/vnd.openxmlformats-officedocument.presentationml.notesSlide+xml"/>
  <Override PartName="/ppt/diagrams/data300.xml" ContentType="application/vnd.openxmlformats-officedocument.drawingml.diagramData+xml"/>
  <Override PartName="/ppt/diagrams/layout300.xml" ContentType="application/vnd.openxmlformats-officedocument.drawingml.diagramLayout+xml"/>
  <Override PartName="/ppt/diagrams/quickStyle300.xml" ContentType="application/vnd.openxmlformats-officedocument.drawingml.diagramStyle+xml"/>
  <Override PartName="/ppt/diagrams/colors300.xml" ContentType="application/vnd.openxmlformats-officedocument.drawingml.diagramColors+xml"/>
  <Override PartName="/ppt/diagrams/drawing300.xml" ContentType="application/vnd.ms-office.drawingml.diagramDrawing+xml"/>
  <Override PartName="/ppt/notesSlides/notesSlide52.xml" ContentType="application/vnd.openxmlformats-officedocument.presentationml.notesSlide+xml"/>
  <Override PartName="/ppt/diagrams/data301.xml" ContentType="application/vnd.openxmlformats-officedocument.drawingml.diagramData+xml"/>
  <Override PartName="/ppt/diagrams/layout301.xml" ContentType="application/vnd.openxmlformats-officedocument.drawingml.diagramLayout+xml"/>
  <Override PartName="/ppt/diagrams/quickStyle301.xml" ContentType="application/vnd.openxmlformats-officedocument.drawingml.diagramStyle+xml"/>
  <Override PartName="/ppt/diagrams/colors301.xml" ContentType="application/vnd.openxmlformats-officedocument.drawingml.diagramColors+xml"/>
  <Override PartName="/ppt/diagrams/drawing301.xml" ContentType="application/vnd.ms-office.drawingml.diagramDrawing+xml"/>
  <Override PartName="/ppt/notesSlides/notesSlide53.xml" ContentType="application/vnd.openxmlformats-officedocument.presentationml.notesSlide+xml"/>
  <Override PartName="/ppt/diagrams/data302.xml" ContentType="application/vnd.openxmlformats-officedocument.drawingml.diagramData+xml"/>
  <Override PartName="/ppt/diagrams/layout302.xml" ContentType="application/vnd.openxmlformats-officedocument.drawingml.diagramLayout+xml"/>
  <Override PartName="/ppt/diagrams/quickStyle302.xml" ContentType="application/vnd.openxmlformats-officedocument.drawingml.diagramStyle+xml"/>
  <Override PartName="/ppt/diagrams/colors302.xml" ContentType="application/vnd.openxmlformats-officedocument.drawingml.diagramColors+xml"/>
  <Override PartName="/ppt/diagrams/drawing302.xml" ContentType="application/vnd.ms-office.drawingml.diagramDrawing+xml"/>
  <Override PartName="/ppt/notesSlides/notesSlide54.xml" ContentType="application/vnd.openxmlformats-officedocument.presentationml.notesSlide+xml"/>
  <Override PartName="/ppt/diagrams/data303.xml" ContentType="application/vnd.openxmlformats-officedocument.drawingml.diagramData+xml"/>
  <Override PartName="/ppt/diagrams/layout303.xml" ContentType="application/vnd.openxmlformats-officedocument.drawingml.diagramLayout+xml"/>
  <Override PartName="/ppt/diagrams/quickStyle303.xml" ContentType="application/vnd.openxmlformats-officedocument.drawingml.diagramStyle+xml"/>
  <Override PartName="/ppt/diagrams/colors303.xml" ContentType="application/vnd.openxmlformats-officedocument.drawingml.diagramColors+xml"/>
  <Override PartName="/ppt/diagrams/drawing303.xml" ContentType="application/vnd.ms-office.drawingml.diagramDrawing+xml"/>
  <Override PartName="/ppt/notesSlides/notesSlide55.xml" ContentType="application/vnd.openxmlformats-officedocument.presentationml.notesSlide+xml"/>
  <Override PartName="/ppt/diagrams/data304.xml" ContentType="application/vnd.openxmlformats-officedocument.drawingml.diagramData+xml"/>
  <Override PartName="/ppt/diagrams/layout304.xml" ContentType="application/vnd.openxmlformats-officedocument.drawingml.diagramLayout+xml"/>
  <Override PartName="/ppt/diagrams/quickStyle304.xml" ContentType="application/vnd.openxmlformats-officedocument.drawingml.diagramStyle+xml"/>
  <Override PartName="/ppt/diagrams/colors304.xml" ContentType="application/vnd.openxmlformats-officedocument.drawingml.diagramColors+xml"/>
  <Override PartName="/ppt/diagrams/drawing304.xml" ContentType="application/vnd.ms-office.drawingml.diagramDrawing+xml"/>
  <Override PartName="/ppt/notesSlides/notesSlide56.xml" ContentType="application/vnd.openxmlformats-officedocument.presentationml.notesSlide+xml"/>
  <Override PartName="/ppt/diagrams/data305.xml" ContentType="application/vnd.openxmlformats-officedocument.drawingml.diagramData+xml"/>
  <Override PartName="/ppt/diagrams/layout305.xml" ContentType="application/vnd.openxmlformats-officedocument.drawingml.diagramLayout+xml"/>
  <Override PartName="/ppt/diagrams/quickStyle305.xml" ContentType="application/vnd.openxmlformats-officedocument.drawingml.diagramStyle+xml"/>
  <Override PartName="/ppt/diagrams/colors305.xml" ContentType="application/vnd.openxmlformats-officedocument.drawingml.diagramColors+xml"/>
  <Override PartName="/ppt/diagrams/drawing305.xml" ContentType="application/vnd.ms-office.drawingml.diagramDrawing+xml"/>
  <Override PartName="/ppt/notesSlides/notesSlide57.xml" ContentType="application/vnd.openxmlformats-officedocument.presentationml.notesSlide+xml"/>
  <Override PartName="/ppt/diagrams/data306.xml" ContentType="application/vnd.openxmlformats-officedocument.drawingml.diagramData+xml"/>
  <Override PartName="/ppt/diagrams/layout306.xml" ContentType="application/vnd.openxmlformats-officedocument.drawingml.diagramLayout+xml"/>
  <Override PartName="/ppt/diagrams/quickStyle306.xml" ContentType="application/vnd.openxmlformats-officedocument.drawingml.diagramStyle+xml"/>
  <Override PartName="/ppt/diagrams/colors306.xml" ContentType="application/vnd.openxmlformats-officedocument.drawingml.diagramColors+xml"/>
  <Override PartName="/ppt/diagrams/drawing306.xml" ContentType="application/vnd.ms-office.drawingml.diagramDrawing+xml"/>
  <Override PartName="/ppt/notesSlides/notesSlide58.xml" ContentType="application/vnd.openxmlformats-officedocument.presentationml.notesSlide+xml"/>
  <Override PartName="/ppt/diagrams/data307.xml" ContentType="application/vnd.openxmlformats-officedocument.drawingml.diagramData+xml"/>
  <Override PartName="/ppt/diagrams/layout307.xml" ContentType="application/vnd.openxmlformats-officedocument.drawingml.diagramLayout+xml"/>
  <Override PartName="/ppt/diagrams/quickStyle307.xml" ContentType="application/vnd.openxmlformats-officedocument.drawingml.diagramStyle+xml"/>
  <Override PartName="/ppt/diagrams/colors307.xml" ContentType="application/vnd.openxmlformats-officedocument.drawingml.diagramColors+xml"/>
  <Override PartName="/ppt/diagrams/drawing307.xml" ContentType="application/vnd.ms-office.drawingml.diagramDrawing+xml"/>
  <Override PartName="/ppt/notesSlides/notesSlide59.xml" ContentType="application/vnd.openxmlformats-officedocument.presentationml.notesSlide+xml"/>
  <Override PartName="/ppt/diagrams/data308.xml" ContentType="application/vnd.openxmlformats-officedocument.drawingml.diagramData+xml"/>
  <Override PartName="/ppt/diagrams/layout308.xml" ContentType="application/vnd.openxmlformats-officedocument.drawingml.diagramLayout+xml"/>
  <Override PartName="/ppt/diagrams/quickStyle308.xml" ContentType="application/vnd.openxmlformats-officedocument.drawingml.diagramStyle+xml"/>
  <Override PartName="/ppt/diagrams/colors308.xml" ContentType="application/vnd.openxmlformats-officedocument.drawingml.diagramColors+xml"/>
  <Override PartName="/ppt/diagrams/drawing308.xml" ContentType="application/vnd.ms-office.drawingml.diagramDrawing+xml"/>
  <Override PartName="/ppt/notesSlides/notesSlide60.xml" ContentType="application/vnd.openxmlformats-officedocument.presentationml.notesSlide+xml"/>
  <Override PartName="/ppt/diagrams/data309.xml" ContentType="application/vnd.openxmlformats-officedocument.drawingml.diagramData+xml"/>
  <Override PartName="/ppt/diagrams/layout309.xml" ContentType="application/vnd.openxmlformats-officedocument.drawingml.diagramLayout+xml"/>
  <Override PartName="/ppt/diagrams/quickStyle309.xml" ContentType="application/vnd.openxmlformats-officedocument.drawingml.diagramStyle+xml"/>
  <Override PartName="/ppt/diagrams/colors309.xml" ContentType="application/vnd.openxmlformats-officedocument.drawingml.diagramColors+xml"/>
  <Override PartName="/ppt/diagrams/drawing309.xml" ContentType="application/vnd.ms-office.drawingml.diagramDrawing+xml"/>
  <Override PartName="/ppt/notesSlides/notesSlide61.xml" ContentType="application/vnd.openxmlformats-officedocument.presentationml.notesSlide+xml"/>
  <Override PartName="/ppt/diagrams/data310.xml" ContentType="application/vnd.openxmlformats-officedocument.drawingml.diagramData+xml"/>
  <Override PartName="/ppt/diagrams/layout310.xml" ContentType="application/vnd.openxmlformats-officedocument.drawingml.diagramLayout+xml"/>
  <Override PartName="/ppt/diagrams/quickStyle310.xml" ContentType="application/vnd.openxmlformats-officedocument.drawingml.diagramStyle+xml"/>
  <Override PartName="/ppt/diagrams/colors310.xml" ContentType="application/vnd.openxmlformats-officedocument.drawingml.diagramColors+xml"/>
  <Override PartName="/ppt/diagrams/drawing310.xml" ContentType="application/vnd.ms-office.drawingml.diagramDrawing+xml"/>
  <Override PartName="/ppt/notesSlides/notesSlide62.xml" ContentType="application/vnd.openxmlformats-officedocument.presentationml.notesSlide+xml"/>
  <Override PartName="/ppt/diagrams/data311.xml" ContentType="application/vnd.openxmlformats-officedocument.drawingml.diagramData+xml"/>
  <Override PartName="/ppt/diagrams/layout311.xml" ContentType="application/vnd.openxmlformats-officedocument.drawingml.diagramLayout+xml"/>
  <Override PartName="/ppt/diagrams/quickStyle311.xml" ContentType="application/vnd.openxmlformats-officedocument.drawingml.diagramStyle+xml"/>
  <Override PartName="/ppt/diagrams/colors311.xml" ContentType="application/vnd.openxmlformats-officedocument.drawingml.diagramColors+xml"/>
  <Override PartName="/ppt/diagrams/drawing311.xml" ContentType="application/vnd.ms-office.drawingml.diagramDrawing+xml"/>
  <Override PartName="/ppt/notesSlides/notesSlide63.xml" ContentType="application/vnd.openxmlformats-officedocument.presentationml.notesSlide+xml"/>
  <Override PartName="/ppt/diagrams/data312.xml" ContentType="application/vnd.openxmlformats-officedocument.drawingml.diagramData+xml"/>
  <Override PartName="/ppt/diagrams/layout312.xml" ContentType="application/vnd.openxmlformats-officedocument.drawingml.diagramLayout+xml"/>
  <Override PartName="/ppt/diagrams/quickStyle312.xml" ContentType="application/vnd.openxmlformats-officedocument.drawingml.diagramStyle+xml"/>
  <Override PartName="/ppt/diagrams/colors312.xml" ContentType="application/vnd.openxmlformats-officedocument.drawingml.diagramColors+xml"/>
  <Override PartName="/ppt/diagrams/drawing312.xml" ContentType="application/vnd.ms-office.drawingml.diagramDrawing+xml"/>
  <Override PartName="/ppt/notesSlides/notesSlide64.xml" ContentType="application/vnd.openxmlformats-officedocument.presentationml.notesSlide+xml"/>
  <Override PartName="/ppt/diagrams/data313.xml" ContentType="application/vnd.openxmlformats-officedocument.drawingml.diagramData+xml"/>
  <Override PartName="/ppt/diagrams/layout313.xml" ContentType="application/vnd.openxmlformats-officedocument.drawingml.diagramLayout+xml"/>
  <Override PartName="/ppt/diagrams/quickStyle313.xml" ContentType="application/vnd.openxmlformats-officedocument.drawingml.diagramStyle+xml"/>
  <Override PartName="/ppt/diagrams/colors313.xml" ContentType="application/vnd.openxmlformats-officedocument.drawingml.diagramColors+xml"/>
  <Override PartName="/ppt/diagrams/drawing313.xml" ContentType="application/vnd.ms-office.drawingml.diagramDrawing+xml"/>
  <Override PartName="/ppt/diagrams/data314.xml" ContentType="application/vnd.openxmlformats-officedocument.drawingml.diagramData+xml"/>
  <Override PartName="/ppt/diagrams/layout314.xml" ContentType="application/vnd.openxmlformats-officedocument.drawingml.diagramLayout+xml"/>
  <Override PartName="/ppt/diagrams/quickStyle314.xml" ContentType="application/vnd.openxmlformats-officedocument.drawingml.diagramStyle+xml"/>
  <Override PartName="/ppt/diagrams/colors314.xml" ContentType="application/vnd.openxmlformats-officedocument.drawingml.diagramColors+xml"/>
  <Override PartName="/ppt/diagrams/drawing314.xml" ContentType="application/vnd.ms-office.drawingml.diagramDrawing+xml"/>
  <Override PartName="/ppt/notesSlides/notesSlide65.xml" ContentType="application/vnd.openxmlformats-officedocument.presentationml.notesSlide+xml"/>
  <Override PartName="/ppt/diagrams/data315.xml" ContentType="application/vnd.openxmlformats-officedocument.drawingml.diagramData+xml"/>
  <Override PartName="/ppt/diagrams/layout315.xml" ContentType="application/vnd.openxmlformats-officedocument.drawingml.diagramLayout+xml"/>
  <Override PartName="/ppt/diagrams/quickStyle315.xml" ContentType="application/vnd.openxmlformats-officedocument.drawingml.diagramStyle+xml"/>
  <Override PartName="/ppt/diagrams/colors315.xml" ContentType="application/vnd.openxmlformats-officedocument.drawingml.diagramColors+xml"/>
  <Override PartName="/ppt/diagrams/drawing315.xml" ContentType="application/vnd.ms-office.drawingml.diagramDrawing+xml"/>
  <Override PartName="/ppt/diagrams/data316.xml" ContentType="application/vnd.openxmlformats-officedocument.drawingml.diagramData+xml"/>
  <Override PartName="/ppt/diagrams/layout316.xml" ContentType="application/vnd.openxmlformats-officedocument.drawingml.diagramLayout+xml"/>
  <Override PartName="/ppt/diagrams/quickStyle316.xml" ContentType="application/vnd.openxmlformats-officedocument.drawingml.diagramStyle+xml"/>
  <Override PartName="/ppt/diagrams/colors316.xml" ContentType="application/vnd.openxmlformats-officedocument.drawingml.diagramColors+xml"/>
  <Override PartName="/ppt/diagrams/drawing316.xml" ContentType="application/vnd.ms-office.drawingml.diagramDrawing+xml"/>
  <Override PartName="/ppt/diagrams/data317.xml" ContentType="application/vnd.openxmlformats-officedocument.drawingml.diagramData+xml"/>
  <Override PartName="/ppt/diagrams/layout317.xml" ContentType="application/vnd.openxmlformats-officedocument.drawingml.diagramLayout+xml"/>
  <Override PartName="/ppt/diagrams/quickStyle317.xml" ContentType="application/vnd.openxmlformats-officedocument.drawingml.diagramStyle+xml"/>
  <Override PartName="/ppt/diagrams/colors317.xml" ContentType="application/vnd.openxmlformats-officedocument.drawingml.diagramColors+xml"/>
  <Override PartName="/ppt/diagrams/drawing317.xml" ContentType="application/vnd.ms-office.drawingml.diagramDrawing+xml"/>
  <Override PartName="/ppt/diagrams/data318.xml" ContentType="application/vnd.openxmlformats-officedocument.drawingml.diagramData+xml"/>
  <Override PartName="/ppt/diagrams/layout318.xml" ContentType="application/vnd.openxmlformats-officedocument.drawingml.diagramLayout+xml"/>
  <Override PartName="/ppt/diagrams/quickStyle318.xml" ContentType="application/vnd.openxmlformats-officedocument.drawingml.diagramStyle+xml"/>
  <Override PartName="/ppt/diagrams/colors318.xml" ContentType="application/vnd.openxmlformats-officedocument.drawingml.diagramColors+xml"/>
  <Override PartName="/ppt/diagrams/drawing318.xml" ContentType="application/vnd.ms-office.drawingml.diagramDrawing+xml"/>
  <Override PartName="/ppt/diagrams/data319.xml" ContentType="application/vnd.openxmlformats-officedocument.drawingml.diagramData+xml"/>
  <Override PartName="/ppt/diagrams/layout319.xml" ContentType="application/vnd.openxmlformats-officedocument.drawingml.diagramLayout+xml"/>
  <Override PartName="/ppt/diagrams/quickStyle319.xml" ContentType="application/vnd.openxmlformats-officedocument.drawingml.diagramStyle+xml"/>
  <Override PartName="/ppt/diagrams/colors319.xml" ContentType="application/vnd.openxmlformats-officedocument.drawingml.diagramColors+xml"/>
  <Override PartName="/ppt/diagrams/drawing319.xml" ContentType="application/vnd.ms-office.drawingml.diagramDrawing+xml"/>
  <Override PartName="/ppt/diagrams/data320.xml" ContentType="application/vnd.openxmlformats-officedocument.drawingml.diagramData+xml"/>
  <Override PartName="/ppt/diagrams/layout320.xml" ContentType="application/vnd.openxmlformats-officedocument.drawingml.diagramLayout+xml"/>
  <Override PartName="/ppt/diagrams/quickStyle320.xml" ContentType="application/vnd.openxmlformats-officedocument.drawingml.diagramStyle+xml"/>
  <Override PartName="/ppt/diagrams/colors320.xml" ContentType="application/vnd.openxmlformats-officedocument.drawingml.diagramColors+xml"/>
  <Override PartName="/ppt/diagrams/drawing320.xml" ContentType="application/vnd.ms-office.drawingml.diagramDrawing+xml"/>
  <Override PartName="/ppt/diagrams/data321.xml" ContentType="application/vnd.openxmlformats-officedocument.drawingml.diagramData+xml"/>
  <Override PartName="/ppt/diagrams/layout321.xml" ContentType="application/vnd.openxmlformats-officedocument.drawingml.diagramLayout+xml"/>
  <Override PartName="/ppt/diagrams/quickStyle321.xml" ContentType="application/vnd.openxmlformats-officedocument.drawingml.diagramStyle+xml"/>
  <Override PartName="/ppt/diagrams/colors321.xml" ContentType="application/vnd.openxmlformats-officedocument.drawingml.diagramColors+xml"/>
  <Override PartName="/ppt/diagrams/drawing321.xml" ContentType="application/vnd.ms-office.drawingml.diagramDrawing+xml"/>
  <Override PartName="/ppt/diagrams/data322.xml" ContentType="application/vnd.openxmlformats-officedocument.drawingml.diagramData+xml"/>
  <Override PartName="/ppt/diagrams/layout322.xml" ContentType="application/vnd.openxmlformats-officedocument.drawingml.diagramLayout+xml"/>
  <Override PartName="/ppt/diagrams/quickStyle322.xml" ContentType="application/vnd.openxmlformats-officedocument.drawingml.diagramStyle+xml"/>
  <Override PartName="/ppt/diagrams/colors322.xml" ContentType="application/vnd.openxmlformats-officedocument.drawingml.diagramColors+xml"/>
  <Override PartName="/ppt/diagrams/drawing322.xml" ContentType="application/vnd.ms-office.drawingml.diagramDrawing+xml"/>
  <Override PartName="/ppt/diagrams/data323.xml" ContentType="application/vnd.openxmlformats-officedocument.drawingml.diagramData+xml"/>
  <Override PartName="/ppt/diagrams/layout323.xml" ContentType="application/vnd.openxmlformats-officedocument.drawingml.diagramLayout+xml"/>
  <Override PartName="/ppt/diagrams/quickStyle323.xml" ContentType="application/vnd.openxmlformats-officedocument.drawingml.diagramStyle+xml"/>
  <Override PartName="/ppt/diagrams/colors323.xml" ContentType="application/vnd.openxmlformats-officedocument.drawingml.diagramColors+xml"/>
  <Override PartName="/ppt/diagrams/drawing323.xml" ContentType="application/vnd.ms-office.drawingml.diagramDrawing+xml"/>
  <Override PartName="/ppt/diagrams/data324.xml" ContentType="application/vnd.openxmlformats-officedocument.drawingml.diagramData+xml"/>
  <Override PartName="/ppt/diagrams/layout324.xml" ContentType="application/vnd.openxmlformats-officedocument.drawingml.diagramLayout+xml"/>
  <Override PartName="/ppt/diagrams/quickStyle324.xml" ContentType="application/vnd.openxmlformats-officedocument.drawingml.diagramStyle+xml"/>
  <Override PartName="/ppt/diagrams/colors324.xml" ContentType="application/vnd.openxmlformats-officedocument.drawingml.diagramColors+xml"/>
  <Override PartName="/ppt/diagrams/drawing324.xml" ContentType="application/vnd.ms-office.drawingml.diagramDrawing+xml"/>
  <Override PartName="/ppt/diagrams/data325.xml" ContentType="application/vnd.openxmlformats-officedocument.drawingml.diagramData+xml"/>
  <Override PartName="/ppt/diagrams/layout325.xml" ContentType="application/vnd.openxmlformats-officedocument.drawingml.diagramLayout+xml"/>
  <Override PartName="/ppt/diagrams/quickStyle325.xml" ContentType="application/vnd.openxmlformats-officedocument.drawingml.diagramStyle+xml"/>
  <Override PartName="/ppt/diagrams/colors325.xml" ContentType="application/vnd.openxmlformats-officedocument.drawingml.diagramColors+xml"/>
  <Override PartName="/ppt/diagrams/drawing325.xml" ContentType="application/vnd.ms-office.drawingml.diagramDrawing+xml"/>
  <Override PartName="/ppt/diagrams/data326.xml" ContentType="application/vnd.openxmlformats-officedocument.drawingml.diagramData+xml"/>
  <Override PartName="/ppt/diagrams/layout326.xml" ContentType="application/vnd.openxmlformats-officedocument.drawingml.diagramLayout+xml"/>
  <Override PartName="/ppt/diagrams/quickStyle326.xml" ContentType="application/vnd.openxmlformats-officedocument.drawingml.diagramStyle+xml"/>
  <Override PartName="/ppt/diagrams/colors326.xml" ContentType="application/vnd.openxmlformats-officedocument.drawingml.diagramColors+xml"/>
  <Override PartName="/ppt/diagrams/drawing326.xml" ContentType="application/vnd.ms-office.drawingml.diagramDrawing+xml"/>
  <Override PartName="/ppt/diagrams/data327.xml" ContentType="application/vnd.openxmlformats-officedocument.drawingml.diagramData+xml"/>
  <Override PartName="/ppt/diagrams/layout327.xml" ContentType="application/vnd.openxmlformats-officedocument.drawingml.diagramLayout+xml"/>
  <Override PartName="/ppt/diagrams/quickStyle327.xml" ContentType="application/vnd.openxmlformats-officedocument.drawingml.diagramStyle+xml"/>
  <Override PartName="/ppt/diagrams/colors327.xml" ContentType="application/vnd.openxmlformats-officedocument.drawingml.diagramColors+xml"/>
  <Override PartName="/ppt/diagrams/drawing327.xml" ContentType="application/vnd.ms-office.drawingml.diagramDrawing+xml"/>
  <Override PartName="/ppt/diagrams/data328.xml" ContentType="application/vnd.openxmlformats-officedocument.drawingml.diagramData+xml"/>
  <Override PartName="/ppt/diagrams/layout328.xml" ContentType="application/vnd.openxmlformats-officedocument.drawingml.diagramLayout+xml"/>
  <Override PartName="/ppt/diagrams/quickStyle328.xml" ContentType="application/vnd.openxmlformats-officedocument.drawingml.diagramStyle+xml"/>
  <Override PartName="/ppt/diagrams/colors328.xml" ContentType="application/vnd.openxmlformats-officedocument.drawingml.diagramColors+xml"/>
  <Override PartName="/ppt/diagrams/drawing328.xml" ContentType="application/vnd.ms-office.drawingml.diagramDrawing+xml"/>
  <Override PartName="/ppt/diagrams/data329.xml" ContentType="application/vnd.openxmlformats-officedocument.drawingml.diagramData+xml"/>
  <Override PartName="/ppt/diagrams/layout329.xml" ContentType="application/vnd.openxmlformats-officedocument.drawingml.diagramLayout+xml"/>
  <Override PartName="/ppt/diagrams/quickStyle329.xml" ContentType="application/vnd.openxmlformats-officedocument.drawingml.diagramStyle+xml"/>
  <Override PartName="/ppt/diagrams/colors329.xml" ContentType="application/vnd.openxmlformats-officedocument.drawingml.diagramColors+xml"/>
  <Override PartName="/ppt/diagrams/drawing329.xml" ContentType="application/vnd.ms-office.drawingml.diagramDrawing+xml"/>
  <Override PartName="/ppt/diagrams/data330.xml" ContentType="application/vnd.openxmlformats-officedocument.drawingml.diagramData+xml"/>
  <Override PartName="/ppt/diagrams/layout330.xml" ContentType="application/vnd.openxmlformats-officedocument.drawingml.diagramLayout+xml"/>
  <Override PartName="/ppt/diagrams/quickStyle330.xml" ContentType="application/vnd.openxmlformats-officedocument.drawingml.diagramStyle+xml"/>
  <Override PartName="/ppt/diagrams/colors330.xml" ContentType="application/vnd.openxmlformats-officedocument.drawingml.diagramColors+xml"/>
  <Override PartName="/ppt/diagrams/drawing330.xml" ContentType="application/vnd.ms-office.drawingml.diagramDrawing+xml"/>
  <Override PartName="/ppt/diagrams/data331.xml" ContentType="application/vnd.openxmlformats-officedocument.drawingml.diagramData+xml"/>
  <Override PartName="/ppt/diagrams/layout331.xml" ContentType="application/vnd.openxmlformats-officedocument.drawingml.diagramLayout+xml"/>
  <Override PartName="/ppt/diagrams/quickStyle331.xml" ContentType="application/vnd.openxmlformats-officedocument.drawingml.diagramStyle+xml"/>
  <Override PartName="/ppt/diagrams/colors331.xml" ContentType="application/vnd.openxmlformats-officedocument.drawingml.diagramColors+xml"/>
  <Override PartName="/ppt/diagrams/drawing331.xml" ContentType="application/vnd.ms-office.drawingml.diagramDrawing+xml"/>
  <Override PartName="/ppt/diagrams/data332.xml" ContentType="application/vnd.openxmlformats-officedocument.drawingml.diagramData+xml"/>
  <Override PartName="/ppt/diagrams/layout332.xml" ContentType="application/vnd.openxmlformats-officedocument.drawingml.diagramLayout+xml"/>
  <Override PartName="/ppt/diagrams/quickStyle332.xml" ContentType="application/vnd.openxmlformats-officedocument.drawingml.diagramStyle+xml"/>
  <Override PartName="/ppt/diagrams/colors332.xml" ContentType="application/vnd.openxmlformats-officedocument.drawingml.diagramColors+xml"/>
  <Override PartName="/ppt/diagrams/drawing332.xml" ContentType="application/vnd.ms-office.drawingml.diagramDrawing+xml"/>
  <Override PartName="/ppt/diagrams/data333.xml" ContentType="application/vnd.openxmlformats-officedocument.drawingml.diagramData+xml"/>
  <Override PartName="/ppt/diagrams/layout333.xml" ContentType="application/vnd.openxmlformats-officedocument.drawingml.diagramLayout+xml"/>
  <Override PartName="/ppt/diagrams/quickStyle333.xml" ContentType="application/vnd.openxmlformats-officedocument.drawingml.diagramStyle+xml"/>
  <Override PartName="/ppt/diagrams/colors333.xml" ContentType="application/vnd.openxmlformats-officedocument.drawingml.diagramColors+xml"/>
  <Override PartName="/ppt/diagrams/drawing333.xml" ContentType="application/vnd.ms-office.drawingml.diagramDrawing+xml"/>
  <Override PartName="/ppt/diagrams/data334.xml" ContentType="application/vnd.openxmlformats-officedocument.drawingml.diagramData+xml"/>
  <Override PartName="/ppt/diagrams/layout334.xml" ContentType="application/vnd.openxmlformats-officedocument.drawingml.diagramLayout+xml"/>
  <Override PartName="/ppt/diagrams/quickStyle334.xml" ContentType="application/vnd.openxmlformats-officedocument.drawingml.diagramStyle+xml"/>
  <Override PartName="/ppt/diagrams/colors334.xml" ContentType="application/vnd.openxmlformats-officedocument.drawingml.diagramColors+xml"/>
  <Override PartName="/ppt/diagrams/drawing334.xml" ContentType="application/vnd.ms-office.drawingml.diagramDrawing+xml"/>
  <Override PartName="/ppt/diagrams/data335.xml" ContentType="application/vnd.openxmlformats-officedocument.drawingml.diagramData+xml"/>
  <Override PartName="/ppt/diagrams/layout335.xml" ContentType="application/vnd.openxmlformats-officedocument.drawingml.diagramLayout+xml"/>
  <Override PartName="/ppt/diagrams/quickStyle335.xml" ContentType="application/vnd.openxmlformats-officedocument.drawingml.diagramStyle+xml"/>
  <Override PartName="/ppt/diagrams/colors335.xml" ContentType="application/vnd.openxmlformats-officedocument.drawingml.diagramColors+xml"/>
  <Override PartName="/ppt/diagrams/drawing335.xml" ContentType="application/vnd.ms-office.drawingml.diagramDrawing+xml"/>
  <Override PartName="/ppt/diagrams/data336.xml" ContentType="application/vnd.openxmlformats-officedocument.drawingml.diagramData+xml"/>
  <Override PartName="/ppt/diagrams/layout336.xml" ContentType="application/vnd.openxmlformats-officedocument.drawingml.diagramLayout+xml"/>
  <Override PartName="/ppt/diagrams/quickStyle336.xml" ContentType="application/vnd.openxmlformats-officedocument.drawingml.diagramStyle+xml"/>
  <Override PartName="/ppt/diagrams/colors336.xml" ContentType="application/vnd.openxmlformats-officedocument.drawingml.diagramColors+xml"/>
  <Override PartName="/ppt/diagrams/drawing336.xml" ContentType="application/vnd.ms-office.drawingml.diagramDrawing+xml"/>
  <Override PartName="/ppt/diagrams/data337.xml" ContentType="application/vnd.openxmlformats-officedocument.drawingml.diagramData+xml"/>
  <Override PartName="/ppt/diagrams/layout337.xml" ContentType="application/vnd.openxmlformats-officedocument.drawingml.diagramLayout+xml"/>
  <Override PartName="/ppt/diagrams/quickStyle337.xml" ContentType="application/vnd.openxmlformats-officedocument.drawingml.diagramStyle+xml"/>
  <Override PartName="/ppt/diagrams/colors337.xml" ContentType="application/vnd.openxmlformats-officedocument.drawingml.diagramColors+xml"/>
  <Override PartName="/ppt/diagrams/drawing337.xml" ContentType="application/vnd.ms-office.drawingml.diagramDrawing+xml"/>
  <Override PartName="/ppt/diagrams/data338.xml" ContentType="application/vnd.openxmlformats-officedocument.drawingml.diagramData+xml"/>
  <Override PartName="/ppt/diagrams/layout338.xml" ContentType="application/vnd.openxmlformats-officedocument.drawingml.diagramLayout+xml"/>
  <Override PartName="/ppt/diagrams/quickStyle338.xml" ContentType="application/vnd.openxmlformats-officedocument.drawingml.diagramStyle+xml"/>
  <Override PartName="/ppt/diagrams/colors338.xml" ContentType="application/vnd.openxmlformats-officedocument.drawingml.diagramColors+xml"/>
  <Override PartName="/ppt/diagrams/drawing338.xml" ContentType="application/vnd.ms-office.drawingml.diagramDrawing+xml"/>
  <Override PartName="/ppt/diagrams/data339.xml" ContentType="application/vnd.openxmlformats-officedocument.drawingml.diagramData+xml"/>
  <Override PartName="/ppt/diagrams/layout339.xml" ContentType="application/vnd.openxmlformats-officedocument.drawingml.diagramLayout+xml"/>
  <Override PartName="/ppt/diagrams/quickStyle339.xml" ContentType="application/vnd.openxmlformats-officedocument.drawingml.diagramStyle+xml"/>
  <Override PartName="/ppt/diagrams/colors339.xml" ContentType="application/vnd.openxmlformats-officedocument.drawingml.diagramColors+xml"/>
  <Override PartName="/ppt/diagrams/drawing339.xml" ContentType="application/vnd.ms-office.drawingml.diagramDrawing+xml"/>
  <Override PartName="/ppt/diagrams/data340.xml" ContentType="application/vnd.openxmlformats-officedocument.drawingml.diagramData+xml"/>
  <Override PartName="/ppt/diagrams/layout340.xml" ContentType="application/vnd.openxmlformats-officedocument.drawingml.diagramLayout+xml"/>
  <Override PartName="/ppt/diagrams/quickStyle340.xml" ContentType="application/vnd.openxmlformats-officedocument.drawingml.diagramStyle+xml"/>
  <Override PartName="/ppt/diagrams/colors340.xml" ContentType="application/vnd.openxmlformats-officedocument.drawingml.diagramColors+xml"/>
  <Override PartName="/ppt/diagrams/drawing340.xml" ContentType="application/vnd.ms-office.drawingml.diagramDrawing+xml"/>
  <Override PartName="/ppt/diagrams/data341.xml" ContentType="application/vnd.openxmlformats-officedocument.drawingml.diagramData+xml"/>
  <Override PartName="/ppt/diagrams/layout341.xml" ContentType="application/vnd.openxmlformats-officedocument.drawingml.diagramLayout+xml"/>
  <Override PartName="/ppt/diagrams/quickStyle341.xml" ContentType="application/vnd.openxmlformats-officedocument.drawingml.diagramStyle+xml"/>
  <Override PartName="/ppt/diagrams/colors341.xml" ContentType="application/vnd.openxmlformats-officedocument.drawingml.diagramColors+xml"/>
  <Override PartName="/ppt/diagrams/drawing341.xml" ContentType="application/vnd.ms-office.drawingml.diagramDrawing+xml"/>
  <Override PartName="/ppt/diagrams/data342.xml" ContentType="application/vnd.openxmlformats-officedocument.drawingml.diagramData+xml"/>
  <Override PartName="/ppt/diagrams/layout342.xml" ContentType="application/vnd.openxmlformats-officedocument.drawingml.diagramLayout+xml"/>
  <Override PartName="/ppt/diagrams/quickStyle342.xml" ContentType="application/vnd.openxmlformats-officedocument.drawingml.diagramStyle+xml"/>
  <Override PartName="/ppt/diagrams/colors342.xml" ContentType="application/vnd.openxmlformats-officedocument.drawingml.diagramColors+xml"/>
  <Override PartName="/ppt/diagrams/drawing342.xml" ContentType="application/vnd.ms-office.drawingml.diagramDrawing+xml"/>
  <Override PartName="/ppt/diagrams/data343.xml" ContentType="application/vnd.openxmlformats-officedocument.drawingml.diagramData+xml"/>
  <Override PartName="/ppt/diagrams/layout343.xml" ContentType="application/vnd.openxmlformats-officedocument.drawingml.diagramLayout+xml"/>
  <Override PartName="/ppt/diagrams/quickStyle343.xml" ContentType="application/vnd.openxmlformats-officedocument.drawingml.diagramStyle+xml"/>
  <Override PartName="/ppt/diagrams/colors343.xml" ContentType="application/vnd.openxmlformats-officedocument.drawingml.diagramColors+xml"/>
  <Override PartName="/ppt/diagrams/drawing343.xml" ContentType="application/vnd.ms-office.drawingml.diagramDrawing+xml"/>
  <Override PartName="/ppt/diagrams/data344.xml" ContentType="application/vnd.openxmlformats-officedocument.drawingml.diagramData+xml"/>
  <Override PartName="/ppt/diagrams/layout344.xml" ContentType="application/vnd.openxmlformats-officedocument.drawingml.diagramLayout+xml"/>
  <Override PartName="/ppt/diagrams/quickStyle344.xml" ContentType="application/vnd.openxmlformats-officedocument.drawingml.diagramStyle+xml"/>
  <Override PartName="/ppt/diagrams/colors344.xml" ContentType="application/vnd.openxmlformats-officedocument.drawingml.diagramColors+xml"/>
  <Override PartName="/ppt/diagrams/drawing344.xml" ContentType="application/vnd.ms-office.drawingml.diagramDrawing+xml"/>
  <Override PartName="/ppt/diagrams/data345.xml" ContentType="application/vnd.openxmlformats-officedocument.drawingml.diagramData+xml"/>
  <Override PartName="/ppt/diagrams/layout345.xml" ContentType="application/vnd.openxmlformats-officedocument.drawingml.diagramLayout+xml"/>
  <Override PartName="/ppt/diagrams/quickStyle345.xml" ContentType="application/vnd.openxmlformats-officedocument.drawingml.diagramStyle+xml"/>
  <Override PartName="/ppt/diagrams/colors345.xml" ContentType="application/vnd.openxmlformats-officedocument.drawingml.diagramColors+xml"/>
  <Override PartName="/ppt/diagrams/drawing345.xml" ContentType="application/vnd.ms-office.drawingml.diagramDrawing+xml"/>
  <Override PartName="/ppt/diagrams/data346.xml" ContentType="application/vnd.openxmlformats-officedocument.drawingml.diagramData+xml"/>
  <Override PartName="/ppt/diagrams/layout346.xml" ContentType="application/vnd.openxmlformats-officedocument.drawingml.diagramLayout+xml"/>
  <Override PartName="/ppt/diagrams/quickStyle346.xml" ContentType="application/vnd.openxmlformats-officedocument.drawingml.diagramStyle+xml"/>
  <Override PartName="/ppt/diagrams/colors346.xml" ContentType="application/vnd.openxmlformats-officedocument.drawingml.diagramColors+xml"/>
  <Override PartName="/ppt/diagrams/drawing346.xml" ContentType="application/vnd.ms-office.drawingml.diagramDrawing+xml"/>
  <Override PartName="/ppt/diagrams/data347.xml" ContentType="application/vnd.openxmlformats-officedocument.drawingml.diagramData+xml"/>
  <Override PartName="/ppt/diagrams/layout347.xml" ContentType="application/vnd.openxmlformats-officedocument.drawingml.diagramLayout+xml"/>
  <Override PartName="/ppt/diagrams/quickStyle347.xml" ContentType="application/vnd.openxmlformats-officedocument.drawingml.diagramStyle+xml"/>
  <Override PartName="/ppt/diagrams/colors347.xml" ContentType="application/vnd.openxmlformats-officedocument.drawingml.diagramColors+xml"/>
  <Override PartName="/ppt/diagrams/drawing347.xml" ContentType="application/vnd.ms-office.drawingml.diagramDrawing+xml"/>
  <Override PartName="/ppt/diagrams/data348.xml" ContentType="application/vnd.openxmlformats-officedocument.drawingml.diagramData+xml"/>
  <Override PartName="/ppt/diagrams/layout348.xml" ContentType="application/vnd.openxmlformats-officedocument.drawingml.diagramLayout+xml"/>
  <Override PartName="/ppt/diagrams/quickStyle348.xml" ContentType="application/vnd.openxmlformats-officedocument.drawingml.diagramStyle+xml"/>
  <Override PartName="/ppt/diagrams/colors348.xml" ContentType="application/vnd.openxmlformats-officedocument.drawingml.diagramColors+xml"/>
  <Override PartName="/ppt/diagrams/drawing348.xml" ContentType="application/vnd.ms-office.drawingml.diagramDrawing+xml"/>
  <Override PartName="/ppt/diagrams/data349.xml" ContentType="application/vnd.openxmlformats-officedocument.drawingml.diagramData+xml"/>
  <Override PartName="/ppt/diagrams/layout349.xml" ContentType="application/vnd.openxmlformats-officedocument.drawingml.diagramLayout+xml"/>
  <Override PartName="/ppt/diagrams/quickStyle349.xml" ContentType="application/vnd.openxmlformats-officedocument.drawingml.diagramStyle+xml"/>
  <Override PartName="/ppt/diagrams/colors349.xml" ContentType="application/vnd.openxmlformats-officedocument.drawingml.diagramColors+xml"/>
  <Override PartName="/ppt/diagrams/drawing349.xml" ContentType="application/vnd.ms-office.drawingml.diagramDrawing+xml"/>
  <Override PartName="/ppt/diagrams/data350.xml" ContentType="application/vnd.openxmlformats-officedocument.drawingml.diagramData+xml"/>
  <Override PartName="/ppt/diagrams/layout350.xml" ContentType="application/vnd.openxmlformats-officedocument.drawingml.diagramLayout+xml"/>
  <Override PartName="/ppt/diagrams/quickStyle350.xml" ContentType="application/vnd.openxmlformats-officedocument.drawingml.diagramStyle+xml"/>
  <Override PartName="/ppt/diagrams/colors350.xml" ContentType="application/vnd.openxmlformats-officedocument.drawingml.diagramColors+xml"/>
  <Override PartName="/ppt/diagrams/drawing350.xml" ContentType="application/vnd.ms-office.drawingml.diagramDrawing+xml"/>
  <Override PartName="/ppt/diagrams/data351.xml" ContentType="application/vnd.openxmlformats-officedocument.drawingml.diagramData+xml"/>
  <Override PartName="/ppt/diagrams/layout351.xml" ContentType="application/vnd.openxmlformats-officedocument.drawingml.diagramLayout+xml"/>
  <Override PartName="/ppt/diagrams/quickStyle351.xml" ContentType="application/vnd.openxmlformats-officedocument.drawingml.diagramStyle+xml"/>
  <Override PartName="/ppt/diagrams/colors351.xml" ContentType="application/vnd.openxmlformats-officedocument.drawingml.diagramColors+xml"/>
  <Override PartName="/ppt/diagrams/drawing351.xml" ContentType="application/vnd.ms-office.drawingml.diagramDrawing+xml"/>
  <Override PartName="/ppt/diagrams/data352.xml" ContentType="application/vnd.openxmlformats-officedocument.drawingml.diagramData+xml"/>
  <Override PartName="/ppt/diagrams/layout352.xml" ContentType="application/vnd.openxmlformats-officedocument.drawingml.diagramLayout+xml"/>
  <Override PartName="/ppt/diagrams/quickStyle352.xml" ContentType="application/vnd.openxmlformats-officedocument.drawingml.diagramStyle+xml"/>
  <Override PartName="/ppt/diagrams/colors352.xml" ContentType="application/vnd.openxmlformats-officedocument.drawingml.diagramColors+xml"/>
  <Override PartName="/ppt/diagrams/drawing352.xml" ContentType="application/vnd.ms-office.drawingml.diagramDrawing+xml"/>
  <Override PartName="/ppt/diagrams/data353.xml" ContentType="application/vnd.openxmlformats-officedocument.drawingml.diagramData+xml"/>
  <Override PartName="/ppt/diagrams/layout353.xml" ContentType="application/vnd.openxmlformats-officedocument.drawingml.diagramLayout+xml"/>
  <Override PartName="/ppt/diagrams/quickStyle353.xml" ContentType="application/vnd.openxmlformats-officedocument.drawingml.diagramStyle+xml"/>
  <Override PartName="/ppt/diagrams/colors353.xml" ContentType="application/vnd.openxmlformats-officedocument.drawingml.diagramColors+xml"/>
  <Override PartName="/ppt/diagrams/drawing353.xml" ContentType="application/vnd.ms-office.drawingml.diagramDrawing+xml"/>
  <Override PartName="/ppt/diagrams/data354.xml" ContentType="application/vnd.openxmlformats-officedocument.drawingml.diagramData+xml"/>
  <Override PartName="/ppt/diagrams/layout354.xml" ContentType="application/vnd.openxmlformats-officedocument.drawingml.diagramLayout+xml"/>
  <Override PartName="/ppt/diagrams/quickStyle354.xml" ContentType="application/vnd.openxmlformats-officedocument.drawingml.diagramStyle+xml"/>
  <Override PartName="/ppt/diagrams/colors354.xml" ContentType="application/vnd.openxmlformats-officedocument.drawingml.diagramColors+xml"/>
  <Override PartName="/ppt/diagrams/drawing354.xml" ContentType="application/vnd.ms-office.drawingml.diagramDrawing+xml"/>
  <Override PartName="/ppt/diagrams/data355.xml" ContentType="application/vnd.openxmlformats-officedocument.drawingml.diagramData+xml"/>
  <Override PartName="/ppt/diagrams/layout355.xml" ContentType="application/vnd.openxmlformats-officedocument.drawingml.diagramLayout+xml"/>
  <Override PartName="/ppt/diagrams/quickStyle355.xml" ContentType="application/vnd.openxmlformats-officedocument.drawingml.diagramStyle+xml"/>
  <Override PartName="/ppt/diagrams/colors355.xml" ContentType="application/vnd.openxmlformats-officedocument.drawingml.diagramColors+xml"/>
  <Override PartName="/ppt/diagrams/drawing355.xml" ContentType="application/vnd.ms-office.drawingml.diagramDrawing+xml"/>
  <Override PartName="/ppt/diagrams/data356.xml" ContentType="application/vnd.openxmlformats-officedocument.drawingml.diagramData+xml"/>
  <Override PartName="/ppt/diagrams/layout356.xml" ContentType="application/vnd.openxmlformats-officedocument.drawingml.diagramLayout+xml"/>
  <Override PartName="/ppt/diagrams/quickStyle356.xml" ContentType="application/vnd.openxmlformats-officedocument.drawingml.diagramStyle+xml"/>
  <Override PartName="/ppt/diagrams/colors356.xml" ContentType="application/vnd.openxmlformats-officedocument.drawingml.diagramColors+xml"/>
  <Override PartName="/ppt/diagrams/drawing356.xml" ContentType="application/vnd.ms-office.drawingml.diagramDrawing+xml"/>
  <Override PartName="/ppt/diagrams/data357.xml" ContentType="application/vnd.openxmlformats-officedocument.drawingml.diagramData+xml"/>
  <Override PartName="/ppt/diagrams/layout357.xml" ContentType="application/vnd.openxmlformats-officedocument.drawingml.diagramLayout+xml"/>
  <Override PartName="/ppt/diagrams/quickStyle357.xml" ContentType="application/vnd.openxmlformats-officedocument.drawingml.diagramStyle+xml"/>
  <Override PartName="/ppt/diagrams/colors357.xml" ContentType="application/vnd.openxmlformats-officedocument.drawingml.diagramColors+xml"/>
  <Override PartName="/ppt/diagrams/drawing357.xml" ContentType="application/vnd.ms-office.drawingml.diagramDrawing+xml"/>
  <Override PartName="/ppt/diagrams/data358.xml" ContentType="application/vnd.openxmlformats-officedocument.drawingml.diagramData+xml"/>
  <Override PartName="/ppt/diagrams/layout358.xml" ContentType="application/vnd.openxmlformats-officedocument.drawingml.diagramLayout+xml"/>
  <Override PartName="/ppt/diagrams/quickStyle358.xml" ContentType="application/vnd.openxmlformats-officedocument.drawingml.diagramStyle+xml"/>
  <Override PartName="/ppt/diagrams/colors358.xml" ContentType="application/vnd.openxmlformats-officedocument.drawingml.diagramColors+xml"/>
  <Override PartName="/ppt/diagrams/drawing358.xml" ContentType="application/vnd.ms-office.drawingml.diagramDrawing+xml"/>
  <Override PartName="/ppt/diagrams/data359.xml" ContentType="application/vnd.openxmlformats-officedocument.drawingml.diagramData+xml"/>
  <Override PartName="/ppt/diagrams/layout359.xml" ContentType="application/vnd.openxmlformats-officedocument.drawingml.diagramLayout+xml"/>
  <Override PartName="/ppt/diagrams/quickStyle359.xml" ContentType="application/vnd.openxmlformats-officedocument.drawingml.diagramStyle+xml"/>
  <Override PartName="/ppt/diagrams/colors359.xml" ContentType="application/vnd.openxmlformats-officedocument.drawingml.diagramColors+xml"/>
  <Override PartName="/ppt/diagrams/drawing359.xml" ContentType="application/vnd.ms-office.drawingml.diagramDrawing+xml"/>
  <Override PartName="/ppt/diagrams/data360.xml" ContentType="application/vnd.openxmlformats-officedocument.drawingml.diagramData+xml"/>
  <Override PartName="/ppt/diagrams/layout360.xml" ContentType="application/vnd.openxmlformats-officedocument.drawingml.diagramLayout+xml"/>
  <Override PartName="/ppt/diagrams/quickStyle360.xml" ContentType="application/vnd.openxmlformats-officedocument.drawingml.diagramStyle+xml"/>
  <Override PartName="/ppt/diagrams/colors360.xml" ContentType="application/vnd.openxmlformats-officedocument.drawingml.diagramColors+xml"/>
  <Override PartName="/ppt/diagrams/drawing360.xml" ContentType="application/vnd.ms-office.drawingml.diagramDrawing+xml"/>
  <Override PartName="/ppt/diagrams/data361.xml" ContentType="application/vnd.openxmlformats-officedocument.drawingml.diagramData+xml"/>
  <Override PartName="/ppt/diagrams/layout361.xml" ContentType="application/vnd.openxmlformats-officedocument.drawingml.diagramLayout+xml"/>
  <Override PartName="/ppt/diagrams/quickStyle361.xml" ContentType="application/vnd.openxmlformats-officedocument.drawingml.diagramStyle+xml"/>
  <Override PartName="/ppt/diagrams/colors361.xml" ContentType="application/vnd.openxmlformats-officedocument.drawingml.diagramColors+xml"/>
  <Override PartName="/ppt/diagrams/drawing361.xml" ContentType="application/vnd.ms-office.drawingml.diagramDrawing+xml"/>
  <Override PartName="/ppt/diagrams/data362.xml" ContentType="application/vnd.openxmlformats-officedocument.drawingml.diagramData+xml"/>
  <Override PartName="/ppt/diagrams/layout362.xml" ContentType="application/vnd.openxmlformats-officedocument.drawingml.diagramLayout+xml"/>
  <Override PartName="/ppt/diagrams/quickStyle362.xml" ContentType="application/vnd.openxmlformats-officedocument.drawingml.diagramStyle+xml"/>
  <Override PartName="/ppt/diagrams/colors362.xml" ContentType="application/vnd.openxmlformats-officedocument.drawingml.diagramColors+xml"/>
  <Override PartName="/ppt/diagrams/drawing362.xml" ContentType="application/vnd.ms-office.drawingml.diagramDrawing+xml"/>
  <Override PartName="/ppt/diagrams/data363.xml" ContentType="application/vnd.openxmlformats-officedocument.drawingml.diagramData+xml"/>
  <Override PartName="/ppt/diagrams/layout363.xml" ContentType="application/vnd.openxmlformats-officedocument.drawingml.diagramLayout+xml"/>
  <Override PartName="/ppt/diagrams/quickStyle363.xml" ContentType="application/vnd.openxmlformats-officedocument.drawingml.diagramStyle+xml"/>
  <Override PartName="/ppt/diagrams/colors363.xml" ContentType="application/vnd.openxmlformats-officedocument.drawingml.diagramColors+xml"/>
  <Override PartName="/ppt/diagrams/drawing363.xml" ContentType="application/vnd.ms-office.drawingml.diagramDrawing+xml"/>
  <Override PartName="/ppt/diagrams/data364.xml" ContentType="application/vnd.openxmlformats-officedocument.drawingml.diagramData+xml"/>
  <Override PartName="/ppt/diagrams/layout364.xml" ContentType="application/vnd.openxmlformats-officedocument.drawingml.diagramLayout+xml"/>
  <Override PartName="/ppt/diagrams/quickStyle364.xml" ContentType="application/vnd.openxmlformats-officedocument.drawingml.diagramStyle+xml"/>
  <Override PartName="/ppt/diagrams/colors364.xml" ContentType="application/vnd.openxmlformats-officedocument.drawingml.diagramColors+xml"/>
  <Override PartName="/ppt/diagrams/drawing364.xml" ContentType="application/vnd.ms-office.drawingml.diagramDrawing+xml"/>
  <Override PartName="/ppt/diagrams/data365.xml" ContentType="application/vnd.openxmlformats-officedocument.drawingml.diagramData+xml"/>
  <Override PartName="/ppt/diagrams/layout365.xml" ContentType="application/vnd.openxmlformats-officedocument.drawingml.diagramLayout+xml"/>
  <Override PartName="/ppt/diagrams/quickStyle365.xml" ContentType="application/vnd.openxmlformats-officedocument.drawingml.diagramStyle+xml"/>
  <Override PartName="/ppt/diagrams/colors365.xml" ContentType="application/vnd.openxmlformats-officedocument.drawingml.diagramColors+xml"/>
  <Override PartName="/ppt/diagrams/drawing365.xml" ContentType="application/vnd.ms-office.drawingml.diagramDrawing+xml"/>
  <Override PartName="/ppt/diagrams/data366.xml" ContentType="application/vnd.openxmlformats-officedocument.drawingml.diagramData+xml"/>
  <Override PartName="/ppt/diagrams/layout366.xml" ContentType="application/vnd.openxmlformats-officedocument.drawingml.diagramLayout+xml"/>
  <Override PartName="/ppt/diagrams/quickStyle366.xml" ContentType="application/vnd.openxmlformats-officedocument.drawingml.diagramStyle+xml"/>
  <Override PartName="/ppt/diagrams/colors366.xml" ContentType="application/vnd.openxmlformats-officedocument.drawingml.diagramColors+xml"/>
  <Override PartName="/ppt/diagrams/drawing366.xml" ContentType="application/vnd.ms-office.drawingml.diagramDrawing+xml"/>
  <Override PartName="/ppt/diagrams/data367.xml" ContentType="application/vnd.openxmlformats-officedocument.drawingml.diagramData+xml"/>
  <Override PartName="/ppt/diagrams/layout367.xml" ContentType="application/vnd.openxmlformats-officedocument.drawingml.diagramLayout+xml"/>
  <Override PartName="/ppt/diagrams/quickStyle367.xml" ContentType="application/vnd.openxmlformats-officedocument.drawingml.diagramStyle+xml"/>
  <Override PartName="/ppt/diagrams/colors367.xml" ContentType="application/vnd.openxmlformats-officedocument.drawingml.diagramColors+xml"/>
  <Override PartName="/ppt/diagrams/drawing367.xml" ContentType="application/vnd.ms-office.drawingml.diagramDrawing+xml"/>
  <Override PartName="/ppt/diagrams/data368.xml" ContentType="application/vnd.openxmlformats-officedocument.drawingml.diagramData+xml"/>
  <Override PartName="/ppt/diagrams/layout368.xml" ContentType="application/vnd.openxmlformats-officedocument.drawingml.diagramLayout+xml"/>
  <Override PartName="/ppt/diagrams/quickStyle368.xml" ContentType="application/vnd.openxmlformats-officedocument.drawingml.diagramStyle+xml"/>
  <Override PartName="/ppt/diagrams/colors368.xml" ContentType="application/vnd.openxmlformats-officedocument.drawingml.diagramColors+xml"/>
  <Override PartName="/ppt/diagrams/drawing368.xml" ContentType="application/vnd.ms-office.drawingml.diagramDrawing+xml"/>
  <Override PartName="/ppt/diagrams/data369.xml" ContentType="application/vnd.openxmlformats-officedocument.drawingml.diagramData+xml"/>
  <Override PartName="/ppt/diagrams/layout369.xml" ContentType="application/vnd.openxmlformats-officedocument.drawingml.diagramLayout+xml"/>
  <Override PartName="/ppt/diagrams/quickStyle369.xml" ContentType="application/vnd.openxmlformats-officedocument.drawingml.diagramStyle+xml"/>
  <Override PartName="/ppt/diagrams/colors369.xml" ContentType="application/vnd.openxmlformats-officedocument.drawingml.diagramColors+xml"/>
  <Override PartName="/ppt/diagrams/drawing369.xml" ContentType="application/vnd.ms-office.drawingml.diagramDrawing+xml"/>
  <Override PartName="/ppt/diagrams/data370.xml" ContentType="application/vnd.openxmlformats-officedocument.drawingml.diagramData+xml"/>
  <Override PartName="/ppt/diagrams/layout370.xml" ContentType="application/vnd.openxmlformats-officedocument.drawingml.diagramLayout+xml"/>
  <Override PartName="/ppt/diagrams/quickStyle370.xml" ContentType="application/vnd.openxmlformats-officedocument.drawingml.diagramStyle+xml"/>
  <Override PartName="/ppt/diagrams/colors370.xml" ContentType="application/vnd.openxmlformats-officedocument.drawingml.diagramColors+xml"/>
  <Override PartName="/ppt/diagrams/drawing370.xml" ContentType="application/vnd.ms-office.drawingml.diagramDrawing+xml"/>
  <Override PartName="/ppt/diagrams/data371.xml" ContentType="application/vnd.openxmlformats-officedocument.drawingml.diagramData+xml"/>
  <Override PartName="/ppt/diagrams/layout371.xml" ContentType="application/vnd.openxmlformats-officedocument.drawingml.diagramLayout+xml"/>
  <Override PartName="/ppt/diagrams/quickStyle371.xml" ContentType="application/vnd.openxmlformats-officedocument.drawingml.diagramStyle+xml"/>
  <Override PartName="/ppt/diagrams/colors371.xml" ContentType="application/vnd.openxmlformats-officedocument.drawingml.diagramColors+xml"/>
  <Override PartName="/ppt/diagrams/drawing371.xml" ContentType="application/vnd.ms-office.drawingml.diagramDrawing+xml"/>
  <Override PartName="/ppt/diagrams/data372.xml" ContentType="application/vnd.openxmlformats-officedocument.drawingml.diagramData+xml"/>
  <Override PartName="/ppt/diagrams/layout372.xml" ContentType="application/vnd.openxmlformats-officedocument.drawingml.diagramLayout+xml"/>
  <Override PartName="/ppt/diagrams/quickStyle372.xml" ContentType="application/vnd.openxmlformats-officedocument.drawingml.diagramStyle+xml"/>
  <Override PartName="/ppt/diagrams/colors372.xml" ContentType="application/vnd.openxmlformats-officedocument.drawingml.diagramColors+xml"/>
  <Override PartName="/ppt/diagrams/drawing372.xml" ContentType="application/vnd.ms-office.drawingml.diagramDrawing+xml"/>
  <Override PartName="/ppt/diagrams/data373.xml" ContentType="application/vnd.openxmlformats-officedocument.drawingml.diagramData+xml"/>
  <Override PartName="/ppt/diagrams/layout373.xml" ContentType="application/vnd.openxmlformats-officedocument.drawingml.diagramLayout+xml"/>
  <Override PartName="/ppt/diagrams/quickStyle373.xml" ContentType="application/vnd.openxmlformats-officedocument.drawingml.diagramStyle+xml"/>
  <Override PartName="/ppt/diagrams/colors373.xml" ContentType="application/vnd.openxmlformats-officedocument.drawingml.diagramColors+xml"/>
  <Override PartName="/ppt/diagrams/drawing373.xml" ContentType="application/vnd.ms-office.drawingml.diagramDrawing+xml"/>
  <Override PartName="/ppt/notesSlides/notesSlide66.xml" ContentType="application/vnd.openxmlformats-officedocument.presentationml.notesSlide+xml"/>
  <Override PartName="/ppt/diagrams/data374.xml" ContentType="application/vnd.openxmlformats-officedocument.drawingml.diagramData+xml"/>
  <Override PartName="/ppt/diagrams/layout374.xml" ContentType="application/vnd.openxmlformats-officedocument.drawingml.diagramLayout+xml"/>
  <Override PartName="/ppt/diagrams/quickStyle374.xml" ContentType="application/vnd.openxmlformats-officedocument.drawingml.diagramStyle+xml"/>
  <Override PartName="/ppt/diagrams/colors374.xml" ContentType="application/vnd.openxmlformats-officedocument.drawingml.diagramColors+xml"/>
  <Override PartName="/ppt/diagrams/drawing374.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85"/>
  </p:notesMasterIdLst>
  <p:sldIdLst>
    <p:sldId id="256" r:id="rId5"/>
    <p:sldId id="297" r:id="rId6"/>
    <p:sldId id="298" r:id="rId7"/>
    <p:sldId id="299" r:id="rId8"/>
    <p:sldId id="300" r:id="rId9"/>
    <p:sldId id="301" r:id="rId10"/>
    <p:sldId id="302" r:id="rId11"/>
    <p:sldId id="303" r:id="rId12"/>
    <p:sldId id="304" r:id="rId13"/>
    <p:sldId id="753" r:id="rId14"/>
    <p:sldId id="751" r:id="rId15"/>
    <p:sldId id="752" r:id="rId16"/>
    <p:sldId id="754" r:id="rId17"/>
    <p:sldId id="756" r:id="rId18"/>
    <p:sldId id="755" r:id="rId19"/>
    <p:sldId id="305" r:id="rId20"/>
    <p:sldId id="306" r:id="rId21"/>
    <p:sldId id="307" r:id="rId22"/>
    <p:sldId id="308" r:id="rId23"/>
    <p:sldId id="309" r:id="rId24"/>
    <p:sldId id="310" r:id="rId25"/>
    <p:sldId id="312" r:id="rId26"/>
    <p:sldId id="313" r:id="rId27"/>
    <p:sldId id="571" r:id="rId28"/>
    <p:sldId id="575" r:id="rId29"/>
    <p:sldId id="314" r:id="rId30"/>
    <p:sldId id="376" r:id="rId31"/>
    <p:sldId id="749" r:id="rId32"/>
    <p:sldId id="737" r:id="rId33"/>
    <p:sldId id="776" r:id="rId34"/>
    <p:sldId id="777" r:id="rId35"/>
    <p:sldId id="778" r:id="rId36"/>
    <p:sldId id="779" r:id="rId37"/>
    <p:sldId id="780" r:id="rId38"/>
    <p:sldId id="781" r:id="rId39"/>
    <p:sldId id="782" r:id="rId40"/>
    <p:sldId id="784" r:id="rId41"/>
    <p:sldId id="783" r:id="rId42"/>
    <p:sldId id="785" r:id="rId43"/>
    <p:sldId id="738" r:id="rId44"/>
    <p:sldId id="566" r:id="rId45"/>
    <p:sldId id="390" r:id="rId46"/>
    <p:sldId id="391" r:id="rId47"/>
    <p:sldId id="731" r:id="rId48"/>
    <p:sldId id="732" r:id="rId49"/>
    <p:sldId id="401" r:id="rId50"/>
    <p:sldId id="526" r:id="rId51"/>
    <p:sldId id="411" r:id="rId52"/>
    <p:sldId id="434" r:id="rId53"/>
    <p:sldId id="380" r:id="rId54"/>
    <p:sldId id="381" r:id="rId55"/>
    <p:sldId id="382" r:id="rId56"/>
    <p:sldId id="437" r:id="rId57"/>
    <p:sldId id="388" r:id="rId58"/>
    <p:sldId id="387" r:id="rId59"/>
    <p:sldId id="386" r:id="rId60"/>
    <p:sldId id="389" r:id="rId61"/>
    <p:sldId id="383" r:id="rId62"/>
    <p:sldId id="384" r:id="rId63"/>
    <p:sldId id="385" r:id="rId64"/>
    <p:sldId id="491" r:id="rId65"/>
    <p:sldId id="500" r:id="rId66"/>
    <p:sldId id="402" r:id="rId67"/>
    <p:sldId id="730" r:id="rId68"/>
    <p:sldId id="741" r:id="rId69"/>
    <p:sldId id="392" r:id="rId70"/>
    <p:sldId id="394" r:id="rId71"/>
    <p:sldId id="395" r:id="rId72"/>
    <p:sldId id="393" r:id="rId73"/>
    <p:sldId id="396" r:id="rId74"/>
    <p:sldId id="398" r:id="rId75"/>
    <p:sldId id="399" r:id="rId76"/>
    <p:sldId id="397" r:id="rId77"/>
    <p:sldId id="985" r:id="rId78"/>
    <p:sldId id="988" r:id="rId79"/>
    <p:sldId id="989" r:id="rId80"/>
    <p:sldId id="990" r:id="rId81"/>
    <p:sldId id="991" r:id="rId82"/>
    <p:sldId id="992" r:id="rId83"/>
    <p:sldId id="993" r:id="rId84"/>
    <p:sldId id="994" r:id="rId85"/>
    <p:sldId id="995" r:id="rId86"/>
    <p:sldId id="569" r:id="rId87"/>
    <p:sldId id="412" r:id="rId88"/>
    <p:sldId id="523" r:id="rId89"/>
    <p:sldId id="445" r:id="rId90"/>
    <p:sldId id="446" r:id="rId91"/>
    <p:sldId id="315" r:id="rId92"/>
    <p:sldId id="447" r:id="rId93"/>
    <p:sldId id="448" r:id="rId94"/>
    <p:sldId id="449" r:id="rId95"/>
    <p:sldId id="450" r:id="rId96"/>
    <p:sldId id="413" r:id="rId97"/>
    <p:sldId id="316" r:id="rId98"/>
    <p:sldId id="451" r:id="rId99"/>
    <p:sldId id="452" r:id="rId100"/>
    <p:sldId id="453" r:id="rId101"/>
    <p:sldId id="454" r:id="rId102"/>
    <p:sldId id="455" r:id="rId103"/>
    <p:sldId id="318" r:id="rId104"/>
    <p:sldId id="317" r:id="rId105"/>
    <p:sldId id="456" r:id="rId106"/>
    <p:sldId id="319" r:id="rId107"/>
    <p:sldId id="525" r:id="rId108"/>
    <p:sldId id="736" r:id="rId109"/>
    <p:sldId id="773" r:id="rId110"/>
    <p:sldId id="774" r:id="rId111"/>
    <p:sldId id="775" r:id="rId112"/>
    <p:sldId id="325" r:id="rId113"/>
    <p:sldId id="322" r:id="rId114"/>
    <p:sldId id="334" r:id="rId115"/>
    <p:sldId id="323" r:id="rId116"/>
    <p:sldId id="324" r:id="rId117"/>
    <p:sldId id="326" r:id="rId118"/>
    <p:sldId id="327" r:id="rId119"/>
    <p:sldId id="328" r:id="rId120"/>
    <p:sldId id="329" r:id="rId121"/>
    <p:sldId id="586" r:id="rId122"/>
    <p:sldId id="331" r:id="rId123"/>
    <p:sldId id="332" r:id="rId124"/>
    <p:sldId id="728" r:id="rId125"/>
    <p:sldId id="404" r:id="rId126"/>
    <p:sldId id="335" r:id="rId127"/>
    <p:sldId id="527" r:id="rId128"/>
    <p:sldId id="457" r:id="rId129"/>
    <p:sldId id="458" r:id="rId130"/>
    <p:sldId id="459" r:id="rId131"/>
    <p:sldId id="336" r:id="rId132"/>
    <p:sldId id="340" r:id="rId133"/>
    <p:sldId id="341" r:id="rId134"/>
    <p:sldId id="343" r:id="rId135"/>
    <p:sldId id="344" r:id="rId136"/>
    <p:sldId id="345" r:id="rId137"/>
    <p:sldId id="346" r:id="rId138"/>
    <p:sldId id="570" r:id="rId139"/>
    <p:sldId id="347" r:id="rId140"/>
    <p:sldId id="348" r:id="rId141"/>
    <p:sldId id="739" r:id="rId142"/>
    <p:sldId id="740" r:id="rId143"/>
    <p:sldId id="349" r:id="rId144"/>
    <p:sldId id="351" r:id="rId145"/>
    <p:sldId id="350" r:id="rId146"/>
    <p:sldId id="352" r:id="rId147"/>
    <p:sldId id="353" r:id="rId148"/>
    <p:sldId id="354" r:id="rId149"/>
    <p:sldId id="568" r:id="rId150"/>
    <p:sldId id="355" r:id="rId151"/>
    <p:sldId id="356" r:id="rId152"/>
    <p:sldId id="357" r:id="rId153"/>
    <p:sldId id="358" r:id="rId154"/>
    <p:sldId id="750" r:id="rId155"/>
    <p:sldId id="757" r:id="rId156"/>
    <p:sldId id="760" r:id="rId157"/>
    <p:sldId id="759" r:id="rId158"/>
    <p:sldId id="761" r:id="rId159"/>
    <p:sldId id="758" r:id="rId160"/>
    <p:sldId id="729" r:id="rId161"/>
    <p:sldId id="359" r:id="rId162"/>
    <p:sldId id="360" r:id="rId163"/>
    <p:sldId id="415" r:id="rId164"/>
    <p:sldId id="363" r:id="rId165"/>
    <p:sldId id="364" r:id="rId166"/>
    <p:sldId id="522" r:id="rId167"/>
    <p:sldId id="572" r:id="rId168"/>
    <p:sldId id="365" r:id="rId169"/>
    <p:sldId id="366" r:id="rId170"/>
    <p:sldId id="577" r:id="rId171"/>
    <p:sldId id="578" r:id="rId172"/>
    <p:sldId id="580" r:id="rId173"/>
    <p:sldId id="581" r:id="rId174"/>
    <p:sldId id="976" r:id="rId175"/>
    <p:sldId id="977" r:id="rId176"/>
    <p:sldId id="978" r:id="rId177"/>
    <p:sldId id="979" r:id="rId178"/>
    <p:sldId id="980" r:id="rId179"/>
    <p:sldId id="981" r:id="rId180"/>
    <p:sldId id="982" r:id="rId181"/>
    <p:sldId id="983" r:id="rId182"/>
    <p:sldId id="984" r:id="rId183"/>
    <p:sldId id="986" r:id="rId184"/>
    <p:sldId id="987" r:id="rId185"/>
    <p:sldId id="369" r:id="rId186"/>
    <p:sldId id="435" r:id="rId187"/>
    <p:sldId id="576" r:id="rId188"/>
    <p:sldId id="742" r:id="rId189"/>
    <p:sldId id="743" r:id="rId190"/>
    <p:sldId id="744" r:id="rId191"/>
    <p:sldId id="745" r:id="rId192"/>
    <p:sldId id="746" r:id="rId193"/>
    <p:sldId id="747" r:id="rId194"/>
    <p:sldId id="748" r:id="rId195"/>
    <p:sldId id="370" r:id="rId196"/>
    <p:sldId id="583" r:id="rId197"/>
    <p:sldId id="371" r:id="rId198"/>
    <p:sldId id="441" r:id="rId199"/>
    <p:sldId id="439" r:id="rId200"/>
    <p:sldId id="440" r:id="rId201"/>
    <p:sldId id="442" r:id="rId202"/>
    <p:sldId id="443" r:id="rId203"/>
    <p:sldId id="484" r:id="rId204"/>
    <p:sldId id="438" r:id="rId205"/>
    <p:sldId id="372" r:id="rId206"/>
    <p:sldId id="373" r:id="rId207"/>
    <p:sldId id="377" r:id="rId208"/>
    <p:sldId id="378" r:id="rId209"/>
    <p:sldId id="379" r:id="rId210"/>
    <p:sldId id="768" r:id="rId211"/>
    <p:sldId id="769" r:id="rId212"/>
    <p:sldId id="770" r:id="rId213"/>
    <p:sldId id="771" r:id="rId214"/>
    <p:sldId id="772" r:id="rId215"/>
    <p:sldId id="762" r:id="rId216"/>
    <p:sldId id="763" r:id="rId217"/>
    <p:sldId id="764" r:id="rId218"/>
    <p:sldId id="765" r:id="rId219"/>
    <p:sldId id="766" r:id="rId220"/>
    <p:sldId id="767" r:id="rId221"/>
    <p:sldId id="498" r:id="rId222"/>
    <p:sldId id="499" r:id="rId223"/>
    <p:sldId id="587" r:id="rId224"/>
    <p:sldId id="786" r:id="rId225"/>
    <p:sldId id="724" r:id="rId226"/>
    <p:sldId id="787" r:id="rId227"/>
    <p:sldId id="788" r:id="rId228"/>
    <p:sldId id="789" r:id="rId229"/>
    <p:sldId id="790" r:id="rId230"/>
    <p:sldId id="791" r:id="rId231"/>
    <p:sldId id="792" r:id="rId232"/>
    <p:sldId id="793" r:id="rId233"/>
    <p:sldId id="794" r:id="rId234"/>
    <p:sldId id="795" r:id="rId235"/>
    <p:sldId id="734" r:id="rId236"/>
    <p:sldId id="796" r:id="rId237"/>
    <p:sldId id="797" r:id="rId238"/>
    <p:sldId id="798" r:id="rId239"/>
    <p:sldId id="799" r:id="rId240"/>
    <p:sldId id="579" r:id="rId241"/>
    <p:sldId id="588" r:id="rId242"/>
    <p:sldId id="825" r:id="rId243"/>
    <p:sldId id="826" r:id="rId244"/>
    <p:sldId id="827" r:id="rId245"/>
    <p:sldId id="725" r:id="rId246"/>
    <p:sldId id="726" r:id="rId247"/>
    <p:sldId id="818" r:id="rId248"/>
    <p:sldId id="997" r:id="rId249"/>
    <p:sldId id="998" r:id="rId250"/>
    <p:sldId id="999" r:id="rId251"/>
    <p:sldId id="1000" r:id="rId252"/>
    <p:sldId id="1001" r:id="rId253"/>
    <p:sldId id="1002" r:id="rId254"/>
    <p:sldId id="1003" r:id="rId255"/>
    <p:sldId id="1004" r:id="rId256"/>
    <p:sldId id="1005" r:id="rId257"/>
    <p:sldId id="1006" r:id="rId258"/>
    <p:sldId id="1007" r:id="rId259"/>
    <p:sldId id="1008" r:id="rId260"/>
    <p:sldId id="817" r:id="rId261"/>
    <p:sldId id="727" r:id="rId262"/>
    <p:sldId id="819" r:id="rId263"/>
    <p:sldId id="820" r:id="rId264"/>
    <p:sldId id="828" r:id="rId265"/>
    <p:sldId id="841" r:id="rId266"/>
    <p:sldId id="842" r:id="rId267"/>
    <p:sldId id="843" r:id="rId268"/>
    <p:sldId id="584" r:id="rId269"/>
    <p:sldId id="844" r:id="rId270"/>
    <p:sldId id="845" r:id="rId271"/>
    <p:sldId id="511" r:id="rId272"/>
    <p:sldId id="722" r:id="rId273"/>
    <p:sldId id="521" r:id="rId274"/>
    <p:sldId id="996" r:id="rId275"/>
    <p:sldId id="847" r:id="rId276"/>
    <p:sldId id="829" r:id="rId277"/>
    <p:sldId id="830" r:id="rId278"/>
    <p:sldId id="831" r:id="rId279"/>
    <p:sldId id="840" r:id="rId280"/>
    <p:sldId id="590" r:id="rId281"/>
    <p:sldId id="723" r:id="rId282"/>
    <p:sldId id="589" r:id="rId283"/>
    <p:sldId id="884" r:id="rId284"/>
    <p:sldId id="885" r:id="rId285"/>
    <p:sldId id="886" r:id="rId286"/>
    <p:sldId id="887" r:id="rId287"/>
    <p:sldId id="888" r:id="rId288"/>
    <p:sldId id="889" r:id="rId289"/>
    <p:sldId id="890" r:id="rId290"/>
    <p:sldId id="891" r:id="rId291"/>
    <p:sldId id="892" r:id="rId292"/>
    <p:sldId id="893" r:id="rId293"/>
    <p:sldId id="894" r:id="rId294"/>
    <p:sldId id="895" r:id="rId295"/>
    <p:sldId id="896" r:id="rId296"/>
    <p:sldId id="897" r:id="rId297"/>
    <p:sldId id="898" r:id="rId298"/>
    <p:sldId id="899" r:id="rId299"/>
    <p:sldId id="900" r:id="rId300"/>
    <p:sldId id="901" r:id="rId301"/>
    <p:sldId id="902" r:id="rId302"/>
    <p:sldId id="903" r:id="rId303"/>
    <p:sldId id="904" r:id="rId304"/>
    <p:sldId id="905" r:id="rId305"/>
    <p:sldId id="906" r:id="rId306"/>
    <p:sldId id="907" r:id="rId307"/>
    <p:sldId id="908" r:id="rId308"/>
    <p:sldId id="909" r:id="rId309"/>
    <p:sldId id="910" r:id="rId310"/>
    <p:sldId id="809" r:id="rId311"/>
    <p:sldId id="810" r:id="rId312"/>
    <p:sldId id="812" r:id="rId313"/>
    <p:sldId id="813" r:id="rId314"/>
    <p:sldId id="814" r:id="rId315"/>
    <p:sldId id="911" r:id="rId316"/>
    <p:sldId id="912" r:id="rId317"/>
    <p:sldId id="913" r:id="rId318"/>
    <p:sldId id="914" r:id="rId319"/>
    <p:sldId id="915" r:id="rId320"/>
    <p:sldId id="816" r:id="rId321"/>
    <p:sldId id="735" r:id="rId322"/>
    <p:sldId id="516" r:id="rId323"/>
    <p:sldId id="517" r:id="rId324"/>
    <p:sldId id="519" r:id="rId325"/>
    <p:sldId id="921" r:id="rId326"/>
    <p:sldId id="922" r:id="rId327"/>
    <p:sldId id="923" r:id="rId328"/>
    <p:sldId id="924" r:id="rId329"/>
    <p:sldId id="925" r:id="rId330"/>
    <p:sldId id="926" r:id="rId331"/>
    <p:sldId id="927" r:id="rId332"/>
    <p:sldId id="928" r:id="rId333"/>
    <p:sldId id="929" r:id="rId334"/>
    <p:sldId id="930" r:id="rId335"/>
    <p:sldId id="931" r:id="rId336"/>
    <p:sldId id="932" r:id="rId337"/>
    <p:sldId id="933" r:id="rId338"/>
    <p:sldId id="959" r:id="rId339"/>
    <p:sldId id="960" r:id="rId340"/>
    <p:sldId id="961" r:id="rId341"/>
    <p:sldId id="962" r:id="rId342"/>
    <p:sldId id="963" r:id="rId343"/>
    <p:sldId id="964" r:id="rId344"/>
    <p:sldId id="965" r:id="rId345"/>
    <p:sldId id="940" r:id="rId346"/>
    <p:sldId id="934" r:id="rId347"/>
    <p:sldId id="935" r:id="rId348"/>
    <p:sldId id="936" r:id="rId349"/>
    <p:sldId id="937" r:id="rId350"/>
    <p:sldId id="938" r:id="rId351"/>
    <p:sldId id="939" r:id="rId352"/>
    <p:sldId id="941" r:id="rId353"/>
    <p:sldId id="942" r:id="rId354"/>
    <p:sldId id="943" r:id="rId355"/>
    <p:sldId id="944" r:id="rId356"/>
    <p:sldId id="945" r:id="rId357"/>
    <p:sldId id="946" r:id="rId358"/>
    <p:sldId id="947" r:id="rId359"/>
    <p:sldId id="948" r:id="rId360"/>
    <p:sldId id="949" r:id="rId361"/>
    <p:sldId id="966" r:id="rId362"/>
    <p:sldId id="967" r:id="rId363"/>
    <p:sldId id="968" r:id="rId364"/>
    <p:sldId id="969" r:id="rId365"/>
    <p:sldId id="970" r:id="rId366"/>
    <p:sldId id="971" r:id="rId367"/>
    <p:sldId id="972" r:id="rId368"/>
    <p:sldId id="973" r:id="rId369"/>
    <p:sldId id="974" r:id="rId370"/>
    <p:sldId id="975" r:id="rId371"/>
    <p:sldId id="950" r:id="rId372"/>
    <p:sldId id="951" r:id="rId373"/>
    <p:sldId id="952" r:id="rId374"/>
    <p:sldId id="953" r:id="rId375"/>
    <p:sldId id="954" r:id="rId376"/>
    <p:sldId id="958" r:id="rId377"/>
    <p:sldId id="955" r:id="rId378"/>
    <p:sldId id="956" r:id="rId379"/>
    <p:sldId id="957" r:id="rId380"/>
    <p:sldId id="513" r:id="rId381"/>
    <p:sldId id="515" r:id="rId382"/>
    <p:sldId id="514" r:id="rId383"/>
    <p:sldId id="294" r:id="rId384"/>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657" autoAdjust="0"/>
    <p:restoredTop sz="92877" autoAdjust="0"/>
  </p:normalViewPr>
  <p:slideViewPr>
    <p:cSldViewPr>
      <p:cViewPr varScale="1">
        <p:scale>
          <a:sx n="67" d="100"/>
          <a:sy n="67" d="100"/>
        </p:scale>
        <p:origin x="472" y="76"/>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99" Type="http://schemas.openxmlformats.org/officeDocument/2006/relationships/slide" Target="slides/slide295.xml"/><Relationship Id="rId21" Type="http://schemas.openxmlformats.org/officeDocument/2006/relationships/slide" Target="slides/slide17.xml"/><Relationship Id="rId63" Type="http://schemas.openxmlformats.org/officeDocument/2006/relationships/slide" Target="slides/slide59.xml"/><Relationship Id="rId159" Type="http://schemas.openxmlformats.org/officeDocument/2006/relationships/slide" Target="slides/slide155.xml"/><Relationship Id="rId324" Type="http://schemas.openxmlformats.org/officeDocument/2006/relationships/slide" Target="slides/slide320.xml"/><Relationship Id="rId366" Type="http://schemas.openxmlformats.org/officeDocument/2006/relationships/slide" Target="slides/slide362.xml"/><Relationship Id="rId170" Type="http://schemas.openxmlformats.org/officeDocument/2006/relationships/slide" Target="slides/slide166.xml"/><Relationship Id="rId226" Type="http://schemas.openxmlformats.org/officeDocument/2006/relationships/slide" Target="slides/slide222.xml"/><Relationship Id="rId268" Type="http://schemas.openxmlformats.org/officeDocument/2006/relationships/slide" Target="slides/slide264.xml"/><Relationship Id="rId32" Type="http://schemas.openxmlformats.org/officeDocument/2006/relationships/slide" Target="slides/slide28.xml"/><Relationship Id="rId74" Type="http://schemas.openxmlformats.org/officeDocument/2006/relationships/slide" Target="slides/slide70.xml"/><Relationship Id="rId128" Type="http://schemas.openxmlformats.org/officeDocument/2006/relationships/slide" Target="slides/slide124.xml"/><Relationship Id="rId335" Type="http://schemas.openxmlformats.org/officeDocument/2006/relationships/slide" Target="slides/slide331.xml"/><Relationship Id="rId377" Type="http://schemas.openxmlformats.org/officeDocument/2006/relationships/slide" Target="slides/slide373.xml"/><Relationship Id="rId5" Type="http://schemas.openxmlformats.org/officeDocument/2006/relationships/slide" Target="slides/slide1.xml"/><Relationship Id="rId181" Type="http://schemas.openxmlformats.org/officeDocument/2006/relationships/slide" Target="slides/slide177.xml"/><Relationship Id="rId237" Type="http://schemas.openxmlformats.org/officeDocument/2006/relationships/slide" Target="slides/slide233.xml"/><Relationship Id="rId279" Type="http://schemas.openxmlformats.org/officeDocument/2006/relationships/slide" Target="slides/slide275.xml"/><Relationship Id="rId43" Type="http://schemas.openxmlformats.org/officeDocument/2006/relationships/slide" Target="slides/slide39.xml"/><Relationship Id="rId139" Type="http://schemas.openxmlformats.org/officeDocument/2006/relationships/slide" Target="slides/slide135.xml"/><Relationship Id="rId290" Type="http://schemas.openxmlformats.org/officeDocument/2006/relationships/slide" Target="slides/slide286.xml"/><Relationship Id="rId304" Type="http://schemas.openxmlformats.org/officeDocument/2006/relationships/slide" Target="slides/slide300.xml"/><Relationship Id="rId346" Type="http://schemas.openxmlformats.org/officeDocument/2006/relationships/slide" Target="slides/slide342.xml"/><Relationship Id="rId388" Type="http://schemas.openxmlformats.org/officeDocument/2006/relationships/viewProps" Target="viewProps.xml"/><Relationship Id="rId85" Type="http://schemas.openxmlformats.org/officeDocument/2006/relationships/slide" Target="slides/slide81.xml"/><Relationship Id="rId150" Type="http://schemas.openxmlformats.org/officeDocument/2006/relationships/slide" Target="slides/slide146.xml"/><Relationship Id="rId192" Type="http://schemas.openxmlformats.org/officeDocument/2006/relationships/slide" Target="slides/slide188.xml"/><Relationship Id="rId206" Type="http://schemas.openxmlformats.org/officeDocument/2006/relationships/slide" Target="slides/slide202.xml"/><Relationship Id="rId248" Type="http://schemas.openxmlformats.org/officeDocument/2006/relationships/slide" Target="slides/slide244.xml"/><Relationship Id="rId12" Type="http://schemas.openxmlformats.org/officeDocument/2006/relationships/slide" Target="slides/slide8.xml"/><Relationship Id="rId108" Type="http://schemas.openxmlformats.org/officeDocument/2006/relationships/slide" Target="slides/slide104.xml"/><Relationship Id="rId315" Type="http://schemas.openxmlformats.org/officeDocument/2006/relationships/slide" Target="slides/slide311.xml"/><Relationship Id="rId357" Type="http://schemas.openxmlformats.org/officeDocument/2006/relationships/slide" Target="slides/slide353.xml"/><Relationship Id="rId54" Type="http://schemas.openxmlformats.org/officeDocument/2006/relationships/slide" Target="slides/slide50.xml"/><Relationship Id="rId96" Type="http://schemas.openxmlformats.org/officeDocument/2006/relationships/slide" Target="slides/slide92.xml"/><Relationship Id="rId161" Type="http://schemas.openxmlformats.org/officeDocument/2006/relationships/slide" Target="slides/slide157.xml"/><Relationship Id="rId217" Type="http://schemas.openxmlformats.org/officeDocument/2006/relationships/slide" Target="slides/slide213.xml"/><Relationship Id="rId259" Type="http://schemas.openxmlformats.org/officeDocument/2006/relationships/slide" Target="slides/slide255.xml"/><Relationship Id="rId23" Type="http://schemas.openxmlformats.org/officeDocument/2006/relationships/slide" Target="slides/slide19.xml"/><Relationship Id="rId119" Type="http://schemas.openxmlformats.org/officeDocument/2006/relationships/slide" Target="slides/slide115.xml"/><Relationship Id="rId270" Type="http://schemas.openxmlformats.org/officeDocument/2006/relationships/slide" Target="slides/slide266.xml"/><Relationship Id="rId326" Type="http://schemas.openxmlformats.org/officeDocument/2006/relationships/slide" Target="slides/slide322.xml"/><Relationship Id="rId65" Type="http://schemas.openxmlformats.org/officeDocument/2006/relationships/slide" Target="slides/slide61.xml"/><Relationship Id="rId130" Type="http://schemas.openxmlformats.org/officeDocument/2006/relationships/slide" Target="slides/slide126.xml"/><Relationship Id="rId368" Type="http://schemas.openxmlformats.org/officeDocument/2006/relationships/slide" Target="slides/slide364.xml"/><Relationship Id="rId172" Type="http://schemas.openxmlformats.org/officeDocument/2006/relationships/slide" Target="slides/slide168.xml"/><Relationship Id="rId228" Type="http://schemas.openxmlformats.org/officeDocument/2006/relationships/slide" Target="slides/slide224.xml"/><Relationship Id="rId281" Type="http://schemas.openxmlformats.org/officeDocument/2006/relationships/slide" Target="slides/slide277.xml"/><Relationship Id="rId337" Type="http://schemas.openxmlformats.org/officeDocument/2006/relationships/slide" Target="slides/slide333.xml"/><Relationship Id="rId34" Type="http://schemas.openxmlformats.org/officeDocument/2006/relationships/slide" Target="slides/slide30.xml"/><Relationship Id="rId76" Type="http://schemas.openxmlformats.org/officeDocument/2006/relationships/slide" Target="slides/slide72.xml"/><Relationship Id="rId141" Type="http://schemas.openxmlformats.org/officeDocument/2006/relationships/slide" Target="slides/slide137.xml"/><Relationship Id="rId379" Type="http://schemas.openxmlformats.org/officeDocument/2006/relationships/slide" Target="slides/slide375.xml"/><Relationship Id="rId7" Type="http://schemas.openxmlformats.org/officeDocument/2006/relationships/slide" Target="slides/slide3.xml"/><Relationship Id="rId183" Type="http://schemas.openxmlformats.org/officeDocument/2006/relationships/slide" Target="slides/slide179.xml"/><Relationship Id="rId239" Type="http://schemas.openxmlformats.org/officeDocument/2006/relationships/slide" Target="slides/slide235.xml"/><Relationship Id="rId390" Type="http://schemas.openxmlformats.org/officeDocument/2006/relationships/tableStyles" Target="tableStyles.xml"/><Relationship Id="rId250" Type="http://schemas.openxmlformats.org/officeDocument/2006/relationships/slide" Target="slides/slide246.xml"/><Relationship Id="rId292" Type="http://schemas.openxmlformats.org/officeDocument/2006/relationships/slide" Target="slides/slide288.xml"/><Relationship Id="rId306" Type="http://schemas.openxmlformats.org/officeDocument/2006/relationships/slide" Target="slides/slide302.xml"/><Relationship Id="rId45" Type="http://schemas.openxmlformats.org/officeDocument/2006/relationships/slide" Target="slides/slide41.xml"/><Relationship Id="rId87" Type="http://schemas.openxmlformats.org/officeDocument/2006/relationships/slide" Target="slides/slide83.xml"/><Relationship Id="rId110" Type="http://schemas.openxmlformats.org/officeDocument/2006/relationships/slide" Target="slides/slide106.xml"/><Relationship Id="rId348" Type="http://schemas.openxmlformats.org/officeDocument/2006/relationships/slide" Target="slides/slide344.xml"/><Relationship Id="rId152" Type="http://schemas.openxmlformats.org/officeDocument/2006/relationships/slide" Target="slides/slide148.xml"/><Relationship Id="rId194" Type="http://schemas.openxmlformats.org/officeDocument/2006/relationships/slide" Target="slides/slide190.xml"/><Relationship Id="rId208" Type="http://schemas.openxmlformats.org/officeDocument/2006/relationships/slide" Target="slides/slide204.xml"/><Relationship Id="rId261" Type="http://schemas.openxmlformats.org/officeDocument/2006/relationships/slide" Target="slides/slide257.xml"/><Relationship Id="rId14" Type="http://schemas.openxmlformats.org/officeDocument/2006/relationships/slide" Target="slides/slide10.xml"/><Relationship Id="rId56" Type="http://schemas.openxmlformats.org/officeDocument/2006/relationships/slide" Target="slides/slide52.xml"/><Relationship Id="rId317" Type="http://schemas.openxmlformats.org/officeDocument/2006/relationships/slide" Target="slides/slide313.xml"/><Relationship Id="rId359" Type="http://schemas.openxmlformats.org/officeDocument/2006/relationships/slide" Target="slides/slide355.xml"/><Relationship Id="rId98" Type="http://schemas.openxmlformats.org/officeDocument/2006/relationships/slide" Target="slides/slide94.xml"/><Relationship Id="rId121" Type="http://schemas.openxmlformats.org/officeDocument/2006/relationships/slide" Target="slides/slide117.xml"/><Relationship Id="rId163" Type="http://schemas.openxmlformats.org/officeDocument/2006/relationships/slide" Target="slides/slide159.xml"/><Relationship Id="rId219" Type="http://schemas.openxmlformats.org/officeDocument/2006/relationships/slide" Target="slides/slide215.xml"/><Relationship Id="rId370" Type="http://schemas.openxmlformats.org/officeDocument/2006/relationships/slide" Target="slides/slide366.xml"/><Relationship Id="rId230" Type="http://schemas.openxmlformats.org/officeDocument/2006/relationships/slide" Target="slides/slide226.xml"/><Relationship Id="rId25" Type="http://schemas.openxmlformats.org/officeDocument/2006/relationships/slide" Target="slides/slide21.xml"/><Relationship Id="rId67" Type="http://schemas.openxmlformats.org/officeDocument/2006/relationships/slide" Target="slides/slide63.xml"/><Relationship Id="rId272" Type="http://schemas.openxmlformats.org/officeDocument/2006/relationships/slide" Target="slides/slide268.xml"/><Relationship Id="rId328" Type="http://schemas.openxmlformats.org/officeDocument/2006/relationships/slide" Target="slides/slide324.xml"/><Relationship Id="rId132" Type="http://schemas.openxmlformats.org/officeDocument/2006/relationships/slide" Target="slides/slide128.xml"/><Relationship Id="rId174" Type="http://schemas.openxmlformats.org/officeDocument/2006/relationships/slide" Target="slides/slide170.xml"/><Relationship Id="rId381" Type="http://schemas.openxmlformats.org/officeDocument/2006/relationships/slide" Target="slides/slide377.xml"/><Relationship Id="rId241" Type="http://schemas.openxmlformats.org/officeDocument/2006/relationships/slide" Target="slides/slide237.xml"/><Relationship Id="rId36" Type="http://schemas.openxmlformats.org/officeDocument/2006/relationships/slide" Target="slides/slide32.xml"/><Relationship Id="rId283" Type="http://schemas.openxmlformats.org/officeDocument/2006/relationships/slide" Target="slides/slide279.xml"/><Relationship Id="rId339" Type="http://schemas.openxmlformats.org/officeDocument/2006/relationships/slide" Target="slides/slide335.xml"/><Relationship Id="rId78" Type="http://schemas.openxmlformats.org/officeDocument/2006/relationships/slide" Target="slides/slide74.xml"/><Relationship Id="rId101" Type="http://schemas.openxmlformats.org/officeDocument/2006/relationships/slide" Target="slides/slide97.xml"/><Relationship Id="rId143" Type="http://schemas.openxmlformats.org/officeDocument/2006/relationships/slide" Target="slides/slide139.xml"/><Relationship Id="rId185" Type="http://schemas.openxmlformats.org/officeDocument/2006/relationships/slide" Target="slides/slide181.xml"/><Relationship Id="rId350" Type="http://schemas.openxmlformats.org/officeDocument/2006/relationships/slide" Target="slides/slide346.xml"/><Relationship Id="rId9" Type="http://schemas.openxmlformats.org/officeDocument/2006/relationships/slide" Target="slides/slide5.xml"/><Relationship Id="rId210" Type="http://schemas.openxmlformats.org/officeDocument/2006/relationships/slide" Target="slides/slide206.xml"/><Relationship Id="rId252" Type="http://schemas.openxmlformats.org/officeDocument/2006/relationships/slide" Target="slides/slide248.xml"/><Relationship Id="rId294" Type="http://schemas.openxmlformats.org/officeDocument/2006/relationships/slide" Target="slides/slide290.xml"/><Relationship Id="rId308" Type="http://schemas.openxmlformats.org/officeDocument/2006/relationships/slide" Target="slides/slide304.xml"/><Relationship Id="rId47" Type="http://schemas.openxmlformats.org/officeDocument/2006/relationships/slide" Target="slides/slide43.xml"/><Relationship Id="rId89" Type="http://schemas.openxmlformats.org/officeDocument/2006/relationships/slide" Target="slides/slide85.xml"/><Relationship Id="rId112" Type="http://schemas.openxmlformats.org/officeDocument/2006/relationships/slide" Target="slides/slide108.xml"/><Relationship Id="rId154" Type="http://schemas.openxmlformats.org/officeDocument/2006/relationships/slide" Target="slides/slide150.xml"/><Relationship Id="rId361" Type="http://schemas.openxmlformats.org/officeDocument/2006/relationships/slide" Target="slides/slide357.xml"/><Relationship Id="rId196" Type="http://schemas.openxmlformats.org/officeDocument/2006/relationships/slide" Target="slides/slide192.xml"/><Relationship Id="rId200" Type="http://schemas.openxmlformats.org/officeDocument/2006/relationships/slide" Target="slides/slide196.xml"/><Relationship Id="rId382" Type="http://schemas.openxmlformats.org/officeDocument/2006/relationships/slide" Target="slides/slide378.xml"/><Relationship Id="rId16" Type="http://schemas.openxmlformats.org/officeDocument/2006/relationships/slide" Target="slides/slide12.xml"/><Relationship Id="rId221" Type="http://schemas.openxmlformats.org/officeDocument/2006/relationships/slide" Target="slides/slide217.xml"/><Relationship Id="rId242" Type="http://schemas.openxmlformats.org/officeDocument/2006/relationships/slide" Target="slides/slide238.xml"/><Relationship Id="rId263" Type="http://schemas.openxmlformats.org/officeDocument/2006/relationships/slide" Target="slides/slide259.xml"/><Relationship Id="rId284" Type="http://schemas.openxmlformats.org/officeDocument/2006/relationships/slide" Target="slides/slide280.xml"/><Relationship Id="rId319" Type="http://schemas.openxmlformats.org/officeDocument/2006/relationships/slide" Target="slides/slide315.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330" Type="http://schemas.openxmlformats.org/officeDocument/2006/relationships/slide" Target="slides/slide326.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351" Type="http://schemas.openxmlformats.org/officeDocument/2006/relationships/slide" Target="slides/slide347.xml"/><Relationship Id="rId372" Type="http://schemas.openxmlformats.org/officeDocument/2006/relationships/slide" Target="slides/slide368.xml"/><Relationship Id="rId211" Type="http://schemas.openxmlformats.org/officeDocument/2006/relationships/slide" Target="slides/slide207.xml"/><Relationship Id="rId232" Type="http://schemas.openxmlformats.org/officeDocument/2006/relationships/slide" Target="slides/slide228.xml"/><Relationship Id="rId253" Type="http://schemas.openxmlformats.org/officeDocument/2006/relationships/slide" Target="slides/slide249.xml"/><Relationship Id="rId274" Type="http://schemas.openxmlformats.org/officeDocument/2006/relationships/slide" Target="slides/slide270.xml"/><Relationship Id="rId295" Type="http://schemas.openxmlformats.org/officeDocument/2006/relationships/slide" Target="slides/slide291.xml"/><Relationship Id="rId309" Type="http://schemas.openxmlformats.org/officeDocument/2006/relationships/slide" Target="slides/slide305.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320" Type="http://schemas.openxmlformats.org/officeDocument/2006/relationships/slide" Target="slides/slide316.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341" Type="http://schemas.openxmlformats.org/officeDocument/2006/relationships/slide" Target="slides/slide337.xml"/><Relationship Id="rId362" Type="http://schemas.openxmlformats.org/officeDocument/2006/relationships/slide" Target="slides/slide358.xml"/><Relationship Id="rId383" Type="http://schemas.openxmlformats.org/officeDocument/2006/relationships/slide" Target="slides/slide379.xml"/><Relationship Id="rId201" Type="http://schemas.openxmlformats.org/officeDocument/2006/relationships/slide" Target="slides/slide197.xml"/><Relationship Id="rId222" Type="http://schemas.openxmlformats.org/officeDocument/2006/relationships/slide" Target="slides/slide218.xml"/><Relationship Id="rId243" Type="http://schemas.openxmlformats.org/officeDocument/2006/relationships/slide" Target="slides/slide239.xml"/><Relationship Id="rId264" Type="http://schemas.openxmlformats.org/officeDocument/2006/relationships/slide" Target="slides/slide260.xml"/><Relationship Id="rId285" Type="http://schemas.openxmlformats.org/officeDocument/2006/relationships/slide" Target="slides/slide28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310" Type="http://schemas.openxmlformats.org/officeDocument/2006/relationships/slide" Target="slides/slide306.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331" Type="http://schemas.openxmlformats.org/officeDocument/2006/relationships/slide" Target="slides/slide327.xml"/><Relationship Id="rId352" Type="http://schemas.openxmlformats.org/officeDocument/2006/relationships/slide" Target="slides/slide348.xml"/><Relationship Id="rId373" Type="http://schemas.openxmlformats.org/officeDocument/2006/relationships/slide" Target="slides/slide369.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slide" Target="slides/slide250.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275" Type="http://schemas.openxmlformats.org/officeDocument/2006/relationships/slide" Target="slides/slide271.xml"/><Relationship Id="rId296" Type="http://schemas.openxmlformats.org/officeDocument/2006/relationships/slide" Target="slides/slide292.xml"/><Relationship Id="rId300" Type="http://schemas.openxmlformats.org/officeDocument/2006/relationships/slide" Target="slides/slide296.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321" Type="http://schemas.openxmlformats.org/officeDocument/2006/relationships/slide" Target="slides/slide317.xml"/><Relationship Id="rId342" Type="http://schemas.openxmlformats.org/officeDocument/2006/relationships/slide" Target="slides/slide338.xml"/><Relationship Id="rId363" Type="http://schemas.openxmlformats.org/officeDocument/2006/relationships/slide" Target="slides/slide359.xml"/><Relationship Id="rId384" Type="http://schemas.openxmlformats.org/officeDocument/2006/relationships/slide" Target="slides/slide380.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265" Type="http://schemas.openxmlformats.org/officeDocument/2006/relationships/slide" Target="slides/slide261.xml"/><Relationship Id="rId286" Type="http://schemas.openxmlformats.org/officeDocument/2006/relationships/slide" Target="slides/slide282.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311" Type="http://schemas.openxmlformats.org/officeDocument/2006/relationships/slide" Target="slides/slide307.xml"/><Relationship Id="rId332" Type="http://schemas.openxmlformats.org/officeDocument/2006/relationships/slide" Target="slides/slide328.xml"/><Relationship Id="rId353" Type="http://schemas.openxmlformats.org/officeDocument/2006/relationships/slide" Target="slides/slide349.xml"/><Relationship Id="rId374" Type="http://schemas.openxmlformats.org/officeDocument/2006/relationships/slide" Target="slides/slide370.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slide" Target="slides/slide251.xml"/><Relationship Id="rId276" Type="http://schemas.openxmlformats.org/officeDocument/2006/relationships/slide" Target="slides/slide272.xml"/><Relationship Id="rId297" Type="http://schemas.openxmlformats.org/officeDocument/2006/relationships/slide" Target="slides/slide293.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301" Type="http://schemas.openxmlformats.org/officeDocument/2006/relationships/slide" Target="slides/slide297.xml"/><Relationship Id="rId322" Type="http://schemas.openxmlformats.org/officeDocument/2006/relationships/slide" Target="slides/slide318.xml"/><Relationship Id="rId343" Type="http://schemas.openxmlformats.org/officeDocument/2006/relationships/slide" Target="slides/slide339.xml"/><Relationship Id="rId364" Type="http://schemas.openxmlformats.org/officeDocument/2006/relationships/slide" Target="slides/slide360.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385" Type="http://schemas.openxmlformats.org/officeDocument/2006/relationships/notesMaster" Target="notesMasters/notesMaster1.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266" Type="http://schemas.openxmlformats.org/officeDocument/2006/relationships/slide" Target="slides/slide262.xml"/><Relationship Id="rId287" Type="http://schemas.openxmlformats.org/officeDocument/2006/relationships/slide" Target="slides/slide283.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312" Type="http://schemas.openxmlformats.org/officeDocument/2006/relationships/slide" Target="slides/slide308.xml"/><Relationship Id="rId333" Type="http://schemas.openxmlformats.org/officeDocument/2006/relationships/slide" Target="slides/slide329.xml"/><Relationship Id="rId354" Type="http://schemas.openxmlformats.org/officeDocument/2006/relationships/slide" Target="slides/slide350.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75" Type="http://schemas.openxmlformats.org/officeDocument/2006/relationships/slide" Target="slides/slide371.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slide" Target="slides/slide252.xml"/><Relationship Id="rId277" Type="http://schemas.openxmlformats.org/officeDocument/2006/relationships/slide" Target="slides/slide273.xml"/><Relationship Id="rId298" Type="http://schemas.openxmlformats.org/officeDocument/2006/relationships/slide" Target="slides/slide294.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302" Type="http://schemas.openxmlformats.org/officeDocument/2006/relationships/slide" Target="slides/slide298.xml"/><Relationship Id="rId323" Type="http://schemas.openxmlformats.org/officeDocument/2006/relationships/slide" Target="slides/slide319.xml"/><Relationship Id="rId344" Type="http://schemas.openxmlformats.org/officeDocument/2006/relationships/slide" Target="slides/slide340.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365" Type="http://schemas.openxmlformats.org/officeDocument/2006/relationships/slide" Target="slides/slide361.xml"/><Relationship Id="rId386" Type="http://schemas.openxmlformats.org/officeDocument/2006/relationships/commentAuthors" Target="commentAuthors.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267" Type="http://schemas.openxmlformats.org/officeDocument/2006/relationships/slide" Target="slides/slide263.xml"/><Relationship Id="rId288" Type="http://schemas.openxmlformats.org/officeDocument/2006/relationships/slide" Target="slides/slide284.xml"/><Relationship Id="rId106" Type="http://schemas.openxmlformats.org/officeDocument/2006/relationships/slide" Target="slides/slide102.xml"/><Relationship Id="rId127" Type="http://schemas.openxmlformats.org/officeDocument/2006/relationships/slide" Target="slides/slide123.xml"/><Relationship Id="rId313" Type="http://schemas.openxmlformats.org/officeDocument/2006/relationships/slide" Target="slides/slide309.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334" Type="http://schemas.openxmlformats.org/officeDocument/2006/relationships/slide" Target="slides/slide330.xml"/><Relationship Id="rId355" Type="http://schemas.openxmlformats.org/officeDocument/2006/relationships/slide" Target="slides/slide351.xml"/><Relationship Id="rId376" Type="http://schemas.openxmlformats.org/officeDocument/2006/relationships/slide" Target="slides/slide372.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slide" Target="slides/slide253.xml"/><Relationship Id="rId278" Type="http://schemas.openxmlformats.org/officeDocument/2006/relationships/slide" Target="slides/slide274.xml"/><Relationship Id="rId303" Type="http://schemas.openxmlformats.org/officeDocument/2006/relationships/slide" Target="slides/slide299.xml"/><Relationship Id="rId42" Type="http://schemas.openxmlformats.org/officeDocument/2006/relationships/slide" Target="slides/slide38.xml"/><Relationship Id="rId84" Type="http://schemas.openxmlformats.org/officeDocument/2006/relationships/slide" Target="slides/slide80.xml"/><Relationship Id="rId138" Type="http://schemas.openxmlformats.org/officeDocument/2006/relationships/slide" Target="slides/slide134.xml"/><Relationship Id="rId345" Type="http://schemas.openxmlformats.org/officeDocument/2006/relationships/slide" Target="slides/slide341.xml"/><Relationship Id="rId387" Type="http://schemas.openxmlformats.org/officeDocument/2006/relationships/presProps" Target="presProps.xml"/><Relationship Id="rId191" Type="http://schemas.openxmlformats.org/officeDocument/2006/relationships/slide" Target="slides/slide187.xml"/><Relationship Id="rId205" Type="http://schemas.openxmlformats.org/officeDocument/2006/relationships/slide" Target="slides/slide201.xml"/><Relationship Id="rId247" Type="http://schemas.openxmlformats.org/officeDocument/2006/relationships/slide" Target="slides/slide243.xml"/><Relationship Id="rId107" Type="http://schemas.openxmlformats.org/officeDocument/2006/relationships/slide" Target="slides/slide103.xml"/><Relationship Id="rId289" Type="http://schemas.openxmlformats.org/officeDocument/2006/relationships/slide" Target="slides/slide285.xml"/><Relationship Id="rId11" Type="http://schemas.openxmlformats.org/officeDocument/2006/relationships/slide" Target="slides/slide7.xml"/><Relationship Id="rId53" Type="http://schemas.openxmlformats.org/officeDocument/2006/relationships/slide" Target="slides/slide49.xml"/><Relationship Id="rId149" Type="http://schemas.openxmlformats.org/officeDocument/2006/relationships/slide" Target="slides/slide145.xml"/><Relationship Id="rId314" Type="http://schemas.openxmlformats.org/officeDocument/2006/relationships/slide" Target="slides/slide310.xml"/><Relationship Id="rId356" Type="http://schemas.openxmlformats.org/officeDocument/2006/relationships/slide" Target="slides/slide352.xml"/><Relationship Id="rId95" Type="http://schemas.openxmlformats.org/officeDocument/2006/relationships/slide" Target="slides/slide91.xml"/><Relationship Id="rId160" Type="http://schemas.openxmlformats.org/officeDocument/2006/relationships/slide" Target="slides/slide156.xml"/><Relationship Id="rId216" Type="http://schemas.openxmlformats.org/officeDocument/2006/relationships/slide" Target="slides/slide212.xml"/><Relationship Id="rId258" Type="http://schemas.openxmlformats.org/officeDocument/2006/relationships/slide" Target="slides/slide254.xml"/><Relationship Id="rId22" Type="http://schemas.openxmlformats.org/officeDocument/2006/relationships/slide" Target="slides/slide18.xml"/><Relationship Id="rId64" Type="http://schemas.openxmlformats.org/officeDocument/2006/relationships/slide" Target="slides/slide60.xml"/><Relationship Id="rId118" Type="http://schemas.openxmlformats.org/officeDocument/2006/relationships/slide" Target="slides/slide114.xml"/><Relationship Id="rId325" Type="http://schemas.openxmlformats.org/officeDocument/2006/relationships/slide" Target="slides/slide321.xml"/><Relationship Id="rId367" Type="http://schemas.openxmlformats.org/officeDocument/2006/relationships/slide" Target="slides/slide363.xml"/><Relationship Id="rId171" Type="http://schemas.openxmlformats.org/officeDocument/2006/relationships/slide" Target="slides/slide167.xml"/><Relationship Id="rId227" Type="http://schemas.openxmlformats.org/officeDocument/2006/relationships/slide" Target="slides/slide223.xml"/><Relationship Id="rId269" Type="http://schemas.openxmlformats.org/officeDocument/2006/relationships/slide" Target="slides/slide265.xml"/><Relationship Id="rId33" Type="http://schemas.openxmlformats.org/officeDocument/2006/relationships/slide" Target="slides/slide29.xml"/><Relationship Id="rId129" Type="http://schemas.openxmlformats.org/officeDocument/2006/relationships/slide" Target="slides/slide125.xml"/><Relationship Id="rId280" Type="http://schemas.openxmlformats.org/officeDocument/2006/relationships/slide" Target="slides/slide276.xml"/><Relationship Id="rId336" Type="http://schemas.openxmlformats.org/officeDocument/2006/relationships/slide" Target="slides/slide332.xml"/><Relationship Id="rId75" Type="http://schemas.openxmlformats.org/officeDocument/2006/relationships/slide" Target="slides/slide71.xml"/><Relationship Id="rId140" Type="http://schemas.openxmlformats.org/officeDocument/2006/relationships/slide" Target="slides/slide136.xml"/><Relationship Id="rId182" Type="http://schemas.openxmlformats.org/officeDocument/2006/relationships/slide" Target="slides/slide178.xml"/><Relationship Id="rId378" Type="http://schemas.openxmlformats.org/officeDocument/2006/relationships/slide" Target="slides/slide374.xml"/><Relationship Id="rId6" Type="http://schemas.openxmlformats.org/officeDocument/2006/relationships/slide" Target="slides/slide2.xml"/><Relationship Id="rId238" Type="http://schemas.openxmlformats.org/officeDocument/2006/relationships/slide" Target="slides/slide234.xml"/><Relationship Id="rId291" Type="http://schemas.openxmlformats.org/officeDocument/2006/relationships/slide" Target="slides/slide287.xml"/><Relationship Id="rId305" Type="http://schemas.openxmlformats.org/officeDocument/2006/relationships/slide" Target="slides/slide301.xml"/><Relationship Id="rId347" Type="http://schemas.openxmlformats.org/officeDocument/2006/relationships/slide" Target="slides/slide343.xml"/><Relationship Id="rId44" Type="http://schemas.openxmlformats.org/officeDocument/2006/relationships/slide" Target="slides/slide40.xml"/><Relationship Id="rId86" Type="http://schemas.openxmlformats.org/officeDocument/2006/relationships/slide" Target="slides/slide82.xml"/><Relationship Id="rId151" Type="http://schemas.openxmlformats.org/officeDocument/2006/relationships/slide" Target="slides/slide147.xml"/><Relationship Id="rId389" Type="http://schemas.openxmlformats.org/officeDocument/2006/relationships/theme" Target="theme/theme1.xml"/><Relationship Id="rId193" Type="http://schemas.openxmlformats.org/officeDocument/2006/relationships/slide" Target="slides/slide189.xml"/><Relationship Id="rId207" Type="http://schemas.openxmlformats.org/officeDocument/2006/relationships/slide" Target="slides/slide203.xml"/><Relationship Id="rId249" Type="http://schemas.openxmlformats.org/officeDocument/2006/relationships/slide" Target="slides/slide245.xml"/><Relationship Id="rId13" Type="http://schemas.openxmlformats.org/officeDocument/2006/relationships/slide" Target="slides/slide9.xml"/><Relationship Id="rId109" Type="http://schemas.openxmlformats.org/officeDocument/2006/relationships/slide" Target="slides/slide105.xml"/><Relationship Id="rId260" Type="http://schemas.openxmlformats.org/officeDocument/2006/relationships/slide" Target="slides/slide256.xml"/><Relationship Id="rId316" Type="http://schemas.openxmlformats.org/officeDocument/2006/relationships/slide" Target="slides/slide312.xml"/><Relationship Id="rId55" Type="http://schemas.openxmlformats.org/officeDocument/2006/relationships/slide" Target="slides/slide51.xml"/><Relationship Id="rId97" Type="http://schemas.openxmlformats.org/officeDocument/2006/relationships/slide" Target="slides/slide93.xml"/><Relationship Id="rId120" Type="http://schemas.openxmlformats.org/officeDocument/2006/relationships/slide" Target="slides/slide116.xml"/><Relationship Id="rId358" Type="http://schemas.openxmlformats.org/officeDocument/2006/relationships/slide" Target="slides/slide354.xml"/><Relationship Id="rId162" Type="http://schemas.openxmlformats.org/officeDocument/2006/relationships/slide" Target="slides/slide158.xml"/><Relationship Id="rId218" Type="http://schemas.openxmlformats.org/officeDocument/2006/relationships/slide" Target="slides/slide214.xml"/><Relationship Id="rId271" Type="http://schemas.openxmlformats.org/officeDocument/2006/relationships/slide" Target="slides/slide267.xml"/><Relationship Id="rId24" Type="http://schemas.openxmlformats.org/officeDocument/2006/relationships/slide" Target="slides/slide20.xml"/><Relationship Id="rId66" Type="http://schemas.openxmlformats.org/officeDocument/2006/relationships/slide" Target="slides/slide62.xml"/><Relationship Id="rId131" Type="http://schemas.openxmlformats.org/officeDocument/2006/relationships/slide" Target="slides/slide127.xml"/><Relationship Id="rId327" Type="http://schemas.openxmlformats.org/officeDocument/2006/relationships/slide" Target="slides/slide323.xml"/><Relationship Id="rId369" Type="http://schemas.openxmlformats.org/officeDocument/2006/relationships/slide" Target="slides/slide365.xml"/><Relationship Id="rId173" Type="http://schemas.openxmlformats.org/officeDocument/2006/relationships/slide" Target="slides/slide169.xml"/><Relationship Id="rId229" Type="http://schemas.openxmlformats.org/officeDocument/2006/relationships/slide" Target="slides/slide225.xml"/><Relationship Id="rId380" Type="http://schemas.openxmlformats.org/officeDocument/2006/relationships/slide" Target="slides/slide376.xml"/><Relationship Id="rId240" Type="http://schemas.openxmlformats.org/officeDocument/2006/relationships/slide" Target="slides/slide236.xml"/><Relationship Id="rId35" Type="http://schemas.openxmlformats.org/officeDocument/2006/relationships/slide" Target="slides/slide31.xml"/><Relationship Id="rId77" Type="http://schemas.openxmlformats.org/officeDocument/2006/relationships/slide" Target="slides/slide73.xml"/><Relationship Id="rId100" Type="http://schemas.openxmlformats.org/officeDocument/2006/relationships/slide" Target="slides/slide96.xml"/><Relationship Id="rId282" Type="http://schemas.openxmlformats.org/officeDocument/2006/relationships/slide" Target="slides/slide278.xml"/><Relationship Id="rId338" Type="http://schemas.openxmlformats.org/officeDocument/2006/relationships/slide" Target="slides/slide334.xml"/><Relationship Id="rId8" Type="http://schemas.openxmlformats.org/officeDocument/2006/relationships/slide" Target="slides/slide4.xml"/><Relationship Id="rId142" Type="http://schemas.openxmlformats.org/officeDocument/2006/relationships/slide" Target="slides/slide138.xml"/><Relationship Id="rId184" Type="http://schemas.openxmlformats.org/officeDocument/2006/relationships/slide" Target="slides/slide180.xml"/><Relationship Id="rId391" Type="http://schemas.microsoft.com/office/2016/11/relationships/changesInfo" Target="changesInfos/changesInfo1.xml"/><Relationship Id="rId251" Type="http://schemas.openxmlformats.org/officeDocument/2006/relationships/slide" Target="slides/slide247.xml"/><Relationship Id="rId46" Type="http://schemas.openxmlformats.org/officeDocument/2006/relationships/slide" Target="slides/slide42.xml"/><Relationship Id="rId293" Type="http://schemas.openxmlformats.org/officeDocument/2006/relationships/slide" Target="slides/slide289.xml"/><Relationship Id="rId307" Type="http://schemas.openxmlformats.org/officeDocument/2006/relationships/slide" Target="slides/slide303.xml"/><Relationship Id="rId349" Type="http://schemas.openxmlformats.org/officeDocument/2006/relationships/slide" Target="slides/slide345.xml"/><Relationship Id="rId88" Type="http://schemas.openxmlformats.org/officeDocument/2006/relationships/slide" Target="slides/slide84.xml"/><Relationship Id="rId111" Type="http://schemas.openxmlformats.org/officeDocument/2006/relationships/slide" Target="slides/slide107.xml"/><Relationship Id="rId153" Type="http://schemas.openxmlformats.org/officeDocument/2006/relationships/slide" Target="slides/slide149.xml"/><Relationship Id="rId195" Type="http://schemas.openxmlformats.org/officeDocument/2006/relationships/slide" Target="slides/slide191.xml"/><Relationship Id="rId209" Type="http://schemas.openxmlformats.org/officeDocument/2006/relationships/slide" Target="slides/slide205.xml"/><Relationship Id="rId360" Type="http://schemas.openxmlformats.org/officeDocument/2006/relationships/slide" Target="slides/slide356.xml"/><Relationship Id="rId220" Type="http://schemas.openxmlformats.org/officeDocument/2006/relationships/slide" Target="slides/slide216.xml"/><Relationship Id="rId15" Type="http://schemas.openxmlformats.org/officeDocument/2006/relationships/slide" Target="slides/slide11.xml"/><Relationship Id="rId57" Type="http://schemas.openxmlformats.org/officeDocument/2006/relationships/slide" Target="slides/slide53.xml"/><Relationship Id="rId262" Type="http://schemas.openxmlformats.org/officeDocument/2006/relationships/slide" Target="slides/slide258.xml"/><Relationship Id="rId318" Type="http://schemas.openxmlformats.org/officeDocument/2006/relationships/slide" Target="slides/slide314.xml"/><Relationship Id="rId99" Type="http://schemas.openxmlformats.org/officeDocument/2006/relationships/slide" Target="slides/slide95.xml"/><Relationship Id="rId122" Type="http://schemas.openxmlformats.org/officeDocument/2006/relationships/slide" Target="slides/slide118.xml"/><Relationship Id="rId164" Type="http://schemas.openxmlformats.org/officeDocument/2006/relationships/slide" Target="slides/slide160.xml"/><Relationship Id="rId371" Type="http://schemas.openxmlformats.org/officeDocument/2006/relationships/slide" Target="slides/slide367.xml"/><Relationship Id="rId26" Type="http://schemas.openxmlformats.org/officeDocument/2006/relationships/slide" Target="slides/slide22.xml"/><Relationship Id="rId231" Type="http://schemas.openxmlformats.org/officeDocument/2006/relationships/slide" Target="slides/slide227.xml"/><Relationship Id="rId273" Type="http://schemas.openxmlformats.org/officeDocument/2006/relationships/slide" Target="slides/slide269.xml"/><Relationship Id="rId329" Type="http://schemas.openxmlformats.org/officeDocument/2006/relationships/slide" Target="slides/slide325.xml"/><Relationship Id="rId68" Type="http://schemas.openxmlformats.org/officeDocument/2006/relationships/slide" Target="slides/slide64.xml"/><Relationship Id="rId133" Type="http://schemas.openxmlformats.org/officeDocument/2006/relationships/slide" Target="slides/slide129.xml"/><Relationship Id="rId175" Type="http://schemas.openxmlformats.org/officeDocument/2006/relationships/slide" Target="slides/slide171.xml"/><Relationship Id="rId340" Type="http://schemas.openxmlformats.org/officeDocument/2006/relationships/slide" Target="slides/slide33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Software Architecture &amp; Patterns</a:t>
          </a:r>
        </a:p>
        <a:p>
          <a:r>
            <a:rPr lang="en-US" b="1" i="0" dirty="0"/>
            <a:t>(Refresher)</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937" custLinFactNeighborY="-108">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X="100000"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6343">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649" custLinFactNeighborY="-19698">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2120">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Critical Thinking – A Soft skill needed across </a:t>
          </a:r>
          <a:r>
            <a:rPr lang="en-US"/>
            <a:t>almost any IT </a:t>
          </a:r>
          <a:r>
            <a:rPr lang="en-US" dirty="0"/>
            <a:t>Role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Requirement Analysis – Soft Skills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1528" custLinFactNeighborY="1471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Requirement Analysis –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7639">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Estimation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6960"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3953">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Architecture(/Design)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Architecture(&amp; Design) Trade-Offs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Architecture(&amp; Design) Trade-Offs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 vs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EAI(Enterprise Application Integration)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EAI(Enterprise Application Integration)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Microservices(&amp; Cloud)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Microservices(&amp; Cloud) Architecture Patterns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41648"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Semantic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Modelling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378" custLinFactNeighborY="2276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165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Vs of Big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83"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contd..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Impedance Mismatch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98"/>
          <a:ext cx="4982500" cy="186030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b="1" i="0" kern="1200" dirty="0"/>
            <a:t>Software Architecture &amp; Patterns</a:t>
          </a:r>
        </a:p>
        <a:p>
          <a:pPr marL="0" lvl="0" indent="0" algn="l" defTabSz="1333500">
            <a:lnSpc>
              <a:spcPct val="90000"/>
            </a:lnSpc>
            <a:spcBef>
              <a:spcPct val="0"/>
            </a:spcBef>
            <a:spcAft>
              <a:spcPct val="35000"/>
            </a:spcAft>
            <a:buNone/>
          </a:pPr>
          <a:r>
            <a:rPr lang="en-US" sz="3000" b="1" i="0" kern="1200" dirty="0"/>
            <a:t>(Refresher)</a:t>
          </a:r>
        </a:p>
      </dsp:txBody>
      <dsp:txXfrm>
        <a:off x="90812" y="103110"/>
        <a:ext cx="4800876" cy="16786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5785"/>
          <a:ext cx="7192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kern="1200" dirty="0"/>
            <a:t>Design Thinking</a:t>
          </a:r>
        </a:p>
      </dsp:txBody>
      <dsp:txXfrm>
        <a:off x="76105" y="91890"/>
        <a:ext cx="7040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5785"/>
          <a:ext cx="7192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kern="1200" dirty="0"/>
            <a:t>Design Thinking</a:t>
          </a:r>
        </a:p>
      </dsp:txBody>
      <dsp:txXfrm>
        <a:off x="76105" y="91890"/>
        <a:ext cx="7040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175264"/>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6690" tIns="186690" rIns="186690" bIns="186690" numCol="1" spcCol="1270" anchor="ctr" anchorCtr="0">
          <a:noAutofit/>
        </a:bodyPr>
        <a:lstStyle/>
        <a:p>
          <a:pPr marL="0" lvl="0" indent="0" algn="l" defTabSz="2178050">
            <a:lnSpc>
              <a:spcPct val="90000"/>
            </a:lnSpc>
            <a:spcBef>
              <a:spcPct val="0"/>
            </a:spcBef>
            <a:spcAft>
              <a:spcPct val="35000"/>
            </a:spcAft>
            <a:buNone/>
          </a:pPr>
          <a:r>
            <a:rPr lang="en-US" sz="4900" kern="1200" dirty="0"/>
            <a:t>Design Thinking - Steps</a:t>
          </a:r>
        </a:p>
      </dsp:txBody>
      <dsp:txXfrm>
        <a:off x="57372" y="57372"/>
        <a:ext cx="7077556" cy="106052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86087"/>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250484"/>
        <a:ext cx="7063506" cy="119038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204823"/>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269220"/>
        <a:ext cx="7063506" cy="1190381"/>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59875"/>
          <a:ext cx="8839200" cy="45552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dirty="0"/>
            <a:t>Critical Thinking – A Soft skill needed across </a:t>
          </a:r>
          <a:r>
            <a:rPr lang="en-US" sz="1900" kern="1200"/>
            <a:t>almost any IT </a:t>
          </a:r>
          <a:r>
            <a:rPr lang="en-US" sz="1900" kern="1200" dirty="0"/>
            <a:t>Role</a:t>
          </a:r>
        </a:p>
      </dsp:txBody>
      <dsp:txXfrm>
        <a:off x="22237" y="82112"/>
        <a:ext cx="8794726" cy="411054"/>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11107"/>
          <a:ext cx="7192300" cy="93541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l" defTabSz="1733550">
            <a:lnSpc>
              <a:spcPct val="90000"/>
            </a:lnSpc>
            <a:spcBef>
              <a:spcPct val="0"/>
            </a:spcBef>
            <a:spcAft>
              <a:spcPct val="35000"/>
            </a:spcAft>
            <a:buNone/>
          </a:pPr>
          <a:r>
            <a:rPr lang="en-US" sz="3900" kern="1200" dirty="0"/>
            <a:t>Requirement Analysis – Soft Skills</a:t>
          </a:r>
        </a:p>
      </dsp:txBody>
      <dsp:txXfrm>
        <a:off x="45663" y="356770"/>
        <a:ext cx="7100974" cy="8440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kern="1200" dirty="0"/>
            <a:t>Requirement Analysis – NFRs</a:t>
          </a:r>
        </a:p>
      </dsp:txBody>
      <dsp:txXfrm>
        <a:off x="51517" y="51517"/>
        <a:ext cx="7089266" cy="95230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02786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0020" tIns="160020" rIns="160020" bIns="160020" numCol="1" spcCol="1270" anchor="ctr" anchorCtr="0">
          <a:noAutofit/>
        </a:bodyPr>
        <a:lstStyle/>
        <a:p>
          <a:pPr marL="0" lvl="0" indent="0" algn="l" defTabSz="1866900">
            <a:lnSpc>
              <a:spcPct val="90000"/>
            </a:lnSpc>
            <a:spcBef>
              <a:spcPct val="0"/>
            </a:spcBef>
            <a:spcAft>
              <a:spcPct val="35000"/>
            </a:spcAft>
            <a:buNone/>
          </a:pPr>
          <a:r>
            <a:rPr lang="en-US" sz="4200" kern="1200" dirty="0"/>
            <a:t>Estimation</a:t>
          </a:r>
        </a:p>
      </dsp:txBody>
      <dsp:txXfrm>
        <a:off x="50176" y="50176"/>
        <a:ext cx="7091948" cy="927510"/>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Architecture(/Design) Principles</a:t>
          </a:r>
        </a:p>
      </dsp:txBody>
      <dsp:txXfrm>
        <a:off x="36538" y="36538"/>
        <a:ext cx="7119224" cy="675411"/>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Architecture(&amp; Design) Trade-Offs</a:t>
          </a:r>
        </a:p>
      </dsp:txBody>
      <dsp:txXfrm>
        <a:off x="21162" y="21162"/>
        <a:ext cx="71499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Architecture(&amp; Design) Trade-Offs</a:t>
          </a:r>
        </a:p>
      </dsp:txBody>
      <dsp:txXfrm>
        <a:off x="21162" y="21162"/>
        <a:ext cx="7149976" cy="391189"/>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 vs Patterns</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EAI(Enterprise Application Integration) Patterns - </a:t>
          </a:r>
        </a:p>
      </dsp:txBody>
      <dsp:txXfrm>
        <a:off x="21162" y="21162"/>
        <a:ext cx="8338983"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EAI(Enterprise Application Integration) Patterns - </a:t>
          </a:r>
        </a:p>
      </dsp:txBody>
      <dsp:txXfrm>
        <a:off x="21162" y="21162"/>
        <a:ext cx="8338983"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Microservices(&amp; Cloud) Architecture Patterns</a:t>
          </a:r>
        </a:p>
      </dsp:txBody>
      <dsp:txXfrm>
        <a:off x="21162" y="21162"/>
        <a:ext cx="8338983"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Microservices(&amp; Cloud) Architecture Patterns  </a:t>
          </a:r>
        </a:p>
      </dsp:txBody>
      <dsp:txXfrm>
        <a:off x="21162" y="21162"/>
        <a:ext cx="8338983"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6212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System Design(</a:t>
          </a:r>
          <a:r>
            <a:rPr lang="en-US" sz="2700" kern="1200" dirty="0" err="1"/>
            <a:t>a.k.a</a:t>
          </a:r>
          <a:r>
            <a:rPr lang="en-US" sz="2700" kern="1200" dirty="0"/>
            <a:t> Distributed Systems) Basics</a:t>
          </a:r>
        </a:p>
      </dsp:txBody>
      <dsp:txXfrm>
        <a:off x="32322" y="32322"/>
        <a:ext cx="7127656" cy="59747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6212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System Design(</a:t>
          </a:r>
          <a:r>
            <a:rPr lang="en-US" sz="2700" kern="1200" dirty="0" err="1"/>
            <a:t>a.k.a</a:t>
          </a:r>
          <a:r>
            <a:rPr lang="en-US" sz="2700" kern="1200" dirty="0"/>
            <a:t> Distributed Systems) Basics</a:t>
          </a:r>
        </a:p>
      </dsp:txBody>
      <dsp:txXfrm>
        <a:off x="32322" y="32322"/>
        <a:ext cx="7127656" cy="59747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6212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System Design(</a:t>
          </a:r>
          <a:r>
            <a:rPr lang="en-US" sz="2700" kern="1200" dirty="0" err="1"/>
            <a:t>a.k.a</a:t>
          </a:r>
          <a:r>
            <a:rPr lang="en-US" sz="2700" kern="1200" dirty="0"/>
            <a:t> Distributed Systems) Basics</a:t>
          </a:r>
        </a:p>
      </dsp:txBody>
      <dsp:txXfrm>
        <a:off x="32322" y="32322"/>
        <a:ext cx="7127656" cy="59747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6212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System Design(</a:t>
          </a:r>
          <a:r>
            <a:rPr lang="en-US" sz="2700" kern="1200" dirty="0" err="1"/>
            <a:t>a.k.a</a:t>
          </a:r>
          <a:r>
            <a:rPr lang="en-US" sz="2700" kern="1200" dirty="0"/>
            <a:t> Distributed Systems) Basics</a:t>
          </a:r>
        </a:p>
      </dsp:txBody>
      <dsp:txXfrm>
        <a:off x="32322" y="32322"/>
        <a:ext cx="7127656" cy="59747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 </a:t>
          </a:r>
        </a:p>
      </dsp:txBody>
      <dsp:txXfrm>
        <a:off x="21162" y="21162"/>
        <a:ext cx="8338983" cy="391189"/>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2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7149976" cy="391189"/>
      </dsp:txXfrm>
    </dsp:sp>
  </dsp:spTree>
</dsp:drawing>
</file>

<file path=ppt/diagrams/drawing2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983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4326" y="24326"/>
        <a:ext cx="8866746" cy="449677"/>
      </dsp:txXfrm>
    </dsp:sp>
  </dsp:spTree>
</dsp:drawing>
</file>

<file path=ppt/diagrams/drawing2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1162" y="21162"/>
        <a:ext cx="9025476" cy="391189"/>
      </dsp:txXfrm>
    </dsp:sp>
  </dsp:spTree>
</dsp:drawing>
</file>

<file path=ppt/diagrams/drawing2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2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2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2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Semantic Data Modelling</a:t>
          </a:r>
        </a:p>
      </dsp:txBody>
      <dsp:txXfrm>
        <a:off x="21162" y="21162"/>
        <a:ext cx="8582613" cy="391189"/>
      </dsp:txXfrm>
    </dsp:sp>
  </dsp:spTree>
</dsp:drawing>
</file>

<file path=ppt/diagrams/drawing2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sp:txBody>
      <dsp:txXfrm>
        <a:off x="21162" y="21162"/>
        <a:ext cx="8582613" cy="391189"/>
      </dsp:txXfrm>
    </dsp:sp>
  </dsp:spTree>
</dsp:drawing>
</file>

<file path=ppt/diagrams/drawing2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2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2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5461"/>
          <a:ext cx="871455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Modelling Resources</a:t>
          </a:r>
        </a:p>
      </dsp:txBody>
      <dsp:txXfrm>
        <a:off x="21162" y="86623"/>
        <a:ext cx="8672232" cy="391189"/>
      </dsp:txXfrm>
    </dsp:sp>
  </dsp:spTree>
</dsp:drawing>
</file>

<file path=ppt/diagrams/drawing2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62363" cy="73812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sp:txBody>
      <dsp:txXfrm>
        <a:off x="36032" y="36032"/>
        <a:ext cx="8590299" cy="666064"/>
      </dsp:txXfrm>
    </dsp:sp>
  </dsp:spTree>
</dsp:drawing>
</file>

<file path=ppt/diagrams/drawing2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a:t>
          </a:r>
        </a:p>
      </dsp:txBody>
      <dsp:txXfrm>
        <a:off x="21162" y="21162"/>
        <a:ext cx="8873074" cy="391189"/>
      </dsp:txXfrm>
    </dsp:sp>
  </dsp:spTree>
</dsp:drawing>
</file>

<file path=ppt/diagrams/drawing2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8873075" cy="391189"/>
      </dsp:txXfrm>
    </dsp:sp>
  </dsp:spTree>
</dsp:drawing>
</file>

<file path=ppt/diagrams/drawing2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6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Vs of Big Data</a:t>
          </a:r>
        </a:p>
      </dsp:txBody>
      <dsp:txXfrm>
        <a:off x="21162" y="21162"/>
        <a:ext cx="8949276" cy="391189"/>
      </dsp:txXfrm>
    </dsp:sp>
  </dsp:spTree>
</dsp:drawing>
</file>

<file path=ppt/diagrams/drawing2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a:t>
          </a:r>
        </a:p>
      </dsp:txBody>
      <dsp:txXfrm>
        <a:off x="21162" y="21162"/>
        <a:ext cx="8873074" cy="391189"/>
      </dsp:txXfrm>
    </dsp:sp>
  </dsp:spTree>
</dsp:drawing>
</file>

<file path=ppt/diagrams/drawing2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a:t>
          </a:r>
        </a:p>
      </dsp:txBody>
      <dsp:txXfrm>
        <a:off x="21162" y="21162"/>
        <a:ext cx="8949275" cy="391189"/>
      </dsp:txXfrm>
    </dsp:sp>
  </dsp:spTree>
</dsp:drawing>
</file>

<file path=ppt/diagrams/drawing2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contd..</a:t>
          </a:r>
        </a:p>
      </dsp:txBody>
      <dsp:txXfrm>
        <a:off x="21162" y="21162"/>
        <a:ext cx="8949275" cy="391189"/>
      </dsp:txXfrm>
    </dsp:sp>
  </dsp:spTree>
</dsp:drawing>
</file>

<file path=ppt/diagrams/drawing2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2202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77876" cy="391189"/>
      </dsp:txXfrm>
    </dsp:sp>
  </dsp:spTree>
</dsp:drawing>
</file>

<file path=ppt/diagrams/drawing2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  </a:t>
          </a:r>
        </a:p>
      </dsp:txBody>
      <dsp:txXfrm>
        <a:off x="21162" y="21162"/>
        <a:ext cx="8873075" cy="391189"/>
      </dsp:txXfrm>
    </dsp:sp>
  </dsp:spTree>
</dsp:drawing>
</file>

<file path=ppt/diagrams/drawing2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2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2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a:t>
          </a:r>
        </a:p>
      </dsp:txBody>
      <dsp:txXfrm>
        <a:off x="21162" y="21162"/>
        <a:ext cx="7149976" cy="391189"/>
      </dsp:txXfrm>
    </dsp:sp>
  </dsp:spTree>
</dsp:drawing>
</file>

<file path=ppt/diagrams/drawing2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a:t>
          </a:r>
        </a:p>
      </dsp:txBody>
      <dsp:txXfrm>
        <a:off x="21162" y="21162"/>
        <a:ext cx="7149976" cy="391189"/>
      </dsp:txXfrm>
    </dsp:sp>
  </dsp:spTree>
</dsp:drawing>
</file>

<file path=ppt/diagrams/drawing2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3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3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3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Impedance Mismatch</a:t>
          </a:r>
        </a:p>
      </dsp:txBody>
      <dsp:txXfrm>
        <a:off x="21162" y="21162"/>
        <a:ext cx="7149976" cy="391189"/>
      </dsp:txXfrm>
    </dsp:sp>
  </dsp:spTree>
</dsp:drawing>
</file>

<file path=ppt/diagrams/drawing3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3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3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3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11/25/2025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3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31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31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32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3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29</a:t>
            </a:fld>
            <a:endParaRPr lang="en-US" dirty="0"/>
          </a:p>
        </p:txBody>
      </p:sp>
    </p:spTree>
    <p:extLst>
      <p:ext uri="{BB962C8B-B14F-4D97-AF65-F5344CB8AC3E}">
        <p14:creationId xmlns:p14="http://schemas.microsoft.com/office/powerpoint/2010/main" val="37593428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85317-3A06-0767-8BE3-41AC259294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2FD48-A569-8EB8-F706-F0E23D744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16939B-0B3D-2061-8661-5B744FB5C1B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E4628A9-F8EB-C6A8-3EF8-3D912B1148A0}"/>
              </a:ext>
            </a:extLst>
          </p:cNvPr>
          <p:cNvSpPr>
            <a:spLocks noGrp="1"/>
          </p:cNvSpPr>
          <p:nvPr>
            <p:ph type="sldNum" sz="quarter" idx="5"/>
          </p:nvPr>
        </p:nvSpPr>
        <p:spPr/>
        <p:txBody>
          <a:bodyPr/>
          <a:lstStyle/>
          <a:p>
            <a:fld id="{0C49AC16-2221-4935-809C-2A72A26F729C}" type="slidenum">
              <a:rPr lang="en-US" smtClean="0"/>
              <a:t>30</a:t>
            </a:fld>
            <a:endParaRPr lang="en-US" dirty="0"/>
          </a:p>
        </p:txBody>
      </p:sp>
    </p:spTree>
    <p:extLst>
      <p:ext uri="{BB962C8B-B14F-4D97-AF65-F5344CB8AC3E}">
        <p14:creationId xmlns:p14="http://schemas.microsoft.com/office/powerpoint/2010/main" val="26345145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4389C-C3C0-2052-6915-46004254F9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133639-C526-83AF-39CC-D924AE3E8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420C8A-3791-4897-3D4B-ED304133D1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AACCC3-757D-E8E2-7808-FE40D68D6856}"/>
              </a:ext>
            </a:extLst>
          </p:cNvPr>
          <p:cNvSpPr>
            <a:spLocks noGrp="1"/>
          </p:cNvSpPr>
          <p:nvPr>
            <p:ph type="sldNum" sz="quarter" idx="5"/>
          </p:nvPr>
        </p:nvSpPr>
        <p:spPr/>
        <p:txBody>
          <a:bodyPr/>
          <a:lstStyle/>
          <a:p>
            <a:fld id="{0C49AC16-2221-4935-809C-2A72A26F729C}" type="slidenum">
              <a:rPr lang="en-US" smtClean="0"/>
              <a:t>31</a:t>
            </a:fld>
            <a:endParaRPr lang="en-US" dirty="0"/>
          </a:p>
        </p:txBody>
      </p:sp>
    </p:spTree>
    <p:extLst>
      <p:ext uri="{BB962C8B-B14F-4D97-AF65-F5344CB8AC3E}">
        <p14:creationId xmlns:p14="http://schemas.microsoft.com/office/powerpoint/2010/main" val="1473878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3B9FE-7D2A-B464-B656-2B2DFD527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43487-53FF-161E-B0EC-3F2C800CA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BFA26-CBA1-A704-4365-CD3BA882EE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E596EE1-3F41-CF51-ED30-0021ED8702F7}"/>
              </a:ext>
            </a:extLst>
          </p:cNvPr>
          <p:cNvSpPr>
            <a:spLocks noGrp="1"/>
          </p:cNvSpPr>
          <p:nvPr>
            <p:ph type="sldNum" sz="quarter" idx="5"/>
          </p:nvPr>
        </p:nvSpPr>
        <p:spPr/>
        <p:txBody>
          <a:bodyPr/>
          <a:lstStyle/>
          <a:p>
            <a:fld id="{0C49AC16-2221-4935-809C-2A72A26F729C}" type="slidenum">
              <a:rPr lang="en-US" smtClean="0"/>
              <a:t>32</a:t>
            </a:fld>
            <a:endParaRPr lang="en-US" dirty="0"/>
          </a:p>
        </p:txBody>
      </p:sp>
    </p:spTree>
    <p:extLst>
      <p:ext uri="{BB962C8B-B14F-4D97-AF65-F5344CB8AC3E}">
        <p14:creationId xmlns:p14="http://schemas.microsoft.com/office/powerpoint/2010/main" val="42236658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2D4E40-93DD-A6FD-CECA-A815307AC5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B22D0-D453-2638-FCEA-0EFA9CB535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C9B48-A237-85C2-C9DA-D98FF79E79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77CBB5-0C2C-B57D-9676-781DF02234C8}"/>
              </a:ext>
            </a:extLst>
          </p:cNvPr>
          <p:cNvSpPr>
            <a:spLocks noGrp="1"/>
          </p:cNvSpPr>
          <p:nvPr>
            <p:ph type="sldNum" sz="quarter" idx="5"/>
          </p:nvPr>
        </p:nvSpPr>
        <p:spPr/>
        <p:txBody>
          <a:bodyPr/>
          <a:lstStyle/>
          <a:p>
            <a:fld id="{0C49AC16-2221-4935-809C-2A72A26F729C}" type="slidenum">
              <a:rPr lang="en-US" smtClean="0"/>
              <a:t>33</a:t>
            </a:fld>
            <a:endParaRPr lang="en-US" dirty="0"/>
          </a:p>
        </p:txBody>
      </p:sp>
    </p:spTree>
    <p:extLst>
      <p:ext uri="{BB962C8B-B14F-4D97-AF65-F5344CB8AC3E}">
        <p14:creationId xmlns:p14="http://schemas.microsoft.com/office/powerpoint/2010/main" val="20030057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9283A-3AB9-A6FF-7648-32A68FB4F7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F004F-54D6-7176-EC0B-059CD96AE1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C1A856-09DF-15AC-F33A-CB95983F86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465F3-2C4A-AFE5-A698-5517F0FBBA1D}"/>
              </a:ext>
            </a:extLst>
          </p:cNvPr>
          <p:cNvSpPr>
            <a:spLocks noGrp="1"/>
          </p:cNvSpPr>
          <p:nvPr>
            <p:ph type="sldNum" sz="quarter" idx="5"/>
          </p:nvPr>
        </p:nvSpPr>
        <p:spPr/>
        <p:txBody>
          <a:bodyPr/>
          <a:lstStyle/>
          <a:p>
            <a:fld id="{0C49AC16-2221-4935-809C-2A72A26F729C}" type="slidenum">
              <a:rPr lang="en-US" smtClean="0"/>
              <a:t>34</a:t>
            </a:fld>
            <a:endParaRPr lang="en-US" dirty="0"/>
          </a:p>
        </p:txBody>
      </p:sp>
    </p:spTree>
    <p:extLst>
      <p:ext uri="{BB962C8B-B14F-4D97-AF65-F5344CB8AC3E}">
        <p14:creationId xmlns:p14="http://schemas.microsoft.com/office/powerpoint/2010/main" val="26780156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B88CE-7E73-979D-4533-25E27DB9B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51CF6E-421B-FD12-7DD5-FF3CC3742D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1357FA-C508-F599-7C05-B484C48129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5814A13-B861-0169-4D3E-492CF8BA0025}"/>
              </a:ext>
            </a:extLst>
          </p:cNvPr>
          <p:cNvSpPr>
            <a:spLocks noGrp="1"/>
          </p:cNvSpPr>
          <p:nvPr>
            <p:ph type="sldNum" sz="quarter" idx="5"/>
          </p:nvPr>
        </p:nvSpPr>
        <p:spPr/>
        <p:txBody>
          <a:bodyPr/>
          <a:lstStyle/>
          <a:p>
            <a:fld id="{0C49AC16-2221-4935-809C-2A72A26F729C}" type="slidenum">
              <a:rPr lang="en-US" smtClean="0"/>
              <a:t>35</a:t>
            </a:fld>
            <a:endParaRPr lang="en-US" dirty="0"/>
          </a:p>
        </p:txBody>
      </p:sp>
    </p:spTree>
    <p:extLst>
      <p:ext uri="{BB962C8B-B14F-4D97-AF65-F5344CB8AC3E}">
        <p14:creationId xmlns:p14="http://schemas.microsoft.com/office/powerpoint/2010/main" val="26126254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C446E-6A83-B493-E379-F509021A28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4C9F5E-6F5E-5260-2F5D-D79E22A611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9378EF-8E18-58D9-8AB4-D82852DC4B7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0BC741-529E-23DF-27C8-4C56ACB0A9EF}"/>
              </a:ext>
            </a:extLst>
          </p:cNvPr>
          <p:cNvSpPr>
            <a:spLocks noGrp="1"/>
          </p:cNvSpPr>
          <p:nvPr>
            <p:ph type="sldNum" sz="quarter" idx="5"/>
          </p:nvPr>
        </p:nvSpPr>
        <p:spPr/>
        <p:txBody>
          <a:bodyPr/>
          <a:lstStyle/>
          <a:p>
            <a:fld id="{0C49AC16-2221-4935-809C-2A72A26F729C}" type="slidenum">
              <a:rPr lang="en-US" smtClean="0"/>
              <a:t>36</a:t>
            </a:fld>
            <a:endParaRPr lang="en-US" dirty="0"/>
          </a:p>
        </p:txBody>
      </p:sp>
    </p:spTree>
    <p:extLst>
      <p:ext uri="{BB962C8B-B14F-4D97-AF65-F5344CB8AC3E}">
        <p14:creationId xmlns:p14="http://schemas.microsoft.com/office/powerpoint/2010/main" val="20309444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64832-D2F6-50EC-CF39-1B52B7470E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FD0469-8D68-BC34-A1D9-64A32C8131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7023CB-AD55-5E06-3B59-7714BD40BA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9783457-288F-4ADB-D1E1-3F34EAA22B75}"/>
              </a:ext>
            </a:extLst>
          </p:cNvPr>
          <p:cNvSpPr>
            <a:spLocks noGrp="1"/>
          </p:cNvSpPr>
          <p:nvPr>
            <p:ph type="sldNum" sz="quarter" idx="5"/>
          </p:nvPr>
        </p:nvSpPr>
        <p:spPr/>
        <p:txBody>
          <a:bodyPr/>
          <a:lstStyle/>
          <a:p>
            <a:fld id="{0C49AC16-2221-4935-809C-2A72A26F729C}" type="slidenum">
              <a:rPr lang="en-US" smtClean="0"/>
              <a:t>37</a:t>
            </a:fld>
            <a:endParaRPr lang="en-US" dirty="0"/>
          </a:p>
        </p:txBody>
      </p:sp>
    </p:spTree>
    <p:extLst>
      <p:ext uri="{BB962C8B-B14F-4D97-AF65-F5344CB8AC3E}">
        <p14:creationId xmlns:p14="http://schemas.microsoft.com/office/powerpoint/2010/main" val="37706951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B84B9-0690-C9EE-0015-34E6F47F21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37D51-2921-FD4C-65A3-C8BF951B41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3C8EB3-E348-64A8-8222-CD021B729A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AB53E3E-E02A-6807-8B63-DB77E94E33EC}"/>
              </a:ext>
            </a:extLst>
          </p:cNvPr>
          <p:cNvSpPr>
            <a:spLocks noGrp="1"/>
          </p:cNvSpPr>
          <p:nvPr>
            <p:ph type="sldNum" sz="quarter" idx="5"/>
          </p:nvPr>
        </p:nvSpPr>
        <p:spPr/>
        <p:txBody>
          <a:bodyPr/>
          <a:lstStyle/>
          <a:p>
            <a:fld id="{0C49AC16-2221-4935-809C-2A72A26F729C}" type="slidenum">
              <a:rPr lang="en-US" smtClean="0"/>
              <a:t>38</a:t>
            </a:fld>
            <a:endParaRPr lang="en-US" dirty="0"/>
          </a:p>
        </p:txBody>
      </p:sp>
    </p:spTree>
    <p:extLst>
      <p:ext uri="{BB962C8B-B14F-4D97-AF65-F5344CB8AC3E}">
        <p14:creationId xmlns:p14="http://schemas.microsoft.com/office/powerpoint/2010/main" val="178555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1C78E-96AA-E877-74FD-B6C98DC074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229E71-031A-72CD-F136-58317BCAC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B957B5-3114-0356-2370-C5A4E821043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DB92A1D-E281-0C47-687E-4608EF731C4F}"/>
              </a:ext>
            </a:extLst>
          </p:cNvPr>
          <p:cNvSpPr>
            <a:spLocks noGrp="1"/>
          </p:cNvSpPr>
          <p:nvPr>
            <p:ph type="sldNum" sz="quarter" idx="5"/>
          </p:nvPr>
        </p:nvSpPr>
        <p:spPr/>
        <p:txBody>
          <a:bodyPr/>
          <a:lstStyle/>
          <a:p>
            <a:fld id="{0C49AC16-2221-4935-809C-2A72A26F729C}" type="slidenum">
              <a:rPr lang="en-US" smtClean="0"/>
              <a:t>39</a:t>
            </a:fld>
            <a:endParaRPr lang="en-US" dirty="0"/>
          </a:p>
        </p:txBody>
      </p:sp>
    </p:spTree>
    <p:extLst>
      <p:ext uri="{BB962C8B-B14F-4D97-AF65-F5344CB8AC3E}">
        <p14:creationId xmlns:p14="http://schemas.microsoft.com/office/powerpoint/2010/main" val="18758838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F19B3-2C63-4C75-E5DE-3C90DBD65C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C8CDC8-1D27-0685-7D71-DB106F8AAF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759AE9-12F2-7D53-FEA1-FBAEF1DC3D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AD18D6-FA7E-ADB3-7AD8-9B9940D38CA1}"/>
              </a:ext>
            </a:extLst>
          </p:cNvPr>
          <p:cNvSpPr>
            <a:spLocks noGrp="1"/>
          </p:cNvSpPr>
          <p:nvPr>
            <p:ph type="sldNum" sz="quarter" idx="5"/>
          </p:nvPr>
        </p:nvSpPr>
        <p:spPr/>
        <p:txBody>
          <a:bodyPr/>
          <a:lstStyle/>
          <a:p>
            <a:fld id="{0C49AC16-2221-4935-809C-2A72A26F729C}" type="slidenum">
              <a:rPr lang="en-US" smtClean="0"/>
              <a:t>40</a:t>
            </a:fld>
            <a:endParaRPr lang="en-US" dirty="0"/>
          </a:p>
        </p:txBody>
      </p:sp>
    </p:spTree>
    <p:extLst>
      <p:ext uri="{BB962C8B-B14F-4D97-AF65-F5344CB8AC3E}">
        <p14:creationId xmlns:p14="http://schemas.microsoft.com/office/powerpoint/2010/main" val="20141255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45</a:t>
            </a:fld>
            <a:endParaRPr lang="en-US" dirty="0"/>
          </a:p>
        </p:txBody>
      </p:sp>
    </p:spTree>
    <p:extLst>
      <p:ext uri="{BB962C8B-B14F-4D97-AF65-F5344CB8AC3E}">
        <p14:creationId xmlns:p14="http://schemas.microsoft.com/office/powerpoint/2010/main" val="32125102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100</a:t>
            </a:fld>
            <a:endParaRPr lang="en-US" dirty="0"/>
          </a:p>
        </p:txBody>
      </p:sp>
    </p:spTree>
    <p:extLst>
      <p:ext uri="{BB962C8B-B14F-4D97-AF65-F5344CB8AC3E}">
        <p14:creationId xmlns:p14="http://schemas.microsoft.com/office/powerpoint/2010/main" val="38572586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135</a:t>
            </a:fld>
            <a:endParaRPr lang="en-US" dirty="0"/>
          </a:p>
        </p:txBody>
      </p:sp>
    </p:spTree>
    <p:extLst>
      <p:ext uri="{BB962C8B-B14F-4D97-AF65-F5344CB8AC3E}">
        <p14:creationId xmlns:p14="http://schemas.microsoft.com/office/powerpoint/2010/main" val="8978878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192</a:t>
            </a:fld>
            <a:endParaRPr lang="en-US" dirty="0"/>
          </a:p>
        </p:txBody>
      </p:sp>
    </p:spTree>
    <p:extLst>
      <p:ext uri="{BB962C8B-B14F-4D97-AF65-F5344CB8AC3E}">
        <p14:creationId xmlns:p14="http://schemas.microsoft.com/office/powerpoint/2010/main" val="29667991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9B778-A1E0-BA7B-AF3E-EF901C63C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EAD46-D6B1-D873-0EF1-789832481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722557-8204-1F1C-67D5-B9535E3448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48D8CE6-D751-1C54-7B14-CD76DB369BB2}"/>
              </a:ext>
            </a:extLst>
          </p:cNvPr>
          <p:cNvSpPr>
            <a:spLocks noGrp="1"/>
          </p:cNvSpPr>
          <p:nvPr>
            <p:ph type="sldNum" sz="quarter" idx="5"/>
          </p:nvPr>
        </p:nvSpPr>
        <p:spPr/>
        <p:txBody>
          <a:bodyPr/>
          <a:lstStyle/>
          <a:p>
            <a:fld id="{0C49AC16-2221-4935-809C-2A72A26F729C}" type="slidenum">
              <a:rPr lang="en-US" smtClean="0"/>
              <a:t>193</a:t>
            </a:fld>
            <a:endParaRPr lang="en-US" dirty="0"/>
          </a:p>
        </p:txBody>
      </p:sp>
    </p:spTree>
    <p:extLst>
      <p:ext uri="{BB962C8B-B14F-4D97-AF65-F5344CB8AC3E}">
        <p14:creationId xmlns:p14="http://schemas.microsoft.com/office/powerpoint/2010/main" val="33381496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268</a:t>
            </a:fld>
            <a:endParaRPr lang="en-US" dirty="0"/>
          </a:p>
        </p:txBody>
      </p:sp>
    </p:spTree>
    <p:extLst>
      <p:ext uri="{BB962C8B-B14F-4D97-AF65-F5344CB8AC3E}">
        <p14:creationId xmlns:p14="http://schemas.microsoft.com/office/powerpoint/2010/main" val="7805413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260EE96E-5996-4F85-A914-B0252298B744}" type="slidenum">
              <a:rPr lang="en-US" smtClean="0"/>
              <a:pPr/>
              <a:t>269</a:t>
            </a:fld>
            <a:endParaRPr lang="en-US" dirty="0"/>
          </a:p>
        </p:txBody>
      </p:sp>
    </p:spTree>
    <p:extLst>
      <p:ext uri="{BB962C8B-B14F-4D97-AF65-F5344CB8AC3E}">
        <p14:creationId xmlns:p14="http://schemas.microsoft.com/office/powerpoint/2010/main" val="25041164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90FD-B6EA-C0D3-7F12-90E3D7413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CB861B-EA09-6C95-FE24-EBC0D5739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892256-6115-E0DC-B26A-C175C8B4701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327686-9EDE-FC28-7159-2C79F2D61136}"/>
              </a:ext>
            </a:extLst>
          </p:cNvPr>
          <p:cNvSpPr>
            <a:spLocks noGrp="1"/>
          </p:cNvSpPr>
          <p:nvPr>
            <p:ph type="sldNum" sz="quarter" idx="5"/>
          </p:nvPr>
        </p:nvSpPr>
        <p:spPr/>
        <p:txBody>
          <a:bodyPr/>
          <a:lstStyle/>
          <a:p>
            <a:fld id="{0C49AC16-2221-4935-809C-2A72A26F729C}" type="slidenum">
              <a:rPr lang="en-US" smtClean="0"/>
              <a:t>272</a:t>
            </a:fld>
            <a:endParaRPr lang="en-US" dirty="0"/>
          </a:p>
        </p:txBody>
      </p:sp>
    </p:spTree>
    <p:extLst>
      <p:ext uri="{BB962C8B-B14F-4D97-AF65-F5344CB8AC3E}">
        <p14:creationId xmlns:p14="http://schemas.microsoft.com/office/powerpoint/2010/main" val="69998734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8E2F2-026F-0A07-A6A1-8FA4B6EDCC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718C98-4627-C87E-769C-D876DAC00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1F484B-9D22-8788-5A7B-E71C94113F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D6A6BC-31A4-D875-5393-5FB57E4F9690}"/>
              </a:ext>
            </a:extLst>
          </p:cNvPr>
          <p:cNvSpPr>
            <a:spLocks noGrp="1"/>
          </p:cNvSpPr>
          <p:nvPr>
            <p:ph type="sldNum" sz="quarter" idx="5"/>
          </p:nvPr>
        </p:nvSpPr>
        <p:spPr/>
        <p:txBody>
          <a:bodyPr/>
          <a:lstStyle/>
          <a:p>
            <a:fld id="{0C49AC16-2221-4935-809C-2A72A26F729C}" type="slidenum">
              <a:rPr lang="en-US" smtClean="0"/>
              <a:t>273</a:t>
            </a:fld>
            <a:endParaRPr lang="en-US" dirty="0"/>
          </a:p>
        </p:txBody>
      </p:sp>
    </p:spTree>
    <p:extLst>
      <p:ext uri="{BB962C8B-B14F-4D97-AF65-F5344CB8AC3E}">
        <p14:creationId xmlns:p14="http://schemas.microsoft.com/office/powerpoint/2010/main" val="33993451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8A794-86DF-8406-4AB4-9CC53E1C4A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D40770-3081-1A96-302F-619EDB9E04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00A36E-125C-5259-2C1F-E54400E329B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10EBBFD-CA62-B173-6A03-EBBEA13670B8}"/>
              </a:ext>
            </a:extLst>
          </p:cNvPr>
          <p:cNvSpPr>
            <a:spLocks noGrp="1"/>
          </p:cNvSpPr>
          <p:nvPr>
            <p:ph type="sldNum" sz="quarter" idx="5"/>
          </p:nvPr>
        </p:nvSpPr>
        <p:spPr/>
        <p:txBody>
          <a:bodyPr/>
          <a:lstStyle/>
          <a:p>
            <a:fld id="{0C49AC16-2221-4935-809C-2A72A26F729C}" type="slidenum">
              <a:rPr lang="en-US" smtClean="0"/>
              <a:t>274</a:t>
            </a:fld>
            <a:endParaRPr lang="en-US" dirty="0"/>
          </a:p>
        </p:txBody>
      </p:sp>
    </p:spTree>
    <p:extLst>
      <p:ext uri="{BB962C8B-B14F-4D97-AF65-F5344CB8AC3E}">
        <p14:creationId xmlns:p14="http://schemas.microsoft.com/office/powerpoint/2010/main" val="25990425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C2E7D-A849-CC10-726F-8FF08BAD4E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041F3-4D47-FFE7-9D5A-D93119C5E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E13D14-ADDC-BD00-FDE1-E7B683B25AB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4D4E78-BFF4-7D37-0750-3D6C5CE530F8}"/>
              </a:ext>
            </a:extLst>
          </p:cNvPr>
          <p:cNvSpPr>
            <a:spLocks noGrp="1"/>
          </p:cNvSpPr>
          <p:nvPr>
            <p:ph type="sldNum" sz="quarter" idx="5"/>
          </p:nvPr>
        </p:nvSpPr>
        <p:spPr/>
        <p:txBody>
          <a:bodyPr/>
          <a:lstStyle/>
          <a:p>
            <a:fld id="{0C49AC16-2221-4935-809C-2A72A26F729C}" type="slidenum">
              <a:rPr lang="en-US" smtClean="0"/>
              <a:t>275</a:t>
            </a:fld>
            <a:endParaRPr lang="en-US" dirty="0"/>
          </a:p>
        </p:txBody>
      </p:sp>
    </p:spTree>
    <p:extLst>
      <p:ext uri="{BB962C8B-B14F-4D97-AF65-F5344CB8AC3E}">
        <p14:creationId xmlns:p14="http://schemas.microsoft.com/office/powerpoint/2010/main" val="41932149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15E61-58E0-C00B-3487-FEE969B9C2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8A6AF-20E8-12A5-8B27-A2882764DB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5E4C1-EBB0-88B2-1D48-AF37CA3F08D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53DFFE-A717-E9C2-55D9-89E3DED92B69}"/>
              </a:ext>
            </a:extLst>
          </p:cNvPr>
          <p:cNvSpPr>
            <a:spLocks noGrp="1"/>
          </p:cNvSpPr>
          <p:nvPr>
            <p:ph type="sldNum" sz="quarter" idx="5"/>
          </p:nvPr>
        </p:nvSpPr>
        <p:spPr/>
        <p:txBody>
          <a:bodyPr/>
          <a:lstStyle/>
          <a:p>
            <a:fld id="{0C49AC16-2221-4935-809C-2A72A26F729C}" type="slidenum">
              <a:rPr lang="en-US" smtClean="0"/>
              <a:t>276</a:t>
            </a:fld>
            <a:endParaRPr lang="en-US" dirty="0"/>
          </a:p>
        </p:txBody>
      </p:sp>
    </p:spTree>
    <p:extLst>
      <p:ext uri="{BB962C8B-B14F-4D97-AF65-F5344CB8AC3E}">
        <p14:creationId xmlns:p14="http://schemas.microsoft.com/office/powerpoint/2010/main" val="40087641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E7AA0-F52F-5BB5-2188-D29F925EDF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2E08BC-4061-A380-588F-12CB766D4D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DEEB72-E5F3-4104-A361-51F4620394E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DA6F3E8-83DA-3717-EB96-46E96D0E6856}"/>
              </a:ext>
            </a:extLst>
          </p:cNvPr>
          <p:cNvSpPr>
            <a:spLocks noGrp="1"/>
          </p:cNvSpPr>
          <p:nvPr>
            <p:ph type="sldNum" sz="quarter" idx="5"/>
          </p:nvPr>
        </p:nvSpPr>
        <p:spPr/>
        <p:txBody>
          <a:bodyPr/>
          <a:lstStyle/>
          <a:p>
            <a:fld id="{0C49AC16-2221-4935-809C-2A72A26F729C}" type="slidenum">
              <a:rPr lang="en-US" smtClean="0"/>
              <a:t>279</a:t>
            </a:fld>
            <a:endParaRPr lang="en-US" dirty="0"/>
          </a:p>
        </p:txBody>
      </p:sp>
    </p:spTree>
    <p:extLst>
      <p:ext uri="{BB962C8B-B14F-4D97-AF65-F5344CB8AC3E}">
        <p14:creationId xmlns:p14="http://schemas.microsoft.com/office/powerpoint/2010/main" val="33218840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4798A-6B52-3FCC-0D80-93FE22BCF3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5C5C0-24D6-F974-507D-112A35F43F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64F6F3-9708-479F-006A-AD0F52DA3D2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038E68-5A8E-F9F1-6CA5-518FD4708204}"/>
              </a:ext>
            </a:extLst>
          </p:cNvPr>
          <p:cNvSpPr>
            <a:spLocks noGrp="1"/>
          </p:cNvSpPr>
          <p:nvPr>
            <p:ph type="sldNum" sz="quarter" idx="5"/>
          </p:nvPr>
        </p:nvSpPr>
        <p:spPr/>
        <p:txBody>
          <a:bodyPr/>
          <a:lstStyle/>
          <a:p>
            <a:fld id="{0C49AC16-2221-4935-809C-2A72A26F729C}" type="slidenum">
              <a:rPr lang="en-US" smtClean="0"/>
              <a:t>280</a:t>
            </a:fld>
            <a:endParaRPr lang="en-US" dirty="0"/>
          </a:p>
        </p:txBody>
      </p:sp>
    </p:spTree>
    <p:extLst>
      <p:ext uri="{BB962C8B-B14F-4D97-AF65-F5344CB8AC3E}">
        <p14:creationId xmlns:p14="http://schemas.microsoft.com/office/powerpoint/2010/main" val="74960074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AB7F5-7EC2-1957-2B3B-BE27ABE95F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35490-5332-7FF1-20A5-38DD9B8A06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EC4C7-1805-4E57-8210-3EE6E95FF31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1489F6D-43B4-90DE-E727-054CC42C1449}"/>
              </a:ext>
            </a:extLst>
          </p:cNvPr>
          <p:cNvSpPr>
            <a:spLocks noGrp="1"/>
          </p:cNvSpPr>
          <p:nvPr>
            <p:ph type="sldNum" sz="quarter" idx="5"/>
          </p:nvPr>
        </p:nvSpPr>
        <p:spPr/>
        <p:txBody>
          <a:bodyPr/>
          <a:lstStyle/>
          <a:p>
            <a:fld id="{0C49AC16-2221-4935-809C-2A72A26F729C}" type="slidenum">
              <a:rPr lang="en-US" smtClean="0"/>
              <a:t>281</a:t>
            </a:fld>
            <a:endParaRPr lang="en-US" dirty="0"/>
          </a:p>
        </p:txBody>
      </p:sp>
    </p:spTree>
    <p:extLst>
      <p:ext uri="{BB962C8B-B14F-4D97-AF65-F5344CB8AC3E}">
        <p14:creationId xmlns:p14="http://schemas.microsoft.com/office/powerpoint/2010/main" val="1992186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2282F-88AF-94AA-7920-3B4D37E10D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B36E38-18B1-F5DB-52A6-1B9A4E3AA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0CC74D-883C-C7A9-BF52-819344CA8C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8F0231-78E1-AF7D-2645-BAC70E787FDE}"/>
              </a:ext>
            </a:extLst>
          </p:cNvPr>
          <p:cNvSpPr>
            <a:spLocks noGrp="1"/>
          </p:cNvSpPr>
          <p:nvPr>
            <p:ph type="sldNum" sz="quarter" idx="5"/>
          </p:nvPr>
        </p:nvSpPr>
        <p:spPr/>
        <p:txBody>
          <a:bodyPr/>
          <a:lstStyle/>
          <a:p>
            <a:fld id="{0C49AC16-2221-4935-809C-2A72A26F729C}" type="slidenum">
              <a:rPr lang="en-US" smtClean="0"/>
              <a:t>282</a:t>
            </a:fld>
            <a:endParaRPr lang="en-US" dirty="0"/>
          </a:p>
        </p:txBody>
      </p:sp>
    </p:spTree>
    <p:extLst>
      <p:ext uri="{BB962C8B-B14F-4D97-AF65-F5344CB8AC3E}">
        <p14:creationId xmlns:p14="http://schemas.microsoft.com/office/powerpoint/2010/main" val="378521441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F71F-C944-3FBE-24A5-60F5D20B10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0594A2-1180-A85D-85D5-CD73AC2B04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004EDE-59C0-865C-2C13-4CE1EA62341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EB8B16-CAE9-9A34-1400-29F296392762}"/>
              </a:ext>
            </a:extLst>
          </p:cNvPr>
          <p:cNvSpPr>
            <a:spLocks noGrp="1"/>
          </p:cNvSpPr>
          <p:nvPr>
            <p:ph type="sldNum" sz="quarter" idx="5"/>
          </p:nvPr>
        </p:nvSpPr>
        <p:spPr/>
        <p:txBody>
          <a:bodyPr/>
          <a:lstStyle/>
          <a:p>
            <a:fld id="{0C49AC16-2221-4935-809C-2A72A26F729C}" type="slidenum">
              <a:rPr lang="en-US" smtClean="0"/>
              <a:t>283</a:t>
            </a:fld>
            <a:endParaRPr lang="en-US" dirty="0"/>
          </a:p>
        </p:txBody>
      </p:sp>
    </p:spTree>
    <p:extLst>
      <p:ext uri="{BB962C8B-B14F-4D97-AF65-F5344CB8AC3E}">
        <p14:creationId xmlns:p14="http://schemas.microsoft.com/office/powerpoint/2010/main" val="36101608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83B59-34ED-5826-BD99-3CA53A4723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D26746-05B1-4AAA-0BD2-EAFE512B4F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55EA1-6908-B88D-B2E3-26C34C35961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0CEF0C6-15AB-1B09-354A-50BDE4501463}"/>
              </a:ext>
            </a:extLst>
          </p:cNvPr>
          <p:cNvSpPr>
            <a:spLocks noGrp="1"/>
          </p:cNvSpPr>
          <p:nvPr>
            <p:ph type="sldNum" sz="quarter" idx="5"/>
          </p:nvPr>
        </p:nvSpPr>
        <p:spPr/>
        <p:txBody>
          <a:bodyPr/>
          <a:lstStyle/>
          <a:p>
            <a:fld id="{0C49AC16-2221-4935-809C-2A72A26F729C}" type="slidenum">
              <a:rPr lang="en-US" smtClean="0"/>
              <a:t>284</a:t>
            </a:fld>
            <a:endParaRPr lang="en-US" dirty="0"/>
          </a:p>
        </p:txBody>
      </p:sp>
    </p:spTree>
    <p:extLst>
      <p:ext uri="{BB962C8B-B14F-4D97-AF65-F5344CB8AC3E}">
        <p14:creationId xmlns:p14="http://schemas.microsoft.com/office/powerpoint/2010/main" val="41171042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52D6B-B09C-87D1-AAF8-8733773DC7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0D56B2-D4FA-89E1-B1F7-63E0D72755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17DC9D-34CB-83E4-5380-BD2CAD559BB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1F115EC-2F70-341D-4D9A-CD936B85EBBB}"/>
              </a:ext>
            </a:extLst>
          </p:cNvPr>
          <p:cNvSpPr>
            <a:spLocks noGrp="1"/>
          </p:cNvSpPr>
          <p:nvPr>
            <p:ph type="sldNum" sz="quarter" idx="5"/>
          </p:nvPr>
        </p:nvSpPr>
        <p:spPr/>
        <p:txBody>
          <a:bodyPr/>
          <a:lstStyle/>
          <a:p>
            <a:fld id="{0C49AC16-2221-4935-809C-2A72A26F729C}" type="slidenum">
              <a:rPr lang="en-US" smtClean="0"/>
              <a:t>285</a:t>
            </a:fld>
            <a:endParaRPr lang="en-US" dirty="0"/>
          </a:p>
        </p:txBody>
      </p:sp>
    </p:spTree>
    <p:extLst>
      <p:ext uri="{BB962C8B-B14F-4D97-AF65-F5344CB8AC3E}">
        <p14:creationId xmlns:p14="http://schemas.microsoft.com/office/powerpoint/2010/main" val="34089548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240BD-8CAA-2745-EF73-1A56858E7B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1682B-83E0-A5BA-5180-AC927A1651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9B867-7477-EE87-CD07-7F9A328F5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1F909B-F450-F027-64C7-AE84D2214C44}"/>
              </a:ext>
            </a:extLst>
          </p:cNvPr>
          <p:cNvSpPr>
            <a:spLocks noGrp="1"/>
          </p:cNvSpPr>
          <p:nvPr>
            <p:ph type="sldNum" sz="quarter" idx="5"/>
          </p:nvPr>
        </p:nvSpPr>
        <p:spPr/>
        <p:txBody>
          <a:bodyPr/>
          <a:lstStyle/>
          <a:p>
            <a:fld id="{0C49AC16-2221-4935-809C-2A72A26F729C}" type="slidenum">
              <a:rPr lang="en-US" smtClean="0"/>
              <a:t>286</a:t>
            </a:fld>
            <a:endParaRPr lang="en-US" dirty="0"/>
          </a:p>
        </p:txBody>
      </p:sp>
    </p:spTree>
    <p:extLst>
      <p:ext uri="{BB962C8B-B14F-4D97-AF65-F5344CB8AC3E}">
        <p14:creationId xmlns:p14="http://schemas.microsoft.com/office/powerpoint/2010/main" val="29391579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B3CB7-0DD1-64E6-64C8-CEDB3AFC03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F8BF61-F22B-7E24-E4E9-3E239182C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86AC0-FE3C-012E-C572-A15EF5765B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8A1EB00-D8D0-0E04-FC78-5E9BBA8E5B67}"/>
              </a:ext>
            </a:extLst>
          </p:cNvPr>
          <p:cNvSpPr>
            <a:spLocks noGrp="1"/>
          </p:cNvSpPr>
          <p:nvPr>
            <p:ph type="sldNum" sz="quarter" idx="5"/>
          </p:nvPr>
        </p:nvSpPr>
        <p:spPr/>
        <p:txBody>
          <a:bodyPr/>
          <a:lstStyle/>
          <a:p>
            <a:fld id="{0C49AC16-2221-4935-809C-2A72A26F729C}" type="slidenum">
              <a:rPr lang="en-US" smtClean="0"/>
              <a:t>287</a:t>
            </a:fld>
            <a:endParaRPr lang="en-US" dirty="0"/>
          </a:p>
        </p:txBody>
      </p:sp>
    </p:spTree>
    <p:extLst>
      <p:ext uri="{BB962C8B-B14F-4D97-AF65-F5344CB8AC3E}">
        <p14:creationId xmlns:p14="http://schemas.microsoft.com/office/powerpoint/2010/main" val="387017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09F18-AAC6-68AF-6572-5B6E8C99DD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CD88BD-6571-4277-6DBA-A55815CC53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4B3264-063C-8473-F79D-9D004AA710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265D22-265B-7A43-9045-ADC8192773F7}"/>
              </a:ext>
            </a:extLst>
          </p:cNvPr>
          <p:cNvSpPr>
            <a:spLocks noGrp="1"/>
          </p:cNvSpPr>
          <p:nvPr>
            <p:ph type="sldNum" sz="quarter" idx="5"/>
          </p:nvPr>
        </p:nvSpPr>
        <p:spPr/>
        <p:txBody>
          <a:bodyPr/>
          <a:lstStyle/>
          <a:p>
            <a:fld id="{0C49AC16-2221-4935-809C-2A72A26F729C}" type="slidenum">
              <a:rPr lang="en-US" smtClean="0"/>
              <a:t>288</a:t>
            </a:fld>
            <a:endParaRPr lang="en-US" dirty="0"/>
          </a:p>
        </p:txBody>
      </p:sp>
    </p:spTree>
    <p:extLst>
      <p:ext uri="{BB962C8B-B14F-4D97-AF65-F5344CB8AC3E}">
        <p14:creationId xmlns:p14="http://schemas.microsoft.com/office/powerpoint/2010/main" val="3403481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F413-B959-8D22-6B07-5A821AAF2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7050F5-63BC-03DC-EDF2-7CAE793294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AE506A-6238-E9EC-7E09-827FE09623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98EAC4D-50E1-CEAC-821A-63F2A614845A}"/>
              </a:ext>
            </a:extLst>
          </p:cNvPr>
          <p:cNvSpPr>
            <a:spLocks noGrp="1"/>
          </p:cNvSpPr>
          <p:nvPr>
            <p:ph type="sldNum" sz="quarter" idx="5"/>
          </p:nvPr>
        </p:nvSpPr>
        <p:spPr/>
        <p:txBody>
          <a:bodyPr/>
          <a:lstStyle/>
          <a:p>
            <a:fld id="{0C49AC16-2221-4935-809C-2A72A26F729C}" type="slidenum">
              <a:rPr lang="en-US" smtClean="0"/>
              <a:t>289</a:t>
            </a:fld>
            <a:endParaRPr lang="en-US" dirty="0"/>
          </a:p>
        </p:txBody>
      </p:sp>
    </p:spTree>
    <p:extLst>
      <p:ext uri="{BB962C8B-B14F-4D97-AF65-F5344CB8AC3E}">
        <p14:creationId xmlns:p14="http://schemas.microsoft.com/office/powerpoint/2010/main" val="33780780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F585A-1446-04CA-7946-11E95FD2B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7534B-DDE3-BD73-4234-EFAB250D60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05BC94-8AEE-2AF0-AF08-5D1F12D661E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7FA084B-B8EB-EDBE-70B3-78FA17D0A03A}"/>
              </a:ext>
            </a:extLst>
          </p:cNvPr>
          <p:cNvSpPr>
            <a:spLocks noGrp="1"/>
          </p:cNvSpPr>
          <p:nvPr>
            <p:ph type="sldNum" sz="quarter" idx="5"/>
          </p:nvPr>
        </p:nvSpPr>
        <p:spPr/>
        <p:txBody>
          <a:bodyPr/>
          <a:lstStyle/>
          <a:p>
            <a:fld id="{0C49AC16-2221-4935-809C-2A72A26F729C}" type="slidenum">
              <a:rPr lang="en-US" smtClean="0"/>
              <a:t>290</a:t>
            </a:fld>
            <a:endParaRPr lang="en-US" dirty="0"/>
          </a:p>
        </p:txBody>
      </p:sp>
    </p:spTree>
    <p:extLst>
      <p:ext uri="{BB962C8B-B14F-4D97-AF65-F5344CB8AC3E}">
        <p14:creationId xmlns:p14="http://schemas.microsoft.com/office/powerpoint/2010/main" val="165462241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A25C3-98AE-8786-7A85-9A9B06D016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3EC2AC-EF07-C2CB-206D-5E82ED61BB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29CB-080A-88C9-534B-C8EC3611701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E018A6-7E84-EEE1-4885-4B4CB2F5012D}"/>
              </a:ext>
            </a:extLst>
          </p:cNvPr>
          <p:cNvSpPr>
            <a:spLocks noGrp="1"/>
          </p:cNvSpPr>
          <p:nvPr>
            <p:ph type="sldNum" sz="quarter" idx="5"/>
          </p:nvPr>
        </p:nvSpPr>
        <p:spPr/>
        <p:txBody>
          <a:bodyPr/>
          <a:lstStyle/>
          <a:p>
            <a:fld id="{0C49AC16-2221-4935-809C-2A72A26F729C}" type="slidenum">
              <a:rPr lang="en-US" smtClean="0"/>
              <a:t>291</a:t>
            </a:fld>
            <a:endParaRPr lang="en-US" dirty="0"/>
          </a:p>
        </p:txBody>
      </p:sp>
    </p:spTree>
    <p:extLst>
      <p:ext uri="{BB962C8B-B14F-4D97-AF65-F5344CB8AC3E}">
        <p14:creationId xmlns:p14="http://schemas.microsoft.com/office/powerpoint/2010/main" val="164172389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D61E0-0F77-F199-7471-61BD306655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B5B4A0-9159-C983-655C-5F42FDC88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9D52F8-B3EC-D2DE-9859-4861289E9F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A61E040-33FB-A4B8-28C6-68911FA5EEFD}"/>
              </a:ext>
            </a:extLst>
          </p:cNvPr>
          <p:cNvSpPr>
            <a:spLocks noGrp="1"/>
          </p:cNvSpPr>
          <p:nvPr>
            <p:ph type="sldNum" sz="quarter" idx="5"/>
          </p:nvPr>
        </p:nvSpPr>
        <p:spPr/>
        <p:txBody>
          <a:bodyPr/>
          <a:lstStyle/>
          <a:p>
            <a:fld id="{0C49AC16-2221-4935-809C-2A72A26F729C}" type="slidenum">
              <a:rPr lang="en-US" smtClean="0"/>
              <a:t>292</a:t>
            </a:fld>
            <a:endParaRPr lang="en-US" dirty="0"/>
          </a:p>
        </p:txBody>
      </p:sp>
    </p:spTree>
    <p:extLst>
      <p:ext uri="{BB962C8B-B14F-4D97-AF65-F5344CB8AC3E}">
        <p14:creationId xmlns:p14="http://schemas.microsoft.com/office/powerpoint/2010/main" val="41607719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32C75-488C-BF0A-D435-82AF69CB68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AFB22D-A9F0-C031-04E3-B0ED059533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4EA37E-E537-9A88-02C1-8033D09526C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914CCE7-ED29-D1BD-15D9-A78C128DA144}"/>
              </a:ext>
            </a:extLst>
          </p:cNvPr>
          <p:cNvSpPr>
            <a:spLocks noGrp="1"/>
          </p:cNvSpPr>
          <p:nvPr>
            <p:ph type="sldNum" sz="quarter" idx="5"/>
          </p:nvPr>
        </p:nvSpPr>
        <p:spPr/>
        <p:txBody>
          <a:bodyPr/>
          <a:lstStyle/>
          <a:p>
            <a:fld id="{0C49AC16-2221-4935-809C-2A72A26F729C}" type="slidenum">
              <a:rPr lang="en-US" smtClean="0"/>
              <a:t>293</a:t>
            </a:fld>
            <a:endParaRPr lang="en-US" dirty="0"/>
          </a:p>
        </p:txBody>
      </p:sp>
    </p:spTree>
    <p:extLst>
      <p:ext uri="{BB962C8B-B14F-4D97-AF65-F5344CB8AC3E}">
        <p14:creationId xmlns:p14="http://schemas.microsoft.com/office/powerpoint/2010/main" val="123788953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A42EF-D169-8A81-7B26-09CF45F99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671FE9-5A41-962E-63F8-ABAD58451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E9E4A0-93D7-9B44-84F9-824DDADD8FF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9690DC-3668-A96D-8B0D-8388FFC438C8}"/>
              </a:ext>
            </a:extLst>
          </p:cNvPr>
          <p:cNvSpPr>
            <a:spLocks noGrp="1"/>
          </p:cNvSpPr>
          <p:nvPr>
            <p:ph type="sldNum" sz="quarter" idx="5"/>
          </p:nvPr>
        </p:nvSpPr>
        <p:spPr/>
        <p:txBody>
          <a:bodyPr/>
          <a:lstStyle/>
          <a:p>
            <a:fld id="{0C49AC16-2221-4935-809C-2A72A26F729C}" type="slidenum">
              <a:rPr lang="en-US" smtClean="0"/>
              <a:t>294</a:t>
            </a:fld>
            <a:endParaRPr lang="en-US" dirty="0"/>
          </a:p>
        </p:txBody>
      </p:sp>
    </p:spTree>
    <p:extLst>
      <p:ext uri="{BB962C8B-B14F-4D97-AF65-F5344CB8AC3E}">
        <p14:creationId xmlns:p14="http://schemas.microsoft.com/office/powerpoint/2010/main" val="33795205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881A3-43B5-C928-10C8-CE6662CD9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A7A0E-9D34-F305-7CF6-DA1D43B70F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44C052-7337-79DC-4E06-3CFFCAD868A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F962208-A418-256E-E339-D8C8F31383FF}"/>
              </a:ext>
            </a:extLst>
          </p:cNvPr>
          <p:cNvSpPr>
            <a:spLocks noGrp="1"/>
          </p:cNvSpPr>
          <p:nvPr>
            <p:ph type="sldNum" sz="quarter" idx="5"/>
          </p:nvPr>
        </p:nvSpPr>
        <p:spPr/>
        <p:txBody>
          <a:bodyPr/>
          <a:lstStyle/>
          <a:p>
            <a:fld id="{0C49AC16-2221-4935-809C-2A72A26F729C}" type="slidenum">
              <a:rPr lang="en-US" smtClean="0"/>
              <a:t>295</a:t>
            </a:fld>
            <a:endParaRPr lang="en-US" dirty="0"/>
          </a:p>
        </p:txBody>
      </p:sp>
    </p:spTree>
    <p:extLst>
      <p:ext uri="{BB962C8B-B14F-4D97-AF65-F5344CB8AC3E}">
        <p14:creationId xmlns:p14="http://schemas.microsoft.com/office/powerpoint/2010/main" val="271174716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D7C5B-CE80-651B-A447-3D522CD894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500DA-5AE3-529B-66AD-07EC836547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74AD72-3133-1F2A-F883-6EFA139BB8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CD29B2-5D1E-362C-9571-DAF848C10A5C}"/>
              </a:ext>
            </a:extLst>
          </p:cNvPr>
          <p:cNvSpPr>
            <a:spLocks noGrp="1"/>
          </p:cNvSpPr>
          <p:nvPr>
            <p:ph type="sldNum" sz="quarter" idx="5"/>
          </p:nvPr>
        </p:nvSpPr>
        <p:spPr/>
        <p:txBody>
          <a:bodyPr/>
          <a:lstStyle/>
          <a:p>
            <a:fld id="{0C49AC16-2221-4935-809C-2A72A26F729C}" type="slidenum">
              <a:rPr lang="en-US" smtClean="0"/>
              <a:t>296</a:t>
            </a:fld>
            <a:endParaRPr lang="en-US" dirty="0"/>
          </a:p>
        </p:txBody>
      </p:sp>
    </p:spTree>
    <p:extLst>
      <p:ext uri="{BB962C8B-B14F-4D97-AF65-F5344CB8AC3E}">
        <p14:creationId xmlns:p14="http://schemas.microsoft.com/office/powerpoint/2010/main" val="32501518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833AF-F786-8B00-EBBC-D3199B839A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E40D1-F2FD-B2D2-61BB-E85D97611A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57449F-BDBE-3704-E4BD-AC04FABAAC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E9E949-3045-376B-10C9-E1C776B7B2CC}"/>
              </a:ext>
            </a:extLst>
          </p:cNvPr>
          <p:cNvSpPr>
            <a:spLocks noGrp="1"/>
          </p:cNvSpPr>
          <p:nvPr>
            <p:ph type="sldNum" sz="quarter" idx="5"/>
          </p:nvPr>
        </p:nvSpPr>
        <p:spPr/>
        <p:txBody>
          <a:bodyPr/>
          <a:lstStyle/>
          <a:p>
            <a:fld id="{0C49AC16-2221-4935-809C-2A72A26F729C}" type="slidenum">
              <a:rPr lang="en-US" smtClean="0"/>
              <a:t>297</a:t>
            </a:fld>
            <a:endParaRPr lang="en-US" dirty="0"/>
          </a:p>
        </p:txBody>
      </p:sp>
    </p:spTree>
    <p:extLst>
      <p:ext uri="{BB962C8B-B14F-4D97-AF65-F5344CB8AC3E}">
        <p14:creationId xmlns:p14="http://schemas.microsoft.com/office/powerpoint/2010/main" val="65964354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8D54E-4073-E34D-32F1-60AF8D9BF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8239B9-1BB4-E362-C799-639E597382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EB3F82-9F3E-6E25-6F17-8588439C1D9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DE03D0C-B88B-496D-9714-5376C99F752F}"/>
              </a:ext>
            </a:extLst>
          </p:cNvPr>
          <p:cNvSpPr>
            <a:spLocks noGrp="1"/>
          </p:cNvSpPr>
          <p:nvPr>
            <p:ph type="sldNum" sz="quarter" idx="5"/>
          </p:nvPr>
        </p:nvSpPr>
        <p:spPr/>
        <p:txBody>
          <a:bodyPr/>
          <a:lstStyle/>
          <a:p>
            <a:fld id="{0C49AC16-2221-4935-809C-2A72A26F729C}" type="slidenum">
              <a:rPr lang="en-US" smtClean="0"/>
              <a:t>298</a:t>
            </a:fld>
            <a:endParaRPr lang="en-US" dirty="0"/>
          </a:p>
        </p:txBody>
      </p:sp>
    </p:spTree>
    <p:extLst>
      <p:ext uri="{BB962C8B-B14F-4D97-AF65-F5344CB8AC3E}">
        <p14:creationId xmlns:p14="http://schemas.microsoft.com/office/powerpoint/2010/main" val="31603526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D39D0-10E7-A1BD-58D7-7ACE9505FF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62BD4-208E-A2CE-5E34-86CC3A991E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2CACA8-8BF0-606C-9FCF-F20E2701812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3D42EE-4027-BB70-E155-C725BE79B4FC}"/>
              </a:ext>
            </a:extLst>
          </p:cNvPr>
          <p:cNvSpPr>
            <a:spLocks noGrp="1"/>
          </p:cNvSpPr>
          <p:nvPr>
            <p:ph type="sldNum" sz="quarter" idx="5"/>
          </p:nvPr>
        </p:nvSpPr>
        <p:spPr/>
        <p:txBody>
          <a:bodyPr/>
          <a:lstStyle/>
          <a:p>
            <a:fld id="{0C49AC16-2221-4935-809C-2A72A26F729C}" type="slidenum">
              <a:rPr lang="en-US" smtClean="0"/>
              <a:t>299</a:t>
            </a:fld>
            <a:endParaRPr lang="en-US" dirty="0"/>
          </a:p>
        </p:txBody>
      </p:sp>
    </p:spTree>
    <p:extLst>
      <p:ext uri="{BB962C8B-B14F-4D97-AF65-F5344CB8AC3E}">
        <p14:creationId xmlns:p14="http://schemas.microsoft.com/office/powerpoint/2010/main" val="3818562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9F36D-B1D9-7F57-4DB5-415521D0E8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9A3D17-1129-0603-E31A-640F82C4BD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17A36-69BA-EDD9-384B-603DA8AD030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4E997F1-6377-4D03-27A8-E6D8917E996A}"/>
              </a:ext>
            </a:extLst>
          </p:cNvPr>
          <p:cNvSpPr>
            <a:spLocks noGrp="1"/>
          </p:cNvSpPr>
          <p:nvPr>
            <p:ph type="sldNum" sz="quarter" idx="5"/>
          </p:nvPr>
        </p:nvSpPr>
        <p:spPr/>
        <p:txBody>
          <a:bodyPr/>
          <a:lstStyle/>
          <a:p>
            <a:fld id="{0C49AC16-2221-4935-809C-2A72A26F729C}" type="slidenum">
              <a:rPr lang="en-US" smtClean="0"/>
              <a:t>300</a:t>
            </a:fld>
            <a:endParaRPr lang="en-US" dirty="0"/>
          </a:p>
        </p:txBody>
      </p:sp>
    </p:spTree>
    <p:extLst>
      <p:ext uri="{BB962C8B-B14F-4D97-AF65-F5344CB8AC3E}">
        <p14:creationId xmlns:p14="http://schemas.microsoft.com/office/powerpoint/2010/main" val="415316299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9A5EE-9F7E-9128-6530-5E483186E4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A2B610-8A2B-AE37-863B-AF1CEE16F8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CA6E14-1658-8C8B-7DC6-70BB21FC8C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E5FB3B-CEAF-BB1D-48A0-DA20D5BF1C54}"/>
              </a:ext>
            </a:extLst>
          </p:cNvPr>
          <p:cNvSpPr>
            <a:spLocks noGrp="1"/>
          </p:cNvSpPr>
          <p:nvPr>
            <p:ph type="sldNum" sz="quarter" idx="5"/>
          </p:nvPr>
        </p:nvSpPr>
        <p:spPr/>
        <p:txBody>
          <a:bodyPr/>
          <a:lstStyle/>
          <a:p>
            <a:fld id="{0C49AC16-2221-4935-809C-2A72A26F729C}" type="slidenum">
              <a:rPr lang="en-US" smtClean="0"/>
              <a:t>301</a:t>
            </a:fld>
            <a:endParaRPr lang="en-US" dirty="0"/>
          </a:p>
        </p:txBody>
      </p:sp>
    </p:spTree>
    <p:extLst>
      <p:ext uri="{BB962C8B-B14F-4D97-AF65-F5344CB8AC3E}">
        <p14:creationId xmlns:p14="http://schemas.microsoft.com/office/powerpoint/2010/main" val="41041516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A0305-EEF3-812D-8304-0E37130376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99FD1-0B73-69A2-04A4-8415411807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2B2568-F31B-4A7C-DD33-4AAED8B0201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4767FC3-B090-EC0C-D304-204EC554C1BB}"/>
              </a:ext>
            </a:extLst>
          </p:cNvPr>
          <p:cNvSpPr>
            <a:spLocks noGrp="1"/>
          </p:cNvSpPr>
          <p:nvPr>
            <p:ph type="sldNum" sz="quarter" idx="5"/>
          </p:nvPr>
        </p:nvSpPr>
        <p:spPr/>
        <p:txBody>
          <a:bodyPr/>
          <a:lstStyle/>
          <a:p>
            <a:fld id="{0C49AC16-2221-4935-809C-2A72A26F729C}" type="slidenum">
              <a:rPr lang="en-US" smtClean="0"/>
              <a:t>302</a:t>
            </a:fld>
            <a:endParaRPr lang="en-US" dirty="0"/>
          </a:p>
        </p:txBody>
      </p:sp>
    </p:spTree>
    <p:extLst>
      <p:ext uri="{BB962C8B-B14F-4D97-AF65-F5344CB8AC3E}">
        <p14:creationId xmlns:p14="http://schemas.microsoft.com/office/powerpoint/2010/main" val="1582867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33C69-2264-0A42-26D2-AE59DE27FB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2FA75F-5E4E-B1B7-4901-14245F0B82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2E6C3B-12FB-1287-4208-37A1A2DF04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017CA7-7D0A-B553-D566-278F08D6A507}"/>
              </a:ext>
            </a:extLst>
          </p:cNvPr>
          <p:cNvSpPr>
            <a:spLocks noGrp="1"/>
          </p:cNvSpPr>
          <p:nvPr>
            <p:ph type="sldNum" sz="quarter" idx="5"/>
          </p:nvPr>
        </p:nvSpPr>
        <p:spPr/>
        <p:txBody>
          <a:bodyPr/>
          <a:lstStyle/>
          <a:p>
            <a:fld id="{0C49AC16-2221-4935-809C-2A72A26F729C}" type="slidenum">
              <a:rPr lang="en-US" smtClean="0"/>
              <a:t>303</a:t>
            </a:fld>
            <a:endParaRPr lang="en-US" dirty="0"/>
          </a:p>
        </p:txBody>
      </p:sp>
    </p:spTree>
    <p:extLst>
      <p:ext uri="{BB962C8B-B14F-4D97-AF65-F5344CB8AC3E}">
        <p14:creationId xmlns:p14="http://schemas.microsoft.com/office/powerpoint/2010/main" val="365301890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A6CCF-BAE2-7A36-CD68-7CA3810491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680680-D76B-8421-D4E9-10E90C607C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E41B42-3C39-2D1A-4066-505724A0E7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8BF1732-E4DE-2F93-2393-C2EB6286CDAE}"/>
              </a:ext>
            </a:extLst>
          </p:cNvPr>
          <p:cNvSpPr>
            <a:spLocks noGrp="1"/>
          </p:cNvSpPr>
          <p:nvPr>
            <p:ph type="sldNum" sz="quarter" idx="5"/>
          </p:nvPr>
        </p:nvSpPr>
        <p:spPr/>
        <p:txBody>
          <a:bodyPr/>
          <a:lstStyle/>
          <a:p>
            <a:fld id="{0C49AC16-2221-4935-809C-2A72A26F729C}" type="slidenum">
              <a:rPr lang="en-US" smtClean="0"/>
              <a:t>304</a:t>
            </a:fld>
            <a:endParaRPr lang="en-US" dirty="0"/>
          </a:p>
        </p:txBody>
      </p:sp>
    </p:spTree>
    <p:extLst>
      <p:ext uri="{BB962C8B-B14F-4D97-AF65-F5344CB8AC3E}">
        <p14:creationId xmlns:p14="http://schemas.microsoft.com/office/powerpoint/2010/main" val="248065919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335C6-91B2-612D-C311-D5A5117976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106F6-7DDE-CD71-176D-AA9C5EC37C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D053F-694F-2977-EF74-4CBD364E476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E224580-6699-1410-D906-D227F56D7DBE}"/>
              </a:ext>
            </a:extLst>
          </p:cNvPr>
          <p:cNvSpPr>
            <a:spLocks noGrp="1"/>
          </p:cNvSpPr>
          <p:nvPr>
            <p:ph type="sldNum" sz="quarter" idx="5"/>
          </p:nvPr>
        </p:nvSpPr>
        <p:spPr/>
        <p:txBody>
          <a:bodyPr/>
          <a:lstStyle/>
          <a:p>
            <a:fld id="{0C49AC16-2221-4935-809C-2A72A26F729C}" type="slidenum">
              <a:rPr lang="en-US" smtClean="0"/>
              <a:t>305</a:t>
            </a:fld>
            <a:endParaRPr lang="en-US" dirty="0"/>
          </a:p>
        </p:txBody>
      </p:sp>
    </p:spTree>
    <p:extLst>
      <p:ext uri="{BB962C8B-B14F-4D97-AF65-F5344CB8AC3E}">
        <p14:creationId xmlns:p14="http://schemas.microsoft.com/office/powerpoint/2010/main" val="228681422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D835F-E399-7CB0-C06E-2F5DE9A9E4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11A0F6-6927-9A83-A8EF-FD7138318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621105-9599-4430-8691-10BD08FD0A3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975F639-BEC7-FB58-9C9E-7E548707AE6E}"/>
              </a:ext>
            </a:extLst>
          </p:cNvPr>
          <p:cNvSpPr>
            <a:spLocks noGrp="1"/>
          </p:cNvSpPr>
          <p:nvPr>
            <p:ph type="sldNum" sz="quarter" idx="5"/>
          </p:nvPr>
        </p:nvSpPr>
        <p:spPr/>
        <p:txBody>
          <a:bodyPr/>
          <a:lstStyle/>
          <a:p>
            <a:fld id="{0C49AC16-2221-4935-809C-2A72A26F729C}" type="slidenum">
              <a:rPr lang="en-US" smtClean="0"/>
              <a:t>306</a:t>
            </a:fld>
            <a:endParaRPr lang="en-US" dirty="0"/>
          </a:p>
        </p:txBody>
      </p:sp>
    </p:spTree>
    <p:extLst>
      <p:ext uri="{BB962C8B-B14F-4D97-AF65-F5344CB8AC3E}">
        <p14:creationId xmlns:p14="http://schemas.microsoft.com/office/powerpoint/2010/main" val="27726284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A4A00-95D6-2E87-51E4-DC39E0905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66F8A1-8144-1618-1604-DA4073D7F2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72C401-E1ED-0934-380F-437B9E6A45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6F9E4F-C039-75BB-0ED5-DE8F2B0A97CD}"/>
              </a:ext>
            </a:extLst>
          </p:cNvPr>
          <p:cNvSpPr>
            <a:spLocks noGrp="1"/>
          </p:cNvSpPr>
          <p:nvPr>
            <p:ph type="sldNum" sz="quarter" idx="5"/>
          </p:nvPr>
        </p:nvSpPr>
        <p:spPr/>
        <p:txBody>
          <a:bodyPr/>
          <a:lstStyle/>
          <a:p>
            <a:fld id="{0C49AC16-2221-4935-809C-2A72A26F729C}" type="slidenum">
              <a:rPr lang="en-US" smtClean="0"/>
              <a:t>307</a:t>
            </a:fld>
            <a:endParaRPr lang="en-US" dirty="0"/>
          </a:p>
        </p:txBody>
      </p:sp>
    </p:spTree>
    <p:extLst>
      <p:ext uri="{BB962C8B-B14F-4D97-AF65-F5344CB8AC3E}">
        <p14:creationId xmlns:p14="http://schemas.microsoft.com/office/powerpoint/2010/main" val="143465379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9DC8E-3BF5-A3B6-2C3F-95F8E6DFBB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87ED4C-9693-F20C-6E67-849C95124E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681FFD-53BF-1269-B176-CE0CF51EEA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5F9BA2-B78A-CDB0-611A-33989E116534}"/>
              </a:ext>
            </a:extLst>
          </p:cNvPr>
          <p:cNvSpPr>
            <a:spLocks noGrp="1"/>
          </p:cNvSpPr>
          <p:nvPr>
            <p:ph type="sldNum" sz="quarter" idx="5"/>
          </p:nvPr>
        </p:nvSpPr>
        <p:spPr/>
        <p:txBody>
          <a:bodyPr/>
          <a:lstStyle/>
          <a:p>
            <a:fld id="{0C49AC16-2221-4935-809C-2A72A26F729C}" type="slidenum">
              <a:rPr lang="en-US" smtClean="0"/>
              <a:t>308</a:t>
            </a:fld>
            <a:endParaRPr lang="en-US" dirty="0"/>
          </a:p>
        </p:txBody>
      </p:sp>
    </p:spTree>
    <p:extLst>
      <p:ext uri="{BB962C8B-B14F-4D97-AF65-F5344CB8AC3E}">
        <p14:creationId xmlns:p14="http://schemas.microsoft.com/office/powerpoint/2010/main" val="273167407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2B569-01FE-9DEB-0737-EFA7162DE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5EBE63-2E13-B513-9D03-5D24FDB7AA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B0E5FC-8A36-2461-7F10-1B7CBCBD09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87708C-D56F-4270-B7D5-F4C4BD36C9BE}"/>
              </a:ext>
            </a:extLst>
          </p:cNvPr>
          <p:cNvSpPr>
            <a:spLocks noGrp="1"/>
          </p:cNvSpPr>
          <p:nvPr>
            <p:ph type="sldNum" sz="quarter" idx="5"/>
          </p:nvPr>
        </p:nvSpPr>
        <p:spPr/>
        <p:txBody>
          <a:bodyPr/>
          <a:lstStyle/>
          <a:p>
            <a:fld id="{0C49AC16-2221-4935-809C-2A72A26F729C}" type="slidenum">
              <a:rPr lang="en-US" smtClean="0"/>
              <a:t>309</a:t>
            </a:fld>
            <a:endParaRPr lang="en-US" dirty="0"/>
          </a:p>
        </p:txBody>
      </p:sp>
    </p:spTree>
    <p:extLst>
      <p:ext uri="{BB962C8B-B14F-4D97-AF65-F5344CB8AC3E}">
        <p14:creationId xmlns:p14="http://schemas.microsoft.com/office/powerpoint/2010/main" val="9207537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CF084-DB38-C3E5-A4BA-9C7A702123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423B29-3FDB-51FA-D131-3EEB058BAA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7602DF-34E2-9339-9A34-4CD40032B38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D33C9B3-2803-D0FB-A120-3B12206EF52C}"/>
              </a:ext>
            </a:extLst>
          </p:cNvPr>
          <p:cNvSpPr>
            <a:spLocks noGrp="1"/>
          </p:cNvSpPr>
          <p:nvPr>
            <p:ph type="sldNum" sz="quarter" idx="5"/>
          </p:nvPr>
        </p:nvSpPr>
        <p:spPr/>
        <p:txBody>
          <a:bodyPr/>
          <a:lstStyle/>
          <a:p>
            <a:fld id="{0C49AC16-2221-4935-809C-2A72A26F729C}" type="slidenum">
              <a:rPr lang="en-US" smtClean="0"/>
              <a:t>310</a:t>
            </a:fld>
            <a:endParaRPr lang="en-US" dirty="0"/>
          </a:p>
        </p:txBody>
      </p:sp>
    </p:spTree>
    <p:extLst>
      <p:ext uri="{BB962C8B-B14F-4D97-AF65-F5344CB8AC3E}">
        <p14:creationId xmlns:p14="http://schemas.microsoft.com/office/powerpoint/2010/main" val="194888721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3612D-C0A9-CF02-3C95-3BE78CC2D1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4C8444-2F24-413F-22ED-C1D45EF3CA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9F1920-381F-48D4-43D0-F5BAB4222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1566D09-665F-F58A-5AB4-7DE26BDE3B0D}"/>
              </a:ext>
            </a:extLst>
          </p:cNvPr>
          <p:cNvSpPr>
            <a:spLocks noGrp="1"/>
          </p:cNvSpPr>
          <p:nvPr>
            <p:ph type="sldNum" sz="quarter" idx="5"/>
          </p:nvPr>
        </p:nvSpPr>
        <p:spPr/>
        <p:txBody>
          <a:bodyPr/>
          <a:lstStyle/>
          <a:p>
            <a:fld id="{0C49AC16-2221-4935-809C-2A72A26F729C}" type="slidenum">
              <a:rPr lang="en-US" smtClean="0"/>
              <a:t>311</a:t>
            </a:fld>
            <a:endParaRPr lang="en-US" dirty="0"/>
          </a:p>
        </p:txBody>
      </p:sp>
    </p:spTree>
    <p:extLst>
      <p:ext uri="{BB962C8B-B14F-4D97-AF65-F5344CB8AC3E}">
        <p14:creationId xmlns:p14="http://schemas.microsoft.com/office/powerpoint/2010/main" val="358218354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3B6A1-2B9F-3A7D-193E-9AC0E6B73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3F3CE0-C63B-8D2B-F212-B3D40ECB26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76134E-891A-09BB-55FF-0CE3EC44CF3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51A557-EF00-A008-9391-AA530110DA57}"/>
              </a:ext>
            </a:extLst>
          </p:cNvPr>
          <p:cNvSpPr>
            <a:spLocks noGrp="1"/>
          </p:cNvSpPr>
          <p:nvPr>
            <p:ph type="sldNum" sz="quarter" idx="5"/>
          </p:nvPr>
        </p:nvSpPr>
        <p:spPr/>
        <p:txBody>
          <a:bodyPr/>
          <a:lstStyle/>
          <a:p>
            <a:fld id="{0C49AC16-2221-4935-809C-2A72A26F729C}" type="slidenum">
              <a:rPr lang="en-US" smtClean="0"/>
              <a:t>312</a:t>
            </a:fld>
            <a:endParaRPr lang="en-US" dirty="0"/>
          </a:p>
        </p:txBody>
      </p:sp>
    </p:spTree>
    <p:extLst>
      <p:ext uri="{BB962C8B-B14F-4D97-AF65-F5344CB8AC3E}">
        <p14:creationId xmlns:p14="http://schemas.microsoft.com/office/powerpoint/2010/main" val="9550636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26D54-835B-5979-F8B8-72BE298AD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B2650D-6167-50A8-8969-F1BDC07E05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6913B4-6DB1-F34E-53D2-DF4193E8C07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4A9335-9DBE-D39F-D691-58358FB7A406}"/>
              </a:ext>
            </a:extLst>
          </p:cNvPr>
          <p:cNvSpPr>
            <a:spLocks noGrp="1"/>
          </p:cNvSpPr>
          <p:nvPr>
            <p:ph type="sldNum" sz="quarter" idx="5"/>
          </p:nvPr>
        </p:nvSpPr>
        <p:spPr/>
        <p:txBody>
          <a:bodyPr/>
          <a:lstStyle/>
          <a:p>
            <a:fld id="{0C49AC16-2221-4935-809C-2A72A26F729C}" type="slidenum">
              <a:rPr lang="en-US" smtClean="0"/>
              <a:t>313</a:t>
            </a:fld>
            <a:endParaRPr lang="en-US" dirty="0"/>
          </a:p>
        </p:txBody>
      </p:sp>
    </p:spTree>
    <p:extLst>
      <p:ext uri="{BB962C8B-B14F-4D97-AF65-F5344CB8AC3E}">
        <p14:creationId xmlns:p14="http://schemas.microsoft.com/office/powerpoint/2010/main" val="23808576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AD43B-75F1-777F-33E8-D9F70B2E5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8BAEF-352D-845D-AFBE-43F972502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EC6EDD-4B1D-76B6-1F88-EE6A44A106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37C992-F8FF-AB4B-E4FF-0E5A6B7E6927}"/>
              </a:ext>
            </a:extLst>
          </p:cNvPr>
          <p:cNvSpPr>
            <a:spLocks noGrp="1"/>
          </p:cNvSpPr>
          <p:nvPr>
            <p:ph type="sldNum" sz="quarter" idx="5"/>
          </p:nvPr>
        </p:nvSpPr>
        <p:spPr/>
        <p:txBody>
          <a:bodyPr/>
          <a:lstStyle/>
          <a:p>
            <a:fld id="{0C49AC16-2221-4935-809C-2A72A26F729C}" type="slidenum">
              <a:rPr lang="en-US" smtClean="0"/>
              <a:t>314</a:t>
            </a:fld>
            <a:endParaRPr lang="en-US" dirty="0"/>
          </a:p>
        </p:txBody>
      </p:sp>
    </p:spTree>
    <p:extLst>
      <p:ext uri="{BB962C8B-B14F-4D97-AF65-F5344CB8AC3E}">
        <p14:creationId xmlns:p14="http://schemas.microsoft.com/office/powerpoint/2010/main" val="21586694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6CB84-8179-E253-13C9-F9A353C92F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3B0452-8E42-5ED4-16B5-F7884FF73D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27384D-3F84-76F0-0ADC-86AC902D34A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863E97A-4765-6D68-040A-65DBB5EDEC7E}"/>
              </a:ext>
            </a:extLst>
          </p:cNvPr>
          <p:cNvSpPr>
            <a:spLocks noGrp="1"/>
          </p:cNvSpPr>
          <p:nvPr>
            <p:ph type="sldNum" sz="quarter" idx="5"/>
          </p:nvPr>
        </p:nvSpPr>
        <p:spPr/>
        <p:txBody>
          <a:bodyPr/>
          <a:lstStyle/>
          <a:p>
            <a:fld id="{0C49AC16-2221-4935-809C-2A72A26F729C}" type="slidenum">
              <a:rPr lang="en-US" smtClean="0"/>
              <a:t>315</a:t>
            </a:fld>
            <a:endParaRPr lang="en-US" dirty="0"/>
          </a:p>
        </p:txBody>
      </p:sp>
    </p:spTree>
    <p:extLst>
      <p:ext uri="{BB962C8B-B14F-4D97-AF65-F5344CB8AC3E}">
        <p14:creationId xmlns:p14="http://schemas.microsoft.com/office/powerpoint/2010/main" val="381703634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B9425-701B-773E-FFD3-6C40040CE3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5EAA6B-5962-968B-9E94-D0025F54A2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D9F745-36CA-8C92-936A-9FEF762147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0BC11F8-0A74-AA19-F5FF-EBD62959DC23}"/>
              </a:ext>
            </a:extLst>
          </p:cNvPr>
          <p:cNvSpPr>
            <a:spLocks noGrp="1"/>
          </p:cNvSpPr>
          <p:nvPr>
            <p:ph type="sldNum" sz="quarter" idx="5"/>
          </p:nvPr>
        </p:nvSpPr>
        <p:spPr/>
        <p:txBody>
          <a:bodyPr/>
          <a:lstStyle/>
          <a:p>
            <a:fld id="{0C49AC16-2221-4935-809C-2A72A26F729C}" type="slidenum">
              <a:rPr lang="en-US" smtClean="0"/>
              <a:t>316</a:t>
            </a:fld>
            <a:endParaRPr lang="en-US" dirty="0"/>
          </a:p>
        </p:txBody>
      </p:sp>
    </p:spTree>
    <p:extLst>
      <p:ext uri="{BB962C8B-B14F-4D97-AF65-F5344CB8AC3E}">
        <p14:creationId xmlns:p14="http://schemas.microsoft.com/office/powerpoint/2010/main" val="11447858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25903-13D8-5C32-AB4E-EB3B49FF24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D09DEF-BC16-D863-040E-1E0BDAA19E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726BBA-10F4-7467-6F26-9D7F3E27007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8F3A0AB-8533-8037-0EDF-EA2F607E537C}"/>
              </a:ext>
            </a:extLst>
          </p:cNvPr>
          <p:cNvSpPr>
            <a:spLocks noGrp="1"/>
          </p:cNvSpPr>
          <p:nvPr>
            <p:ph type="sldNum" sz="quarter" idx="5"/>
          </p:nvPr>
        </p:nvSpPr>
        <p:spPr/>
        <p:txBody>
          <a:bodyPr/>
          <a:lstStyle/>
          <a:p>
            <a:fld id="{0C49AC16-2221-4935-809C-2A72A26F729C}" type="slidenum">
              <a:rPr lang="en-US" smtClean="0"/>
              <a:t>317</a:t>
            </a:fld>
            <a:endParaRPr lang="en-US" dirty="0"/>
          </a:p>
        </p:txBody>
      </p:sp>
    </p:spTree>
    <p:extLst>
      <p:ext uri="{BB962C8B-B14F-4D97-AF65-F5344CB8AC3E}">
        <p14:creationId xmlns:p14="http://schemas.microsoft.com/office/powerpoint/2010/main" val="122486222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FA5AF-9F1D-3C39-996A-2EF62E84D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8744D-6E0E-6563-164A-DBDFDFB213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9FCB5-4F7A-C087-7F69-807B09601F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04B31C-D558-7C2A-56B1-10A0392CC156}"/>
              </a:ext>
            </a:extLst>
          </p:cNvPr>
          <p:cNvSpPr>
            <a:spLocks noGrp="1"/>
          </p:cNvSpPr>
          <p:nvPr>
            <p:ph type="sldNum" sz="quarter" idx="5"/>
          </p:nvPr>
        </p:nvSpPr>
        <p:spPr/>
        <p:txBody>
          <a:bodyPr/>
          <a:lstStyle/>
          <a:p>
            <a:fld id="{0C49AC16-2221-4935-809C-2A72A26F729C}" type="slidenum">
              <a:rPr lang="en-US" smtClean="0"/>
              <a:t>318</a:t>
            </a:fld>
            <a:endParaRPr lang="en-US" dirty="0"/>
          </a:p>
        </p:txBody>
      </p:sp>
    </p:spTree>
    <p:extLst>
      <p:ext uri="{BB962C8B-B14F-4D97-AF65-F5344CB8AC3E}">
        <p14:creationId xmlns:p14="http://schemas.microsoft.com/office/powerpoint/2010/main" val="37292640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320</a:t>
            </a:fld>
            <a:endParaRPr lang="en-US" dirty="0"/>
          </a:p>
        </p:txBody>
      </p:sp>
    </p:spTree>
    <p:extLst>
      <p:ext uri="{BB962C8B-B14F-4D97-AF65-F5344CB8AC3E}">
        <p14:creationId xmlns:p14="http://schemas.microsoft.com/office/powerpoint/2010/main" val="369892955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379</a:t>
            </a:fld>
            <a:endParaRPr lang="en-US" dirty="0"/>
          </a:p>
        </p:txBody>
      </p:sp>
    </p:spTree>
    <p:extLst>
      <p:ext uri="{BB962C8B-B14F-4D97-AF65-F5344CB8AC3E}">
        <p14:creationId xmlns:p14="http://schemas.microsoft.com/office/powerpoint/2010/main" val="8141455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Blank with Header">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6583680" y="5527548"/>
            <a:ext cx="2103120" cy="276999"/>
          </a:xfrm>
        </p:spPr>
        <p:txBody>
          <a:bodyPr/>
          <a:lstStyle/>
          <a:p>
            <a:fld id="{B32AB80A-78BA-6B42-BA0D-B44ACF890F5A}" type="slidenum">
              <a:rPr lang="en-US" smtClean="0"/>
              <a:pPr/>
              <a:t>‹#›</a:t>
            </a:fld>
            <a:endParaRPr lang="en-US" dirty="0"/>
          </a:p>
        </p:txBody>
      </p:sp>
      <p:sp>
        <p:nvSpPr>
          <p:cNvPr id="2" name="Title 1"/>
          <p:cNvSpPr>
            <a:spLocks noGrp="1"/>
          </p:cNvSpPr>
          <p:nvPr>
            <p:ph type="title" hasCustomPrompt="1"/>
          </p:nvPr>
        </p:nvSpPr>
        <p:spPr>
          <a:xfrm>
            <a:off x="304363" y="286226"/>
            <a:ext cx="8464987" cy="492443"/>
          </a:xfrm>
        </p:spPr>
        <p:txBody>
          <a:bodyPr/>
          <a:lstStyle>
            <a:lvl1pPr>
              <a:defRPr>
                <a:solidFill>
                  <a:srgbClr val="0099CC"/>
                </a:solidFill>
              </a:defRPr>
            </a:lvl1pPr>
          </a:lstStyle>
          <a:p>
            <a:r>
              <a:rPr lang="en-US" dirty="0"/>
              <a:t>Header</a:t>
            </a:r>
          </a:p>
        </p:txBody>
      </p:sp>
      <p:cxnSp>
        <p:nvCxnSpPr>
          <p:cNvPr id="9" name="Straight Connector 8"/>
          <p:cNvCxnSpPr/>
          <p:nvPr userDrawn="1"/>
        </p:nvCxnSpPr>
        <p:spPr>
          <a:xfrm>
            <a:off x="408217" y="275167"/>
            <a:ext cx="8363857" cy="0"/>
          </a:xfrm>
          <a:prstGeom prst="line">
            <a:avLst/>
          </a:prstGeom>
          <a:ln w="6350" cmpd="sng">
            <a:gradFill flip="none" rotWithShape="1">
              <a:gsLst>
                <a:gs pos="0">
                  <a:srgbClr val="0099FF"/>
                </a:gs>
                <a:gs pos="100000">
                  <a:srgbClr val="008000"/>
                </a:gs>
              </a:gsLst>
              <a:lin ang="0" scaled="1"/>
              <a:tileRect/>
            </a:gradFill>
            <a:beve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816847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2.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10.xml"/><Relationship Id="rId7" Type="http://schemas.openxmlformats.org/officeDocument/2006/relationships/image" Target="../media/image3.png"/><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7" Type="http://schemas.openxmlformats.org/officeDocument/2006/relationships/hyperlink" Target="https://bytebytego.com/courses/system-design-interview/back-of-the-envelope-estimation" TargetMode="Externa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8" Type="http://schemas.openxmlformats.org/officeDocument/2006/relationships/hyperlink" Target="https://www.linkedin.com/posts/arpitbhayani_careergrowth-activity-7272461615583649792-venm/?utm_source=share&amp;utm_medium=member_desktop" TargetMode="External"/><Relationship Id="rId3" Type="http://schemas.openxmlformats.org/officeDocument/2006/relationships/diagramLayout" Target="../diagrams/layout18.xml"/><Relationship Id="rId7" Type="http://schemas.openxmlformats.org/officeDocument/2006/relationships/hyperlink" Target="https://www.linkedin.com/pulse/estimation-prioritization-agile-safe-framework-samir/" TargetMode="Externa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8" Type="http://schemas.openxmlformats.org/officeDocument/2006/relationships/hyperlink" Target="https://www.visual-paradigm.com/guide/uml-unified-modeling-language/what-is-component-diagram/" TargetMode="External"/><Relationship Id="rId3" Type="http://schemas.openxmlformats.org/officeDocument/2006/relationships/diagramLayout" Target="../diagrams/layout19.xml"/><Relationship Id="rId7" Type="http://schemas.openxmlformats.org/officeDocument/2006/relationships/hyperlink" Target="https://www.differencebetween.com/difference-between-use-case-diagram-and-activity-diagram/"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 Id="rId9" Type="http://schemas.openxmlformats.org/officeDocument/2006/relationships/hyperlink" Target="https://www.lucidchart.com/pages/uml-class-diagram"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www.milanjovanovic.tech/blog/visualize-your-software-architecture-with-the-c4-model" TargetMode="External"/><Relationship Id="rId3" Type="http://schemas.openxmlformats.org/officeDocument/2006/relationships/diagramLayout" Target="../diagrams/layout20.xml"/><Relationship Id="rId7" Type="http://schemas.openxmlformats.org/officeDocument/2006/relationships/hyperlink" Target="https://www.geeksforgeeks.org/difference-between-sequence-diagram-and-collaboration-diagram/"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10" Type="http://schemas.openxmlformats.org/officeDocument/2006/relationships/hyperlink" Target="https://en.wikipedia.org/wiki/ArchiMate" TargetMode="External"/><Relationship Id="rId4" Type="http://schemas.openxmlformats.org/officeDocument/2006/relationships/diagramQuickStyle" Target="../diagrams/quickStyle20.xml"/><Relationship Id="rId9" Type="http://schemas.openxmlformats.org/officeDocument/2006/relationships/hyperlink" Target="https://www.bpmn.org/" TargetMode="Externa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1.xm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8" Type="http://schemas.openxmlformats.org/officeDocument/2006/relationships/hyperlink" Target="https://modeling-languages.com/text-uml-tools-complete-list/" TargetMode="External"/><Relationship Id="rId13" Type="http://schemas.openxmlformats.org/officeDocument/2006/relationships/hyperlink" Target="https://www.youtube.com/watch?v=MiZLwBsuEgw" TargetMode="External"/><Relationship Id="rId3" Type="http://schemas.openxmlformats.org/officeDocument/2006/relationships/diagramLayout" Target="../diagrams/layout23.xml"/><Relationship Id="rId7" Type="http://schemas.openxmlformats.org/officeDocument/2006/relationships/hyperlink" Target="https://awesome-architecture.com/modeling/modeling/" TargetMode="External"/><Relationship Id="rId12" Type="http://schemas.openxmlformats.org/officeDocument/2006/relationships/hyperlink" Target="https://stackoverflow.com/questions/1714438/are-there-good-tools-for-c-sharp-reverse-engineering" TargetMode="Externa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11" Type="http://schemas.openxmlformats.org/officeDocument/2006/relationships/hyperlink" Target="https://github.com/likec4/likec4" TargetMode="External"/><Relationship Id="rId5" Type="http://schemas.openxmlformats.org/officeDocument/2006/relationships/diagramColors" Target="../diagrams/colors23.xml"/><Relationship Id="rId15" Type="http://schemas.openxmlformats.org/officeDocument/2006/relationships/hyperlink" Target="https://www.copilot.live/blog/how-to-use-github-copilot" TargetMode="External"/><Relationship Id="rId10" Type="http://schemas.openxmlformats.org/officeDocument/2006/relationships/hyperlink" Target="https://www.linkedin.com/pulse/software-architecture-as-code-rajesh-verma/" TargetMode="External"/><Relationship Id="rId4" Type="http://schemas.openxmlformats.org/officeDocument/2006/relationships/diagramQuickStyle" Target="../diagrams/quickStyle23.xml"/><Relationship Id="rId9" Type="http://schemas.openxmlformats.org/officeDocument/2006/relationships/hyperlink" Target="https://architectelevator.com/cloud/iac-architecture-as-code/" TargetMode="External"/><Relationship Id="rId14" Type="http://schemas.openxmlformats.org/officeDocument/2006/relationships/hyperlink" Target="https://www.linkedin.com/posts/bibryam_from-diagram-to-code-with-amazon-q-developer-activity-7285402085947236352-P8z-/" TargetMode="Externa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8" Type="http://schemas.openxmlformats.org/officeDocument/2006/relationships/hyperlink" Target="https://www.workingsoftware.dev/software-architecture-documentation-the-ultimate-guide/" TargetMode="External"/><Relationship Id="rId13" Type="http://schemas.openxmlformats.org/officeDocument/2006/relationships/hyperlink" Target="https://www.atlassian.com/software/confluence/templates/software-architecture-review" TargetMode="External"/><Relationship Id="rId18" Type="http://schemas.openxmlformats.org/officeDocument/2006/relationships/hyperlink" Target="https://www.packtpub.com/en-in/product/practical-model-driven-enterprise-architecture-9781801076166" TargetMode="External"/><Relationship Id="rId3" Type="http://schemas.openxmlformats.org/officeDocument/2006/relationships/diagramLayout" Target="../diagrams/layout25.xml"/><Relationship Id="rId7" Type="http://schemas.openxmlformats.org/officeDocument/2006/relationships/hyperlink" Target="https://newsletter.techworld-with-milan.com/p/documenting-software-architectures" TargetMode="External"/><Relationship Id="rId12" Type="http://schemas.openxmlformats.org/officeDocument/2006/relationships/hyperlink" Target="https://github.com/aretecode/system-design-templates-excalidraw" TargetMode="External"/><Relationship Id="rId17" Type="http://schemas.openxmlformats.org/officeDocument/2006/relationships/hyperlink" Target="https://www.oreilly.com/library/view/communication-patterns/9781098140533/" TargetMode="External"/><Relationship Id="rId2" Type="http://schemas.openxmlformats.org/officeDocument/2006/relationships/diagramData" Target="../diagrams/data25.xml"/><Relationship Id="rId16" Type="http://schemas.openxmlformats.org/officeDocument/2006/relationships/hyperlink" Target="https://www.udemy.com/course/enterprise-architecture-how-to-design-models-diagrams/?couponCode=NVDIN35" TargetMode="External"/><Relationship Id="rId1" Type="http://schemas.openxmlformats.org/officeDocument/2006/relationships/slideLayout" Target="../slideLayouts/slideLayout2.xml"/><Relationship Id="rId6" Type="http://schemas.microsoft.com/office/2007/relationships/diagramDrawing" Target="../diagrams/drawing25.xml"/><Relationship Id="rId11" Type="http://schemas.openxmlformats.org/officeDocument/2006/relationships/hyperlink" Target="https://theopenarch.com/writing-an-effective-end-to-end-high-level-design/" TargetMode="External"/><Relationship Id="rId5" Type="http://schemas.openxmlformats.org/officeDocument/2006/relationships/diagramColors" Target="../diagrams/colors25.xml"/><Relationship Id="rId15" Type="http://schemas.openxmlformats.org/officeDocument/2006/relationships/hyperlink" Target="https://github.com/joelparkerhenderson/architecture-decision-record" TargetMode="External"/><Relationship Id="rId10" Type="http://schemas.openxmlformats.org/officeDocument/2006/relationships/hyperlink" Target="https://tech.forums.softwareag.com/t/i-am-looking-high-level-design-template-which-i-can-use-in-my-project/280773" TargetMode="External"/><Relationship Id="rId19" Type="http://schemas.openxmlformats.org/officeDocument/2006/relationships/hyperlink" Target="https://www.oreilly.com/library/view/modeling-enterprise-architecture/9780124199842/" TargetMode="External"/><Relationship Id="rId4" Type="http://schemas.openxmlformats.org/officeDocument/2006/relationships/diagramQuickStyle" Target="../diagrams/quickStyle25.xml"/><Relationship Id="rId9" Type="http://schemas.openxmlformats.org/officeDocument/2006/relationships/hyperlink" Target="https://github.com/bflorat/architecture-document-template" TargetMode="External"/><Relationship Id="rId14" Type="http://schemas.openxmlformats.org/officeDocument/2006/relationships/hyperlink" Target="https://github.com/thepracticaldeveloper/practical-architecture"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github.com/debasishg/frdomain" TargetMode="External"/><Relationship Id="rId3" Type="http://schemas.openxmlformats.org/officeDocument/2006/relationships/diagramLayout" Target="../diagrams/layout26.xml"/><Relationship Id="rId7" Type="http://schemas.openxmlformats.org/officeDocument/2006/relationships/hyperlink" Target="https://awesome-architecture.com/architectural-design-principles/architectural-design-principles/" TargetMode="Externa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10" Type="http://schemas.openxmlformats.org/officeDocument/2006/relationships/hyperlink" Target="https://www.amazon.in/Reactive-Messaging-Patterns-Actor-Model-ebook/dp/B011S8YC5G?ref_=ast_author_dp" TargetMode="External"/><Relationship Id="rId4" Type="http://schemas.openxmlformats.org/officeDocument/2006/relationships/diagramQuickStyle" Target="../diagrams/quickStyle26.xml"/><Relationship Id="rId9" Type="http://schemas.openxmlformats.org/officeDocument/2006/relationships/hyperlink" Target="https://www.reactivedesignpatterns.com/" TargetMode="External"/></Relationships>
</file>

<file path=ppt/slides/_rels/slide27.xml.rels><?xml version="1.0" encoding="UTF-8" standalone="yes"?>
<Relationships xmlns="http://schemas.openxmlformats.org/package/2006/relationships"><Relationship Id="rId8" Type="http://schemas.openxmlformats.org/officeDocument/2006/relationships/hyperlink" Target="https://medium.com/@alex.wauters/how-to-make-architecture-trade-off-decisions-cb23482e1dfe" TargetMode="External"/><Relationship Id="rId3" Type="http://schemas.openxmlformats.org/officeDocument/2006/relationships/diagramLayout" Target="../diagrams/layout27.xml"/><Relationship Id="rId7" Type="http://schemas.openxmlformats.org/officeDocument/2006/relationships/hyperlink" Target="https://www.geeksforgeeks.org/architecture-tradeoff-analysis-method-atam/" TargetMode="Externa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 Id="rId9" Type="http://schemas.openxmlformats.org/officeDocument/2006/relationships/hyperlink" Target="https://www.linkedin.com/advice/0/how-do-you-evaluate-communicate-trade-offs" TargetMode="External"/></Relationships>
</file>

<file path=ppt/slides/_rels/slide28.xml.rels><?xml version="1.0" encoding="UTF-8" standalone="yes"?>
<Relationships xmlns="http://schemas.openxmlformats.org/package/2006/relationships"><Relationship Id="rId8" Type="http://schemas.openxmlformats.org/officeDocument/2006/relationships/hyperlink" Target="https://www.milanjovanovic.tech/blog/enforcing-software-architecture-with-architecture-tests" TargetMode="External"/><Relationship Id="rId13" Type="http://schemas.openxmlformats.org/officeDocument/2006/relationships/hyperlink" Target="https://github.com/evolutionary-architecture/evolutionary-architecture-by-example" TargetMode="External"/><Relationship Id="rId18" Type="http://schemas.openxmlformats.org/officeDocument/2006/relationships/hyperlink" Target="https://www.oreilly.com/library/view/software-architecture-metrics/9781098112226/" TargetMode="External"/><Relationship Id="rId3" Type="http://schemas.openxmlformats.org/officeDocument/2006/relationships/diagramLayout" Target="../diagrams/layout28.xml"/><Relationship Id="rId21" Type="http://schemas.openxmlformats.org/officeDocument/2006/relationships/hyperlink" Target="https://arturwierzbicki.notion.site/Designing-Software-Architectures-notes-787dac4f3ac7454bbb2bafb96119e17b" TargetMode="External"/><Relationship Id="rId7" Type="http://schemas.openxmlformats.org/officeDocument/2006/relationships/hyperlink" Target="https://www.thoughtworks.com/insights/articles/fitness-function-driven-development" TargetMode="External"/><Relationship Id="rId12" Type="http://schemas.openxmlformats.org/officeDocument/2006/relationships/hyperlink" Target="https://gist.github.com/scottwd9/ada88f963aac95893e1eba10d4ad8f6d" TargetMode="External"/><Relationship Id="rId17" Type="http://schemas.openxmlformats.org/officeDocument/2006/relationships/hyperlink" Target="https://evolutionaryarchitecture.com/resources/" TargetMode="External"/><Relationship Id="rId2" Type="http://schemas.openxmlformats.org/officeDocument/2006/relationships/diagramData" Target="../diagrams/data28.xml"/><Relationship Id="rId16" Type="http://schemas.openxmlformats.org/officeDocument/2006/relationships/hyperlink" Target="https://lethain.com/building-evolutionary-architectures/" TargetMode="External"/><Relationship Id="rId20" Type="http://schemas.openxmlformats.org/officeDocument/2006/relationships/hyperlink" Target="https://medium.com/oolooroo/metrics-for-software-architects-and-designers-25b736a17a99" TargetMode="External"/><Relationship Id="rId1" Type="http://schemas.openxmlformats.org/officeDocument/2006/relationships/slideLayout" Target="../slideLayouts/slideLayout2.xml"/><Relationship Id="rId6" Type="http://schemas.microsoft.com/office/2007/relationships/diagramDrawing" Target="../diagrams/drawing28.xml"/><Relationship Id="rId11" Type="http://schemas.openxmlformats.org/officeDocument/2006/relationships/hyperlink" Target="https://pragprog.com/titles/mkdsa/design-it/" TargetMode="External"/><Relationship Id="rId5" Type="http://schemas.openxmlformats.org/officeDocument/2006/relationships/diagramColors" Target="../diagrams/colors28.xml"/><Relationship Id="rId15" Type="http://schemas.openxmlformats.org/officeDocument/2006/relationships/hyperlink" Target="https://sodkiewiczm.medium.com/geek-read-building-evolutionary-architectures-2nd-edition-5f500f395dbb" TargetMode="External"/><Relationship Id="rId23" Type="http://schemas.openxmlformats.org/officeDocument/2006/relationships/hyperlink" Target="https://www.linkedin.com/posts/gkcs_system-design-tradeoff-series-1-an-introduction-activity-7207432736918118400-aQ4y/" TargetMode="External"/><Relationship Id="rId10" Type="http://schemas.openxmlformats.org/officeDocument/2006/relationships/hyperlink" Target="https://www.oreilly.com/library/view/semantic-software-design/9781492045946/app01.html" TargetMode="External"/><Relationship Id="rId19" Type="http://schemas.openxmlformats.org/officeDocument/2006/relationships/hyperlink" Target="https://github.com/csjcode/solutions-architect-metrics-cheatsheet" TargetMode="External"/><Relationship Id="rId4" Type="http://schemas.openxmlformats.org/officeDocument/2006/relationships/diagramQuickStyle" Target="../diagrams/quickStyle28.xml"/><Relationship Id="rId9" Type="http://schemas.openxmlformats.org/officeDocument/2006/relationships/hyperlink" Target="https://www.softwarearchitecturebook.com/resources/" TargetMode="External"/><Relationship Id="rId14" Type="http://schemas.openxmlformats.org/officeDocument/2006/relationships/hyperlink" Target="https://pablo-iorio.medium.com/evolutionary-architectures-fe5a1c6f93ab" TargetMode="External"/><Relationship Id="rId22" Type="http://schemas.openxmlformats.org/officeDocument/2006/relationships/hyperlink" Target="https://www.linkedin.com/posts/gkcs_system-design-tradeoff-series-1-an-introduction-activity-7207432736918118400-aQ4y" TargetMode="Externa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29.xml"/><Relationship Id="rId7" Type="http://schemas.microsoft.com/office/2007/relationships/diagramDrawing" Target="../diagrams/drawing29.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29.xml"/><Relationship Id="rId5" Type="http://schemas.openxmlformats.org/officeDocument/2006/relationships/diagramQuickStyle" Target="../diagrams/quickStyle29.xml"/><Relationship Id="rId4" Type="http://schemas.openxmlformats.org/officeDocument/2006/relationships/diagramLayout" Target="../diagrams/layout29.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30.xml"/><Relationship Id="rId7" Type="http://schemas.microsoft.com/office/2007/relationships/diagramDrawing" Target="../diagrams/drawing30.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30.xml"/><Relationship Id="rId5" Type="http://schemas.openxmlformats.org/officeDocument/2006/relationships/diagramQuickStyle" Target="../diagrams/quickStyle30.xml"/><Relationship Id="rId4" Type="http://schemas.openxmlformats.org/officeDocument/2006/relationships/diagramLayout" Target="../diagrams/layout30.xml"/></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31.xml"/><Relationship Id="rId7" Type="http://schemas.microsoft.com/office/2007/relationships/diagramDrawing" Target="../diagrams/drawing3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31.xml"/><Relationship Id="rId5" Type="http://schemas.openxmlformats.org/officeDocument/2006/relationships/diagramQuickStyle" Target="../diagrams/quickStyle31.xml"/><Relationship Id="rId4" Type="http://schemas.openxmlformats.org/officeDocument/2006/relationships/diagramLayout" Target="../diagrams/layout31.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32.xml"/><Relationship Id="rId7" Type="http://schemas.microsoft.com/office/2007/relationships/diagramDrawing" Target="../diagrams/drawing3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2.xml"/><Relationship Id="rId5" Type="http://schemas.openxmlformats.org/officeDocument/2006/relationships/diagramQuickStyle" Target="../diagrams/quickStyle32.xml"/><Relationship Id="rId4" Type="http://schemas.openxmlformats.org/officeDocument/2006/relationships/diagramLayout" Target="../diagrams/layout32.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33.xml"/><Relationship Id="rId7" Type="http://schemas.microsoft.com/office/2007/relationships/diagramDrawing" Target="../diagrams/drawing3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3.xml"/><Relationship Id="rId5" Type="http://schemas.openxmlformats.org/officeDocument/2006/relationships/diagramQuickStyle" Target="../diagrams/quickStyle33.xml"/><Relationship Id="rId4" Type="http://schemas.openxmlformats.org/officeDocument/2006/relationships/diagramLayout" Target="../diagrams/layout33.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34.xml"/><Relationship Id="rId7" Type="http://schemas.microsoft.com/office/2007/relationships/diagramDrawing" Target="../diagrams/drawing34.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4.xml"/><Relationship Id="rId5" Type="http://schemas.openxmlformats.org/officeDocument/2006/relationships/diagramQuickStyle" Target="../diagrams/quickStyle34.xml"/><Relationship Id="rId4" Type="http://schemas.openxmlformats.org/officeDocument/2006/relationships/diagramLayout" Target="../diagrams/layout34.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35.xml"/><Relationship Id="rId7" Type="http://schemas.microsoft.com/office/2007/relationships/diagramDrawing" Target="../diagrams/drawing35.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5.xml"/><Relationship Id="rId5" Type="http://schemas.openxmlformats.org/officeDocument/2006/relationships/diagramQuickStyle" Target="../diagrams/quickStyle35.xml"/><Relationship Id="rId4" Type="http://schemas.openxmlformats.org/officeDocument/2006/relationships/diagramLayout" Target="../diagrams/layout35.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36.xml"/><Relationship Id="rId7" Type="http://schemas.microsoft.com/office/2007/relationships/diagramDrawing" Target="../diagrams/drawing36.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36.xml"/><Relationship Id="rId5" Type="http://schemas.openxmlformats.org/officeDocument/2006/relationships/diagramQuickStyle" Target="../diagrams/quickStyle36.xml"/><Relationship Id="rId4" Type="http://schemas.openxmlformats.org/officeDocument/2006/relationships/diagramLayout" Target="../diagrams/layout36.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37.xml"/><Relationship Id="rId7" Type="http://schemas.microsoft.com/office/2007/relationships/diagramDrawing" Target="../diagrams/drawing37.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37.xml"/><Relationship Id="rId5" Type="http://schemas.openxmlformats.org/officeDocument/2006/relationships/diagramQuickStyle" Target="../diagrams/quickStyle37.xml"/><Relationship Id="rId4" Type="http://schemas.openxmlformats.org/officeDocument/2006/relationships/diagramLayout" Target="../diagrams/layout37.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38.xml"/><Relationship Id="rId7" Type="http://schemas.microsoft.com/office/2007/relationships/diagramDrawing" Target="../diagrams/drawing38.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38.xml"/><Relationship Id="rId5" Type="http://schemas.openxmlformats.org/officeDocument/2006/relationships/diagramQuickStyle" Target="../diagrams/quickStyle38.xml"/><Relationship Id="rId4" Type="http://schemas.openxmlformats.org/officeDocument/2006/relationships/diagramLayout" Target="../diagrams/layout38.xml"/></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39.xml"/><Relationship Id="rId7" Type="http://schemas.microsoft.com/office/2007/relationships/diagramDrawing" Target="../diagrams/drawing39.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39.xml"/><Relationship Id="rId5" Type="http://schemas.openxmlformats.org/officeDocument/2006/relationships/diagramQuickStyle" Target="../diagrams/quickStyle39.xml"/><Relationship Id="rId4" Type="http://schemas.openxmlformats.org/officeDocument/2006/relationships/diagramLayout" Target="../diagrams/layout39.xml"/></Relationships>
</file>

<file path=ppt/slides/_rels/slide40.xml.rels><?xml version="1.0" encoding="UTF-8" standalone="yes"?>
<Relationships xmlns="http://schemas.openxmlformats.org/package/2006/relationships"><Relationship Id="rId8" Type="http://schemas.openxmlformats.org/officeDocument/2006/relationships/hyperlink" Target="https://www.linkedin.com/pulse/day-one-enterprise-architect-vivek-srivastava--iq5tc/" TargetMode="External"/><Relationship Id="rId13" Type="http://schemas.openxmlformats.org/officeDocument/2006/relationships/hyperlink" Target="https://www.udemy.com/course/the-practice-of-enterprise-architecture-part-iii/?couponCode=LOCLZDOFFPINTRMT#instructor-1" TargetMode="External"/><Relationship Id="rId18" Type="http://schemas.openxmlformats.org/officeDocument/2006/relationships/hyperlink" Target="https://joerg-go.medium.com/togaf-quick-guide-855a3b0eb339" TargetMode="External"/><Relationship Id="rId3" Type="http://schemas.openxmlformats.org/officeDocument/2006/relationships/diagramData" Target="../diagrams/data40.xml"/><Relationship Id="rId21" Type="http://schemas.openxmlformats.org/officeDocument/2006/relationships/hyperlink" Target="https://eawheel.com/" TargetMode="External"/><Relationship Id="rId7" Type="http://schemas.microsoft.com/office/2007/relationships/diagramDrawing" Target="../diagrams/drawing40.xml"/><Relationship Id="rId12" Type="http://schemas.openxmlformats.org/officeDocument/2006/relationships/hyperlink" Target="https://www.udemy.com/course/practical-solution-architecture/?srsltid=AfmBOop0-SWxT3A3tPCnilJ7kJsOt5ndxhRBtEjw26CWfrU4fee6O9sY" TargetMode="External"/><Relationship Id="rId17" Type="http://schemas.openxmlformats.org/officeDocument/2006/relationships/hyperlink" Target="https://www.amazon.in/Enterprise-Architecture-Work-Communication-Engineering/dp/3662571692/ref=sr_1_3" TargetMode="External"/><Relationship Id="rId25" Type="http://schemas.openxmlformats.org/officeDocument/2006/relationships/hyperlink" Target="https://www.oreilly.com/library/view/technology-strategy-patterns/9781492040866/" TargetMode="External"/><Relationship Id="rId2" Type="http://schemas.openxmlformats.org/officeDocument/2006/relationships/notesSlide" Target="../notesSlides/notesSlide12.xml"/><Relationship Id="rId16" Type="http://schemas.openxmlformats.org/officeDocument/2006/relationships/hyperlink" Target="https://www.enterprisedesignpatterns.com/" TargetMode="External"/><Relationship Id="rId20" Type="http://schemas.openxmlformats.org/officeDocument/2006/relationships/hyperlink" Target="https://link.springer.com/book/10.1007/978-1-4842-4306-0" TargetMode="External"/><Relationship Id="rId1" Type="http://schemas.openxmlformats.org/officeDocument/2006/relationships/slideLayout" Target="../slideLayouts/slideLayout2.xml"/><Relationship Id="rId6" Type="http://schemas.openxmlformats.org/officeDocument/2006/relationships/diagramColors" Target="../diagrams/colors40.xml"/><Relationship Id="rId11" Type="http://schemas.openxmlformats.org/officeDocument/2006/relationships/hyperlink" Target="https://www.udemy.com/course/togaf-10-practitioner/?couponCode=LEARNNOWPLANS" TargetMode="External"/><Relationship Id="rId24" Type="http://schemas.openxmlformats.org/officeDocument/2006/relationships/hyperlink" Target="https://www.packtpub.com/en-in/product/realize-enterprise-architecture-with-aws-and-safe-9781801812078" TargetMode="External"/><Relationship Id="rId5" Type="http://schemas.openxmlformats.org/officeDocument/2006/relationships/diagramQuickStyle" Target="../diagrams/quickStyle40.xml"/><Relationship Id="rId15" Type="http://schemas.openxmlformats.org/officeDocument/2006/relationships/hyperlink" Target="https://www.leanix.net/en/wiki/ea/enterprise-architecture-governance" TargetMode="External"/><Relationship Id="rId23" Type="http://schemas.openxmlformats.org/officeDocument/2006/relationships/hyperlink" Target="https://conexiam.com/enterprise-architecture/free-resources/" TargetMode="External"/><Relationship Id="rId10" Type="http://schemas.openxmlformats.org/officeDocument/2006/relationships/hyperlink" Target="https://www.udemy.com/course/togaf-training-part2/?couponCode=LEARNNOWPLANS" TargetMode="External"/><Relationship Id="rId19" Type="http://schemas.openxmlformats.org/officeDocument/2006/relationships/hyperlink" Target="https://www.linkedin.com/pulse/developing-cloudgaf-tailored-togaf-framework-cloud-adoption-cvswe/" TargetMode="External"/><Relationship Id="rId4" Type="http://schemas.openxmlformats.org/officeDocument/2006/relationships/diagramLayout" Target="../diagrams/layout40.xml"/><Relationship Id="rId9" Type="http://schemas.openxmlformats.org/officeDocument/2006/relationships/hyperlink" Target="https://www.udemy.com/course/togaf10-part1/?couponCode=LEARNNOWPLANS" TargetMode="External"/><Relationship Id="rId14" Type="http://schemas.openxmlformats.org/officeDocument/2006/relationships/hyperlink" Target="https://www.udemy.com/course/enterprise-architecture-by-example/" TargetMode="External"/><Relationship Id="rId22" Type="http://schemas.openxmlformats.org/officeDocument/2006/relationships/hyperlink" Target="https://www.oreilly.com/library/view/fundamentals-of-enterprise/9781098159368/" TargetMode="External"/></Relationships>
</file>

<file path=ppt/slides/_rels/slide41.xml.rels><?xml version="1.0" encoding="UTF-8" standalone="yes"?>
<Relationships xmlns="http://schemas.openxmlformats.org/package/2006/relationships"><Relationship Id="rId8" Type="http://schemas.openxmlformats.org/officeDocument/2006/relationships/hyperlink" Target="https://www.quora.com/Is-ASP-NET-MVC-a-framework-architecture-or-a-design-pattern" TargetMode="External"/><Relationship Id="rId3" Type="http://schemas.openxmlformats.org/officeDocument/2006/relationships/diagramLayout" Target="../diagrams/layout41.xml"/><Relationship Id="rId7" Type="http://schemas.openxmlformats.org/officeDocument/2006/relationships/image" Target="../media/image5.png"/><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 Id="rId9" Type="http://schemas.openxmlformats.org/officeDocument/2006/relationships/hyperlink" Target="https://www.linkedin.com/feed/update/urn:li:activity:7216040846343766016/" TargetMode="External"/></Relationships>
</file>

<file path=ppt/slides/_rels/slide42.xml.rels><?xml version="1.0" encoding="UTF-8" standalone="yes"?>
<Relationships xmlns="http://schemas.openxmlformats.org/package/2006/relationships"><Relationship Id="rId8" Type="http://schemas.openxmlformats.org/officeDocument/2006/relationships/hyperlink" Target="https://awesome-architecture.com/modular-monolith/" TargetMode="External"/><Relationship Id="rId3" Type="http://schemas.openxmlformats.org/officeDocument/2006/relationships/diagramLayout" Target="../diagrams/layout42.xml"/><Relationship Id="rId7" Type="http://schemas.openxmlformats.org/officeDocument/2006/relationships/image" Target="../media/image6.png"/><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image" Target="../media/image7.png"/><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image" Target="../media/image8.png"/><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hyperlink" Target="https://cloud.spring.io/spring-cloud-zookeeper/1.2.x/multi/multi_spring-cloud-zookeeper-discovery.html" TargetMode="External"/><Relationship Id="rId3" Type="http://schemas.openxmlformats.org/officeDocument/2006/relationships/diagramData" Target="../diagrams/data45.xml"/><Relationship Id="rId7" Type="http://schemas.microsoft.com/office/2007/relationships/diagramDrawing" Target="../diagrams/drawing45.xml"/><Relationship Id="rId12" Type="http://schemas.openxmlformats.org/officeDocument/2006/relationships/hyperlink" Target="https://zipkin.io/pages/architecture.ht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45.xml"/><Relationship Id="rId11" Type="http://schemas.openxmlformats.org/officeDocument/2006/relationships/hyperlink" Target="https://github.com/Apress/practical-microservices-architectural-patterns" TargetMode="External"/><Relationship Id="rId5" Type="http://schemas.openxmlformats.org/officeDocument/2006/relationships/diagramQuickStyle" Target="../diagrams/quickStyle45.xml"/><Relationship Id="rId10" Type="http://schemas.openxmlformats.org/officeDocument/2006/relationships/hyperlink" Target="https://github.com/PacktPublishing/Microservices-with-Spring-Boot-and-Spring-Cloud-Third-Edition" TargetMode="External"/><Relationship Id="rId4" Type="http://schemas.openxmlformats.org/officeDocument/2006/relationships/diagramLayout" Target="../diagrams/layout45.xml"/><Relationship Id="rId9" Type="http://schemas.openxmlformats.org/officeDocument/2006/relationships/hyperlink" Target="https://github.com/bhuvnesharya/Perfect-Roadmap-To-Learn-Java-SpringBoot-In-2024" TargetMode="External"/><Relationship Id="rId14" Type="http://schemas.openxmlformats.org/officeDocument/2006/relationships/hyperlink" Target="https://learn.microsoft.com/en-us/dotnet/core/extensions/service-discovery?tabs=dotnet-cli"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medium.com/riskified-technology/message-broker-vs-event-broker-when-to-use-each-one-of-them-15597320a8ba" TargetMode="External"/><Relationship Id="rId13" Type="http://schemas.openxmlformats.org/officeDocument/2006/relationships/hyperlink" Target="https://learn.microsoft.com/en-us/azure/service-bus-messaging/service-bus-amqp-protocol-guide" TargetMode="External"/><Relationship Id="rId3" Type="http://schemas.openxmlformats.org/officeDocument/2006/relationships/diagramLayout" Target="../diagrams/layout46.xml"/><Relationship Id="rId7" Type="http://schemas.openxmlformats.org/officeDocument/2006/relationships/image" Target="../media/image10.png"/><Relationship Id="rId12" Type="http://schemas.openxmlformats.org/officeDocument/2006/relationships/hyperlink" Target="https://learn.microsoft.com/en-us/azure/service-bus-messaging/service-bus-async-messaging"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learn.microsoft.com/en-us/azure/service-bus-messaging/service-bus-performance-improvements?tabs=net-standard-sdk-2" TargetMode="External"/><Relationship Id="rId5" Type="http://schemas.openxmlformats.org/officeDocument/2006/relationships/diagramColors" Target="../diagrams/colors46.xml"/><Relationship Id="rId10" Type="http://schemas.openxmlformats.org/officeDocument/2006/relationships/hyperlink" Target="https://learn.microsoft.com/en-us/azure/service-bus-messaging/service-bus-queues-topics-subscriptions" TargetMode="External"/><Relationship Id="rId4" Type="http://schemas.openxmlformats.org/officeDocument/2006/relationships/diagramQuickStyle" Target="../diagrams/quickStyle46.xml"/><Relationship Id="rId9" Type="http://schemas.openxmlformats.org/officeDocument/2006/relationships/hyperlink" Target="https://x.com/bytebytego/status/1726861680880304638" TargetMode="External"/><Relationship Id="rId14" Type="http://schemas.openxmlformats.org/officeDocument/2006/relationships/hyperlink" Target="https://www.rabbitmq.com/tutorials/amqp-concepts" TargetMode="External"/></Relationships>
</file>

<file path=ppt/slides/_rels/slide47.xml.rels><?xml version="1.0" encoding="UTF-8" standalone="yes"?>
<Relationships xmlns="http://schemas.openxmlformats.org/package/2006/relationships"><Relationship Id="rId8" Type="http://schemas.openxmlformats.org/officeDocument/2006/relationships/hyperlink" Target="https://www.syncfusion.com/succinctly-free-ebooks/aspnet-webhooks-succinctly" TargetMode="External"/><Relationship Id="rId3" Type="http://schemas.openxmlformats.org/officeDocument/2006/relationships/diagramLayout" Target="../diagrams/layout47.xml"/><Relationship Id="rId7" Type="http://schemas.openxmlformats.org/officeDocument/2006/relationships/hyperlink" Target="https://medium.com/ballerina-techblog/event-driven-apis-with-webhook-and-websub-83b0834f08f3" TargetMode="Externa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 Id="rId9" Type="http://schemas.openxmlformats.org/officeDocument/2006/relationships/image" Target="../media/image11.png"/></Relationships>
</file>

<file path=ppt/slides/_rels/slide48.xml.rels><?xml version="1.0" encoding="UTF-8" standalone="yes"?>
<Relationships xmlns="http://schemas.openxmlformats.org/package/2006/relationships"><Relationship Id="rId8" Type="http://schemas.openxmlformats.org/officeDocument/2006/relationships/hyperlink" Target="https://www.enterpriseintegrationpatterns.com/" TargetMode="External"/><Relationship Id="rId3" Type="http://schemas.openxmlformats.org/officeDocument/2006/relationships/diagramLayout" Target="../diagrams/layout48.xml"/><Relationship Id="rId7" Type="http://schemas.openxmlformats.org/officeDocument/2006/relationships/image" Target="../media/image12.gif"/><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11" Type="http://schemas.openxmlformats.org/officeDocument/2006/relationships/hyperlink" Target="https://aws.amazon.com/blogs/compute/implementing-enterprise-integration-patterns-with-aws-messaging-services-point-to-point-channels/" TargetMode="External"/><Relationship Id="rId5" Type="http://schemas.openxmlformats.org/officeDocument/2006/relationships/diagramColors" Target="../diagrams/colors48.xml"/><Relationship Id="rId10" Type="http://schemas.openxmlformats.org/officeDocument/2006/relationships/hyperlink" Target="https://pacodelacruz.io/enterprise-integration-patterns-on-azure-intro" TargetMode="External"/><Relationship Id="rId4" Type="http://schemas.openxmlformats.org/officeDocument/2006/relationships/diagramQuickStyle" Target="../diagrams/quickStyle48.xml"/><Relationship Id="rId9" Type="http://schemas.openxmlformats.org/officeDocument/2006/relationships/hyperlink" Target="https://learn.microsoft.com/en-us/dotnet/framework/wcf/extending/choosing-a-message-exchange-pattern" TargetMode="External"/></Relationships>
</file>

<file path=ppt/slides/_rels/slide4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diagramLayout" Target="../diagrams/layout49.xml"/><Relationship Id="rId7" Type="http://schemas.openxmlformats.org/officeDocument/2006/relationships/hyperlink" Target="https://www.techtarget.com/searchcloudcomputing/definition/iPaaS-integration-platform-as-a-service" TargetMode="External"/><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image" Target="../media/image14.png"/><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3" Type="http://schemas.openxmlformats.org/officeDocument/2006/relationships/diagramLayout" Target="../diagrams/layout52.xm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8" Type="http://schemas.openxmlformats.org/officeDocument/2006/relationships/hyperlink" Target="https://github.com/sclark01/Swift_VIPER_Demo" TargetMode="External"/><Relationship Id="rId3" Type="http://schemas.openxmlformats.org/officeDocument/2006/relationships/diagramLayout" Target="../diagrams/layout53.xml"/><Relationship Id="rId7" Type="http://schemas.openxmlformats.org/officeDocument/2006/relationships/hyperlink" Target="https://github.com/PacktPublishing/MVVM-pattern-.NET-MAUI" TargetMode="Externa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 Id="rId9" Type="http://schemas.openxmlformats.org/officeDocument/2006/relationships/hyperlink" Target="https://github.com/strongself/The-Book-of-VIPER"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diagramLayout" Target="../diagrams/layout54.xml"/><Relationship Id="rId7" Type="http://schemas.openxmlformats.org/officeDocument/2006/relationships/hyperlink" Target="https://awesome-architecture.com/hexagonal-architecture/" TargetMode="External"/><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diagramLayout" Target="../diagrams/layout55.xml"/><Relationship Id="rId7" Type="http://schemas.openxmlformats.org/officeDocument/2006/relationships/hyperlink" Target="https://awesome-architecture.com/onion-architecture/" TargetMode="External"/><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6.xml.rels><?xml version="1.0" encoding="UTF-8" standalone="yes"?>
<Relationships xmlns="http://schemas.openxmlformats.org/package/2006/relationships"><Relationship Id="rId8" Type="http://schemas.openxmlformats.org/officeDocument/2006/relationships/hyperlink" Target="https://www.milanjovanovic.tech/pragmatic-clean-architecture" TargetMode="External"/><Relationship Id="rId3" Type="http://schemas.openxmlformats.org/officeDocument/2006/relationships/diagramLayout" Target="../diagrams/layout56.xml"/><Relationship Id="rId7" Type="http://schemas.openxmlformats.org/officeDocument/2006/relationships/image" Target="../media/image17.jpe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10" Type="http://schemas.openxmlformats.org/officeDocument/2006/relationships/hyperlink" Target="https://www.linkedin.com/posts/goeleven_hexagonal-clean-onion-whats-the-difference-activity-7285626885605130240-5c76/" TargetMode="External"/><Relationship Id="rId4" Type="http://schemas.openxmlformats.org/officeDocument/2006/relationships/diagramQuickStyle" Target="../diagrams/quickStyle56.xml"/><Relationship Id="rId9" Type="http://schemas.openxmlformats.org/officeDocument/2006/relationships/hyperlink" Target="https://awesome-architecture.com/clean-architecture/" TargetMode="External"/></Relationships>
</file>

<file path=ppt/slides/_rels/slide57.xml.rels><?xml version="1.0" encoding="UTF-8" standalone="yes"?>
<Relationships xmlns="http://schemas.openxmlformats.org/package/2006/relationships"><Relationship Id="rId8" Type="http://schemas.openxmlformats.org/officeDocument/2006/relationships/hyperlink" Target="https://awesome-architecture.com/vertical-slice-architecture/" TargetMode="External"/><Relationship Id="rId3" Type="http://schemas.openxmlformats.org/officeDocument/2006/relationships/diagramLayout" Target="../diagrams/layout57.xml"/><Relationship Id="rId7" Type="http://schemas.openxmlformats.org/officeDocument/2006/relationships/hyperlink" Target="https://www.milanjovanovic.tech/blog/vertical-slice-architecture"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4" Type="http://schemas.openxmlformats.org/officeDocument/2006/relationships/diagramQuickStyle" Target="../diagrams/quickStyle57.xml"/><Relationship Id="rId9" Type="http://schemas.openxmlformats.org/officeDocument/2006/relationships/image" Target="../media/image18.jpeg"/></Relationships>
</file>

<file path=ppt/slides/_rels/slide58.xml.rels><?xml version="1.0" encoding="UTF-8" standalone="yes"?>
<Relationships xmlns="http://schemas.openxmlformats.org/package/2006/relationships"><Relationship Id="rId8" Type="http://schemas.openxmlformats.org/officeDocument/2006/relationships/hyperlink" Target="https://medium.com/@mishraabhinn/understanding-domain-objects-entities-dtos-and-models-in-c-207bb5c1d97c" TargetMode="External"/><Relationship Id="rId3" Type="http://schemas.openxmlformats.org/officeDocument/2006/relationships/diagramLayout" Target="../diagrams/layout58.xml"/><Relationship Id="rId7" Type="http://schemas.openxmlformats.org/officeDocument/2006/relationships/hyperlink" Target="https://github.com/sandipray63in/DDD-Based-Enterprise-Application-Framework" TargetMode="External"/><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10" Type="http://schemas.openxmlformats.org/officeDocument/2006/relationships/hyperlink" Target="https://awesome-architecture.com/event-driven-architecture/" TargetMode="External"/><Relationship Id="rId4" Type="http://schemas.openxmlformats.org/officeDocument/2006/relationships/diagramQuickStyle" Target="../diagrams/quickStyle58.xml"/><Relationship Id="rId9" Type="http://schemas.openxmlformats.org/officeDocument/2006/relationships/hyperlink" Target="https://awesome-architecture.com/domain-driven-design/domain-driven-design/" TargetMode="External"/></Relationships>
</file>

<file path=ppt/slides/_rels/slide59.xml.rels><?xml version="1.0" encoding="UTF-8" standalone="yes"?>
<Relationships xmlns="http://schemas.openxmlformats.org/package/2006/relationships"><Relationship Id="rId8" Type="http://schemas.openxmlformats.org/officeDocument/2006/relationships/hyperlink" Target="https://learn.microsoft.com/en-us/dotnet/architecture/microservices/microservice-ddd-cqrs-patterns/apply-simplified-microservice-cqrs-ddd-patterns" TargetMode="External"/><Relationship Id="rId3" Type="http://schemas.openxmlformats.org/officeDocument/2006/relationships/diagramLayout" Target="../diagrams/layout59.xml"/><Relationship Id="rId7" Type="http://schemas.openxmlformats.org/officeDocument/2006/relationships/image" Target="../media/image19.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 Id="rId9" Type="http://schemas.openxmlformats.org/officeDocument/2006/relationships/hyperlink" Target="https://awesome-architecture.com/cqrs/" TargetMode="External"/></Relationships>
</file>

<file path=ppt/slides/_rels/slide60.xml.rels><?xml version="1.0" encoding="UTF-8" standalone="yes"?>
<Relationships xmlns="http://schemas.openxmlformats.org/package/2006/relationships"><Relationship Id="rId8" Type="http://schemas.openxmlformats.org/officeDocument/2006/relationships/hyperlink" Target="https://awesome-architecture.com/modeling/event-storming/" TargetMode="External"/><Relationship Id="rId3" Type="http://schemas.openxmlformats.org/officeDocument/2006/relationships/diagramLayout" Target="../diagrams/layout60.xml"/><Relationship Id="rId7" Type="http://schemas.openxmlformats.org/officeDocument/2006/relationships/image" Target="../media/image20.png"/><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 Id="rId9" Type="http://schemas.openxmlformats.org/officeDocument/2006/relationships/hyperlink" Target="https://awesome-architecture.com/event-sourcing/"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martinfowler.com/eaaDev/" TargetMode="External"/><Relationship Id="rId3" Type="http://schemas.openxmlformats.org/officeDocument/2006/relationships/diagramLayout" Target="../diagrams/layout61.xml"/><Relationship Id="rId7" Type="http://schemas.openxmlformats.org/officeDocument/2006/relationships/hyperlink" Target="https://martinfowler.com/eaaCatalog/"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dotnet.microsoft.com/en-us/learn/dotnet/architecture-guides" TargetMode="External"/><Relationship Id="rId4" Type="http://schemas.openxmlformats.org/officeDocument/2006/relationships/diagramQuickStyle" Target="../diagrams/quickStyle61.xml"/><Relationship Id="rId9" Type="http://schemas.openxmlformats.org/officeDocument/2006/relationships/hyperlink" Target="http://www.corej2eepatterns.com/"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aws.amazon.com/compare/the-difference-between-microservices-and-apis/" TargetMode="External"/><Relationship Id="rId3" Type="http://schemas.openxmlformats.org/officeDocument/2006/relationships/diagramLayout" Target="../diagrams/layout62.xml"/><Relationship Id="rId7" Type="http://schemas.openxmlformats.org/officeDocument/2006/relationships/hyperlink" Target="https://awesome-architecture.com/microservices/microservice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image" Target="../media/image21.png"/><Relationship Id="rId4" Type="http://schemas.openxmlformats.org/officeDocument/2006/relationships/diagramQuickStyle" Target="../diagrams/quickStyle62.xml"/><Relationship Id="rId9" Type="http://schemas.openxmlformats.org/officeDocument/2006/relationships/hyperlink" Target="https://www.goodreads.com/book/show/28241543-microservices-vs-service-oriented-architecture" TargetMode="External"/></Relationships>
</file>

<file path=ppt/slides/_rels/slide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8" Type="http://schemas.openxmlformats.org/officeDocument/2006/relationships/hyperlink" Target="https://thecodeman.net/posts/repr-pattern" TargetMode="External"/><Relationship Id="rId13" Type="http://schemas.openxmlformats.org/officeDocument/2006/relationships/hyperlink" Target="https://christianhelle.com/2023/03/refitter.html" TargetMode="External"/><Relationship Id="rId18" Type="http://schemas.openxmlformats.org/officeDocument/2006/relationships/hyperlink" Target="https://stackoverflow.com/questions/16958448/what-is-http-multipart-request" TargetMode="External"/><Relationship Id="rId3" Type="http://schemas.openxmlformats.org/officeDocument/2006/relationships/hyperlink" Target="https://roadmap.sh/api-design" TargetMode="External"/><Relationship Id="rId7" Type="http://schemas.openxmlformats.org/officeDocument/2006/relationships/hyperlink" Target="https://dret.github.io/guidelines/" TargetMode="External"/><Relationship Id="rId12" Type="http://schemas.openxmlformats.org/officeDocument/2006/relationships/hyperlink" Target="https://github.com/reactiveui/refit" TargetMode="External"/><Relationship Id="rId17" Type="http://schemas.openxmlformats.org/officeDocument/2006/relationships/hyperlink" Target="https://www.tutorialspoint.com/difference-between-streaming-and-downloading" TargetMode="External"/><Relationship Id="rId2" Type="http://schemas.openxmlformats.org/officeDocument/2006/relationships/hyperlink" Target="https://stackoverflow.com/questions/51429617/http-requests-body-vs-param-vs-headers-vs-data" TargetMode="External"/><Relationship Id="rId16" Type="http://schemas.openxmlformats.org/officeDocument/2006/relationships/hyperlink" Target="https://code-maze.com/hateoas-aspnet-core-web-api/" TargetMode="External"/><Relationship Id="rId1" Type="http://schemas.openxmlformats.org/officeDocument/2006/relationships/slideLayout" Target="../slideLayouts/slideLayout2.xml"/><Relationship Id="rId6" Type="http://schemas.openxmlformats.org/officeDocument/2006/relationships/hyperlink" Target="https://www.oreilly.com/library/view/mastering-api-architecture/9781492090625/" TargetMode="External"/><Relationship Id="rId11" Type="http://schemas.openxmlformats.org/officeDocument/2006/relationships/hyperlink" Target="https://jwt.io/" TargetMode="External"/><Relationship Id="rId5" Type="http://schemas.openxmlformats.org/officeDocument/2006/relationships/hyperlink" Target="https://www.milanjovanovic.tech/blog/functional-error-handling-in-dotnet-with-the-result-pattern" TargetMode="External"/><Relationship Id="rId15" Type="http://schemas.openxmlformats.org/officeDocument/2006/relationships/hyperlink" Target="https://martinfowler.com/articles/richardsonMaturityModel.html" TargetMode="External"/><Relationship Id="rId10" Type="http://schemas.openxmlformats.org/officeDocument/2006/relationships/hyperlink" Target="https://www.syncfusion.com/succinctly-free-ebooks?category=all&amp;searchkey=Simone%20Chiaretta&amp;type=all" TargetMode="External"/><Relationship Id="rId4" Type="http://schemas.openxmlformats.org/officeDocument/2006/relationships/hyperlink" Target="https://microservice-api-patterns.org/" TargetMode="External"/><Relationship Id="rId9" Type="http://schemas.openxmlformats.org/officeDocument/2006/relationships/hyperlink" Target="https://github.com/frankPairs/api-design-patterns-notes" TargetMode="External"/><Relationship Id="rId14" Type="http://schemas.openxmlformats.org/officeDocument/2006/relationships/hyperlink" Target="https://stackoverflow.com/questions/58612052/refit-client-using-a-dynamic-base-address" TargetMode="External"/></Relationships>
</file>

<file path=ppt/slides/_rels/slide65.xml.rels><?xml version="1.0" encoding="UTF-8" standalone="yes"?>
<Relationships xmlns="http://schemas.openxmlformats.org/package/2006/relationships"><Relationship Id="rId8" Type="http://schemas.openxmlformats.org/officeDocument/2006/relationships/hyperlink" Target="https://www.codemag.com/Article/2307051/Building-Microservices-Architecture-Using-GraphQL-and-ASP.NET-7-Core" TargetMode="External"/><Relationship Id="rId13" Type="http://schemas.openxmlformats.org/officeDocument/2006/relationships/hyperlink" Target="https://www.packtpub.com/en-in/product/enterprise-api-management-9781787284432" TargetMode="External"/><Relationship Id="rId3" Type="http://schemas.openxmlformats.org/officeDocument/2006/relationships/hyperlink" Target="https://stackoverflow.com/questions/1556911/multipart-downloading-in-c" TargetMode="External"/><Relationship Id="rId7" Type="http://schemas.openxmlformats.org/officeDocument/2006/relationships/hyperlink" Target="https://www.linkedin.com/posts/raul-junco_graphql-solves-the-%3F%3F%3F%3F%3F%3F%3F%3F%3F-%3F-activity-7120036391098437632-Jbp-/" TargetMode="External"/><Relationship Id="rId12" Type="http://schemas.openxmlformats.org/officeDocument/2006/relationships/hyperlink" Target="https://www.packtpub.com/en-in/product/microservices-communication-in-net-using-grpc-9781803249520" TargetMode="External"/><Relationship Id="rId2" Type="http://schemas.openxmlformats.org/officeDocument/2006/relationships/hyperlink" Target="https://stackoverflow.com/questions/19954287/how-to-upload-file-to-server-with-http-post-multipart-form-data" TargetMode="External"/><Relationship Id="rId1" Type="http://schemas.openxmlformats.org/officeDocument/2006/relationships/slideLayout" Target="../slideLayouts/slideLayout2.xml"/><Relationship Id="rId6" Type="http://schemas.openxmlformats.org/officeDocument/2006/relationships/hyperlink" Target="https://www.darrenhorrocks.co.uk/comparing-graphql-odata/" TargetMode="External"/><Relationship Id="rId11" Type="http://schemas.openxmlformats.org/officeDocument/2006/relationships/hyperlink" Target="https://www.infoworld.com/article/2259813/how-to-build-grpc-applications-in-aspnet-core.html" TargetMode="External"/><Relationship Id="rId5" Type="http://schemas.openxmlformats.org/officeDocument/2006/relationships/hyperlink" Target="https://newsletter.techworld-with-milan.com/p/when-to-use-graphql-grpc-and-rest" TargetMode="External"/><Relationship Id="rId15" Type="http://schemas.openxmlformats.org/officeDocument/2006/relationships/hyperlink" Target="https://github.com/DFE-Digital/eapim-platform-api" TargetMode="External"/><Relationship Id="rId10" Type="http://schemas.openxmlformats.org/officeDocument/2006/relationships/hyperlink" Target="https://www.linkedin.com/posts/adnan-maqbool-khan-0b4531a1_rest-vs-grpc-activity-7185185027700236288-CXf2/" TargetMode="External"/><Relationship Id="rId4" Type="http://schemas.openxmlformats.org/officeDocument/2006/relationships/hyperlink" Target="https://roadmap.sh/graphql" TargetMode="External"/><Relationship Id="rId9" Type="http://schemas.openxmlformats.org/officeDocument/2006/relationships/hyperlink" Target="https://chillicream.com/docs/hotchocolate/v13/server" TargetMode="External"/><Relationship Id="rId14" Type="http://schemas.openxmlformats.org/officeDocument/2006/relationships/hyperlink" Target="https://link.springer.com/book/10.1007/979-8-8688-0054-2" TargetMode="External"/></Relationships>
</file>

<file path=ppt/slides/_rels/slide66.xml.rels><?xml version="1.0" encoding="UTF-8" standalone="yes"?>
<Relationships xmlns="http://schemas.openxmlformats.org/package/2006/relationships"><Relationship Id="rId8" Type="http://schemas.openxmlformats.org/officeDocument/2006/relationships/hyperlink" Target="https://www.geeksforgeeks.org/python/documenting-graphql-apis-with-swagger/" TargetMode="External"/><Relationship Id="rId13" Type="http://schemas.microsoft.com/office/2007/relationships/diagramDrawing" Target="../diagrams/drawing63.xml"/><Relationship Id="rId3" Type="http://schemas.openxmlformats.org/officeDocument/2006/relationships/hyperlink" Target="https://medium.com/commencis/contract-first-api-development-with-openapi-generator-and-connexion-b21bbf2f9244" TargetMode="External"/><Relationship Id="rId7" Type="http://schemas.openxmlformats.org/officeDocument/2006/relationships/hyperlink" Target="https://github.com/RicoSuter/NSwag" TargetMode="External"/><Relationship Id="rId12" Type="http://schemas.openxmlformats.org/officeDocument/2006/relationships/diagramColors" Target="../diagrams/colors63.xml"/><Relationship Id="rId2" Type="http://schemas.openxmlformats.org/officeDocument/2006/relationships/image" Target="../media/image23.jpeg"/><Relationship Id="rId1" Type="http://schemas.openxmlformats.org/officeDocument/2006/relationships/slideLayout" Target="../slideLayouts/slideLayout2.xml"/><Relationship Id="rId6" Type="http://schemas.openxmlformats.org/officeDocument/2006/relationships/hyperlink" Target="https://github.com/mattfrear/Swashbuckle.Examples" TargetMode="External"/><Relationship Id="rId11" Type="http://schemas.openxmlformats.org/officeDocument/2006/relationships/diagramQuickStyle" Target="../diagrams/quickStyle63.xml"/><Relationship Id="rId5" Type="http://schemas.openxmlformats.org/officeDocument/2006/relationships/hyperlink" Target="https://www.manning.com/books/contract-testing-in-action" TargetMode="External"/><Relationship Id="rId10" Type="http://schemas.openxmlformats.org/officeDocument/2006/relationships/diagramLayout" Target="../diagrams/layout63.xml"/><Relationship Id="rId4" Type="http://schemas.openxmlformats.org/officeDocument/2006/relationships/hyperlink" Target="https://openapi.tools/" TargetMode="External"/><Relationship Id="rId9" Type="http://schemas.openxmlformats.org/officeDocument/2006/relationships/diagramData" Target="../diagrams/data63.xml"/></Relationships>
</file>

<file path=ppt/slides/_rels/slide67.xml.rels><?xml version="1.0" encoding="UTF-8" standalone="yes"?>
<Relationships xmlns="http://schemas.openxmlformats.org/package/2006/relationships"><Relationship Id="rId8" Type="http://schemas.openxmlformats.org/officeDocument/2006/relationships/diagramQuickStyle" Target="../diagrams/quickStyle64.xml"/><Relationship Id="rId3" Type="http://schemas.openxmlformats.org/officeDocument/2006/relationships/hyperlink" Target="https://www.tatvasoft.com/blog/different-methods-of-api-versioning-routing-in-asp-net-core/" TargetMode="External"/><Relationship Id="rId7" Type="http://schemas.openxmlformats.org/officeDocument/2006/relationships/diagramLayout" Target="../diagrams/layout64.xml"/><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diagramData" Target="../diagrams/data64.xml"/><Relationship Id="rId5" Type="http://schemas.openxmlformats.org/officeDocument/2006/relationships/hyperlink" Target="https://dzone.com/articles/api-versioning-approach-with-aws-api-gateway" TargetMode="External"/><Relationship Id="rId10" Type="http://schemas.microsoft.com/office/2007/relationships/diagramDrawing" Target="../diagrams/drawing64.xml"/><Relationship Id="rId4" Type="http://schemas.openxmlformats.org/officeDocument/2006/relationships/hyperlink" Target="https://www.linkedin.com/posts/sina-riyahi_backend-fullstack-developer-activity-7250805172837203969-QTxU/" TargetMode="External"/><Relationship Id="rId9" Type="http://schemas.openxmlformats.org/officeDocument/2006/relationships/diagramColors" Target="../diagrams/colors64.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65.xml"/><Relationship Id="rId7" Type="http://schemas.microsoft.com/office/2007/relationships/diagramDrawing" Target="../diagrams/drawing65.xml"/><Relationship Id="rId2" Type="http://schemas.openxmlformats.org/officeDocument/2006/relationships/image" Target="../media/image25.jpeg"/><Relationship Id="rId1" Type="http://schemas.openxmlformats.org/officeDocument/2006/relationships/slideLayout" Target="../slideLayouts/slideLayout2.xml"/><Relationship Id="rId6" Type="http://schemas.openxmlformats.org/officeDocument/2006/relationships/diagramColors" Target="../diagrams/colors65.xml"/><Relationship Id="rId5" Type="http://schemas.openxmlformats.org/officeDocument/2006/relationships/diagramQuickStyle" Target="../diagrams/quickStyle65.xml"/><Relationship Id="rId4" Type="http://schemas.openxmlformats.org/officeDocument/2006/relationships/diagramLayout" Target="../diagrams/layout65.xml"/></Relationships>
</file>

<file path=ppt/slides/_rels/slide69.xml.rels><?xml version="1.0" encoding="UTF-8" standalone="yes"?>
<Relationships xmlns="http://schemas.openxmlformats.org/package/2006/relationships"><Relationship Id="rId3" Type="http://schemas.openxmlformats.org/officeDocument/2006/relationships/diagramData" Target="../diagrams/data66.xml"/><Relationship Id="rId7" Type="http://schemas.microsoft.com/office/2007/relationships/diagramDrawing" Target="../diagrams/drawing66.xml"/><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diagramColors" Target="../diagrams/colors66.xml"/><Relationship Id="rId5" Type="http://schemas.openxmlformats.org/officeDocument/2006/relationships/diagramQuickStyle" Target="../diagrams/quickStyle66.xml"/><Relationship Id="rId4" Type="http://schemas.openxmlformats.org/officeDocument/2006/relationships/diagramLayout" Target="../diagrams/layout66.xml"/></Relationships>
</file>

<file path=ppt/slides/_rels/slide70.xml.rels><?xml version="1.0" encoding="UTF-8" standalone="yes"?>
<Relationships xmlns="http://schemas.openxmlformats.org/package/2006/relationships"><Relationship Id="rId8" Type="http://schemas.openxmlformats.org/officeDocument/2006/relationships/hyperlink" Target="https://www.freecodecamp.org/news/idempotency-in-http-methods/" TargetMode="External"/><Relationship Id="rId3" Type="http://schemas.openxmlformats.org/officeDocument/2006/relationships/diagramData" Target="../diagrams/data67.xml"/><Relationship Id="rId7" Type="http://schemas.microsoft.com/office/2007/relationships/diagramDrawing" Target="../diagrams/drawing67.xml"/><Relationship Id="rId2" Type="http://schemas.openxmlformats.org/officeDocument/2006/relationships/image" Target="../media/image27.gif"/><Relationship Id="rId1" Type="http://schemas.openxmlformats.org/officeDocument/2006/relationships/slideLayout" Target="../slideLayouts/slideLayout2.xml"/><Relationship Id="rId6" Type="http://schemas.openxmlformats.org/officeDocument/2006/relationships/diagramColors" Target="../diagrams/colors67.xml"/><Relationship Id="rId11" Type="http://schemas.openxmlformats.org/officeDocument/2006/relationships/hyperlink" Target="https://learn.microsoft.com/en-us/azure/service-bus-messaging/duplicate-detection" TargetMode="External"/><Relationship Id="rId5" Type="http://schemas.openxmlformats.org/officeDocument/2006/relationships/diagramQuickStyle" Target="../diagrams/quickStyle67.xml"/><Relationship Id="rId10" Type="http://schemas.openxmlformats.org/officeDocument/2006/relationships/hyperlink" Target="https://www.cockroachlabs.com/blog/idempotency-and-ordering-in-event-driven-systems/" TargetMode="External"/><Relationship Id="rId4" Type="http://schemas.openxmlformats.org/officeDocument/2006/relationships/diagramLayout" Target="../diagrams/layout67.xml"/><Relationship Id="rId9" Type="http://schemas.openxmlformats.org/officeDocument/2006/relationships/hyperlink" Target="https://www.linkedin.com/posts/raul-junco_how-many-ways-to-implement-idempotency-do-activity-7284922024202829824-1QSu/"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prashanthpanduranga.wordpress.com/2015/03/25/inevitability-of-multi-tenancy-saas-in-product-engineering/" TargetMode="External"/><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hyperlink" Target="https://github.com/microsoft/commercial-marketplace-client-dotnet" TargetMode="External"/><Relationship Id="rId5" Type="http://schemas.openxmlformats.org/officeDocument/2006/relationships/hyperlink" Target="https://www.amazon.in/Building-Multi-Tenant-SaaS-Architectures-Golding-ebook/dp/B0CW1HLHSP/ref=tmm_kin_swatch_0" TargetMode="External"/><Relationship Id="rId4" Type="http://schemas.openxmlformats.org/officeDocument/2006/relationships/hyperlink" Target="https://www.syncfusion.com/succinctly-free-ebooks/aspnet-multitenant-applications-succinctly"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kubernetes.io/docs/concepts/security/multi-tenancy/" TargetMode="External"/><Relationship Id="rId2" Type="http://schemas.openxmlformats.org/officeDocument/2006/relationships/hyperlink" Target="https://www.vamsitalkstech.com/architecture/kubernetes-multitenancy-best-practices-architecture-models-2-2/" TargetMode="Externa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hyperlink" Target="https://www.cncf.io/blog/2022/11/09/multi-tenancy-in-kubernetes-implementation-and-optimization/" TargetMode="External"/></Relationships>
</file>

<file path=ppt/slides/_rels/slide73.xml.rels><?xml version="1.0" encoding="UTF-8" standalone="yes"?>
<Relationships xmlns="http://schemas.openxmlformats.org/package/2006/relationships"><Relationship Id="rId8" Type="http://schemas.openxmlformats.org/officeDocument/2006/relationships/hyperlink" Target="https://cloud.google.com/architecture/microservices-architecture-refactoring-monoliths" TargetMode="External"/><Relationship Id="rId3" Type="http://schemas.openxmlformats.org/officeDocument/2006/relationships/diagramLayout" Target="../diagrams/layout68.xml"/><Relationship Id="rId7" Type="http://schemas.openxmlformats.org/officeDocument/2006/relationships/image" Target="../media/image30.gif"/><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 Id="rId9" Type="http://schemas.openxmlformats.org/officeDocument/2006/relationships/hyperlink" Target="https://priyalwalpita.medium.com/monolith-to-microservices-migration-patters-a9e32d5adc9a" TargetMode="Externa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69.xml"/><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5.xml.rels><?xml version="1.0" encoding="UTF-8" standalone="yes"?>
<Relationships xmlns="http://schemas.openxmlformats.org/package/2006/relationships"><Relationship Id="rId3" Type="http://schemas.openxmlformats.org/officeDocument/2006/relationships/diagramLayout" Target="../diagrams/layout70.xml"/><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4" Type="http://schemas.openxmlformats.org/officeDocument/2006/relationships/diagramQuickStyle" Target="../diagrams/quickStyle70.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1.xml"/><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7.xml.rels><?xml version="1.0" encoding="UTF-8" standalone="yes"?>
<Relationships xmlns="http://schemas.openxmlformats.org/package/2006/relationships"><Relationship Id="rId3" Type="http://schemas.openxmlformats.org/officeDocument/2006/relationships/diagramLayout" Target="../diagrams/layout72.xml"/><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4" Type="http://schemas.openxmlformats.org/officeDocument/2006/relationships/diagramQuickStyle" Target="../diagrams/quickStyle72.xml"/></Relationships>
</file>

<file path=ppt/slides/_rels/slide78.xml.rels><?xml version="1.0" encoding="UTF-8" standalone="yes"?>
<Relationships xmlns="http://schemas.openxmlformats.org/package/2006/relationships"><Relationship Id="rId3" Type="http://schemas.openxmlformats.org/officeDocument/2006/relationships/diagramLayout" Target="../diagrams/layout73.xm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9.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80.xml.rels><?xml version="1.0" encoding="UTF-8" standalone="yes"?>
<Relationships xmlns="http://schemas.openxmlformats.org/package/2006/relationships"><Relationship Id="rId3" Type="http://schemas.openxmlformats.org/officeDocument/2006/relationships/diagramLayout" Target="../diagrams/layout75.xm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76.xm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77.xm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83.xml.rels><?xml version="1.0" encoding="UTF-8" standalone="yes"?>
<Relationships xmlns="http://schemas.openxmlformats.org/package/2006/relationships"><Relationship Id="rId8" Type="http://schemas.openxmlformats.org/officeDocument/2006/relationships/hyperlink" Target="https://www.getambassador.io/blog/microservices-discovery-api-gateway-vs-service-mesh" TargetMode="External"/><Relationship Id="rId13" Type="http://schemas.openxmlformats.org/officeDocument/2006/relationships/hyperlink" Target="https://service-mesh-patterns.github.io/service-mesh-patterns/" TargetMode="External"/><Relationship Id="rId18" Type="http://schemas.openxmlformats.org/officeDocument/2006/relationships/hyperlink" Target="https://github.com/PacktPublishing/Mastering-Service-Mesh" TargetMode="External"/><Relationship Id="rId3" Type="http://schemas.openxmlformats.org/officeDocument/2006/relationships/diagramLayout" Target="../diagrams/layout78.xml"/><Relationship Id="rId7" Type="http://schemas.openxmlformats.org/officeDocument/2006/relationships/hyperlink" Target="https://www.techtarget.com/searchitoperations/definition/service-mesh" TargetMode="External"/><Relationship Id="rId12" Type="http://schemas.openxmlformats.org/officeDocument/2006/relationships/hyperlink" Target="https://layer5.io/learn/service-mesh-books/the-enterprise-path-to-service-mesh-architectures-2nd-edition" TargetMode="External"/><Relationship Id="rId17" Type="http://schemas.openxmlformats.org/officeDocument/2006/relationships/hyperlink" Target="https://istio.io/latest/docs/" TargetMode="External"/><Relationship Id="rId2" Type="http://schemas.openxmlformats.org/officeDocument/2006/relationships/diagramData" Target="../diagrams/data78.xml"/><Relationship Id="rId16" Type="http://schemas.openxmlformats.org/officeDocument/2006/relationships/hyperlink" Target="https://www.syncfusion.com/succinctly-free-ebooks/istio-succinctly" TargetMode="External"/><Relationship Id="rId20" Type="http://schemas.openxmlformats.org/officeDocument/2006/relationships/hyperlink" Target="https://github.com/PacktPublishing/Bootstrap-Service-Mesh-Implementations-with-Istio" TargetMode="External"/><Relationship Id="rId1" Type="http://schemas.openxmlformats.org/officeDocument/2006/relationships/slideLayout" Target="../slideLayouts/slideLayout2.xml"/><Relationship Id="rId6" Type="http://schemas.microsoft.com/office/2007/relationships/diagramDrawing" Target="../diagrams/drawing78.xml"/><Relationship Id="rId11" Type="http://schemas.openxmlformats.org/officeDocument/2006/relationships/hyperlink" Target="https://github.com/marketplace/actions/service-mesh-interface-conformance-with-meshery" TargetMode="External"/><Relationship Id="rId5" Type="http://schemas.openxmlformats.org/officeDocument/2006/relationships/diagramColors" Target="../diagrams/colors78.xml"/><Relationship Id="rId15" Type="http://schemas.openxmlformats.org/officeDocument/2006/relationships/hyperlink" Target="https://cloud.google.com/learn/what-is-istio?hl=en" TargetMode="External"/><Relationship Id="rId10" Type="http://schemas.openxmlformats.org/officeDocument/2006/relationships/hyperlink" Target="https://github.com/PacktPublishing/Kubernetes-Service-Mesh-with-Istio" TargetMode="External"/><Relationship Id="rId19" Type="http://schemas.openxmlformats.org/officeDocument/2006/relationships/hyperlink" Target="https://github.com/PacktPublishing/Mastering-Service-Mesh-Architecture" TargetMode="External"/><Relationship Id="rId4" Type="http://schemas.openxmlformats.org/officeDocument/2006/relationships/diagramQuickStyle" Target="../diagrams/quickStyle78.xml"/><Relationship Id="rId9" Type="http://schemas.openxmlformats.org/officeDocument/2006/relationships/hyperlink" Target="https://medium.com/microservices-learning/how-to-implement-security-for-microservices-89b140d3e555" TargetMode="External"/><Relationship Id="rId14" Type="http://schemas.openxmlformats.org/officeDocument/2006/relationships/hyperlink" Target="https://www.linkedin.com/feed/update/urn:li:activity:7224311940091666432/" TargetMode="External"/></Relationships>
</file>

<file path=ppt/slides/_rels/slide84.xml.rels><?xml version="1.0" encoding="UTF-8" standalone="yes"?>
<Relationships xmlns="http://schemas.openxmlformats.org/package/2006/relationships"><Relationship Id="rId8" Type="http://schemas.openxmlformats.org/officeDocument/2006/relationships/hyperlink" Target="https://github.com/mehdihadeli/awesome-software-architecture/blob/main/docs/cloud-design-patterns/cloud-design-patterns.md" TargetMode="External"/><Relationship Id="rId3" Type="http://schemas.openxmlformats.org/officeDocument/2006/relationships/diagramLayout" Target="../diagrams/layout79.xml"/><Relationship Id="rId7" Type="http://schemas.openxmlformats.org/officeDocument/2006/relationships/image" Target="../media/image31.png"/><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4" Type="http://schemas.openxmlformats.org/officeDocument/2006/relationships/diagramQuickStyle" Target="../diagrams/quickStyle79.xml"/></Relationships>
</file>

<file path=ppt/slides/_rels/slide85.xml.rels><?xml version="1.0" encoding="UTF-8" standalone="yes"?>
<Relationships xmlns="http://schemas.openxmlformats.org/package/2006/relationships"><Relationship Id="rId8" Type="http://schemas.openxmlformats.org/officeDocument/2006/relationships/hyperlink" Target="https://github.com/prayagupa/SOA" TargetMode="External"/><Relationship Id="rId13" Type="http://schemas.openxmlformats.org/officeDocument/2006/relationships/hyperlink" Target="https://www.linkedin.com/pulse/service-discovery-microservices-c-net-amir-doosti/" TargetMode="External"/><Relationship Id="rId18" Type="http://schemas.openxmlformats.org/officeDocument/2006/relationships/hyperlink" Target="https://www.linkedin.com/posts/juan-manuel-cubillos-avellaneda_design-patterns-used-across-different-software-activity-7144012408208986112-sBPR/" TargetMode="External"/><Relationship Id="rId3" Type="http://schemas.openxmlformats.org/officeDocument/2006/relationships/diagramLayout" Target="../diagrams/layout80.xml"/><Relationship Id="rId7" Type="http://schemas.openxmlformats.org/officeDocument/2006/relationships/hyperlink" Target="https://microservices.io/patterns/" TargetMode="External"/><Relationship Id="rId12" Type="http://schemas.openxmlformats.org/officeDocument/2006/relationships/hyperlink" Target="https://kubernetes.io/docs/concepts/services-networking/" TargetMode="External"/><Relationship Id="rId17" Type="http://schemas.openxmlformats.org/officeDocument/2006/relationships/hyperlink" Target="https://www.oreilly.com/library/view/design-patterns-for/9781492090700/" TargetMode="External"/><Relationship Id="rId2" Type="http://schemas.openxmlformats.org/officeDocument/2006/relationships/diagramData" Target="../diagrams/data80.xml"/><Relationship Id="rId16" Type="http://schemas.openxmlformats.org/officeDocument/2006/relationships/hyperlink" Target="https://learn.microsoft.com/en-us/azure/azure-functions/durable/durable-functions-cloud-backup?tabs=csharp" TargetMode="External"/><Relationship Id="rId20" Type="http://schemas.openxmlformats.org/officeDocument/2006/relationships/hyperlink" Target="https://www.linkedin.com/feed/update/urn:li:activity:7223921187465150465/" TargetMode="Externa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kubernetes.io/docs/concepts/overview/components/" TargetMode="External"/><Relationship Id="rId5" Type="http://schemas.openxmlformats.org/officeDocument/2006/relationships/diagramColors" Target="../diagrams/colors80.xml"/><Relationship Id="rId15" Type="http://schemas.openxmlformats.org/officeDocument/2006/relationships/hyperlink" Target="https://learn.microsoft.com/en-us/shows/on-dotnet/dave-tillman-and-zach-brown-resilient-microservices-with-steeltoe" TargetMode="External"/><Relationship Id="rId10" Type="http://schemas.openxmlformats.org/officeDocument/2006/relationships/hyperlink" Target="https://github.com/Netflix/ribbon" TargetMode="External"/><Relationship Id="rId19" Type="http://schemas.openxmlformats.org/officeDocument/2006/relationships/hyperlink" Target="https://link.springer.com/book/10.1007/978-1-4842-7226-8" TargetMode="External"/><Relationship Id="rId4" Type="http://schemas.openxmlformats.org/officeDocument/2006/relationships/diagramQuickStyle" Target="../diagrams/quickStyle80.xml"/><Relationship Id="rId9" Type="http://schemas.openxmlformats.org/officeDocument/2006/relationships/hyperlink" Target="https://medium.com/@skpallewatta92/microservices-with-netflix-oss-spring-boot-and-non-jvm-applications-2d762768921a" TargetMode="External"/><Relationship Id="rId14" Type="http://schemas.openxmlformats.org/officeDocument/2006/relationships/hyperlink" Target="https://learn.microsoft.com/en-us/shows/on-dotnet/net-microservices-with-steeltoe" TargetMode="Externa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1.xml"/><Relationship Id="rId7" Type="http://schemas.openxmlformats.org/officeDocument/2006/relationships/image" Target="../media/image32.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87.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image" Target="../media/image33.png"/><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8.xml.rels><?xml version="1.0" encoding="UTF-8" standalone="yes"?>
<Relationships xmlns="http://schemas.openxmlformats.org/package/2006/relationships"><Relationship Id="rId8" Type="http://schemas.openxmlformats.org/officeDocument/2006/relationships/hyperlink" Target="https://www.educative.io/courses/grokking-the-system-design-interview/introduction-to-domain-name-system-dns" TargetMode="External"/><Relationship Id="rId3" Type="http://schemas.openxmlformats.org/officeDocument/2006/relationships/diagramLayout" Target="../diagrams/layout83.xml"/><Relationship Id="rId7" Type="http://schemas.openxmlformats.org/officeDocument/2006/relationships/hyperlink" Target="https://stackoverflow.com/questions/6527229/how-do-i-change-the-hosts-file-in-a-windows-program"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10" Type="http://schemas.openxmlformats.org/officeDocument/2006/relationships/hyperlink" Target="https://www.linkedin.com/posts/imashishmishra_dns-nameservers-howinternetworks-activity-7206120472265060354-sT-H/" TargetMode="External"/><Relationship Id="rId4" Type="http://schemas.openxmlformats.org/officeDocument/2006/relationships/diagramQuickStyle" Target="../diagrams/quickStyle83.xml"/><Relationship Id="rId9" Type="http://schemas.openxmlformats.org/officeDocument/2006/relationships/hyperlink" Target="https://www.educative.io/courses/grokking-the-system-design-interview/how-the-domain-name-system-works" TargetMode="Externa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image" Target="../media/image34.png"/><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85.xm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86.xm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4" Type="http://schemas.openxmlformats.org/officeDocument/2006/relationships/diagramQuickStyle" Target="../diagrams/quickStyle86.xml"/></Relationships>
</file>

<file path=ppt/slides/_rels/slide92.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diagramLayout" Target="../diagrams/layout87.xml"/><Relationship Id="rId7" Type="http://schemas.openxmlformats.org/officeDocument/2006/relationships/image" Target="../media/image35.png"/><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10" Type="http://schemas.openxmlformats.org/officeDocument/2006/relationships/image" Target="../media/image38.png"/><Relationship Id="rId4" Type="http://schemas.openxmlformats.org/officeDocument/2006/relationships/diagramQuickStyle" Target="../diagrams/quickStyle87.xml"/><Relationship Id="rId9" Type="http://schemas.openxmlformats.org/officeDocument/2006/relationships/image" Target="../media/image37.png"/></Relationships>
</file>

<file path=ppt/slides/_rels/slide9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diagramLayout" Target="../diagrams/layout88.xml"/><Relationship Id="rId7" Type="http://schemas.openxmlformats.org/officeDocument/2006/relationships/hyperlink" Target="https://www.linkedin.com/posts/brijpandeyji_the-top-12-load-balancing-techniques-to-keep-activity-7101526263709716481-a9-Q/?trk=public_profile_like_view"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s>
</file>

<file path=ppt/slides/_rels/slide94.xml.rels><?xml version="1.0" encoding="UTF-8" standalone="yes"?>
<Relationships xmlns="http://schemas.openxmlformats.org/package/2006/relationships"><Relationship Id="rId8" Type="http://schemas.openxmlformats.org/officeDocument/2006/relationships/hyperlink" Target="https://systemsarchitect.io/docs/requirements/systems/services/load-balancer/choices" TargetMode="External"/><Relationship Id="rId13" Type="http://schemas.openxmlformats.org/officeDocument/2006/relationships/hyperlink" Target="https://github.com/Netflix/zuul" TargetMode="External"/><Relationship Id="rId3" Type="http://schemas.openxmlformats.org/officeDocument/2006/relationships/diagramLayout" Target="../diagrams/layout89.xml"/><Relationship Id="rId7" Type="http://schemas.openxmlformats.org/officeDocument/2006/relationships/hyperlink" Target="https://www.educative.io/courses/grokking-the-system-design-interview/introduction-to-load-balancers" TargetMode="External"/><Relationship Id="rId12" Type="http://schemas.openxmlformats.org/officeDocument/2006/relationships/hyperlink" Target="https://github.com/microsoft/service-fabric-yarp"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11" Type="http://schemas.openxmlformats.org/officeDocument/2006/relationships/hyperlink" Target="https://medium.com/@tejeswar_79802/a-deep-dive-into-yarp-and-ocelot-809ec5b982e0" TargetMode="External"/><Relationship Id="rId5" Type="http://schemas.openxmlformats.org/officeDocument/2006/relationships/diagramColors" Target="../diagrams/colors89.xml"/><Relationship Id="rId10" Type="http://schemas.openxmlformats.org/officeDocument/2006/relationships/hyperlink" Target="https://www.enjoyalgorithms.com/blog/proxies-in-system-design" TargetMode="External"/><Relationship Id="rId4" Type="http://schemas.openxmlformats.org/officeDocument/2006/relationships/diagramQuickStyle" Target="../diagrams/quickStyle89.xml"/><Relationship Id="rId9" Type="http://schemas.openxmlformats.org/officeDocument/2006/relationships/hyperlink" Target="https://www.imperva.com/learn/availability/sticky-session-persistence-and-cookies/" TargetMode="External"/></Relationships>
</file>

<file path=ppt/slides/_rels/slide95.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diagramLayout" Target="../diagrams/layout90.xml"/><Relationship Id="rId7" Type="http://schemas.openxmlformats.org/officeDocument/2006/relationships/image" Target="../media/image40.png"/><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1.xml"/><Relationship Id="rId7" Type="http://schemas.openxmlformats.org/officeDocument/2006/relationships/image" Target="../media/image42.png"/><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s>
</file>

<file path=ppt/slides/_rels/slide9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diagramLayout" Target="../diagrams/layout92.xml"/><Relationship Id="rId7" Type="http://schemas.openxmlformats.org/officeDocument/2006/relationships/image" Target="../media/image43.png"/><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8.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45.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94.xml"/><Relationship Id="rId7" Type="http://schemas.openxmlformats.org/officeDocument/2006/relationships/image" Target="../media/image46.png"/><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100.xml.rels><?xml version="1.0" encoding="UTF-8" standalone="yes"?>
<Relationships xmlns="http://schemas.openxmlformats.org/package/2006/relationships"><Relationship Id="rId8" Type="http://schemas.openxmlformats.org/officeDocument/2006/relationships/hyperlink" Target="https://www.linkedin.com/advice/0/what-differences-similarities-between-acid-base-properties" TargetMode="External"/><Relationship Id="rId3" Type="http://schemas.openxmlformats.org/officeDocument/2006/relationships/diagramData" Target="../diagrams/data95.xml"/><Relationship Id="rId7" Type="http://schemas.microsoft.com/office/2007/relationships/diagramDrawing" Target="../diagrams/drawing95.xml"/><Relationship Id="rId12" Type="http://schemas.openxmlformats.org/officeDocument/2006/relationships/hyperlink" Target="https://www.geeksforgeeks.org/flat-nested-distributed-transaction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95.xml"/><Relationship Id="rId11" Type="http://schemas.openxmlformats.org/officeDocument/2006/relationships/hyperlink" Target="https://masteranyfield.com/2021/07/26/dealing-distributed-transactions-with-2pc-3pc-local-transaction-table-with-mqs/" TargetMode="External"/><Relationship Id="rId5" Type="http://schemas.openxmlformats.org/officeDocument/2006/relationships/diagramQuickStyle" Target="../diagrams/quickStyle95.xml"/><Relationship Id="rId10" Type="http://schemas.openxmlformats.org/officeDocument/2006/relationships/hyperlink" Target="https://en.wikipedia.org/wiki/PACELC_theorem" TargetMode="External"/><Relationship Id="rId4" Type="http://schemas.openxmlformats.org/officeDocument/2006/relationships/diagramLayout" Target="../diagrams/layout95.xml"/><Relationship Id="rId9" Type="http://schemas.openxmlformats.org/officeDocument/2006/relationships/hyperlink" Target="https://systemdesignbasic.wordpress.com/2020/06/20/15-acid-vs-base-database-transactions/" TargetMode="External"/></Relationships>
</file>

<file path=ppt/slides/_rels/slide101.xml.rels><?xml version="1.0" encoding="UTF-8" standalone="yes"?>
<Relationships xmlns="http://schemas.openxmlformats.org/package/2006/relationships"><Relationship Id="rId8" Type="http://schemas.openxmlformats.org/officeDocument/2006/relationships/hyperlink" Target="https://microservices.io/patterns/data/transactional-outbox.html" TargetMode="External"/><Relationship Id="rId3" Type="http://schemas.openxmlformats.org/officeDocument/2006/relationships/diagramLayout" Target="../diagrams/layout96.xml"/><Relationship Id="rId7" Type="http://schemas.openxmlformats.org/officeDocument/2006/relationships/hyperlink" Target="https://github.com/sandipray63in/DDD-Based-Enterprise-Application-Framework/blob/master/Infrastructure/UnitOfWork/UnitOfWork.cs" TargetMode="Externa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10" Type="http://schemas.openxmlformats.org/officeDocument/2006/relationships/hyperlink" Target="https://www.oracle.com/docs/tech/transaction-manager-for-microservices.pdf" TargetMode="External"/><Relationship Id="rId4" Type="http://schemas.openxmlformats.org/officeDocument/2006/relationships/diagramQuickStyle" Target="../diagrams/quickStyle96.xml"/><Relationship Id="rId9" Type="http://schemas.openxmlformats.org/officeDocument/2006/relationships/hyperlink" Target="https://microservices.io/patterns/data/saga.html" TargetMode="External"/></Relationships>
</file>

<file path=ppt/slides/_rels/slide102.xml.rels><?xml version="1.0" encoding="UTF-8" standalone="yes"?>
<Relationships xmlns="http://schemas.openxmlformats.org/package/2006/relationships"><Relationship Id="rId8" Type="http://schemas.openxmlformats.org/officeDocument/2006/relationships/hyperlink" Target="https://www.zghurskyi.com/backpressure/" TargetMode="External"/><Relationship Id="rId3" Type="http://schemas.openxmlformats.org/officeDocument/2006/relationships/diagramLayout" Target="../diagrams/layout97.xml"/><Relationship Id="rId7" Type="http://schemas.openxmlformats.org/officeDocument/2006/relationships/image" Target="../media/image47.png"/><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103.xml.rels><?xml version="1.0" encoding="UTF-8" standalone="yes"?>
<Relationships xmlns="http://schemas.openxmlformats.org/package/2006/relationships"><Relationship Id="rId8" Type="http://schemas.openxmlformats.org/officeDocument/2006/relationships/hyperlink" Target="https://thenewstack.io/data-control-management-three-planes-different-altitudes/" TargetMode="External"/><Relationship Id="rId3" Type="http://schemas.openxmlformats.org/officeDocument/2006/relationships/diagramLayout" Target="../diagrams/layout98.xml"/><Relationship Id="rId7" Type="http://schemas.openxmlformats.org/officeDocument/2006/relationships/hyperlink" Target="https://danieldonbavand.com/2022/03/08/what-is-a-control-and-data-plane-architecture/" TargetMode="Externa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104.xml.rels><?xml version="1.0" encoding="UTF-8" standalone="yes"?>
<Relationships xmlns="http://schemas.openxmlformats.org/package/2006/relationships"><Relationship Id="rId8" Type="http://schemas.openxmlformats.org/officeDocument/2006/relationships/hyperlink" Target="https://www.freecodecamp.org/news/a-thorough-introduction-to-distributed-systems-3b91562c9b3c/" TargetMode="External"/><Relationship Id="rId13" Type="http://schemas.openxmlformats.org/officeDocument/2006/relationships/hyperlink" Target="https://dimosr.github.io/distributed-systems-for-practitioners/" TargetMode="External"/><Relationship Id="rId18" Type="http://schemas.openxmlformats.org/officeDocument/2006/relationships/hyperlink" Target="https://medium.com/bytebytego-system-design-alliance/system-design-blueprint-the-ultimate-guide-e27b914bf8f1" TargetMode="External"/><Relationship Id="rId26" Type="http://schemas.openxmlformats.org/officeDocument/2006/relationships/hyperlink" Target="https://www.linkedin.com/posts/arpit-adlakha-30691a101_13-github-repositories-that-will-make-software-activity-7273993511509602304-ydrA/?utm_source=share&amp;utm_medium=member_desktop" TargetMode="External"/><Relationship Id="rId3" Type="http://schemas.openxmlformats.org/officeDocument/2006/relationships/diagramLayout" Target="../diagrams/layout99.xml"/><Relationship Id="rId21" Type="http://schemas.openxmlformats.org/officeDocument/2006/relationships/hyperlink" Target="https://www.manning.com/books/think-distributed-systems" TargetMode="External"/><Relationship Id="rId7" Type="http://schemas.openxmlformats.org/officeDocument/2006/relationships/hyperlink" Target="https://www.baeldung.com/cs/distributed-systems-guide" TargetMode="External"/><Relationship Id="rId12" Type="http://schemas.openxmlformats.org/officeDocument/2006/relationships/hyperlink" Target="https://dataintensive.net/" TargetMode="External"/><Relationship Id="rId17" Type="http://schemas.openxmlformats.org/officeDocument/2006/relationships/hyperlink" Target="https://github.com/mohsenshafiei/system-design-master-plan" TargetMode="External"/><Relationship Id="rId25" Type="http://schemas.openxmlformats.org/officeDocument/2006/relationships/hyperlink" Target="https://roadmap.sh/system-design" TargetMode="External"/><Relationship Id="rId2" Type="http://schemas.openxmlformats.org/officeDocument/2006/relationships/diagramData" Target="../diagrams/data99.xml"/><Relationship Id="rId16" Type="http://schemas.openxmlformats.org/officeDocument/2006/relationships/hyperlink" Target="https://muratbuffalo.blogspot.com/2023/10/hints-for-distributed-systems-design.html" TargetMode="External"/><Relationship Id="rId20" Type="http://schemas.openxmlformats.org/officeDocument/2006/relationships/hyperlink" Target="https://understandingdistributed.systems/" TargetMode="External"/><Relationship Id="rId1" Type="http://schemas.openxmlformats.org/officeDocument/2006/relationships/slideLayout" Target="../slideLayouts/slideLayout2.xml"/><Relationship Id="rId6" Type="http://schemas.microsoft.com/office/2007/relationships/diagramDrawing" Target="../diagrams/drawing99.xml"/><Relationship Id="rId11" Type="http://schemas.openxmlformats.org/officeDocument/2006/relationships/hyperlink" Target="https://github.com/PacktPublishing/Building-Modern-Distributed-Systems-with-Java" TargetMode="External"/><Relationship Id="rId24" Type="http://schemas.openxmlformats.org/officeDocument/2006/relationships/hyperlink" Target="https://www.amazon.in/System-Design-Google-Engineering-Interviews/dp/B0BX8ZW147/ref=sr_1_1" TargetMode="External"/><Relationship Id="rId5" Type="http://schemas.openxmlformats.org/officeDocument/2006/relationships/diagramColors" Target="../diagrams/colors99.xml"/><Relationship Id="rId15" Type="http://schemas.openxmlformats.org/officeDocument/2006/relationships/hyperlink" Target="https://www.packtpub.com/en-in/product/raspberry-pi-super-cluster-9781783286195" TargetMode="External"/><Relationship Id="rId23" Type="http://schemas.openxmlformats.org/officeDocument/2006/relationships/hyperlink" Target="https://www.durichitayat.net/system-design-interview-book/" TargetMode="External"/><Relationship Id="rId10" Type="http://schemas.openxmlformats.org/officeDocument/2006/relationships/hyperlink" Target="https://blog.bytebytego.com/p/a-crash-course-on-distributed-systems" TargetMode="External"/><Relationship Id="rId19" Type="http://schemas.openxmlformats.org/officeDocument/2006/relationships/hyperlink" Target="https://blog.bytebytego.com/p/free-system-design-pdf-158-pages" TargetMode="External"/><Relationship Id="rId4" Type="http://schemas.openxmlformats.org/officeDocument/2006/relationships/diagramQuickStyle" Target="../diagrams/quickStyle99.xml"/><Relationship Id="rId9" Type="http://schemas.openxmlformats.org/officeDocument/2006/relationships/hyperlink" Target="https://www.splunk.com/en_us/blog/learn/distributed-systems.html" TargetMode="External"/><Relationship Id="rId14" Type="http://schemas.openxmlformats.org/officeDocument/2006/relationships/hyperlink" Target="https://github.com/emichael/dslabs" TargetMode="External"/><Relationship Id="rId22" Type="http://schemas.openxmlformats.org/officeDocument/2006/relationships/hyperlink" Target="https://www.amazon.com/stores/author/B08BNMFT7P/allbooks" TargetMode="External"/><Relationship Id="rId27" Type="http://schemas.openxmlformats.org/officeDocument/2006/relationships/hyperlink" Target="https://github.com/madd86/awesome-system-design" TargetMode="External"/></Relationships>
</file>

<file path=ppt/slides/_rels/slide105.xml.rels><?xml version="1.0" encoding="UTF-8" standalone="yes"?>
<Relationships xmlns="http://schemas.openxmlformats.org/package/2006/relationships"><Relationship Id="rId8" Type="http://schemas.openxmlformats.org/officeDocument/2006/relationships/hyperlink" Target="https://github.com/drveillard/system-design-architecture" TargetMode="External"/><Relationship Id="rId13" Type="http://schemas.openxmlformats.org/officeDocument/2006/relationships/hyperlink" Target="https://www.geeksforgeeks.org/consistency-model-in-distributed-system/" TargetMode="External"/><Relationship Id="rId18" Type="http://schemas.openxmlformats.org/officeDocument/2006/relationships/hyperlink" Target="https://www.jwz.org/doc/threading.html" TargetMode="External"/><Relationship Id="rId3" Type="http://schemas.openxmlformats.org/officeDocument/2006/relationships/diagramLayout" Target="../diagrams/layout100.xml"/><Relationship Id="rId21" Type="http://schemas.openxmlformats.org/officeDocument/2006/relationships/hyperlink" Target="https://neil.fraser.name/writing/sync/" TargetMode="External"/><Relationship Id="rId7" Type="http://schemas.openxmlformats.org/officeDocument/2006/relationships/hyperlink" Target="https://github.com/PawanRamaMali/System-Design" TargetMode="External"/><Relationship Id="rId12" Type="http://schemas.openxmlformats.org/officeDocument/2006/relationships/hyperlink" Target="https://martin.kleppmann.com/2016/02/08/how-to-do-distributed-locking.html" TargetMode="External"/><Relationship Id="rId17" Type="http://schemas.openxmlformats.org/officeDocument/2006/relationships/hyperlink" Target="https://en.wikipedia.org/wiki/Thread_(online_communication)" TargetMode="External"/><Relationship Id="rId25" Type="http://schemas.openxmlformats.org/officeDocument/2006/relationships/hyperlink" Target="https://www.manning.com/books/think-distributed-systems" TargetMode="External"/><Relationship Id="rId2" Type="http://schemas.openxmlformats.org/officeDocument/2006/relationships/diagramData" Target="../diagrams/data100.xml"/><Relationship Id="rId16" Type="http://schemas.openxmlformats.org/officeDocument/2006/relationships/hyperlink" Target="https://medium.com/@mayilb77/design-a-distributed-job-scheduler-for-millions-of-tasks-in-daily-operations-4132dc6d645f" TargetMode="External"/><Relationship Id="rId20" Type="http://schemas.openxmlformats.org/officeDocument/2006/relationships/hyperlink" Target="https://docs.datastax.com/en/cql-oss/3.3/cql/cql_reference/timeuuid_functions_r.html" TargetMode="External"/><Relationship Id="rId1" Type="http://schemas.openxmlformats.org/officeDocument/2006/relationships/slideLayout" Target="../slideLayouts/slideLayout2.xml"/><Relationship Id="rId6" Type="http://schemas.microsoft.com/office/2007/relationships/diagramDrawing" Target="../diagrams/drawing100.xml"/><Relationship Id="rId11" Type="http://schemas.openxmlformats.org/officeDocument/2006/relationships/hyperlink" Target="https://ics.uci.edu/~cs230/lectures20/distrsyslectureset3-win20.pdf" TargetMode="External"/><Relationship Id="rId24" Type="http://schemas.openxmlformats.org/officeDocument/2006/relationships/hyperlink" Target="https://topdeveloperacademy.com/courses" TargetMode="External"/><Relationship Id="rId5" Type="http://schemas.openxmlformats.org/officeDocument/2006/relationships/diagramColors" Target="../diagrams/colors100.xml"/><Relationship Id="rId15" Type="http://schemas.openxmlformats.org/officeDocument/2006/relationships/hyperlink" Target="https://www.rcet.org.in/uploads/files/LectureNotes/cse/S6/CS8603%20DISTRIBUTED%20SYSTEMS/CS8603%20U.IV.pdf" TargetMode="External"/><Relationship Id="rId23" Type="http://schemas.openxmlformats.org/officeDocument/2006/relationships/hyperlink" Target="https://prashanthpanduranga.wordpress.com/2015/04/22/architecting-extremely-large-scale-web-applications-a-must-read-for-every-architect/" TargetMode="External"/><Relationship Id="rId10" Type="http://schemas.openxmlformats.org/officeDocument/2006/relationships/hyperlink" Target="https://www.linkedin.com/posts/rajatgajbhiye_study-these-45-problems-well-and-you-have-activity-7231260876379455488-eLA1/" TargetMode="External"/><Relationship Id="rId19" Type="http://schemas.openxmlformats.org/officeDocument/2006/relationships/hyperlink" Target="https://docs.aws.amazon.com/ses/latest/dg/dedicated-ip-warming.html" TargetMode="External"/><Relationship Id="rId4" Type="http://schemas.openxmlformats.org/officeDocument/2006/relationships/diagramQuickStyle" Target="../diagrams/quickStyle100.xml"/><Relationship Id="rId9" Type="http://schemas.openxmlformats.org/officeDocument/2006/relationships/hyperlink" Target="https://www.oreilly.com/library/view/system-design-on/9781098146887/" TargetMode="External"/><Relationship Id="rId14" Type="http://schemas.openxmlformats.org/officeDocument/2006/relationships/hyperlink" Target="https://www.cs.uic.edu/~ajayk/Chapter9.pdf" TargetMode="External"/><Relationship Id="rId22" Type="http://schemas.openxmlformats.org/officeDocument/2006/relationships/hyperlink" Target="https://cloudinfrastructureservices.co.uk/distributed-file-system-dfs-architecture-components-explained/" TargetMode="External"/></Relationships>
</file>

<file path=ppt/slides/_rels/slide106.xml.rels><?xml version="1.0" encoding="UTF-8" standalone="yes"?>
<Relationships xmlns="http://schemas.openxmlformats.org/package/2006/relationships"><Relationship Id="rId3" Type="http://schemas.openxmlformats.org/officeDocument/2006/relationships/diagramLayout" Target="../diagrams/layout101.xm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5" Type="http://schemas.openxmlformats.org/officeDocument/2006/relationships/diagramColors" Target="../diagrams/colors101.xml"/><Relationship Id="rId4" Type="http://schemas.openxmlformats.org/officeDocument/2006/relationships/diagramQuickStyle" Target="../diagrams/quickStyle101.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02.xml"/><Relationship Id="rId7" Type="http://schemas.openxmlformats.org/officeDocument/2006/relationships/image" Target="../media/image48.png"/><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8.xml.rels><?xml version="1.0" encoding="UTF-8" standalone="yes"?>
<Relationships xmlns="http://schemas.openxmlformats.org/package/2006/relationships"><Relationship Id="rId8" Type="http://schemas.openxmlformats.org/officeDocument/2006/relationships/hyperlink" Target="https://en.wikipedia.org/wiki/Non-functional_requirement" TargetMode="External"/><Relationship Id="rId3" Type="http://schemas.openxmlformats.org/officeDocument/2006/relationships/diagramLayout" Target="../diagrams/layout103.xml"/><Relationship Id="rId7" Type="http://schemas.openxmlformats.org/officeDocument/2006/relationships/image" Target="../media/image49.png"/><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11" Type="http://schemas.openxmlformats.org/officeDocument/2006/relationships/hyperlink" Target="https://www.packtpub.com/en-in/product/mastering-non-functional-requirements-9781788297899" TargetMode="External"/><Relationship Id="rId5" Type="http://schemas.openxmlformats.org/officeDocument/2006/relationships/diagramColors" Target="../diagrams/colors103.xml"/><Relationship Id="rId10" Type="http://schemas.openxmlformats.org/officeDocument/2006/relationships/hyperlink" Target="https://msrviking.wordpress.com/tag/non-functional-requirement/" TargetMode="External"/><Relationship Id="rId4" Type="http://schemas.openxmlformats.org/officeDocument/2006/relationships/diagramQuickStyle" Target="../diagrams/quickStyle103.xml"/><Relationship Id="rId9" Type="http://schemas.openxmlformats.org/officeDocument/2006/relationships/hyperlink" Target="https://medium.com/@iagomodesto/rest-api-development-gentle-checklist-of-non-functional-requirements-for-success-df2170956190" TargetMode="Externa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11.xml.rels><?xml version="1.0" encoding="UTF-8" standalone="yes"?>
<Relationships xmlns="http://schemas.openxmlformats.org/package/2006/relationships"><Relationship Id="rId8" Type="http://schemas.openxmlformats.org/officeDocument/2006/relationships/hyperlink" Target="https://stackoverflow.com/questions/16958448/what-is-http-multipart-request" TargetMode="External"/><Relationship Id="rId3" Type="http://schemas.openxmlformats.org/officeDocument/2006/relationships/diagramLayout" Target="../diagrams/layout106.xml"/><Relationship Id="rId7" Type="http://schemas.openxmlformats.org/officeDocument/2006/relationships/hyperlink" Target="https://stackoverflow.com/questions/43594911/how-to-load-large-files-with-streamreader-in-chunks" TargetMode="Externa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 Id="rId9" Type="http://schemas.openxmlformats.org/officeDocument/2006/relationships/hyperlink" Target="https://stackoverflow.com/questions/1078523/how-do-i-download-a-large-file-via-http-in-net" TargetMode="External"/></Relationships>
</file>

<file path=ppt/slides/_rels/slide112.xml.rels><?xml version="1.0" encoding="UTF-8" standalone="yes"?>
<Relationships xmlns="http://schemas.openxmlformats.org/package/2006/relationships"><Relationship Id="rId3" Type="http://schemas.openxmlformats.org/officeDocument/2006/relationships/diagramLayout" Target="../diagrams/layout107.xml"/><Relationship Id="rId7" Type="http://schemas.openxmlformats.org/officeDocument/2006/relationships/hyperlink" Target="https://blog.bytebytego.com/p/ep112-what-is-a-deadlock?open=false#%C2%A7top-cases-behind-cpu-usage" TargetMode="Externa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4" Type="http://schemas.openxmlformats.org/officeDocument/2006/relationships/diagramQuickStyle" Target="../diagrams/quickStyle107.xm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08.xm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5" Type="http://schemas.openxmlformats.org/officeDocument/2006/relationships/diagramColors" Target="../diagrams/colors108.xml"/><Relationship Id="rId4" Type="http://schemas.openxmlformats.org/officeDocument/2006/relationships/diagramQuickStyle" Target="../diagrams/quickStyle108.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09.xml"/><Relationship Id="rId7" Type="http://schemas.openxmlformats.org/officeDocument/2006/relationships/hyperlink" Target="https://www.geeksforgeeks.org/sql-performance-tuning/" TargetMode="External"/><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15.xml.rels><?xml version="1.0" encoding="UTF-8" standalone="yes"?>
<Relationships xmlns="http://schemas.openxmlformats.org/package/2006/relationships"><Relationship Id="rId8" Type="http://schemas.openxmlformats.org/officeDocument/2006/relationships/hyperlink" Target="https://stackoverflow.com/questions/1349850/c-sharp-what-are-some-high-performance-best-practices-tips-for-ado-net" TargetMode="External"/><Relationship Id="rId3" Type="http://schemas.openxmlformats.org/officeDocument/2006/relationships/diagramLayout" Target="../diagrams/layout110.xml"/><Relationship Id="rId7" Type="http://schemas.openxmlformats.org/officeDocument/2006/relationships/hyperlink" Target="https://www.linkedin.com/posts/mwaseemzakir_15-steps-to-improve-ef-core-performance-activity-7059768639381475328-1YkS/?trk=public_profile_like_view" TargetMode="External"/><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16.xml.rels><?xml version="1.0" encoding="UTF-8" standalone="yes"?>
<Relationships xmlns="http://schemas.openxmlformats.org/package/2006/relationships"><Relationship Id="rId8" Type="http://schemas.openxmlformats.org/officeDocument/2006/relationships/hyperlink" Target="https://docs.aws.amazon.com/AmazonElastiCache/latest/dg/CacheNodes.SelectSize.html" TargetMode="External"/><Relationship Id="rId3" Type="http://schemas.openxmlformats.org/officeDocument/2006/relationships/diagramLayout" Target="../diagrams/layout111.xml"/><Relationship Id="rId7" Type="http://schemas.openxmlformats.org/officeDocument/2006/relationships/hyperlink" Target="https://aws.amazon.com/elasticache/redis-vs-memcached/" TargetMode="Externa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 Id="rId9" Type="http://schemas.openxmlformats.org/officeDocument/2006/relationships/hyperlink" Target="https://stackoverflow.com/questions/36203532/why-redis-cluster-only-have-16384-slots" TargetMode="External"/></Relationships>
</file>

<file path=ppt/slides/_rels/slide117.xml.rels><?xml version="1.0" encoding="UTF-8" standalone="yes"?>
<Relationships xmlns="http://schemas.openxmlformats.org/package/2006/relationships"><Relationship Id="rId8" Type="http://schemas.openxmlformats.org/officeDocument/2006/relationships/hyperlink" Target="https://blog.bytebytego.com/p/top-caching-strategies" TargetMode="External"/><Relationship Id="rId3" Type="http://schemas.openxmlformats.org/officeDocument/2006/relationships/diagramLayout" Target="../diagrams/layout112.xml"/><Relationship Id="rId7" Type="http://schemas.openxmlformats.org/officeDocument/2006/relationships/hyperlink" Target="https://www.geeksforgeeks.org/types-of-cache/" TargetMode="External"/><Relationship Id="rId12" Type="http://schemas.openxmlformats.org/officeDocument/2006/relationships/hyperlink" Target="https://www.milanjovanovic.tech/blog/hybrid-cache-in-aspnetcore-new-caching-library" TargetMode="External"/><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11" Type="http://schemas.openxmlformats.org/officeDocument/2006/relationships/hyperlink" Target="https://medium.com/@Gotit.GotIT/optimizing-distributed-cache-for-read-heavy-vs-write-heavy-workloads-with-docker-e97d94fc5bc9" TargetMode="External"/><Relationship Id="rId5" Type="http://schemas.openxmlformats.org/officeDocument/2006/relationships/diagramColors" Target="../diagrams/colors112.xml"/><Relationship Id="rId10" Type="http://schemas.openxmlformats.org/officeDocument/2006/relationships/hyperlink" Target="https://en.wikipedia.org/wiki/Cache_replacement_policies" TargetMode="External"/><Relationship Id="rId4" Type="http://schemas.openxmlformats.org/officeDocument/2006/relationships/diagramQuickStyle" Target="../diagrams/quickStyle112.xml"/><Relationship Id="rId9" Type="http://schemas.openxmlformats.org/officeDocument/2006/relationships/hyperlink" Target="https://medium.com/@mmoshikoo/cache-strategies-996e91c80303" TargetMode="Externa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13.xml"/><Relationship Id="rId7" Type="http://schemas.openxmlformats.org/officeDocument/2006/relationships/hyperlink" Target="https://www.codeproject.com/Articles/114262/6-ways-of-doing-locking-in-NET-Pessimistic-and-opt?X-OpenDNS-Session=_9de9c51505afd04e25087660fe05563471999270ed46_iOJXkOqY_" TargetMode="Externa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20.xml.rels><?xml version="1.0" encoding="UTF-8" standalone="yes"?>
<Relationships xmlns="http://schemas.openxmlformats.org/package/2006/relationships"><Relationship Id="rId8" Type="http://schemas.openxmlformats.org/officeDocument/2006/relationships/hyperlink" Target="https://www.educative.io/answers/whats-the-difference-between-optimistic-and-pessimistic-locking" TargetMode="External"/><Relationship Id="rId3" Type="http://schemas.openxmlformats.org/officeDocument/2006/relationships/diagramLayout" Target="../diagrams/layout115.xml"/><Relationship Id="rId7" Type="http://schemas.openxmlformats.org/officeDocument/2006/relationships/hyperlink" Target="http://en.wikipedia.org/wiki/Client-server" TargetMode="Externa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5" Type="http://schemas.openxmlformats.org/officeDocument/2006/relationships/diagramColors" Target="../diagrams/colors115.xml"/><Relationship Id="rId4" Type="http://schemas.openxmlformats.org/officeDocument/2006/relationships/diagramQuickStyle" Target="../diagrams/quickStyle115.xml"/></Relationships>
</file>

<file path=ppt/slides/_rels/slide121.xml.rels><?xml version="1.0" encoding="UTF-8" standalone="yes"?>
<Relationships xmlns="http://schemas.openxmlformats.org/package/2006/relationships"><Relationship Id="rId8" Type="http://schemas.openxmlformats.org/officeDocument/2006/relationships/hyperlink" Target="https://learn.microsoft.com/en-us/ef/core/saving/concurrency?tabs=data-annotations" TargetMode="External"/><Relationship Id="rId3" Type="http://schemas.openxmlformats.org/officeDocument/2006/relationships/diagramLayout" Target="../diagrams/layout116.xml"/><Relationship Id="rId7" Type="http://schemas.openxmlformats.org/officeDocument/2006/relationships/hyperlink" Target="https://www.codeproject.com/Articles/676309/ADO-NET-Entity-Framework-Interview-Questions#HowcanwehandleconcurrencyinEntityframework" TargetMode="External"/><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10" Type="http://schemas.openxmlformats.org/officeDocument/2006/relationships/hyperlink" Target="https://medium.com/@roopa.kushtagi/concurrency-control-mechanisms-in-distributed-systems-4c7e510b2427" TargetMode="External"/><Relationship Id="rId4" Type="http://schemas.openxmlformats.org/officeDocument/2006/relationships/diagramQuickStyle" Target="../diagrams/quickStyle116.xml"/><Relationship Id="rId9" Type="http://schemas.openxmlformats.org/officeDocument/2006/relationships/hyperlink" Target="https://www.linkedin.com/posts/alexxubyte_systemdesign-coding-interviewtips-activity-7211031615462895616-678T/" TargetMode="External"/></Relationships>
</file>

<file path=ppt/slides/_rels/slide122.xml.rels><?xml version="1.0" encoding="UTF-8" standalone="yes"?>
<Relationships xmlns="http://schemas.openxmlformats.org/package/2006/relationships"><Relationship Id="rId3" Type="http://schemas.openxmlformats.org/officeDocument/2006/relationships/diagramLayout" Target="../diagrams/layout117.xml"/><Relationship Id="rId7" Type="http://schemas.openxmlformats.org/officeDocument/2006/relationships/image" Target="../media/image50.png"/><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23.xml.rels><?xml version="1.0" encoding="UTF-8" standalone="yes"?>
<Relationships xmlns="http://schemas.openxmlformats.org/package/2006/relationships"><Relationship Id="rId8" Type="http://schemas.openxmlformats.org/officeDocument/2006/relationships/hyperlink" Target="https://www.keycdn.com/blog/frontend-optimization" TargetMode="External"/><Relationship Id="rId13" Type="http://schemas.openxmlformats.org/officeDocument/2006/relationships/hyperlink" Target="https://learn.microsoft.com/en-us/azure/service-bus-messaging/service-bus-performance-improvements?tabs=net-standard-sdk-2" TargetMode="External"/><Relationship Id="rId3" Type="http://schemas.openxmlformats.org/officeDocument/2006/relationships/diagramLayout" Target="../diagrams/layout118.xml"/><Relationship Id="rId7" Type="http://schemas.openxmlformats.org/officeDocument/2006/relationships/hyperlink" Target="https://stackoverflow.com/questions/5321876/which-one-to-use-expire-header-last-modified-header-or-etags" TargetMode="External"/><Relationship Id="rId12" Type="http://schemas.openxmlformats.org/officeDocument/2006/relationships/hyperlink" Target="https://github.com/PacktPublishing/ASP.NET-Core-1.0-High-Performance" TargetMode="Externa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11" Type="http://schemas.openxmlformats.org/officeDocument/2006/relationships/hyperlink" Target="https://www.linkedin.com/posts/maheshma_performanceengineering-testing-softwareengineering-activity-7203946221932093440-7jWO/" TargetMode="External"/><Relationship Id="rId5" Type="http://schemas.openxmlformats.org/officeDocument/2006/relationships/diagramColors" Target="../diagrams/colors118.xml"/><Relationship Id="rId10" Type="http://schemas.openxmlformats.org/officeDocument/2006/relationships/hyperlink" Target="https://www.linkedin.com/feed/update/urn:li:activity:7218872038575243267/" TargetMode="External"/><Relationship Id="rId4" Type="http://schemas.openxmlformats.org/officeDocument/2006/relationships/diagramQuickStyle" Target="../diagrams/quickStyle118.xml"/><Relationship Id="rId9" Type="http://schemas.openxmlformats.org/officeDocument/2006/relationships/hyperlink" Target="https://www.martinfowler.com/articles/data-fetch-spa.html" TargetMode="External"/></Relationships>
</file>

<file path=ppt/slides/_rels/slide124.xml.rels><?xml version="1.0" encoding="UTF-8" standalone="yes"?>
<Relationships xmlns="http://schemas.openxmlformats.org/package/2006/relationships"><Relationship Id="rId3" Type="http://schemas.openxmlformats.org/officeDocument/2006/relationships/diagramLayout" Target="../diagrams/layout119.xml"/><Relationship Id="rId7" Type="http://schemas.openxmlformats.org/officeDocument/2006/relationships/hyperlink" Target="https://bravenewgeek.com/benchmarking-message-queue-latency/" TargetMode="Externa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4" Type="http://schemas.openxmlformats.org/officeDocument/2006/relationships/diagramQuickStyle" Target="../diagrams/quickStyle119.xml"/></Relationships>
</file>

<file path=ppt/slides/_rels/slide125.xml.rels><?xml version="1.0" encoding="UTF-8" standalone="yes"?>
<Relationships xmlns="http://schemas.openxmlformats.org/package/2006/relationships"><Relationship Id="rId3" Type="http://schemas.openxmlformats.org/officeDocument/2006/relationships/diagramLayout" Target="../diagrams/layout120.xml"/><Relationship Id="rId7" Type="http://schemas.openxmlformats.org/officeDocument/2006/relationships/image" Target="../media/image51.png"/><Relationship Id="rId2" Type="http://schemas.openxmlformats.org/officeDocument/2006/relationships/diagramData" Target="../diagrams/data120.xml"/><Relationship Id="rId1" Type="http://schemas.openxmlformats.org/officeDocument/2006/relationships/slideLayout" Target="../slideLayouts/slideLayout2.xml"/><Relationship Id="rId6" Type="http://schemas.microsoft.com/office/2007/relationships/diagramDrawing" Target="../diagrams/drawing120.xml"/><Relationship Id="rId5" Type="http://schemas.openxmlformats.org/officeDocument/2006/relationships/diagramColors" Target="../diagrams/colors120.xml"/><Relationship Id="rId4" Type="http://schemas.openxmlformats.org/officeDocument/2006/relationships/diagramQuickStyle" Target="../diagrams/quickStyle120.xml"/></Relationships>
</file>

<file path=ppt/slides/_rels/slide126.xml.rels><?xml version="1.0" encoding="UTF-8" standalone="yes"?>
<Relationships xmlns="http://schemas.openxmlformats.org/package/2006/relationships"><Relationship Id="rId3" Type="http://schemas.openxmlformats.org/officeDocument/2006/relationships/diagramLayout" Target="../diagrams/layout121.xml"/><Relationship Id="rId7" Type="http://schemas.openxmlformats.org/officeDocument/2006/relationships/image" Target="../media/image52.png"/><Relationship Id="rId2" Type="http://schemas.openxmlformats.org/officeDocument/2006/relationships/diagramData" Target="../diagrams/data121.xml"/><Relationship Id="rId1" Type="http://schemas.openxmlformats.org/officeDocument/2006/relationships/slideLayout" Target="../slideLayouts/slideLayout2.xml"/><Relationship Id="rId6" Type="http://schemas.microsoft.com/office/2007/relationships/diagramDrawing" Target="../diagrams/drawing121.xml"/><Relationship Id="rId5" Type="http://schemas.openxmlformats.org/officeDocument/2006/relationships/diagramColors" Target="../diagrams/colors121.xml"/><Relationship Id="rId4" Type="http://schemas.openxmlformats.org/officeDocument/2006/relationships/diagramQuickStyle" Target="../diagrams/quickStyle121.xml"/></Relationships>
</file>

<file path=ppt/slides/_rels/slide127.xml.rels><?xml version="1.0" encoding="UTF-8" standalone="yes"?>
<Relationships xmlns="http://schemas.openxmlformats.org/package/2006/relationships"><Relationship Id="rId3" Type="http://schemas.openxmlformats.org/officeDocument/2006/relationships/diagramLayout" Target="../diagrams/layout122.xml"/><Relationship Id="rId7" Type="http://schemas.openxmlformats.org/officeDocument/2006/relationships/image" Target="../media/image53.png"/><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5" Type="http://schemas.openxmlformats.org/officeDocument/2006/relationships/diagramColors" Target="../diagrams/colors122.xml"/><Relationship Id="rId4" Type="http://schemas.openxmlformats.org/officeDocument/2006/relationships/diagramQuickStyle" Target="../diagrams/quickStyle122.xml"/></Relationships>
</file>

<file path=ppt/slides/_rels/slide128.xml.rels><?xml version="1.0" encoding="UTF-8" standalone="yes"?>
<Relationships xmlns="http://schemas.openxmlformats.org/package/2006/relationships"><Relationship Id="rId8" Type="http://schemas.openxmlformats.org/officeDocument/2006/relationships/hyperlink" Target="https://www.nops.io/blog/horizontal-vs-vertical-scaling" TargetMode="External"/><Relationship Id="rId3" Type="http://schemas.openxmlformats.org/officeDocument/2006/relationships/diagramLayout" Target="../diagrams/layout123.xml"/><Relationship Id="rId7" Type="http://schemas.openxmlformats.org/officeDocument/2006/relationships/hyperlink" Target="https://mybaker.co/blogs/blogposts/whats-the-difference-between-a-tier-and-a-layer" TargetMode="External"/><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4" Type="http://schemas.openxmlformats.org/officeDocument/2006/relationships/diagramQuickStyle" Target="../diagrams/quickStyle123.xml"/><Relationship Id="rId9" Type="http://schemas.openxmlformats.org/officeDocument/2006/relationships/hyperlink" Target="https://microservices.io/articles/scalecube.html" TargetMode="External"/></Relationships>
</file>

<file path=ppt/slides/_rels/slide129.xml.rels><?xml version="1.0" encoding="UTF-8" standalone="yes"?>
<Relationships xmlns="http://schemas.openxmlformats.org/package/2006/relationships"><Relationship Id="rId3" Type="http://schemas.openxmlformats.org/officeDocument/2006/relationships/diagramLayout" Target="../diagrams/layout124.xml"/><Relationship Id="rId7" Type="http://schemas.openxmlformats.org/officeDocument/2006/relationships/image" Target="../media/image54.png"/><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30.xml.rels><?xml version="1.0" encoding="UTF-8" standalone="yes"?>
<Relationships xmlns="http://schemas.openxmlformats.org/package/2006/relationships"><Relationship Id="rId3" Type="http://schemas.openxmlformats.org/officeDocument/2006/relationships/diagramLayout" Target="../diagrams/layout125.xml"/><Relationship Id="rId7" Type="http://schemas.openxmlformats.org/officeDocument/2006/relationships/image" Target="../media/image55.png"/><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26.xml"/><Relationship Id="rId7" Type="http://schemas.openxmlformats.org/officeDocument/2006/relationships/image" Target="../media/image56.png"/><Relationship Id="rId2" Type="http://schemas.openxmlformats.org/officeDocument/2006/relationships/diagramData" Target="../diagrams/data126.xml"/><Relationship Id="rId1" Type="http://schemas.openxmlformats.org/officeDocument/2006/relationships/slideLayout" Target="../slideLayouts/slideLayout2.xml"/><Relationship Id="rId6" Type="http://schemas.microsoft.com/office/2007/relationships/diagramDrawing" Target="../diagrams/drawing126.xml"/><Relationship Id="rId5" Type="http://schemas.openxmlformats.org/officeDocument/2006/relationships/diagramColors" Target="../diagrams/colors126.xml"/><Relationship Id="rId4" Type="http://schemas.openxmlformats.org/officeDocument/2006/relationships/diagramQuickStyle" Target="../diagrams/quickStyle126.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27.xml"/><Relationship Id="rId7" Type="http://schemas.openxmlformats.org/officeDocument/2006/relationships/image" Target="../media/image57.png"/><Relationship Id="rId2" Type="http://schemas.openxmlformats.org/officeDocument/2006/relationships/diagramData" Target="../diagrams/data127.xml"/><Relationship Id="rId1" Type="http://schemas.openxmlformats.org/officeDocument/2006/relationships/slideLayout" Target="../slideLayouts/slideLayout2.xml"/><Relationship Id="rId6" Type="http://schemas.microsoft.com/office/2007/relationships/diagramDrawing" Target="../diagrams/drawing127.xml"/><Relationship Id="rId5" Type="http://schemas.openxmlformats.org/officeDocument/2006/relationships/diagramColors" Target="../diagrams/colors127.xml"/><Relationship Id="rId4" Type="http://schemas.openxmlformats.org/officeDocument/2006/relationships/diagramQuickStyle" Target="../diagrams/quickStyle127.xml"/></Relationships>
</file>

<file path=ppt/slides/_rels/slide133.xml.rels><?xml version="1.0" encoding="UTF-8" standalone="yes"?>
<Relationships xmlns="http://schemas.openxmlformats.org/package/2006/relationships"><Relationship Id="rId3" Type="http://schemas.openxmlformats.org/officeDocument/2006/relationships/diagramLayout" Target="../diagrams/layout128.xml"/><Relationship Id="rId7" Type="http://schemas.openxmlformats.org/officeDocument/2006/relationships/image" Target="../media/image58.png"/><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4" Type="http://schemas.openxmlformats.org/officeDocument/2006/relationships/diagramQuickStyle" Target="../diagrams/quickStyle128.xml"/></Relationships>
</file>

<file path=ppt/slides/_rels/slide134.xml.rels><?xml version="1.0" encoding="UTF-8" standalone="yes"?>
<Relationships xmlns="http://schemas.openxmlformats.org/package/2006/relationships"><Relationship Id="rId8" Type="http://schemas.openxmlformats.org/officeDocument/2006/relationships/hyperlink" Target="https://systemdesign.one/consistent-hashing-explained/" TargetMode="External"/><Relationship Id="rId3" Type="http://schemas.openxmlformats.org/officeDocument/2006/relationships/diagramLayout" Target="../diagrams/layout129.xml"/><Relationship Id="rId7" Type="http://schemas.openxmlformats.org/officeDocument/2006/relationships/image" Target="../media/image59.png"/><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5" Type="http://schemas.openxmlformats.org/officeDocument/2006/relationships/diagramColors" Target="../diagrams/colors129.xml"/><Relationship Id="rId10" Type="http://schemas.openxmlformats.org/officeDocument/2006/relationships/hyperlink" Target="https://docs.datastax.com/en/cassandra-oss/3.0/cassandra/architecture/archDataDistributeDistribute.html" TargetMode="External"/><Relationship Id="rId4" Type="http://schemas.openxmlformats.org/officeDocument/2006/relationships/diagramQuickStyle" Target="../diagrams/quickStyle129.xml"/><Relationship Id="rId9" Type="http://schemas.openxmlformats.org/officeDocument/2006/relationships/hyperlink" Target="https://www.toptal.com/big-data/consistent-hashing" TargetMode="External"/></Relationships>
</file>

<file path=ppt/slides/_rels/slide135.xml.rels><?xml version="1.0" encoding="UTF-8" standalone="yes"?>
<Relationships xmlns="http://schemas.openxmlformats.org/package/2006/relationships"><Relationship Id="rId8" Type="http://schemas.openxmlformats.org/officeDocument/2006/relationships/hyperlink" Target="https://levelup.gitconnected.com/distributed-systems-physical-logical-and-vector-clocks-7ca989f5f780" TargetMode="External"/><Relationship Id="rId13" Type="http://schemas.openxmlformats.org/officeDocument/2006/relationships/hyperlink" Target="https://medium.com/coinmonks/chain-replication-how-to-build-an-effective-kv-storage-part-1-2-b0ce10d5afc3" TargetMode="External"/><Relationship Id="rId18" Type="http://schemas.openxmlformats.org/officeDocument/2006/relationships/hyperlink" Target="https://www.datacamp.com/blog/sharding-vs-partitioning" TargetMode="External"/><Relationship Id="rId3" Type="http://schemas.openxmlformats.org/officeDocument/2006/relationships/diagramData" Target="../diagrams/data130.xml"/><Relationship Id="rId7" Type="http://schemas.microsoft.com/office/2007/relationships/diagramDrawing" Target="../diagrams/drawing130.xml"/><Relationship Id="rId12" Type="http://schemas.openxmlformats.org/officeDocument/2006/relationships/hyperlink" Target="https://medium.com/@remisharoon/paxos-vs-raft-vs-zab-a-comprehensive-dive-into-distributed-consensus-protocols-6243a3f6539b" TargetMode="External"/><Relationship Id="rId17" Type="http://schemas.openxmlformats.org/officeDocument/2006/relationships/hyperlink" Target="https://blog.techlanika.com/avoiding-coordination-cost-three-patterns-for-building-efficient-distributed-systems-b8aff9314e88" TargetMode="External"/><Relationship Id="rId2" Type="http://schemas.openxmlformats.org/officeDocument/2006/relationships/notesSlide" Target="../notesSlides/notesSlide15.xml"/><Relationship Id="rId16" Type="http://schemas.openxmlformats.org/officeDocument/2006/relationships/hyperlink" Target="https://betterprogramming.pub/system-design-concepts-dynamo-16-sheets-of-paper-that-changed-the-world-fd2cba6585e3" TargetMode="External"/><Relationship Id="rId1" Type="http://schemas.openxmlformats.org/officeDocument/2006/relationships/slideLayout" Target="../slideLayouts/slideLayout2.xml"/><Relationship Id="rId6" Type="http://schemas.openxmlformats.org/officeDocument/2006/relationships/diagramColors" Target="../diagrams/colors130.xml"/><Relationship Id="rId11" Type="http://schemas.openxmlformats.org/officeDocument/2006/relationships/hyperlink" Target="https://www.educative.io/answers/how-does-the-leader-election-in-raft-work" TargetMode="External"/><Relationship Id="rId5" Type="http://schemas.openxmlformats.org/officeDocument/2006/relationships/diagramQuickStyle" Target="../diagrams/quickStyle130.xml"/><Relationship Id="rId15" Type="http://schemas.openxmlformats.org/officeDocument/2006/relationships/hyperlink" Target="https://www.sciencedirect.com/science/article/pii/B9780080316642500139" TargetMode="External"/><Relationship Id="rId10" Type="http://schemas.openxmlformats.org/officeDocument/2006/relationships/hyperlink" Target="https://learn.microsoft.com/en-us/azure/architecture/patterns/leader-election" TargetMode="External"/><Relationship Id="rId4" Type="http://schemas.openxmlformats.org/officeDocument/2006/relationships/diagramLayout" Target="../diagrams/layout130.xml"/><Relationship Id="rId9" Type="http://schemas.openxmlformats.org/officeDocument/2006/relationships/hyperlink" Target="https://www.linkedin.com/posts/maheshma_systemdesign-engineering-productdevelopment-activity-7149225837093920768-PW4P/" TargetMode="External"/><Relationship Id="rId14" Type="http://schemas.openxmlformats.org/officeDocument/2006/relationships/hyperlink" Target="https://medium.com/@istanbul_techie/a-look-at-conflict-free-replicated-data-types-crdt-221a5f629e7e" TargetMode="External"/></Relationships>
</file>

<file path=ppt/slides/_rels/slide136.xml.rels><?xml version="1.0" encoding="UTF-8" standalone="yes"?>
<Relationships xmlns="http://schemas.openxmlformats.org/package/2006/relationships"><Relationship Id="rId8" Type="http://schemas.openxmlformats.org/officeDocument/2006/relationships/hyperlink" Target="https://www.linkedin.com/feed/update/urn:li:activity:7216096293738184706/" TargetMode="External"/><Relationship Id="rId13" Type="http://schemas.openxmlformats.org/officeDocument/2006/relationships/hyperlink" Target="https://www.amazon.in/Web-Operations-Keeping-Data-Time-ebook/dp/B0043M4Z34" TargetMode="External"/><Relationship Id="rId18" Type="http://schemas.openxmlformats.org/officeDocument/2006/relationships/hyperlink" Target="https://learn.microsoft.com/en-us/azure/service-bus-messaging/service-bus-quotas" TargetMode="External"/><Relationship Id="rId3" Type="http://schemas.openxmlformats.org/officeDocument/2006/relationships/diagramLayout" Target="../diagrams/layout131.xml"/><Relationship Id="rId21" Type="http://schemas.openxmlformats.org/officeDocument/2006/relationships/hyperlink" Target="https://gist.github.com/sandipray63in/842c7c80f3a9db886159f5b6ff087824" TargetMode="External"/><Relationship Id="rId7" Type="http://schemas.openxmlformats.org/officeDocument/2006/relationships/hyperlink" Target="https://www3.cs.stonybrook.edu/~anshul/courses/cse591_s16/autoscaling_survey.pdf" TargetMode="External"/><Relationship Id="rId12" Type="http://schemas.openxmlformats.org/officeDocument/2006/relationships/hyperlink" Target="https://www.amazon.in/Scalability-Rules-Principles-Scaling-Sites-ebook/dp/B00503D1TY" TargetMode="External"/><Relationship Id="rId17" Type="http://schemas.openxmlformats.org/officeDocument/2006/relationships/hyperlink" Target="https://learn.microsoft.com/en-us/azure/service-bus-messaging/automate-update-messaging-units" TargetMode="External"/><Relationship Id="rId2" Type="http://schemas.openxmlformats.org/officeDocument/2006/relationships/diagramData" Target="../diagrams/data131.xml"/><Relationship Id="rId16" Type="http://schemas.openxmlformats.org/officeDocument/2006/relationships/hyperlink" Target="https://learn.microsoft.com/en-us/azure/aks/best-practices-performance-scale" TargetMode="External"/><Relationship Id="rId20" Type="http://schemas.openxmlformats.org/officeDocument/2006/relationships/hyperlink" Target="https://learn.microsoft.com/en-us/azure/aks/keda-about" TargetMode="External"/><Relationship Id="rId1" Type="http://schemas.openxmlformats.org/officeDocument/2006/relationships/slideLayout" Target="../slideLayouts/slideLayout2.xml"/><Relationship Id="rId6" Type="http://schemas.microsoft.com/office/2007/relationships/diagramDrawing" Target="../diagrams/drawing131.xml"/><Relationship Id="rId11" Type="http://schemas.openxmlformats.org/officeDocument/2006/relationships/hyperlink" Target="https://www.oreilly.com/library/view/the-art-of/9781491939192/" TargetMode="External"/><Relationship Id="rId5" Type="http://schemas.openxmlformats.org/officeDocument/2006/relationships/diagramColors" Target="../diagrams/colors131.xml"/><Relationship Id="rId15" Type="http://schemas.openxmlformats.org/officeDocument/2006/relationships/hyperlink" Target="https://learn.microsoft.com/en-us/azure/aks/concepts-scale" TargetMode="External"/><Relationship Id="rId10" Type="http://schemas.openxmlformats.org/officeDocument/2006/relationships/hyperlink" Target="https://www.amazon.in/Art-Scalability-Architecture-Organizations-Enterprise-ebook/dp/B00YF0OSHC" TargetMode="External"/><Relationship Id="rId19" Type="http://schemas.openxmlformats.org/officeDocument/2006/relationships/hyperlink" Target="https://mikhail.io/2017/07/sending-large-batches-to-azure-service-bus/" TargetMode="External"/><Relationship Id="rId4" Type="http://schemas.openxmlformats.org/officeDocument/2006/relationships/diagramQuickStyle" Target="../diagrams/quickStyle131.xml"/><Relationship Id="rId9" Type="http://schemas.openxmlformats.org/officeDocument/2006/relationships/hyperlink" Target="https://www.linkedin.com/posts/sina-riyahi_backend-fullstack-developer-activity-7202949667351937024-waTb/" TargetMode="External"/><Relationship Id="rId14" Type="http://schemas.openxmlformats.org/officeDocument/2006/relationships/hyperlink" Target="https://azure.github.io/Cloud-Native/cnny-2023/fundamentals-day-5/" TargetMode="External"/></Relationships>
</file>

<file path=ppt/slides/_rels/slide137.xml.rels><?xml version="1.0" encoding="UTF-8" standalone="yes"?>
<Relationships xmlns="http://schemas.openxmlformats.org/package/2006/relationships"><Relationship Id="rId8" Type="http://schemas.openxmlformats.org/officeDocument/2006/relationships/hyperlink" Target="https://d1.awsstatic.com/whitepapers/architecture/CalculatingTotalSystemAvailability.pdf" TargetMode="External"/><Relationship Id="rId13" Type="http://schemas.openxmlformats.org/officeDocument/2006/relationships/hyperlink" Target="https://stackoverflow.com/questions/58770795/performing-a-health-check-in-net-core-worker-service" TargetMode="External"/><Relationship Id="rId3" Type="http://schemas.openxmlformats.org/officeDocument/2006/relationships/diagramLayout" Target="../diagrams/layout132.xml"/><Relationship Id="rId7" Type="http://schemas.openxmlformats.org/officeDocument/2006/relationships/hyperlink" Target="https://www.eventhelix.com/fault-handling/system-reliability-availability/" TargetMode="External"/><Relationship Id="rId12" Type="http://schemas.openxmlformats.org/officeDocument/2006/relationships/hyperlink" Target="https://www.youtube.com/watch?v=Q5kVuM7zEUI" TargetMode="Externa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11" Type="http://schemas.openxmlformats.org/officeDocument/2006/relationships/hyperlink" Target="https://learn.microsoft.com/en-us/azure/architecture/guide/aks/aks-high-availability" TargetMode="External"/><Relationship Id="rId5" Type="http://schemas.openxmlformats.org/officeDocument/2006/relationships/diagramColors" Target="../diagrams/colors132.xml"/><Relationship Id="rId10" Type="http://schemas.openxmlformats.org/officeDocument/2006/relationships/hyperlink" Target="https://www.davidguida.net/health-checks-with-asp-net-core-and-kubernetes/" TargetMode="External"/><Relationship Id="rId4" Type="http://schemas.openxmlformats.org/officeDocument/2006/relationships/diagramQuickStyle" Target="../diagrams/quickStyle132.xml"/><Relationship Id="rId9" Type="http://schemas.openxmlformats.org/officeDocument/2006/relationships/hyperlink" Target="https://www.sedai.io/blog/system-availability-calculation-definition-and-measurement" TargetMode="External"/></Relationships>
</file>

<file path=ppt/slides/_rels/slide138.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46d8f456fc647ea5&amp;sxsrf=AE3TifNDLoEIu_tJAOFPiPzZOnk7jiIWYw%3A1754371051152&amp;q=MTTR+%28Mean+Time+to+Repair%2FResolution%29&amp;sa=X&amp;ved=2ahUKEwjU8L659fKOAxXg3TgGHdvdI60QxccNegQIDxAB&amp;mstk=AUtExfCvwzx0hHXloPmoX3A5T7ANmqYoRoBScVQ6WS9CyJz_OtYViWqwx9-4kG0SoMaUYYp0G88L1pJZ9MniP1HsNJHL0qXD3ZKJIFTxhYNMoR2CiNzvzKPeDePiUr9EWReXU0hVL7wfKLkW3lRwgp0lRC3WD79jigC1pMtclNTWTZx_BU8&amp;csui=3" TargetMode="External"/><Relationship Id="rId3" Type="http://schemas.openxmlformats.org/officeDocument/2006/relationships/diagramLayout" Target="../diagrams/layout133.xml"/><Relationship Id="rId7" Type="http://schemas.openxmlformats.org/officeDocument/2006/relationships/hyperlink" Target="https://www.google.com/search?safe=active&amp;rlz=1C1GCEW_enIN1075IN1075&amp;cs=0&amp;sca_esv=46d8f456fc647ea5&amp;sxsrf=AE3TifNDLoEIu_tJAOFPiPzZOnk7jiIWYw%3A1754371051152&amp;q=MTTD+%28Mean+Time+to+Detect%29&amp;sa=X&amp;ved=2ahUKEwjU8L659fKOAxXg3TgGHdvdI60QxccNegQIDRAB&amp;mstk=AUtExfCvwzx0hHXloPmoX3A5T7ANmqYoRoBScVQ6WS9CyJz_OtYViWqwx9-4kG0SoMaUYYp0G88L1pJZ9MniP1HsNJHL0qXD3ZKJIFTxhYNMoR2CiNzvzKPeDePiUr9EWReXU0hVL7wfKLkW3lRwgp0lRC3WD79jigC1pMtclNTWTZx_BU8&amp;csui=3" TargetMode="External"/><Relationship Id="rId2" Type="http://schemas.openxmlformats.org/officeDocument/2006/relationships/diagramData" Target="../diagrams/data133.xml"/><Relationship Id="rId1" Type="http://schemas.openxmlformats.org/officeDocument/2006/relationships/slideLayout" Target="../slideLayouts/slideLayout2.xml"/><Relationship Id="rId6" Type="http://schemas.microsoft.com/office/2007/relationships/diagramDrawing" Target="../diagrams/drawing133.xml"/><Relationship Id="rId5" Type="http://schemas.openxmlformats.org/officeDocument/2006/relationships/diagramColors" Target="../diagrams/colors133.xml"/><Relationship Id="rId4" Type="http://schemas.openxmlformats.org/officeDocument/2006/relationships/diagramQuickStyle" Target="../diagrams/quickStyle133.xml"/><Relationship Id="rId9" Type="http://schemas.openxmlformats.org/officeDocument/2006/relationships/hyperlink" Target="https://www.google.com/search?safe=active&amp;rlz=1C1GCEW_enIN1075IN1075&amp;cs=0&amp;sca_esv=46d8f456fc647ea5&amp;sxsrf=AE3TifNDLoEIu_tJAOFPiPzZOnk7jiIWYw%3A1754371051152&amp;q=MTTF+%28Mean+Time+to+Failure%29&amp;sa=X&amp;ved=2ahUKEwjU8L659fKOAxXg3TgGHdvdI60QxccNegQIDhAB&amp;mstk=AUtExfCvwzx0hHXloPmoX3A5T7ANmqYoRoBScVQ6WS9CyJz_OtYViWqwx9-4kG0SoMaUYYp0G88L1pJZ9MniP1HsNJHL0qXD3ZKJIFTxhYNMoR2CiNzvzKPeDePiUr9EWReXU0hVL7wfKLkW3lRwgp0lRC3WD79jigC1pMtclNTWTZx_BU8&amp;csui=3" TargetMode="External"/></Relationships>
</file>

<file path=ppt/slides/_rels/slide139.xml.rels><?xml version="1.0" encoding="UTF-8" standalone="yes"?>
<Relationships xmlns="http://schemas.openxmlformats.org/package/2006/relationships"><Relationship Id="rId3" Type="http://schemas.openxmlformats.org/officeDocument/2006/relationships/diagramLayout" Target="../diagrams/layout134.xml"/><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135.xml"/><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36.xml"/><Relationship Id="rId2" Type="http://schemas.openxmlformats.org/officeDocument/2006/relationships/diagramData" Target="../diagrams/data136.xml"/><Relationship Id="rId1" Type="http://schemas.openxmlformats.org/officeDocument/2006/relationships/slideLayout" Target="../slideLayouts/slideLayout2.xml"/><Relationship Id="rId6" Type="http://schemas.microsoft.com/office/2007/relationships/diagramDrawing" Target="../diagrams/drawing136.xml"/><Relationship Id="rId5" Type="http://schemas.openxmlformats.org/officeDocument/2006/relationships/diagramColors" Target="../diagrams/colors136.xml"/><Relationship Id="rId4" Type="http://schemas.openxmlformats.org/officeDocument/2006/relationships/diagramQuickStyle" Target="../diagrams/quickStyle136.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37.xml"/><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5" Type="http://schemas.openxmlformats.org/officeDocument/2006/relationships/diagramColors" Target="../diagrams/colors137.xml"/><Relationship Id="rId4" Type="http://schemas.openxmlformats.org/officeDocument/2006/relationships/diagramQuickStyle" Target="../diagrams/quickStyle137.xml"/></Relationships>
</file>

<file path=ppt/slides/_rels/slide143.xml.rels><?xml version="1.0" encoding="UTF-8" standalone="yes"?>
<Relationships xmlns="http://schemas.openxmlformats.org/package/2006/relationships"><Relationship Id="rId8" Type="http://schemas.openxmlformats.org/officeDocument/2006/relationships/hyperlink" Target="https://aws.amazon.com/blogs/architecture/shuffle-sharding-massive-and-magical-fault-isolation/" TargetMode="External"/><Relationship Id="rId3" Type="http://schemas.openxmlformats.org/officeDocument/2006/relationships/diagramLayout" Target="../diagrams/layout138.xml"/><Relationship Id="rId7" Type="http://schemas.openxmlformats.org/officeDocument/2006/relationships/hyperlink" Target="https://learn.microsoft.com/en-us/azure/architecture/patterns/bulkhead" TargetMode="External"/><Relationship Id="rId2" Type="http://schemas.openxmlformats.org/officeDocument/2006/relationships/diagramData" Target="../diagrams/data138.xml"/><Relationship Id="rId1" Type="http://schemas.openxmlformats.org/officeDocument/2006/relationships/slideLayout" Target="../slideLayouts/slideLayout2.xml"/><Relationship Id="rId6" Type="http://schemas.microsoft.com/office/2007/relationships/diagramDrawing" Target="../diagrams/drawing138.xml"/><Relationship Id="rId5" Type="http://schemas.openxmlformats.org/officeDocument/2006/relationships/diagramColors" Target="../diagrams/colors138.xml"/><Relationship Id="rId4" Type="http://schemas.openxmlformats.org/officeDocument/2006/relationships/diagramQuickStyle" Target="../diagrams/quickStyle138.xml"/><Relationship Id="rId9" Type="http://schemas.openxmlformats.org/officeDocument/2006/relationships/hyperlink" Target="https://docs.aws.amazon.com/wellarchitected/latest/reducing-scope-of-impact-with-cell-based-architecture/reducing-scope-of-impact-with-cell-based-architecture.html" TargetMode="Externa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139.xml"/><Relationship Id="rId7" Type="http://schemas.openxmlformats.org/officeDocument/2006/relationships/image" Target="../media/image60.jpeg"/><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45.xml.rels><?xml version="1.0" encoding="UTF-8" standalone="yes"?>
<Relationships xmlns="http://schemas.openxmlformats.org/package/2006/relationships"><Relationship Id="rId8" Type="http://schemas.openxmlformats.org/officeDocument/2006/relationships/hyperlink" Target="https://petabridge.com/blog/how-actors-recover-from-failure-hierarchy-and-supervision/" TargetMode="External"/><Relationship Id="rId3" Type="http://schemas.openxmlformats.org/officeDocument/2006/relationships/diagramLayout" Target="../diagrams/layout140.xml"/><Relationship Id="rId7" Type="http://schemas.openxmlformats.org/officeDocument/2006/relationships/hyperlink" Target="http://akka.io/?ref=hackernoon.com" TargetMode="External"/><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5" Type="http://schemas.openxmlformats.org/officeDocument/2006/relationships/diagramColors" Target="../diagrams/colors140.xml"/><Relationship Id="rId4" Type="http://schemas.openxmlformats.org/officeDocument/2006/relationships/diagramQuickStyle" Target="../diagrams/quickStyle140.xml"/><Relationship Id="rId9" Type="http://schemas.openxmlformats.org/officeDocument/2006/relationships/hyperlink" Target="https://petabridge.com/blog/top-akkadotnet-design-patterns/" TargetMode="External"/></Relationships>
</file>

<file path=ppt/slides/_rels/slide146.xml.rels><?xml version="1.0" encoding="UTF-8" standalone="yes"?>
<Relationships xmlns="http://schemas.openxmlformats.org/package/2006/relationships"><Relationship Id="rId8" Type="http://schemas.openxmlformats.org/officeDocument/2006/relationships/hyperlink" Target="https://www.linkedin.com/advice/1/what-biggest-challenges-designing-global-system" TargetMode="External"/><Relationship Id="rId3" Type="http://schemas.openxmlformats.org/officeDocument/2006/relationships/diagramLayout" Target="../diagrams/layout141.xml"/><Relationship Id="rId7" Type="http://schemas.openxmlformats.org/officeDocument/2006/relationships/hyperlink" Target="https://www.deccanherald.com/technology/iisc-scientists-report-computing-breakthrough-3187052" TargetMode="External"/><Relationship Id="rId12" Type="http://schemas.openxmlformats.org/officeDocument/2006/relationships/hyperlink" Target="https://tutorialsdojo.com/azure-global-infrastructure/" TargetMode="External"/><Relationship Id="rId2" Type="http://schemas.openxmlformats.org/officeDocument/2006/relationships/diagramData" Target="../diagrams/data141.xml"/><Relationship Id="rId1" Type="http://schemas.openxmlformats.org/officeDocument/2006/relationships/slideLayout" Target="../slideLayouts/slideLayout2.xml"/><Relationship Id="rId6" Type="http://schemas.microsoft.com/office/2007/relationships/diagramDrawing" Target="../diagrams/drawing141.xml"/><Relationship Id="rId11" Type="http://schemas.openxmlformats.org/officeDocument/2006/relationships/hyperlink" Target="https://www.bmc.com/blogs/aws-regions-availability-zones/" TargetMode="External"/><Relationship Id="rId5" Type="http://schemas.openxmlformats.org/officeDocument/2006/relationships/diagramColors" Target="../diagrams/colors141.xml"/><Relationship Id="rId10" Type="http://schemas.openxmlformats.org/officeDocument/2006/relationships/hyperlink" Target="https://www.bmc.com/blogs/cloud-availability-regions-zones/" TargetMode="External"/><Relationship Id="rId4" Type="http://schemas.openxmlformats.org/officeDocument/2006/relationships/diagramQuickStyle" Target="../diagrams/quickStyle141.xml"/><Relationship Id="rId9" Type="http://schemas.openxmlformats.org/officeDocument/2006/relationships/hyperlink" Target="https://www.guildhawk.com/blog/localization-checklist-top-tips-and-tools" TargetMode="Externa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142.xml"/><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s>
</file>

<file path=ppt/slides/_rels/slide148.xml.rels><?xml version="1.0" encoding="UTF-8" standalone="yes"?>
<Relationships xmlns="http://schemas.openxmlformats.org/package/2006/relationships"><Relationship Id="rId8" Type="http://schemas.openxmlformats.org/officeDocument/2006/relationships/hyperlink" Target="https://www.nikolatech.net/blogs/resilient-dotnet-application-with-polly-resilience-pipelines" TargetMode="External"/><Relationship Id="rId3" Type="http://schemas.openxmlformats.org/officeDocument/2006/relationships/diagramLayout" Target="../diagrams/layout143.xml"/><Relationship Id="rId7" Type="http://schemas.openxmlformats.org/officeDocument/2006/relationships/hyperlink" Target="https://aws.amazon.com/builders-library/timeouts-retries-and-backoff-with-jitter/" TargetMode="External"/><Relationship Id="rId2" Type="http://schemas.openxmlformats.org/officeDocument/2006/relationships/diagramData" Target="../diagrams/data143.xml"/><Relationship Id="rId1" Type="http://schemas.openxmlformats.org/officeDocument/2006/relationships/slideLayout" Target="../slideLayouts/slideLayout2.xml"/><Relationship Id="rId6" Type="http://schemas.microsoft.com/office/2007/relationships/diagramDrawing" Target="../diagrams/drawing143.xml"/><Relationship Id="rId5" Type="http://schemas.openxmlformats.org/officeDocument/2006/relationships/diagramColors" Target="../diagrams/colors143.xml"/><Relationship Id="rId10" Type="http://schemas.openxmlformats.org/officeDocument/2006/relationships/hyperlink" Target="https://learn.microsoft.com/en-us/dotnet/core/resilience/http-resilience?tabs=dotnet-cli#standard-resilience-handler-defaults" TargetMode="External"/><Relationship Id="rId4" Type="http://schemas.openxmlformats.org/officeDocument/2006/relationships/diagramQuickStyle" Target="../diagrams/quickStyle143.xml"/><Relationship Id="rId9" Type="http://schemas.openxmlformats.org/officeDocument/2006/relationships/hyperlink" Target="https://devblogs.microsoft.com/dotnet/building-resilient-cloud-services-with-dotnet-8/" TargetMode="External"/></Relationships>
</file>

<file path=ppt/slides/_rels/slide149.xml.rels><?xml version="1.0" encoding="UTF-8" standalone="yes"?>
<Relationships xmlns="http://schemas.openxmlformats.org/package/2006/relationships"><Relationship Id="rId8" Type="http://schemas.openxmlformats.org/officeDocument/2006/relationships/hyperlink" Target="https://learn.microsoft.com/en-us/azure/architecture/patterns/circuit-breaker" TargetMode="External"/><Relationship Id="rId3" Type="http://schemas.openxmlformats.org/officeDocument/2006/relationships/diagramLayout" Target="../diagrams/layout144.xml"/><Relationship Id="rId7" Type="http://schemas.openxmlformats.org/officeDocument/2006/relationships/image" Target="../media/image61.png"/><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5" Type="http://schemas.openxmlformats.org/officeDocument/2006/relationships/diagramColors" Target="../diagrams/colors144.xml"/><Relationship Id="rId4" Type="http://schemas.openxmlformats.org/officeDocument/2006/relationships/diagramQuickStyle" Target="../diagrams/quickStyle144.xml"/></Relationships>
</file>

<file path=ppt/slides/_rels/slide150.xml.rels><?xml version="1.0" encoding="UTF-8" standalone="yes"?>
<Relationships xmlns="http://schemas.openxmlformats.org/package/2006/relationships"><Relationship Id="rId8" Type="http://schemas.openxmlformats.org/officeDocument/2006/relationships/hyperlink" Target="https://stackoverflow.com/questions/10259142/dead-letter-queue-and-poison-queues" TargetMode="External"/><Relationship Id="rId3" Type="http://schemas.openxmlformats.org/officeDocument/2006/relationships/diagramLayout" Target="../diagrams/layout145.xml"/><Relationship Id="rId7" Type="http://schemas.openxmlformats.org/officeDocument/2006/relationships/hyperlink" Target="https://github.com/sandipray63in/DDD-Based-Enterprise-Application-Framework/tree/master/Infrastructure/ExceptionHandling" TargetMode="External"/><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s>
</file>

<file path=ppt/slides/_rels/slide151.xml.rels><?xml version="1.0" encoding="UTF-8" standalone="yes"?>
<Relationships xmlns="http://schemas.openxmlformats.org/package/2006/relationships"><Relationship Id="rId3" Type="http://schemas.openxmlformats.org/officeDocument/2006/relationships/diagramLayout" Target="../diagrams/layout146.xml"/><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5" Type="http://schemas.openxmlformats.org/officeDocument/2006/relationships/diagramColors" Target="../diagrams/colors146.xml"/><Relationship Id="rId4" Type="http://schemas.openxmlformats.org/officeDocument/2006/relationships/diagramQuickStyle" Target="../diagrams/quickStyle146.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147.xml"/><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5" Type="http://schemas.openxmlformats.org/officeDocument/2006/relationships/diagramColors" Target="../diagrams/colors147.xml"/><Relationship Id="rId4" Type="http://schemas.openxmlformats.org/officeDocument/2006/relationships/diagramQuickStyle" Target="../diagrams/quickStyle147.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48.xml"/><Relationship Id="rId2" Type="http://schemas.openxmlformats.org/officeDocument/2006/relationships/diagramData" Target="../diagrams/data148.xml"/><Relationship Id="rId1" Type="http://schemas.openxmlformats.org/officeDocument/2006/relationships/slideLayout" Target="../slideLayouts/slideLayout2.xml"/><Relationship Id="rId6" Type="http://schemas.microsoft.com/office/2007/relationships/diagramDrawing" Target="../diagrams/drawing148.xml"/><Relationship Id="rId5" Type="http://schemas.openxmlformats.org/officeDocument/2006/relationships/diagramColors" Target="../diagrams/colors148.xml"/><Relationship Id="rId4" Type="http://schemas.openxmlformats.org/officeDocument/2006/relationships/diagramQuickStyle" Target="../diagrams/quickStyle148.xml"/></Relationships>
</file>

<file path=ppt/slides/_rels/slide154.xml.rels><?xml version="1.0" encoding="UTF-8" standalone="yes"?>
<Relationships xmlns="http://schemas.openxmlformats.org/package/2006/relationships"><Relationship Id="rId3" Type="http://schemas.openxmlformats.org/officeDocument/2006/relationships/diagramLayout" Target="../diagrams/layout149.xml"/><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5" Type="http://schemas.openxmlformats.org/officeDocument/2006/relationships/diagramColors" Target="../diagrams/colors149.xml"/><Relationship Id="rId4" Type="http://schemas.openxmlformats.org/officeDocument/2006/relationships/diagramQuickStyle" Target="../diagrams/quickStyle149.xml"/></Relationships>
</file>

<file path=ppt/slides/_rels/slide155.xml.rels><?xml version="1.0" encoding="UTF-8" standalone="yes"?>
<Relationships xmlns="http://schemas.openxmlformats.org/package/2006/relationships"><Relationship Id="rId3" Type="http://schemas.openxmlformats.org/officeDocument/2006/relationships/diagramLayout" Target="../diagrams/layout150.xml"/><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5" Type="http://schemas.openxmlformats.org/officeDocument/2006/relationships/diagramColors" Target="../diagrams/colors150.xml"/><Relationship Id="rId4" Type="http://schemas.openxmlformats.org/officeDocument/2006/relationships/diagramQuickStyle" Target="../diagrams/quickStyle150.xm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1.xml"/><Relationship Id="rId2" Type="http://schemas.openxmlformats.org/officeDocument/2006/relationships/diagramData" Target="../diagrams/data151.xml"/><Relationship Id="rId1" Type="http://schemas.openxmlformats.org/officeDocument/2006/relationships/slideLayout" Target="../slideLayouts/slideLayout2.xml"/><Relationship Id="rId6" Type="http://schemas.microsoft.com/office/2007/relationships/diagramDrawing" Target="../diagrams/drawing151.xml"/><Relationship Id="rId5" Type="http://schemas.openxmlformats.org/officeDocument/2006/relationships/diagramColors" Target="../diagrams/colors151.xml"/><Relationship Id="rId4" Type="http://schemas.openxmlformats.org/officeDocument/2006/relationships/diagramQuickStyle" Target="../diagrams/quickStyle151.xml"/></Relationships>
</file>

<file path=ppt/slides/_rels/slide157.xml.rels><?xml version="1.0" encoding="UTF-8" standalone="yes"?>
<Relationships xmlns="http://schemas.openxmlformats.org/package/2006/relationships"><Relationship Id="rId8" Type="http://schemas.openxmlformats.org/officeDocument/2006/relationships/hyperlink" Target="https://www.solarwinds.com/resources/it-glossary/network-availability" TargetMode="External"/><Relationship Id="rId3" Type="http://schemas.openxmlformats.org/officeDocument/2006/relationships/diagramLayout" Target="../diagrams/layout152.xml"/><Relationship Id="rId7" Type="http://schemas.openxmlformats.org/officeDocument/2006/relationships/hyperlink" Target="https://nilesecure.com/network-design/network-scalability" TargetMode="External"/><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 Id="rId9" Type="http://schemas.openxmlformats.org/officeDocument/2006/relationships/hyperlink" Target="https://www.f5.com/glossary/network-availability" TargetMode="External"/></Relationships>
</file>

<file path=ppt/slides/_rels/slide158.xml.rels><?xml version="1.0" encoding="UTF-8" standalone="yes"?>
<Relationships xmlns="http://schemas.openxmlformats.org/package/2006/relationships"><Relationship Id="rId3" Type="http://schemas.openxmlformats.org/officeDocument/2006/relationships/diagramLayout" Target="../diagrams/layout153.xml"/><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9.xml.rels><?xml version="1.0" encoding="UTF-8" standalone="yes"?>
<Relationships xmlns="http://schemas.openxmlformats.org/package/2006/relationships"><Relationship Id="rId8" Type="http://schemas.openxmlformats.org/officeDocument/2006/relationships/hyperlink" Target="https://en.m.wikipedia.org/wiki/Privacy-nhancing_technologies" TargetMode="External"/><Relationship Id="rId3" Type="http://schemas.openxmlformats.org/officeDocument/2006/relationships/diagramLayout" Target="../diagrams/layout154.xml"/><Relationship Id="rId7" Type="http://schemas.openxmlformats.org/officeDocument/2006/relationships/image" Target="../media/image62.png"/><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5" Type="http://schemas.openxmlformats.org/officeDocument/2006/relationships/diagramColors" Target="../diagrams/colors154.xml"/><Relationship Id="rId4" Type="http://schemas.openxmlformats.org/officeDocument/2006/relationships/diagramQuickStyle" Target="../diagrams/quickStyle154.xml"/></Relationships>
</file>

<file path=ppt/slides/_rels/slide160.xml.rels><?xml version="1.0" encoding="UTF-8" standalone="yes"?>
<Relationships xmlns="http://schemas.openxmlformats.org/package/2006/relationships"><Relationship Id="rId8" Type="http://schemas.openxmlformats.org/officeDocument/2006/relationships/hyperlink" Target="https://accelera.com.au/what-the-sec-is-devsecops/" TargetMode="External"/><Relationship Id="rId3" Type="http://schemas.openxmlformats.org/officeDocument/2006/relationships/diagramLayout" Target="../diagrams/layout155.xml"/><Relationship Id="rId7" Type="http://schemas.openxmlformats.org/officeDocument/2006/relationships/hyperlink" Target="https://www.blackduck.com/blog/secure-sdlc.html" TargetMode="External"/><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5" Type="http://schemas.openxmlformats.org/officeDocument/2006/relationships/diagramColors" Target="../diagrams/colors155.xml"/><Relationship Id="rId4" Type="http://schemas.openxmlformats.org/officeDocument/2006/relationships/diagramQuickStyle" Target="../diagrams/quickStyle155.xml"/><Relationship Id="rId9" Type="http://schemas.openxmlformats.org/officeDocument/2006/relationships/image" Target="../media/image63.png"/></Relationships>
</file>

<file path=ppt/slides/_rels/slide161.xml.rels><?xml version="1.0" encoding="UTF-8" standalone="yes"?>
<Relationships xmlns="http://schemas.openxmlformats.org/package/2006/relationships"><Relationship Id="rId8" Type="http://schemas.openxmlformats.org/officeDocument/2006/relationships/hyperlink" Target="https://www.microsoft.com/en-in/security/business/zero-trust" TargetMode="External"/><Relationship Id="rId3" Type="http://schemas.openxmlformats.org/officeDocument/2006/relationships/diagramLayout" Target="../diagrams/layout156.xml"/><Relationship Id="rId7" Type="http://schemas.openxmlformats.org/officeDocument/2006/relationships/hyperlink" Target="https://www.crowdstrike.com/en-us/cybersecurity-101/zero-trust-security/" TargetMode="External"/><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5" Type="http://schemas.openxmlformats.org/officeDocument/2006/relationships/diagramColors" Target="../diagrams/colors156.xml"/><Relationship Id="rId10" Type="http://schemas.openxmlformats.org/officeDocument/2006/relationships/image" Target="../media/image64.png"/><Relationship Id="rId4" Type="http://schemas.openxmlformats.org/officeDocument/2006/relationships/diagramQuickStyle" Target="../diagrams/quickStyle156.xml"/><Relationship Id="rId9" Type="http://schemas.openxmlformats.org/officeDocument/2006/relationships/hyperlink" Target="https://www.linkedin.com/pulse/zero-trust-security-cautious-move-balaji-ramarajan/" TargetMode="External"/></Relationships>
</file>

<file path=ppt/slides/_rels/slide162.xml.rels><?xml version="1.0" encoding="UTF-8" standalone="yes"?>
<Relationships xmlns="http://schemas.openxmlformats.org/package/2006/relationships"><Relationship Id="rId3" Type="http://schemas.openxmlformats.org/officeDocument/2006/relationships/diagramLayout" Target="../diagrams/layout157.xml"/><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5" Type="http://schemas.openxmlformats.org/officeDocument/2006/relationships/diagramColors" Target="../diagrams/colors157.xml"/><Relationship Id="rId4" Type="http://schemas.openxmlformats.org/officeDocument/2006/relationships/diagramQuickStyle" Target="../diagrams/quickStyle157.xml"/></Relationships>
</file>

<file path=ppt/slides/_rels/slide163.xml.rels><?xml version="1.0" encoding="UTF-8" standalone="yes"?>
<Relationships xmlns="http://schemas.openxmlformats.org/package/2006/relationships"><Relationship Id="rId3" Type="http://schemas.openxmlformats.org/officeDocument/2006/relationships/diagramLayout" Target="../diagrams/layout158.xml"/><Relationship Id="rId7" Type="http://schemas.openxmlformats.org/officeDocument/2006/relationships/image" Target="../media/image65.png"/><Relationship Id="rId2" Type="http://schemas.openxmlformats.org/officeDocument/2006/relationships/diagramData" Target="../diagrams/data158.xml"/><Relationship Id="rId1" Type="http://schemas.openxmlformats.org/officeDocument/2006/relationships/slideLayout" Target="../slideLayouts/slideLayout2.xml"/><Relationship Id="rId6" Type="http://schemas.microsoft.com/office/2007/relationships/diagramDrawing" Target="../diagrams/drawing158.xml"/><Relationship Id="rId5" Type="http://schemas.openxmlformats.org/officeDocument/2006/relationships/diagramColors" Target="../diagrams/colors158.xml"/><Relationship Id="rId4" Type="http://schemas.openxmlformats.org/officeDocument/2006/relationships/diagramQuickStyle" Target="../diagrams/quickStyle158.xml"/></Relationships>
</file>

<file path=ppt/slides/_rels/slide164.xml.rels><?xml version="1.0" encoding="UTF-8" standalone="yes"?>
<Relationships xmlns="http://schemas.openxmlformats.org/package/2006/relationships"><Relationship Id="rId8" Type="http://schemas.openxmlformats.org/officeDocument/2006/relationships/hyperlink" Target="https://tetrate.io/learn/what-is-mtls/" TargetMode="External"/><Relationship Id="rId3" Type="http://schemas.openxmlformats.org/officeDocument/2006/relationships/diagramLayout" Target="../diagrams/layout159.xml"/><Relationship Id="rId7" Type="http://schemas.openxmlformats.org/officeDocument/2006/relationships/image" Target="../media/image66.png"/><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11" Type="http://schemas.openxmlformats.org/officeDocument/2006/relationships/hyperlink" Target="https://learn.microsoft.com/en-us/answers/questions/2141429/implementing-mtls-between-two-apps-using-asp-net" TargetMode="External"/><Relationship Id="rId5" Type="http://schemas.openxmlformats.org/officeDocument/2006/relationships/diagramColors" Target="../diagrams/colors159.xml"/><Relationship Id="rId10" Type="http://schemas.openxmlformats.org/officeDocument/2006/relationships/hyperlink" Target="https://github.com/kallerosenbaum/grokkingbitcoin/blob/master/ch02-hash-functions-and-signatures.adoc" TargetMode="External"/><Relationship Id="rId4" Type="http://schemas.openxmlformats.org/officeDocument/2006/relationships/diagramQuickStyle" Target="../diagrams/quickStyle159.xml"/><Relationship Id="rId9" Type="http://schemas.openxmlformats.org/officeDocument/2006/relationships/hyperlink" Target="https://aws.amazon.com/compare/the-difference-between-ssl-and-tls/" TargetMode="External"/></Relationships>
</file>

<file path=ppt/slides/_rels/slide165.xml.rels><?xml version="1.0" encoding="UTF-8" standalone="yes"?>
<Relationships xmlns="http://schemas.openxmlformats.org/package/2006/relationships"><Relationship Id="rId3" Type="http://schemas.openxmlformats.org/officeDocument/2006/relationships/diagramLayout" Target="../diagrams/layout160.xml"/><Relationship Id="rId7" Type="http://schemas.openxmlformats.org/officeDocument/2006/relationships/image" Target="../media/image67.png"/><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5" Type="http://schemas.openxmlformats.org/officeDocument/2006/relationships/diagramColors" Target="../diagrams/colors160.xml"/><Relationship Id="rId4" Type="http://schemas.openxmlformats.org/officeDocument/2006/relationships/diagramQuickStyle" Target="../diagrams/quickStyle160.xml"/></Relationships>
</file>

<file path=ppt/slides/_rels/slide166.xml.rels><?xml version="1.0" encoding="UTF-8" standalone="yes"?>
<Relationships xmlns="http://schemas.openxmlformats.org/package/2006/relationships"><Relationship Id="rId3" Type="http://schemas.openxmlformats.org/officeDocument/2006/relationships/diagramLayout" Target="../diagrams/layout161.xml"/><Relationship Id="rId7" Type="http://schemas.openxmlformats.org/officeDocument/2006/relationships/image" Target="../media/image68.png"/><Relationship Id="rId2" Type="http://schemas.openxmlformats.org/officeDocument/2006/relationships/diagramData" Target="../diagrams/data161.xml"/><Relationship Id="rId1" Type="http://schemas.openxmlformats.org/officeDocument/2006/relationships/slideLayout" Target="../slideLayouts/slideLayout2.xml"/><Relationship Id="rId6" Type="http://schemas.microsoft.com/office/2007/relationships/diagramDrawing" Target="../diagrams/drawing161.xml"/><Relationship Id="rId5" Type="http://schemas.openxmlformats.org/officeDocument/2006/relationships/diagramColors" Target="../diagrams/colors161.xml"/><Relationship Id="rId4" Type="http://schemas.openxmlformats.org/officeDocument/2006/relationships/diagramQuickStyle" Target="../diagrams/quickStyle161.xml"/></Relationships>
</file>

<file path=ppt/slides/_rels/slide167.xml.rels><?xml version="1.0" encoding="UTF-8" standalone="yes"?>
<Relationships xmlns="http://schemas.openxmlformats.org/package/2006/relationships"><Relationship Id="rId3" Type="http://schemas.openxmlformats.org/officeDocument/2006/relationships/diagramLayout" Target="../diagrams/layout162.xml"/><Relationship Id="rId7" Type="http://schemas.openxmlformats.org/officeDocument/2006/relationships/image" Target="../media/image69.png"/><Relationship Id="rId2" Type="http://schemas.openxmlformats.org/officeDocument/2006/relationships/diagramData" Target="../diagrams/data162.xml"/><Relationship Id="rId1" Type="http://schemas.openxmlformats.org/officeDocument/2006/relationships/slideLayout" Target="../slideLayouts/slideLayout2.xml"/><Relationship Id="rId6" Type="http://schemas.microsoft.com/office/2007/relationships/diagramDrawing" Target="../diagrams/drawing162.xml"/><Relationship Id="rId5" Type="http://schemas.openxmlformats.org/officeDocument/2006/relationships/diagramColors" Target="../diagrams/colors162.xml"/><Relationship Id="rId4" Type="http://schemas.openxmlformats.org/officeDocument/2006/relationships/diagramQuickStyle" Target="../diagrams/quickStyle162.xml"/></Relationships>
</file>

<file path=ppt/slides/_rels/slide168.xml.rels><?xml version="1.0" encoding="UTF-8" standalone="yes"?>
<Relationships xmlns="http://schemas.openxmlformats.org/package/2006/relationships"><Relationship Id="rId3" Type="http://schemas.openxmlformats.org/officeDocument/2006/relationships/diagramLayout" Target="../diagrams/layout163.xml"/><Relationship Id="rId7" Type="http://schemas.openxmlformats.org/officeDocument/2006/relationships/image" Target="../media/image69.png"/><Relationship Id="rId2" Type="http://schemas.openxmlformats.org/officeDocument/2006/relationships/diagramData" Target="../diagrams/data163.xml"/><Relationship Id="rId1" Type="http://schemas.openxmlformats.org/officeDocument/2006/relationships/slideLayout" Target="../slideLayouts/slideLayout2.xml"/><Relationship Id="rId6" Type="http://schemas.microsoft.com/office/2007/relationships/diagramDrawing" Target="../diagrams/drawing163.xml"/><Relationship Id="rId5" Type="http://schemas.openxmlformats.org/officeDocument/2006/relationships/diagramColors" Target="../diagrams/colors163.xml"/><Relationship Id="rId4" Type="http://schemas.openxmlformats.org/officeDocument/2006/relationships/diagramQuickStyle" Target="../diagrams/quickStyle163.xml"/></Relationships>
</file>

<file path=ppt/slides/_rels/slide169.xml.rels><?xml version="1.0" encoding="UTF-8" standalone="yes"?>
<Relationships xmlns="http://schemas.openxmlformats.org/package/2006/relationships"><Relationship Id="rId3" Type="http://schemas.openxmlformats.org/officeDocument/2006/relationships/diagramLayout" Target="../diagrams/layout164.xml"/><Relationship Id="rId7" Type="http://schemas.openxmlformats.org/officeDocument/2006/relationships/image" Target="../media/image70.png"/><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5" Type="http://schemas.openxmlformats.org/officeDocument/2006/relationships/diagramColors" Target="../diagrams/colors164.xml"/><Relationship Id="rId4" Type="http://schemas.openxmlformats.org/officeDocument/2006/relationships/diagramQuickStyle" Target="../diagrams/quickStyle164.xml"/></Relationships>
</file>

<file path=ppt/slides/_rels/slide170.xml.rels><?xml version="1.0" encoding="UTF-8" standalone="yes"?>
<Relationships xmlns="http://schemas.openxmlformats.org/package/2006/relationships"><Relationship Id="rId3" Type="http://schemas.openxmlformats.org/officeDocument/2006/relationships/diagramLayout" Target="../diagrams/layout165.xml"/><Relationship Id="rId7" Type="http://schemas.openxmlformats.org/officeDocument/2006/relationships/image" Target="../media/image71.png"/><Relationship Id="rId2" Type="http://schemas.openxmlformats.org/officeDocument/2006/relationships/diagramData" Target="../diagrams/data165.xml"/><Relationship Id="rId1" Type="http://schemas.openxmlformats.org/officeDocument/2006/relationships/slideLayout" Target="../slideLayouts/slideLayout2.xml"/><Relationship Id="rId6" Type="http://schemas.microsoft.com/office/2007/relationships/diagramDrawing" Target="../diagrams/drawing165.xml"/><Relationship Id="rId5" Type="http://schemas.openxmlformats.org/officeDocument/2006/relationships/diagramColors" Target="../diagrams/colors165.xml"/><Relationship Id="rId4" Type="http://schemas.openxmlformats.org/officeDocument/2006/relationships/diagramQuickStyle" Target="../diagrams/quickStyle165.xml"/></Relationships>
</file>

<file path=ppt/slides/_rels/slide171.xml.rels><?xml version="1.0" encoding="UTF-8" standalone="yes"?>
<Relationships xmlns="http://schemas.openxmlformats.org/package/2006/relationships"><Relationship Id="rId3" Type="http://schemas.openxmlformats.org/officeDocument/2006/relationships/diagramLayout" Target="../diagrams/layout166.xml"/><Relationship Id="rId2" Type="http://schemas.openxmlformats.org/officeDocument/2006/relationships/diagramData" Target="../diagrams/data166.xml"/><Relationship Id="rId1" Type="http://schemas.openxmlformats.org/officeDocument/2006/relationships/slideLayout" Target="../slideLayouts/slideLayout2.xml"/><Relationship Id="rId6" Type="http://schemas.microsoft.com/office/2007/relationships/diagramDrawing" Target="../diagrams/drawing166.xml"/><Relationship Id="rId5" Type="http://schemas.openxmlformats.org/officeDocument/2006/relationships/diagramColors" Target="../diagrams/colors166.xml"/><Relationship Id="rId4" Type="http://schemas.openxmlformats.org/officeDocument/2006/relationships/diagramQuickStyle" Target="../diagrams/quickStyle166.xml"/></Relationships>
</file>

<file path=ppt/slides/_rels/slide172.xml.rels><?xml version="1.0" encoding="UTF-8" standalone="yes"?>
<Relationships xmlns="http://schemas.openxmlformats.org/package/2006/relationships"><Relationship Id="rId3" Type="http://schemas.openxmlformats.org/officeDocument/2006/relationships/diagramLayout" Target="../diagrams/layout167.xml"/><Relationship Id="rId2" Type="http://schemas.openxmlformats.org/officeDocument/2006/relationships/diagramData" Target="../diagrams/data167.xml"/><Relationship Id="rId1" Type="http://schemas.openxmlformats.org/officeDocument/2006/relationships/slideLayout" Target="../slideLayouts/slideLayout2.xml"/><Relationship Id="rId6" Type="http://schemas.microsoft.com/office/2007/relationships/diagramDrawing" Target="../diagrams/drawing167.xml"/><Relationship Id="rId5" Type="http://schemas.openxmlformats.org/officeDocument/2006/relationships/diagramColors" Target="../diagrams/colors167.xml"/><Relationship Id="rId4" Type="http://schemas.openxmlformats.org/officeDocument/2006/relationships/diagramQuickStyle" Target="../diagrams/quickStyle167.xm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168.xml"/><Relationship Id="rId2" Type="http://schemas.openxmlformats.org/officeDocument/2006/relationships/diagramData" Target="../diagrams/data168.xml"/><Relationship Id="rId1" Type="http://schemas.openxmlformats.org/officeDocument/2006/relationships/slideLayout" Target="../slideLayouts/slideLayout2.xml"/><Relationship Id="rId6" Type="http://schemas.microsoft.com/office/2007/relationships/diagramDrawing" Target="../diagrams/drawing168.xml"/><Relationship Id="rId5" Type="http://schemas.openxmlformats.org/officeDocument/2006/relationships/diagramColors" Target="../diagrams/colors168.xml"/><Relationship Id="rId4" Type="http://schemas.openxmlformats.org/officeDocument/2006/relationships/diagramQuickStyle" Target="../diagrams/quickStyle168.xm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169.xml"/><Relationship Id="rId2" Type="http://schemas.openxmlformats.org/officeDocument/2006/relationships/diagramData" Target="../diagrams/data169.xml"/><Relationship Id="rId1" Type="http://schemas.openxmlformats.org/officeDocument/2006/relationships/slideLayout" Target="../slideLayouts/slideLayout2.xml"/><Relationship Id="rId6" Type="http://schemas.microsoft.com/office/2007/relationships/diagramDrawing" Target="../diagrams/drawing169.xml"/><Relationship Id="rId5" Type="http://schemas.openxmlformats.org/officeDocument/2006/relationships/diagramColors" Target="../diagrams/colors169.xml"/><Relationship Id="rId4" Type="http://schemas.openxmlformats.org/officeDocument/2006/relationships/diagramQuickStyle" Target="../diagrams/quickStyle169.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170.xml"/><Relationship Id="rId2" Type="http://schemas.openxmlformats.org/officeDocument/2006/relationships/diagramData" Target="../diagrams/data170.xml"/><Relationship Id="rId1" Type="http://schemas.openxmlformats.org/officeDocument/2006/relationships/slideLayout" Target="../slideLayouts/slideLayout2.xml"/><Relationship Id="rId6" Type="http://schemas.microsoft.com/office/2007/relationships/diagramDrawing" Target="../diagrams/drawing170.xml"/><Relationship Id="rId5" Type="http://schemas.openxmlformats.org/officeDocument/2006/relationships/diagramColors" Target="../diagrams/colors170.xml"/><Relationship Id="rId4" Type="http://schemas.openxmlformats.org/officeDocument/2006/relationships/diagramQuickStyle" Target="../diagrams/quickStyle170.xml"/></Relationships>
</file>

<file path=ppt/slides/_rels/slide176.xml.rels><?xml version="1.0" encoding="UTF-8" standalone="yes"?>
<Relationships xmlns="http://schemas.openxmlformats.org/package/2006/relationships"><Relationship Id="rId3" Type="http://schemas.openxmlformats.org/officeDocument/2006/relationships/diagramLayout" Target="../diagrams/layout171.xml"/><Relationship Id="rId2" Type="http://schemas.openxmlformats.org/officeDocument/2006/relationships/diagramData" Target="../diagrams/data171.xml"/><Relationship Id="rId1" Type="http://schemas.openxmlformats.org/officeDocument/2006/relationships/slideLayout" Target="../slideLayouts/slideLayout2.xml"/><Relationship Id="rId6" Type="http://schemas.microsoft.com/office/2007/relationships/diagramDrawing" Target="../diagrams/drawing171.xml"/><Relationship Id="rId5" Type="http://schemas.openxmlformats.org/officeDocument/2006/relationships/diagramColors" Target="../diagrams/colors171.xml"/><Relationship Id="rId4" Type="http://schemas.openxmlformats.org/officeDocument/2006/relationships/diagramQuickStyle" Target="../diagrams/quickStyle171.xm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172.xml"/><Relationship Id="rId2" Type="http://schemas.openxmlformats.org/officeDocument/2006/relationships/diagramData" Target="../diagrams/data172.xml"/><Relationship Id="rId1" Type="http://schemas.openxmlformats.org/officeDocument/2006/relationships/slideLayout" Target="../slideLayouts/slideLayout2.xml"/><Relationship Id="rId6" Type="http://schemas.microsoft.com/office/2007/relationships/diagramDrawing" Target="../diagrams/drawing172.xml"/><Relationship Id="rId5" Type="http://schemas.openxmlformats.org/officeDocument/2006/relationships/diagramColors" Target="../diagrams/colors172.xml"/><Relationship Id="rId4" Type="http://schemas.openxmlformats.org/officeDocument/2006/relationships/diagramQuickStyle" Target="../diagrams/quickStyle172.xml"/></Relationships>
</file>

<file path=ppt/slides/_rels/slide178.xml.rels><?xml version="1.0" encoding="UTF-8" standalone="yes"?>
<Relationships xmlns="http://schemas.openxmlformats.org/package/2006/relationships"><Relationship Id="rId3" Type="http://schemas.openxmlformats.org/officeDocument/2006/relationships/diagramLayout" Target="../diagrams/layout173.xml"/><Relationship Id="rId2" Type="http://schemas.openxmlformats.org/officeDocument/2006/relationships/diagramData" Target="../diagrams/data173.xml"/><Relationship Id="rId1" Type="http://schemas.openxmlformats.org/officeDocument/2006/relationships/slideLayout" Target="../slideLayouts/slideLayout2.xml"/><Relationship Id="rId6" Type="http://schemas.microsoft.com/office/2007/relationships/diagramDrawing" Target="../diagrams/drawing173.xml"/><Relationship Id="rId5" Type="http://schemas.openxmlformats.org/officeDocument/2006/relationships/diagramColors" Target="../diagrams/colors173.xml"/><Relationship Id="rId4" Type="http://schemas.openxmlformats.org/officeDocument/2006/relationships/diagramQuickStyle" Target="../diagrams/quickStyle173.xml"/></Relationships>
</file>

<file path=ppt/slides/_rels/slide179.xml.rels><?xml version="1.0" encoding="UTF-8" standalone="yes"?>
<Relationships xmlns="http://schemas.openxmlformats.org/package/2006/relationships"><Relationship Id="rId3" Type="http://schemas.openxmlformats.org/officeDocument/2006/relationships/diagramLayout" Target="../diagrams/layout174.xml"/><Relationship Id="rId2" Type="http://schemas.openxmlformats.org/officeDocument/2006/relationships/diagramData" Target="../diagrams/data174.xml"/><Relationship Id="rId1" Type="http://schemas.openxmlformats.org/officeDocument/2006/relationships/slideLayout" Target="../slideLayouts/slideLayout2.xml"/><Relationship Id="rId6" Type="http://schemas.microsoft.com/office/2007/relationships/diagramDrawing" Target="../diagrams/drawing174.xml"/><Relationship Id="rId5" Type="http://schemas.openxmlformats.org/officeDocument/2006/relationships/diagramColors" Target="../diagrams/colors174.xml"/><Relationship Id="rId4" Type="http://schemas.openxmlformats.org/officeDocument/2006/relationships/diagramQuickStyle" Target="../diagrams/quickStyle174.xml"/></Relationships>
</file>

<file path=ppt/slides/_rels/slide180.xml.rels><?xml version="1.0" encoding="UTF-8" standalone="yes"?>
<Relationships xmlns="http://schemas.openxmlformats.org/package/2006/relationships"><Relationship Id="rId3" Type="http://schemas.openxmlformats.org/officeDocument/2006/relationships/diagramLayout" Target="../diagrams/layout175.xml"/><Relationship Id="rId2" Type="http://schemas.openxmlformats.org/officeDocument/2006/relationships/diagramData" Target="../diagrams/data175.xml"/><Relationship Id="rId1" Type="http://schemas.openxmlformats.org/officeDocument/2006/relationships/slideLayout" Target="../slideLayouts/slideLayout2.xml"/><Relationship Id="rId6" Type="http://schemas.microsoft.com/office/2007/relationships/diagramDrawing" Target="../diagrams/drawing175.xml"/><Relationship Id="rId5" Type="http://schemas.openxmlformats.org/officeDocument/2006/relationships/diagramColors" Target="../diagrams/colors175.xml"/><Relationship Id="rId4" Type="http://schemas.openxmlformats.org/officeDocument/2006/relationships/diagramQuickStyle" Target="../diagrams/quickStyle175.xml"/></Relationships>
</file>

<file path=ppt/slides/_rels/slide181.xml.rels><?xml version="1.0" encoding="UTF-8" standalone="yes"?>
<Relationships xmlns="http://schemas.openxmlformats.org/package/2006/relationships"><Relationship Id="rId3" Type="http://schemas.openxmlformats.org/officeDocument/2006/relationships/diagramLayout" Target="../diagrams/layout176.xml"/><Relationship Id="rId2" Type="http://schemas.openxmlformats.org/officeDocument/2006/relationships/diagramData" Target="../diagrams/data176.xml"/><Relationship Id="rId1" Type="http://schemas.openxmlformats.org/officeDocument/2006/relationships/slideLayout" Target="../slideLayouts/slideLayout2.xml"/><Relationship Id="rId6" Type="http://schemas.microsoft.com/office/2007/relationships/diagramDrawing" Target="../diagrams/drawing176.xml"/><Relationship Id="rId5" Type="http://schemas.openxmlformats.org/officeDocument/2006/relationships/diagramColors" Target="../diagrams/colors176.xml"/><Relationship Id="rId4" Type="http://schemas.openxmlformats.org/officeDocument/2006/relationships/diagramQuickStyle" Target="../diagrams/quickStyle176.xml"/></Relationships>
</file>

<file path=ppt/slides/_rels/slide182.xml.rels><?xml version="1.0" encoding="UTF-8" standalone="yes"?>
<Relationships xmlns="http://schemas.openxmlformats.org/package/2006/relationships"><Relationship Id="rId3" Type="http://schemas.openxmlformats.org/officeDocument/2006/relationships/diagramLayout" Target="../diagrams/layout177.xml"/><Relationship Id="rId7" Type="http://schemas.openxmlformats.org/officeDocument/2006/relationships/hyperlink" Target="https://connect2id.com/blog/how-to-validate-an-openid-connect-id-token" TargetMode="External"/><Relationship Id="rId2" Type="http://schemas.openxmlformats.org/officeDocument/2006/relationships/diagramData" Target="../diagrams/data177.xml"/><Relationship Id="rId1" Type="http://schemas.openxmlformats.org/officeDocument/2006/relationships/slideLayout" Target="../slideLayouts/slideLayout2.xml"/><Relationship Id="rId6" Type="http://schemas.microsoft.com/office/2007/relationships/diagramDrawing" Target="../diagrams/drawing177.xml"/><Relationship Id="rId5" Type="http://schemas.openxmlformats.org/officeDocument/2006/relationships/diagramColors" Target="../diagrams/colors177.xml"/><Relationship Id="rId4" Type="http://schemas.openxmlformats.org/officeDocument/2006/relationships/diagramQuickStyle" Target="../diagrams/quickStyle177.xml"/></Relationships>
</file>

<file path=ppt/slides/_rels/slide183.xml.rels><?xml version="1.0" encoding="UTF-8" standalone="yes"?>
<Relationships xmlns="http://schemas.openxmlformats.org/package/2006/relationships"><Relationship Id="rId8" Type="http://schemas.openxmlformats.org/officeDocument/2006/relationships/hyperlink" Target="https://stackoverflow.com/questions/63465539/web-sso-with-external-or-partner-applications" TargetMode="External"/><Relationship Id="rId3" Type="http://schemas.openxmlformats.org/officeDocument/2006/relationships/diagramLayout" Target="../diagrams/layout178.xml"/><Relationship Id="rId7" Type="http://schemas.openxmlformats.org/officeDocument/2006/relationships/image" Target="../media/image72.png"/><Relationship Id="rId2" Type="http://schemas.openxmlformats.org/officeDocument/2006/relationships/diagramData" Target="../diagrams/data178.xml"/><Relationship Id="rId1" Type="http://schemas.openxmlformats.org/officeDocument/2006/relationships/slideLayout" Target="../slideLayouts/slideLayout2.xml"/><Relationship Id="rId6" Type="http://schemas.microsoft.com/office/2007/relationships/diagramDrawing" Target="../diagrams/drawing178.xml"/><Relationship Id="rId5" Type="http://schemas.openxmlformats.org/officeDocument/2006/relationships/diagramColors" Target="../diagrams/colors178.xml"/><Relationship Id="rId10" Type="http://schemas.openxmlformats.org/officeDocument/2006/relationships/hyperlink" Target="https://www.linkedin.com/posts/nikkisiapno_%3F%3F%3F-%3F%3F%3F%3F%3F%3F-%3F%3F%3F%3F-%3F%3F-%3F%3F%3F%3F%3F%3F%3F%3F%3F-activity-7204024260158193664-HTSo/" TargetMode="External"/><Relationship Id="rId4" Type="http://schemas.openxmlformats.org/officeDocument/2006/relationships/diagramQuickStyle" Target="../diagrams/quickStyle178.xml"/><Relationship Id="rId9" Type="http://schemas.openxmlformats.org/officeDocument/2006/relationships/hyperlink" Target="https://newsletter.techworld-with-milan.com/p/how-does-single-sign-on-sso-work" TargetMode="External"/></Relationships>
</file>

<file path=ppt/slides/_rels/slide184.xml.rels><?xml version="1.0" encoding="UTF-8" standalone="yes"?>
<Relationships xmlns="http://schemas.openxmlformats.org/package/2006/relationships"><Relationship Id="rId8" Type="http://schemas.openxmlformats.org/officeDocument/2006/relationships/hyperlink" Target="https://auth0.com/docs/manage-users/organizations" TargetMode="External"/><Relationship Id="rId3" Type="http://schemas.openxmlformats.org/officeDocument/2006/relationships/diagramLayout" Target="../diagrams/layout179.xml"/><Relationship Id="rId7" Type="http://schemas.openxmlformats.org/officeDocument/2006/relationships/hyperlink" Target="https://auth0.com/docs/manage-users/user-accounts/user-account-linking" TargetMode="External"/><Relationship Id="rId2" Type="http://schemas.openxmlformats.org/officeDocument/2006/relationships/diagramData" Target="../diagrams/data179.xml"/><Relationship Id="rId1" Type="http://schemas.openxmlformats.org/officeDocument/2006/relationships/slideLayout" Target="../slideLayouts/slideLayout2.xml"/><Relationship Id="rId6" Type="http://schemas.microsoft.com/office/2007/relationships/diagramDrawing" Target="../diagrams/drawing179.xml"/><Relationship Id="rId5" Type="http://schemas.openxmlformats.org/officeDocument/2006/relationships/diagramColors" Target="../diagrams/colors179.xml"/><Relationship Id="rId4" Type="http://schemas.openxmlformats.org/officeDocument/2006/relationships/diagramQuickStyle" Target="../diagrams/quickStyle179.xml"/><Relationship Id="rId9" Type="http://schemas.openxmlformats.org/officeDocument/2006/relationships/hyperlink" Target="https://community.auth0.com/t/account-linking-and-sso/128446" TargetMode="Externa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180.xml"/><Relationship Id="rId2" Type="http://schemas.openxmlformats.org/officeDocument/2006/relationships/diagramData" Target="../diagrams/data180.xml"/><Relationship Id="rId1" Type="http://schemas.openxmlformats.org/officeDocument/2006/relationships/slideLayout" Target="../slideLayouts/slideLayout2.xml"/><Relationship Id="rId6" Type="http://schemas.microsoft.com/office/2007/relationships/diagramDrawing" Target="../diagrams/drawing180.xml"/><Relationship Id="rId5" Type="http://schemas.openxmlformats.org/officeDocument/2006/relationships/diagramColors" Target="../diagrams/colors180.xml"/><Relationship Id="rId4" Type="http://schemas.openxmlformats.org/officeDocument/2006/relationships/diagramQuickStyle" Target="../diagrams/quickStyle180.xml"/></Relationships>
</file>

<file path=ppt/slides/_rels/slide186.xml.rels><?xml version="1.0" encoding="UTF-8" standalone="yes"?>
<Relationships xmlns="http://schemas.openxmlformats.org/package/2006/relationships"><Relationship Id="rId3" Type="http://schemas.openxmlformats.org/officeDocument/2006/relationships/diagramLayout" Target="../diagrams/layout181.xml"/><Relationship Id="rId2" Type="http://schemas.openxmlformats.org/officeDocument/2006/relationships/diagramData" Target="../diagrams/data181.xml"/><Relationship Id="rId1" Type="http://schemas.openxmlformats.org/officeDocument/2006/relationships/slideLayout" Target="../slideLayouts/slideLayout2.xml"/><Relationship Id="rId6" Type="http://schemas.microsoft.com/office/2007/relationships/diagramDrawing" Target="../diagrams/drawing181.xml"/><Relationship Id="rId5" Type="http://schemas.openxmlformats.org/officeDocument/2006/relationships/diagramColors" Target="../diagrams/colors181.xml"/><Relationship Id="rId4" Type="http://schemas.openxmlformats.org/officeDocument/2006/relationships/diagramQuickStyle" Target="../diagrams/quickStyle181.xml"/></Relationships>
</file>

<file path=ppt/slides/_rels/slide187.xml.rels><?xml version="1.0" encoding="UTF-8" standalone="yes"?>
<Relationships xmlns="http://schemas.openxmlformats.org/package/2006/relationships"><Relationship Id="rId3" Type="http://schemas.openxmlformats.org/officeDocument/2006/relationships/diagramLayout" Target="../diagrams/layout182.xml"/><Relationship Id="rId2" Type="http://schemas.openxmlformats.org/officeDocument/2006/relationships/diagramData" Target="../diagrams/data182.xml"/><Relationship Id="rId1" Type="http://schemas.openxmlformats.org/officeDocument/2006/relationships/slideLayout" Target="../slideLayouts/slideLayout2.xml"/><Relationship Id="rId6" Type="http://schemas.microsoft.com/office/2007/relationships/diagramDrawing" Target="../diagrams/drawing182.xml"/><Relationship Id="rId5" Type="http://schemas.openxmlformats.org/officeDocument/2006/relationships/diagramColors" Target="../diagrams/colors182.xml"/><Relationship Id="rId4" Type="http://schemas.openxmlformats.org/officeDocument/2006/relationships/diagramQuickStyle" Target="../diagrams/quickStyle182.xml"/></Relationships>
</file>

<file path=ppt/slides/_rels/slide188.xml.rels><?xml version="1.0" encoding="UTF-8" standalone="yes"?>
<Relationships xmlns="http://schemas.openxmlformats.org/package/2006/relationships"><Relationship Id="rId3" Type="http://schemas.openxmlformats.org/officeDocument/2006/relationships/diagramLayout" Target="../diagrams/layout183.xml"/><Relationship Id="rId2" Type="http://schemas.openxmlformats.org/officeDocument/2006/relationships/diagramData" Target="../diagrams/data183.xml"/><Relationship Id="rId1" Type="http://schemas.openxmlformats.org/officeDocument/2006/relationships/slideLayout" Target="../slideLayouts/slideLayout2.xml"/><Relationship Id="rId6" Type="http://schemas.microsoft.com/office/2007/relationships/diagramDrawing" Target="../diagrams/drawing183.xml"/><Relationship Id="rId5" Type="http://schemas.openxmlformats.org/officeDocument/2006/relationships/diagramColors" Target="../diagrams/colors183.xml"/><Relationship Id="rId4" Type="http://schemas.openxmlformats.org/officeDocument/2006/relationships/diagramQuickStyle" Target="../diagrams/quickStyle183.xml"/></Relationships>
</file>

<file path=ppt/slides/_rels/slide189.xml.rels><?xml version="1.0" encoding="UTF-8" standalone="yes"?>
<Relationships xmlns="http://schemas.openxmlformats.org/package/2006/relationships"><Relationship Id="rId3" Type="http://schemas.openxmlformats.org/officeDocument/2006/relationships/diagramLayout" Target="../diagrams/layout184.xml"/><Relationship Id="rId2" Type="http://schemas.openxmlformats.org/officeDocument/2006/relationships/diagramData" Target="../diagrams/data184.xml"/><Relationship Id="rId1" Type="http://schemas.openxmlformats.org/officeDocument/2006/relationships/slideLayout" Target="../slideLayouts/slideLayout2.xml"/><Relationship Id="rId6" Type="http://schemas.microsoft.com/office/2007/relationships/diagramDrawing" Target="../diagrams/drawing184.xml"/><Relationship Id="rId5" Type="http://schemas.openxmlformats.org/officeDocument/2006/relationships/diagramColors" Target="../diagrams/colors184.xml"/><Relationship Id="rId4" Type="http://schemas.openxmlformats.org/officeDocument/2006/relationships/diagramQuickStyle" Target="../diagrams/quickStyle184.xml"/></Relationships>
</file>

<file path=ppt/slides/_rels/slide190.xml.rels><?xml version="1.0" encoding="UTF-8" standalone="yes"?>
<Relationships xmlns="http://schemas.openxmlformats.org/package/2006/relationships"><Relationship Id="rId8" Type="http://schemas.openxmlformats.org/officeDocument/2006/relationships/hyperlink" Target="https://www.openpolicyagent.org/docs/policy-language" TargetMode="External"/><Relationship Id="rId3" Type="http://schemas.openxmlformats.org/officeDocument/2006/relationships/diagramLayout" Target="../diagrams/layout185.xml"/><Relationship Id="rId7" Type="http://schemas.openxmlformats.org/officeDocument/2006/relationships/hyperlink" Target="https://www.aserto.com/blog/rbac-abac-and-rebac-differences-and-scenarios" TargetMode="External"/><Relationship Id="rId12" Type="http://schemas.openxmlformats.org/officeDocument/2006/relationships/hyperlink" Target="https://www.manning.com/books/dynamic-authorization" TargetMode="External"/><Relationship Id="rId2" Type="http://schemas.openxmlformats.org/officeDocument/2006/relationships/diagramData" Target="../diagrams/data185.xml"/><Relationship Id="rId1" Type="http://schemas.openxmlformats.org/officeDocument/2006/relationships/slideLayout" Target="../slideLayouts/slideLayout2.xml"/><Relationship Id="rId6" Type="http://schemas.microsoft.com/office/2007/relationships/diagramDrawing" Target="../diagrams/drawing185.xml"/><Relationship Id="rId11" Type="http://schemas.openxmlformats.org/officeDocument/2006/relationships/hyperlink" Target="https://docs.solo.io/gloo-mesh-enterprise/main/security/external-auth/opa/opa-byo/" TargetMode="External"/><Relationship Id="rId5" Type="http://schemas.openxmlformats.org/officeDocument/2006/relationships/diagramColors" Target="../diagrams/colors185.xml"/><Relationship Id="rId10" Type="http://schemas.openxmlformats.org/officeDocument/2006/relationships/hyperlink" Target="https://github.com/openfga/dotnet-sdk" TargetMode="External"/><Relationship Id="rId4" Type="http://schemas.openxmlformats.org/officeDocument/2006/relationships/diagramQuickStyle" Target="../diagrams/quickStyle185.xml"/><Relationship Id="rId9" Type="http://schemas.openxmlformats.org/officeDocument/2006/relationships/hyperlink" Target="https://github.com/open-policy-agent/opa-csharp" TargetMode="External"/></Relationships>
</file>

<file path=ppt/slides/_rels/slide191.xml.rels><?xml version="1.0" encoding="UTF-8" standalone="yes"?>
<Relationships xmlns="http://schemas.openxmlformats.org/package/2006/relationships"><Relationship Id="rId8" Type="http://schemas.openxmlformats.org/officeDocument/2006/relationships/hyperlink" Target="https://github.com/aserto-dev/topaz" TargetMode="External"/><Relationship Id="rId3" Type="http://schemas.openxmlformats.org/officeDocument/2006/relationships/diagramLayout" Target="../diagrams/layout186.xml"/><Relationship Id="rId7" Type="http://schemas.openxmlformats.org/officeDocument/2006/relationships/hyperlink" Target="https://www.aserto.com/blog/fine-grained-authorization-with-topaz" TargetMode="External"/><Relationship Id="rId2" Type="http://schemas.openxmlformats.org/officeDocument/2006/relationships/diagramData" Target="../diagrams/data186.xml"/><Relationship Id="rId1" Type="http://schemas.openxmlformats.org/officeDocument/2006/relationships/slideLayout" Target="../slideLayouts/slideLayout2.xml"/><Relationship Id="rId6" Type="http://schemas.microsoft.com/office/2007/relationships/diagramDrawing" Target="../diagrams/drawing186.xml"/><Relationship Id="rId5" Type="http://schemas.openxmlformats.org/officeDocument/2006/relationships/diagramColors" Target="../diagrams/colors186.xml"/><Relationship Id="rId4" Type="http://schemas.openxmlformats.org/officeDocument/2006/relationships/diagramQuickStyle" Target="../diagrams/quickStyle186.xml"/><Relationship Id="rId9" Type="http://schemas.openxmlformats.org/officeDocument/2006/relationships/hyperlink" Target="https://github.com/aserto-dev/aserto-dotnet" TargetMode="External"/></Relationships>
</file>

<file path=ppt/slides/_rels/slide192.xml.rels><?xml version="1.0" encoding="UTF-8" standalone="yes"?>
<Relationships xmlns="http://schemas.openxmlformats.org/package/2006/relationships"><Relationship Id="rId13" Type="http://schemas.openxmlformats.org/officeDocument/2006/relationships/hyperlink" Target="https://curity.io/resources/learn/impersonation-flow-approaches/" TargetMode="External"/><Relationship Id="rId18" Type="http://schemas.openxmlformats.org/officeDocument/2006/relationships/hyperlink" Target="https://www.manning.com/books/microservices-security-in-action" TargetMode="External"/><Relationship Id="rId26" Type="http://schemas.openxmlformats.org/officeDocument/2006/relationships/hyperlink" Target="https://www.packtpub.com/en-in/product/implementing-multifactor-authentication-9781803246963" TargetMode="External"/><Relationship Id="rId3" Type="http://schemas.openxmlformats.org/officeDocument/2006/relationships/diagramData" Target="../diagrams/data187.xml"/><Relationship Id="rId21" Type="http://schemas.openxmlformats.org/officeDocument/2006/relationships/hyperlink" Target="https://identitymeme.org/doc/draft-hodges-learning-saml-00.html" TargetMode="External"/><Relationship Id="rId34" Type="http://schemas.openxmlformats.org/officeDocument/2006/relationships/hyperlink" Target="https://learn.microsoft.com/en-us/azure/architecture/reference-architectures/containers/aks-pci/aks-pci-ra-code-assets" TargetMode="External"/><Relationship Id="rId7" Type="http://schemas.microsoft.com/office/2007/relationships/diagramDrawing" Target="../diagrams/drawing187.xml"/><Relationship Id="rId12" Type="http://schemas.openxmlformats.org/officeDocument/2006/relationships/hyperlink" Target="https://developer.okta.com/docs/guides/implement-grant-type/authcode/main/" TargetMode="External"/><Relationship Id="rId17" Type="http://schemas.openxmlformats.org/officeDocument/2006/relationships/hyperlink" Target="https://www.pingidentity.com/en/resources/identity-fundamentals/authorization/authorization-methods.html" TargetMode="External"/><Relationship Id="rId25" Type="http://schemas.openxmlformats.org/officeDocument/2006/relationships/hyperlink" Target="https://github.com/fschick/Keycloak.ASPNet.Angular?tab=readme-ov-file" TargetMode="External"/><Relationship Id="rId33" Type="http://schemas.openxmlformats.org/officeDocument/2006/relationships/hyperlink" Target="https://www.compliancepoint.com/regulations/pci-3ds/" TargetMode="External"/><Relationship Id="rId2" Type="http://schemas.openxmlformats.org/officeDocument/2006/relationships/notesSlide" Target="../notesSlides/notesSlide16.xml"/><Relationship Id="rId16" Type="http://schemas.openxmlformats.org/officeDocument/2006/relationships/hyperlink" Target="https://www.syncfusion.com/succinctly-free-ebooks?category=all&amp;searchkey=security&amp;type=al" TargetMode="External"/><Relationship Id="rId20" Type="http://schemas.openxmlformats.org/officeDocument/2006/relationships/hyperlink" Target="https://dzone.com/refcardz/oauth-patterns-and-anti-patterns" TargetMode="External"/><Relationship Id="rId29" Type="http://schemas.openxmlformats.org/officeDocument/2006/relationships/hyperlink" Target="https://bigid.com/blog/sensitive-information-guide/" TargetMode="External"/><Relationship Id="rId1" Type="http://schemas.openxmlformats.org/officeDocument/2006/relationships/slideLayout" Target="../slideLayouts/slideLayout2.xml"/><Relationship Id="rId6" Type="http://schemas.openxmlformats.org/officeDocument/2006/relationships/diagramColors" Target="../diagrams/colors187.xml"/><Relationship Id="rId11" Type="http://schemas.openxmlformats.org/officeDocument/2006/relationships/hyperlink" Target="https://medium.com/@danny.garcia_19872/creating-your-own-global-identity-provider-part-i-4688bd28e1b3" TargetMode="External"/><Relationship Id="rId24" Type="http://schemas.openxmlformats.org/officeDocument/2006/relationships/hyperlink" Target="https://satoricyber.com/data-masking/data-masking-8-techniques-and-how-to-implement-them-successfully/" TargetMode="External"/><Relationship Id="rId32" Type="http://schemas.openxmlformats.org/officeDocument/2006/relationships/hyperlink" Target="https://learn.microsoft.com/en-us/azure/compliance/offerings/offering-pci-dss" TargetMode="External"/><Relationship Id="rId5" Type="http://schemas.openxmlformats.org/officeDocument/2006/relationships/diagramQuickStyle" Target="../diagrams/quickStyle187.xml"/><Relationship Id="rId15" Type="http://schemas.openxmlformats.org/officeDocument/2006/relationships/hyperlink" Target="https://fusionauth.io/articles/oauth/complete-list-oauth-grants" TargetMode="External"/><Relationship Id="rId23" Type="http://schemas.openxmlformats.org/officeDocument/2006/relationships/hyperlink" Target="https://pathlock.com/learn/data-masking-vs-tokenization/" TargetMode="External"/><Relationship Id="rId28" Type="http://schemas.openxmlformats.org/officeDocument/2006/relationships/hyperlink" Target="https://sprinto.com/blog/difference-between-pii-phi-and-pci/" TargetMode="External"/><Relationship Id="rId10" Type="http://schemas.openxmlformats.org/officeDocument/2006/relationships/hyperlink" Target="https://blog.bytebytego.com/p/ep120-what-do-version-numbers-mean?open=false#%C2%A7cybersecurity-in-one-picture" TargetMode="External"/><Relationship Id="rId19" Type="http://schemas.openxmlformats.org/officeDocument/2006/relationships/hyperlink" Target="https://link.springer.com/book/10.1007/978-1-4842-2050-4" TargetMode="External"/><Relationship Id="rId31" Type="http://schemas.openxmlformats.org/officeDocument/2006/relationships/hyperlink" Target="https://github.com/dvsekhvalnov/jose-jwt" TargetMode="External"/><Relationship Id="rId4" Type="http://schemas.openxmlformats.org/officeDocument/2006/relationships/diagramLayout" Target="../diagrams/layout187.xml"/><Relationship Id="rId9" Type="http://schemas.openxmlformats.org/officeDocument/2006/relationships/hyperlink" Target="https://stackoverflow.com/questions/48581556/oauth2-scopes-and-user-roles" TargetMode="External"/><Relationship Id="rId14" Type="http://schemas.openxmlformats.org/officeDocument/2006/relationships/hyperlink" Target="https://leverture.com/software/software-design-challenge-how-to-implement-impersonation-with-auth0/" TargetMode="External"/><Relationship Id="rId22" Type="http://schemas.openxmlformats.org/officeDocument/2006/relationships/hyperlink" Target="https://www.techtarget.com/searchsecurity/tip/Data-masking-vs-data-encryption-How-do-they-differ" TargetMode="External"/><Relationship Id="rId27" Type="http://schemas.openxmlformats.org/officeDocument/2006/relationships/hyperlink" Target="https://www.packtpub.com/en-us/product/identity-management-with-biometrics-9781838988388" TargetMode="External"/><Relationship Id="rId30" Type="http://schemas.openxmlformats.org/officeDocument/2006/relationships/hyperlink" Target="https://stackoverflow.com/questions/74257560/what-is-the-difference-between-jose-jwa-jwe-jwk-jws-and-jwt" TargetMode="External"/><Relationship Id="rId8" Type="http://schemas.openxmlformats.org/officeDocument/2006/relationships/hyperlink" Target="https://www.udemy.com/course/oauth-2-simplified/" TargetMode="External"/></Relationships>
</file>

<file path=ppt/slides/_rels/slide193.xml.rels><?xml version="1.0" encoding="UTF-8" standalone="yes"?>
<Relationships xmlns="http://schemas.openxmlformats.org/package/2006/relationships"><Relationship Id="rId13" Type="http://schemas.openxmlformats.org/officeDocument/2006/relationships/hyperlink" Target="https://learn.microsoft.com/en-us/entra/identity-platform/app-objects-and-service-principals?tabs=browser" TargetMode="External"/><Relationship Id="rId18" Type="http://schemas.openxmlformats.org/officeDocument/2006/relationships/hyperlink" Target="https://learn.microsoft.com/en-us/entra/architecture/auth-password-based-sso" TargetMode="External"/><Relationship Id="rId26" Type="http://schemas.openxmlformats.org/officeDocument/2006/relationships/hyperlink" Target="https://learn.microsoft.com/en-us/azure/active-directory-b2c/microsoft-graph-operations" TargetMode="External"/><Relationship Id="rId3" Type="http://schemas.openxmlformats.org/officeDocument/2006/relationships/diagramData" Target="../diagrams/data188.xml"/><Relationship Id="rId21" Type="http://schemas.openxmlformats.org/officeDocument/2006/relationships/hyperlink" Target="https://learn.microsoft.com/en-us/entra/identity-platform/v2-protocols-oidc" TargetMode="External"/><Relationship Id="rId7" Type="http://schemas.microsoft.com/office/2007/relationships/diagramDrawing" Target="../diagrams/drawing188.xml"/><Relationship Id="rId12" Type="http://schemas.openxmlformats.org/officeDocument/2006/relationships/hyperlink" Target="https://learn.microsoft.com/en-us/entra/fundamentals/new-name" TargetMode="External"/><Relationship Id="rId17" Type="http://schemas.openxmlformats.org/officeDocument/2006/relationships/hyperlink" Target="https://learn.microsoft.com/en-us/entra/identity-platform/howto-configure-publisher-domain" TargetMode="External"/><Relationship Id="rId25" Type="http://schemas.openxmlformats.org/officeDocument/2006/relationships/hyperlink" Target="https://learn.microsoft.com/en-us/azure/active-directory-b2c/billing" TargetMode="External"/><Relationship Id="rId33" Type="http://schemas.openxmlformats.org/officeDocument/2006/relationships/hyperlink" Target="https://www.syncfusion.com/succinctly-free-ebooks/external-collaboration-with-azure-ad-b2b-succinctly" TargetMode="External"/><Relationship Id="rId2" Type="http://schemas.openxmlformats.org/officeDocument/2006/relationships/notesSlide" Target="../notesSlides/notesSlide17.xml"/><Relationship Id="rId16" Type="http://schemas.openxmlformats.org/officeDocument/2006/relationships/hyperlink" Target="https://medium.com/@dany74q/service-to-service-auth-with-azure-ad-msi-oauth-2-0-step-by-step-a1aed196b1e1" TargetMode="External"/><Relationship Id="rId20" Type="http://schemas.openxmlformats.org/officeDocument/2006/relationships/hyperlink" Target="https://www.microsoft.com/en-us/download/details.aspx?id=28362" TargetMode="External"/><Relationship Id="rId29" Type="http://schemas.openxmlformats.org/officeDocument/2006/relationships/hyperlink" Target="https://learn.microsoft.com/en-us/azure/active-directory-b2c/trustframeworkpolicy" TargetMode="External"/><Relationship Id="rId1" Type="http://schemas.openxmlformats.org/officeDocument/2006/relationships/slideLayout" Target="../slideLayouts/slideLayout2.xml"/><Relationship Id="rId6" Type="http://schemas.openxmlformats.org/officeDocument/2006/relationships/diagramColors" Target="../diagrams/colors188.xml"/><Relationship Id="rId11" Type="http://schemas.openxmlformats.org/officeDocument/2006/relationships/hyperlink" Target="https://www.microsoft.com/en-us/securityengineering/sdl" TargetMode="External"/><Relationship Id="rId24" Type="http://schemas.openxmlformats.org/officeDocument/2006/relationships/hyperlink" Target="https://learn.microsoft.com/en-us/azure/active-directory-b2c/overview" TargetMode="External"/><Relationship Id="rId32" Type="http://schemas.openxmlformats.org/officeDocument/2006/relationships/hyperlink" Target="https://learn.microsoft.com/en-us/azure/active-directory-b2c/error-codes" TargetMode="External"/><Relationship Id="rId5" Type="http://schemas.openxmlformats.org/officeDocument/2006/relationships/diagramQuickStyle" Target="../diagrams/quickStyle188.xml"/><Relationship Id="rId15" Type="http://schemas.openxmlformats.org/officeDocument/2006/relationships/hyperlink" Target="https://medium.com/@tophamcherie/creating-azure-service-principals-or-managed-identities-granting-them-access-965ab38d6936" TargetMode="External"/><Relationship Id="rId23" Type="http://schemas.openxmlformats.org/officeDocument/2006/relationships/hyperlink" Target="https://github.com/microsoftgraph/msgraph-sdk-design" TargetMode="External"/><Relationship Id="rId28" Type="http://schemas.openxmlformats.org/officeDocument/2006/relationships/hyperlink" Target="https://learn.microsoft.com/en-us/azure/active-directory-b2c/custom-policy-developer-notes" TargetMode="External"/><Relationship Id="rId10" Type="http://schemas.openxmlformats.org/officeDocument/2006/relationships/hyperlink" Target="https://learn.microsoft.com/en-us/entra/identity-platform/v2-overview" TargetMode="External"/><Relationship Id="rId19" Type="http://schemas.openxmlformats.org/officeDocument/2006/relationships/hyperlink" Target="https://learn.microsoft.com/en-us/aspnet/web-api/overview/security/integrated-windows-authentication" TargetMode="External"/><Relationship Id="rId31" Type="http://schemas.openxmlformats.org/officeDocument/2006/relationships/hyperlink" Target="https://github.com/azure-ad-b2c/samples" TargetMode="External"/><Relationship Id="rId4" Type="http://schemas.openxmlformats.org/officeDocument/2006/relationships/diagramLayout" Target="../diagrams/layout188.xml"/><Relationship Id="rId9" Type="http://schemas.openxmlformats.org/officeDocument/2006/relationships/hyperlink" Target="https://stackoverflow.com/questions/39271230/azure-ad-vs-azure-ad-b2c-vs-azure-ad-b2b" TargetMode="External"/><Relationship Id="rId14" Type="http://schemas.openxmlformats.org/officeDocument/2006/relationships/hyperlink" Target="https://www.atmosera.com/blog/azure-service-principal-vs-managed-identity" TargetMode="External"/><Relationship Id="rId22" Type="http://schemas.openxmlformats.org/officeDocument/2006/relationships/hyperlink" Target="https://developer.microsoft.com/en-us/graph/graph-explorer" TargetMode="External"/><Relationship Id="rId27" Type="http://schemas.openxmlformats.org/officeDocument/2006/relationships/hyperlink" Target="https://learn.microsoft.com/en-us/azure/active-directory-b2c/custom-domain?pivots=b2c-user-flow" TargetMode="External"/><Relationship Id="rId30" Type="http://schemas.openxmlformats.org/officeDocument/2006/relationships/hyperlink" Target="https://learn.microsoft.com/en-us/azure/active-directory-b2c/user-migration" TargetMode="External"/><Relationship Id="rId8" Type="http://schemas.openxmlformats.org/officeDocument/2006/relationships/hyperlink" Target="https://learn.microsoft.com/en-us/entra/identity-platform/v2-oauth-ropc" TargetMode="External"/></Relationships>
</file>

<file path=ppt/slides/_rels/slide194.xml.rels><?xml version="1.0" encoding="UTF-8" standalone="yes"?>
<Relationships xmlns="http://schemas.openxmlformats.org/package/2006/relationships"><Relationship Id="rId8" Type="http://schemas.openxmlformats.org/officeDocument/2006/relationships/hyperlink" Target="https://learn.microsoft.com/en-us/aspnet/core/security/anti-request-forgery?view=aspnetcore-8.0" TargetMode="External"/><Relationship Id="rId3" Type="http://schemas.openxmlformats.org/officeDocument/2006/relationships/diagramLayout" Target="../diagrams/layout189.xml"/><Relationship Id="rId7" Type="http://schemas.openxmlformats.org/officeDocument/2006/relationships/image" Target="../media/image73.png"/><Relationship Id="rId2" Type="http://schemas.openxmlformats.org/officeDocument/2006/relationships/diagramData" Target="../diagrams/data189.xml"/><Relationship Id="rId1" Type="http://schemas.openxmlformats.org/officeDocument/2006/relationships/slideLayout" Target="../slideLayouts/slideLayout2.xml"/><Relationship Id="rId6" Type="http://schemas.microsoft.com/office/2007/relationships/diagramDrawing" Target="../diagrams/drawing189.xml"/><Relationship Id="rId5" Type="http://schemas.openxmlformats.org/officeDocument/2006/relationships/diagramColors" Target="../diagrams/colors189.xml"/><Relationship Id="rId4" Type="http://schemas.openxmlformats.org/officeDocument/2006/relationships/diagramQuickStyle" Target="../diagrams/quickStyle189.xml"/></Relationships>
</file>

<file path=ppt/slides/_rels/slide195.xml.rels><?xml version="1.0" encoding="UTF-8" standalone="yes"?>
<Relationships xmlns="http://schemas.openxmlformats.org/package/2006/relationships"><Relationship Id="rId8" Type="http://schemas.openxmlformats.org/officeDocument/2006/relationships/image" Target="../media/image74.jpeg"/><Relationship Id="rId3" Type="http://schemas.openxmlformats.org/officeDocument/2006/relationships/diagramLayout" Target="../diagrams/layout190.xml"/><Relationship Id="rId7" Type="http://schemas.openxmlformats.org/officeDocument/2006/relationships/hyperlink" Target="https://owasp.org/www-community/attacks/Server_Side_Request_Forgery" TargetMode="External"/><Relationship Id="rId2" Type="http://schemas.openxmlformats.org/officeDocument/2006/relationships/diagramData" Target="../diagrams/data190.xml"/><Relationship Id="rId1" Type="http://schemas.openxmlformats.org/officeDocument/2006/relationships/slideLayout" Target="../slideLayouts/slideLayout2.xml"/><Relationship Id="rId6" Type="http://schemas.microsoft.com/office/2007/relationships/diagramDrawing" Target="../diagrams/drawing190.xml"/><Relationship Id="rId5" Type="http://schemas.openxmlformats.org/officeDocument/2006/relationships/diagramColors" Target="../diagrams/colors190.xml"/><Relationship Id="rId4" Type="http://schemas.openxmlformats.org/officeDocument/2006/relationships/diagramQuickStyle" Target="../diagrams/quickStyle190.xml"/></Relationships>
</file>

<file path=ppt/slides/_rels/slide196.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diagramLayout" Target="../diagrams/layout191.xml"/><Relationship Id="rId7" Type="http://schemas.openxmlformats.org/officeDocument/2006/relationships/hyperlink" Target="https://learn.microsoft.com/en-us/aspnet/core/security/cors?view=aspnetcore-8.0" TargetMode="External"/><Relationship Id="rId2" Type="http://schemas.openxmlformats.org/officeDocument/2006/relationships/diagramData" Target="../diagrams/data191.xml"/><Relationship Id="rId1" Type="http://schemas.openxmlformats.org/officeDocument/2006/relationships/slideLayout" Target="../slideLayouts/slideLayout2.xml"/><Relationship Id="rId6" Type="http://schemas.microsoft.com/office/2007/relationships/diagramDrawing" Target="../diagrams/drawing191.xml"/><Relationship Id="rId5" Type="http://schemas.openxmlformats.org/officeDocument/2006/relationships/diagramColors" Target="../diagrams/colors191.xml"/><Relationship Id="rId4" Type="http://schemas.openxmlformats.org/officeDocument/2006/relationships/diagramQuickStyle" Target="../diagrams/quickStyle191.xml"/></Relationships>
</file>

<file path=ppt/slides/_rels/slide197.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diagramLayout" Target="../diagrams/layout192.xml"/><Relationship Id="rId7" Type="http://schemas.openxmlformats.org/officeDocument/2006/relationships/hyperlink" Target="https://learn.microsoft.com/en-us/aspnet/core/security/cross-site-scripting?view=aspnetcore-8.0" TargetMode="External"/><Relationship Id="rId2" Type="http://schemas.openxmlformats.org/officeDocument/2006/relationships/diagramData" Target="../diagrams/data192.xml"/><Relationship Id="rId1" Type="http://schemas.openxmlformats.org/officeDocument/2006/relationships/slideLayout" Target="../slideLayouts/slideLayout2.xml"/><Relationship Id="rId6" Type="http://schemas.microsoft.com/office/2007/relationships/diagramDrawing" Target="../diagrams/drawing192.xml"/><Relationship Id="rId5" Type="http://schemas.openxmlformats.org/officeDocument/2006/relationships/diagramColors" Target="../diagrams/colors192.xml"/><Relationship Id="rId4" Type="http://schemas.openxmlformats.org/officeDocument/2006/relationships/diagramQuickStyle" Target="../diagrams/quickStyle192.xml"/></Relationships>
</file>

<file path=ppt/slides/_rels/slide198.xml.rels><?xml version="1.0" encoding="UTF-8" standalone="yes"?>
<Relationships xmlns="http://schemas.openxmlformats.org/package/2006/relationships"><Relationship Id="rId8" Type="http://schemas.openxmlformats.org/officeDocument/2006/relationships/image" Target="../media/image77.jpeg"/><Relationship Id="rId3" Type="http://schemas.openxmlformats.org/officeDocument/2006/relationships/diagramLayout" Target="../diagrams/layout193.xml"/><Relationship Id="rId7" Type="http://schemas.openxmlformats.org/officeDocument/2006/relationships/hyperlink" Target="https://owasp.org/www-community/attacks/SQL_Injection" TargetMode="External"/><Relationship Id="rId2" Type="http://schemas.openxmlformats.org/officeDocument/2006/relationships/diagramData" Target="../diagrams/data193.xml"/><Relationship Id="rId1" Type="http://schemas.openxmlformats.org/officeDocument/2006/relationships/slideLayout" Target="../slideLayouts/slideLayout2.xml"/><Relationship Id="rId6" Type="http://schemas.microsoft.com/office/2007/relationships/diagramDrawing" Target="../diagrams/drawing193.xml"/><Relationship Id="rId5" Type="http://schemas.openxmlformats.org/officeDocument/2006/relationships/diagramColors" Target="../diagrams/colors193.xml"/><Relationship Id="rId4" Type="http://schemas.openxmlformats.org/officeDocument/2006/relationships/diagramQuickStyle" Target="../diagrams/quickStyle193.xml"/></Relationships>
</file>

<file path=ppt/slides/_rels/slide199.xml.rels><?xml version="1.0" encoding="UTF-8" standalone="yes"?>
<Relationships xmlns="http://schemas.openxmlformats.org/package/2006/relationships"><Relationship Id="rId8" Type="http://schemas.openxmlformats.org/officeDocument/2006/relationships/image" Target="../media/image78.jpeg"/><Relationship Id="rId3" Type="http://schemas.openxmlformats.org/officeDocument/2006/relationships/diagramLayout" Target="../diagrams/layout194.xml"/><Relationship Id="rId7" Type="http://schemas.openxmlformats.org/officeDocument/2006/relationships/hyperlink" Target="https://www.cloudflare.com/learning/ddos/what-is-a-ddos-attack/" TargetMode="External"/><Relationship Id="rId2" Type="http://schemas.openxmlformats.org/officeDocument/2006/relationships/diagramData" Target="../diagrams/data194.xml"/><Relationship Id="rId1" Type="http://schemas.openxmlformats.org/officeDocument/2006/relationships/slideLayout" Target="../slideLayouts/slideLayout2.xml"/><Relationship Id="rId6" Type="http://schemas.microsoft.com/office/2007/relationships/diagramDrawing" Target="../diagrams/drawing194.xml"/><Relationship Id="rId5" Type="http://schemas.openxmlformats.org/officeDocument/2006/relationships/diagramColors" Target="../diagrams/colors194.xml"/><Relationship Id="rId4" Type="http://schemas.openxmlformats.org/officeDocument/2006/relationships/diagramQuickStyle" Target="../diagrams/quickStyle194.xml"/></Relationships>
</file>

<file path=ppt/slides/_rels/slide200.xml.rels><?xml version="1.0" encoding="UTF-8" standalone="yes"?>
<Relationships xmlns="http://schemas.openxmlformats.org/package/2006/relationships"><Relationship Id="rId8" Type="http://schemas.openxmlformats.org/officeDocument/2006/relationships/hyperlink" Target="https://www.netscout.com/what-is-ddos/state-exhaustion-attacks" TargetMode="External"/><Relationship Id="rId3" Type="http://schemas.openxmlformats.org/officeDocument/2006/relationships/diagramLayout" Target="../diagrams/layout195.xml"/><Relationship Id="rId7" Type="http://schemas.openxmlformats.org/officeDocument/2006/relationships/image" Target="../media/image79.png"/><Relationship Id="rId2" Type="http://schemas.openxmlformats.org/officeDocument/2006/relationships/diagramData" Target="../diagrams/data195.xml"/><Relationship Id="rId1" Type="http://schemas.openxmlformats.org/officeDocument/2006/relationships/slideLayout" Target="../slideLayouts/slideLayout2.xml"/><Relationship Id="rId6" Type="http://schemas.microsoft.com/office/2007/relationships/diagramDrawing" Target="../diagrams/drawing195.xml"/><Relationship Id="rId5" Type="http://schemas.openxmlformats.org/officeDocument/2006/relationships/diagramColors" Target="../diagrams/colors195.xml"/><Relationship Id="rId4" Type="http://schemas.openxmlformats.org/officeDocument/2006/relationships/diagramQuickStyle" Target="../diagrams/quickStyle195.xml"/></Relationships>
</file>

<file path=ppt/slides/_rels/slide201.xml.rels><?xml version="1.0" encoding="UTF-8" standalone="yes"?>
<Relationships xmlns="http://schemas.openxmlformats.org/package/2006/relationships"><Relationship Id="rId8" Type="http://schemas.openxmlformats.org/officeDocument/2006/relationships/hyperlink" Target="https://learn.microsoft.com/en-us/aspnet/core/security/?view=aspnetcore-9.0&amp;viewFallbackFrom=aspnetcor" TargetMode="External"/><Relationship Id="rId13" Type="http://schemas.openxmlformats.org/officeDocument/2006/relationships/hyperlink" Target="https://portswigger.net/web-security/all-materials/detailed" TargetMode="External"/><Relationship Id="rId3" Type="http://schemas.openxmlformats.org/officeDocument/2006/relationships/diagramLayout" Target="../diagrams/layout196.xml"/><Relationship Id="rId7" Type="http://schemas.openxmlformats.org/officeDocument/2006/relationships/hyperlink" Target="https://artemasemenov.medium.com/unearthing-vulnerabilities-in-c-source-code-a-pragmatic-approach-df595f7686de" TargetMode="External"/><Relationship Id="rId12" Type="http://schemas.openxmlformats.org/officeDocument/2006/relationships/hyperlink" Target="https://portswigger.net/burp/documentation/scanner/vulnerabilities-list" TargetMode="External"/><Relationship Id="rId2" Type="http://schemas.openxmlformats.org/officeDocument/2006/relationships/diagramData" Target="../diagrams/data196.xml"/><Relationship Id="rId1" Type="http://schemas.openxmlformats.org/officeDocument/2006/relationships/slideLayout" Target="../slideLayouts/slideLayout2.xml"/><Relationship Id="rId6" Type="http://schemas.microsoft.com/office/2007/relationships/diagramDrawing" Target="../diagrams/drawing196.xml"/><Relationship Id="rId11" Type="http://schemas.openxmlformats.org/officeDocument/2006/relationships/hyperlink" Target="https://0xn3va.gitbook.io/cheat-sheets/container/escaping/cve-list" TargetMode="External"/><Relationship Id="rId5" Type="http://schemas.openxmlformats.org/officeDocument/2006/relationships/diagramColors" Target="../diagrams/colors196.xml"/><Relationship Id="rId10" Type="http://schemas.openxmlformats.org/officeDocument/2006/relationships/hyperlink" Target="https://www.oreilly.com/library/view/24-deadly-sins/9780071626750/" TargetMode="External"/><Relationship Id="rId4" Type="http://schemas.openxmlformats.org/officeDocument/2006/relationships/diagramQuickStyle" Target="../diagrams/quickStyle196.xml"/><Relationship Id="rId9" Type="http://schemas.openxmlformats.org/officeDocument/2006/relationships/hyperlink" Target="https://owasp.org/www-community/attacks/" TargetMode="External"/></Relationships>
</file>

<file path=ppt/slides/_rels/slide202.xml.rels><?xml version="1.0" encoding="UTF-8" standalone="yes"?>
<Relationships xmlns="http://schemas.openxmlformats.org/package/2006/relationships"><Relationship Id="rId8" Type="http://schemas.openxmlformats.org/officeDocument/2006/relationships/hyperlink" Target="https://www.linkedin.com/pulse/cross-industry-regtech-platform-pov-balaji-ramarajan-uj8uc/" TargetMode="External"/><Relationship Id="rId3" Type="http://schemas.openxmlformats.org/officeDocument/2006/relationships/diagramLayout" Target="../diagrams/layout197.xml"/><Relationship Id="rId7" Type="http://schemas.openxmlformats.org/officeDocument/2006/relationships/hyperlink" Target="https://www.linkedin.com/pulse/data-governance-digitally-intelligent-world-pov-balaji-ramarajan-q7hec/" TargetMode="External"/><Relationship Id="rId2" Type="http://schemas.openxmlformats.org/officeDocument/2006/relationships/diagramData" Target="../diagrams/data197.xml"/><Relationship Id="rId1" Type="http://schemas.openxmlformats.org/officeDocument/2006/relationships/slideLayout" Target="../slideLayouts/slideLayout2.xml"/><Relationship Id="rId6" Type="http://schemas.microsoft.com/office/2007/relationships/diagramDrawing" Target="../diagrams/drawing197.xml"/><Relationship Id="rId5" Type="http://schemas.openxmlformats.org/officeDocument/2006/relationships/diagramColors" Target="../diagrams/colors197.xml"/><Relationship Id="rId10" Type="http://schemas.openxmlformats.org/officeDocument/2006/relationships/hyperlink" Target="https://learn.microsoft.com/en-us/azure/security/fundamentals/best-practices-and-patterns" TargetMode="External"/><Relationship Id="rId4" Type="http://schemas.openxmlformats.org/officeDocument/2006/relationships/diagramQuickStyle" Target="../diagrams/quickStyle197.xml"/><Relationship Id="rId9" Type="http://schemas.openxmlformats.org/officeDocument/2006/relationships/hyperlink" Target="https://aws.amazon.com/compliance/" TargetMode="External"/></Relationships>
</file>

<file path=ppt/slides/_rels/slide203.xml.rels><?xml version="1.0" encoding="UTF-8" standalone="yes"?>
<Relationships xmlns="http://schemas.openxmlformats.org/package/2006/relationships"><Relationship Id="rId8" Type="http://schemas.openxmlformats.org/officeDocument/2006/relationships/hyperlink" Target="https://timdeschryver.dev/blog/feature-flags-in-net-from-simple-to-more-advanced" TargetMode="External"/><Relationship Id="rId3" Type="http://schemas.openxmlformats.org/officeDocument/2006/relationships/diagramLayout" Target="../diagrams/layout198.xml"/><Relationship Id="rId7" Type="http://schemas.openxmlformats.org/officeDocument/2006/relationships/hyperlink" Target="https://launchdarkly.com/" TargetMode="External"/><Relationship Id="rId2" Type="http://schemas.openxmlformats.org/officeDocument/2006/relationships/diagramData" Target="../diagrams/data198.xml"/><Relationship Id="rId1" Type="http://schemas.openxmlformats.org/officeDocument/2006/relationships/slideLayout" Target="../slideLayouts/slideLayout2.xml"/><Relationship Id="rId6" Type="http://schemas.microsoft.com/office/2007/relationships/diagramDrawing" Target="../diagrams/drawing198.xml"/><Relationship Id="rId5" Type="http://schemas.openxmlformats.org/officeDocument/2006/relationships/diagramColors" Target="../diagrams/colors198.xml"/><Relationship Id="rId4" Type="http://schemas.openxmlformats.org/officeDocument/2006/relationships/diagramQuickStyle" Target="../diagrams/quickStyle198.xml"/><Relationship Id="rId9" Type="http://schemas.openxmlformats.org/officeDocument/2006/relationships/hyperlink" Target="https://www.harness.io/blog/test-driven-or-feature-flag-driven-development-whats-best-for-your-team" TargetMode="External"/></Relationships>
</file>

<file path=ppt/slides/_rels/slide204.xml.rels><?xml version="1.0" encoding="UTF-8" standalone="yes"?>
<Relationships xmlns="http://schemas.openxmlformats.org/package/2006/relationships"><Relationship Id="rId3" Type="http://schemas.openxmlformats.org/officeDocument/2006/relationships/diagramLayout" Target="../diagrams/layout199.xml"/><Relationship Id="rId2" Type="http://schemas.openxmlformats.org/officeDocument/2006/relationships/diagramData" Target="../diagrams/data199.xml"/><Relationship Id="rId1" Type="http://schemas.openxmlformats.org/officeDocument/2006/relationships/slideLayout" Target="../slideLayouts/slideLayout2.xml"/><Relationship Id="rId6" Type="http://schemas.microsoft.com/office/2007/relationships/diagramDrawing" Target="../diagrams/drawing199.xml"/><Relationship Id="rId5" Type="http://schemas.openxmlformats.org/officeDocument/2006/relationships/diagramColors" Target="../diagrams/colors199.xml"/><Relationship Id="rId4" Type="http://schemas.openxmlformats.org/officeDocument/2006/relationships/diagramQuickStyle" Target="../diagrams/quickStyle199.xml"/></Relationships>
</file>

<file path=ppt/slides/_rels/slide20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diagramLayout" Target="../diagrams/layout200.xml"/><Relationship Id="rId7" Type="http://schemas.openxmlformats.org/officeDocument/2006/relationships/image" Target="../media/image80.jpeg"/><Relationship Id="rId2" Type="http://schemas.openxmlformats.org/officeDocument/2006/relationships/diagramData" Target="../diagrams/data200.xml"/><Relationship Id="rId1" Type="http://schemas.openxmlformats.org/officeDocument/2006/relationships/slideLayout" Target="../slideLayouts/slideLayout2.xml"/><Relationship Id="rId6" Type="http://schemas.microsoft.com/office/2007/relationships/diagramDrawing" Target="../diagrams/drawing200.xml"/><Relationship Id="rId5" Type="http://schemas.openxmlformats.org/officeDocument/2006/relationships/diagramColors" Target="../diagrams/colors200.xml"/><Relationship Id="rId4" Type="http://schemas.openxmlformats.org/officeDocument/2006/relationships/diagramQuickStyle" Target="../diagrams/quickStyle200.xml"/></Relationships>
</file>

<file path=ppt/slides/_rels/slide206.xml.rels><?xml version="1.0" encoding="UTF-8" standalone="yes"?>
<Relationships xmlns="http://schemas.openxmlformats.org/package/2006/relationships"><Relationship Id="rId8" Type="http://schemas.openxmlformats.org/officeDocument/2006/relationships/hyperlink" Target="https://learn.microsoft.com/en-us/azure/architecture/solution-ideas/articles/disaster-recovery-enterprise-scale-dr" TargetMode="External"/><Relationship Id="rId3" Type="http://schemas.openxmlformats.org/officeDocument/2006/relationships/diagramLayout" Target="../diagrams/layout201.xml"/><Relationship Id="rId7" Type="http://schemas.openxmlformats.org/officeDocument/2006/relationships/hyperlink" Target="https://docs.aws.amazon.com/whitepapers/latest/disaster-recovery-workloads-on-aws/disaster-recovery-options-in-the-cloud.html" TargetMode="External"/><Relationship Id="rId2" Type="http://schemas.openxmlformats.org/officeDocument/2006/relationships/diagramData" Target="../diagrams/data201.xml"/><Relationship Id="rId1" Type="http://schemas.openxmlformats.org/officeDocument/2006/relationships/slideLayout" Target="../slideLayouts/slideLayout2.xml"/><Relationship Id="rId6" Type="http://schemas.microsoft.com/office/2007/relationships/diagramDrawing" Target="../diagrams/drawing201.xml"/><Relationship Id="rId5" Type="http://schemas.openxmlformats.org/officeDocument/2006/relationships/diagramColors" Target="../diagrams/colors201.xml"/><Relationship Id="rId10" Type="http://schemas.openxmlformats.org/officeDocument/2006/relationships/image" Target="../media/image82.png"/><Relationship Id="rId4" Type="http://schemas.openxmlformats.org/officeDocument/2006/relationships/diagramQuickStyle" Target="../diagrams/quickStyle201.xml"/><Relationship Id="rId9" Type="http://schemas.openxmlformats.org/officeDocument/2006/relationships/hyperlink" Target="https://www.druva.com/documents/pf/ebooks/druva-ebook-ultimate-guide-to-achieving-rpo-rto.pdf" TargetMode="External"/></Relationships>
</file>

<file path=ppt/slides/_rels/slide207.xml.rels><?xml version="1.0" encoding="UTF-8" standalone="yes"?>
<Relationships xmlns="http://schemas.openxmlformats.org/package/2006/relationships"><Relationship Id="rId3" Type="http://schemas.openxmlformats.org/officeDocument/2006/relationships/diagramLayout" Target="../diagrams/layout202.xml"/><Relationship Id="rId2" Type="http://schemas.openxmlformats.org/officeDocument/2006/relationships/diagramData" Target="../diagrams/data202.xml"/><Relationship Id="rId1" Type="http://schemas.openxmlformats.org/officeDocument/2006/relationships/slideLayout" Target="../slideLayouts/slideLayout2.xml"/><Relationship Id="rId6" Type="http://schemas.microsoft.com/office/2007/relationships/diagramDrawing" Target="../diagrams/drawing202.xml"/><Relationship Id="rId5" Type="http://schemas.openxmlformats.org/officeDocument/2006/relationships/diagramColors" Target="../diagrams/colors202.xml"/><Relationship Id="rId4" Type="http://schemas.openxmlformats.org/officeDocument/2006/relationships/diagramQuickStyle" Target="../diagrams/quickStyle202.xml"/></Relationships>
</file>

<file path=ppt/slides/_rels/slide208.xml.rels><?xml version="1.0" encoding="UTF-8" standalone="yes"?>
<Relationships xmlns="http://schemas.openxmlformats.org/package/2006/relationships"><Relationship Id="rId3" Type="http://schemas.openxmlformats.org/officeDocument/2006/relationships/diagramLayout" Target="../diagrams/layout203.xml"/><Relationship Id="rId2" Type="http://schemas.openxmlformats.org/officeDocument/2006/relationships/diagramData" Target="../diagrams/data203.xml"/><Relationship Id="rId1" Type="http://schemas.openxmlformats.org/officeDocument/2006/relationships/slideLayout" Target="../slideLayouts/slideLayout2.xml"/><Relationship Id="rId6" Type="http://schemas.microsoft.com/office/2007/relationships/diagramDrawing" Target="../diagrams/drawing203.xml"/><Relationship Id="rId5" Type="http://schemas.openxmlformats.org/officeDocument/2006/relationships/diagramColors" Target="../diagrams/colors203.xml"/><Relationship Id="rId4" Type="http://schemas.openxmlformats.org/officeDocument/2006/relationships/diagramQuickStyle" Target="../diagrams/quickStyle203.xml"/></Relationships>
</file>

<file path=ppt/slides/_rels/slide209.xml.rels><?xml version="1.0" encoding="UTF-8" standalone="yes"?>
<Relationships xmlns="http://schemas.openxmlformats.org/package/2006/relationships"><Relationship Id="rId8" Type="http://schemas.openxmlformats.org/officeDocument/2006/relationships/hyperlink" Target="https://www.packtpub.com/en-us/product/efficient-cloud-finops-9781805122579" TargetMode="External"/><Relationship Id="rId3" Type="http://schemas.openxmlformats.org/officeDocument/2006/relationships/diagramLayout" Target="../diagrams/layout204.xml"/><Relationship Id="rId7" Type="http://schemas.openxmlformats.org/officeDocument/2006/relationships/hyperlink" Target="https://github.com/jmfontaine/awesome-finops" TargetMode="External"/><Relationship Id="rId2" Type="http://schemas.openxmlformats.org/officeDocument/2006/relationships/diagramData" Target="../diagrams/data204.xml"/><Relationship Id="rId1" Type="http://schemas.openxmlformats.org/officeDocument/2006/relationships/slideLayout" Target="../slideLayouts/slideLayout2.xml"/><Relationship Id="rId6" Type="http://schemas.microsoft.com/office/2007/relationships/diagramDrawing" Target="../diagrams/drawing204.xml"/><Relationship Id="rId11" Type="http://schemas.openxmlformats.org/officeDocument/2006/relationships/hyperlink" Target="https://github.com/PacktPublishing/FinOps-Handbook-for-Microsoft-Azure" TargetMode="External"/><Relationship Id="rId5" Type="http://schemas.openxmlformats.org/officeDocument/2006/relationships/diagramColors" Target="../diagrams/colors204.xml"/><Relationship Id="rId10" Type="http://schemas.openxmlformats.org/officeDocument/2006/relationships/hyperlink" Target="https://github.com/dolevshor/azure-finops-guide" TargetMode="External"/><Relationship Id="rId4" Type="http://schemas.openxmlformats.org/officeDocument/2006/relationships/diagramQuickStyle" Target="../diagrams/quickStyle204.xml"/><Relationship Id="rId9" Type="http://schemas.openxmlformats.org/officeDocument/2006/relationships/hyperlink" Target="https://www.oreilly.com/library/view/cloud-finops/9781492054610/" TargetMode="External"/></Relationships>
</file>

<file path=ppt/slides/_rels/slide210.xml.rels><?xml version="1.0" encoding="UTF-8" standalone="yes"?>
<Relationships xmlns="http://schemas.openxmlformats.org/package/2006/relationships"><Relationship Id="rId3" Type="http://schemas.openxmlformats.org/officeDocument/2006/relationships/diagramLayout" Target="../diagrams/layout205.xml"/><Relationship Id="rId2" Type="http://schemas.openxmlformats.org/officeDocument/2006/relationships/diagramData" Target="../diagrams/data205.xml"/><Relationship Id="rId1" Type="http://schemas.openxmlformats.org/officeDocument/2006/relationships/slideLayout" Target="../slideLayouts/slideLayout2.xml"/><Relationship Id="rId6" Type="http://schemas.microsoft.com/office/2007/relationships/diagramDrawing" Target="../diagrams/drawing205.xml"/><Relationship Id="rId5" Type="http://schemas.openxmlformats.org/officeDocument/2006/relationships/diagramColors" Target="../diagrams/colors205.xml"/><Relationship Id="rId4" Type="http://schemas.openxmlformats.org/officeDocument/2006/relationships/diagramQuickStyle" Target="../diagrams/quickStyle205.xml"/></Relationships>
</file>

<file path=ppt/slides/_rels/slide211.xml.rels><?xml version="1.0" encoding="UTF-8" standalone="yes"?>
<Relationships xmlns="http://schemas.openxmlformats.org/package/2006/relationships"><Relationship Id="rId8" Type="http://schemas.openxmlformats.org/officeDocument/2006/relationships/hyperlink" Target="https://pragprog.com/titles/mnee2/release-it-second-edition/" TargetMode="External"/><Relationship Id="rId3" Type="http://schemas.openxmlformats.org/officeDocument/2006/relationships/diagramLayout" Target="../diagrams/layout206.xml"/><Relationship Id="rId7" Type="http://schemas.openxmlformats.org/officeDocument/2006/relationships/hyperlink" Target="https://martinfowler.com/books/continuousDelivery.html" TargetMode="External"/><Relationship Id="rId2" Type="http://schemas.openxmlformats.org/officeDocument/2006/relationships/diagramData" Target="../diagrams/data206.xml"/><Relationship Id="rId1" Type="http://schemas.openxmlformats.org/officeDocument/2006/relationships/slideLayout" Target="../slideLayouts/slideLayout2.xml"/><Relationship Id="rId6" Type="http://schemas.microsoft.com/office/2007/relationships/diagramDrawing" Target="../diagrams/drawing206.xml"/><Relationship Id="rId5" Type="http://schemas.openxmlformats.org/officeDocument/2006/relationships/diagramColors" Target="../diagrams/colors206.xml"/><Relationship Id="rId4" Type="http://schemas.openxmlformats.org/officeDocument/2006/relationships/diagramQuickStyle" Target="../diagrams/quickStyle206.xml"/></Relationships>
</file>

<file path=ppt/slides/_rels/slide212.xml.rels><?xml version="1.0" encoding="UTF-8" standalone="yes"?>
<Relationships xmlns="http://schemas.openxmlformats.org/package/2006/relationships"><Relationship Id="rId3" Type="http://schemas.openxmlformats.org/officeDocument/2006/relationships/diagramLayout" Target="../diagrams/layout207.xml"/><Relationship Id="rId2" Type="http://schemas.openxmlformats.org/officeDocument/2006/relationships/diagramData" Target="../diagrams/data207.xml"/><Relationship Id="rId1" Type="http://schemas.openxmlformats.org/officeDocument/2006/relationships/slideLayout" Target="../slideLayouts/slideLayout2.xml"/><Relationship Id="rId6" Type="http://schemas.microsoft.com/office/2007/relationships/diagramDrawing" Target="../diagrams/drawing207.xml"/><Relationship Id="rId5" Type="http://schemas.openxmlformats.org/officeDocument/2006/relationships/diagramColors" Target="../diagrams/colors207.xml"/><Relationship Id="rId4" Type="http://schemas.openxmlformats.org/officeDocument/2006/relationships/diagramQuickStyle" Target="../diagrams/quickStyle207.xml"/></Relationships>
</file>

<file path=ppt/slides/_rels/slide213.xml.rels><?xml version="1.0" encoding="UTF-8" standalone="yes"?>
<Relationships xmlns="http://schemas.openxmlformats.org/package/2006/relationships"><Relationship Id="rId3" Type="http://schemas.openxmlformats.org/officeDocument/2006/relationships/diagramLayout" Target="../diagrams/layout208.xml"/><Relationship Id="rId2" Type="http://schemas.openxmlformats.org/officeDocument/2006/relationships/diagramData" Target="../diagrams/data208.xml"/><Relationship Id="rId1" Type="http://schemas.openxmlformats.org/officeDocument/2006/relationships/slideLayout" Target="../slideLayouts/slideLayout2.xml"/><Relationship Id="rId6" Type="http://schemas.microsoft.com/office/2007/relationships/diagramDrawing" Target="../diagrams/drawing208.xml"/><Relationship Id="rId5" Type="http://schemas.openxmlformats.org/officeDocument/2006/relationships/diagramColors" Target="../diagrams/colors208.xml"/><Relationship Id="rId4" Type="http://schemas.openxmlformats.org/officeDocument/2006/relationships/diagramQuickStyle" Target="../diagrams/quickStyle208.xml"/></Relationships>
</file>

<file path=ppt/slides/_rels/slide214.xml.rels><?xml version="1.0" encoding="UTF-8" standalone="yes"?>
<Relationships xmlns="http://schemas.openxmlformats.org/package/2006/relationships"><Relationship Id="rId3" Type="http://schemas.openxmlformats.org/officeDocument/2006/relationships/diagramLayout" Target="../diagrams/layout209.xml"/><Relationship Id="rId2" Type="http://schemas.openxmlformats.org/officeDocument/2006/relationships/diagramData" Target="../diagrams/data209.xml"/><Relationship Id="rId1" Type="http://schemas.openxmlformats.org/officeDocument/2006/relationships/slideLayout" Target="../slideLayouts/slideLayout2.xml"/><Relationship Id="rId6" Type="http://schemas.microsoft.com/office/2007/relationships/diagramDrawing" Target="../diagrams/drawing209.xml"/><Relationship Id="rId5" Type="http://schemas.openxmlformats.org/officeDocument/2006/relationships/diagramColors" Target="../diagrams/colors209.xml"/><Relationship Id="rId4" Type="http://schemas.openxmlformats.org/officeDocument/2006/relationships/diagramQuickStyle" Target="../diagrams/quickStyle209.xml"/></Relationships>
</file>

<file path=ppt/slides/_rels/slide215.xml.rels><?xml version="1.0" encoding="UTF-8" standalone="yes"?>
<Relationships xmlns="http://schemas.openxmlformats.org/package/2006/relationships"><Relationship Id="rId3" Type="http://schemas.openxmlformats.org/officeDocument/2006/relationships/diagramLayout" Target="../diagrams/layout210.xml"/><Relationship Id="rId2" Type="http://schemas.openxmlformats.org/officeDocument/2006/relationships/diagramData" Target="../diagrams/data210.xml"/><Relationship Id="rId1" Type="http://schemas.openxmlformats.org/officeDocument/2006/relationships/slideLayout" Target="../slideLayouts/slideLayout2.xml"/><Relationship Id="rId6" Type="http://schemas.microsoft.com/office/2007/relationships/diagramDrawing" Target="../diagrams/drawing210.xml"/><Relationship Id="rId5" Type="http://schemas.openxmlformats.org/officeDocument/2006/relationships/diagramColors" Target="../diagrams/colors210.xml"/><Relationship Id="rId4" Type="http://schemas.openxmlformats.org/officeDocument/2006/relationships/diagramQuickStyle" Target="../diagrams/quickStyle210.xml"/></Relationships>
</file>

<file path=ppt/slides/_rels/slide216.xml.rels><?xml version="1.0" encoding="UTF-8" standalone="yes"?>
<Relationships xmlns="http://schemas.openxmlformats.org/package/2006/relationships"><Relationship Id="rId8" Type="http://schemas.openxmlformats.org/officeDocument/2006/relationships/hyperlink" Target="https://www.packtpub.com/en-in/product/sustainable-cloud-development-9781836208402?srsltid=AfmBOorIHabgajTdx26bfXv__f5l-nk-SYfWq3v16aaOb21ScWwMd3_U" TargetMode="External"/><Relationship Id="rId3" Type="http://schemas.openxmlformats.org/officeDocument/2006/relationships/diagramLayout" Target="../diagrams/layout211.xml"/><Relationship Id="rId7" Type="http://schemas.openxmlformats.org/officeDocument/2006/relationships/hyperlink" Target="https://devm.io/software-architecture/sustainable-software-architecture-technical-debt-160372-003" TargetMode="External"/><Relationship Id="rId2" Type="http://schemas.openxmlformats.org/officeDocument/2006/relationships/diagramData" Target="../diagrams/data211.xml"/><Relationship Id="rId1" Type="http://schemas.openxmlformats.org/officeDocument/2006/relationships/slideLayout" Target="../slideLayouts/slideLayout2.xml"/><Relationship Id="rId6" Type="http://schemas.microsoft.com/office/2007/relationships/diagramDrawing" Target="../diagrams/drawing211.xml"/><Relationship Id="rId5" Type="http://schemas.openxmlformats.org/officeDocument/2006/relationships/diagramColors" Target="../diagrams/colors211.xml"/><Relationship Id="rId4" Type="http://schemas.openxmlformats.org/officeDocument/2006/relationships/diagramQuickStyle" Target="../diagrams/quickStyle211.xml"/></Relationships>
</file>

<file path=ppt/slides/_rels/slide217.xml.rels><?xml version="1.0" encoding="UTF-8" standalone="yes"?>
<Relationships xmlns="http://schemas.openxmlformats.org/package/2006/relationships"><Relationship Id="rId8" Type="http://schemas.openxmlformats.org/officeDocument/2006/relationships/hyperlink" Target="https://learn.microsoft.com/en-us/azure/well-architected/what-is-well-architected-framework" TargetMode="External"/><Relationship Id="rId3" Type="http://schemas.openxmlformats.org/officeDocument/2006/relationships/diagramLayout" Target="../diagrams/layout212.xml"/><Relationship Id="rId7" Type="http://schemas.openxmlformats.org/officeDocument/2006/relationships/hyperlink" Target="https://aws.amazon.com/blogs/architecture/announcing-updates-to-the-aws-well-architected-framework-guidance/" TargetMode="External"/><Relationship Id="rId2" Type="http://schemas.openxmlformats.org/officeDocument/2006/relationships/diagramData" Target="../diagrams/data212.xml"/><Relationship Id="rId1" Type="http://schemas.openxmlformats.org/officeDocument/2006/relationships/slideLayout" Target="../slideLayouts/slideLayout2.xml"/><Relationship Id="rId6" Type="http://schemas.microsoft.com/office/2007/relationships/diagramDrawing" Target="../diagrams/drawing212.xml"/><Relationship Id="rId11" Type="http://schemas.openxmlformats.org/officeDocument/2006/relationships/hyperlink" Target="https://socadk.github.io/design-practice-repository/activities/DPR-SMART-NFR-Elicitation.html" TargetMode="External"/><Relationship Id="rId5" Type="http://schemas.openxmlformats.org/officeDocument/2006/relationships/diagramColors" Target="../diagrams/colors212.xml"/><Relationship Id="rId10" Type="http://schemas.openxmlformats.org/officeDocument/2006/relationships/hyperlink" Target="https://learn.microsoft.com/en-us/azure/cloud-adoption-framework/manage/considerations/criticality" TargetMode="External"/><Relationship Id="rId4" Type="http://schemas.openxmlformats.org/officeDocument/2006/relationships/diagramQuickStyle" Target="../diagrams/quickStyle212.xml"/><Relationship Id="rId9" Type="http://schemas.openxmlformats.org/officeDocument/2006/relationships/hyperlink" Target="https://techcommunity.microsoft.com/blog/azurearchitectureblog/optimizing-azure-kubernetes-service-aks-with-the-well-architected-framework/3352848" TargetMode="External"/></Relationships>
</file>

<file path=ppt/slides/_rels/slide218.xml.rels><?xml version="1.0" encoding="UTF-8" standalone="yes"?>
<Relationships xmlns="http://schemas.openxmlformats.org/package/2006/relationships"><Relationship Id="rId3" Type="http://schemas.openxmlformats.org/officeDocument/2006/relationships/diagramLayout" Target="../diagrams/layout213.xml"/><Relationship Id="rId7" Type="http://schemas.openxmlformats.org/officeDocument/2006/relationships/image" Target="../media/image83.png"/><Relationship Id="rId2" Type="http://schemas.openxmlformats.org/officeDocument/2006/relationships/diagramData" Target="../diagrams/data213.xml"/><Relationship Id="rId1" Type="http://schemas.openxmlformats.org/officeDocument/2006/relationships/slideLayout" Target="../slideLayouts/slideLayout2.xml"/><Relationship Id="rId6" Type="http://schemas.microsoft.com/office/2007/relationships/diagramDrawing" Target="../diagrams/drawing213.xml"/><Relationship Id="rId5" Type="http://schemas.openxmlformats.org/officeDocument/2006/relationships/diagramColors" Target="../diagrams/colors213.xml"/><Relationship Id="rId4" Type="http://schemas.openxmlformats.org/officeDocument/2006/relationships/diagramQuickStyle" Target="../diagrams/quickStyle213.xml"/></Relationships>
</file>

<file path=ppt/slides/_rels/slide219.xml.rels><?xml version="1.0" encoding="UTF-8" standalone="yes"?>
<Relationships xmlns="http://schemas.openxmlformats.org/package/2006/relationships"><Relationship Id="rId8" Type="http://schemas.openxmlformats.org/officeDocument/2006/relationships/hyperlink" Target="https://gist.github.com/sandipray63in/09b84d9164114baf8f31085b186417dd" TargetMode="External"/><Relationship Id="rId3" Type="http://schemas.openxmlformats.org/officeDocument/2006/relationships/diagramLayout" Target="../diagrams/layout214.xml"/><Relationship Id="rId7" Type="http://schemas.openxmlformats.org/officeDocument/2006/relationships/hyperlink" Target="https://www.linkedin.com/posts/milanmilanovic_technology-softwareengineering-data-activity-7322873557573689344-tXpg/" TargetMode="External"/><Relationship Id="rId12" Type="http://schemas.openxmlformats.org/officeDocument/2006/relationships/hyperlink" Target="https://aws.amazon.com/qldb/" TargetMode="External"/><Relationship Id="rId2" Type="http://schemas.openxmlformats.org/officeDocument/2006/relationships/diagramData" Target="../diagrams/data214.xml"/><Relationship Id="rId1" Type="http://schemas.openxmlformats.org/officeDocument/2006/relationships/slideLayout" Target="../slideLayouts/slideLayout2.xml"/><Relationship Id="rId6" Type="http://schemas.microsoft.com/office/2007/relationships/diagramDrawing" Target="../diagrams/drawing214.xml"/><Relationship Id="rId11" Type="http://schemas.openxmlformats.org/officeDocument/2006/relationships/hyperlink" Target="https://blog.x.com/engineering/en_us/topics/infrastructure/2019/metricsdb" TargetMode="External"/><Relationship Id="rId5" Type="http://schemas.openxmlformats.org/officeDocument/2006/relationships/diagramColors" Target="../diagrams/colors214.xml"/><Relationship Id="rId10" Type="http://schemas.openxmlformats.org/officeDocument/2006/relationships/hyperlink" Target="https://aws.amazon.com/timestream/" TargetMode="External"/><Relationship Id="rId4" Type="http://schemas.openxmlformats.org/officeDocument/2006/relationships/diagramQuickStyle" Target="../diagrams/quickStyle214.xml"/><Relationship Id="rId9" Type="http://schemas.openxmlformats.org/officeDocument/2006/relationships/hyperlink" Target="https://www.systemdesignacademy.com/blog/time-series-databases" TargetMode="External"/></Relationships>
</file>

<file path=ppt/slides/_rels/slide220.xml.rels><?xml version="1.0" encoding="UTF-8" standalone="yes"?>
<Relationships xmlns="http://schemas.openxmlformats.org/package/2006/relationships"><Relationship Id="rId3" Type="http://schemas.openxmlformats.org/officeDocument/2006/relationships/diagramLayout" Target="../diagrams/layout215.xml"/><Relationship Id="rId7" Type="http://schemas.openxmlformats.org/officeDocument/2006/relationships/hyperlink" Target="https://www.geeksforgeeks.org/concurrency-control-in-dbms/" TargetMode="External"/><Relationship Id="rId2" Type="http://schemas.openxmlformats.org/officeDocument/2006/relationships/diagramData" Target="../diagrams/data215.xml"/><Relationship Id="rId1" Type="http://schemas.openxmlformats.org/officeDocument/2006/relationships/slideLayout" Target="../slideLayouts/slideLayout2.xml"/><Relationship Id="rId6" Type="http://schemas.microsoft.com/office/2007/relationships/diagramDrawing" Target="../diagrams/drawing215.xml"/><Relationship Id="rId5" Type="http://schemas.openxmlformats.org/officeDocument/2006/relationships/diagramColors" Target="../diagrams/colors215.xml"/><Relationship Id="rId4" Type="http://schemas.openxmlformats.org/officeDocument/2006/relationships/diagramQuickStyle" Target="../diagrams/quickStyle215.xml"/></Relationships>
</file>

<file path=ppt/slides/_rels/slide221.xml.rels><?xml version="1.0" encoding="UTF-8" standalone="yes"?>
<Relationships xmlns="http://schemas.openxmlformats.org/package/2006/relationships"><Relationship Id="rId3" Type="http://schemas.openxmlformats.org/officeDocument/2006/relationships/diagramLayout" Target="../diagrams/layout216.xml"/><Relationship Id="rId7" Type="http://schemas.openxmlformats.org/officeDocument/2006/relationships/hyperlink" Target="https://martin.kleppmann.com/2016/02/08/how-to-do-distributed-locking.html" TargetMode="External"/><Relationship Id="rId2" Type="http://schemas.openxmlformats.org/officeDocument/2006/relationships/diagramData" Target="../diagrams/data216.xml"/><Relationship Id="rId1" Type="http://schemas.openxmlformats.org/officeDocument/2006/relationships/slideLayout" Target="../slideLayouts/slideLayout2.xml"/><Relationship Id="rId6" Type="http://schemas.microsoft.com/office/2007/relationships/diagramDrawing" Target="../diagrams/drawing216.xml"/><Relationship Id="rId5" Type="http://schemas.openxmlformats.org/officeDocument/2006/relationships/diagramColors" Target="../diagrams/colors216.xml"/><Relationship Id="rId4" Type="http://schemas.openxmlformats.org/officeDocument/2006/relationships/diagramQuickStyle" Target="../diagrams/quickStyle216.xml"/></Relationships>
</file>

<file path=ppt/slides/_rels/slide222.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Myv0_FfgGyASlFYDdwgWa0A_tR5Q%3A1758016507132&amp;q=Star+Schema&amp;sa=X&amp;ved=2ahUKEwiZ2Krrgd2PAxXjkq8BHViVOxoQxccNegUI2QIQAQ&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3" Type="http://schemas.openxmlformats.org/officeDocument/2006/relationships/diagramLayout" Target="../diagrams/layout217.xml"/><Relationship Id="rId7" Type="http://schemas.openxmlformats.org/officeDocument/2006/relationships/hyperlink" Target="https://www.google.com/search?safe=active&amp;sca_esv=8fb985a9e177f272&amp;rlz=1C1GCEW_enIN1075IN1075&amp;sxsrf=AE3TifMyv0_FfgGyASlFYDdwgWa0A_tR5Q%3A1758016507132&amp;q=Ralph+Kimball&amp;sa=X&amp;ved=2ahUKEwiZ2Krrgd2PAxXjkq8BHViVOxoQxccNegQIERAB&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2" Type="http://schemas.openxmlformats.org/officeDocument/2006/relationships/diagramData" Target="../diagrams/data217.xml"/><Relationship Id="rId1" Type="http://schemas.openxmlformats.org/officeDocument/2006/relationships/slideLayout" Target="../slideLayouts/slideLayout2.xml"/><Relationship Id="rId6" Type="http://schemas.microsoft.com/office/2007/relationships/diagramDrawing" Target="../diagrams/drawing217.xml"/><Relationship Id="rId5" Type="http://schemas.openxmlformats.org/officeDocument/2006/relationships/diagramColors" Target="../diagrams/colors217.xml"/><Relationship Id="rId4" Type="http://schemas.openxmlformats.org/officeDocument/2006/relationships/diagramQuickStyle" Target="../diagrams/quickStyle217.xml"/></Relationships>
</file>

<file path=ppt/slides/_rels/slide223.xml.rels><?xml version="1.0" encoding="UTF-8" standalone="yes"?>
<Relationships xmlns="http://schemas.openxmlformats.org/package/2006/relationships"><Relationship Id="rId3" Type="http://schemas.openxmlformats.org/officeDocument/2006/relationships/diagramLayout" Target="../diagrams/layout218.xml"/><Relationship Id="rId2" Type="http://schemas.openxmlformats.org/officeDocument/2006/relationships/diagramData" Target="../diagrams/data218.xml"/><Relationship Id="rId1" Type="http://schemas.openxmlformats.org/officeDocument/2006/relationships/slideLayout" Target="../slideLayouts/slideLayout2.xml"/><Relationship Id="rId6" Type="http://schemas.microsoft.com/office/2007/relationships/diagramDrawing" Target="../diagrams/drawing218.xml"/><Relationship Id="rId5" Type="http://schemas.openxmlformats.org/officeDocument/2006/relationships/diagramColors" Target="../diagrams/colors218.xml"/><Relationship Id="rId4" Type="http://schemas.openxmlformats.org/officeDocument/2006/relationships/diagramQuickStyle" Target="../diagrams/quickStyle218.xml"/></Relationships>
</file>

<file path=ppt/slides/_rels/slide224.xml.rels><?xml version="1.0" encoding="UTF-8" standalone="yes"?>
<Relationships xmlns="http://schemas.openxmlformats.org/package/2006/relationships"><Relationship Id="rId8" Type="http://schemas.openxmlformats.org/officeDocument/2006/relationships/hyperlink" Target="https://www.guru99.com/data-warehousing-tutorial.html" TargetMode="External"/><Relationship Id="rId13" Type="http://schemas.openxmlformats.org/officeDocument/2006/relationships/hyperlink" Target="https://stackoverflow.com/questions/18916682/data-warehouse-vs-olap-cube" TargetMode="External"/><Relationship Id="rId18" Type="http://schemas.openxmlformats.org/officeDocument/2006/relationships/hyperlink" Target="https://www.scaler.com/topics/olap-operations/" TargetMode="External"/><Relationship Id="rId3" Type="http://schemas.openxmlformats.org/officeDocument/2006/relationships/diagramLayout" Target="../diagrams/layout219.xml"/><Relationship Id="rId7" Type="http://schemas.openxmlformats.org/officeDocument/2006/relationships/hyperlink" Target="https://hexanika.com/why-shift-from-etl-to-elt/" TargetMode="External"/><Relationship Id="rId12" Type="http://schemas.openxmlformats.org/officeDocument/2006/relationships/hyperlink" Target="https://www.geeksforgeeks.org/measures-their-categorization-and-computation-in-data-mining/" TargetMode="External"/><Relationship Id="rId17" Type="http://schemas.openxmlformats.org/officeDocument/2006/relationships/hyperlink" Target="https://docs.oracle.com/en/database/oracle/oracle-database/21/sqlrf/OLAP-Functions.html" TargetMode="External"/><Relationship Id="rId2" Type="http://schemas.openxmlformats.org/officeDocument/2006/relationships/diagramData" Target="../diagrams/data219.xml"/><Relationship Id="rId16" Type="http://schemas.openxmlformats.org/officeDocument/2006/relationships/hyperlink" Target="https://www.geeksforgeeks.org/data-cube-or-olap-approach-in-data-mining/" TargetMode="External"/><Relationship Id="rId20" Type="http://schemas.openxmlformats.org/officeDocument/2006/relationships/hyperlink" Target="https://www.sqlbi.com/books/" TargetMode="External"/><Relationship Id="rId1" Type="http://schemas.openxmlformats.org/officeDocument/2006/relationships/slideLayout" Target="../slideLayouts/slideLayout2.xml"/><Relationship Id="rId6" Type="http://schemas.microsoft.com/office/2007/relationships/diagramDrawing" Target="../diagrams/drawing219.xml"/><Relationship Id="rId11" Type="http://schemas.openxmlformats.org/officeDocument/2006/relationships/hyperlink" Target="https://www.geeksforgeeks.org/concept-hierarchy-in-data-mining/" TargetMode="External"/><Relationship Id="rId5" Type="http://schemas.openxmlformats.org/officeDocument/2006/relationships/diagramColors" Target="../diagrams/colors219.xml"/><Relationship Id="rId15" Type="http://schemas.openxmlformats.org/officeDocument/2006/relationships/hyperlink" Target="https://hevodata.com/learn/olap-models/" TargetMode="External"/><Relationship Id="rId10" Type="http://schemas.openxmlformats.org/officeDocument/2006/relationships/hyperlink" Target="https://cassio-bolba.medium.com/concepts-for-data-engineers-dimensional-data-modelling-74f88c6d83de" TargetMode="External"/><Relationship Id="rId19" Type="http://schemas.openxmlformats.org/officeDocument/2006/relationships/hyperlink" Target="https://saranshinc.com/agile-scrum-ssrs-ssas/understanding-ssas-multidimensional-vs-tabular-models/" TargetMode="External"/><Relationship Id="rId4" Type="http://schemas.openxmlformats.org/officeDocument/2006/relationships/diagramQuickStyle" Target="../diagrams/quickStyle219.xml"/><Relationship Id="rId9" Type="http://schemas.openxmlformats.org/officeDocument/2006/relationships/hyperlink" Target="https://www.softwareag.com/en_corporate/blog/streamsets/schemas-data-warehouses-star-galaxy-snowflake.html" TargetMode="External"/><Relationship Id="rId14" Type="http://schemas.openxmlformats.org/officeDocument/2006/relationships/hyperlink" Target="https://aws.amazon.com/what-is/olap/" TargetMode="External"/></Relationships>
</file>

<file path=ppt/slides/_rels/slide225.xml.rels><?xml version="1.0" encoding="UTF-8" standalone="yes"?>
<Relationships xmlns="http://schemas.openxmlformats.org/package/2006/relationships"><Relationship Id="rId3" Type="http://schemas.openxmlformats.org/officeDocument/2006/relationships/diagramLayout" Target="../diagrams/layout220.xml"/><Relationship Id="rId2" Type="http://schemas.openxmlformats.org/officeDocument/2006/relationships/diagramData" Target="../diagrams/data220.xml"/><Relationship Id="rId1" Type="http://schemas.openxmlformats.org/officeDocument/2006/relationships/slideLayout" Target="../slideLayouts/slideLayout2.xml"/><Relationship Id="rId6" Type="http://schemas.microsoft.com/office/2007/relationships/diagramDrawing" Target="../diagrams/drawing220.xml"/><Relationship Id="rId5" Type="http://schemas.openxmlformats.org/officeDocument/2006/relationships/diagramColors" Target="../diagrams/colors220.xml"/><Relationship Id="rId4" Type="http://schemas.openxmlformats.org/officeDocument/2006/relationships/diagramQuickStyle" Target="../diagrams/quickStyle220.xml"/></Relationships>
</file>

<file path=ppt/slides/_rels/slide226.xml.rels><?xml version="1.0" encoding="UTF-8" standalone="yes"?>
<Relationships xmlns="http://schemas.openxmlformats.org/package/2006/relationships"><Relationship Id="rId3" Type="http://schemas.openxmlformats.org/officeDocument/2006/relationships/diagramLayout" Target="../diagrams/layout221.xml"/><Relationship Id="rId2" Type="http://schemas.openxmlformats.org/officeDocument/2006/relationships/diagramData" Target="../diagrams/data221.xml"/><Relationship Id="rId1" Type="http://schemas.openxmlformats.org/officeDocument/2006/relationships/slideLayout" Target="../slideLayouts/slideLayout2.xml"/><Relationship Id="rId6" Type="http://schemas.microsoft.com/office/2007/relationships/diagramDrawing" Target="../diagrams/drawing221.xml"/><Relationship Id="rId5" Type="http://schemas.openxmlformats.org/officeDocument/2006/relationships/diagramColors" Target="../diagrams/colors221.xml"/><Relationship Id="rId4" Type="http://schemas.openxmlformats.org/officeDocument/2006/relationships/diagramQuickStyle" Target="../diagrams/quickStyle221.xml"/></Relationships>
</file>

<file path=ppt/slides/_rels/slide227.xml.rels><?xml version="1.0" encoding="UTF-8" standalone="yes"?>
<Relationships xmlns="http://schemas.openxmlformats.org/package/2006/relationships"><Relationship Id="rId3" Type="http://schemas.openxmlformats.org/officeDocument/2006/relationships/diagramLayout" Target="../diagrams/layout222.xml"/><Relationship Id="rId2" Type="http://schemas.openxmlformats.org/officeDocument/2006/relationships/diagramData" Target="../diagrams/data222.xml"/><Relationship Id="rId1" Type="http://schemas.openxmlformats.org/officeDocument/2006/relationships/slideLayout" Target="../slideLayouts/slideLayout2.xml"/><Relationship Id="rId6" Type="http://schemas.microsoft.com/office/2007/relationships/diagramDrawing" Target="../diagrams/drawing222.xml"/><Relationship Id="rId5" Type="http://schemas.openxmlformats.org/officeDocument/2006/relationships/diagramColors" Target="../diagrams/colors222.xml"/><Relationship Id="rId4" Type="http://schemas.openxmlformats.org/officeDocument/2006/relationships/diagramQuickStyle" Target="../diagrams/quickStyle222.xml"/></Relationships>
</file>

<file path=ppt/slides/_rels/slide228.xml.rels><?xml version="1.0" encoding="UTF-8" standalone="yes"?>
<Relationships xmlns="http://schemas.openxmlformats.org/package/2006/relationships"><Relationship Id="rId3" Type="http://schemas.openxmlformats.org/officeDocument/2006/relationships/diagramLayout" Target="../diagrams/layout223.xml"/><Relationship Id="rId2" Type="http://schemas.openxmlformats.org/officeDocument/2006/relationships/diagramData" Target="../diagrams/data223.xml"/><Relationship Id="rId1" Type="http://schemas.openxmlformats.org/officeDocument/2006/relationships/slideLayout" Target="../slideLayouts/slideLayout2.xml"/><Relationship Id="rId6" Type="http://schemas.microsoft.com/office/2007/relationships/diagramDrawing" Target="../diagrams/drawing223.xml"/><Relationship Id="rId5" Type="http://schemas.openxmlformats.org/officeDocument/2006/relationships/diagramColors" Target="../diagrams/colors223.xml"/><Relationship Id="rId4" Type="http://schemas.openxmlformats.org/officeDocument/2006/relationships/diagramQuickStyle" Target="../diagrams/quickStyle223.xml"/></Relationships>
</file>

<file path=ppt/slides/_rels/slide229.xml.rels><?xml version="1.0" encoding="UTF-8" standalone="yes"?>
<Relationships xmlns="http://schemas.openxmlformats.org/package/2006/relationships"><Relationship Id="rId3" Type="http://schemas.openxmlformats.org/officeDocument/2006/relationships/diagramLayout" Target="../diagrams/layout224.xml"/><Relationship Id="rId2" Type="http://schemas.openxmlformats.org/officeDocument/2006/relationships/diagramData" Target="../diagrams/data224.xml"/><Relationship Id="rId1" Type="http://schemas.openxmlformats.org/officeDocument/2006/relationships/slideLayout" Target="../slideLayouts/slideLayout2.xml"/><Relationship Id="rId6" Type="http://schemas.microsoft.com/office/2007/relationships/diagramDrawing" Target="../diagrams/drawing224.xml"/><Relationship Id="rId5" Type="http://schemas.openxmlformats.org/officeDocument/2006/relationships/diagramColors" Target="../diagrams/colors224.xml"/><Relationship Id="rId4" Type="http://schemas.openxmlformats.org/officeDocument/2006/relationships/diagramQuickStyle" Target="../diagrams/quickStyle224.xml"/></Relationships>
</file>

<file path=ppt/slides/_rels/slide230.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data+lakes&amp;sa=X&amp;ved=2ahUKEwiYu93cgd2PAxXQnK8BHXlWHqQQxccNegQIBxAC&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225.xml"/><Relationship Id="rId7" Type="http://schemas.openxmlformats.org/officeDocument/2006/relationships/hyperlink" Target="https://www.google.com/search?safe=active&amp;sca_esv=8fb985a9e177f272&amp;rlz=1C1GCEW_enIN1075IN1075&amp;sxsrf=AE3TifPLkWO7RQcdPAxlZm9W4fp4ybC8ng%3A1758016476508&amp;q=NoSQL+databases&amp;sa=X&amp;ved=2ahUKEwiYu93cgd2PAxXQnK8BHXlWHqQQxccNegQIBxAB&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225.xml"/><Relationship Id="rId1" Type="http://schemas.openxmlformats.org/officeDocument/2006/relationships/slideLayout" Target="../slideLayouts/slideLayout2.xml"/><Relationship Id="rId6" Type="http://schemas.microsoft.com/office/2007/relationships/diagramDrawing" Target="../diagrams/drawing225.xml"/><Relationship Id="rId5" Type="http://schemas.openxmlformats.org/officeDocument/2006/relationships/diagramColors" Target="../diagrams/colors225.xml"/><Relationship Id="rId4" Type="http://schemas.openxmlformats.org/officeDocument/2006/relationships/diagramQuickStyle" Target="../diagrams/quickStyle225.xml"/></Relationships>
</file>

<file path=ppt/slides/_rels/slide231.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TF-IDF&amp;sa=X&amp;ved=2ahUKEwiYu93cgd2PAxXQnK8BHXlWHqQQxccNegUIqwEQAg&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226.xml"/><Relationship Id="rId7" Type="http://schemas.openxmlformats.org/officeDocument/2006/relationships/hyperlink" Target="https://www.google.com/search?safe=active&amp;sca_esv=8fb985a9e177f272&amp;rlz=1C1GCEW_enIN1075IN1075&amp;sxsrf=AE3TifPLkWO7RQcdPAxlZm9W4fp4ybC8ng%3A1758016476508&amp;q=Bag+of+Words+%28BoW%29&amp;sa=X&amp;ved=2ahUKEwiYu93cgd2PAxXQnK8BHXlWHqQQxccNegUIqwEQAQ&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226.xml"/><Relationship Id="rId1" Type="http://schemas.openxmlformats.org/officeDocument/2006/relationships/slideLayout" Target="../slideLayouts/slideLayout2.xml"/><Relationship Id="rId6" Type="http://schemas.microsoft.com/office/2007/relationships/diagramDrawing" Target="../diagrams/drawing226.xml"/><Relationship Id="rId5" Type="http://schemas.openxmlformats.org/officeDocument/2006/relationships/diagramColors" Target="../diagrams/colors226.xml"/><Relationship Id="rId4" Type="http://schemas.openxmlformats.org/officeDocument/2006/relationships/diagramQuickStyle" Target="../diagrams/quickStyle226.xml"/></Relationships>
</file>

<file path=ppt/slides/_rels/slide232.xml.rels><?xml version="1.0" encoding="UTF-8" standalone="yes"?>
<Relationships xmlns="http://schemas.openxmlformats.org/package/2006/relationships"><Relationship Id="rId13" Type="http://schemas.openxmlformats.org/officeDocument/2006/relationships/hyperlink" Target="https://learn.microsoft.com/en-us/sql/samples/sql-samples-where-are?view=sql-server-ver16" TargetMode="External"/><Relationship Id="rId18" Type="http://schemas.openxmlformats.org/officeDocument/2006/relationships/hyperlink" Target="https://github.com/Tiankai-Jiang/Yelp-Dataset/blob/master/06_report/report.pdf" TargetMode="External"/><Relationship Id="rId26" Type="http://schemas.openxmlformats.org/officeDocument/2006/relationships/hyperlink" Target="https://github.com/microsoft/CDM" TargetMode="External"/><Relationship Id="rId3" Type="http://schemas.openxmlformats.org/officeDocument/2006/relationships/diagramLayout" Target="../diagrams/layout227.xml"/><Relationship Id="rId21" Type="http://schemas.openxmlformats.org/officeDocument/2006/relationships/hyperlink" Target="https://systemdesignprimer.com/dropbox-system-design/#database-schema" TargetMode="External"/><Relationship Id="rId34" Type="http://schemas.openxmlformats.org/officeDocument/2006/relationships/hyperlink" Target="https://www.amazon.in/Data-Modeling-NoSQL-Database-3rd/dp/B0BLMD9DBD" TargetMode="External"/><Relationship Id="rId7" Type="http://schemas.openxmlformats.org/officeDocument/2006/relationships/hyperlink" Target="https://www.reltio.com/resources/blog-posts/master-data-vs-reference-data-data-type-comparison/" TargetMode="External"/><Relationship Id="rId12" Type="http://schemas.openxmlformats.org/officeDocument/2006/relationships/hyperlink" Target="https://www.jbilling.com/documentation/developers/database-model" TargetMode="External"/><Relationship Id="rId17" Type="http://schemas.openxmlformats.org/officeDocument/2006/relationships/hyperlink" Target="https://github.com/sadam-99/Uber-Database-Design-System/blob/master/Create_Uber_Database.sql" TargetMode="External"/><Relationship Id="rId25" Type="http://schemas.openxmlformats.org/officeDocument/2006/relationships/hyperlink" Target="https://learn.microsoft.com/en-us/azure/cloud-adoption-framework/scenarios/cloud-scale-analytics/architectures/common-industry-data-models" TargetMode="External"/><Relationship Id="rId33" Type="http://schemas.openxmlformats.org/officeDocument/2006/relationships/hyperlink" Target="https://www.dynamodbbook.com/" TargetMode="External"/><Relationship Id="rId2" Type="http://schemas.openxmlformats.org/officeDocument/2006/relationships/diagramData" Target="../diagrams/data227.xml"/><Relationship Id="rId16" Type="http://schemas.openxmlformats.org/officeDocument/2006/relationships/hyperlink" Target="https://dataedo.com/samples/html/Data_warehouse/doc/AdventureWorksDW_4/home.html" TargetMode="External"/><Relationship Id="rId20" Type="http://schemas.openxmlformats.org/officeDocument/2006/relationships/hyperlink" Target="https://fleet-help.verizonconnect.com/hc/en-us/sections/360003255220-Analytics-Server-Database-Structure" TargetMode="External"/><Relationship Id="rId29" Type="http://schemas.openxmlformats.org/officeDocument/2006/relationships/hyperlink" Target="https://www.scylladb.com/glossary/nosql-data-modeling/" TargetMode="External"/><Relationship Id="rId1" Type="http://schemas.openxmlformats.org/officeDocument/2006/relationships/slideLayout" Target="../slideLayouts/slideLayout2.xml"/><Relationship Id="rId6" Type="http://schemas.microsoft.com/office/2007/relationships/diagramDrawing" Target="../diagrams/drawing227.xml"/><Relationship Id="rId11" Type="http://schemas.openxmlformats.org/officeDocument/2006/relationships/hyperlink" Target="https://developer.squareup.com/blog/books-an-immutable-double-entry-accounting-database-service/" TargetMode="External"/><Relationship Id="rId24" Type="http://schemas.openxmlformats.org/officeDocument/2006/relationships/hyperlink" Target="https://learn.microsoft.com/en-us/common-data-model/" TargetMode="External"/><Relationship Id="rId32" Type="http://schemas.openxmlformats.org/officeDocument/2006/relationships/hyperlink" Target="https://cloud.google.com/bigtable/docs/schema-design-time-series" TargetMode="External"/><Relationship Id="rId5" Type="http://schemas.openxmlformats.org/officeDocument/2006/relationships/diagramColors" Target="../diagrams/colors227.xml"/><Relationship Id="rId15" Type="http://schemas.openxmlformats.org/officeDocument/2006/relationships/hyperlink" Target="https://www.w3resource.com/sql-exercises/adventureworks/index.php" TargetMode="External"/><Relationship Id="rId23" Type="http://schemas.openxmlformats.org/officeDocument/2006/relationships/hyperlink" Target="https://en.wikipedia.org/wiki/Common_data_model" TargetMode="External"/><Relationship Id="rId28" Type="http://schemas.openxmlformats.org/officeDocument/2006/relationships/hyperlink" Target="https://vertabelo.com/blog/example_er_diagrams/" TargetMode="External"/><Relationship Id="rId36" Type="http://schemas.openxmlformats.org/officeDocument/2006/relationships/hyperlink" Target="https://unitesi.unive.it/handle/20.500.14247/17953" TargetMode="External"/><Relationship Id="rId10" Type="http://schemas.openxmlformats.org/officeDocument/2006/relationships/hyperlink" Target="https://www.amazon.in/Books-Steve-Hoberman/s?rh=n%3A976389031%2Cp_27%3ASteve+Hobermane" TargetMode="External"/><Relationship Id="rId19" Type="http://schemas.openxmlformats.org/officeDocument/2006/relationships/hyperlink" Target="https://in.pinterest.com/pin/airbnb-database-schema-airbnb-database-schema-build-your-database-designs-with-creately-database-softwa--349029039869062966/" TargetMode="External"/><Relationship Id="rId31" Type="http://schemas.openxmlformats.org/officeDocument/2006/relationships/hyperlink" Target="https://highlyscalable.wordpress.com/2012/03/01/nosql-data-modeling-techniques/" TargetMode="External"/><Relationship Id="rId4" Type="http://schemas.openxmlformats.org/officeDocument/2006/relationships/diagramQuickStyle" Target="../diagrams/quickStyle227.xml"/><Relationship Id="rId9" Type="http://schemas.openxmlformats.org/officeDocument/2006/relationships/hyperlink" Target="https://learn.microsoft.com/en-us/ef/core/modeling/relationships" TargetMode="External"/><Relationship Id="rId14" Type="http://schemas.openxmlformats.org/officeDocument/2006/relationships/hyperlink" Target="https://www.dbdiagrams.com/sql-server/sql-server-adventureworks-diagram/" TargetMode="External"/><Relationship Id="rId22" Type="http://schemas.openxmlformats.org/officeDocument/2006/relationships/hyperlink" Target="https://systemdesignprimer.com/netflix-system-design/#database-schema" TargetMode="External"/><Relationship Id="rId27" Type="http://schemas.openxmlformats.org/officeDocument/2006/relationships/hyperlink" Target="https://drawsql.app/templates" TargetMode="External"/><Relationship Id="rId30" Type="http://schemas.openxmlformats.org/officeDocument/2006/relationships/hyperlink" Target="https://www.mongodb.com/resources/basics/databases/nosql-explained/data-modeling" TargetMode="External"/><Relationship Id="rId35" Type="http://schemas.openxmlformats.org/officeDocument/2006/relationships/hyperlink" Target="https://www.amazon.com/Books-Steve-Hoberman/s?rh=n%3A283155%2Cp_27%3ASteve+Hoberman" TargetMode="External"/><Relationship Id="rId8" Type="http://schemas.openxmlformats.org/officeDocument/2006/relationships/hyperlink" Target="https://www.couchbase.com/blog/conceptual-physical-logical-data-models/" TargetMode="External"/></Relationships>
</file>

<file path=ppt/slides/_rels/slide233.xml.rels><?xml version="1.0" encoding="UTF-8" standalone="yes"?>
<Relationships xmlns="http://schemas.openxmlformats.org/package/2006/relationships"><Relationship Id="rId13" Type="http://schemas.openxmlformats.org/officeDocument/2006/relationships/hyperlink" Target="https://www.shiksha.com/online-courses/articles/order-of-execution-in-sql/" TargetMode="External"/><Relationship Id="rId18" Type="http://schemas.openxmlformats.org/officeDocument/2006/relationships/hyperlink" Target="https://www.amazon.in/stores/Joe-Celko/author/B000ARBFVQ/allbooks" TargetMode="External"/><Relationship Id="rId26" Type="http://schemas.openxmlformats.org/officeDocument/2006/relationships/hyperlink" Target="https://www.amazon.in/Truthful-Art-Data-Charts-Communication-ebook/dp/B01BLN09U0/ref=tmm_kin_swatch_0" TargetMode="External"/><Relationship Id="rId3" Type="http://schemas.openxmlformats.org/officeDocument/2006/relationships/diagramLayout" Target="../diagrams/layout228.xml"/><Relationship Id="rId21" Type="http://schemas.openxmlformats.org/officeDocument/2006/relationships/hyperlink" Target="https://clauswilke.com/dataviz/" TargetMode="External"/><Relationship Id="rId34" Type="http://schemas.openxmlformats.org/officeDocument/2006/relationships/hyperlink" Target="https://www.amazon.in/Spatio-Temporal-Graph-Analytics-Venkata-Gunturi-ebook/dp/B077G98QMJ" TargetMode="External"/><Relationship Id="rId7" Type="http://schemas.openxmlformats.org/officeDocument/2006/relationships/hyperlink" Target="https://www.geeksforgeeks.org/difference-between-relational-algebra-and-relational-calculus/" TargetMode="External"/><Relationship Id="rId12" Type="http://schemas.openxmlformats.org/officeDocument/2006/relationships/hyperlink" Target="https://github.com/PacktPublishing/SQL-Query-Design-Best-Practices" TargetMode="External"/><Relationship Id="rId17" Type="http://schemas.openxmlformats.org/officeDocument/2006/relationships/hyperlink" Target="https://leetcode.com/problem-list/m8baczxh/" TargetMode="External"/><Relationship Id="rId25" Type="http://schemas.openxmlformats.org/officeDocument/2006/relationships/hyperlink" Target="https://onlinelibrary.wiley.com/doi/book/10.1002/9781119183662" TargetMode="External"/><Relationship Id="rId33" Type="http://schemas.openxmlformats.org/officeDocument/2006/relationships/hyperlink" Target="https://roadmap.sh/data-analyst" TargetMode="External"/><Relationship Id="rId2" Type="http://schemas.openxmlformats.org/officeDocument/2006/relationships/diagramData" Target="../diagrams/data228.xml"/><Relationship Id="rId16" Type="http://schemas.openxmlformats.org/officeDocument/2006/relationships/hyperlink" Target="https://www.dataexpert.io/questions" TargetMode="External"/><Relationship Id="rId20" Type="http://schemas.openxmlformats.org/officeDocument/2006/relationships/hyperlink" Target="https://github.com/PacktPublishing/Data-Analytics-Made-Easy" TargetMode="External"/><Relationship Id="rId29" Type="http://schemas.openxmlformats.org/officeDocument/2006/relationships/hyperlink" Target="https://github.com/PacktPublishing/Geospatial-Analysis-with-SQL" TargetMode="External"/><Relationship Id="rId1" Type="http://schemas.openxmlformats.org/officeDocument/2006/relationships/slideLayout" Target="../slideLayouts/slideLayout2.xml"/><Relationship Id="rId6" Type="http://schemas.microsoft.com/office/2007/relationships/diagramDrawing" Target="../diagrams/drawing228.xml"/><Relationship Id="rId11" Type="http://schemas.openxmlformats.org/officeDocument/2006/relationships/hyperlink" Target="https://www.oreilly.com/library/view/sql-cookbook-2nd/9781492077435/" TargetMode="External"/><Relationship Id="rId24" Type="http://schemas.openxmlformats.org/officeDocument/2006/relationships/hyperlink" Target="https://datavizcatalogue.com/" TargetMode="External"/><Relationship Id="rId32" Type="http://schemas.openxmlformats.org/officeDocument/2006/relationships/hyperlink" Target="https://github.com/ptyadana/SQL-Data-Analysis-and-Visualization-Projects" TargetMode="External"/><Relationship Id="rId5" Type="http://schemas.openxmlformats.org/officeDocument/2006/relationships/diagramColors" Target="../diagrams/colors228.xml"/><Relationship Id="rId15" Type="http://schemas.openxmlformats.org/officeDocument/2006/relationships/hyperlink" Target="https://medium.com/@priyaskulkarni/mastering-tricky-sql-interview-questions-part-3-1ee16be257bd" TargetMode="External"/><Relationship Id="rId23" Type="http://schemas.openxmlformats.org/officeDocument/2006/relationships/hyperlink" Target="https://www.datylon.com/blog/types-of-charts-graphs-examples-data-visualization" TargetMode="External"/><Relationship Id="rId28" Type="http://schemas.openxmlformats.org/officeDocument/2006/relationships/hyperlink" Target="https://www.spatialanalysisonline.com/" TargetMode="External"/><Relationship Id="rId10" Type="http://schemas.openxmlformats.org/officeDocument/2006/relationships/hyperlink" Target="https://github.com/cathytanimura/sql_book" TargetMode="External"/><Relationship Id="rId19" Type="http://schemas.openxmlformats.org/officeDocument/2006/relationships/hyperlink" Target="https://roadmap.sh/sql" TargetMode="External"/><Relationship Id="rId31" Type="http://schemas.openxmlformats.org/officeDocument/2006/relationships/hyperlink" Target="https://www.safegraph.com/guides/visualizing-geospatial-data" TargetMode="External"/><Relationship Id="rId4" Type="http://schemas.openxmlformats.org/officeDocument/2006/relationships/diagramQuickStyle" Target="../diagrams/quickStyle228.xml"/><Relationship Id="rId9" Type="http://schemas.openxmlformats.org/officeDocument/2006/relationships/hyperlink" Target="https://github.com/PacktPublishing/SQL-for-Data-Analytics-Third-Edition" TargetMode="External"/><Relationship Id="rId14" Type="http://schemas.openxmlformats.org/officeDocument/2006/relationships/hyperlink" Target="https://use-the-index-luke.com/sql/table-of-contents" TargetMode="External"/><Relationship Id="rId22" Type="http://schemas.openxmlformats.org/officeDocument/2006/relationships/hyperlink" Target="https://www.atlassian.com/data/charts" TargetMode="External"/><Relationship Id="rId27" Type="http://schemas.openxmlformats.org/officeDocument/2006/relationships/hyperlink" Target="https://www.manning.com/books/visualizing-graph-data" TargetMode="External"/><Relationship Id="rId30" Type="http://schemas.openxmlformats.org/officeDocument/2006/relationships/hyperlink" Target="https://github.com/PacktPublishing/Learning-Geospatial-Analysis-with-Python-Third-Edition" TargetMode="External"/><Relationship Id="rId8" Type="http://schemas.openxmlformats.org/officeDocument/2006/relationships/hyperlink" Target="https://github.com/anthonydb/practical-sql-2" TargetMode="External"/></Relationships>
</file>

<file path=ppt/slides/_rels/slide234.xml.rels><?xml version="1.0" encoding="UTF-8" standalone="yes"?>
<Relationships xmlns="http://schemas.openxmlformats.org/package/2006/relationships"><Relationship Id="rId3" Type="http://schemas.openxmlformats.org/officeDocument/2006/relationships/diagramLayout" Target="../diagrams/layout229.xml"/><Relationship Id="rId2" Type="http://schemas.openxmlformats.org/officeDocument/2006/relationships/diagramData" Target="../diagrams/data229.xml"/><Relationship Id="rId1" Type="http://schemas.openxmlformats.org/officeDocument/2006/relationships/slideLayout" Target="../slideLayouts/slideLayout2.xml"/><Relationship Id="rId6" Type="http://schemas.microsoft.com/office/2007/relationships/diagramDrawing" Target="../diagrams/drawing229.xml"/><Relationship Id="rId5" Type="http://schemas.openxmlformats.org/officeDocument/2006/relationships/diagramColors" Target="../diagrams/colors229.xml"/><Relationship Id="rId4" Type="http://schemas.openxmlformats.org/officeDocument/2006/relationships/diagramQuickStyle" Target="../diagrams/quickStyle229.xml"/></Relationships>
</file>

<file path=ppt/slides/_rels/slide235.xml.rels><?xml version="1.0" encoding="UTF-8" standalone="yes"?>
<Relationships xmlns="http://schemas.openxmlformats.org/package/2006/relationships"><Relationship Id="rId3" Type="http://schemas.openxmlformats.org/officeDocument/2006/relationships/diagramLayout" Target="../diagrams/layout230.xml"/><Relationship Id="rId2" Type="http://schemas.openxmlformats.org/officeDocument/2006/relationships/diagramData" Target="../diagrams/data230.xml"/><Relationship Id="rId1" Type="http://schemas.openxmlformats.org/officeDocument/2006/relationships/slideLayout" Target="../slideLayouts/slideLayout2.xml"/><Relationship Id="rId6" Type="http://schemas.microsoft.com/office/2007/relationships/diagramDrawing" Target="../diagrams/drawing230.xml"/><Relationship Id="rId5" Type="http://schemas.openxmlformats.org/officeDocument/2006/relationships/diagramColors" Target="../diagrams/colors230.xml"/><Relationship Id="rId4" Type="http://schemas.openxmlformats.org/officeDocument/2006/relationships/diagramQuickStyle" Target="../diagrams/quickStyle230.xml"/></Relationships>
</file>

<file path=ppt/slides/_rels/slide236.xml.rels><?xml version="1.0" encoding="UTF-8" standalone="yes"?>
<Relationships xmlns="http://schemas.openxmlformats.org/package/2006/relationships"><Relationship Id="rId8" Type="http://schemas.openxmlformats.org/officeDocument/2006/relationships/hyperlink" Target="https://www.youtube.com/watch?v=BcOfBbKW7ko" TargetMode="External"/><Relationship Id="rId3" Type="http://schemas.openxmlformats.org/officeDocument/2006/relationships/diagramLayout" Target="../diagrams/layout231.xml"/><Relationship Id="rId7" Type="http://schemas.openxmlformats.org/officeDocument/2006/relationships/hyperlink" Target="https://www.youtube.com/watch?v=D2XiARYlzcs" TargetMode="External"/><Relationship Id="rId2" Type="http://schemas.openxmlformats.org/officeDocument/2006/relationships/diagramData" Target="../diagrams/data231.xml"/><Relationship Id="rId1" Type="http://schemas.openxmlformats.org/officeDocument/2006/relationships/slideLayout" Target="../slideLayouts/slideLayout2.xml"/><Relationship Id="rId6" Type="http://schemas.microsoft.com/office/2007/relationships/diagramDrawing" Target="../diagrams/drawing231.xml"/><Relationship Id="rId5" Type="http://schemas.openxmlformats.org/officeDocument/2006/relationships/diagramColors" Target="../diagrams/colors231.xml"/><Relationship Id="rId4" Type="http://schemas.openxmlformats.org/officeDocument/2006/relationships/diagramQuickStyle" Target="../diagrams/quickStyle231.xml"/><Relationship Id="rId9" Type="http://schemas.openxmlformats.org/officeDocument/2006/relationships/hyperlink" Target="https://www.linkedin.com/posts/yassine-mahboub_ms-fabric-breakdown-3-medallion-architecture-activity-7374774311032766464-mjOK/?utm_source=share&amp;utm_medium=member_desktop&amp;rcm=ACoAADEs2XAB8-7TelfobrMhA9_jxB71Dn4BtW4" TargetMode="External"/></Relationships>
</file>

<file path=ppt/slides/_rels/slide237.xml.rels><?xml version="1.0" encoding="UTF-8" standalone="yes"?>
<Relationships xmlns="http://schemas.openxmlformats.org/package/2006/relationships"><Relationship Id="rId3" Type="http://schemas.openxmlformats.org/officeDocument/2006/relationships/diagramLayout" Target="../diagrams/layout232.xml"/><Relationship Id="rId2" Type="http://schemas.openxmlformats.org/officeDocument/2006/relationships/diagramData" Target="../diagrams/data232.xml"/><Relationship Id="rId1" Type="http://schemas.openxmlformats.org/officeDocument/2006/relationships/slideLayout" Target="../slideLayouts/slideLayout2.xml"/><Relationship Id="rId6" Type="http://schemas.microsoft.com/office/2007/relationships/diagramDrawing" Target="../diagrams/drawing232.xml"/><Relationship Id="rId5" Type="http://schemas.openxmlformats.org/officeDocument/2006/relationships/diagramColors" Target="../diagrams/colors232.xml"/><Relationship Id="rId4" Type="http://schemas.openxmlformats.org/officeDocument/2006/relationships/diagramQuickStyle" Target="../diagrams/quickStyle232.xml"/></Relationships>
</file>

<file path=ppt/slides/_rels/slide238.xml.rels><?xml version="1.0" encoding="UTF-8" standalone="yes"?>
<Relationships xmlns="http://schemas.openxmlformats.org/package/2006/relationships"><Relationship Id="rId8" Type="http://schemas.openxmlformats.org/officeDocument/2006/relationships/hyperlink" Target="https://fluentmigrator.github.io/" TargetMode="External"/><Relationship Id="rId13" Type="http://schemas.openxmlformats.org/officeDocument/2006/relationships/hyperlink" Target="https://github.com/Apress/map-data-flows-in-azure-data-factory" TargetMode="External"/><Relationship Id="rId18" Type="http://schemas.openxmlformats.org/officeDocument/2006/relationships/hyperlink" Target="https://aws.amazon.com/aws-transfer-family/" TargetMode="External"/><Relationship Id="rId3" Type="http://schemas.openxmlformats.org/officeDocument/2006/relationships/diagramLayout" Target="../diagrams/layout233.xml"/><Relationship Id="rId21" Type="http://schemas.openxmlformats.org/officeDocument/2006/relationships/hyperlink" Target="https://www.amazon.in/Practical-Data-Migration-Johny-Morris/dp/1780175140/ref=mp_s_a_1_1" TargetMode="External"/><Relationship Id="rId7" Type="http://schemas.openxmlformats.org/officeDocument/2006/relationships/hyperlink" Target="https://blogs.opentext.com/the-secret-sauce-of-the-document-migration-process/" TargetMode="External"/><Relationship Id="rId12" Type="http://schemas.openxmlformats.org/officeDocument/2006/relationships/hyperlink" Target="https://github.com/Apress/understanding-azure-data-factory" TargetMode="External"/><Relationship Id="rId17" Type="http://schemas.openxmlformats.org/officeDocument/2006/relationships/hyperlink" Target="https://learn.microsoft.com/en-us/azure/storage/common/storage-migration-overview" TargetMode="External"/><Relationship Id="rId2" Type="http://schemas.openxmlformats.org/officeDocument/2006/relationships/diagramData" Target="../diagrams/data233.xml"/><Relationship Id="rId16" Type="http://schemas.openxmlformats.org/officeDocument/2006/relationships/hyperlink" Target="https://learn.microsoft.com/en-us/azure/storage/common/storage-solution-large-dataset-moderate-high-network" TargetMode="External"/><Relationship Id="rId20" Type="http://schemas.openxmlformats.org/officeDocument/2006/relationships/hyperlink" Target="https://learn.microsoft.com/en-us/sql/relational-databases/backup-restore/back-up-and-restore-of-sql-server-databases?view=sql-server-ver16&amp;viewFallbackFrom=sql-server" TargetMode="External"/><Relationship Id="rId1" Type="http://schemas.openxmlformats.org/officeDocument/2006/relationships/slideLayout" Target="../slideLayouts/slideLayout2.xml"/><Relationship Id="rId6" Type="http://schemas.microsoft.com/office/2007/relationships/diagramDrawing" Target="../diagrams/drawing233.xml"/><Relationship Id="rId11" Type="http://schemas.openxmlformats.org/officeDocument/2006/relationships/hyperlink" Target="https://github.com/Apress/azure-data-factory-by-example" TargetMode="External"/><Relationship Id="rId5" Type="http://schemas.openxmlformats.org/officeDocument/2006/relationships/diagramColors" Target="../diagrams/colors233.xml"/><Relationship Id="rId15" Type="http://schemas.openxmlformats.org/officeDocument/2006/relationships/hyperlink" Target="https://learn.microsoft.com/en-us/azure/data-factory/copy-activity-performance" TargetMode="External"/><Relationship Id="rId10" Type="http://schemas.openxmlformats.org/officeDocument/2006/relationships/hyperlink" Target="https://github.com/PacktPublishing/Azure-Data-Factory-Cookbook-Second-Edition" TargetMode="External"/><Relationship Id="rId19" Type="http://schemas.openxmlformats.org/officeDocument/2006/relationships/hyperlink" Target="https://www.metisdata.io/blog/the-essential-guide-to-database-backup-tips-strategies" TargetMode="External"/><Relationship Id="rId4" Type="http://schemas.openxmlformats.org/officeDocument/2006/relationships/diagramQuickStyle" Target="../diagrams/quickStyle233.xml"/><Relationship Id="rId9" Type="http://schemas.openxmlformats.org/officeDocument/2006/relationships/hyperlink" Target="https://www.aegissofttech.com/insights/etl-processes-azure-data-factory/" TargetMode="External"/><Relationship Id="rId14" Type="http://schemas.openxmlformats.org/officeDocument/2006/relationships/hyperlink" Target="https://learn.microsoft.com/en-us/azure/data-factory/" TargetMode="External"/><Relationship Id="rId22" Type="http://schemas.openxmlformats.org/officeDocument/2006/relationships/hyperlink" Target="https://learn.microsoft.com/en-us/sql/relational-databases/backup-restore/back-up-and-restore-of-sql-server-databases?view=sql-server-ver16https://solutionsreview.com/backup-disaster-recovery/best-backup-recovery-books/" TargetMode="External"/></Relationships>
</file>

<file path=ppt/slides/_rels/slide239.xml.rels><?xml version="1.0" encoding="UTF-8" standalone="yes"?>
<Relationships xmlns="http://schemas.openxmlformats.org/package/2006/relationships"><Relationship Id="rId3" Type="http://schemas.openxmlformats.org/officeDocument/2006/relationships/diagramLayout" Target="../diagrams/layout234.xml"/><Relationship Id="rId2" Type="http://schemas.openxmlformats.org/officeDocument/2006/relationships/diagramData" Target="../diagrams/data234.xml"/><Relationship Id="rId1" Type="http://schemas.openxmlformats.org/officeDocument/2006/relationships/slideLayout" Target="../slideLayouts/slideLayout2.xml"/><Relationship Id="rId6" Type="http://schemas.microsoft.com/office/2007/relationships/diagramDrawing" Target="../diagrams/drawing234.xml"/><Relationship Id="rId5" Type="http://schemas.openxmlformats.org/officeDocument/2006/relationships/diagramColors" Target="../diagrams/colors234.xml"/><Relationship Id="rId4" Type="http://schemas.openxmlformats.org/officeDocument/2006/relationships/diagramQuickStyle" Target="../diagrams/quickStyle234.xml"/></Relationships>
</file>

<file path=ppt/slides/_rels/slide240.xml.rels><?xml version="1.0" encoding="UTF-8" standalone="yes"?>
<Relationships xmlns="http://schemas.openxmlformats.org/package/2006/relationships"><Relationship Id="rId8" Type="http://schemas.openxmlformats.org/officeDocument/2006/relationships/hyperlink" Target="https://www.linkedin.com/pulse/data-consolidation-techniques-taleb-dahan-mjqrf/" TargetMode="External"/><Relationship Id="rId3" Type="http://schemas.openxmlformats.org/officeDocument/2006/relationships/diagramLayout" Target="../diagrams/layout235.xml"/><Relationship Id="rId7" Type="http://schemas.openxmlformats.org/officeDocument/2006/relationships/hyperlink" Target="https://rivery.io/data-learning-center/data-consolidation-methods/" TargetMode="External"/><Relationship Id="rId2" Type="http://schemas.openxmlformats.org/officeDocument/2006/relationships/diagramData" Target="../diagrams/data235.xml"/><Relationship Id="rId1" Type="http://schemas.openxmlformats.org/officeDocument/2006/relationships/slideLayout" Target="../slideLayouts/slideLayout2.xml"/><Relationship Id="rId6" Type="http://schemas.microsoft.com/office/2007/relationships/diagramDrawing" Target="../diagrams/drawing235.xml"/><Relationship Id="rId5" Type="http://schemas.openxmlformats.org/officeDocument/2006/relationships/diagramColors" Target="../diagrams/colors235.xml"/><Relationship Id="rId4" Type="http://schemas.openxmlformats.org/officeDocument/2006/relationships/diagramQuickStyle" Target="../diagrams/quickStyle235.xml"/></Relationships>
</file>

<file path=ppt/slides/_rels/slide241.xml.rels><?xml version="1.0" encoding="UTF-8" standalone="yes"?>
<Relationships xmlns="http://schemas.openxmlformats.org/package/2006/relationships"><Relationship Id="rId3" Type="http://schemas.openxmlformats.org/officeDocument/2006/relationships/diagramLayout" Target="../diagrams/layout236.xml"/><Relationship Id="rId7" Type="http://schemas.openxmlformats.org/officeDocument/2006/relationships/hyperlink" Target="https://www.scirp.org/journal/paperinformation?paperid=103823" TargetMode="External"/><Relationship Id="rId2" Type="http://schemas.openxmlformats.org/officeDocument/2006/relationships/diagramData" Target="../diagrams/data236.xml"/><Relationship Id="rId1" Type="http://schemas.openxmlformats.org/officeDocument/2006/relationships/slideLayout" Target="../slideLayouts/slideLayout2.xml"/><Relationship Id="rId6" Type="http://schemas.microsoft.com/office/2007/relationships/diagramDrawing" Target="../diagrams/drawing236.xml"/><Relationship Id="rId5" Type="http://schemas.openxmlformats.org/officeDocument/2006/relationships/diagramColors" Target="../diagrams/colors236.xml"/><Relationship Id="rId4" Type="http://schemas.openxmlformats.org/officeDocument/2006/relationships/diagramQuickStyle" Target="../diagrams/quickStyle236.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237.xml"/><Relationship Id="rId2" Type="http://schemas.openxmlformats.org/officeDocument/2006/relationships/diagramData" Target="../diagrams/data237.xml"/><Relationship Id="rId1" Type="http://schemas.openxmlformats.org/officeDocument/2006/relationships/slideLayout" Target="../slideLayouts/slideLayout2.xml"/><Relationship Id="rId6" Type="http://schemas.microsoft.com/office/2007/relationships/diagramDrawing" Target="../diagrams/drawing237.xml"/><Relationship Id="rId5" Type="http://schemas.openxmlformats.org/officeDocument/2006/relationships/diagramColors" Target="../diagrams/colors237.xml"/><Relationship Id="rId4" Type="http://schemas.openxmlformats.org/officeDocument/2006/relationships/diagramQuickStyle" Target="../diagrams/quickStyle237.xml"/></Relationships>
</file>

<file path=ppt/slides/_rels/slide243.xml.rels><?xml version="1.0" encoding="UTF-8" standalone="yes"?>
<Relationships xmlns="http://schemas.openxmlformats.org/package/2006/relationships"><Relationship Id="rId3" Type="http://schemas.openxmlformats.org/officeDocument/2006/relationships/diagramLayout" Target="../diagrams/layout238.xml"/><Relationship Id="rId2" Type="http://schemas.openxmlformats.org/officeDocument/2006/relationships/diagramData" Target="../diagrams/data238.xml"/><Relationship Id="rId1" Type="http://schemas.openxmlformats.org/officeDocument/2006/relationships/slideLayout" Target="../slideLayouts/slideLayout2.xml"/><Relationship Id="rId6" Type="http://schemas.microsoft.com/office/2007/relationships/diagramDrawing" Target="../diagrams/drawing238.xml"/><Relationship Id="rId5" Type="http://schemas.openxmlformats.org/officeDocument/2006/relationships/diagramColors" Target="../diagrams/colors238.xml"/><Relationship Id="rId4" Type="http://schemas.openxmlformats.org/officeDocument/2006/relationships/diagramQuickStyle" Target="../diagrams/quickStyle238.xml"/></Relationships>
</file>

<file path=ppt/slides/_rels/slide244.xml.rels><?xml version="1.0" encoding="UTF-8" standalone="yes"?>
<Relationships xmlns="http://schemas.openxmlformats.org/package/2006/relationships"><Relationship Id="rId3" Type="http://schemas.openxmlformats.org/officeDocument/2006/relationships/diagramLayout" Target="../diagrams/layout239.xml"/><Relationship Id="rId2" Type="http://schemas.openxmlformats.org/officeDocument/2006/relationships/diagramData" Target="../diagrams/data239.xml"/><Relationship Id="rId1" Type="http://schemas.openxmlformats.org/officeDocument/2006/relationships/slideLayout" Target="../slideLayouts/slideLayout2.xml"/><Relationship Id="rId6" Type="http://schemas.microsoft.com/office/2007/relationships/diagramDrawing" Target="../diagrams/drawing239.xml"/><Relationship Id="rId5" Type="http://schemas.openxmlformats.org/officeDocument/2006/relationships/diagramColors" Target="../diagrams/colors239.xml"/><Relationship Id="rId4" Type="http://schemas.openxmlformats.org/officeDocument/2006/relationships/diagramQuickStyle" Target="../diagrams/quickStyle239.xml"/></Relationships>
</file>

<file path=ppt/slides/_rels/slide245.xml.rels><?xml version="1.0" encoding="UTF-8" standalone="yes"?>
<Relationships xmlns="http://schemas.openxmlformats.org/package/2006/relationships"><Relationship Id="rId3" Type="http://schemas.openxmlformats.org/officeDocument/2006/relationships/diagramLayout" Target="../diagrams/layout240.xml"/><Relationship Id="rId2" Type="http://schemas.openxmlformats.org/officeDocument/2006/relationships/diagramData" Target="../diagrams/data240.xml"/><Relationship Id="rId1" Type="http://schemas.openxmlformats.org/officeDocument/2006/relationships/slideLayout" Target="../slideLayouts/slideLayout2.xml"/><Relationship Id="rId6" Type="http://schemas.microsoft.com/office/2007/relationships/diagramDrawing" Target="../diagrams/drawing240.xml"/><Relationship Id="rId5" Type="http://schemas.openxmlformats.org/officeDocument/2006/relationships/diagramColors" Target="../diagrams/colors240.xml"/><Relationship Id="rId4" Type="http://schemas.openxmlformats.org/officeDocument/2006/relationships/diagramQuickStyle" Target="../diagrams/quickStyle240.xml"/></Relationships>
</file>

<file path=ppt/slides/_rels/slide246.xml.rels><?xml version="1.0" encoding="UTF-8" standalone="yes"?>
<Relationships xmlns="http://schemas.openxmlformats.org/package/2006/relationships"><Relationship Id="rId3" Type="http://schemas.openxmlformats.org/officeDocument/2006/relationships/diagramLayout" Target="../diagrams/layout241.xml"/><Relationship Id="rId2" Type="http://schemas.openxmlformats.org/officeDocument/2006/relationships/diagramData" Target="../diagrams/data241.xml"/><Relationship Id="rId1" Type="http://schemas.openxmlformats.org/officeDocument/2006/relationships/slideLayout" Target="../slideLayouts/slideLayout2.xml"/><Relationship Id="rId6" Type="http://schemas.microsoft.com/office/2007/relationships/diagramDrawing" Target="../diagrams/drawing241.xml"/><Relationship Id="rId5" Type="http://schemas.openxmlformats.org/officeDocument/2006/relationships/diagramColors" Target="../diagrams/colors241.xml"/><Relationship Id="rId4" Type="http://schemas.openxmlformats.org/officeDocument/2006/relationships/diagramQuickStyle" Target="../diagrams/quickStyle241.xml"/></Relationships>
</file>

<file path=ppt/slides/_rels/slide247.xml.rels><?xml version="1.0" encoding="UTF-8" standalone="yes"?>
<Relationships xmlns="http://schemas.openxmlformats.org/package/2006/relationships"><Relationship Id="rId3" Type="http://schemas.openxmlformats.org/officeDocument/2006/relationships/diagramLayout" Target="../diagrams/layout242.xml"/><Relationship Id="rId2" Type="http://schemas.openxmlformats.org/officeDocument/2006/relationships/diagramData" Target="../diagrams/data242.xml"/><Relationship Id="rId1" Type="http://schemas.openxmlformats.org/officeDocument/2006/relationships/slideLayout" Target="../slideLayouts/slideLayout2.xml"/><Relationship Id="rId6" Type="http://schemas.microsoft.com/office/2007/relationships/diagramDrawing" Target="../diagrams/drawing242.xml"/><Relationship Id="rId5" Type="http://schemas.openxmlformats.org/officeDocument/2006/relationships/diagramColors" Target="../diagrams/colors242.xml"/><Relationship Id="rId4" Type="http://schemas.openxmlformats.org/officeDocument/2006/relationships/diagramQuickStyle" Target="../diagrams/quickStyle242.xml"/></Relationships>
</file>

<file path=ppt/slides/_rels/slide248.xml.rels><?xml version="1.0" encoding="UTF-8" standalone="yes"?>
<Relationships xmlns="http://schemas.openxmlformats.org/package/2006/relationships"><Relationship Id="rId3" Type="http://schemas.openxmlformats.org/officeDocument/2006/relationships/diagramLayout" Target="../diagrams/layout243.xml"/><Relationship Id="rId2" Type="http://schemas.openxmlformats.org/officeDocument/2006/relationships/diagramData" Target="../diagrams/data243.xml"/><Relationship Id="rId1" Type="http://schemas.openxmlformats.org/officeDocument/2006/relationships/slideLayout" Target="../slideLayouts/slideLayout2.xml"/><Relationship Id="rId6" Type="http://schemas.microsoft.com/office/2007/relationships/diagramDrawing" Target="../diagrams/drawing243.xml"/><Relationship Id="rId5" Type="http://schemas.openxmlformats.org/officeDocument/2006/relationships/diagramColors" Target="../diagrams/colors243.xml"/><Relationship Id="rId4" Type="http://schemas.openxmlformats.org/officeDocument/2006/relationships/diagramQuickStyle" Target="../diagrams/quickStyle243.xml"/></Relationships>
</file>

<file path=ppt/slides/_rels/slide249.xml.rels><?xml version="1.0" encoding="UTF-8" standalone="yes"?>
<Relationships xmlns="http://schemas.openxmlformats.org/package/2006/relationships"><Relationship Id="rId3" Type="http://schemas.openxmlformats.org/officeDocument/2006/relationships/diagramLayout" Target="../diagrams/layout244.xml"/><Relationship Id="rId2" Type="http://schemas.openxmlformats.org/officeDocument/2006/relationships/diagramData" Target="../diagrams/data244.xml"/><Relationship Id="rId1" Type="http://schemas.openxmlformats.org/officeDocument/2006/relationships/slideLayout" Target="../slideLayouts/slideLayout2.xml"/><Relationship Id="rId6" Type="http://schemas.microsoft.com/office/2007/relationships/diagramDrawing" Target="../diagrams/drawing244.xml"/><Relationship Id="rId5" Type="http://schemas.openxmlformats.org/officeDocument/2006/relationships/diagramColors" Target="../diagrams/colors244.xml"/><Relationship Id="rId4" Type="http://schemas.openxmlformats.org/officeDocument/2006/relationships/diagramQuickStyle" Target="../diagrams/quickStyle244.xml"/></Relationships>
</file>

<file path=ppt/slides/_rels/slide250.xml.rels><?xml version="1.0" encoding="UTF-8" standalone="yes"?>
<Relationships xmlns="http://schemas.openxmlformats.org/package/2006/relationships"><Relationship Id="rId3" Type="http://schemas.openxmlformats.org/officeDocument/2006/relationships/diagramLayout" Target="../diagrams/layout245.xml"/><Relationship Id="rId2" Type="http://schemas.openxmlformats.org/officeDocument/2006/relationships/diagramData" Target="../diagrams/data245.xml"/><Relationship Id="rId1" Type="http://schemas.openxmlformats.org/officeDocument/2006/relationships/slideLayout" Target="../slideLayouts/slideLayout2.xml"/><Relationship Id="rId6" Type="http://schemas.microsoft.com/office/2007/relationships/diagramDrawing" Target="../diagrams/drawing245.xml"/><Relationship Id="rId5" Type="http://schemas.openxmlformats.org/officeDocument/2006/relationships/diagramColors" Target="../diagrams/colors245.xml"/><Relationship Id="rId4" Type="http://schemas.openxmlformats.org/officeDocument/2006/relationships/diagramQuickStyle" Target="../diagrams/quickStyle245.xml"/></Relationships>
</file>

<file path=ppt/slides/_rels/slide251.xml.rels><?xml version="1.0" encoding="UTF-8" standalone="yes"?>
<Relationships xmlns="http://schemas.openxmlformats.org/package/2006/relationships"><Relationship Id="rId3" Type="http://schemas.openxmlformats.org/officeDocument/2006/relationships/diagramLayout" Target="../diagrams/layout246.xml"/><Relationship Id="rId2" Type="http://schemas.openxmlformats.org/officeDocument/2006/relationships/diagramData" Target="../diagrams/data246.xml"/><Relationship Id="rId1" Type="http://schemas.openxmlformats.org/officeDocument/2006/relationships/slideLayout" Target="../slideLayouts/slideLayout2.xml"/><Relationship Id="rId6" Type="http://schemas.microsoft.com/office/2007/relationships/diagramDrawing" Target="../diagrams/drawing246.xml"/><Relationship Id="rId5" Type="http://schemas.openxmlformats.org/officeDocument/2006/relationships/diagramColors" Target="../diagrams/colors246.xml"/><Relationship Id="rId4" Type="http://schemas.openxmlformats.org/officeDocument/2006/relationships/diagramQuickStyle" Target="../diagrams/quickStyle246.xml"/></Relationships>
</file>

<file path=ppt/slides/_rels/slide252.xml.rels><?xml version="1.0" encoding="UTF-8" standalone="yes"?>
<Relationships xmlns="http://schemas.openxmlformats.org/package/2006/relationships"><Relationship Id="rId3" Type="http://schemas.openxmlformats.org/officeDocument/2006/relationships/diagramLayout" Target="../diagrams/layout247.xml"/><Relationship Id="rId2" Type="http://schemas.openxmlformats.org/officeDocument/2006/relationships/diagramData" Target="../diagrams/data247.xml"/><Relationship Id="rId1" Type="http://schemas.openxmlformats.org/officeDocument/2006/relationships/slideLayout" Target="../slideLayouts/slideLayout2.xml"/><Relationship Id="rId6" Type="http://schemas.microsoft.com/office/2007/relationships/diagramDrawing" Target="../diagrams/drawing247.xml"/><Relationship Id="rId5" Type="http://schemas.openxmlformats.org/officeDocument/2006/relationships/diagramColors" Target="../diagrams/colors247.xml"/><Relationship Id="rId4" Type="http://schemas.openxmlformats.org/officeDocument/2006/relationships/diagramQuickStyle" Target="../diagrams/quickStyle247.xml"/></Relationships>
</file>

<file path=ppt/slides/_rels/slide253.xml.rels><?xml version="1.0" encoding="UTF-8" standalone="yes"?>
<Relationships xmlns="http://schemas.openxmlformats.org/package/2006/relationships"><Relationship Id="rId3" Type="http://schemas.openxmlformats.org/officeDocument/2006/relationships/diagramLayout" Target="../diagrams/layout248.xml"/><Relationship Id="rId2" Type="http://schemas.openxmlformats.org/officeDocument/2006/relationships/diagramData" Target="../diagrams/data248.xml"/><Relationship Id="rId1" Type="http://schemas.openxmlformats.org/officeDocument/2006/relationships/slideLayout" Target="../slideLayouts/slideLayout2.xml"/><Relationship Id="rId6" Type="http://schemas.microsoft.com/office/2007/relationships/diagramDrawing" Target="../diagrams/drawing248.xml"/><Relationship Id="rId5" Type="http://schemas.openxmlformats.org/officeDocument/2006/relationships/diagramColors" Target="../diagrams/colors248.xml"/><Relationship Id="rId4" Type="http://schemas.openxmlformats.org/officeDocument/2006/relationships/diagramQuickStyle" Target="../diagrams/quickStyle248.xml"/></Relationships>
</file>

<file path=ppt/slides/_rels/slide254.xml.rels><?xml version="1.0" encoding="UTF-8" standalone="yes"?>
<Relationships xmlns="http://schemas.openxmlformats.org/package/2006/relationships"><Relationship Id="rId3" Type="http://schemas.openxmlformats.org/officeDocument/2006/relationships/diagramLayout" Target="../diagrams/layout249.xml"/><Relationship Id="rId2" Type="http://schemas.openxmlformats.org/officeDocument/2006/relationships/diagramData" Target="../diagrams/data249.xml"/><Relationship Id="rId1" Type="http://schemas.openxmlformats.org/officeDocument/2006/relationships/slideLayout" Target="../slideLayouts/slideLayout2.xml"/><Relationship Id="rId6" Type="http://schemas.microsoft.com/office/2007/relationships/diagramDrawing" Target="../diagrams/drawing249.xml"/><Relationship Id="rId5" Type="http://schemas.openxmlformats.org/officeDocument/2006/relationships/diagramColors" Target="../diagrams/colors249.xml"/><Relationship Id="rId4" Type="http://schemas.openxmlformats.org/officeDocument/2006/relationships/diagramQuickStyle" Target="../diagrams/quickStyle249.xml"/></Relationships>
</file>

<file path=ppt/slides/_rels/slide255.xml.rels><?xml version="1.0" encoding="UTF-8" standalone="yes"?>
<Relationships xmlns="http://schemas.openxmlformats.org/package/2006/relationships"><Relationship Id="rId3" Type="http://schemas.openxmlformats.org/officeDocument/2006/relationships/diagramLayout" Target="../diagrams/layout250.xml"/><Relationship Id="rId2" Type="http://schemas.openxmlformats.org/officeDocument/2006/relationships/diagramData" Target="../diagrams/data250.xml"/><Relationship Id="rId1" Type="http://schemas.openxmlformats.org/officeDocument/2006/relationships/slideLayout" Target="../slideLayouts/slideLayout2.xml"/><Relationship Id="rId6" Type="http://schemas.microsoft.com/office/2007/relationships/diagramDrawing" Target="../diagrams/drawing250.xml"/><Relationship Id="rId5" Type="http://schemas.openxmlformats.org/officeDocument/2006/relationships/diagramColors" Target="../diagrams/colors250.xml"/><Relationship Id="rId4" Type="http://schemas.openxmlformats.org/officeDocument/2006/relationships/diagramQuickStyle" Target="../diagrams/quickStyle250.xml"/></Relationships>
</file>

<file path=ppt/slides/_rels/slide256.xml.rels><?xml version="1.0" encoding="UTF-8" standalone="yes"?>
<Relationships xmlns="http://schemas.openxmlformats.org/package/2006/relationships"><Relationship Id="rId3" Type="http://schemas.openxmlformats.org/officeDocument/2006/relationships/diagramLayout" Target="../diagrams/layout251.xml"/><Relationship Id="rId2" Type="http://schemas.openxmlformats.org/officeDocument/2006/relationships/diagramData" Target="../diagrams/data251.xml"/><Relationship Id="rId1" Type="http://schemas.openxmlformats.org/officeDocument/2006/relationships/slideLayout" Target="../slideLayouts/slideLayout2.xml"/><Relationship Id="rId6" Type="http://schemas.microsoft.com/office/2007/relationships/diagramDrawing" Target="../diagrams/drawing251.xml"/><Relationship Id="rId5" Type="http://schemas.openxmlformats.org/officeDocument/2006/relationships/diagramColors" Target="../diagrams/colors251.xml"/><Relationship Id="rId4" Type="http://schemas.openxmlformats.org/officeDocument/2006/relationships/diagramQuickStyle" Target="../diagrams/quickStyle251.xml"/></Relationships>
</file>

<file path=ppt/slides/_rels/slide257.xml.rels><?xml version="1.0" encoding="UTF-8" standalone="yes"?>
<Relationships xmlns="http://schemas.openxmlformats.org/package/2006/relationships"><Relationship Id="rId8" Type="http://schemas.openxmlformats.org/officeDocument/2006/relationships/hyperlink" Target="https://www.databricks.com/blog/feature-deep-dive-watermarking-apache-spark-structured-streaming" TargetMode="External"/><Relationship Id="rId13" Type="http://schemas.openxmlformats.org/officeDocument/2006/relationships/hyperlink" Target="https://medium.com/@KarunaDataArchitect/data-processing-architecture-on-microsoft-azure-bf8471cde28" TargetMode="External"/><Relationship Id="rId18" Type="http://schemas.openxmlformats.org/officeDocument/2006/relationships/hyperlink" Target="https://hadoop.apache.org/docs/stable/" TargetMode="External"/><Relationship Id="rId3" Type="http://schemas.openxmlformats.org/officeDocument/2006/relationships/diagramLayout" Target="../diagrams/layout252.xml"/><Relationship Id="rId7" Type="http://schemas.openxmlformats.org/officeDocument/2006/relationships/hyperlink" Target="https://books.japila.pl/apache-spark-internals/rdd/#rdds-in-web-ui" TargetMode="External"/><Relationship Id="rId12" Type="http://schemas.openxmlformats.org/officeDocument/2006/relationships/hyperlink" Target="https://www.clairvoyant.ai/blog/big-data-file-formats" TargetMode="External"/><Relationship Id="rId17" Type="http://schemas.openxmlformats.org/officeDocument/2006/relationships/hyperlink" Target="https://hadoopecosystemtable.github.io/" TargetMode="External"/><Relationship Id="rId2" Type="http://schemas.openxmlformats.org/officeDocument/2006/relationships/diagramData" Target="../diagrams/data252.xml"/><Relationship Id="rId16" Type="http://schemas.openxmlformats.org/officeDocument/2006/relationships/hyperlink" Target="https://www.scirp.org/journal/paperinformation?paperid=103823" TargetMode="External"/><Relationship Id="rId1" Type="http://schemas.openxmlformats.org/officeDocument/2006/relationships/slideLayout" Target="../slideLayouts/slideLayout2.xml"/><Relationship Id="rId6" Type="http://schemas.microsoft.com/office/2007/relationships/diagramDrawing" Target="../diagrams/drawing252.xml"/><Relationship Id="rId11" Type="http://schemas.openxmlformats.org/officeDocument/2006/relationships/hyperlink" Target="https://datascience.stackexchange.com/questions/6186/is-there-a-difference-between-on-line-learning-incremental-learning-and-sequent" TargetMode="External"/><Relationship Id="rId5" Type="http://schemas.openxmlformats.org/officeDocument/2006/relationships/diagramColors" Target="../diagrams/colors252.xml"/><Relationship Id="rId15" Type="http://schemas.openxmlformats.org/officeDocument/2006/relationships/hyperlink" Target="https://github.com/PacktPublishing/Bigdata-on-Kubernetes" TargetMode="External"/><Relationship Id="rId10" Type="http://schemas.openxmlformats.org/officeDocument/2006/relationships/hyperlink" Target="https://stackoverflow.com/questions/57976292/whats-the-difference-between-processing-time-and-event-time-in-apache-beam" TargetMode="External"/><Relationship Id="rId4" Type="http://schemas.openxmlformats.org/officeDocument/2006/relationships/diagramQuickStyle" Target="../diagrams/quickStyle252.xml"/><Relationship Id="rId9" Type="http://schemas.openxmlformats.org/officeDocument/2006/relationships/hyperlink" Target="https://blog.bytebytego.com/p/at-most-once-at-least-once-exactly" TargetMode="External"/><Relationship Id="rId14" Type="http://schemas.openxmlformats.org/officeDocument/2006/relationships/hyperlink" Target="https://www.sciencedirect.com/science/article/abs/pii/000510989190003K" TargetMode="External"/></Relationships>
</file>

<file path=ppt/slides/_rels/slide258.xml.rels><?xml version="1.0" encoding="UTF-8" standalone="yes"?>
<Relationships xmlns="http://schemas.openxmlformats.org/package/2006/relationships"><Relationship Id="rId8" Type="http://schemas.openxmlformats.org/officeDocument/2006/relationships/hyperlink" Target="https://github.com/mahmoudparsian/data-algorithms-with-spark" TargetMode="External"/><Relationship Id="rId13" Type="http://schemas.openxmlformats.org/officeDocument/2006/relationships/hyperlink" Target="https://www.kai-waehner.de/free-e-book-the-ultimate-data-streaming-guide/" TargetMode="External"/><Relationship Id="rId18" Type="http://schemas.openxmlformats.org/officeDocument/2006/relationships/hyperlink" Target="https://github.com/wuchong/awesome-flink" TargetMode="External"/><Relationship Id="rId3" Type="http://schemas.openxmlformats.org/officeDocument/2006/relationships/diagramLayout" Target="../diagrams/layout253.xml"/><Relationship Id="rId21" Type="http://schemas.openxmlformats.org/officeDocument/2006/relationships/hyperlink" Target="https://www.oreilly.com/library/view/flow-architectures/9781492075882/" TargetMode="External"/><Relationship Id="rId7" Type="http://schemas.openxmlformats.org/officeDocument/2006/relationships/hyperlink" Target="https://ercoppa.github.io/HadoopInternals/" TargetMode="External"/><Relationship Id="rId12" Type="http://schemas.openxmlformats.org/officeDocument/2006/relationships/hyperlink" Target="https://github.com/JerryLead/SparkInternals" TargetMode="External"/><Relationship Id="rId17" Type="http://schemas.openxmlformats.org/officeDocument/2006/relationships/hyperlink" Target="https://www.confluent.io/resources/" TargetMode="External"/><Relationship Id="rId25" Type="http://schemas.openxmlformats.org/officeDocument/2006/relationships/hyperlink" Target="https://learn.microsoft.com/en-us/azure/stream-analytics/" TargetMode="External"/><Relationship Id="rId2" Type="http://schemas.openxmlformats.org/officeDocument/2006/relationships/diagramData" Target="../diagrams/data253.xml"/><Relationship Id="rId16" Type="http://schemas.openxmlformats.org/officeDocument/2006/relationships/hyperlink" Target="https://www.manning.com/books/kafka-for-architects" TargetMode="External"/><Relationship Id="rId20" Type="http://schemas.openxmlformats.org/officeDocument/2006/relationships/hyperlink" Target="https://learn.microsoft.com/en-us/shows/visual-studio-live-2022/exploring-flow-architectures" TargetMode="External"/><Relationship Id="rId1" Type="http://schemas.openxmlformats.org/officeDocument/2006/relationships/slideLayout" Target="../slideLayouts/slideLayout2.xml"/><Relationship Id="rId6" Type="http://schemas.microsoft.com/office/2007/relationships/diagramDrawing" Target="../diagrams/drawing253.xml"/><Relationship Id="rId11" Type="http://schemas.openxmlformats.org/officeDocument/2006/relationships/hyperlink" Target="https://books.japila.pl/apache-spark-internals/" TargetMode="External"/><Relationship Id="rId24" Type="http://schemas.openxmlformats.org/officeDocument/2006/relationships/hyperlink" Target="https://www.linkedin.com/posts/raul-junco_if-they-ask-you-this-question-do-you-know-activity-7299776351656431616-Hy4B/" TargetMode="External"/><Relationship Id="rId5" Type="http://schemas.openxmlformats.org/officeDocument/2006/relationships/diagramColors" Target="../diagrams/colors253.xml"/><Relationship Id="rId15" Type="http://schemas.openxmlformats.org/officeDocument/2006/relationships/hyperlink" Target="https://stackoverflow.com/questions/72123330/internal-architecture-of-pyflink" TargetMode="External"/><Relationship Id="rId23" Type="http://schemas.openxmlformats.org/officeDocument/2006/relationships/hyperlink" Target="https://www.manning.com/books/grokking-streaming-systems" TargetMode="External"/><Relationship Id="rId10" Type="http://schemas.openxmlformats.org/officeDocument/2006/relationships/hyperlink" Target="https://spark.apache.org/docs/3.5.3/" TargetMode="External"/><Relationship Id="rId19" Type="http://schemas.openxmlformats.org/officeDocument/2006/relationships/hyperlink" Target="https://github.com/xerial/streamdb-readings" TargetMode="External"/><Relationship Id="rId4" Type="http://schemas.openxmlformats.org/officeDocument/2006/relationships/diagramQuickStyle" Target="../diagrams/quickStyle253.xml"/><Relationship Id="rId9" Type="http://schemas.openxmlformats.org/officeDocument/2006/relationships/hyperlink" Target="https://www.linkedin.com/posts/shubhamwadekar_data-engineer-aspirant-asked-me-why-is-activity-7230430708102520832-akeZ/" TargetMode="External"/><Relationship Id="rId14" Type="http://schemas.openxmlformats.org/officeDocument/2006/relationships/hyperlink" Target="https://nightlies.apache.org/flink/flink-docs-master/" TargetMode="External"/><Relationship Id="rId22" Type="http://schemas.openxmlformats.org/officeDocument/2006/relationships/hyperlink" Target="https://www.oreilly.com/library/view/streaming-systems/9781491983867/" TargetMode="External"/></Relationships>
</file>

<file path=ppt/slides/_rels/slide259.xml.rels><?xml version="1.0" encoding="UTF-8" standalone="yes"?>
<Relationships xmlns="http://schemas.openxmlformats.org/package/2006/relationships"><Relationship Id="rId3" Type="http://schemas.openxmlformats.org/officeDocument/2006/relationships/diagramLayout" Target="../diagrams/layout254.xml"/><Relationship Id="rId2" Type="http://schemas.openxmlformats.org/officeDocument/2006/relationships/diagramData" Target="../diagrams/data254.xml"/><Relationship Id="rId1" Type="http://schemas.openxmlformats.org/officeDocument/2006/relationships/slideLayout" Target="../slideLayouts/slideLayout2.xml"/><Relationship Id="rId6" Type="http://schemas.microsoft.com/office/2007/relationships/diagramDrawing" Target="../diagrams/drawing254.xml"/><Relationship Id="rId5" Type="http://schemas.openxmlformats.org/officeDocument/2006/relationships/diagramColors" Target="../diagrams/colors254.xml"/><Relationship Id="rId4" Type="http://schemas.openxmlformats.org/officeDocument/2006/relationships/diagramQuickStyle" Target="../diagrams/quickStyle254.xml"/></Relationships>
</file>

<file path=ppt/slides/_rels/slide260.xml.rels><?xml version="1.0" encoding="UTF-8" standalone="yes"?>
<Relationships xmlns="http://schemas.openxmlformats.org/package/2006/relationships"><Relationship Id="rId3" Type="http://schemas.openxmlformats.org/officeDocument/2006/relationships/diagramLayout" Target="../diagrams/layout255.xml"/><Relationship Id="rId2" Type="http://schemas.openxmlformats.org/officeDocument/2006/relationships/diagramData" Target="../diagrams/data255.xml"/><Relationship Id="rId1" Type="http://schemas.openxmlformats.org/officeDocument/2006/relationships/slideLayout" Target="../slideLayouts/slideLayout2.xml"/><Relationship Id="rId6" Type="http://schemas.microsoft.com/office/2007/relationships/diagramDrawing" Target="../diagrams/drawing255.xml"/><Relationship Id="rId5" Type="http://schemas.openxmlformats.org/officeDocument/2006/relationships/diagramColors" Target="../diagrams/colors255.xml"/><Relationship Id="rId4" Type="http://schemas.openxmlformats.org/officeDocument/2006/relationships/diagramQuickStyle" Target="../diagrams/quickStyle255.xml"/></Relationships>
</file>

<file path=ppt/slides/_rels/slide261.xml.rels><?xml version="1.0" encoding="UTF-8" standalone="yes"?>
<Relationships xmlns="http://schemas.openxmlformats.org/package/2006/relationships"><Relationship Id="rId8" Type="http://schemas.openxmlformats.org/officeDocument/2006/relationships/hyperlink" Target="https://medium.com/@jabbalarajamohan/apache-spark-vs-apache-airflow-choosing-the-right-tool-for-data-pipelines-e0b85bc0b60e" TargetMode="External"/><Relationship Id="rId13" Type="http://schemas.openxmlformats.org/officeDocument/2006/relationships/hyperlink" Target="https://medium.com/accredian/executors-in-apache-airflow-148fadee4992" TargetMode="External"/><Relationship Id="rId18" Type="http://schemas.openxmlformats.org/officeDocument/2006/relationships/hyperlink" Target="https://www.amazon.in/Mastering-Workflow-Management-Apache-Airflow-ebook/dp/B0CW1GM98F/ref=sr_1_1?crid=AHF487SYHE6U&amp;dib=eyJ2IjoiMSJ9._G8rNR7y7WPDYFrhBlvvpQ.rmBWgMcskBVDKdz1OUF36Ng6mos8bvUPGvzeJgZOlVw&amp;dib_tag=se&amp;keywords=Mastering+Workflow+Management+with+Apache+Airflow&amp;qid=1755874377&amp;sprefix=mastering+workflow+management+with+apache+airflow%2Caps%2C423&amp;sr=8-1" TargetMode="External"/><Relationship Id="rId3" Type="http://schemas.openxmlformats.org/officeDocument/2006/relationships/diagramLayout" Target="../diagrams/layout256.xml"/><Relationship Id="rId7" Type="http://schemas.openxmlformats.org/officeDocument/2006/relationships/hyperlink" Target="https://www.linkedin.com/pulse/exploring-airflow-first-impression-from-seasoned-ssis-prasenjit-das-6byvc/" TargetMode="External"/><Relationship Id="rId12" Type="http://schemas.openxmlformats.org/officeDocument/2006/relationships/hyperlink" Target="https://www.linkedin.com/posts/mentorsachin_airflow-shwetank-singh-ugcPost-7350115551500795904-BUso/?utm_source=share&amp;utm_medium=member_desktop&amp;rcm=ACoAADEs2XAB8-7TelfobrMhA9_jxB71Dn4BtW4" TargetMode="External"/><Relationship Id="rId17" Type="http://schemas.openxmlformats.org/officeDocument/2006/relationships/hyperlink" Target="https://www.astronomer.io/ebooks/data-pipelines-with-apache-airflow/" TargetMode="External"/><Relationship Id="rId2" Type="http://schemas.openxmlformats.org/officeDocument/2006/relationships/diagramData" Target="../diagrams/data256.xml"/><Relationship Id="rId16" Type="http://schemas.openxmlformats.org/officeDocument/2006/relationships/hyperlink" Target="https://www.udemy.com/course/apache-airflow-the-operators-guide/?couponCode=MT180825C" TargetMode="External"/><Relationship Id="rId20" Type="http://schemas.openxmlformats.org/officeDocument/2006/relationships/hyperlink" Target="https://github.com/PacktPublishing/Apache-Airflow-Best-Practices" TargetMode="External"/><Relationship Id="rId1" Type="http://schemas.openxmlformats.org/officeDocument/2006/relationships/slideLayout" Target="../slideLayouts/slideLayout2.xml"/><Relationship Id="rId6" Type="http://schemas.microsoft.com/office/2007/relationships/diagramDrawing" Target="../diagrams/drawing256.xml"/><Relationship Id="rId11" Type="http://schemas.openxmlformats.org/officeDocument/2006/relationships/hyperlink" Target="https://www.linkedin.com/posts/im-nsk_airflow-dataengineering-activity-7351456870269636608-QK_2/?utm_source=share&amp;utm_medium=member_desktop&amp;rcm=ACoAADEs2XAB8-7TelfobrMhA9_jxB71Dn4BtW4" TargetMode="External"/><Relationship Id="rId5" Type="http://schemas.openxmlformats.org/officeDocument/2006/relationships/diagramColors" Target="../diagrams/colors256.xml"/><Relationship Id="rId15" Type="http://schemas.openxmlformats.org/officeDocument/2006/relationships/hyperlink" Target="https://www.udemy.com/course/apache-airflow/?couponCode=MT180825C" TargetMode="External"/><Relationship Id="rId10" Type="http://schemas.openxmlformats.org/officeDocument/2006/relationships/hyperlink" Target="https://www.linkedin.com/pulse/comparing-data-orchestration-tools-comprehensive-look-alwin-augustin/" TargetMode="External"/><Relationship Id="rId19" Type="http://schemas.openxmlformats.org/officeDocument/2006/relationships/hyperlink" Target="https://www.amazon.in/Apache-Airflow-Demystified-Pipelines-Implementation-ebook/dp/B0CW1HL45S" TargetMode="External"/><Relationship Id="rId4" Type="http://schemas.openxmlformats.org/officeDocument/2006/relationships/diagramQuickStyle" Target="../diagrams/quickStyle256.xml"/><Relationship Id="rId9" Type="http://schemas.openxmlformats.org/officeDocument/2006/relationships/hyperlink" Target="https://medium.com/@tonmoysaklain/airflow-vs-apache-flink-c0f24f596130" TargetMode="External"/><Relationship Id="rId14" Type="http://schemas.openxmlformats.org/officeDocument/2006/relationships/hyperlink" Target="https://www.udemy.com/course/the-complete-hands-on-course-to-master-apache-airflow/?couponCode=MT180825C" TargetMode="External"/></Relationships>
</file>

<file path=ppt/slides/_rels/slide262.xml.rels><?xml version="1.0" encoding="UTF-8" standalone="yes"?>
<Relationships xmlns="http://schemas.openxmlformats.org/package/2006/relationships"><Relationship Id="rId3" Type="http://schemas.openxmlformats.org/officeDocument/2006/relationships/diagramLayout" Target="../diagrams/layout257.xml"/><Relationship Id="rId2" Type="http://schemas.openxmlformats.org/officeDocument/2006/relationships/diagramData" Target="../diagrams/data257.xml"/><Relationship Id="rId1" Type="http://schemas.openxmlformats.org/officeDocument/2006/relationships/slideLayout" Target="../slideLayouts/slideLayout2.xml"/><Relationship Id="rId6" Type="http://schemas.microsoft.com/office/2007/relationships/diagramDrawing" Target="../diagrams/drawing257.xml"/><Relationship Id="rId5" Type="http://schemas.openxmlformats.org/officeDocument/2006/relationships/diagramColors" Target="../diagrams/colors257.xml"/><Relationship Id="rId4" Type="http://schemas.openxmlformats.org/officeDocument/2006/relationships/diagramQuickStyle" Target="../diagrams/quickStyle257.xml"/></Relationships>
</file>

<file path=ppt/slides/_rels/slide263.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258.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258.xml"/><Relationship Id="rId1" Type="http://schemas.openxmlformats.org/officeDocument/2006/relationships/slideLayout" Target="../slideLayouts/slideLayout2.xml"/><Relationship Id="rId6" Type="http://schemas.microsoft.com/office/2007/relationships/diagramDrawing" Target="../diagrams/drawing258.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258.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258.xml"/><Relationship Id="rId9" Type="http://schemas.openxmlformats.org/officeDocument/2006/relationships/hyperlink" Target="https://github.com/giangstrider/pinecone" TargetMode="External"/></Relationships>
</file>

<file path=ppt/slides/_rels/slide264.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259.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259.xml"/><Relationship Id="rId1" Type="http://schemas.openxmlformats.org/officeDocument/2006/relationships/slideLayout" Target="../slideLayouts/slideLayout2.xml"/><Relationship Id="rId6" Type="http://schemas.microsoft.com/office/2007/relationships/diagramDrawing" Target="../diagrams/drawing259.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259.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259.xml"/><Relationship Id="rId9" Type="http://schemas.openxmlformats.org/officeDocument/2006/relationships/hyperlink" Target="https://github.com/giangstrider/pinecone" TargetMode="External"/></Relationships>
</file>

<file path=ppt/slides/_rels/slide265.xml.rels><?xml version="1.0" encoding="UTF-8" standalone="yes"?>
<Relationships xmlns="http://schemas.openxmlformats.org/package/2006/relationships"><Relationship Id="rId8" Type="http://schemas.openxmlformats.org/officeDocument/2006/relationships/hyperlink" Target="https://www.linkedin.com/posts/rocky-bhatia-a4801010_%3F%3F%3F%3F%3F%3F%3F%3F%3F%3F%3F-%3F-%3F%3F%3F%3F%3F%3F%3F-activity-7117111531539984384-nUM4/?trk=public_profile_like_view" TargetMode="External"/><Relationship Id="rId13" Type="http://schemas.openxmlformats.org/officeDocument/2006/relationships/hyperlink" Target="https://learn.microsoft.com/en-us/azure/storage/blobs/data-lake-storage-introduction" TargetMode="External"/><Relationship Id="rId18" Type="http://schemas.openxmlformats.org/officeDocument/2006/relationships/hyperlink" Target="https://stackoverflow.com/questions/71259455/data-factory-synapse-analytics-and-databricks-comparison" TargetMode="External"/><Relationship Id="rId26" Type="http://schemas.openxmlformats.org/officeDocument/2006/relationships/hyperlink" Target="https://github.com/PacktPublishing/Limitless-Analytics-with-Azure-Synapse" TargetMode="External"/><Relationship Id="rId3" Type="http://schemas.openxmlformats.org/officeDocument/2006/relationships/diagramLayout" Target="../diagrams/layout260.xml"/><Relationship Id="rId21" Type="http://schemas.openxmlformats.org/officeDocument/2006/relationships/hyperlink" Target="https://github.com/PacktPublishing/Azure-Data-Engineering-Cookbook" TargetMode="External"/><Relationship Id="rId7" Type="http://schemas.openxmlformats.org/officeDocument/2006/relationships/hyperlink" Target="https://roadmap.sh/data-engineer" TargetMode="External"/><Relationship Id="rId12" Type="http://schemas.openxmlformats.org/officeDocument/2006/relationships/hyperlink" Target="https://blog.fabric.microsoft.com/en-gb/blog/lakehouse-vs-data-warehouse-deep-dive-into-use-cases-differences-and-architecture-designs" TargetMode="External"/><Relationship Id="rId17" Type="http://schemas.openxmlformats.org/officeDocument/2006/relationships/hyperlink" Target="https://www.startdataengineering.com/post/design-patterns/" TargetMode="External"/><Relationship Id="rId25" Type="http://schemas.openxmlformats.org/officeDocument/2006/relationships/hyperlink" Target="https://info.microsoft.com/ww-landing-synapse-analytics-cookbook.html" TargetMode="External"/><Relationship Id="rId2" Type="http://schemas.openxmlformats.org/officeDocument/2006/relationships/diagramData" Target="../diagrams/data260.xml"/><Relationship Id="rId16" Type="http://schemas.openxmlformats.org/officeDocument/2006/relationships/hyperlink" Target="https://www.oreilly.com/library/view/data-engineering-design/9781098165826/" TargetMode="External"/><Relationship Id="rId20" Type="http://schemas.openxmlformats.org/officeDocument/2006/relationships/hyperlink" Target="https://www.udemy.com/course/azure-data-engineering/?deal_code=UDEAFNULP0324&amp;utm_term=Homepage&amp;utm_content=Textlink&amp;utm_campaign=NewUserLP0324&amp;utm_source=aff-campaign&amp;utm_medium=udemyads&amp;LSNPUBID=znpz0s2okgU&amp;ranMID=47901&amp;ranEAID=znpz0s2okgU&amp;ranSiteID=znpz0s2okgU-yMMEXrJ6gkj9pCY7CBOtxQ&amp;gad_source=1&amp;couponCode=PMNVD2025" TargetMode="External"/><Relationship Id="rId1" Type="http://schemas.openxmlformats.org/officeDocument/2006/relationships/slideLayout" Target="../slideLayouts/slideLayout2.xml"/><Relationship Id="rId6" Type="http://schemas.microsoft.com/office/2007/relationships/diagramDrawing" Target="../diagrams/drawing260.xml"/><Relationship Id="rId11" Type="http://schemas.openxmlformats.org/officeDocument/2006/relationships/hyperlink" Target="https://github.com/DataExpert-io/data-engineer-handbook" TargetMode="External"/><Relationship Id="rId24" Type="http://schemas.openxmlformats.org/officeDocument/2006/relationships/hyperlink" Target="https://www.udemy.com/course/azure-data-engineer-masterclass-the-complete-guide/?srsltid=AfmBOoqakNdEyz8UXDFCg9GPcEEdiOnD1fzHR-7sXCL2vuDiRkgKT2_F&amp;couponCode=PMNVD2025" TargetMode="External"/><Relationship Id="rId5" Type="http://schemas.openxmlformats.org/officeDocument/2006/relationships/diagramColors" Target="../diagrams/colors260.xml"/><Relationship Id="rId15" Type="http://schemas.openxmlformats.org/officeDocument/2006/relationships/hyperlink" Target="https://www.dedp.online/" TargetMode="External"/><Relationship Id="rId23" Type="http://schemas.openxmlformats.org/officeDocument/2006/relationships/hyperlink" Target="https://www.udemy.com/course/azure-data-factory-synapse-analytics-end-to-end-etl-project/?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PqGuhAwnaPjTyvt-QV2V9TitKwbcIMwCwQpAujrhKuUpzabnlJuzRoCEfcQAvD_BwE&amp;couponCode=PMNVD2025" TargetMode="External"/><Relationship Id="rId10" Type="http://schemas.openxmlformats.org/officeDocument/2006/relationships/hyperlink" Target="https://awesomedataengineering.com/" TargetMode="External"/><Relationship Id="rId19" Type="http://schemas.openxmlformats.org/officeDocument/2006/relationships/hyperlink" Target="https://learn.microsoft.com/en-us/answers/questions/587071/differnce-between-synapse-and-databricks" TargetMode="External"/><Relationship Id="rId4" Type="http://schemas.openxmlformats.org/officeDocument/2006/relationships/diagramQuickStyle" Target="../diagrams/quickStyle260.xml"/><Relationship Id="rId9" Type="http://schemas.openxmlformats.org/officeDocument/2006/relationships/hyperlink" Target="https://medium.com/@sivailango.s/principles-of-data-layers-in-data-platform-a336a0ff9e1e" TargetMode="External"/><Relationship Id="rId14" Type="http://schemas.openxmlformats.org/officeDocument/2006/relationships/hyperlink" Target="https://www.oreilly.com/library/view/architecting-data-intensive-applications/9781786465092/" TargetMode="External"/><Relationship Id="rId22" Type="http://schemas.openxmlformats.org/officeDocument/2006/relationships/hyperlink" Target="https://github.com/PacktPublishing/Azure-Data-Engineering-Cookbook-2nd-edition" TargetMode="External"/><Relationship Id="rId27" Type="http://schemas.openxmlformats.org/officeDocument/2006/relationships/hyperlink" Target="https://github.com/ava-orange-education/Ultimate-Azure-Synapse-Analytics" TargetMode="External"/></Relationships>
</file>

<file path=ppt/slides/_rels/slide266.xml.rels><?xml version="1.0" encoding="UTF-8" standalone="yes"?>
<Relationships xmlns="http://schemas.openxmlformats.org/package/2006/relationships"><Relationship Id="rId8" Type="http://schemas.openxmlformats.org/officeDocument/2006/relationships/hyperlink" Target="https://www.udemy.com/course/databricks-certified-data-engineer-associate/?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Dl-CQHXZtdfRXHUx7hSwiQfZHH_JausuXrWn1owtj2zsUW6VCZ4LBoCpuMQAvD_BwE&amp;couponCode=PMNVD2025" TargetMode="External"/><Relationship Id="rId13" Type="http://schemas.openxmlformats.org/officeDocument/2006/relationships/hyperlink" Target="https://www.udemy.com/course/master-microsoft-fabric-a-complete-end-to-end-project-cicd/?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FE3xjsMHHnH5iALFwuqBhz-sX4NwEgWvpCV7XcZKq2GiwVaHwPZ_RoCYEQQAvD_BwE&amp;couponCode=PMNVD2025" TargetMode="External"/><Relationship Id="rId18" Type="http://schemas.openxmlformats.org/officeDocument/2006/relationships/hyperlink" Target="https://learn.microsoft.com/en-us/azure/architecture/example-scenario/iot/batch-integration-azure-data-factory-digital-twins" TargetMode="External"/><Relationship Id="rId26" Type="http://schemas.openxmlformats.org/officeDocument/2006/relationships/hyperlink" Target="https://www.onehouse.ai/blog/apache-hudi-vs-delta-lake-vs-apache-iceberg-lakehouse-feature-comparison" TargetMode="External"/><Relationship Id="rId3" Type="http://schemas.openxmlformats.org/officeDocument/2006/relationships/diagramLayout" Target="../diagrams/layout261.xml"/><Relationship Id="rId21" Type="http://schemas.openxmlformats.org/officeDocument/2006/relationships/hyperlink" Target="https://en.wikipedia.org/wiki/FAIR_data" TargetMode="External"/><Relationship Id="rId7" Type="http://schemas.openxmlformats.org/officeDocument/2006/relationships/hyperlink" Target="https://www.udemy.com/course/master-azure-databricks-for-data-engineers/?srsltid=AfmBOoqta-FoddcwxGhc--aLH4ZwFBAADZSELX3C9J4w22zm0ooRbmgS&amp;couponCode=PMNVD2025" TargetMode="External"/><Relationship Id="rId12" Type="http://schemas.openxmlformats.org/officeDocument/2006/relationships/hyperlink" Target="https://www.databricks.com/resources/ebook/delta-lake-the-definitive-guide-by-oreilly?scid=7018Y000001Fi1AQAS&amp;utm_medium=paid+search&amp;utm_source=google&amp;utm_campaign=17156878282&amp;utm_adgroup=133260300901&amp;utm_content=ebook&amp;utm_offer=delta-lake-the-definitive-guide-by-oreilly&amp;utm_ad=719251943959&amp;utm_term=delta%20lake&amp;gad_source=1&amp;gad_campaignid=17156878282&amp;gbraid=0AAAAABYBeAjWsjW93A7UeumxDk-JtSQrU&amp;gclid=CjwKCAjw2brFBhBOEiwAVJX5GP5q-416oqPDzGkeiYV5lLASpYSlcQtXGL1l2Uhw2PsARALiXtZkDxoCuCUQAvD_BwE" TargetMode="External"/><Relationship Id="rId17" Type="http://schemas.openxmlformats.org/officeDocument/2006/relationships/hyperlink" Target="https://www.udemy.com/user/ramesh-retnasamy-4/" TargetMode="External"/><Relationship Id="rId25" Type="http://schemas.openxmlformats.org/officeDocument/2006/relationships/hyperlink" Target="https://data-contracts.com/" TargetMode="External"/><Relationship Id="rId2" Type="http://schemas.openxmlformats.org/officeDocument/2006/relationships/diagramData" Target="../diagrams/data261.xml"/><Relationship Id="rId16" Type="http://schemas.openxmlformats.org/officeDocument/2006/relationships/hyperlink" Target="https://github.com/LearningJournal" TargetMode="External"/><Relationship Id="rId20" Type="http://schemas.openxmlformats.org/officeDocument/2006/relationships/hyperlink" Target="https://www.reddit.com/r/dataengineering/comments/1cbx8bb/preferred_file_format_and_why_csv_json_parquet/?rdt=50716" TargetMode="External"/><Relationship Id="rId29" Type="http://schemas.openxmlformats.org/officeDocument/2006/relationships/hyperlink" Target="https://www.kdnuggets.com/2023/02/learn-data-engineering-github-repositories.html" TargetMode="External"/><Relationship Id="rId1" Type="http://schemas.openxmlformats.org/officeDocument/2006/relationships/slideLayout" Target="../slideLayouts/slideLayout2.xml"/><Relationship Id="rId6" Type="http://schemas.microsoft.com/office/2007/relationships/diagramDrawing" Target="../diagrams/drawing261.xml"/><Relationship Id="rId11" Type="http://schemas.openxmlformats.org/officeDocument/2006/relationships/hyperlink" Target="https://www.packtpub.com/en-in/product/distributed-data-systems-with-azure-databricks-9781838642693" TargetMode="External"/><Relationship Id="rId24" Type="http://schemas.openxmlformats.org/officeDocument/2006/relationships/hyperlink" Target="https://www.oreilly.com/library/view/data-contracts/9781098157623/" TargetMode="External"/><Relationship Id="rId32" Type="http://schemas.openxmlformats.org/officeDocument/2006/relationships/hyperlink" Target="https://github.com/manuzhang/awesome-streaming?tab=readme-ov-file#readings" TargetMode="External"/><Relationship Id="rId5" Type="http://schemas.openxmlformats.org/officeDocument/2006/relationships/diagramColors" Target="../diagrams/colors261.xml"/><Relationship Id="rId15" Type="http://schemas.openxmlformats.org/officeDocument/2006/relationships/hyperlink" Target="https://www.udemy.com/course/azure-data-factory-v2/?utm_source=adwords&amp;utm_medium=udemyads&amp;utm_campaign=Search_DSA_Beta_Prof_la.EN_cc.India&amp;campaigntype=Search&amp;portfolio=India&amp;language=EN&amp;product=Course&amp;test=&amp;audience=DSA&amp;topic=&amp;priority=Beta&amp;utm_content=deal4584&amp;utm_term=_._ag_160270535665_._ad_696202838340_._kw__._de_c_._dm__._pl__._ti_dsa-2434662753489_._li_9061836_._pd__._&amp;matchtype=&amp;gad_source=1&amp;gad_campaignid=21178559974&amp;gbraid=0AAAAADROdO1IVwJ6p78TymEFABhFAL5PG&amp;gclid=CjwKCAjw2brFBhBOEiwAVJX5GEY_7tqOLz_C4li4yN-0z9-PxXhCEJ_pde9txiFh_BXAXtR0_OJ6tRoCxGIQAvD_BwE&amp;couponCode=PMNVD2025" TargetMode="External"/><Relationship Id="rId23" Type="http://schemas.openxmlformats.org/officeDocument/2006/relationships/hyperlink" Target="https://www.packtpub.com/en-us/product/data-governance-handbook-9781803240725?srsltid=AfmBOoqjE4AMnioV9XWaPqRk0h-5TvAzyQ5Y2WjKzdHyc-txojYO6FLN" TargetMode="External"/><Relationship Id="rId28" Type="http://schemas.openxmlformats.org/officeDocument/2006/relationships/hyperlink" Target="https://www.linkedin.com/in/isharanimicrosoftleader/details/featured/" TargetMode="External"/><Relationship Id="rId10" Type="http://schemas.openxmlformats.org/officeDocument/2006/relationships/hyperlink" Target="https://github.com/PacktPublishing/Azure-Databricks-Cookbook-Second-EdOld" TargetMode="External"/><Relationship Id="rId19" Type="http://schemas.openxmlformats.org/officeDocument/2006/relationships/hyperlink" Target="https://www.databricks.com/resources/ebook/big-book-data-warehousing-and-bi" TargetMode="External"/><Relationship Id="rId31" Type="http://schemas.openxmlformats.org/officeDocument/2006/relationships/hyperlink" Target="https://github.com/risingwavelabs/awesome-stream-processing" TargetMode="External"/><Relationship Id="rId4" Type="http://schemas.openxmlformats.org/officeDocument/2006/relationships/diagramQuickStyle" Target="../diagrams/quickStyle261.xml"/><Relationship Id="rId9" Type="http://schemas.openxmlformats.org/officeDocument/2006/relationships/hyperlink" Target="https://github.com/PacktPublishing/Azure-Databricks-Cookbook" TargetMode="External"/><Relationship Id="rId14" Type="http://schemas.openxmlformats.org/officeDocument/2006/relationships/hyperlink" Target="https://www.udemy.com/course/build-data-engineering-pipelines-with-azure-data-factory/?utm_source=adwords&amp;utm_medium=udemyads&amp;utm_campaign=Search_DSA_Alpha_Prof_la.EN_cc.India_Subs&amp;campaigntype=Search&amp;portfolio=India&amp;language=EN&amp;product=Subs&amp;test=&amp;audience=DSA&amp;topic=Data_Science&amp;priority=Alpha&amp;utm_content=deal4584&amp;utm_term=_._ag_185390583513_._ad_769665429059_._kw__._de_c_._dm__._pl__._ti_dsa-2436670444979_._li_9061836_._pd__._&amp;matchtype=&amp;gad_source=1&amp;gad_campaignid=22900574864&amp;gbraid=0AAAAADROdO1DvqQxYk3_LKh7wWp0RhTgc&amp;gclid=CjwKCAjw2brFBhBOEiwAVJX5GCpQ57niVDvvT3Mx4MrvrOaqYnzlOrSW-GN0fMozcLD-0G9f9egmVxoCRLgQAvD_BwE&amp;couponCode=PMNVD2025" TargetMode="External"/><Relationship Id="rId22" Type="http://schemas.openxmlformats.org/officeDocument/2006/relationships/hyperlink" Target="https://www.oreilly.com/library/view/data-quality-fundamentals/9781098112035/" TargetMode="External"/><Relationship Id="rId27" Type="http://schemas.openxmlformats.org/officeDocument/2006/relationships/hyperlink" Target="https://imply.io/blog/choosing-a-database-for-real-time-analytics-druid-and-pinot/" TargetMode="External"/><Relationship Id="rId30" Type="http://schemas.openxmlformats.org/officeDocument/2006/relationships/hyperlink" Target="https://gist.github.com/debasishg/8172796" TargetMode="External"/></Relationships>
</file>

<file path=ppt/slides/_rels/slide267.xml.rels><?xml version="1.0" encoding="UTF-8" standalone="yes"?>
<Relationships xmlns="http://schemas.openxmlformats.org/package/2006/relationships"><Relationship Id="rId8" Type="http://schemas.openxmlformats.org/officeDocument/2006/relationships/hyperlink" Target="https://stackoverflow.com/questions/27307169/what-are-probabilistic-data-structures" TargetMode="External"/><Relationship Id="rId13" Type="http://schemas.openxmlformats.org/officeDocument/2006/relationships/hyperlink" Target="https://www.amazon.in/Algorithms-Data-Structures-Massive-Datasets-ebook/dp/B099J942ZJ" TargetMode="External"/><Relationship Id="rId18" Type="http://schemas.openxmlformats.org/officeDocument/2006/relationships/hyperlink" Target="https://courses.cs.duke.edu/cps238/fall01/" TargetMode="External"/><Relationship Id="rId3" Type="http://schemas.openxmlformats.org/officeDocument/2006/relationships/diagramLayout" Target="../diagrams/layout262.xml"/><Relationship Id="rId21" Type="http://schemas.openxmlformats.org/officeDocument/2006/relationships/hyperlink" Target="https://www.rasmuspagh.net/papers/external.pdf" TargetMode="External"/><Relationship Id="rId7" Type="http://schemas.openxmlformats.org/officeDocument/2006/relationships/hyperlink" Target="https://www.geeksforgeeks.org/introduction-to-the-probabilistic-data-structure/" TargetMode="External"/><Relationship Id="rId12" Type="http://schemas.openxmlformats.org/officeDocument/2006/relationships/hyperlink" Target="https://redis.io/docs/latest/develop/data-types/probabilistic/" TargetMode="External"/><Relationship Id="rId17" Type="http://schemas.openxmlformats.org/officeDocument/2006/relationships/hyperlink" Target="https://raw.githubusercontent.com/SSoelvsten/slides/out/io_efficient_computation.pdf" TargetMode="External"/><Relationship Id="rId2" Type="http://schemas.openxmlformats.org/officeDocument/2006/relationships/diagramData" Target="../diagrams/data262.xml"/><Relationship Id="rId16" Type="http://schemas.openxmlformats.org/officeDocument/2006/relationships/hyperlink" Target="https://en.wikipedia.org/wiki/Category:Probabilistic_data_structures" TargetMode="External"/><Relationship Id="rId20" Type="http://schemas.openxmlformats.org/officeDocument/2006/relationships/hyperlink" Target="https://courses.csail.mit.edu/6.897/spring05/lec/lec23.pdf" TargetMode="External"/><Relationship Id="rId1" Type="http://schemas.openxmlformats.org/officeDocument/2006/relationships/slideLayout" Target="../slideLayouts/slideLayout2.xml"/><Relationship Id="rId6" Type="http://schemas.microsoft.com/office/2007/relationships/diagramDrawing" Target="../diagrams/drawing262.xml"/><Relationship Id="rId11" Type="http://schemas.openxmlformats.org/officeDocument/2006/relationships/hyperlink" Target="https://blog.devgenius.io/advance-data-structures-for-data-engineering-part-ii-71e9901f1b3d" TargetMode="External"/><Relationship Id="rId5" Type="http://schemas.openxmlformats.org/officeDocument/2006/relationships/diagramColors" Target="../diagrams/colors262.xml"/><Relationship Id="rId15" Type="http://schemas.openxmlformats.org/officeDocument/2006/relationships/hyperlink" Target="https://www.amazon.in/Probabilistic-Structures-Blockchain-Based-Internet-Applications/dp/0367529947" TargetMode="External"/><Relationship Id="rId10" Type="http://schemas.openxmlformats.org/officeDocument/2006/relationships/hyperlink" Target="https://medium.com/@tech.anikghosh/probabilistic-data-structures-db5d238008eb" TargetMode="External"/><Relationship Id="rId19" Type="http://schemas.openxmlformats.org/officeDocument/2006/relationships/hyperlink" Target="https://en.wikipedia.org/wiki/External_memory_algorithm" TargetMode="External"/><Relationship Id="rId4" Type="http://schemas.openxmlformats.org/officeDocument/2006/relationships/diagramQuickStyle" Target="../diagrams/quickStyle262.xml"/><Relationship Id="rId9" Type="http://schemas.openxmlformats.org/officeDocument/2006/relationships/hyperlink" Target="https://towardsdatascience.com/probabilistic-data-structures-decoded-enhancing-performance-in-modern-computing-17f700e6ea47" TargetMode="External"/><Relationship Id="rId14" Type="http://schemas.openxmlformats.org/officeDocument/2006/relationships/hyperlink" Target="https://www.amazon.in/Probabilistic-Data-Structures-Algorithms-Applications-ebook/dp/B07MYKTY8W" TargetMode="External"/><Relationship Id="rId22" Type="http://schemas.openxmlformats.org/officeDocument/2006/relationships/hyperlink" Target="https://courses.cs.duke.edu/fall05/cps130/lectures/vitter.papers/Vit.IO_survey.pdf" TargetMode="External"/></Relationships>
</file>

<file path=ppt/slides/_rels/slide268.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diagramData" Target="../diagrams/data263.xml"/><Relationship Id="rId7" Type="http://schemas.microsoft.com/office/2007/relationships/diagramDrawing" Target="../diagrams/drawing26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263.xml"/><Relationship Id="rId5" Type="http://schemas.openxmlformats.org/officeDocument/2006/relationships/diagramQuickStyle" Target="../diagrams/quickStyle263.xml"/><Relationship Id="rId4" Type="http://schemas.openxmlformats.org/officeDocument/2006/relationships/diagramLayout" Target="../diagrams/layout263.xml"/></Relationships>
</file>

<file path=ppt/slides/_rels/slide269.xml.rels><?xml version="1.0" encoding="UTF-8" standalone="yes"?>
<Relationships xmlns="http://schemas.openxmlformats.org/package/2006/relationships"><Relationship Id="rId8" Type="http://schemas.openxmlformats.org/officeDocument/2006/relationships/hyperlink" Target="https://www.orkes.io/what-is-conductor" TargetMode="External"/><Relationship Id="rId3" Type="http://schemas.openxmlformats.org/officeDocument/2006/relationships/diagramData" Target="../diagrams/data264.xml"/><Relationship Id="rId7" Type="http://schemas.microsoft.com/office/2007/relationships/diagramDrawing" Target="../diagrams/drawing264.xml"/><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diagramColors" Target="../diagrams/colors264.xml"/><Relationship Id="rId5" Type="http://schemas.openxmlformats.org/officeDocument/2006/relationships/diagramQuickStyle" Target="../diagrams/quickStyle264.xml"/><Relationship Id="rId10" Type="http://schemas.openxmlformats.org/officeDocument/2006/relationships/hyperlink" Target="https://conductor-oss.github.io/conductor/index.html" TargetMode="External"/><Relationship Id="rId4" Type="http://schemas.openxmlformats.org/officeDocument/2006/relationships/diagramLayout" Target="../diagrams/layout264.xml"/><Relationship Id="rId9" Type="http://schemas.openxmlformats.org/officeDocument/2006/relationships/hyperlink" Target="https://conductor-oss.org/" TargetMode="External"/></Relationships>
</file>

<file path=ppt/slides/_rels/slide270.xml.rels><?xml version="1.0" encoding="UTF-8" standalone="yes"?>
<Relationships xmlns="http://schemas.openxmlformats.org/package/2006/relationships"><Relationship Id="rId8" Type="http://schemas.openxmlformats.org/officeDocument/2006/relationships/hyperlink" Target="https://www.nected.ai/blog/open-source-rules-engine" TargetMode="External"/><Relationship Id="rId3" Type="http://schemas.openxmlformats.org/officeDocument/2006/relationships/diagramLayout" Target="../diagrams/layout265.xml"/><Relationship Id="rId7" Type="http://schemas.openxmlformats.org/officeDocument/2006/relationships/image" Target="../media/image85.png"/><Relationship Id="rId2" Type="http://schemas.openxmlformats.org/officeDocument/2006/relationships/diagramData" Target="../diagrams/data265.xml"/><Relationship Id="rId1" Type="http://schemas.openxmlformats.org/officeDocument/2006/relationships/slideLayout" Target="../slideLayouts/slideLayout2.xml"/><Relationship Id="rId6" Type="http://schemas.microsoft.com/office/2007/relationships/diagramDrawing" Target="../diagrams/drawing265.xml"/><Relationship Id="rId5" Type="http://schemas.openxmlformats.org/officeDocument/2006/relationships/diagramColors" Target="../diagrams/colors265.xml"/><Relationship Id="rId10" Type="http://schemas.openxmlformats.org/officeDocument/2006/relationships/hyperlink" Target="https://www.codeproject.com/Articles/29165/Getting-Started-with-Drools-NET" TargetMode="External"/><Relationship Id="rId4" Type="http://schemas.openxmlformats.org/officeDocument/2006/relationships/diagramQuickStyle" Target="../diagrams/quickStyle265.xml"/><Relationship Id="rId9" Type="http://schemas.openxmlformats.org/officeDocument/2006/relationships/hyperlink" Target="https://microsoft.github.io/RulesEngine/" TargetMode="External"/></Relationships>
</file>

<file path=ppt/slides/_rels/slide271.xml.rels><?xml version="1.0" encoding="UTF-8" standalone="yes"?>
<Relationships xmlns="http://schemas.openxmlformats.org/package/2006/relationships"><Relationship Id="rId8" Type="http://schemas.openxmlformats.org/officeDocument/2006/relationships/hyperlink" Target="https://github.com/meirwah/awesome-workflow-engines" TargetMode="External"/><Relationship Id="rId13" Type="http://schemas.openxmlformats.org/officeDocument/2006/relationships/hyperlink" Target="https://workflowengine.io/" TargetMode="External"/><Relationship Id="rId18" Type="http://schemas.openxmlformats.org/officeDocument/2006/relationships/hyperlink" Target="https://www.fivetran.com/blog/airflow-scheduling-vs-orchestrating" TargetMode="External"/><Relationship Id="rId3" Type="http://schemas.openxmlformats.org/officeDocument/2006/relationships/diagramLayout" Target="../diagrams/layout266.xml"/><Relationship Id="rId7" Type="http://schemas.openxmlformats.org/officeDocument/2006/relationships/hyperlink" Target="http://www.workflowpatterns.com/" TargetMode="External"/><Relationship Id="rId12" Type="http://schemas.openxmlformats.org/officeDocument/2006/relationships/hyperlink" Target="https://github.com/orosandrei/Rehosted-Workflow-Designer" TargetMode="External"/><Relationship Id="rId17" Type="http://schemas.openxmlformats.org/officeDocument/2006/relationships/hyperlink" Target="https://www.amazon.in/Orchestration-Graphs-Modeling-Scalable-Education-ebook/dp/B017J935RO" TargetMode="External"/><Relationship Id="rId2" Type="http://schemas.openxmlformats.org/officeDocument/2006/relationships/diagramData" Target="../diagrams/data266.xml"/><Relationship Id="rId16" Type="http://schemas.openxmlformats.org/officeDocument/2006/relationships/hyperlink" Target="https://stackoverflow.com/questions/6984978/using-workflow-foundation-in-mvc3-to-handle-page-flow-as-in-a-wizard" TargetMode="External"/><Relationship Id="rId1" Type="http://schemas.openxmlformats.org/officeDocument/2006/relationships/slideLayout" Target="../slideLayouts/slideLayout2.xml"/><Relationship Id="rId6" Type="http://schemas.microsoft.com/office/2007/relationships/diagramDrawing" Target="../diagrams/drawing266.xml"/><Relationship Id="rId11" Type="http://schemas.openxmlformats.org/officeDocument/2006/relationships/hyperlink" Target="https://stackoverflow.com/questions/65708964/windows-workflow-foundation-for-net-core" TargetMode="External"/><Relationship Id="rId5" Type="http://schemas.openxmlformats.org/officeDocument/2006/relationships/diagramColors" Target="../diagrams/colors266.xml"/><Relationship Id="rId15" Type="http://schemas.openxmlformats.org/officeDocument/2006/relationships/hyperlink" Target="https://www.milanjovanovic.tech/blog/orchestration-vs-choreography" TargetMode="External"/><Relationship Id="rId10" Type="http://schemas.openxmlformats.org/officeDocument/2006/relationships/hyperlink" Target="https://www.berndruecker.io/books/" TargetMode="External"/><Relationship Id="rId19" Type="http://schemas.openxmlformats.org/officeDocument/2006/relationships/hyperlink" Target="https://medium.com/@chucksanders22/netflix-conductor-v-s-temporal-uber-cadence-v-s-zeebe-vs-airflow-320df0365948" TargetMode="External"/><Relationship Id="rId4" Type="http://schemas.openxmlformats.org/officeDocument/2006/relationships/diagramQuickStyle" Target="../diagrams/quickStyle266.xml"/><Relationship Id="rId9" Type="http://schemas.openxmlformats.org/officeDocument/2006/relationships/hyperlink" Target="https://ceur-ws.org/Vol-2825/paper3.pdf" TargetMode="External"/><Relationship Id="rId14" Type="http://schemas.openxmlformats.org/officeDocument/2006/relationships/hyperlink" Target="https://github.com/elsa-workflows/elsa-core" TargetMode="External"/></Relationships>
</file>

<file path=ppt/slides/_rels/slide272.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diagramData" Target="../diagrams/data267.xml"/><Relationship Id="rId7" Type="http://schemas.microsoft.com/office/2007/relationships/diagramDrawing" Target="../diagrams/drawing267.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267.xml"/><Relationship Id="rId5" Type="http://schemas.openxmlformats.org/officeDocument/2006/relationships/diagramQuickStyle" Target="../diagrams/quickStyle267.xml"/><Relationship Id="rId4" Type="http://schemas.openxmlformats.org/officeDocument/2006/relationships/diagramLayout" Target="../diagrams/layout267.xml"/></Relationships>
</file>

<file path=ppt/slides/_rels/slide273.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diagramData" Target="../diagrams/data268.xml"/><Relationship Id="rId7" Type="http://schemas.microsoft.com/office/2007/relationships/diagramDrawing" Target="../diagrams/drawing268.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268.xml"/><Relationship Id="rId5" Type="http://schemas.openxmlformats.org/officeDocument/2006/relationships/diagramQuickStyle" Target="../diagrams/quickStyle268.xml"/><Relationship Id="rId4" Type="http://schemas.openxmlformats.org/officeDocument/2006/relationships/diagramLayout" Target="../diagrams/layout268.xml"/></Relationships>
</file>

<file path=ppt/slides/_rels/slide274.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diagramData" Target="../diagrams/data269.xml"/><Relationship Id="rId7" Type="http://schemas.microsoft.com/office/2007/relationships/diagramDrawing" Target="../diagrams/drawing269.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269.xml"/><Relationship Id="rId5" Type="http://schemas.openxmlformats.org/officeDocument/2006/relationships/diagramQuickStyle" Target="../diagrams/quickStyle269.xml"/><Relationship Id="rId4" Type="http://schemas.openxmlformats.org/officeDocument/2006/relationships/diagramLayout" Target="../diagrams/layout269.xml"/></Relationships>
</file>

<file path=ppt/slides/_rels/slide275.xml.rels><?xml version="1.0" encoding="UTF-8" standalone="yes"?>
<Relationships xmlns="http://schemas.openxmlformats.org/package/2006/relationships"><Relationship Id="rId3" Type="http://schemas.openxmlformats.org/officeDocument/2006/relationships/diagramData" Target="../diagrams/data270.xml"/><Relationship Id="rId7" Type="http://schemas.microsoft.com/office/2007/relationships/diagramDrawing" Target="../diagrams/drawing270.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270.xml"/><Relationship Id="rId5" Type="http://schemas.openxmlformats.org/officeDocument/2006/relationships/diagramQuickStyle" Target="../diagrams/quickStyle270.xml"/><Relationship Id="rId4" Type="http://schemas.openxmlformats.org/officeDocument/2006/relationships/diagramLayout" Target="../diagrams/layout270.xml"/></Relationships>
</file>

<file path=ppt/slides/_rels/slide276.xml.rels><?xml version="1.0" encoding="UTF-8" standalone="yes"?>
<Relationships xmlns="http://schemas.openxmlformats.org/package/2006/relationships"><Relationship Id="rId8" Type="http://schemas.openxmlformats.org/officeDocument/2006/relationships/hyperlink" Target="https://www.theknowledgeacademy.com/blog/rpa-architecture/" TargetMode="External"/><Relationship Id="rId13" Type="http://schemas.openxmlformats.org/officeDocument/2006/relationships/hyperlink" Target="https://www.packtpub.com/en-in/product/rpa-solution-architects-handbook-9781803249605" TargetMode="External"/><Relationship Id="rId3" Type="http://schemas.openxmlformats.org/officeDocument/2006/relationships/diagramData" Target="../diagrams/data271.xml"/><Relationship Id="rId7" Type="http://schemas.microsoft.com/office/2007/relationships/diagramDrawing" Target="../diagrams/drawing271.xml"/><Relationship Id="rId12" Type="http://schemas.openxmlformats.org/officeDocument/2006/relationships/hyperlink" Target="https://github.com/Andrey-Voinalovych/rpa_developer_roadmap"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271.xml"/><Relationship Id="rId11" Type="http://schemas.openxmlformats.org/officeDocument/2006/relationships/hyperlink" Target="https://mindmajix.com/rpa-architecture" TargetMode="External"/><Relationship Id="rId5" Type="http://schemas.openxmlformats.org/officeDocument/2006/relationships/diagramQuickStyle" Target="../diagrams/quickStyle271.xml"/><Relationship Id="rId10" Type="http://schemas.openxmlformats.org/officeDocument/2006/relationships/hyperlink" Target="https://www.vcubesoftsolutions.com/rpa-architecture/" TargetMode="External"/><Relationship Id="rId4" Type="http://schemas.openxmlformats.org/officeDocument/2006/relationships/diagramLayout" Target="../diagrams/layout271.xml"/><Relationship Id="rId9" Type="http://schemas.openxmlformats.org/officeDocument/2006/relationships/hyperlink" Target="https://www.ibm.com/docs/en/rpa/23.0.x?topic=architecture" TargetMode="External"/></Relationships>
</file>

<file path=ppt/slides/_rels/slide277.xml.rels><?xml version="1.0" encoding="UTF-8" standalone="yes"?>
<Relationships xmlns="http://schemas.openxmlformats.org/package/2006/relationships"><Relationship Id="rId3" Type="http://schemas.openxmlformats.org/officeDocument/2006/relationships/diagramLayout" Target="../diagrams/layout272.xml"/><Relationship Id="rId7" Type="http://schemas.openxmlformats.org/officeDocument/2006/relationships/hyperlink" Target="https://www.informit.com/articles/article.aspx?p=1592379" TargetMode="External"/><Relationship Id="rId2" Type="http://schemas.openxmlformats.org/officeDocument/2006/relationships/diagramData" Target="../diagrams/data272.xml"/><Relationship Id="rId1" Type="http://schemas.openxmlformats.org/officeDocument/2006/relationships/slideLayout" Target="../slideLayouts/slideLayout2.xml"/><Relationship Id="rId6" Type="http://schemas.microsoft.com/office/2007/relationships/diagramDrawing" Target="../diagrams/drawing272.xml"/><Relationship Id="rId5" Type="http://schemas.openxmlformats.org/officeDocument/2006/relationships/diagramColors" Target="../diagrams/colors272.xml"/><Relationship Id="rId4" Type="http://schemas.openxmlformats.org/officeDocument/2006/relationships/diagramQuickStyle" Target="../diagrams/quickStyle272.xml"/></Relationships>
</file>

<file path=ppt/slides/_rels/slide278.xml.rels><?xml version="1.0" encoding="UTF-8" standalone="yes"?>
<Relationships xmlns="http://schemas.openxmlformats.org/package/2006/relationships"><Relationship Id="rId8" Type="http://schemas.openxmlformats.org/officeDocument/2006/relationships/hyperlink" Target="https://www.amazon.in/Distributed-Algorithms-Intuitive-Wan-Fokkink-ebook/dp/B08BSZ51MR" TargetMode="External"/><Relationship Id="rId13" Type="http://schemas.openxmlformats.org/officeDocument/2006/relationships/hyperlink" Target="https://zookeeper.apache.org/doc/r3.5.0-alpha/zookeeperOver.html" TargetMode="External"/><Relationship Id="rId3" Type="http://schemas.openxmlformats.org/officeDocument/2006/relationships/diagramLayout" Target="../diagrams/layout273.xml"/><Relationship Id="rId7" Type="http://schemas.openxmlformats.org/officeDocument/2006/relationships/hyperlink" Target="https://martinfowler.com/books/patterns-distributed.html" TargetMode="External"/><Relationship Id="rId12" Type="http://schemas.openxmlformats.org/officeDocument/2006/relationships/hyperlink" Target="https://stackoverflow.com/questions/71438350/is-there-any-documentation-about-kubernetes-data-structure-on-etcd" TargetMode="External"/><Relationship Id="rId2" Type="http://schemas.openxmlformats.org/officeDocument/2006/relationships/diagramData" Target="../diagrams/data273.xml"/><Relationship Id="rId1" Type="http://schemas.openxmlformats.org/officeDocument/2006/relationships/slideLayout" Target="../slideLayouts/slideLayout2.xml"/><Relationship Id="rId6" Type="http://schemas.microsoft.com/office/2007/relationships/diagramDrawing" Target="../diagrams/drawing273.xml"/><Relationship Id="rId11" Type="http://schemas.openxmlformats.org/officeDocument/2006/relationships/hyperlink" Target="https://learnk8s.io/etcd-kubernetes" TargetMode="External"/><Relationship Id="rId5" Type="http://schemas.openxmlformats.org/officeDocument/2006/relationships/diagramColors" Target="../diagrams/colors273.xml"/><Relationship Id="rId10" Type="http://schemas.openxmlformats.org/officeDocument/2006/relationships/hyperlink" Target="https://kafka.apache.org/11/documentation/streams/architecture" TargetMode="External"/><Relationship Id="rId4" Type="http://schemas.openxmlformats.org/officeDocument/2006/relationships/diagramQuickStyle" Target="../diagrams/quickStyle273.xml"/><Relationship Id="rId9" Type="http://schemas.openxmlformats.org/officeDocument/2006/relationships/hyperlink" Target="https://kubernetes.io/docs/concepts/architecture/" TargetMode="External"/><Relationship Id="rId14" Type="http://schemas.openxmlformats.org/officeDocument/2006/relationships/hyperlink" Target="https://developer.hashicorp.com/consul/docs/architecture" TargetMode="External"/></Relationships>
</file>

<file path=ppt/slides/_rels/slide279.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diagramData" Target="../diagrams/data274.xml"/><Relationship Id="rId7" Type="http://schemas.microsoft.com/office/2007/relationships/diagramDrawing" Target="../diagrams/drawing274.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274.xml"/><Relationship Id="rId5" Type="http://schemas.openxmlformats.org/officeDocument/2006/relationships/diagramQuickStyle" Target="../diagrams/quickStyle274.xml"/><Relationship Id="rId4" Type="http://schemas.openxmlformats.org/officeDocument/2006/relationships/diagramLayout" Target="../diagrams/layout274.xml"/></Relationships>
</file>

<file path=ppt/slides/_rels/slide280.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diagramData" Target="../diagrams/data275.xml"/><Relationship Id="rId7" Type="http://schemas.microsoft.com/office/2007/relationships/diagramDrawing" Target="../diagrams/drawing275.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75.xml"/><Relationship Id="rId5" Type="http://schemas.openxmlformats.org/officeDocument/2006/relationships/diagramQuickStyle" Target="../diagrams/quickStyle275.xml"/><Relationship Id="rId4" Type="http://schemas.openxmlformats.org/officeDocument/2006/relationships/diagramLayout" Target="../diagrams/layout275.xml"/></Relationships>
</file>

<file path=ppt/slides/_rels/slide281.xml.rels><?xml version="1.0" encoding="UTF-8" standalone="yes"?>
<Relationships xmlns="http://schemas.openxmlformats.org/package/2006/relationships"><Relationship Id="rId3" Type="http://schemas.openxmlformats.org/officeDocument/2006/relationships/diagramData" Target="../diagrams/data276.xml"/><Relationship Id="rId7" Type="http://schemas.microsoft.com/office/2007/relationships/diagramDrawing" Target="../diagrams/drawing276.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Colors" Target="../diagrams/colors276.xml"/><Relationship Id="rId5" Type="http://schemas.openxmlformats.org/officeDocument/2006/relationships/diagramQuickStyle" Target="../diagrams/quickStyle276.xml"/><Relationship Id="rId4" Type="http://schemas.openxmlformats.org/officeDocument/2006/relationships/diagramLayout" Target="../diagrams/layout276.xml"/></Relationships>
</file>

<file path=ppt/slides/_rels/slide282.xml.rels><?xml version="1.0" encoding="UTF-8" standalone="yes"?>
<Relationships xmlns="http://schemas.openxmlformats.org/package/2006/relationships"><Relationship Id="rId3" Type="http://schemas.openxmlformats.org/officeDocument/2006/relationships/diagramData" Target="../diagrams/data277.xml"/><Relationship Id="rId7" Type="http://schemas.microsoft.com/office/2007/relationships/diagramDrawing" Target="../diagrams/drawing277.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diagramColors" Target="../diagrams/colors277.xml"/><Relationship Id="rId5" Type="http://schemas.openxmlformats.org/officeDocument/2006/relationships/diagramQuickStyle" Target="../diagrams/quickStyle277.xml"/><Relationship Id="rId4" Type="http://schemas.openxmlformats.org/officeDocument/2006/relationships/diagramLayout" Target="../diagrams/layout277.xml"/></Relationships>
</file>

<file path=ppt/slides/_rels/slide283.xml.rels><?xml version="1.0" encoding="UTF-8" standalone="yes"?>
<Relationships xmlns="http://schemas.openxmlformats.org/package/2006/relationships"><Relationship Id="rId3" Type="http://schemas.openxmlformats.org/officeDocument/2006/relationships/diagramData" Target="../diagrams/data278.xml"/><Relationship Id="rId7" Type="http://schemas.microsoft.com/office/2007/relationships/diagramDrawing" Target="../diagrams/drawing278.xm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Colors" Target="../diagrams/colors278.xml"/><Relationship Id="rId5" Type="http://schemas.openxmlformats.org/officeDocument/2006/relationships/diagramQuickStyle" Target="../diagrams/quickStyle278.xml"/><Relationship Id="rId4" Type="http://schemas.openxmlformats.org/officeDocument/2006/relationships/diagramLayout" Target="../diagrams/layout278.xml"/></Relationships>
</file>

<file path=ppt/slides/_rels/slide284.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diagramData" Target="../diagrams/data279.xml"/><Relationship Id="rId7" Type="http://schemas.microsoft.com/office/2007/relationships/diagramDrawing" Target="../diagrams/drawing279.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diagramColors" Target="../diagrams/colors279.xml"/><Relationship Id="rId5" Type="http://schemas.openxmlformats.org/officeDocument/2006/relationships/diagramQuickStyle" Target="../diagrams/quickStyle279.xml"/><Relationship Id="rId4" Type="http://schemas.openxmlformats.org/officeDocument/2006/relationships/diagramLayout" Target="../diagrams/layout279.xml"/></Relationships>
</file>

<file path=ppt/slides/_rels/slide285.xml.rels><?xml version="1.0" encoding="UTF-8" standalone="yes"?>
<Relationships xmlns="http://schemas.openxmlformats.org/package/2006/relationships"><Relationship Id="rId3" Type="http://schemas.openxmlformats.org/officeDocument/2006/relationships/diagramData" Target="../diagrams/data280.xml"/><Relationship Id="rId7" Type="http://schemas.microsoft.com/office/2007/relationships/diagramDrawing" Target="../diagrams/drawing280.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Colors" Target="../diagrams/colors280.xml"/><Relationship Id="rId5" Type="http://schemas.openxmlformats.org/officeDocument/2006/relationships/diagramQuickStyle" Target="../diagrams/quickStyle280.xml"/><Relationship Id="rId4" Type="http://schemas.openxmlformats.org/officeDocument/2006/relationships/diagramLayout" Target="../diagrams/layout280.xml"/></Relationships>
</file>

<file path=ppt/slides/_rels/slide286.xml.rels><?xml version="1.0" encoding="UTF-8" standalone="yes"?>
<Relationships xmlns="http://schemas.openxmlformats.org/package/2006/relationships"><Relationship Id="rId3" Type="http://schemas.openxmlformats.org/officeDocument/2006/relationships/diagramData" Target="../diagrams/data281.xml"/><Relationship Id="rId7" Type="http://schemas.microsoft.com/office/2007/relationships/diagramDrawing" Target="../diagrams/drawing281.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281.xml"/><Relationship Id="rId5" Type="http://schemas.openxmlformats.org/officeDocument/2006/relationships/diagramQuickStyle" Target="../diagrams/quickStyle281.xml"/><Relationship Id="rId4" Type="http://schemas.openxmlformats.org/officeDocument/2006/relationships/diagramLayout" Target="../diagrams/layout281.xml"/></Relationships>
</file>

<file path=ppt/slides/_rels/slide287.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diagramData" Target="../diagrams/data282.xml"/><Relationship Id="rId7" Type="http://schemas.microsoft.com/office/2007/relationships/diagramDrawing" Target="../diagrams/drawing282.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Colors" Target="../diagrams/colors282.xml"/><Relationship Id="rId5" Type="http://schemas.openxmlformats.org/officeDocument/2006/relationships/diagramQuickStyle" Target="../diagrams/quickStyle282.xml"/><Relationship Id="rId4" Type="http://schemas.openxmlformats.org/officeDocument/2006/relationships/diagramLayout" Target="../diagrams/layout282.xml"/></Relationships>
</file>

<file path=ppt/slides/_rels/slide288.xml.rels><?xml version="1.0" encoding="UTF-8" standalone="yes"?>
<Relationships xmlns="http://schemas.openxmlformats.org/package/2006/relationships"><Relationship Id="rId3" Type="http://schemas.openxmlformats.org/officeDocument/2006/relationships/diagramData" Target="../diagrams/data283.xml"/><Relationship Id="rId7" Type="http://schemas.microsoft.com/office/2007/relationships/diagramDrawing" Target="../diagrams/drawing283.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283.xml"/><Relationship Id="rId5" Type="http://schemas.openxmlformats.org/officeDocument/2006/relationships/diagramQuickStyle" Target="../diagrams/quickStyle283.xml"/><Relationship Id="rId4" Type="http://schemas.openxmlformats.org/officeDocument/2006/relationships/diagramLayout" Target="../diagrams/layout283.xml"/></Relationships>
</file>

<file path=ppt/slides/_rels/slide289.xml.rels><?xml version="1.0" encoding="UTF-8" standalone="yes"?>
<Relationships xmlns="http://schemas.openxmlformats.org/package/2006/relationships"><Relationship Id="rId3" Type="http://schemas.openxmlformats.org/officeDocument/2006/relationships/diagramData" Target="../diagrams/data284.xml"/><Relationship Id="rId7" Type="http://schemas.microsoft.com/office/2007/relationships/diagramDrawing" Target="../diagrams/drawing284.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Colors" Target="../diagrams/colors284.xml"/><Relationship Id="rId5" Type="http://schemas.openxmlformats.org/officeDocument/2006/relationships/diagramQuickStyle" Target="../diagrams/quickStyle284.xml"/><Relationship Id="rId4" Type="http://schemas.openxmlformats.org/officeDocument/2006/relationships/diagramLayout" Target="../diagrams/layout284.xml"/></Relationships>
</file>

<file path=ppt/slides/_rels/slide290.xml.rels><?xml version="1.0" encoding="UTF-8" standalone="yes"?>
<Relationships xmlns="http://schemas.openxmlformats.org/package/2006/relationships"><Relationship Id="rId3" Type="http://schemas.openxmlformats.org/officeDocument/2006/relationships/diagramData" Target="../diagrams/data285.xml"/><Relationship Id="rId7" Type="http://schemas.microsoft.com/office/2007/relationships/diagramDrawing" Target="../diagrams/drawing285.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285.xml"/><Relationship Id="rId5" Type="http://schemas.openxmlformats.org/officeDocument/2006/relationships/diagramQuickStyle" Target="../diagrams/quickStyle285.xml"/><Relationship Id="rId4" Type="http://schemas.openxmlformats.org/officeDocument/2006/relationships/diagramLayout" Target="../diagrams/layout285.xml"/></Relationships>
</file>

<file path=ppt/slides/_rels/slide291.xml.rels><?xml version="1.0" encoding="UTF-8" standalone="yes"?>
<Relationships xmlns="http://schemas.openxmlformats.org/package/2006/relationships"><Relationship Id="rId3" Type="http://schemas.openxmlformats.org/officeDocument/2006/relationships/diagramData" Target="../diagrams/data286.xml"/><Relationship Id="rId7" Type="http://schemas.microsoft.com/office/2007/relationships/diagramDrawing" Target="../diagrams/drawing286.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286.xml"/><Relationship Id="rId5" Type="http://schemas.openxmlformats.org/officeDocument/2006/relationships/diagramQuickStyle" Target="../diagrams/quickStyle286.xml"/><Relationship Id="rId4" Type="http://schemas.openxmlformats.org/officeDocument/2006/relationships/diagramLayout" Target="../diagrams/layout286.xml"/></Relationships>
</file>

<file path=ppt/slides/_rels/slide292.xml.rels><?xml version="1.0" encoding="UTF-8" standalone="yes"?>
<Relationships xmlns="http://schemas.openxmlformats.org/package/2006/relationships"><Relationship Id="rId3" Type="http://schemas.openxmlformats.org/officeDocument/2006/relationships/diagramData" Target="../diagrams/data287.xml"/><Relationship Id="rId7" Type="http://schemas.microsoft.com/office/2007/relationships/diagramDrawing" Target="../diagrams/drawing287.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287.xml"/><Relationship Id="rId5" Type="http://schemas.openxmlformats.org/officeDocument/2006/relationships/diagramQuickStyle" Target="../diagrams/quickStyle287.xml"/><Relationship Id="rId4" Type="http://schemas.openxmlformats.org/officeDocument/2006/relationships/diagramLayout" Target="../diagrams/layout287.xml"/></Relationships>
</file>

<file path=ppt/slides/_rels/slide293.xml.rels><?xml version="1.0" encoding="UTF-8" standalone="yes"?>
<Relationships xmlns="http://schemas.openxmlformats.org/package/2006/relationships"><Relationship Id="rId3" Type="http://schemas.openxmlformats.org/officeDocument/2006/relationships/diagramData" Target="../diagrams/data288.xml"/><Relationship Id="rId7" Type="http://schemas.microsoft.com/office/2007/relationships/diagramDrawing" Target="../diagrams/drawing288.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diagramColors" Target="../diagrams/colors288.xml"/><Relationship Id="rId5" Type="http://schemas.openxmlformats.org/officeDocument/2006/relationships/diagramQuickStyle" Target="../diagrams/quickStyle288.xml"/><Relationship Id="rId4" Type="http://schemas.openxmlformats.org/officeDocument/2006/relationships/diagramLayout" Target="../diagrams/layout288.xml"/></Relationships>
</file>

<file path=ppt/slides/_rels/slide294.xml.rels><?xml version="1.0" encoding="UTF-8" standalone="yes"?>
<Relationships xmlns="http://schemas.openxmlformats.org/package/2006/relationships"><Relationship Id="rId3" Type="http://schemas.openxmlformats.org/officeDocument/2006/relationships/diagramData" Target="../diagrams/data289.xml"/><Relationship Id="rId7" Type="http://schemas.microsoft.com/office/2007/relationships/diagramDrawing" Target="../diagrams/drawing289.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diagramColors" Target="../diagrams/colors289.xml"/><Relationship Id="rId5" Type="http://schemas.openxmlformats.org/officeDocument/2006/relationships/diagramQuickStyle" Target="../diagrams/quickStyle289.xml"/><Relationship Id="rId4" Type="http://schemas.openxmlformats.org/officeDocument/2006/relationships/diagramLayout" Target="../diagrams/layout289.xml"/></Relationships>
</file>

<file path=ppt/slides/_rels/slide295.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diagramData" Target="../diagrams/data290.xml"/><Relationship Id="rId7" Type="http://schemas.microsoft.com/office/2007/relationships/diagramDrawing" Target="../diagrams/drawing290.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Colors" Target="../diagrams/colors290.xml"/><Relationship Id="rId5" Type="http://schemas.openxmlformats.org/officeDocument/2006/relationships/diagramQuickStyle" Target="../diagrams/quickStyle290.xml"/><Relationship Id="rId4" Type="http://schemas.openxmlformats.org/officeDocument/2006/relationships/diagramLayout" Target="../diagrams/layout290.xml"/></Relationships>
</file>

<file path=ppt/slides/_rels/slide296.xml.rels><?xml version="1.0" encoding="UTF-8" standalone="yes"?>
<Relationships xmlns="http://schemas.openxmlformats.org/package/2006/relationships"><Relationship Id="rId3" Type="http://schemas.openxmlformats.org/officeDocument/2006/relationships/diagramData" Target="../diagrams/data291.xml"/><Relationship Id="rId7" Type="http://schemas.microsoft.com/office/2007/relationships/diagramDrawing" Target="../diagrams/drawing291.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Colors" Target="../diagrams/colors291.xml"/><Relationship Id="rId5" Type="http://schemas.openxmlformats.org/officeDocument/2006/relationships/diagramQuickStyle" Target="../diagrams/quickStyle291.xml"/><Relationship Id="rId4" Type="http://schemas.openxmlformats.org/officeDocument/2006/relationships/diagramLayout" Target="../diagrams/layout291.xml"/></Relationships>
</file>

<file path=ppt/slides/_rels/slide297.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diagramData" Target="../diagrams/data292.xml"/><Relationship Id="rId7" Type="http://schemas.microsoft.com/office/2007/relationships/diagramDrawing" Target="../diagrams/drawing292.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292.xml"/><Relationship Id="rId5" Type="http://schemas.openxmlformats.org/officeDocument/2006/relationships/diagramQuickStyle" Target="../diagrams/quickStyle292.xml"/><Relationship Id="rId4" Type="http://schemas.openxmlformats.org/officeDocument/2006/relationships/diagramLayout" Target="../diagrams/layout292.xml"/></Relationships>
</file>

<file path=ppt/slides/_rels/slide298.xml.rels><?xml version="1.0" encoding="UTF-8" standalone="yes"?>
<Relationships xmlns="http://schemas.openxmlformats.org/package/2006/relationships"><Relationship Id="rId3" Type="http://schemas.openxmlformats.org/officeDocument/2006/relationships/diagramData" Target="../diagrams/data293.xml"/><Relationship Id="rId7" Type="http://schemas.microsoft.com/office/2007/relationships/diagramDrawing" Target="../diagrams/drawing293.xm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diagramColors" Target="../diagrams/colors293.xml"/><Relationship Id="rId5" Type="http://schemas.openxmlformats.org/officeDocument/2006/relationships/diagramQuickStyle" Target="../diagrams/quickStyle293.xml"/><Relationship Id="rId4" Type="http://schemas.openxmlformats.org/officeDocument/2006/relationships/diagramLayout" Target="../diagrams/layout293.xml"/></Relationships>
</file>

<file path=ppt/slides/_rels/slide299.xml.rels><?xml version="1.0" encoding="UTF-8" standalone="yes"?>
<Relationships xmlns="http://schemas.openxmlformats.org/package/2006/relationships"><Relationship Id="rId8" Type="http://schemas.openxmlformats.org/officeDocument/2006/relationships/hyperlink" Target="https://en.wikipedia.org/wiki/Peer-to-peer" TargetMode="External"/><Relationship Id="rId13" Type="http://schemas.openxmlformats.org/officeDocument/2006/relationships/hyperlink" Target="https://onlinecourses.nptel.ac.in/noc20_ee78/preview" TargetMode="External"/><Relationship Id="rId3" Type="http://schemas.openxmlformats.org/officeDocument/2006/relationships/diagramData" Target="../diagrams/data294.xml"/><Relationship Id="rId7" Type="http://schemas.microsoft.com/office/2007/relationships/diagramDrawing" Target="../diagrams/drawing294.xml"/><Relationship Id="rId12" Type="http://schemas.openxmlformats.org/officeDocument/2006/relationships/hyperlink" Target="https://www.youtube.com/@6.824" TargetMode="External"/><Relationship Id="rId17" Type="http://schemas.openxmlformats.org/officeDocument/2006/relationships/hyperlink" Target="https://dl.acm.org/doi/10.1145/863955.863999" TargetMode="External"/><Relationship Id="rId2" Type="http://schemas.openxmlformats.org/officeDocument/2006/relationships/notesSlide" Target="../notesSlides/notesSlide45.xml"/><Relationship Id="rId16" Type="http://schemas.openxmlformats.org/officeDocument/2006/relationships/hyperlink" Target="https://www.quora.com/What-are-good-books-on-P2P-technology/answer/Wolf-Garbe" TargetMode="External"/><Relationship Id="rId1" Type="http://schemas.openxmlformats.org/officeDocument/2006/relationships/slideLayout" Target="../slideLayouts/slideLayout2.xml"/><Relationship Id="rId6" Type="http://schemas.openxmlformats.org/officeDocument/2006/relationships/diagramColors" Target="../diagrams/colors294.xml"/><Relationship Id="rId11" Type="http://schemas.openxmlformats.org/officeDocument/2006/relationships/hyperlink" Target="https://www.geeksforgeeks.org/peer-to-peer-p2p-architecture/" TargetMode="External"/><Relationship Id="rId5" Type="http://schemas.openxmlformats.org/officeDocument/2006/relationships/diagramQuickStyle" Target="../diagrams/quickStyle294.xml"/><Relationship Id="rId15" Type="http://schemas.openxmlformats.org/officeDocument/2006/relationships/hyperlink" Target="https://highscalability.com/gossip-protocol-explained/" TargetMode="External"/><Relationship Id="rId10" Type="http://schemas.openxmlformats.org/officeDocument/2006/relationships/hyperlink" Target="https://www.geeksforgeeks.org/what-is-p2p-peer-to-peer-process/" TargetMode="External"/><Relationship Id="rId4" Type="http://schemas.openxmlformats.org/officeDocument/2006/relationships/diagramLayout" Target="../diagrams/layout294.xml"/><Relationship Id="rId9" Type="http://schemas.openxmlformats.org/officeDocument/2006/relationships/hyperlink" Target="https://www.syncfusion.com/succinctly-free-ebooks/kademlia-protocol-succinctly" TargetMode="External"/><Relationship Id="rId14" Type="http://schemas.openxmlformats.org/officeDocument/2006/relationships/hyperlink" Target="https://www.amazon.in/Cloud-Distributed-Computing-Algorithms-Systems-ebook/dp/B086V7Q2KW" TargetMode="External"/></Relationships>
</file>

<file path=ppt/slides/_rels/slide300.xml.rels><?xml version="1.0" encoding="UTF-8" standalone="yes"?>
<Relationships xmlns="http://schemas.openxmlformats.org/package/2006/relationships"><Relationship Id="rId3" Type="http://schemas.openxmlformats.org/officeDocument/2006/relationships/diagramData" Target="../diagrams/data295.xml"/><Relationship Id="rId7" Type="http://schemas.microsoft.com/office/2007/relationships/diagramDrawing" Target="../diagrams/drawing295.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diagramColors" Target="../diagrams/colors295.xml"/><Relationship Id="rId5" Type="http://schemas.openxmlformats.org/officeDocument/2006/relationships/diagramQuickStyle" Target="../diagrams/quickStyle295.xml"/><Relationship Id="rId4" Type="http://schemas.openxmlformats.org/officeDocument/2006/relationships/diagramLayout" Target="../diagrams/layout295.xml"/></Relationships>
</file>

<file path=ppt/slides/_rels/slide301.xml.rels><?xml version="1.0" encoding="UTF-8" standalone="yes"?>
<Relationships xmlns="http://schemas.openxmlformats.org/package/2006/relationships"><Relationship Id="rId3" Type="http://schemas.openxmlformats.org/officeDocument/2006/relationships/diagramData" Target="../diagrams/data296.xml"/><Relationship Id="rId7" Type="http://schemas.microsoft.com/office/2007/relationships/diagramDrawing" Target="../diagrams/drawing296.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diagramColors" Target="../diagrams/colors296.xml"/><Relationship Id="rId5" Type="http://schemas.openxmlformats.org/officeDocument/2006/relationships/diagramQuickStyle" Target="../diagrams/quickStyle296.xml"/><Relationship Id="rId4" Type="http://schemas.openxmlformats.org/officeDocument/2006/relationships/diagramLayout" Target="../diagrams/layout296.xml"/></Relationships>
</file>

<file path=ppt/slides/_rels/slide302.xml.rels><?xml version="1.0" encoding="UTF-8" standalone="yes"?>
<Relationships xmlns="http://schemas.openxmlformats.org/package/2006/relationships"><Relationship Id="rId3" Type="http://schemas.openxmlformats.org/officeDocument/2006/relationships/diagramData" Target="../diagrams/data297.xml"/><Relationship Id="rId7" Type="http://schemas.microsoft.com/office/2007/relationships/diagramDrawing" Target="../diagrams/drawing297.xm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diagramColors" Target="../diagrams/colors297.xml"/><Relationship Id="rId5" Type="http://schemas.openxmlformats.org/officeDocument/2006/relationships/diagramQuickStyle" Target="../diagrams/quickStyle297.xml"/><Relationship Id="rId4" Type="http://schemas.openxmlformats.org/officeDocument/2006/relationships/diagramLayout" Target="../diagrams/layout297.xml"/></Relationships>
</file>

<file path=ppt/slides/_rels/slide303.xml.rels><?xml version="1.0" encoding="UTF-8" standalone="yes"?>
<Relationships xmlns="http://schemas.openxmlformats.org/package/2006/relationships"><Relationship Id="rId3" Type="http://schemas.openxmlformats.org/officeDocument/2006/relationships/diagramData" Target="../diagrams/data298.xml"/><Relationship Id="rId7" Type="http://schemas.microsoft.com/office/2007/relationships/diagramDrawing" Target="../diagrams/drawing298.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diagramColors" Target="../diagrams/colors298.xml"/><Relationship Id="rId5" Type="http://schemas.openxmlformats.org/officeDocument/2006/relationships/diagramQuickStyle" Target="../diagrams/quickStyle298.xml"/><Relationship Id="rId4" Type="http://schemas.openxmlformats.org/officeDocument/2006/relationships/diagramLayout" Target="../diagrams/layout298.xml"/></Relationships>
</file>

<file path=ppt/slides/_rels/slide304.xml.rels><?xml version="1.0" encoding="UTF-8" standalone="yes"?>
<Relationships xmlns="http://schemas.openxmlformats.org/package/2006/relationships"><Relationship Id="rId3" Type="http://schemas.openxmlformats.org/officeDocument/2006/relationships/diagramData" Target="../diagrams/data299.xml"/><Relationship Id="rId7" Type="http://schemas.microsoft.com/office/2007/relationships/diagramDrawing" Target="../diagrams/drawing299.xm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diagramColors" Target="../diagrams/colors299.xml"/><Relationship Id="rId5" Type="http://schemas.openxmlformats.org/officeDocument/2006/relationships/diagramQuickStyle" Target="../diagrams/quickStyle299.xml"/><Relationship Id="rId4" Type="http://schemas.openxmlformats.org/officeDocument/2006/relationships/diagramLayout" Target="../diagrams/layout299.xml"/></Relationships>
</file>

<file path=ppt/slides/_rels/slide305.xml.rels><?xml version="1.0" encoding="UTF-8" standalone="yes"?>
<Relationships xmlns="http://schemas.openxmlformats.org/package/2006/relationships"><Relationship Id="rId3" Type="http://schemas.openxmlformats.org/officeDocument/2006/relationships/diagramData" Target="../diagrams/data300.xml"/><Relationship Id="rId7" Type="http://schemas.microsoft.com/office/2007/relationships/diagramDrawing" Target="../diagrams/drawing300.xm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diagramColors" Target="../diagrams/colors300.xml"/><Relationship Id="rId5" Type="http://schemas.openxmlformats.org/officeDocument/2006/relationships/diagramQuickStyle" Target="../diagrams/quickStyle300.xml"/><Relationship Id="rId4" Type="http://schemas.openxmlformats.org/officeDocument/2006/relationships/diagramLayout" Target="../diagrams/layout300.xml"/></Relationships>
</file>

<file path=ppt/slides/_rels/slide306.xml.rels><?xml version="1.0" encoding="UTF-8" standalone="yes"?>
<Relationships xmlns="http://schemas.openxmlformats.org/package/2006/relationships"><Relationship Id="rId3" Type="http://schemas.openxmlformats.org/officeDocument/2006/relationships/diagramData" Target="../diagrams/data301.xml"/><Relationship Id="rId7" Type="http://schemas.microsoft.com/office/2007/relationships/diagramDrawing" Target="../diagrams/drawing301.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diagramColors" Target="../diagrams/colors301.xml"/><Relationship Id="rId5" Type="http://schemas.openxmlformats.org/officeDocument/2006/relationships/diagramQuickStyle" Target="../diagrams/quickStyle301.xml"/><Relationship Id="rId4" Type="http://schemas.openxmlformats.org/officeDocument/2006/relationships/diagramLayout" Target="../diagrams/layout301.xml"/></Relationships>
</file>

<file path=ppt/slides/_rels/slide307.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diagramData" Target="../diagrams/data302.xml"/><Relationship Id="rId7" Type="http://schemas.microsoft.com/office/2007/relationships/diagramDrawing" Target="../diagrams/drawing302.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diagramColors" Target="../diagrams/colors302.xml"/><Relationship Id="rId5" Type="http://schemas.openxmlformats.org/officeDocument/2006/relationships/diagramQuickStyle" Target="../diagrams/quickStyle302.xml"/><Relationship Id="rId4" Type="http://schemas.openxmlformats.org/officeDocument/2006/relationships/diagramLayout" Target="../diagrams/layout302.xml"/></Relationships>
</file>

<file path=ppt/slides/_rels/slide308.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diagramData" Target="../diagrams/data303.xml"/><Relationship Id="rId7" Type="http://schemas.microsoft.com/office/2007/relationships/diagramDrawing" Target="../diagrams/drawing303.xm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diagramColors" Target="../diagrams/colors303.xml"/><Relationship Id="rId5" Type="http://schemas.openxmlformats.org/officeDocument/2006/relationships/diagramQuickStyle" Target="../diagrams/quickStyle303.xml"/><Relationship Id="rId4" Type="http://schemas.openxmlformats.org/officeDocument/2006/relationships/diagramLayout" Target="../diagrams/layout303.xml"/></Relationships>
</file>

<file path=ppt/slides/_rels/slide309.xml.rels><?xml version="1.0" encoding="UTF-8" standalone="yes"?>
<Relationships xmlns="http://schemas.openxmlformats.org/package/2006/relationships"><Relationship Id="rId3" Type="http://schemas.openxmlformats.org/officeDocument/2006/relationships/diagramData" Target="../diagrams/data304.xml"/><Relationship Id="rId7" Type="http://schemas.microsoft.com/office/2007/relationships/diagramDrawing" Target="../diagrams/drawing304.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304.xml"/><Relationship Id="rId5" Type="http://schemas.openxmlformats.org/officeDocument/2006/relationships/diagramQuickStyle" Target="../diagrams/quickStyle304.xml"/><Relationship Id="rId4" Type="http://schemas.openxmlformats.org/officeDocument/2006/relationships/diagramLayout" Target="../diagrams/layout304.xml"/></Relationships>
</file>

<file path=ppt/slides/_rels/slide310.xml.rels><?xml version="1.0" encoding="UTF-8" standalone="yes"?>
<Relationships xmlns="http://schemas.openxmlformats.org/package/2006/relationships"><Relationship Id="rId3" Type="http://schemas.openxmlformats.org/officeDocument/2006/relationships/diagramData" Target="../diagrams/data305.xml"/><Relationship Id="rId7" Type="http://schemas.microsoft.com/office/2007/relationships/diagramDrawing" Target="../diagrams/drawing305.xm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diagramColors" Target="../diagrams/colors305.xml"/><Relationship Id="rId5" Type="http://schemas.openxmlformats.org/officeDocument/2006/relationships/diagramQuickStyle" Target="../diagrams/quickStyle305.xml"/><Relationship Id="rId4" Type="http://schemas.openxmlformats.org/officeDocument/2006/relationships/diagramLayout" Target="../diagrams/layout305.xml"/></Relationships>
</file>

<file path=ppt/slides/_rels/slide311.xml.rels><?xml version="1.0" encoding="UTF-8" standalone="yes"?>
<Relationships xmlns="http://schemas.openxmlformats.org/package/2006/relationships"><Relationship Id="rId3" Type="http://schemas.openxmlformats.org/officeDocument/2006/relationships/diagramData" Target="../diagrams/data306.xml"/><Relationship Id="rId7" Type="http://schemas.microsoft.com/office/2007/relationships/diagramDrawing" Target="../diagrams/drawing306.xm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diagramColors" Target="../diagrams/colors306.xml"/><Relationship Id="rId5" Type="http://schemas.openxmlformats.org/officeDocument/2006/relationships/diagramQuickStyle" Target="../diagrams/quickStyle306.xml"/><Relationship Id="rId4" Type="http://schemas.openxmlformats.org/officeDocument/2006/relationships/diagramLayout" Target="../diagrams/layout306.xml"/></Relationships>
</file>

<file path=ppt/slides/_rels/slide312.xml.rels><?xml version="1.0" encoding="UTF-8" standalone="yes"?>
<Relationships xmlns="http://schemas.openxmlformats.org/package/2006/relationships"><Relationship Id="rId3" Type="http://schemas.openxmlformats.org/officeDocument/2006/relationships/diagramData" Target="../diagrams/data307.xml"/><Relationship Id="rId7" Type="http://schemas.microsoft.com/office/2007/relationships/diagramDrawing" Target="../diagrams/drawing307.xm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diagramColors" Target="../diagrams/colors307.xml"/><Relationship Id="rId5" Type="http://schemas.openxmlformats.org/officeDocument/2006/relationships/diagramQuickStyle" Target="../diagrams/quickStyle307.xml"/><Relationship Id="rId4" Type="http://schemas.openxmlformats.org/officeDocument/2006/relationships/diagramLayout" Target="../diagrams/layout307.xml"/></Relationships>
</file>

<file path=ppt/slides/_rels/slide313.xml.rels><?xml version="1.0" encoding="UTF-8" standalone="yes"?>
<Relationships xmlns="http://schemas.openxmlformats.org/package/2006/relationships"><Relationship Id="rId3" Type="http://schemas.openxmlformats.org/officeDocument/2006/relationships/diagramData" Target="../diagrams/data308.xml"/><Relationship Id="rId7" Type="http://schemas.microsoft.com/office/2007/relationships/diagramDrawing" Target="../diagrams/drawing308.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308.xml"/><Relationship Id="rId5" Type="http://schemas.openxmlformats.org/officeDocument/2006/relationships/diagramQuickStyle" Target="../diagrams/quickStyle308.xml"/><Relationship Id="rId4" Type="http://schemas.openxmlformats.org/officeDocument/2006/relationships/diagramLayout" Target="../diagrams/layout308.xml"/></Relationships>
</file>

<file path=ppt/slides/_rels/slide314.xml.rels><?xml version="1.0" encoding="UTF-8" standalone="yes"?>
<Relationships xmlns="http://schemas.openxmlformats.org/package/2006/relationships"><Relationship Id="rId3" Type="http://schemas.openxmlformats.org/officeDocument/2006/relationships/diagramData" Target="../diagrams/data309.xml"/><Relationship Id="rId7" Type="http://schemas.microsoft.com/office/2007/relationships/diagramDrawing" Target="../diagrams/drawing309.xm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diagramColors" Target="../diagrams/colors309.xml"/><Relationship Id="rId5" Type="http://schemas.openxmlformats.org/officeDocument/2006/relationships/diagramQuickStyle" Target="../diagrams/quickStyle309.xml"/><Relationship Id="rId4" Type="http://schemas.openxmlformats.org/officeDocument/2006/relationships/diagramLayout" Target="../diagrams/layout309.xml"/></Relationships>
</file>

<file path=ppt/slides/_rels/slide315.xml.rels><?xml version="1.0" encoding="UTF-8" standalone="yes"?>
<Relationships xmlns="http://schemas.openxmlformats.org/package/2006/relationships"><Relationship Id="rId3" Type="http://schemas.openxmlformats.org/officeDocument/2006/relationships/diagramData" Target="../diagrams/data310.xml"/><Relationship Id="rId7" Type="http://schemas.microsoft.com/office/2007/relationships/diagramDrawing" Target="../diagrams/drawing310.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diagramColors" Target="../diagrams/colors310.xml"/><Relationship Id="rId5" Type="http://schemas.openxmlformats.org/officeDocument/2006/relationships/diagramQuickStyle" Target="../diagrams/quickStyle310.xml"/><Relationship Id="rId4" Type="http://schemas.openxmlformats.org/officeDocument/2006/relationships/diagramLayout" Target="../diagrams/layout310.xml"/></Relationships>
</file>

<file path=ppt/slides/_rels/slide316.xml.rels><?xml version="1.0" encoding="UTF-8" standalone="yes"?>
<Relationships xmlns="http://schemas.openxmlformats.org/package/2006/relationships"><Relationship Id="rId3" Type="http://schemas.openxmlformats.org/officeDocument/2006/relationships/diagramData" Target="../diagrams/data311.xml"/><Relationship Id="rId7" Type="http://schemas.microsoft.com/office/2007/relationships/diagramDrawing" Target="../diagrams/drawing311.xm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diagramColors" Target="../diagrams/colors311.xml"/><Relationship Id="rId5" Type="http://schemas.openxmlformats.org/officeDocument/2006/relationships/diagramQuickStyle" Target="../diagrams/quickStyle311.xml"/><Relationship Id="rId4" Type="http://schemas.openxmlformats.org/officeDocument/2006/relationships/diagramLayout" Target="../diagrams/layout311.xml"/></Relationships>
</file>

<file path=ppt/slides/_rels/slide317.xml.rels><?xml version="1.0" encoding="UTF-8" standalone="yes"?>
<Relationships xmlns="http://schemas.openxmlformats.org/package/2006/relationships"><Relationship Id="rId8" Type="http://schemas.openxmlformats.org/officeDocument/2006/relationships/hyperlink" Target="https://www.geeksforgeeks.org/types-of-blockchain/" TargetMode="External"/><Relationship Id="rId13" Type="http://schemas.openxmlformats.org/officeDocument/2006/relationships/hyperlink" Target="https://github.com/kallerosenbaum/grokkingbitcoin" TargetMode="External"/><Relationship Id="rId3" Type="http://schemas.openxmlformats.org/officeDocument/2006/relationships/diagramData" Target="../diagrams/data312.xml"/><Relationship Id="rId7" Type="http://schemas.microsoft.com/office/2007/relationships/diagramDrawing" Target="../diagrams/drawing312.xml"/><Relationship Id="rId12" Type="http://schemas.openxmlformats.org/officeDocument/2006/relationships/hyperlink" Target="https://roadmap.sh/blockchain" TargetMode="Externa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diagramColors" Target="../diagrams/colors312.xml"/><Relationship Id="rId11" Type="http://schemas.openxmlformats.org/officeDocument/2006/relationships/hyperlink" Target="https://blog.cfte.education/types-of-digital-assets-explained/" TargetMode="External"/><Relationship Id="rId5" Type="http://schemas.openxmlformats.org/officeDocument/2006/relationships/diagramQuickStyle" Target="../diagrams/quickStyle312.xml"/><Relationship Id="rId15" Type="http://schemas.openxmlformats.org/officeDocument/2006/relationships/hyperlink" Target="https://github.com/PacktPublishing/Mastering-Blockchain-Fourth-Edition" TargetMode="External"/><Relationship Id="rId10" Type="http://schemas.openxmlformats.org/officeDocument/2006/relationships/hyperlink" Target="https://cybersecurity.springeropen.com/articles/10.1186/s42400-023-00163-y" TargetMode="External"/><Relationship Id="rId4" Type="http://schemas.openxmlformats.org/officeDocument/2006/relationships/diagramLayout" Target="../diagrams/layout312.xml"/><Relationship Id="rId9" Type="http://schemas.openxmlformats.org/officeDocument/2006/relationships/hyperlink" Target="https://www.scalingparrots.com/en/blockchain-consensus-algorithm/" TargetMode="External"/><Relationship Id="rId14" Type="http://schemas.openxmlformats.org/officeDocument/2006/relationships/hyperlink" Target="https://www.amazon.in/Blockchain-Applications-Hands-Arshdeep-Bahga/dp/0996025588" TargetMode="External"/></Relationships>
</file>

<file path=ppt/slides/_rels/slide318.xml.rels><?xml version="1.0" encoding="UTF-8" standalone="yes"?>
<Relationships xmlns="http://schemas.openxmlformats.org/package/2006/relationships"><Relationship Id="rId8" Type="http://schemas.openxmlformats.org/officeDocument/2006/relationships/hyperlink" Target="https://learn.microsoft.com/en-us/azure/architecture/patterns/queue-based-load-leveling" TargetMode="External"/><Relationship Id="rId3" Type="http://schemas.openxmlformats.org/officeDocument/2006/relationships/diagramData" Target="../diagrams/data313.xml"/><Relationship Id="rId7" Type="http://schemas.microsoft.com/office/2007/relationships/diagramDrawing" Target="../diagrams/drawing313.xm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diagramColors" Target="../diagrams/colors313.xml"/><Relationship Id="rId5" Type="http://schemas.openxmlformats.org/officeDocument/2006/relationships/diagramQuickStyle" Target="../diagrams/quickStyle313.xml"/><Relationship Id="rId4" Type="http://schemas.openxmlformats.org/officeDocument/2006/relationships/diagramLayout" Target="../diagrams/layout313.xml"/></Relationships>
</file>

<file path=ppt/slides/_rels/slide319.xml.rels><?xml version="1.0" encoding="UTF-8" standalone="yes"?>
<Relationships xmlns="http://schemas.openxmlformats.org/package/2006/relationships"><Relationship Id="rId8" Type="http://schemas.openxmlformats.org/officeDocument/2006/relationships/hyperlink" Target="https://stackoverflow.com/questions/40571581/what-is-the-difference-between-forever-frame-and-server-sent-events" TargetMode="External"/><Relationship Id="rId3" Type="http://schemas.openxmlformats.org/officeDocument/2006/relationships/diagramLayout" Target="../diagrams/layout314.xml"/><Relationship Id="rId7" Type="http://schemas.openxmlformats.org/officeDocument/2006/relationships/image" Target="../media/image97.png"/><Relationship Id="rId2" Type="http://schemas.openxmlformats.org/officeDocument/2006/relationships/diagramData" Target="../diagrams/data314.xml"/><Relationship Id="rId1" Type="http://schemas.openxmlformats.org/officeDocument/2006/relationships/slideLayout" Target="../slideLayouts/slideLayout2.xml"/><Relationship Id="rId6" Type="http://schemas.microsoft.com/office/2007/relationships/diagramDrawing" Target="../diagrams/drawing314.xml"/><Relationship Id="rId5" Type="http://schemas.openxmlformats.org/officeDocument/2006/relationships/diagramColors" Target="../diagrams/colors314.xml"/><Relationship Id="rId4" Type="http://schemas.openxmlformats.org/officeDocument/2006/relationships/diagramQuickStyle" Target="../diagrams/quickStyle314.xml"/></Relationships>
</file>

<file path=ppt/slides/_rels/slide320.xml.rels><?xml version="1.0" encoding="UTF-8" standalone="yes"?>
<Relationships xmlns="http://schemas.openxmlformats.org/package/2006/relationships"><Relationship Id="rId8" Type="http://schemas.openxmlformats.org/officeDocument/2006/relationships/image" Target="../media/image98.png"/><Relationship Id="rId13" Type="http://schemas.openxmlformats.org/officeDocument/2006/relationships/hyperlink" Target="https://asp-blogs.azurewebsites.net/ricardoperes/video-streaming-with-asp-net-signalr-and-html5" TargetMode="External"/><Relationship Id="rId3" Type="http://schemas.openxmlformats.org/officeDocument/2006/relationships/diagramData" Target="../diagrams/data315.xml"/><Relationship Id="rId7" Type="http://schemas.microsoft.com/office/2007/relationships/diagramDrawing" Target="../diagrams/drawing315.xml"/><Relationship Id="rId12" Type="http://schemas.openxmlformats.org/officeDocument/2006/relationships/hyperlink" Target="https://learn.microsoft.com/en-us/aspnet/core/signalr/configuration?view=aspnetcore-8.0&amp;tabs=dotnet" TargetMode="Externa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diagramColors" Target="../diagrams/colors315.xml"/><Relationship Id="rId11" Type="http://schemas.openxmlformats.org/officeDocument/2006/relationships/hyperlink" Target="https://www.codeproject.com/Articles/883702/Real-Time-Notifications-using-SignalR-and-SQL-Depe" TargetMode="External"/><Relationship Id="rId5" Type="http://schemas.openxmlformats.org/officeDocument/2006/relationships/diagramQuickStyle" Target="../diagrams/quickStyle315.xml"/><Relationship Id="rId10" Type="http://schemas.openxmlformats.org/officeDocument/2006/relationships/hyperlink" Target="https://stackoverflow.com/questions/9280484/signalr-why-choose-hub-vs-persistent-connection" TargetMode="External"/><Relationship Id="rId4" Type="http://schemas.openxmlformats.org/officeDocument/2006/relationships/diagramLayout" Target="../diagrams/layout315.xml"/><Relationship Id="rId9" Type="http://schemas.openxmlformats.org/officeDocument/2006/relationships/hyperlink" Target="https://www.infoworld.com/article/2266485/how-to-use-signalr-in-aspnet-core.html" TargetMode="External"/><Relationship Id="rId14" Type="http://schemas.openxmlformats.org/officeDocument/2006/relationships/hyperlink" Target="https://stackoverflow.com/questions/18799364/webrtc-vs-websocket-if-webrtc-can-do-video-audio-and-data-why-do-i-need-webs" TargetMode="External"/></Relationships>
</file>

<file path=ppt/slides/_rels/slide321.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diagramLayout" Target="../diagrams/layout316.xml"/><Relationship Id="rId7" Type="http://schemas.openxmlformats.org/officeDocument/2006/relationships/hyperlink" Target="https://learn.microsoft.com/en-us/aspnet/core/signalr/scale?view=aspnetcore-8.0" TargetMode="External"/><Relationship Id="rId2" Type="http://schemas.openxmlformats.org/officeDocument/2006/relationships/diagramData" Target="../diagrams/data316.xml"/><Relationship Id="rId1" Type="http://schemas.openxmlformats.org/officeDocument/2006/relationships/slideLayout" Target="../slideLayouts/slideLayout2.xml"/><Relationship Id="rId6" Type="http://schemas.microsoft.com/office/2007/relationships/diagramDrawing" Target="../diagrams/drawing316.xml"/><Relationship Id="rId5" Type="http://schemas.openxmlformats.org/officeDocument/2006/relationships/diagramColors" Target="../diagrams/colors316.xml"/><Relationship Id="rId4" Type="http://schemas.openxmlformats.org/officeDocument/2006/relationships/diagramQuickStyle" Target="../diagrams/quickStyle316.xml"/></Relationships>
</file>

<file path=ppt/slides/_rels/slide322.xml.rels><?xml version="1.0" encoding="UTF-8" standalone="yes"?>
<Relationships xmlns="http://schemas.openxmlformats.org/package/2006/relationships"><Relationship Id="rId3" Type="http://schemas.openxmlformats.org/officeDocument/2006/relationships/diagramLayout" Target="../diagrams/layout317.xml"/><Relationship Id="rId2" Type="http://schemas.openxmlformats.org/officeDocument/2006/relationships/diagramData" Target="../diagrams/data317.xml"/><Relationship Id="rId1" Type="http://schemas.openxmlformats.org/officeDocument/2006/relationships/slideLayout" Target="../slideLayouts/slideLayout2.xml"/><Relationship Id="rId6" Type="http://schemas.microsoft.com/office/2007/relationships/diagramDrawing" Target="../diagrams/drawing317.xml"/><Relationship Id="rId5" Type="http://schemas.openxmlformats.org/officeDocument/2006/relationships/diagramColors" Target="../diagrams/colors317.xml"/><Relationship Id="rId4" Type="http://schemas.openxmlformats.org/officeDocument/2006/relationships/diagramQuickStyle" Target="../diagrams/quickStyle317.xml"/></Relationships>
</file>

<file path=ppt/slides/_rels/slide323.xml.rels><?xml version="1.0" encoding="UTF-8" standalone="yes"?>
<Relationships xmlns="http://schemas.openxmlformats.org/package/2006/relationships"><Relationship Id="rId3" Type="http://schemas.openxmlformats.org/officeDocument/2006/relationships/diagramLayout" Target="../diagrams/layout318.xml"/><Relationship Id="rId2" Type="http://schemas.openxmlformats.org/officeDocument/2006/relationships/diagramData" Target="../diagrams/data318.xml"/><Relationship Id="rId1" Type="http://schemas.openxmlformats.org/officeDocument/2006/relationships/slideLayout" Target="../slideLayouts/slideLayout2.xml"/><Relationship Id="rId6" Type="http://schemas.microsoft.com/office/2007/relationships/diagramDrawing" Target="../diagrams/drawing318.xml"/><Relationship Id="rId5" Type="http://schemas.openxmlformats.org/officeDocument/2006/relationships/diagramColors" Target="../diagrams/colors318.xml"/><Relationship Id="rId4" Type="http://schemas.openxmlformats.org/officeDocument/2006/relationships/diagramQuickStyle" Target="../diagrams/quickStyle318.xml"/></Relationships>
</file>

<file path=ppt/slides/_rels/slide324.xml.rels><?xml version="1.0" encoding="UTF-8" standalone="yes"?>
<Relationships xmlns="http://schemas.openxmlformats.org/package/2006/relationships"><Relationship Id="rId3" Type="http://schemas.openxmlformats.org/officeDocument/2006/relationships/diagramLayout" Target="../diagrams/layout319.xml"/><Relationship Id="rId2" Type="http://schemas.openxmlformats.org/officeDocument/2006/relationships/diagramData" Target="../diagrams/data319.xml"/><Relationship Id="rId1" Type="http://schemas.openxmlformats.org/officeDocument/2006/relationships/slideLayout" Target="../slideLayouts/slideLayout2.xml"/><Relationship Id="rId6" Type="http://schemas.microsoft.com/office/2007/relationships/diagramDrawing" Target="../diagrams/drawing319.xml"/><Relationship Id="rId5" Type="http://schemas.openxmlformats.org/officeDocument/2006/relationships/diagramColors" Target="../diagrams/colors319.xml"/><Relationship Id="rId4" Type="http://schemas.openxmlformats.org/officeDocument/2006/relationships/diagramQuickStyle" Target="../diagrams/quickStyle319.xml"/></Relationships>
</file>

<file path=ppt/slides/_rels/slide325.xml.rels><?xml version="1.0" encoding="UTF-8" standalone="yes"?>
<Relationships xmlns="http://schemas.openxmlformats.org/package/2006/relationships"><Relationship Id="rId3" Type="http://schemas.openxmlformats.org/officeDocument/2006/relationships/diagramLayout" Target="../diagrams/layout320.xml"/><Relationship Id="rId2" Type="http://schemas.openxmlformats.org/officeDocument/2006/relationships/diagramData" Target="../diagrams/data320.xml"/><Relationship Id="rId1" Type="http://schemas.openxmlformats.org/officeDocument/2006/relationships/slideLayout" Target="../slideLayouts/slideLayout2.xml"/><Relationship Id="rId6" Type="http://schemas.microsoft.com/office/2007/relationships/diagramDrawing" Target="../diagrams/drawing320.xml"/><Relationship Id="rId5" Type="http://schemas.openxmlformats.org/officeDocument/2006/relationships/diagramColors" Target="../diagrams/colors320.xml"/><Relationship Id="rId4" Type="http://schemas.openxmlformats.org/officeDocument/2006/relationships/diagramQuickStyle" Target="../diagrams/quickStyle320.xml"/></Relationships>
</file>

<file path=ppt/slides/_rels/slide326.xml.rels><?xml version="1.0" encoding="UTF-8" standalone="yes"?>
<Relationships xmlns="http://schemas.openxmlformats.org/package/2006/relationships"><Relationship Id="rId3" Type="http://schemas.openxmlformats.org/officeDocument/2006/relationships/diagramLayout" Target="../diagrams/layout321.xml"/><Relationship Id="rId2" Type="http://schemas.openxmlformats.org/officeDocument/2006/relationships/diagramData" Target="../diagrams/data321.xml"/><Relationship Id="rId1" Type="http://schemas.openxmlformats.org/officeDocument/2006/relationships/slideLayout" Target="../slideLayouts/slideLayout2.xml"/><Relationship Id="rId6" Type="http://schemas.microsoft.com/office/2007/relationships/diagramDrawing" Target="../diagrams/drawing321.xml"/><Relationship Id="rId5" Type="http://schemas.openxmlformats.org/officeDocument/2006/relationships/diagramColors" Target="../diagrams/colors321.xml"/><Relationship Id="rId4" Type="http://schemas.openxmlformats.org/officeDocument/2006/relationships/diagramQuickStyle" Target="../diagrams/quickStyle321.xml"/></Relationships>
</file>

<file path=ppt/slides/_rels/slide327.xml.rels><?xml version="1.0" encoding="UTF-8" standalone="yes"?>
<Relationships xmlns="http://schemas.openxmlformats.org/package/2006/relationships"><Relationship Id="rId3" Type="http://schemas.openxmlformats.org/officeDocument/2006/relationships/diagramLayout" Target="../diagrams/layout322.xml"/><Relationship Id="rId2" Type="http://schemas.openxmlformats.org/officeDocument/2006/relationships/diagramData" Target="../diagrams/data322.xml"/><Relationship Id="rId1" Type="http://schemas.openxmlformats.org/officeDocument/2006/relationships/slideLayout" Target="../slideLayouts/slideLayout2.xml"/><Relationship Id="rId6" Type="http://schemas.microsoft.com/office/2007/relationships/diagramDrawing" Target="../diagrams/drawing322.xml"/><Relationship Id="rId5" Type="http://schemas.openxmlformats.org/officeDocument/2006/relationships/diagramColors" Target="../diagrams/colors322.xml"/><Relationship Id="rId4" Type="http://schemas.openxmlformats.org/officeDocument/2006/relationships/diagramQuickStyle" Target="../diagrams/quickStyle322.xml"/></Relationships>
</file>

<file path=ppt/slides/_rels/slide328.xml.rels><?xml version="1.0" encoding="UTF-8" standalone="yes"?>
<Relationships xmlns="http://schemas.openxmlformats.org/package/2006/relationships"><Relationship Id="rId3" Type="http://schemas.openxmlformats.org/officeDocument/2006/relationships/diagramLayout" Target="../diagrams/layout323.xml"/><Relationship Id="rId2" Type="http://schemas.openxmlformats.org/officeDocument/2006/relationships/diagramData" Target="../diagrams/data323.xml"/><Relationship Id="rId1" Type="http://schemas.openxmlformats.org/officeDocument/2006/relationships/slideLayout" Target="../slideLayouts/slideLayout2.xml"/><Relationship Id="rId6" Type="http://schemas.microsoft.com/office/2007/relationships/diagramDrawing" Target="../diagrams/drawing323.xml"/><Relationship Id="rId5" Type="http://schemas.openxmlformats.org/officeDocument/2006/relationships/diagramColors" Target="../diagrams/colors323.xml"/><Relationship Id="rId4" Type="http://schemas.openxmlformats.org/officeDocument/2006/relationships/diagramQuickStyle" Target="../diagrams/quickStyle323.xml"/></Relationships>
</file>

<file path=ppt/slides/_rels/slide329.xml.rels><?xml version="1.0" encoding="UTF-8" standalone="yes"?>
<Relationships xmlns="http://schemas.openxmlformats.org/package/2006/relationships"><Relationship Id="rId8" Type="http://schemas.openxmlformats.org/officeDocument/2006/relationships/image" Target="../media/image101.png"/><Relationship Id="rId3" Type="http://schemas.openxmlformats.org/officeDocument/2006/relationships/diagramLayout" Target="../diagrams/layout324.xml"/><Relationship Id="rId7" Type="http://schemas.openxmlformats.org/officeDocument/2006/relationships/image" Target="../media/image100.png"/><Relationship Id="rId2" Type="http://schemas.openxmlformats.org/officeDocument/2006/relationships/diagramData" Target="../diagrams/data324.xml"/><Relationship Id="rId1" Type="http://schemas.openxmlformats.org/officeDocument/2006/relationships/slideLayout" Target="../slideLayouts/slideLayout2.xml"/><Relationship Id="rId6" Type="http://schemas.microsoft.com/office/2007/relationships/diagramDrawing" Target="../diagrams/drawing324.xml"/><Relationship Id="rId5" Type="http://schemas.openxmlformats.org/officeDocument/2006/relationships/diagramColors" Target="../diagrams/colors324.xml"/><Relationship Id="rId4" Type="http://schemas.openxmlformats.org/officeDocument/2006/relationships/diagramQuickStyle" Target="../diagrams/quickStyle324.xml"/></Relationships>
</file>

<file path=ppt/slides/_rels/slide330.xml.rels><?xml version="1.0" encoding="UTF-8" standalone="yes"?>
<Relationships xmlns="http://schemas.openxmlformats.org/package/2006/relationships"><Relationship Id="rId3" Type="http://schemas.openxmlformats.org/officeDocument/2006/relationships/diagramLayout" Target="../diagrams/layout325.xml"/><Relationship Id="rId2" Type="http://schemas.openxmlformats.org/officeDocument/2006/relationships/diagramData" Target="../diagrams/data325.xml"/><Relationship Id="rId1" Type="http://schemas.openxmlformats.org/officeDocument/2006/relationships/slideLayout" Target="../slideLayouts/slideLayout2.xml"/><Relationship Id="rId6" Type="http://schemas.microsoft.com/office/2007/relationships/diagramDrawing" Target="../diagrams/drawing325.xml"/><Relationship Id="rId5" Type="http://schemas.openxmlformats.org/officeDocument/2006/relationships/diagramColors" Target="../diagrams/colors325.xml"/><Relationship Id="rId4" Type="http://schemas.openxmlformats.org/officeDocument/2006/relationships/diagramQuickStyle" Target="../diagrams/quickStyle325.xml"/></Relationships>
</file>

<file path=ppt/slides/_rels/slide331.xml.rels><?xml version="1.0" encoding="UTF-8" standalone="yes"?>
<Relationships xmlns="http://schemas.openxmlformats.org/package/2006/relationships"><Relationship Id="rId3" Type="http://schemas.openxmlformats.org/officeDocument/2006/relationships/diagramLayout" Target="../diagrams/layout326.xml"/><Relationship Id="rId2" Type="http://schemas.openxmlformats.org/officeDocument/2006/relationships/diagramData" Target="../diagrams/data326.xml"/><Relationship Id="rId1" Type="http://schemas.openxmlformats.org/officeDocument/2006/relationships/slideLayout" Target="../slideLayouts/slideLayout2.xml"/><Relationship Id="rId6" Type="http://schemas.microsoft.com/office/2007/relationships/diagramDrawing" Target="../diagrams/drawing326.xml"/><Relationship Id="rId5" Type="http://schemas.openxmlformats.org/officeDocument/2006/relationships/diagramColors" Target="../diagrams/colors326.xml"/><Relationship Id="rId4" Type="http://schemas.openxmlformats.org/officeDocument/2006/relationships/diagramQuickStyle" Target="../diagrams/quickStyle326.xml"/></Relationships>
</file>

<file path=ppt/slides/_rels/slide332.xml.rels><?xml version="1.0" encoding="UTF-8" standalone="yes"?>
<Relationships xmlns="http://schemas.openxmlformats.org/package/2006/relationships"><Relationship Id="rId3" Type="http://schemas.openxmlformats.org/officeDocument/2006/relationships/diagramLayout" Target="../diagrams/layout327.xml"/><Relationship Id="rId2" Type="http://schemas.openxmlformats.org/officeDocument/2006/relationships/diagramData" Target="../diagrams/data327.xml"/><Relationship Id="rId1" Type="http://schemas.openxmlformats.org/officeDocument/2006/relationships/slideLayout" Target="../slideLayouts/slideLayout2.xml"/><Relationship Id="rId6" Type="http://schemas.microsoft.com/office/2007/relationships/diagramDrawing" Target="../diagrams/drawing327.xml"/><Relationship Id="rId5" Type="http://schemas.openxmlformats.org/officeDocument/2006/relationships/diagramColors" Target="../diagrams/colors327.xml"/><Relationship Id="rId4" Type="http://schemas.openxmlformats.org/officeDocument/2006/relationships/diagramQuickStyle" Target="../diagrams/quickStyle327.xml"/></Relationships>
</file>

<file path=ppt/slides/_rels/slide333.xml.rels><?xml version="1.0" encoding="UTF-8" standalone="yes"?>
<Relationships xmlns="http://schemas.openxmlformats.org/package/2006/relationships"><Relationship Id="rId3" Type="http://schemas.openxmlformats.org/officeDocument/2006/relationships/diagramLayout" Target="../diagrams/layout328.xml"/><Relationship Id="rId2" Type="http://schemas.openxmlformats.org/officeDocument/2006/relationships/diagramData" Target="../diagrams/data328.xml"/><Relationship Id="rId1" Type="http://schemas.openxmlformats.org/officeDocument/2006/relationships/slideLayout" Target="../slideLayouts/slideLayout2.xml"/><Relationship Id="rId6" Type="http://schemas.microsoft.com/office/2007/relationships/diagramDrawing" Target="../diagrams/drawing328.xml"/><Relationship Id="rId5" Type="http://schemas.openxmlformats.org/officeDocument/2006/relationships/diagramColors" Target="../diagrams/colors328.xml"/><Relationship Id="rId4" Type="http://schemas.openxmlformats.org/officeDocument/2006/relationships/diagramQuickStyle" Target="../diagrams/quickStyle328.xml"/></Relationships>
</file>

<file path=ppt/slides/_rels/slide334.xml.rels><?xml version="1.0" encoding="UTF-8" standalone="yes"?>
<Relationships xmlns="http://schemas.openxmlformats.org/package/2006/relationships"><Relationship Id="rId8" Type="http://schemas.openxmlformats.org/officeDocument/2006/relationships/hyperlink" Target="https://www.grss-ieee.org/resources/tutorials/remote-sensing-tutorial-in-spanish-french-portuguese-and-english/" TargetMode="External"/><Relationship Id="rId3" Type="http://schemas.openxmlformats.org/officeDocument/2006/relationships/diagramLayout" Target="../diagrams/layout329.xml"/><Relationship Id="rId7" Type="http://schemas.openxmlformats.org/officeDocument/2006/relationships/hyperlink" Target="https://www.earthdata.nasa.gov/learn/earth-observation-data-basics/remote-sensing" TargetMode="External"/><Relationship Id="rId2" Type="http://schemas.openxmlformats.org/officeDocument/2006/relationships/diagramData" Target="../diagrams/data329.xml"/><Relationship Id="rId1" Type="http://schemas.openxmlformats.org/officeDocument/2006/relationships/slideLayout" Target="../slideLayouts/slideLayout2.xml"/><Relationship Id="rId6" Type="http://schemas.microsoft.com/office/2007/relationships/diagramDrawing" Target="../diagrams/drawing329.xml"/><Relationship Id="rId11" Type="http://schemas.openxmlformats.org/officeDocument/2006/relationships/hyperlink" Target="https://www.mdpi.com/journal/mathematics/special_issues/R44HM324ER" TargetMode="External"/><Relationship Id="rId5" Type="http://schemas.openxmlformats.org/officeDocument/2006/relationships/diagramColors" Target="../diagrams/colors329.xml"/><Relationship Id="rId10" Type="http://schemas.openxmlformats.org/officeDocument/2006/relationships/hyperlink" Target="https://www.amazon.in/gp/aw/d/B0BKZN64PW/ref=tmm_kin_swatch_0?ie=UTF8&amp;dib_tag=se&amp;dib=eyJ2IjoiMSJ9.p8SEt2r6z6QdKcksOclkt4aSHEfhZM46sqcfrUS9gx5oJNXgY5UZlp5o8JhAUxIa1BYr11mLcfYpCPKm0zWEJR9RFqhk0V8STgJz8S23xbb0d8kAv-JC_qIArTqMiabprBFTUFedxVA_jxpQLtAOntvnWvNNsyaIsqBezx5LWqePdg9lqWzimAVPtGFUJjeLJDr1TeO9V-cY0Y17_KV10g.QKhIKjqv6VloRdyiUJpYgU-zTLgBnVp1LGwd-x8inAU&amp;qid=1728631374&amp;sr=8-3" TargetMode="External"/><Relationship Id="rId4" Type="http://schemas.openxmlformats.org/officeDocument/2006/relationships/diagramQuickStyle" Target="../diagrams/quickStyle329.xml"/><Relationship Id="rId9" Type="http://schemas.openxmlformats.org/officeDocument/2006/relationships/hyperlink" Target="https://ebooks.inflibnet.ac.in/geop10/" TargetMode="External"/></Relationships>
</file>

<file path=ppt/slides/_rels/slide335.xml.rels><?xml version="1.0" encoding="UTF-8" standalone="yes"?>
<Relationships xmlns="http://schemas.openxmlformats.org/package/2006/relationships"><Relationship Id="rId3" Type="http://schemas.openxmlformats.org/officeDocument/2006/relationships/diagramLayout" Target="../diagrams/layout330.xml"/><Relationship Id="rId2" Type="http://schemas.openxmlformats.org/officeDocument/2006/relationships/diagramData" Target="../diagrams/data330.xml"/><Relationship Id="rId1" Type="http://schemas.openxmlformats.org/officeDocument/2006/relationships/slideLayout" Target="../slideLayouts/slideLayout2.xml"/><Relationship Id="rId6" Type="http://schemas.microsoft.com/office/2007/relationships/diagramDrawing" Target="../diagrams/drawing330.xml"/><Relationship Id="rId5" Type="http://schemas.openxmlformats.org/officeDocument/2006/relationships/diagramColors" Target="../diagrams/colors330.xml"/><Relationship Id="rId4" Type="http://schemas.openxmlformats.org/officeDocument/2006/relationships/diagramQuickStyle" Target="../diagrams/quickStyle330.xml"/></Relationships>
</file>

<file path=ppt/slides/_rels/slide336.xml.rels><?xml version="1.0" encoding="UTF-8" standalone="yes"?>
<Relationships xmlns="http://schemas.openxmlformats.org/package/2006/relationships"><Relationship Id="rId3" Type="http://schemas.openxmlformats.org/officeDocument/2006/relationships/diagramLayout" Target="../diagrams/layout331.xml"/><Relationship Id="rId2" Type="http://schemas.openxmlformats.org/officeDocument/2006/relationships/diagramData" Target="../diagrams/data331.xml"/><Relationship Id="rId1" Type="http://schemas.openxmlformats.org/officeDocument/2006/relationships/slideLayout" Target="../slideLayouts/slideLayout2.xml"/><Relationship Id="rId6" Type="http://schemas.microsoft.com/office/2007/relationships/diagramDrawing" Target="../diagrams/drawing331.xml"/><Relationship Id="rId5" Type="http://schemas.openxmlformats.org/officeDocument/2006/relationships/diagramColors" Target="../diagrams/colors331.xml"/><Relationship Id="rId4" Type="http://schemas.openxmlformats.org/officeDocument/2006/relationships/diagramQuickStyle" Target="../diagrams/quickStyle331.xml"/></Relationships>
</file>

<file path=ppt/slides/_rels/slide337.xml.rels><?xml version="1.0" encoding="UTF-8" standalone="yes"?>
<Relationships xmlns="http://schemas.openxmlformats.org/package/2006/relationships"><Relationship Id="rId3" Type="http://schemas.openxmlformats.org/officeDocument/2006/relationships/diagramLayout" Target="../diagrams/layout332.xml"/><Relationship Id="rId2" Type="http://schemas.openxmlformats.org/officeDocument/2006/relationships/diagramData" Target="../diagrams/data332.xml"/><Relationship Id="rId1" Type="http://schemas.openxmlformats.org/officeDocument/2006/relationships/slideLayout" Target="../slideLayouts/slideLayout2.xml"/><Relationship Id="rId6" Type="http://schemas.microsoft.com/office/2007/relationships/diagramDrawing" Target="../diagrams/drawing332.xml"/><Relationship Id="rId5" Type="http://schemas.openxmlformats.org/officeDocument/2006/relationships/diagramColors" Target="../diagrams/colors332.xml"/><Relationship Id="rId4" Type="http://schemas.openxmlformats.org/officeDocument/2006/relationships/diagramQuickStyle" Target="../diagrams/quickStyle332.xml"/></Relationships>
</file>

<file path=ppt/slides/_rels/slide338.xml.rels><?xml version="1.0" encoding="UTF-8" standalone="yes"?>
<Relationships xmlns="http://schemas.openxmlformats.org/package/2006/relationships"><Relationship Id="rId3" Type="http://schemas.openxmlformats.org/officeDocument/2006/relationships/diagramLayout" Target="../diagrams/layout333.xml"/><Relationship Id="rId2" Type="http://schemas.openxmlformats.org/officeDocument/2006/relationships/diagramData" Target="../diagrams/data333.xml"/><Relationship Id="rId1" Type="http://schemas.openxmlformats.org/officeDocument/2006/relationships/slideLayout" Target="../slideLayouts/slideLayout2.xml"/><Relationship Id="rId6" Type="http://schemas.microsoft.com/office/2007/relationships/diagramDrawing" Target="../diagrams/drawing333.xml"/><Relationship Id="rId5" Type="http://schemas.openxmlformats.org/officeDocument/2006/relationships/diagramColors" Target="../diagrams/colors333.xml"/><Relationship Id="rId4" Type="http://schemas.openxmlformats.org/officeDocument/2006/relationships/diagramQuickStyle" Target="../diagrams/quickStyle333.xml"/></Relationships>
</file>

<file path=ppt/slides/_rels/slide339.xml.rels><?xml version="1.0" encoding="UTF-8" standalone="yes"?>
<Relationships xmlns="http://schemas.openxmlformats.org/package/2006/relationships"><Relationship Id="rId3" Type="http://schemas.openxmlformats.org/officeDocument/2006/relationships/diagramLayout" Target="../diagrams/layout334.xml"/><Relationship Id="rId2" Type="http://schemas.openxmlformats.org/officeDocument/2006/relationships/diagramData" Target="../diagrams/data334.xml"/><Relationship Id="rId1" Type="http://schemas.openxmlformats.org/officeDocument/2006/relationships/slideLayout" Target="../slideLayouts/slideLayout2.xml"/><Relationship Id="rId6" Type="http://schemas.microsoft.com/office/2007/relationships/diagramDrawing" Target="../diagrams/drawing334.xml"/><Relationship Id="rId5" Type="http://schemas.openxmlformats.org/officeDocument/2006/relationships/diagramColors" Target="../diagrams/colors334.xml"/><Relationship Id="rId4" Type="http://schemas.openxmlformats.org/officeDocument/2006/relationships/diagramQuickStyle" Target="../diagrams/quickStyle334.xml"/></Relationships>
</file>

<file path=ppt/slides/_rels/slide340.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diagramLayout" Target="../diagrams/layout335.xml"/><Relationship Id="rId7" Type="http://schemas.openxmlformats.org/officeDocument/2006/relationships/image" Target="../media/image102.png"/><Relationship Id="rId2" Type="http://schemas.openxmlformats.org/officeDocument/2006/relationships/diagramData" Target="../diagrams/data335.xml"/><Relationship Id="rId1" Type="http://schemas.openxmlformats.org/officeDocument/2006/relationships/slideLayout" Target="../slideLayouts/slideLayout2.xml"/><Relationship Id="rId6" Type="http://schemas.microsoft.com/office/2007/relationships/diagramDrawing" Target="../diagrams/drawing335.xml"/><Relationship Id="rId5" Type="http://schemas.openxmlformats.org/officeDocument/2006/relationships/diagramColors" Target="../diagrams/colors335.xml"/><Relationship Id="rId4" Type="http://schemas.openxmlformats.org/officeDocument/2006/relationships/diagramQuickStyle" Target="../diagrams/quickStyle335.xml"/></Relationships>
</file>

<file path=ppt/slides/_rels/slide341.xml.rels><?xml version="1.0" encoding="UTF-8" standalone="yes"?>
<Relationships xmlns="http://schemas.openxmlformats.org/package/2006/relationships"><Relationship Id="rId8" Type="http://schemas.openxmlformats.org/officeDocument/2006/relationships/hyperlink" Target="https://www.ipb.uni-bonn.de/photo12-2021/index.html" TargetMode="External"/><Relationship Id="rId3" Type="http://schemas.openxmlformats.org/officeDocument/2006/relationships/diagramLayout" Target="../diagrams/layout336.xml"/><Relationship Id="rId7" Type="http://schemas.openxmlformats.org/officeDocument/2006/relationships/hyperlink" Target="https://orsac.odisha.gov.in/pdf/Data-Capture-Using-Photogrammetry.pdf" TargetMode="External"/><Relationship Id="rId2" Type="http://schemas.openxmlformats.org/officeDocument/2006/relationships/diagramData" Target="../diagrams/data336.xml"/><Relationship Id="rId1" Type="http://schemas.openxmlformats.org/officeDocument/2006/relationships/slideLayout" Target="../slideLayouts/slideLayout2.xml"/><Relationship Id="rId6" Type="http://schemas.microsoft.com/office/2007/relationships/diagramDrawing" Target="../diagrams/drawing336.xml"/><Relationship Id="rId5" Type="http://schemas.openxmlformats.org/officeDocument/2006/relationships/diagramColors" Target="../diagrams/colors336.xml"/><Relationship Id="rId10" Type="http://schemas.openxmlformats.org/officeDocument/2006/relationships/hyperlink" Target="https://ethz.ch/content/dam/ethz/special-interest/baug/igp/photogrammetry-remote-sensing-dam/documents/pdf/math-of-photogrammetry.pdf" TargetMode="External"/><Relationship Id="rId4" Type="http://schemas.openxmlformats.org/officeDocument/2006/relationships/diagramQuickStyle" Target="../diagrams/quickStyle336.xml"/><Relationship Id="rId9" Type="http://schemas.openxmlformats.org/officeDocument/2006/relationships/hyperlink" Target="https://www.lpl.arizona.edu/hamilton/sites/lpl.arizona.edu.hamilton/files/courses/ptys551/Principles_of_Photogrammetry.pdf" TargetMode="External"/></Relationships>
</file>

<file path=ppt/slides/_rels/slide342.xml.rels><?xml version="1.0" encoding="UTF-8" standalone="yes"?>
<Relationships xmlns="http://schemas.openxmlformats.org/package/2006/relationships"><Relationship Id="rId3" Type="http://schemas.openxmlformats.org/officeDocument/2006/relationships/diagramLayout" Target="../diagrams/layout337.xml"/><Relationship Id="rId2" Type="http://schemas.openxmlformats.org/officeDocument/2006/relationships/diagramData" Target="../diagrams/data337.xml"/><Relationship Id="rId1" Type="http://schemas.openxmlformats.org/officeDocument/2006/relationships/slideLayout" Target="../slideLayouts/slideLayout2.xml"/><Relationship Id="rId6" Type="http://schemas.microsoft.com/office/2007/relationships/diagramDrawing" Target="../diagrams/drawing337.xml"/><Relationship Id="rId5" Type="http://schemas.openxmlformats.org/officeDocument/2006/relationships/diagramColors" Target="../diagrams/colors337.xml"/><Relationship Id="rId4" Type="http://schemas.openxmlformats.org/officeDocument/2006/relationships/diagramQuickStyle" Target="../diagrams/quickStyle337.xml"/></Relationships>
</file>

<file path=ppt/slides/_rels/slide343.xml.rels><?xml version="1.0" encoding="UTF-8" standalone="yes"?>
<Relationships xmlns="http://schemas.openxmlformats.org/package/2006/relationships"><Relationship Id="rId3" Type="http://schemas.openxmlformats.org/officeDocument/2006/relationships/diagramLayout" Target="../diagrams/layout338.xml"/><Relationship Id="rId2" Type="http://schemas.openxmlformats.org/officeDocument/2006/relationships/diagramData" Target="../diagrams/data338.xml"/><Relationship Id="rId1" Type="http://schemas.openxmlformats.org/officeDocument/2006/relationships/slideLayout" Target="../slideLayouts/slideLayout2.xml"/><Relationship Id="rId6" Type="http://schemas.microsoft.com/office/2007/relationships/diagramDrawing" Target="../diagrams/drawing338.xml"/><Relationship Id="rId5" Type="http://schemas.openxmlformats.org/officeDocument/2006/relationships/diagramColors" Target="../diagrams/colors338.xml"/><Relationship Id="rId4" Type="http://schemas.openxmlformats.org/officeDocument/2006/relationships/diagramQuickStyle" Target="../diagrams/quickStyle338.xml"/></Relationships>
</file>

<file path=ppt/slides/_rels/slide344.xml.rels><?xml version="1.0" encoding="UTF-8" standalone="yes"?>
<Relationships xmlns="http://schemas.openxmlformats.org/package/2006/relationships"><Relationship Id="rId3" Type="http://schemas.openxmlformats.org/officeDocument/2006/relationships/diagramLayout" Target="../diagrams/layout339.xml"/><Relationship Id="rId2" Type="http://schemas.openxmlformats.org/officeDocument/2006/relationships/diagramData" Target="../diagrams/data339.xml"/><Relationship Id="rId1" Type="http://schemas.openxmlformats.org/officeDocument/2006/relationships/slideLayout" Target="../slideLayouts/slideLayout2.xml"/><Relationship Id="rId6" Type="http://schemas.microsoft.com/office/2007/relationships/diagramDrawing" Target="../diagrams/drawing339.xml"/><Relationship Id="rId5" Type="http://schemas.openxmlformats.org/officeDocument/2006/relationships/diagramColors" Target="../diagrams/colors339.xml"/><Relationship Id="rId4" Type="http://schemas.openxmlformats.org/officeDocument/2006/relationships/diagramQuickStyle" Target="../diagrams/quickStyle339.xml"/></Relationships>
</file>

<file path=ppt/slides/_rels/slide345.xml.rels><?xml version="1.0" encoding="UTF-8" standalone="yes"?>
<Relationships xmlns="http://schemas.openxmlformats.org/package/2006/relationships"><Relationship Id="rId3" Type="http://schemas.openxmlformats.org/officeDocument/2006/relationships/diagramLayout" Target="../diagrams/layout340.xml"/><Relationship Id="rId2" Type="http://schemas.openxmlformats.org/officeDocument/2006/relationships/diagramData" Target="../diagrams/data340.xml"/><Relationship Id="rId1" Type="http://schemas.openxmlformats.org/officeDocument/2006/relationships/slideLayout" Target="../slideLayouts/slideLayout2.xml"/><Relationship Id="rId6" Type="http://schemas.microsoft.com/office/2007/relationships/diagramDrawing" Target="../diagrams/drawing340.xml"/><Relationship Id="rId5" Type="http://schemas.openxmlformats.org/officeDocument/2006/relationships/diagramColors" Target="../diagrams/colors340.xml"/><Relationship Id="rId4" Type="http://schemas.openxmlformats.org/officeDocument/2006/relationships/diagramQuickStyle" Target="../diagrams/quickStyle340.xml"/></Relationships>
</file>

<file path=ppt/slides/_rels/slide346.xml.rels><?xml version="1.0" encoding="UTF-8" standalone="yes"?>
<Relationships xmlns="http://schemas.openxmlformats.org/package/2006/relationships"><Relationship Id="rId3" Type="http://schemas.openxmlformats.org/officeDocument/2006/relationships/diagramLayout" Target="../diagrams/layout341.xml"/><Relationship Id="rId2" Type="http://schemas.openxmlformats.org/officeDocument/2006/relationships/diagramData" Target="../diagrams/data341.xml"/><Relationship Id="rId1" Type="http://schemas.openxmlformats.org/officeDocument/2006/relationships/slideLayout" Target="../slideLayouts/slideLayout2.xml"/><Relationship Id="rId6" Type="http://schemas.microsoft.com/office/2007/relationships/diagramDrawing" Target="../diagrams/drawing341.xml"/><Relationship Id="rId5" Type="http://schemas.openxmlformats.org/officeDocument/2006/relationships/diagramColors" Target="../diagrams/colors341.xml"/><Relationship Id="rId4" Type="http://schemas.openxmlformats.org/officeDocument/2006/relationships/diagramQuickStyle" Target="../diagrams/quickStyle341.xml"/></Relationships>
</file>

<file path=ppt/slides/_rels/slide347.xml.rels><?xml version="1.0" encoding="UTF-8" standalone="yes"?>
<Relationships xmlns="http://schemas.openxmlformats.org/package/2006/relationships"><Relationship Id="rId3" Type="http://schemas.openxmlformats.org/officeDocument/2006/relationships/diagramLayout" Target="../diagrams/layout342.xml"/><Relationship Id="rId2" Type="http://schemas.openxmlformats.org/officeDocument/2006/relationships/diagramData" Target="../diagrams/data342.xml"/><Relationship Id="rId1" Type="http://schemas.openxmlformats.org/officeDocument/2006/relationships/slideLayout" Target="../slideLayouts/slideLayout2.xml"/><Relationship Id="rId6" Type="http://schemas.microsoft.com/office/2007/relationships/diagramDrawing" Target="../diagrams/drawing342.xml"/><Relationship Id="rId5" Type="http://schemas.openxmlformats.org/officeDocument/2006/relationships/diagramColors" Target="../diagrams/colors342.xml"/><Relationship Id="rId4" Type="http://schemas.openxmlformats.org/officeDocument/2006/relationships/diagramQuickStyle" Target="../diagrams/quickStyle342.xml"/></Relationships>
</file>

<file path=ppt/slides/_rels/slide348.xml.rels><?xml version="1.0" encoding="UTF-8" standalone="yes"?>
<Relationships xmlns="http://schemas.openxmlformats.org/package/2006/relationships"><Relationship Id="rId3" Type="http://schemas.openxmlformats.org/officeDocument/2006/relationships/diagramLayout" Target="../diagrams/layout343.xml"/><Relationship Id="rId2" Type="http://schemas.openxmlformats.org/officeDocument/2006/relationships/diagramData" Target="../diagrams/data343.xml"/><Relationship Id="rId1" Type="http://schemas.openxmlformats.org/officeDocument/2006/relationships/slideLayout" Target="../slideLayouts/slideLayout2.xml"/><Relationship Id="rId6" Type="http://schemas.microsoft.com/office/2007/relationships/diagramDrawing" Target="../diagrams/drawing343.xml"/><Relationship Id="rId5" Type="http://schemas.openxmlformats.org/officeDocument/2006/relationships/diagramColors" Target="../diagrams/colors343.xml"/><Relationship Id="rId4" Type="http://schemas.openxmlformats.org/officeDocument/2006/relationships/diagramQuickStyle" Target="../diagrams/quickStyle343.xml"/></Relationships>
</file>

<file path=ppt/slides/_rels/slide349.xml.rels><?xml version="1.0" encoding="UTF-8" standalone="yes"?>
<Relationships xmlns="http://schemas.openxmlformats.org/package/2006/relationships"><Relationship Id="rId3" Type="http://schemas.openxmlformats.org/officeDocument/2006/relationships/diagramLayout" Target="../diagrams/layout344.xml"/><Relationship Id="rId2" Type="http://schemas.openxmlformats.org/officeDocument/2006/relationships/diagramData" Target="../diagrams/data344.xml"/><Relationship Id="rId1" Type="http://schemas.openxmlformats.org/officeDocument/2006/relationships/slideLayout" Target="../slideLayouts/slideLayout2.xml"/><Relationship Id="rId6" Type="http://schemas.microsoft.com/office/2007/relationships/diagramDrawing" Target="../diagrams/drawing344.xml"/><Relationship Id="rId5" Type="http://schemas.openxmlformats.org/officeDocument/2006/relationships/diagramColors" Target="../diagrams/colors344.xml"/><Relationship Id="rId4" Type="http://schemas.openxmlformats.org/officeDocument/2006/relationships/diagramQuickStyle" Target="../diagrams/quickStyle344.xml"/></Relationships>
</file>

<file path=ppt/slides/_rels/slide350.xml.rels><?xml version="1.0" encoding="UTF-8" standalone="yes"?>
<Relationships xmlns="http://schemas.openxmlformats.org/package/2006/relationships"><Relationship Id="rId3" Type="http://schemas.openxmlformats.org/officeDocument/2006/relationships/diagramLayout" Target="../diagrams/layout345.xml"/><Relationship Id="rId2" Type="http://schemas.openxmlformats.org/officeDocument/2006/relationships/diagramData" Target="../diagrams/data345.xml"/><Relationship Id="rId1" Type="http://schemas.openxmlformats.org/officeDocument/2006/relationships/slideLayout" Target="../slideLayouts/slideLayout2.xml"/><Relationship Id="rId6" Type="http://schemas.microsoft.com/office/2007/relationships/diagramDrawing" Target="../diagrams/drawing345.xml"/><Relationship Id="rId5" Type="http://schemas.openxmlformats.org/officeDocument/2006/relationships/diagramColors" Target="../diagrams/colors345.xml"/><Relationship Id="rId4" Type="http://schemas.openxmlformats.org/officeDocument/2006/relationships/diagramQuickStyle" Target="../diagrams/quickStyle345.xml"/></Relationships>
</file>

<file path=ppt/slides/_rels/slide351.xml.rels><?xml version="1.0" encoding="UTF-8" standalone="yes"?>
<Relationships xmlns="http://schemas.openxmlformats.org/package/2006/relationships"><Relationship Id="rId8" Type="http://schemas.openxmlformats.org/officeDocument/2006/relationships/hyperlink" Target="https://www.amazon.in/Introduction-Geographical-Information-Systems-ebook/dp/B00IZ07WQW/ref=tmm_kin_swatch_0" TargetMode="External"/><Relationship Id="rId13" Type="http://schemas.openxmlformats.org/officeDocument/2006/relationships/hyperlink" Target="https://gist.github.com/sandipray63in/3b434b0bee7e4f9abbe7e78bae9d7eb4" TargetMode="External"/><Relationship Id="rId18" Type="http://schemas.openxmlformats.org/officeDocument/2006/relationships/hyperlink" Target="https://opensearch.org/docs/latest/aggregations/bucket/geohash-grid/" TargetMode="External"/><Relationship Id="rId26" Type="http://schemas.openxmlformats.org/officeDocument/2006/relationships/hyperlink" Target="https://news.ycombinator.com/item?id=17567122" TargetMode="External"/><Relationship Id="rId3" Type="http://schemas.openxmlformats.org/officeDocument/2006/relationships/diagramLayout" Target="../diagrams/layout346.xml"/><Relationship Id="rId21" Type="http://schemas.openxmlformats.org/officeDocument/2006/relationships/hyperlink" Target="https://cwiki.apache.org/confluence/display/LUCENE/SpatialSearch" TargetMode="External"/><Relationship Id="rId7" Type="http://schemas.openxmlformats.org/officeDocument/2006/relationships/hyperlink" Target="https://www.amazon.in/Geospatial-Data-Science-Essentials-Practical-ebook/dp/B0DJ2HBWJY" TargetMode="External"/><Relationship Id="rId12" Type="http://schemas.openxmlformats.org/officeDocument/2006/relationships/hyperlink" Target="https://en.wikipedia.org/wiki/Spatial_database" TargetMode="External"/><Relationship Id="rId17" Type="http://schemas.openxmlformats.org/officeDocument/2006/relationships/hyperlink" Target="https://towardsdatascience.com/system-design-quadtrees-geohash-5b896b975262?gi=e08f006249ca" TargetMode="External"/><Relationship Id="rId25" Type="http://schemas.openxmlformats.org/officeDocument/2006/relationships/hyperlink" Target="http://bit-player.org/extras/hilbert/hilbert-mapping.html" TargetMode="External"/><Relationship Id="rId2" Type="http://schemas.openxmlformats.org/officeDocument/2006/relationships/diagramData" Target="../diagrams/data346.xml"/><Relationship Id="rId16" Type="http://schemas.openxmlformats.org/officeDocument/2006/relationships/hyperlink" Target="https://www.geeksforgeeks.org/understanding-efficient-spatial-indexing/" TargetMode="External"/><Relationship Id="rId20" Type="http://schemas.openxmlformats.org/officeDocument/2006/relationships/hyperlink" Target="https://igorgatis.github.io/ws2/" TargetMode="External"/><Relationship Id="rId1" Type="http://schemas.openxmlformats.org/officeDocument/2006/relationships/slideLayout" Target="../slideLayouts/slideLayout2.xml"/><Relationship Id="rId6" Type="http://schemas.microsoft.com/office/2007/relationships/diagramDrawing" Target="../diagrams/drawing346.xml"/><Relationship Id="rId11" Type="http://schemas.openxmlformats.org/officeDocument/2006/relationships/hyperlink" Target="https://understanding-gis-univredlands.hub.arcgis.com/" TargetMode="External"/><Relationship Id="rId24" Type="http://schemas.openxmlformats.org/officeDocument/2006/relationships/hyperlink" Target="https://en.wikipedia.org/wiki/Address_geocoding" TargetMode="External"/><Relationship Id="rId5" Type="http://schemas.openxmlformats.org/officeDocument/2006/relationships/diagramColors" Target="../diagrams/colors346.xml"/><Relationship Id="rId15" Type="http://schemas.openxmlformats.org/officeDocument/2006/relationships/hyperlink" Target="https://postgis.net/documentation/" TargetMode="External"/><Relationship Id="rId23" Type="http://schemas.openxmlformats.org/officeDocument/2006/relationships/hyperlink" Target="https://medium.com/groupon-eng/scaling-millions-of-geospatial-queries-per-minute-using-redis-7c05bcf6b4db" TargetMode="External"/><Relationship Id="rId10" Type="http://schemas.openxmlformats.org/officeDocument/2006/relationships/hyperlink" Target="https://docs.qgis.org/3.40/en/docs/training_manual/index.html" TargetMode="External"/><Relationship Id="rId19" Type="http://schemas.openxmlformats.org/officeDocument/2006/relationships/hyperlink" Target="http://s2geometry.io/" TargetMode="External"/><Relationship Id="rId4" Type="http://schemas.openxmlformats.org/officeDocument/2006/relationships/diagramQuickStyle" Target="../diagrams/quickStyle346.xml"/><Relationship Id="rId9" Type="http://schemas.openxmlformats.org/officeDocument/2006/relationships/hyperlink" Target="https://www.amazon.in/Geographic-Information-Systems-Science-Longley-ebook/dp/B000S1LZ9Q" TargetMode="External"/><Relationship Id="rId14" Type="http://schemas.openxmlformats.org/officeDocument/2006/relationships/hyperlink" Target="https://postgis.net/documentation/training/" TargetMode="External"/><Relationship Id="rId22" Type="http://schemas.openxmlformats.org/officeDocument/2006/relationships/hyperlink" Target="https://www.elastic.co/guide/en/elasticsearch/reference/current/geo-shape.html" TargetMode="External"/></Relationships>
</file>

<file path=ppt/slides/_rels/slide352.xml.rels><?xml version="1.0" encoding="UTF-8" standalone="yes"?>
<Relationships xmlns="http://schemas.openxmlformats.org/package/2006/relationships"><Relationship Id="rId3" Type="http://schemas.openxmlformats.org/officeDocument/2006/relationships/diagramLayout" Target="../diagrams/layout347.xml"/><Relationship Id="rId2" Type="http://schemas.openxmlformats.org/officeDocument/2006/relationships/diagramData" Target="../diagrams/data347.xml"/><Relationship Id="rId1" Type="http://schemas.openxmlformats.org/officeDocument/2006/relationships/slideLayout" Target="../slideLayouts/slideLayout2.xml"/><Relationship Id="rId6" Type="http://schemas.microsoft.com/office/2007/relationships/diagramDrawing" Target="../diagrams/drawing347.xml"/><Relationship Id="rId5" Type="http://schemas.openxmlformats.org/officeDocument/2006/relationships/diagramColors" Target="../diagrams/colors347.xml"/><Relationship Id="rId4" Type="http://schemas.openxmlformats.org/officeDocument/2006/relationships/diagramQuickStyle" Target="../diagrams/quickStyle347.xml"/></Relationships>
</file>

<file path=ppt/slides/_rels/slide353.xml.rels><?xml version="1.0" encoding="UTF-8" standalone="yes"?>
<Relationships xmlns="http://schemas.openxmlformats.org/package/2006/relationships"><Relationship Id="rId3" Type="http://schemas.openxmlformats.org/officeDocument/2006/relationships/diagramLayout" Target="../diagrams/layout348.xml"/><Relationship Id="rId2" Type="http://schemas.openxmlformats.org/officeDocument/2006/relationships/diagramData" Target="../diagrams/data348.xml"/><Relationship Id="rId1" Type="http://schemas.openxmlformats.org/officeDocument/2006/relationships/slideLayout" Target="../slideLayouts/slideLayout2.xml"/><Relationship Id="rId6" Type="http://schemas.microsoft.com/office/2007/relationships/diagramDrawing" Target="../diagrams/drawing348.xml"/><Relationship Id="rId5" Type="http://schemas.openxmlformats.org/officeDocument/2006/relationships/diagramColors" Target="../diagrams/colors348.xml"/><Relationship Id="rId4" Type="http://schemas.openxmlformats.org/officeDocument/2006/relationships/diagramQuickStyle" Target="../diagrams/quickStyle348.xml"/></Relationships>
</file>

<file path=ppt/slides/_rels/slide354.xml.rels><?xml version="1.0" encoding="UTF-8" standalone="yes"?>
<Relationships xmlns="http://schemas.openxmlformats.org/package/2006/relationships"><Relationship Id="rId3" Type="http://schemas.openxmlformats.org/officeDocument/2006/relationships/diagramLayout" Target="../diagrams/layout349.xml"/><Relationship Id="rId2" Type="http://schemas.openxmlformats.org/officeDocument/2006/relationships/diagramData" Target="../diagrams/data349.xml"/><Relationship Id="rId1" Type="http://schemas.openxmlformats.org/officeDocument/2006/relationships/slideLayout" Target="../slideLayouts/slideLayout2.xml"/><Relationship Id="rId6" Type="http://schemas.microsoft.com/office/2007/relationships/diagramDrawing" Target="../diagrams/drawing349.xml"/><Relationship Id="rId5" Type="http://schemas.openxmlformats.org/officeDocument/2006/relationships/diagramColors" Target="../diagrams/colors349.xml"/><Relationship Id="rId4" Type="http://schemas.openxmlformats.org/officeDocument/2006/relationships/diagramQuickStyle" Target="../diagrams/quickStyle349.xml"/></Relationships>
</file>

<file path=ppt/slides/_rels/slide355.xml.rels><?xml version="1.0" encoding="UTF-8" standalone="yes"?>
<Relationships xmlns="http://schemas.openxmlformats.org/package/2006/relationships"><Relationship Id="rId3" Type="http://schemas.openxmlformats.org/officeDocument/2006/relationships/diagramLayout" Target="../diagrams/layout350.xml"/><Relationship Id="rId2" Type="http://schemas.openxmlformats.org/officeDocument/2006/relationships/diagramData" Target="../diagrams/data350.xml"/><Relationship Id="rId1" Type="http://schemas.openxmlformats.org/officeDocument/2006/relationships/slideLayout" Target="../slideLayouts/slideLayout2.xml"/><Relationship Id="rId6" Type="http://schemas.microsoft.com/office/2007/relationships/diagramDrawing" Target="../diagrams/drawing350.xml"/><Relationship Id="rId5" Type="http://schemas.openxmlformats.org/officeDocument/2006/relationships/diagramColors" Target="../diagrams/colors350.xml"/><Relationship Id="rId4" Type="http://schemas.openxmlformats.org/officeDocument/2006/relationships/diagramQuickStyle" Target="../diagrams/quickStyle350.xml"/></Relationships>
</file>

<file path=ppt/slides/_rels/slide356.xml.rels><?xml version="1.0" encoding="UTF-8" standalone="yes"?>
<Relationships xmlns="http://schemas.openxmlformats.org/package/2006/relationships"><Relationship Id="rId3" Type="http://schemas.openxmlformats.org/officeDocument/2006/relationships/diagramLayout" Target="../diagrams/layout351.xml"/><Relationship Id="rId2" Type="http://schemas.openxmlformats.org/officeDocument/2006/relationships/diagramData" Target="../diagrams/data351.xml"/><Relationship Id="rId1" Type="http://schemas.openxmlformats.org/officeDocument/2006/relationships/slideLayout" Target="../slideLayouts/slideLayout2.xml"/><Relationship Id="rId6" Type="http://schemas.microsoft.com/office/2007/relationships/diagramDrawing" Target="../diagrams/drawing351.xml"/><Relationship Id="rId5" Type="http://schemas.openxmlformats.org/officeDocument/2006/relationships/diagramColors" Target="../diagrams/colors351.xml"/><Relationship Id="rId4" Type="http://schemas.openxmlformats.org/officeDocument/2006/relationships/diagramQuickStyle" Target="../diagrams/quickStyle351.xml"/></Relationships>
</file>

<file path=ppt/slides/_rels/slide357.xml.rels><?xml version="1.0" encoding="UTF-8" standalone="yes"?>
<Relationships xmlns="http://schemas.openxmlformats.org/package/2006/relationships"><Relationship Id="rId3" Type="http://schemas.openxmlformats.org/officeDocument/2006/relationships/diagramLayout" Target="../diagrams/layout352.xml"/><Relationship Id="rId2" Type="http://schemas.openxmlformats.org/officeDocument/2006/relationships/diagramData" Target="../diagrams/data352.xml"/><Relationship Id="rId1" Type="http://schemas.openxmlformats.org/officeDocument/2006/relationships/slideLayout" Target="../slideLayouts/slideLayout2.xml"/><Relationship Id="rId6" Type="http://schemas.microsoft.com/office/2007/relationships/diagramDrawing" Target="../diagrams/drawing352.xml"/><Relationship Id="rId5" Type="http://schemas.openxmlformats.org/officeDocument/2006/relationships/diagramColors" Target="../diagrams/colors352.xml"/><Relationship Id="rId4" Type="http://schemas.openxmlformats.org/officeDocument/2006/relationships/diagramQuickStyle" Target="../diagrams/quickStyle352.xml"/></Relationships>
</file>

<file path=ppt/slides/_rels/slide358.xml.rels><?xml version="1.0" encoding="UTF-8" standalone="yes"?>
<Relationships xmlns="http://schemas.openxmlformats.org/package/2006/relationships"><Relationship Id="rId3" Type="http://schemas.openxmlformats.org/officeDocument/2006/relationships/diagramLayout" Target="../diagrams/layout353.xml"/><Relationship Id="rId2" Type="http://schemas.openxmlformats.org/officeDocument/2006/relationships/diagramData" Target="../diagrams/data353.xml"/><Relationship Id="rId1" Type="http://schemas.openxmlformats.org/officeDocument/2006/relationships/slideLayout" Target="../slideLayouts/slideLayout2.xml"/><Relationship Id="rId6" Type="http://schemas.microsoft.com/office/2007/relationships/diagramDrawing" Target="../diagrams/drawing353.xml"/><Relationship Id="rId5" Type="http://schemas.openxmlformats.org/officeDocument/2006/relationships/diagramColors" Target="../diagrams/colors353.xml"/><Relationship Id="rId4" Type="http://schemas.openxmlformats.org/officeDocument/2006/relationships/diagramQuickStyle" Target="../diagrams/quickStyle353.xml"/></Relationships>
</file>

<file path=ppt/slides/_rels/slide359.xml.rels><?xml version="1.0" encoding="UTF-8" standalone="yes"?>
<Relationships xmlns="http://schemas.openxmlformats.org/package/2006/relationships"><Relationship Id="rId3" Type="http://schemas.openxmlformats.org/officeDocument/2006/relationships/diagramLayout" Target="../diagrams/layout354.xml"/><Relationship Id="rId2" Type="http://schemas.openxmlformats.org/officeDocument/2006/relationships/diagramData" Target="../diagrams/data354.xml"/><Relationship Id="rId1" Type="http://schemas.openxmlformats.org/officeDocument/2006/relationships/slideLayout" Target="../slideLayouts/slideLayout2.xml"/><Relationship Id="rId6" Type="http://schemas.microsoft.com/office/2007/relationships/diagramDrawing" Target="../diagrams/drawing354.xml"/><Relationship Id="rId5" Type="http://schemas.openxmlformats.org/officeDocument/2006/relationships/diagramColors" Target="../diagrams/colors354.xml"/><Relationship Id="rId4" Type="http://schemas.openxmlformats.org/officeDocument/2006/relationships/diagramQuickStyle" Target="../diagrams/quickStyle354.xml"/></Relationships>
</file>

<file path=ppt/slides/_rels/slide360.xml.rels><?xml version="1.0" encoding="UTF-8" standalone="yes"?>
<Relationships xmlns="http://schemas.openxmlformats.org/package/2006/relationships"><Relationship Id="rId3" Type="http://schemas.openxmlformats.org/officeDocument/2006/relationships/diagramLayout" Target="../diagrams/layout355.xml"/><Relationship Id="rId2" Type="http://schemas.openxmlformats.org/officeDocument/2006/relationships/diagramData" Target="../diagrams/data355.xml"/><Relationship Id="rId1" Type="http://schemas.openxmlformats.org/officeDocument/2006/relationships/slideLayout" Target="../slideLayouts/slideLayout2.xml"/><Relationship Id="rId6" Type="http://schemas.microsoft.com/office/2007/relationships/diagramDrawing" Target="../diagrams/drawing355.xml"/><Relationship Id="rId5" Type="http://schemas.openxmlformats.org/officeDocument/2006/relationships/diagramColors" Target="../diagrams/colors355.xml"/><Relationship Id="rId4" Type="http://schemas.openxmlformats.org/officeDocument/2006/relationships/diagramQuickStyle" Target="../diagrams/quickStyle355.xml"/></Relationships>
</file>

<file path=ppt/slides/_rels/slide361.xml.rels><?xml version="1.0" encoding="UTF-8" standalone="yes"?>
<Relationships xmlns="http://schemas.openxmlformats.org/package/2006/relationships"><Relationship Id="rId3" Type="http://schemas.openxmlformats.org/officeDocument/2006/relationships/diagramLayout" Target="../diagrams/layout356.xml"/><Relationship Id="rId2" Type="http://schemas.openxmlformats.org/officeDocument/2006/relationships/diagramData" Target="../diagrams/data356.xml"/><Relationship Id="rId1" Type="http://schemas.openxmlformats.org/officeDocument/2006/relationships/slideLayout" Target="../slideLayouts/slideLayout2.xml"/><Relationship Id="rId6" Type="http://schemas.microsoft.com/office/2007/relationships/diagramDrawing" Target="../diagrams/drawing356.xml"/><Relationship Id="rId5" Type="http://schemas.openxmlformats.org/officeDocument/2006/relationships/diagramColors" Target="../diagrams/colors356.xml"/><Relationship Id="rId4" Type="http://schemas.openxmlformats.org/officeDocument/2006/relationships/diagramQuickStyle" Target="../diagrams/quickStyle356.xml"/></Relationships>
</file>

<file path=ppt/slides/_rels/slide362.xml.rels><?xml version="1.0" encoding="UTF-8" standalone="yes"?>
<Relationships xmlns="http://schemas.openxmlformats.org/package/2006/relationships"><Relationship Id="rId3" Type="http://schemas.openxmlformats.org/officeDocument/2006/relationships/diagramLayout" Target="../diagrams/layout357.xml"/><Relationship Id="rId2" Type="http://schemas.openxmlformats.org/officeDocument/2006/relationships/diagramData" Target="../diagrams/data357.xml"/><Relationship Id="rId1" Type="http://schemas.openxmlformats.org/officeDocument/2006/relationships/slideLayout" Target="../slideLayouts/slideLayout2.xml"/><Relationship Id="rId6" Type="http://schemas.microsoft.com/office/2007/relationships/diagramDrawing" Target="../diagrams/drawing357.xml"/><Relationship Id="rId5" Type="http://schemas.openxmlformats.org/officeDocument/2006/relationships/diagramColors" Target="../diagrams/colors357.xml"/><Relationship Id="rId4" Type="http://schemas.openxmlformats.org/officeDocument/2006/relationships/diagramQuickStyle" Target="../diagrams/quickStyle357.xml"/></Relationships>
</file>

<file path=ppt/slides/_rels/slide363.xml.rels><?xml version="1.0" encoding="UTF-8" standalone="yes"?>
<Relationships xmlns="http://schemas.openxmlformats.org/package/2006/relationships"><Relationship Id="rId3" Type="http://schemas.openxmlformats.org/officeDocument/2006/relationships/diagramLayout" Target="../diagrams/layout358.xml"/><Relationship Id="rId2" Type="http://schemas.openxmlformats.org/officeDocument/2006/relationships/diagramData" Target="../diagrams/data358.xml"/><Relationship Id="rId1" Type="http://schemas.openxmlformats.org/officeDocument/2006/relationships/slideLayout" Target="../slideLayouts/slideLayout2.xml"/><Relationship Id="rId6" Type="http://schemas.microsoft.com/office/2007/relationships/diagramDrawing" Target="../diagrams/drawing358.xml"/><Relationship Id="rId5" Type="http://schemas.openxmlformats.org/officeDocument/2006/relationships/diagramColors" Target="../diagrams/colors358.xml"/><Relationship Id="rId4" Type="http://schemas.openxmlformats.org/officeDocument/2006/relationships/diagramQuickStyle" Target="../diagrams/quickStyle358.xml"/></Relationships>
</file>

<file path=ppt/slides/_rels/slide364.xml.rels><?xml version="1.0" encoding="UTF-8" standalone="yes"?>
<Relationships xmlns="http://schemas.openxmlformats.org/package/2006/relationships"><Relationship Id="rId3" Type="http://schemas.openxmlformats.org/officeDocument/2006/relationships/diagramLayout" Target="../diagrams/layout359.xml"/><Relationship Id="rId2" Type="http://schemas.openxmlformats.org/officeDocument/2006/relationships/diagramData" Target="../diagrams/data359.xml"/><Relationship Id="rId1" Type="http://schemas.openxmlformats.org/officeDocument/2006/relationships/slideLayout" Target="../slideLayouts/slideLayout2.xml"/><Relationship Id="rId6" Type="http://schemas.microsoft.com/office/2007/relationships/diagramDrawing" Target="../diagrams/drawing359.xml"/><Relationship Id="rId5" Type="http://schemas.openxmlformats.org/officeDocument/2006/relationships/diagramColors" Target="../diagrams/colors359.xml"/><Relationship Id="rId4" Type="http://schemas.openxmlformats.org/officeDocument/2006/relationships/diagramQuickStyle" Target="../diagrams/quickStyle359.xml"/></Relationships>
</file>

<file path=ppt/slides/_rels/slide365.xml.rels><?xml version="1.0" encoding="UTF-8" standalone="yes"?>
<Relationships xmlns="http://schemas.openxmlformats.org/package/2006/relationships"><Relationship Id="rId3" Type="http://schemas.openxmlformats.org/officeDocument/2006/relationships/diagramLayout" Target="../diagrams/layout360.xml"/><Relationship Id="rId2" Type="http://schemas.openxmlformats.org/officeDocument/2006/relationships/diagramData" Target="../diagrams/data360.xml"/><Relationship Id="rId1" Type="http://schemas.openxmlformats.org/officeDocument/2006/relationships/slideLayout" Target="../slideLayouts/slideLayout2.xml"/><Relationship Id="rId6" Type="http://schemas.microsoft.com/office/2007/relationships/diagramDrawing" Target="../diagrams/drawing360.xml"/><Relationship Id="rId5" Type="http://schemas.openxmlformats.org/officeDocument/2006/relationships/diagramColors" Target="../diagrams/colors360.xml"/><Relationship Id="rId4" Type="http://schemas.openxmlformats.org/officeDocument/2006/relationships/diagramQuickStyle" Target="../diagrams/quickStyle360.xml"/></Relationships>
</file>

<file path=ppt/slides/_rels/slide366.xml.rels><?xml version="1.0" encoding="UTF-8" standalone="yes"?>
<Relationships xmlns="http://schemas.openxmlformats.org/package/2006/relationships"><Relationship Id="rId3" Type="http://schemas.openxmlformats.org/officeDocument/2006/relationships/diagramLayout" Target="../diagrams/layout361.xml"/><Relationship Id="rId2" Type="http://schemas.openxmlformats.org/officeDocument/2006/relationships/diagramData" Target="../diagrams/data361.xml"/><Relationship Id="rId1" Type="http://schemas.openxmlformats.org/officeDocument/2006/relationships/slideLayout" Target="../slideLayouts/slideLayout2.xml"/><Relationship Id="rId6" Type="http://schemas.microsoft.com/office/2007/relationships/diagramDrawing" Target="../diagrams/drawing361.xml"/><Relationship Id="rId5" Type="http://schemas.openxmlformats.org/officeDocument/2006/relationships/diagramColors" Target="../diagrams/colors361.xml"/><Relationship Id="rId4" Type="http://schemas.openxmlformats.org/officeDocument/2006/relationships/diagramQuickStyle" Target="../diagrams/quickStyle361.xml"/></Relationships>
</file>

<file path=ppt/slides/_rels/slide367.xml.rels><?xml version="1.0" encoding="UTF-8" standalone="yes"?>
<Relationships xmlns="http://schemas.openxmlformats.org/package/2006/relationships"><Relationship Id="rId3" Type="http://schemas.openxmlformats.org/officeDocument/2006/relationships/diagramLayout" Target="../diagrams/layout362.xml"/><Relationship Id="rId2" Type="http://schemas.openxmlformats.org/officeDocument/2006/relationships/diagramData" Target="../diagrams/data362.xml"/><Relationship Id="rId1" Type="http://schemas.openxmlformats.org/officeDocument/2006/relationships/slideLayout" Target="../slideLayouts/slideLayout2.xml"/><Relationship Id="rId6" Type="http://schemas.microsoft.com/office/2007/relationships/diagramDrawing" Target="../diagrams/drawing362.xml"/><Relationship Id="rId5" Type="http://schemas.openxmlformats.org/officeDocument/2006/relationships/diagramColors" Target="../diagrams/colors362.xml"/><Relationship Id="rId4" Type="http://schemas.openxmlformats.org/officeDocument/2006/relationships/diagramQuickStyle" Target="../diagrams/quickStyle362.xml"/></Relationships>
</file>

<file path=ppt/slides/_rels/slide368.xml.rels><?xml version="1.0" encoding="UTF-8" standalone="yes"?>
<Relationships xmlns="http://schemas.openxmlformats.org/package/2006/relationships"><Relationship Id="rId8" Type="http://schemas.openxmlformats.org/officeDocument/2006/relationships/hyperlink" Target="https://www.amazon.in/Mapmatics-Navigate-World-Through-Numbers/dp/1035007053" TargetMode="External"/><Relationship Id="rId13" Type="http://schemas.openxmlformats.org/officeDocument/2006/relationships/hyperlink" Target="https://en.wikipedia.org/wiki/Map_projection" TargetMode="External"/><Relationship Id="rId18" Type="http://schemas.openxmlformats.org/officeDocument/2006/relationships/hyperlink" Target="https://github.com/webgeodatavore/awesome-openlayers" TargetMode="External"/><Relationship Id="rId3" Type="http://schemas.openxmlformats.org/officeDocument/2006/relationships/diagramLayout" Target="../diagrams/layout363.xml"/><Relationship Id="rId21" Type="http://schemas.openxmlformats.org/officeDocument/2006/relationships/hyperlink" Target="https://openlayers.org/en/latest/examples/localized-openstreetmap.html" TargetMode="External"/><Relationship Id="rId7" Type="http://schemas.openxmlformats.org/officeDocument/2006/relationships/hyperlink" Target="https://www.esri.com/en-us/esri-press/browse/cartography-the-definitive-guide-to-making-maps" TargetMode="External"/><Relationship Id="rId12" Type="http://schemas.openxmlformats.org/officeDocument/2006/relationships/hyperlink" Target="https://press.uchicago.edu/books/hoc/HOC_V6/HOC_VOLUME6_A.pdf" TargetMode="External"/><Relationship Id="rId17" Type="http://schemas.openxmlformats.org/officeDocument/2006/relationships/hyperlink" Target="https://www.techtarget.com/whatis/definition/geofencing" TargetMode="External"/><Relationship Id="rId2" Type="http://schemas.openxmlformats.org/officeDocument/2006/relationships/diagramData" Target="../diagrams/data363.xml"/><Relationship Id="rId16" Type="http://schemas.openxmlformats.org/officeDocument/2006/relationships/hyperlink" Target="https://developers.google.com/maps/documentation/javascript/vector-map" TargetMode="External"/><Relationship Id="rId20" Type="http://schemas.openxmlformats.org/officeDocument/2006/relationships/hyperlink" Target="https://opensource.com/article/17/8/openstreetmap" TargetMode="External"/><Relationship Id="rId1" Type="http://schemas.openxmlformats.org/officeDocument/2006/relationships/slideLayout" Target="../slideLayouts/slideLayout2.xml"/><Relationship Id="rId6" Type="http://schemas.microsoft.com/office/2007/relationships/diagramDrawing" Target="../diagrams/drawing363.xml"/><Relationship Id="rId11" Type="http://schemas.openxmlformats.org/officeDocument/2006/relationships/hyperlink" Target="https://onlinecourses.swayam2.ac.in/cec26_hs57/preview" TargetMode="External"/><Relationship Id="rId5" Type="http://schemas.openxmlformats.org/officeDocument/2006/relationships/diagramColors" Target="../diagrams/colors363.xml"/><Relationship Id="rId15" Type="http://schemas.openxmlformats.org/officeDocument/2006/relationships/hyperlink" Target="https://medium.com/google-design/google-maps-cb0326d165f5" TargetMode="External"/><Relationship Id="rId10" Type="http://schemas.openxmlformats.org/officeDocument/2006/relationships/hyperlink" Target="https://ia801500.us.archive.org/8/items/in.ernet.dli.2015.119985/2015.119985.Fundamentals-Of-Cartography_text.pdf" TargetMode="External"/><Relationship Id="rId19" Type="http://schemas.openxmlformats.org/officeDocument/2006/relationships/hyperlink" Target="https://wiki.openstreetmap.org/" TargetMode="External"/><Relationship Id="rId4" Type="http://schemas.openxmlformats.org/officeDocument/2006/relationships/diagramQuickStyle" Target="../diagrams/quickStyle363.xml"/><Relationship Id="rId9" Type="http://schemas.openxmlformats.org/officeDocument/2006/relationships/hyperlink" Target="https://www.kngac.ac.in/elearning-portal/ec/admin/contents/2_18KGAG1_2020120403172623.pdf" TargetMode="External"/><Relationship Id="rId14" Type="http://schemas.openxmlformats.org/officeDocument/2006/relationships/hyperlink" Target="https://valhalla.github.io/valhalla/mjolnir/why_tiles/" TargetMode="External"/><Relationship Id="rId22" Type="http://schemas.openxmlformats.org/officeDocument/2006/relationships/hyperlink" Target="https://arxiv.org/abs/2312.07901" TargetMode="External"/></Relationships>
</file>

<file path=ppt/slides/_rels/slide369.xml.rels><?xml version="1.0" encoding="UTF-8" standalone="yes"?>
<Relationships xmlns="http://schemas.openxmlformats.org/package/2006/relationships"><Relationship Id="rId3" Type="http://schemas.openxmlformats.org/officeDocument/2006/relationships/diagramLayout" Target="../diagrams/layout364.xml"/><Relationship Id="rId2" Type="http://schemas.openxmlformats.org/officeDocument/2006/relationships/diagramData" Target="../diagrams/data364.xml"/><Relationship Id="rId1" Type="http://schemas.openxmlformats.org/officeDocument/2006/relationships/slideLayout" Target="../slideLayouts/slideLayout2.xml"/><Relationship Id="rId6" Type="http://schemas.microsoft.com/office/2007/relationships/diagramDrawing" Target="../diagrams/drawing364.xml"/><Relationship Id="rId5" Type="http://schemas.openxmlformats.org/officeDocument/2006/relationships/diagramColors" Target="../diagrams/colors364.xml"/><Relationship Id="rId4" Type="http://schemas.openxmlformats.org/officeDocument/2006/relationships/diagramQuickStyle" Target="../diagrams/quickStyle364.xml"/></Relationships>
</file>

<file path=ppt/slides/_rels/slide370.xml.rels><?xml version="1.0" encoding="UTF-8" standalone="yes"?>
<Relationships xmlns="http://schemas.openxmlformats.org/package/2006/relationships"><Relationship Id="rId3" Type="http://schemas.openxmlformats.org/officeDocument/2006/relationships/diagramLayout" Target="../diagrams/layout365.xml"/><Relationship Id="rId2" Type="http://schemas.openxmlformats.org/officeDocument/2006/relationships/diagramData" Target="../diagrams/data365.xml"/><Relationship Id="rId1" Type="http://schemas.openxmlformats.org/officeDocument/2006/relationships/slideLayout" Target="../slideLayouts/slideLayout2.xml"/><Relationship Id="rId6" Type="http://schemas.microsoft.com/office/2007/relationships/diagramDrawing" Target="../diagrams/drawing365.xml"/><Relationship Id="rId5" Type="http://schemas.openxmlformats.org/officeDocument/2006/relationships/diagramColors" Target="../diagrams/colors365.xml"/><Relationship Id="rId4" Type="http://schemas.openxmlformats.org/officeDocument/2006/relationships/diagramQuickStyle" Target="../diagrams/quickStyle365.xml"/></Relationships>
</file>

<file path=ppt/slides/_rels/slide371.xml.rels><?xml version="1.0" encoding="UTF-8" standalone="yes"?>
<Relationships xmlns="http://schemas.openxmlformats.org/package/2006/relationships"><Relationship Id="rId3" Type="http://schemas.openxmlformats.org/officeDocument/2006/relationships/diagramLayout" Target="../diagrams/layout366.xml"/><Relationship Id="rId2" Type="http://schemas.openxmlformats.org/officeDocument/2006/relationships/diagramData" Target="../diagrams/data366.xml"/><Relationship Id="rId1" Type="http://schemas.openxmlformats.org/officeDocument/2006/relationships/slideLayout" Target="../slideLayouts/slideLayout2.xml"/><Relationship Id="rId6" Type="http://schemas.microsoft.com/office/2007/relationships/diagramDrawing" Target="../diagrams/drawing366.xml"/><Relationship Id="rId5" Type="http://schemas.openxmlformats.org/officeDocument/2006/relationships/diagramColors" Target="../diagrams/colors366.xml"/><Relationship Id="rId4" Type="http://schemas.openxmlformats.org/officeDocument/2006/relationships/diagramQuickStyle" Target="../diagrams/quickStyle366.xml"/></Relationships>
</file>

<file path=ppt/slides/_rels/slide372.xml.rels><?xml version="1.0" encoding="UTF-8" standalone="yes"?>
<Relationships xmlns="http://schemas.openxmlformats.org/package/2006/relationships"><Relationship Id="rId3" Type="http://schemas.openxmlformats.org/officeDocument/2006/relationships/diagramLayout" Target="../diagrams/layout367.xml"/><Relationship Id="rId2" Type="http://schemas.openxmlformats.org/officeDocument/2006/relationships/diagramData" Target="../diagrams/data367.xml"/><Relationship Id="rId1" Type="http://schemas.openxmlformats.org/officeDocument/2006/relationships/slideLayout" Target="../slideLayouts/slideLayout2.xml"/><Relationship Id="rId6" Type="http://schemas.microsoft.com/office/2007/relationships/diagramDrawing" Target="../diagrams/drawing367.xml"/><Relationship Id="rId5" Type="http://schemas.openxmlformats.org/officeDocument/2006/relationships/diagramColors" Target="../diagrams/colors367.xml"/><Relationship Id="rId4" Type="http://schemas.openxmlformats.org/officeDocument/2006/relationships/diagramQuickStyle" Target="../diagrams/quickStyle367.xml"/></Relationships>
</file>

<file path=ppt/slides/_rels/slide373.xml.rels><?xml version="1.0" encoding="UTF-8" standalone="yes"?>
<Relationships xmlns="http://schemas.openxmlformats.org/package/2006/relationships"><Relationship Id="rId8" Type="http://schemas.openxmlformats.org/officeDocument/2006/relationships/hyperlink" Target="https://www.sciencedirect.com/science/article/abs/pii/S0198971506000184" TargetMode="External"/><Relationship Id="rId3" Type="http://schemas.openxmlformats.org/officeDocument/2006/relationships/diagramLayout" Target="../diagrams/layout368.xml"/><Relationship Id="rId7" Type="http://schemas.openxmlformats.org/officeDocument/2006/relationships/hyperlink" Target="https://www.amazon.in/Location-Based-Services-Geo-Information-Engineering-Mastering/dp/0470857374/ref=sr_1_1?crid=7XBMVSUNPOHY&amp;dib=eyJ2IjoiMSJ9.6kKcQfpmPnbVTxQYAaCBkLSks1ApmazQu0laajSakBQ1vLlASZewRQ_CM5ASqIwXSI_GqNC6KQyeamWovaz4tBqtWYkeGTcZZ6ocdM2MnVY.tavHS9UXfq3fGDtgSmgFTM8HxpN7-fPJILNWec-iOZc&amp;dib_tag=se&amp;keywords=Location-Based+Services+and+Geo-Information+Engineering&amp;qid=1762869569&amp;sprefix=location-based+services+and+geo-information+engineering+%2Caps%2C557&amp;sr=8-1" TargetMode="External"/><Relationship Id="rId2" Type="http://schemas.openxmlformats.org/officeDocument/2006/relationships/diagramData" Target="../diagrams/data368.xml"/><Relationship Id="rId1" Type="http://schemas.openxmlformats.org/officeDocument/2006/relationships/slideLayout" Target="../slideLayouts/slideLayout2.xml"/><Relationship Id="rId6" Type="http://schemas.microsoft.com/office/2007/relationships/diagramDrawing" Target="../diagrams/drawing368.xml"/><Relationship Id="rId11" Type="http://schemas.openxmlformats.org/officeDocument/2006/relationships/hyperlink" Target="https://www.sciencedirect.com/science/article/pii/S1389128622001918" TargetMode="External"/><Relationship Id="rId5" Type="http://schemas.openxmlformats.org/officeDocument/2006/relationships/diagramColors" Target="../diagrams/colors368.xml"/><Relationship Id="rId10" Type="http://schemas.openxmlformats.org/officeDocument/2006/relationships/hyperlink" Target="https://arxiv.org/abs/2004.03738" TargetMode="External"/><Relationship Id="rId4" Type="http://schemas.openxmlformats.org/officeDocument/2006/relationships/diagramQuickStyle" Target="../diagrams/quickStyle368.xml"/><Relationship Id="rId9" Type="http://schemas.openxmlformats.org/officeDocument/2006/relationships/hyperlink" Target="https://www.researchgate.net/publication/327256471_Location_based_services_ongoing_evolution_and_research_agenda" TargetMode="External"/></Relationships>
</file>

<file path=ppt/slides/_rels/slide374.xml.rels><?xml version="1.0" encoding="UTF-8" standalone="yes"?>
<Relationships xmlns="http://schemas.openxmlformats.org/package/2006/relationships"><Relationship Id="rId3" Type="http://schemas.openxmlformats.org/officeDocument/2006/relationships/diagramLayout" Target="../diagrams/layout369.xml"/><Relationship Id="rId2" Type="http://schemas.openxmlformats.org/officeDocument/2006/relationships/diagramData" Target="../diagrams/data369.xml"/><Relationship Id="rId1" Type="http://schemas.openxmlformats.org/officeDocument/2006/relationships/slideLayout" Target="../slideLayouts/slideLayout2.xml"/><Relationship Id="rId6" Type="http://schemas.microsoft.com/office/2007/relationships/diagramDrawing" Target="../diagrams/drawing369.xml"/><Relationship Id="rId5" Type="http://schemas.openxmlformats.org/officeDocument/2006/relationships/diagramColors" Target="../diagrams/colors369.xml"/><Relationship Id="rId4" Type="http://schemas.openxmlformats.org/officeDocument/2006/relationships/diagramQuickStyle" Target="../diagrams/quickStyle369.xml"/></Relationships>
</file>

<file path=ppt/slides/_rels/slide375.xml.rels><?xml version="1.0" encoding="UTF-8" standalone="yes"?>
<Relationships xmlns="http://schemas.openxmlformats.org/package/2006/relationships"><Relationship Id="rId3" Type="http://schemas.openxmlformats.org/officeDocument/2006/relationships/diagramLayout" Target="../diagrams/layout370.xml"/><Relationship Id="rId2" Type="http://schemas.openxmlformats.org/officeDocument/2006/relationships/diagramData" Target="../diagrams/data370.xml"/><Relationship Id="rId1" Type="http://schemas.openxmlformats.org/officeDocument/2006/relationships/slideLayout" Target="../slideLayouts/slideLayout2.xml"/><Relationship Id="rId6" Type="http://schemas.microsoft.com/office/2007/relationships/diagramDrawing" Target="../diagrams/drawing370.xml"/><Relationship Id="rId5" Type="http://schemas.openxmlformats.org/officeDocument/2006/relationships/diagramColors" Target="../diagrams/colors370.xml"/><Relationship Id="rId4" Type="http://schemas.openxmlformats.org/officeDocument/2006/relationships/diagramQuickStyle" Target="../diagrams/quickStyle370.xml"/></Relationships>
</file>

<file path=ppt/slides/_rels/slide376.xml.rels><?xml version="1.0" encoding="UTF-8" standalone="yes"?>
<Relationships xmlns="http://schemas.openxmlformats.org/package/2006/relationships"><Relationship Id="rId3" Type="http://schemas.openxmlformats.org/officeDocument/2006/relationships/diagramLayout" Target="../diagrams/layout371.xml"/><Relationship Id="rId2" Type="http://schemas.openxmlformats.org/officeDocument/2006/relationships/diagramData" Target="../diagrams/data371.xml"/><Relationship Id="rId1" Type="http://schemas.openxmlformats.org/officeDocument/2006/relationships/slideLayout" Target="../slideLayouts/slideLayout2.xml"/><Relationship Id="rId6" Type="http://schemas.microsoft.com/office/2007/relationships/diagramDrawing" Target="../diagrams/drawing371.xml"/><Relationship Id="rId5" Type="http://schemas.openxmlformats.org/officeDocument/2006/relationships/diagramColors" Target="../diagrams/colors371.xml"/><Relationship Id="rId4" Type="http://schemas.openxmlformats.org/officeDocument/2006/relationships/diagramQuickStyle" Target="../diagrams/quickStyle371.xml"/></Relationships>
</file>

<file path=ppt/slides/_rels/slide377.xml.rels><?xml version="1.0" encoding="UTF-8" standalone="yes"?>
<Relationships xmlns="http://schemas.openxmlformats.org/package/2006/relationships"><Relationship Id="rId3" Type="http://schemas.openxmlformats.org/officeDocument/2006/relationships/diagramLayout" Target="../diagrams/layout372.xml"/><Relationship Id="rId7" Type="http://schemas.openxmlformats.org/officeDocument/2006/relationships/image" Target="../media/image104.png"/><Relationship Id="rId2" Type="http://schemas.openxmlformats.org/officeDocument/2006/relationships/diagramData" Target="../diagrams/data372.xml"/><Relationship Id="rId1" Type="http://schemas.openxmlformats.org/officeDocument/2006/relationships/slideLayout" Target="../slideLayouts/slideLayout2.xml"/><Relationship Id="rId6" Type="http://schemas.microsoft.com/office/2007/relationships/diagramDrawing" Target="../diagrams/drawing372.xml"/><Relationship Id="rId5" Type="http://schemas.openxmlformats.org/officeDocument/2006/relationships/diagramColors" Target="../diagrams/colors372.xml"/><Relationship Id="rId4" Type="http://schemas.openxmlformats.org/officeDocument/2006/relationships/diagramQuickStyle" Target="../diagrams/quickStyle372.xml"/></Relationships>
</file>

<file path=ppt/slides/_rels/slide378.xml.rels><?xml version="1.0" encoding="UTF-8" standalone="yes"?>
<Relationships xmlns="http://schemas.openxmlformats.org/package/2006/relationships"><Relationship Id="rId3" Type="http://schemas.openxmlformats.org/officeDocument/2006/relationships/diagramLayout" Target="../diagrams/layout373.xml"/><Relationship Id="rId7" Type="http://schemas.openxmlformats.org/officeDocument/2006/relationships/image" Target="../media/image105.png"/><Relationship Id="rId2" Type="http://schemas.openxmlformats.org/officeDocument/2006/relationships/diagramData" Target="../diagrams/data373.xml"/><Relationship Id="rId1" Type="http://schemas.openxmlformats.org/officeDocument/2006/relationships/slideLayout" Target="../slideLayouts/slideLayout2.xml"/><Relationship Id="rId6" Type="http://schemas.microsoft.com/office/2007/relationships/diagramDrawing" Target="../diagrams/drawing373.xml"/><Relationship Id="rId5" Type="http://schemas.openxmlformats.org/officeDocument/2006/relationships/diagramColors" Target="../diagrams/colors373.xml"/><Relationship Id="rId4" Type="http://schemas.openxmlformats.org/officeDocument/2006/relationships/diagramQuickStyle" Target="../diagrams/quickStyle373.xml"/></Relationships>
</file>

<file path=ppt/slides/_rels/slide379.xml.rels><?xml version="1.0" encoding="UTF-8" standalone="yes"?>
<Relationships xmlns="http://schemas.openxmlformats.org/package/2006/relationships"><Relationship Id="rId8" Type="http://schemas.openxmlformats.org/officeDocument/2006/relationships/hyperlink" Target="https://link.springer.com/book/10.1007/978-3-540-77974-2" TargetMode="External"/><Relationship Id="rId13" Type="http://schemas.openxmlformats.org/officeDocument/2006/relationships/hyperlink" Target="https://github.com/Kasheftin/RoutePlanner" TargetMode="External"/><Relationship Id="rId3" Type="http://schemas.openxmlformats.org/officeDocument/2006/relationships/diagramData" Target="../diagrams/data374.xml"/><Relationship Id="rId7" Type="http://schemas.microsoft.com/office/2007/relationships/diagramDrawing" Target="../diagrams/drawing374.xml"/><Relationship Id="rId12" Type="http://schemas.openxmlformats.org/officeDocument/2006/relationships/hyperlink" Target="https://www.opentripplanner.org/" TargetMode="External"/><Relationship Id="rId2" Type="http://schemas.openxmlformats.org/officeDocument/2006/relationships/notesSlide" Target="../notesSlides/notesSlide66.xml"/><Relationship Id="rId16" Type="http://schemas.openxmlformats.org/officeDocument/2006/relationships/hyperlink" Target="https://www.linkedin.com/posts/gkcs_systemdesign-locationbasedapplications-activity-7207803072083877888-J4os/" TargetMode="External"/><Relationship Id="rId1" Type="http://schemas.openxmlformats.org/officeDocument/2006/relationships/slideLayout" Target="../slideLayouts/slideLayout2.xml"/><Relationship Id="rId6" Type="http://schemas.openxmlformats.org/officeDocument/2006/relationships/diagramColors" Target="../diagrams/colors374.xml"/><Relationship Id="rId11" Type="http://schemas.openxmlformats.org/officeDocument/2006/relationships/hyperlink" Target="https://www.linkedin.com/posts/bonagirisandeep_inside-ubers-system-design-from-rider-request-activity-7379354238176583680-xN-v/" TargetMode="External"/><Relationship Id="rId5" Type="http://schemas.openxmlformats.org/officeDocument/2006/relationships/diagramQuickStyle" Target="../diagrams/quickStyle374.xml"/><Relationship Id="rId15" Type="http://schemas.openxmlformats.org/officeDocument/2006/relationships/hyperlink" Target="https://github.com/opengeos" TargetMode="External"/><Relationship Id="rId10" Type="http://schemas.openxmlformats.org/officeDocument/2006/relationships/hyperlink" Target="https://nostarch.com/math-security" TargetMode="External"/><Relationship Id="rId4" Type="http://schemas.openxmlformats.org/officeDocument/2006/relationships/diagramLayout" Target="../diagrams/layout374.xml"/><Relationship Id="rId9" Type="http://schemas.openxmlformats.org/officeDocument/2006/relationships/hyperlink" Target="https://deeplearning.lipingyang.org/computational-geometry-in-python/" TargetMode="External"/><Relationship Id="rId14" Type="http://schemas.openxmlformats.org/officeDocument/2006/relationships/hyperlink" Target="https://courses.spatialthoughts.com/end-to-end-gee.html" TargetMode="Externa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209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411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91086117"/>
              </p:ext>
            </p:extLst>
          </p:nvPr>
        </p:nvGraphicFramePr>
        <p:xfrm>
          <a:off x="199100" y="304800"/>
          <a:ext cx="4982500" cy="188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18596458"/>
              </p:ext>
            </p:extLst>
          </p:nvPr>
        </p:nvGraphicFramePr>
        <p:xfrm>
          <a:off x="275300" y="1"/>
          <a:ext cx="7192300" cy="20573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BC9E6E50-70F6-85D6-A0B8-63945C435386}"/>
              </a:ext>
            </a:extLst>
          </p:cNvPr>
          <p:cNvSpPr txBox="1">
            <a:spLocks/>
          </p:cNvSpPr>
          <p:nvPr/>
        </p:nvSpPr>
        <p:spPr>
          <a:xfrm>
            <a:off x="442863" y="20574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a:t>
            </a:r>
            <a:r>
              <a:rPr lang="en-US" sz="2400" kern="0" spc="-220" dirty="0">
                <a:solidFill>
                  <a:schemeClr val="accent6"/>
                </a:solidFill>
              </a:rPr>
              <a:t> – Process of developing a product or service, considering the needs &amp; wants of users</a:t>
            </a:r>
          </a:p>
          <a:p>
            <a:pPr marL="12700" marR="5080"/>
            <a:endParaRPr lang="en-US" sz="2400" kern="0" spc="-220" dirty="0">
              <a:solidFill>
                <a:schemeClr val="accent6"/>
              </a:solidFill>
            </a:endParaRPr>
          </a:p>
          <a:p>
            <a:pPr marL="12700" marR="5080"/>
            <a:r>
              <a:rPr lang="en-US" sz="2400" kern="0" spc="-220" dirty="0">
                <a:solidFill>
                  <a:schemeClr val="accent2"/>
                </a:solidFill>
              </a:rPr>
              <a:t>Thinking</a:t>
            </a:r>
            <a:r>
              <a:rPr lang="en-US" sz="2400" kern="0" spc="-220" dirty="0">
                <a:solidFill>
                  <a:schemeClr val="accent6"/>
                </a:solidFill>
              </a:rPr>
              <a:t> – A mindset where users are kept in mind at each stage of development of  a product or service</a:t>
            </a:r>
          </a:p>
          <a:p>
            <a:pPr marL="12700" marR="5080"/>
            <a:endParaRPr lang="en-US" sz="2400" kern="0" spc="-220" dirty="0">
              <a:solidFill>
                <a:schemeClr val="accent6"/>
              </a:solidFill>
            </a:endParaRPr>
          </a:p>
          <a:p>
            <a:pPr marL="12700" marR="5080"/>
            <a:r>
              <a:rPr lang="en-US" sz="2400" kern="0" spc="-220" dirty="0">
                <a:solidFill>
                  <a:schemeClr val="accent6"/>
                </a:solidFill>
              </a:rPr>
              <a:t>In summary,  Design Thinking is human </a:t>
            </a:r>
            <a:r>
              <a:rPr lang="en-US" sz="2400" kern="0" spc="-220" dirty="0" err="1">
                <a:solidFill>
                  <a:schemeClr val="accent6"/>
                </a:solidFill>
              </a:rPr>
              <a:t>centrix</a:t>
            </a:r>
            <a:r>
              <a:rPr lang="en-US" sz="2400" kern="0" spc="-220" dirty="0">
                <a:solidFill>
                  <a:schemeClr val="accent6"/>
                </a:solidFill>
              </a:rPr>
              <a:t> approach to solve complex problems.</a:t>
            </a:r>
            <a:endParaRPr lang="en-US" sz="2400" kern="0" spc="-80" dirty="0">
              <a:solidFill>
                <a:schemeClr val="accent6"/>
              </a:solidFill>
            </a:endParaRP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13176351"/>
              </p:ext>
            </p:extLst>
          </p:nvPr>
        </p:nvGraphicFramePr>
        <p:xfrm>
          <a:off x="275300" y="1"/>
          <a:ext cx="7192300" cy="20573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BC9E6E50-70F6-85D6-A0B8-63945C435386}"/>
              </a:ext>
            </a:extLst>
          </p:cNvPr>
          <p:cNvSpPr txBox="1">
            <a:spLocks/>
          </p:cNvSpPr>
          <p:nvPr/>
        </p:nvSpPr>
        <p:spPr>
          <a:xfrm>
            <a:off x="442863" y="20574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Complex Problems Examples – </a:t>
            </a:r>
          </a:p>
          <a:p>
            <a:pPr marL="469900" marR="5080" indent="-457200">
              <a:buAutoNum type="arabicParenR"/>
            </a:pPr>
            <a:r>
              <a:rPr lang="en-US" sz="2400" kern="0" spc="-220" dirty="0">
                <a:solidFill>
                  <a:schemeClr val="accent6"/>
                </a:solidFill>
              </a:rPr>
              <a:t>Improving Customer Satisfaction for Onboarding</a:t>
            </a:r>
          </a:p>
          <a:p>
            <a:pPr marL="469900" marR="5080" indent="-457200">
              <a:buAutoNum type="arabicParenR"/>
            </a:pPr>
            <a:endParaRPr lang="en-US" sz="2400" kern="0" spc="-220" dirty="0">
              <a:solidFill>
                <a:schemeClr val="accent6"/>
              </a:solidFill>
            </a:endParaRPr>
          </a:p>
          <a:p>
            <a:pPr marL="469900" marR="5080" indent="-457200">
              <a:buAutoNum type="arabicParenR"/>
            </a:pPr>
            <a:r>
              <a:rPr lang="en-US" sz="2400" kern="0" spc="-80" dirty="0">
                <a:solidFill>
                  <a:schemeClr val="accent6"/>
                </a:solidFill>
              </a:rPr>
              <a:t>Improving the adoption of Solar Energy in any country</a:t>
            </a:r>
          </a:p>
          <a:p>
            <a:pPr marL="469900" marR="5080" indent="-457200">
              <a:buAutoNum type="arabicParenR"/>
            </a:pPr>
            <a:endParaRPr lang="en-US" sz="2400" kern="0" spc="-80" dirty="0">
              <a:solidFill>
                <a:schemeClr val="accent6"/>
              </a:solidFill>
            </a:endParaRPr>
          </a:p>
          <a:p>
            <a:pPr marL="469900" marR="5080" indent="-457200">
              <a:buAutoNum type="arabicParenR"/>
            </a:pPr>
            <a:r>
              <a:rPr lang="en-US" sz="2400" kern="0" spc="-80" dirty="0">
                <a:solidFill>
                  <a:schemeClr val="accent6"/>
                </a:solidFill>
              </a:rPr>
              <a:t>Reducing the Attrition Rate in a Team to X%</a:t>
            </a:r>
          </a:p>
          <a:p>
            <a:pPr marL="469900" marR="5080" indent="-457200">
              <a:buAutoNum type="arabicParenR"/>
            </a:pPr>
            <a:endParaRPr lang="en-US" sz="2400" kern="0" spc="-80" dirty="0">
              <a:solidFill>
                <a:schemeClr val="accent6"/>
              </a:solidFill>
            </a:endParaRPr>
          </a:p>
          <a:p>
            <a:pPr marL="469900" marR="5080" indent="-457200">
              <a:buAutoNum type="arabicParenR"/>
            </a:pPr>
            <a:r>
              <a:rPr lang="en-US" sz="2400" kern="0" spc="-80" dirty="0">
                <a:solidFill>
                  <a:schemeClr val="accent6"/>
                </a:solidFill>
              </a:rPr>
              <a:t>Reducing the churn rate of customers in some retail platform</a:t>
            </a:r>
          </a:p>
        </p:txBody>
      </p:sp>
    </p:spTree>
    <p:extLst>
      <p:ext uri="{BB962C8B-B14F-4D97-AF65-F5344CB8AC3E}">
        <p14:creationId xmlns:p14="http://schemas.microsoft.com/office/powerpoint/2010/main" val="150971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2600" y="162221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2600" y="146981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3474184"/>
              </p:ext>
            </p:extLst>
          </p:nvPr>
        </p:nvGraphicFramePr>
        <p:xfrm>
          <a:off x="275300" y="1"/>
          <a:ext cx="7192300" cy="16001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No alt text provided for this image">
            <a:extLst>
              <a:ext uri="{FF2B5EF4-FFF2-40B4-BE49-F238E27FC236}">
                <a16:creationId xmlns:a16="http://schemas.microsoft.com/office/drawing/2014/main" id="{0A23A8F8-246C-4D1D-3602-33422F78A37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905000"/>
            <a:ext cx="6191250" cy="38078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53897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28797475"/>
              </p:ext>
            </p:extLst>
          </p:nvPr>
        </p:nvGraphicFramePr>
        <p:xfrm>
          <a:off x="275300" y="1"/>
          <a:ext cx="7192300" cy="11817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22122"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Empathize</a:t>
            </a:r>
            <a:r>
              <a:rPr lang="en-US" sz="2400" kern="0" spc="-220" dirty="0">
                <a:solidFill>
                  <a:schemeClr val="accent6"/>
                </a:solidFill>
              </a:rPr>
              <a:t> – During this stage, we empathize with the users to understand the real problem(s).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Focus to understand the user’s point of view</a:t>
            </a:r>
          </a:p>
          <a:p>
            <a:pPr marL="12700" marR="5080"/>
            <a:r>
              <a:rPr lang="en-US" sz="2400" kern="0" spc="-80" dirty="0">
                <a:solidFill>
                  <a:schemeClr val="accent6"/>
                </a:solidFill>
              </a:rPr>
              <a:t>Ask users how they interact with the product and service</a:t>
            </a:r>
          </a:p>
          <a:p>
            <a:pPr marL="12700" marR="5080"/>
            <a:r>
              <a:rPr lang="en-US" sz="2400" kern="0" spc="-80" dirty="0">
                <a:solidFill>
                  <a:schemeClr val="accent6"/>
                </a:solidFill>
              </a:rPr>
              <a:t>Engage with a diverse group of users(highly satisfied &amp; highly dissatisfied), Mainstream users </a:t>
            </a:r>
            <a:r>
              <a:rPr lang="en-US" sz="2400" kern="0" spc="-80" dirty="0" err="1">
                <a:solidFill>
                  <a:schemeClr val="accent6"/>
                </a:solidFill>
              </a:rPr>
              <a:t>etc</a:t>
            </a:r>
            <a:endParaRPr lang="en-US" sz="2400" kern="0" spc="-80" dirty="0">
              <a:solidFill>
                <a:schemeClr val="accent6"/>
              </a:solidFill>
            </a:endParaRPr>
          </a:p>
          <a:p>
            <a:pPr marL="12700" marR="5080"/>
            <a:r>
              <a:rPr lang="en-US" sz="2400" kern="0" spc="-80" dirty="0">
                <a:solidFill>
                  <a:schemeClr val="accent6"/>
                </a:solidFill>
              </a:rPr>
              <a:t>The focus is on divergent thinking(creating choices)</a:t>
            </a:r>
          </a:p>
        </p:txBody>
      </p:sp>
      <p:sp>
        <p:nvSpPr>
          <p:cNvPr id="3" name="object 4">
            <a:extLst>
              <a:ext uri="{FF2B5EF4-FFF2-40B4-BE49-F238E27FC236}">
                <a16:creationId xmlns:a16="http://schemas.microsoft.com/office/drawing/2014/main" id="{AB26959E-FE3A-E72D-2086-A3FC5CB8C98A}"/>
              </a:ext>
            </a:extLst>
          </p:cNvPr>
          <p:cNvSpPr/>
          <p:nvPr/>
        </p:nvSpPr>
        <p:spPr>
          <a:xfrm>
            <a:off x="1600200" y="135617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8670AB22-8350-41F1-569E-1EB6EE7EDBE6}"/>
              </a:ext>
            </a:extLst>
          </p:cNvPr>
          <p:cNvSpPr/>
          <p:nvPr/>
        </p:nvSpPr>
        <p:spPr>
          <a:xfrm>
            <a:off x="1600200" y="120377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21663521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75780835"/>
              </p:ext>
            </p:extLst>
          </p:nvPr>
        </p:nvGraphicFramePr>
        <p:xfrm>
          <a:off x="194897" y="-286067"/>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Define</a:t>
            </a:r>
            <a:r>
              <a:rPr lang="en-US" sz="2400" kern="0" spc="-220" dirty="0">
                <a:solidFill>
                  <a:schemeClr val="accent6"/>
                </a:solidFill>
              </a:rPr>
              <a:t> – During this stage, we define the problem statement by synthesizing all the observations we gathered during the Empathize phase.</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Prioritize the major issues &amp; frame the problem statement</a:t>
            </a:r>
          </a:p>
          <a:p>
            <a:pPr marL="12700" marR="5080"/>
            <a:r>
              <a:rPr lang="en-US" sz="2400" kern="0" spc="-80" dirty="0">
                <a:solidFill>
                  <a:schemeClr val="accent6"/>
                </a:solidFill>
              </a:rPr>
              <a:t>Focus on solving the selected &amp; most impactful issues instead of solving all in one single statement</a:t>
            </a:r>
          </a:p>
          <a:p>
            <a:pPr marL="12700" marR="5080"/>
            <a:r>
              <a:rPr lang="en-US" sz="2400" kern="0" spc="-80" dirty="0">
                <a:solidFill>
                  <a:schemeClr val="accent6"/>
                </a:solidFill>
              </a:rPr>
              <a:t>Focus on convergent thinking(making choices)</a:t>
            </a:r>
          </a:p>
          <a:p>
            <a:pPr marL="12700" marR="5080"/>
            <a:r>
              <a:rPr lang="en-US" sz="2400" kern="0" spc="-80" dirty="0">
                <a:solidFill>
                  <a:schemeClr val="accent6"/>
                </a:solidFill>
              </a:rPr>
              <a:t>The problem statement framed in this stage is also called “Point of View”</a:t>
            </a:r>
          </a:p>
        </p:txBody>
      </p:sp>
      <p:sp>
        <p:nvSpPr>
          <p:cNvPr id="3" name="object 4">
            <a:extLst>
              <a:ext uri="{FF2B5EF4-FFF2-40B4-BE49-F238E27FC236}">
                <a16:creationId xmlns:a16="http://schemas.microsoft.com/office/drawing/2014/main" id="{3AD45397-E410-63F8-64F4-38C6E00218E1}"/>
              </a:ext>
            </a:extLst>
          </p:cNvPr>
          <p:cNvSpPr/>
          <p:nvPr/>
        </p:nvSpPr>
        <p:spPr>
          <a:xfrm>
            <a:off x="1752600" y="144532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2A769072-07A7-C6C0-8C76-50F3995FA5F8}"/>
              </a:ext>
            </a:extLst>
          </p:cNvPr>
          <p:cNvSpPr/>
          <p:nvPr/>
        </p:nvSpPr>
        <p:spPr>
          <a:xfrm>
            <a:off x="1752600" y="129292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16640733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096818"/>
              </p:ext>
            </p:extLst>
          </p:nvPr>
        </p:nvGraphicFramePr>
        <p:xfrm>
          <a:off x="194897" y="-76199"/>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Ideate</a:t>
            </a:r>
            <a:r>
              <a:rPr lang="en-US" sz="2400" kern="0" spc="-220" dirty="0">
                <a:solidFill>
                  <a:schemeClr val="accent6"/>
                </a:solidFill>
              </a:rPr>
              <a:t> – Brainstorming to come up with Solution </a:t>
            </a:r>
            <a:r>
              <a:rPr lang="en-US" sz="2400" kern="0" spc="-220" dirty="0" err="1">
                <a:solidFill>
                  <a:schemeClr val="accent6"/>
                </a:solidFill>
              </a:rPr>
              <a:t>Ideas.Gather</a:t>
            </a:r>
            <a:r>
              <a:rPr lang="en-US" sz="2400" kern="0" spc="-220" dirty="0">
                <a:solidFill>
                  <a:schemeClr val="accent6"/>
                </a:solidFill>
              </a:rPr>
              <a:t> as many solution ideas as possible and synthesize all of them for further brainstorming </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Let the ideas flow, do not interrupt even if the ideas are irrelevant, instead accumulate the feasible ideas &amp; build upon them</a:t>
            </a:r>
          </a:p>
          <a:p>
            <a:pPr marL="12700" marR="5080"/>
            <a:r>
              <a:rPr lang="en-US" sz="2400" kern="0" spc="-80" dirty="0">
                <a:solidFill>
                  <a:schemeClr val="accent6"/>
                </a:solidFill>
              </a:rPr>
              <a:t>Do both create choices by divergent thinking(coming up with as many ideas as possible) &amp; make choices through convergent thinking(concluding a few ideas)</a:t>
            </a:r>
          </a:p>
        </p:txBody>
      </p:sp>
    </p:spTree>
    <p:extLst>
      <p:ext uri="{BB962C8B-B14F-4D97-AF65-F5344CB8AC3E}">
        <p14:creationId xmlns:p14="http://schemas.microsoft.com/office/powerpoint/2010/main" val="91081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36502714"/>
              </p:ext>
            </p:extLst>
          </p:nvPr>
        </p:nvGraphicFramePr>
        <p:xfrm>
          <a:off x="194897" y="-54165"/>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Prototype</a:t>
            </a:r>
            <a:r>
              <a:rPr lang="en-US" sz="2400" kern="0" spc="-220" dirty="0">
                <a:solidFill>
                  <a:schemeClr val="accent6"/>
                </a:solidFill>
              </a:rPr>
              <a:t> – Develop a prototype of the ideas. Usually a quick prototype but capable enough to interact with users &amp; get their feedback. It’s more of Thinking with your hands. If a picture is worth of thousand words, a prototype is worth of thousand meetings.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Do not try to develop the final product itself</a:t>
            </a:r>
          </a:p>
          <a:p>
            <a:pPr marL="12700" marR="5080"/>
            <a:r>
              <a:rPr lang="en-US" sz="2400" kern="0" spc="-80" dirty="0">
                <a:solidFill>
                  <a:schemeClr val="accent6"/>
                </a:solidFill>
              </a:rPr>
              <a:t>Objective here is to share it with users and get an early feedback</a:t>
            </a:r>
          </a:p>
          <a:p>
            <a:pPr marL="12700" marR="5080"/>
            <a:r>
              <a:rPr lang="en-US" sz="2400" kern="0" spc="-80" dirty="0">
                <a:solidFill>
                  <a:schemeClr val="accent6"/>
                </a:solidFill>
              </a:rPr>
              <a:t>Focus on aesthetics</a:t>
            </a:r>
          </a:p>
        </p:txBody>
      </p:sp>
    </p:spTree>
    <p:extLst>
      <p:ext uri="{BB962C8B-B14F-4D97-AF65-F5344CB8AC3E}">
        <p14:creationId xmlns:p14="http://schemas.microsoft.com/office/powerpoint/2010/main" val="3377814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507531949"/>
              </p:ext>
            </p:extLst>
          </p:nvPr>
        </p:nvGraphicFramePr>
        <p:xfrm>
          <a:off x="194897" y="-304799"/>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Test</a:t>
            </a:r>
            <a:r>
              <a:rPr lang="en-US" sz="2400" kern="0" spc="-220" dirty="0">
                <a:solidFill>
                  <a:schemeClr val="accent6"/>
                </a:solidFill>
              </a:rPr>
              <a:t> – During this stage we share the prototype with the users and gather their feedback. This, helps in understanding if we are on the right track, or some correction is required. After getting the feedback we may need to go back to any of the first 4 stages.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Test the users with all the users we interacted in the 1</a:t>
            </a:r>
            <a:r>
              <a:rPr lang="en-US" sz="2400" kern="0" spc="-80" baseline="30000" dirty="0">
                <a:solidFill>
                  <a:schemeClr val="accent6"/>
                </a:solidFill>
              </a:rPr>
              <a:t>st</a:t>
            </a:r>
            <a:r>
              <a:rPr lang="en-US" sz="2400" kern="0" spc="-80" dirty="0">
                <a:solidFill>
                  <a:schemeClr val="accent6"/>
                </a:solidFill>
              </a:rPr>
              <a:t> stage.</a:t>
            </a:r>
          </a:p>
          <a:p>
            <a:pPr marL="12700" marR="5080"/>
            <a:r>
              <a:rPr lang="en-US" sz="2400" kern="0" spc="-80" dirty="0">
                <a:solidFill>
                  <a:schemeClr val="accent6"/>
                </a:solidFill>
              </a:rPr>
              <a:t>Gather feedback to make adjustments &amp; even be ready to discard the idea</a:t>
            </a:r>
          </a:p>
          <a:p>
            <a:pPr marL="12700" marR="5080"/>
            <a:r>
              <a:rPr lang="en-US" sz="2400" kern="0" spc="-80" dirty="0">
                <a:solidFill>
                  <a:schemeClr val="accent6"/>
                </a:solidFill>
              </a:rPr>
              <a:t>Maintain a history of all the prototypes for future reference</a:t>
            </a:r>
          </a:p>
        </p:txBody>
      </p:sp>
    </p:spTree>
    <p:extLst>
      <p:ext uri="{BB962C8B-B14F-4D97-AF65-F5344CB8AC3E}">
        <p14:creationId xmlns:p14="http://schemas.microsoft.com/office/powerpoint/2010/main" val="7870499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1BC22-1B18-BDEE-6C31-81208D921C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6F3619-7A68-0355-6324-B2BD7AC2EFB3}"/>
              </a:ext>
            </a:extLst>
          </p:cNvPr>
          <p:cNvSpPr/>
          <p:nvPr/>
        </p:nvSpPr>
        <p:spPr>
          <a:xfrm>
            <a:off x="1756802" y="70516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B4B751B-2B53-6C74-4430-9BB260299E23}"/>
              </a:ext>
            </a:extLst>
          </p:cNvPr>
          <p:cNvSpPr/>
          <p:nvPr/>
        </p:nvSpPr>
        <p:spPr>
          <a:xfrm>
            <a:off x="1756802" y="55937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FD0D0F-562D-9DFB-2463-F5A9165D2314}"/>
              </a:ext>
            </a:extLst>
          </p:cNvPr>
          <p:cNvGraphicFramePr/>
          <p:nvPr/>
        </p:nvGraphicFramePr>
        <p:xfrm>
          <a:off x="304800" y="0"/>
          <a:ext cx="88392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Picture 8" descr="A group of questions on a table&#10;&#10;AI-generated content may be incorrect.">
            <a:extLst>
              <a:ext uri="{FF2B5EF4-FFF2-40B4-BE49-F238E27FC236}">
                <a16:creationId xmlns:a16="http://schemas.microsoft.com/office/drawing/2014/main" id="{6C80D26A-29F4-DDFE-D39A-EB63BDA8E7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723" y="850966"/>
            <a:ext cx="9093667" cy="2597228"/>
          </a:xfrm>
          <a:prstGeom prst="rect">
            <a:avLst/>
          </a:prstGeom>
        </p:spPr>
      </p:pic>
      <p:pic>
        <p:nvPicPr>
          <p:cNvPr id="13" name="Picture 12" descr="A group of questions on a screen&#10;&#10;AI-generated content may be incorrect.">
            <a:extLst>
              <a:ext uri="{FF2B5EF4-FFF2-40B4-BE49-F238E27FC236}">
                <a16:creationId xmlns:a16="http://schemas.microsoft.com/office/drawing/2014/main" id="{C7AF28C4-BE34-B495-EB7C-3C72764E26F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1511" y="3448194"/>
            <a:ext cx="9119069" cy="2463273"/>
          </a:xfrm>
          <a:prstGeom prst="rect">
            <a:avLst/>
          </a:prstGeom>
        </p:spPr>
      </p:pic>
    </p:spTree>
    <p:extLst>
      <p:ext uri="{BB962C8B-B14F-4D97-AF65-F5344CB8AC3E}">
        <p14:creationId xmlns:p14="http://schemas.microsoft.com/office/powerpoint/2010/main" val="3303609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9DA3D-90D1-9452-47FB-009800C9A53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C960F8-CAA1-EAE3-2C23-F415274CB1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58192C-3C5C-CCE2-87BD-9CE71DA5BB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A79983-3C46-8DC1-9508-426248A9EF6B}"/>
              </a:ext>
            </a:extLst>
          </p:cNvPr>
          <p:cNvGraphicFramePr/>
          <p:nvPr>
            <p:extLst>
              <p:ext uri="{D42A27DB-BD31-4B8C-83A1-F6EECF244321}">
                <p14:modId xmlns:p14="http://schemas.microsoft.com/office/powerpoint/2010/main" val="124817733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093303-8E53-4887-12E6-29CBEE15D3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99BDDFE-B3DA-A092-CA7B-BCB44684CC85}"/>
              </a:ext>
            </a:extLst>
          </p:cNvPr>
          <p:cNvSpPr txBox="1">
            <a:spLocks/>
          </p:cNvSpPr>
          <p:nvPr/>
        </p:nvSpPr>
        <p:spPr>
          <a:xfrm>
            <a:off x="137369" y="6858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70" kern="0" spc="-80" dirty="0">
                <a:solidFill>
                  <a:schemeClr val="accent2"/>
                </a:solidFill>
              </a:rPr>
              <a:t>1. Business Context &amp; Goals.</a:t>
            </a:r>
          </a:p>
          <a:p>
            <a:pPr marL="12700" marR="5080"/>
            <a:r>
              <a:rPr lang="en-US" sz="1670" kern="0" spc="-80" dirty="0">
                <a:solidFill>
                  <a:schemeClr val="accent2"/>
                </a:solidFill>
              </a:rPr>
              <a:t>🎯 Business Objectives.</a:t>
            </a:r>
          </a:p>
          <a:p>
            <a:pPr marL="12700" marR="5080"/>
            <a:r>
              <a:rPr lang="en-US" sz="1670" kern="0" spc="-80" dirty="0">
                <a:solidFill>
                  <a:schemeClr val="accent6"/>
                </a:solidFill>
              </a:rPr>
              <a:t>What are the core business goals or drivers for this initiative?</a:t>
            </a:r>
          </a:p>
          <a:p>
            <a:pPr marL="12700" marR="5080"/>
            <a:r>
              <a:rPr lang="en-US" sz="1670" kern="0" spc="-80" dirty="0">
                <a:solidFill>
                  <a:schemeClr val="accent6"/>
                </a:solidFill>
              </a:rPr>
              <a:t>What business outcomes are expected (e.g., cost savings, scalability, new capabilities)?</a:t>
            </a:r>
          </a:p>
          <a:p>
            <a:pPr marL="12700" marR="5080"/>
            <a:r>
              <a:rPr lang="en-US" sz="1670" kern="0" spc="-80" dirty="0">
                <a:solidFill>
                  <a:schemeClr val="accent6"/>
                </a:solidFill>
              </a:rPr>
              <a:t>How will success be measured (KPIs, OKRs)?</a:t>
            </a:r>
          </a:p>
          <a:p>
            <a:pPr marL="12700" marR="5080"/>
            <a:r>
              <a:rPr lang="en-US" sz="1670" kern="0" spc="-80" dirty="0">
                <a:solidFill>
                  <a:schemeClr val="accent6"/>
                </a:solidFill>
              </a:rPr>
              <a:t>What are the critical timelines or milestones?</a:t>
            </a:r>
          </a:p>
          <a:p>
            <a:pPr marL="12700" marR="5080"/>
            <a:r>
              <a:rPr lang="en-US" sz="1670" kern="0" spc="-80" dirty="0">
                <a:solidFill>
                  <a:schemeClr val="accent2"/>
                </a:solidFill>
              </a:rPr>
              <a:t>💼 Stakeholders.</a:t>
            </a:r>
          </a:p>
          <a:p>
            <a:pPr marL="12700" marR="5080"/>
            <a:r>
              <a:rPr lang="en-US" sz="1670" kern="0" spc="-80" dirty="0">
                <a:solidFill>
                  <a:schemeClr val="accent6"/>
                </a:solidFill>
              </a:rPr>
              <a:t>Who are the key stakeholders (business, IT, operations, compliance)?</a:t>
            </a:r>
          </a:p>
          <a:p>
            <a:pPr marL="12700" marR="5080"/>
            <a:r>
              <a:rPr lang="en-US" sz="1670" kern="0" spc="-80" dirty="0">
                <a:solidFill>
                  <a:schemeClr val="accent6"/>
                </a:solidFill>
              </a:rPr>
              <a:t>Who are the decision makers and approvers?</a:t>
            </a:r>
          </a:p>
          <a:p>
            <a:pPr marL="12700" marR="5080"/>
            <a:r>
              <a:rPr lang="en-US" sz="1670" kern="0" spc="-80" dirty="0">
                <a:solidFill>
                  <a:schemeClr val="accent6"/>
                </a:solidFill>
              </a:rPr>
              <a:t>Who are the end users or consumers of the solution?</a:t>
            </a:r>
          </a:p>
          <a:p>
            <a:pPr marL="12700" marR="5080"/>
            <a:r>
              <a:rPr lang="en-US" sz="1670" kern="0" spc="-80" dirty="0">
                <a:solidFill>
                  <a:schemeClr val="accent6"/>
                </a:solidFill>
              </a:rPr>
              <a:t>What are their pain points and expectations?</a:t>
            </a:r>
          </a:p>
          <a:p>
            <a:pPr marL="12700" marR="5080"/>
            <a:r>
              <a:rPr lang="en-US" sz="1670" kern="0" spc="-80" dirty="0">
                <a:solidFill>
                  <a:schemeClr val="accent2"/>
                </a:solidFill>
              </a:rPr>
              <a:t>🧩 2. Current State (As-Is) Architecture.</a:t>
            </a:r>
          </a:p>
          <a:p>
            <a:pPr marL="12700" marR="5080"/>
            <a:r>
              <a:rPr lang="en-US" sz="1670" kern="0" spc="-80" dirty="0">
                <a:solidFill>
                  <a:schemeClr val="accent2"/>
                </a:solidFill>
              </a:rPr>
              <a:t>🔍 Systems &amp; Integrations.</a:t>
            </a:r>
          </a:p>
          <a:p>
            <a:pPr marL="12700" marR="5080"/>
            <a:r>
              <a:rPr lang="en-US" sz="1670" kern="0" spc="-80" dirty="0">
                <a:solidFill>
                  <a:schemeClr val="accent6"/>
                </a:solidFill>
              </a:rPr>
              <a:t>What are the existing systems, services, and integrations involved?</a:t>
            </a:r>
          </a:p>
          <a:p>
            <a:pPr marL="12700" marR="5080"/>
            <a:r>
              <a:rPr lang="en-US" sz="1670" kern="0" spc="-80" dirty="0">
                <a:solidFill>
                  <a:schemeClr val="accent6"/>
                </a:solidFill>
              </a:rPr>
              <a:t>What are their interfaces (APIs, events, files, message queues)?</a:t>
            </a:r>
          </a:p>
          <a:p>
            <a:pPr marL="12700" marR="5080"/>
            <a:r>
              <a:rPr lang="en-US" sz="1670" kern="0" spc="-80" dirty="0">
                <a:solidFill>
                  <a:schemeClr val="accent6"/>
                </a:solidFill>
              </a:rPr>
              <a:t>What data flows currently exist between systems?</a:t>
            </a:r>
          </a:p>
          <a:p>
            <a:pPr marL="12700" marR="5080"/>
            <a:r>
              <a:rPr lang="en-US" sz="1670" kern="0" spc="-80" dirty="0">
                <a:solidFill>
                  <a:schemeClr val="accent2"/>
                </a:solidFill>
              </a:rPr>
              <a:t>⚙️ Technology Landscape.</a:t>
            </a:r>
          </a:p>
          <a:p>
            <a:pPr marL="12700" marR="5080"/>
            <a:r>
              <a:rPr lang="en-US" sz="1670" kern="0" spc="-80" dirty="0">
                <a:solidFill>
                  <a:schemeClr val="accent6"/>
                </a:solidFill>
              </a:rPr>
              <a:t>What technologies, languages, and frameworks are used today?</a:t>
            </a:r>
          </a:p>
          <a:p>
            <a:pPr marL="12700" marR="5080"/>
            <a:r>
              <a:rPr lang="en-US" sz="1670" kern="0" spc="-80" dirty="0">
                <a:solidFill>
                  <a:schemeClr val="accent6"/>
                </a:solidFill>
              </a:rPr>
              <a:t>What infrastructure is in place (cloud, on-prem, hybrid)?</a:t>
            </a:r>
          </a:p>
          <a:p>
            <a:pPr marL="12700" marR="5080"/>
            <a:r>
              <a:rPr lang="en-US" sz="1670" kern="0" spc="-80" dirty="0">
                <a:solidFill>
                  <a:schemeClr val="accent6"/>
                </a:solidFill>
              </a:rPr>
              <a:t>What are the dependencies and technical debt areas?</a:t>
            </a:r>
          </a:p>
        </p:txBody>
      </p:sp>
    </p:spTree>
    <p:extLst>
      <p:ext uri="{BB962C8B-B14F-4D97-AF65-F5344CB8AC3E}">
        <p14:creationId xmlns:p14="http://schemas.microsoft.com/office/powerpoint/2010/main" val="40712165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DCB4A-6808-7A85-E290-82C5625DF9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5DFD19-D177-1D82-0955-283802F524C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A3B707-93D4-6311-E0F0-74DE847600E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43194C-A6B0-5916-502F-D4F7BB603D00}"/>
              </a:ext>
            </a:extLst>
          </p:cNvPr>
          <p:cNvGraphicFramePr/>
          <p:nvPr>
            <p:extLst>
              <p:ext uri="{D42A27DB-BD31-4B8C-83A1-F6EECF244321}">
                <p14:modId xmlns:p14="http://schemas.microsoft.com/office/powerpoint/2010/main" val="336511376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C374D03-1F5D-796F-24BF-39C62EEBA7E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971D389-5FEB-ACF1-7F99-F29C4F594C95}"/>
              </a:ext>
            </a:extLst>
          </p:cNvPr>
          <p:cNvSpPr txBox="1">
            <a:spLocks/>
          </p:cNvSpPr>
          <p:nvPr/>
        </p:nvSpPr>
        <p:spPr>
          <a:xfrm>
            <a:off x="137369"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Operational Metrics.</a:t>
            </a:r>
          </a:p>
          <a:p>
            <a:pPr marL="12700" marR="5080"/>
            <a:r>
              <a:rPr lang="en-US" sz="1800" kern="0" spc="-80" dirty="0">
                <a:solidFill>
                  <a:schemeClr val="accent6"/>
                </a:solidFill>
              </a:rPr>
              <a:t>What are the current performance, availability, and scalability metrics?</a:t>
            </a:r>
          </a:p>
          <a:p>
            <a:pPr marL="12700" marR="5080"/>
            <a:r>
              <a:rPr lang="en-US" sz="1800" kern="0" spc="-80" dirty="0">
                <a:solidFill>
                  <a:schemeClr val="accent6"/>
                </a:solidFill>
              </a:rPr>
              <a:t>How are monitoring and alerting handled today?</a:t>
            </a:r>
          </a:p>
          <a:p>
            <a:pPr marL="12700" marR="5080"/>
            <a:r>
              <a:rPr lang="en-US" sz="1800" kern="0" spc="-80" dirty="0">
                <a:solidFill>
                  <a:schemeClr val="accent6"/>
                </a:solidFill>
              </a:rPr>
              <a:t>What SLAs/SLOs/SLIs exist?</a:t>
            </a:r>
          </a:p>
          <a:p>
            <a:pPr marL="12700" marR="5080"/>
            <a:r>
              <a:rPr lang="en-US" sz="1800" kern="0" spc="-80" dirty="0">
                <a:solidFill>
                  <a:schemeClr val="accent2"/>
                </a:solidFill>
              </a:rPr>
              <a:t>🧱 3. Target State (To-Be) Vision.</a:t>
            </a:r>
          </a:p>
          <a:p>
            <a:pPr marL="12700" marR="5080"/>
            <a:r>
              <a:rPr lang="en-US" sz="1800" kern="0" spc="-80" dirty="0">
                <a:solidFill>
                  <a:schemeClr val="accent2"/>
                </a:solidFill>
              </a:rPr>
              <a:t>🧠 Strategic Direction.</a:t>
            </a:r>
          </a:p>
          <a:p>
            <a:pPr marL="12700" marR="5080"/>
            <a:r>
              <a:rPr lang="en-US" sz="1800" kern="0" spc="-80" dirty="0">
                <a:solidFill>
                  <a:schemeClr val="accent6"/>
                </a:solidFill>
              </a:rPr>
              <a:t>What is the target vision for the system or platform?</a:t>
            </a:r>
          </a:p>
          <a:p>
            <a:pPr marL="12700" marR="5080"/>
            <a:r>
              <a:rPr lang="en-US" sz="1800" kern="0" spc="-80" dirty="0">
                <a:solidFill>
                  <a:schemeClr val="accent6"/>
                </a:solidFill>
              </a:rPr>
              <a:t>What capabilities or features are required?</a:t>
            </a:r>
          </a:p>
          <a:p>
            <a:pPr marL="12700" marR="5080"/>
            <a:r>
              <a:rPr lang="en-US" sz="1800" kern="0" spc="-80" dirty="0">
                <a:solidFill>
                  <a:schemeClr val="accent6"/>
                </a:solidFill>
              </a:rPr>
              <a:t>What architectural qualities (scalability, modularity, portability) are desired?</a:t>
            </a:r>
          </a:p>
          <a:p>
            <a:pPr marL="12700" marR="5080"/>
            <a:r>
              <a:rPr lang="en-US" sz="1800" kern="0" spc="-80" dirty="0">
                <a:solidFill>
                  <a:schemeClr val="accent2"/>
                </a:solidFill>
              </a:rPr>
              <a:t>🧭 Non-Functional Requirements (NFRs).</a:t>
            </a:r>
          </a:p>
          <a:p>
            <a:pPr marL="12700" marR="5080"/>
            <a:r>
              <a:rPr lang="en-US" sz="1800" kern="0" spc="-80" dirty="0">
                <a:solidFill>
                  <a:schemeClr val="accent2"/>
                </a:solidFill>
              </a:rPr>
              <a:t>Category               Key Questions.</a:t>
            </a:r>
          </a:p>
          <a:p>
            <a:pPr marL="12700" marR="5080"/>
            <a:r>
              <a:rPr lang="en-US" sz="1800" kern="0" spc="-80" dirty="0">
                <a:solidFill>
                  <a:schemeClr val="accent6"/>
                </a:solidFill>
              </a:rPr>
              <a:t>Performance         Expected response times, throughput, latency?</a:t>
            </a:r>
          </a:p>
          <a:p>
            <a:pPr marL="12700" marR="5080"/>
            <a:r>
              <a:rPr lang="en-US" sz="1800" kern="0" spc="-80" dirty="0">
                <a:solidFill>
                  <a:schemeClr val="accent6"/>
                </a:solidFill>
              </a:rPr>
              <a:t>Scalability             Vertical/horizontal scaling needs? Auto-scaling?</a:t>
            </a:r>
          </a:p>
          <a:p>
            <a:pPr marL="12700" marR="5080"/>
            <a:r>
              <a:rPr lang="en-US" sz="1800" kern="0" spc="-80" dirty="0">
                <a:solidFill>
                  <a:schemeClr val="accent6"/>
                </a:solidFill>
              </a:rPr>
              <a:t>Availability           Required uptime, failover mechanisms?</a:t>
            </a:r>
          </a:p>
          <a:p>
            <a:pPr marL="12700" marR="5080"/>
            <a:r>
              <a:rPr lang="en-US" sz="1800" kern="0" spc="-80" dirty="0">
                <a:solidFill>
                  <a:schemeClr val="accent6"/>
                </a:solidFill>
              </a:rPr>
              <a:t>Security                 Authentication, authorization, encryption, compliance?</a:t>
            </a:r>
          </a:p>
          <a:p>
            <a:pPr marL="12700" marR="5080"/>
            <a:r>
              <a:rPr lang="en-US" sz="1800" kern="0" spc="-80" dirty="0">
                <a:solidFill>
                  <a:schemeClr val="accent6"/>
                </a:solidFill>
              </a:rPr>
              <a:t>Maintainability     How easily can the system evolve?</a:t>
            </a:r>
          </a:p>
          <a:p>
            <a:pPr marL="12700" marR="5080"/>
            <a:r>
              <a:rPr lang="en-US" sz="1800" kern="0" spc="-80" dirty="0">
                <a:solidFill>
                  <a:schemeClr val="accent6"/>
                </a:solidFill>
              </a:rPr>
              <a:t>Observability        Logging, tracing, metrics collection requirements?</a:t>
            </a:r>
          </a:p>
          <a:p>
            <a:pPr marL="12700" marR="5080"/>
            <a:r>
              <a:rPr lang="en-US" sz="1800" kern="0" spc="-80" dirty="0">
                <a:solidFill>
                  <a:schemeClr val="accent6"/>
                </a:solidFill>
              </a:rPr>
              <a:t>Cost Efficiency     Budget limits, cost-optimization constraints?</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40364357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C75C-AD95-2015-4FB5-DFD81A40AC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A9CEA8-5F17-AD9F-7211-F14A92B779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AE7C96-EF9C-07EC-2EE8-F068A52E08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4AA749-C585-5ED6-F12E-B87DC5821209}"/>
              </a:ext>
            </a:extLst>
          </p:cNvPr>
          <p:cNvGraphicFramePr/>
          <p:nvPr>
            <p:extLst>
              <p:ext uri="{D42A27DB-BD31-4B8C-83A1-F6EECF244321}">
                <p14:modId xmlns:p14="http://schemas.microsoft.com/office/powerpoint/2010/main" val="81527982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00F4405-D8D1-FEF2-8C7C-9072B42F60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B18A3E1-55B4-B05C-3C2C-5865883CB624}"/>
              </a:ext>
            </a:extLst>
          </p:cNvPr>
          <p:cNvSpPr txBox="1">
            <a:spLocks/>
          </p:cNvSpPr>
          <p:nvPr/>
        </p:nvSpPr>
        <p:spPr>
          <a:xfrm>
            <a:off x="137369" y="685800"/>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 4. Data &amp; Integration Discovery.</a:t>
            </a:r>
          </a:p>
          <a:p>
            <a:pPr marL="12700" marR="5080"/>
            <a:r>
              <a:rPr lang="en-US" sz="1600" kern="0" spc="-80" dirty="0">
                <a:solidFill>
                  <a:schemeClr val="accent2"/>
                </a:solidFill>
              </a:rPr>
              <a:t>📦 Data Landscape.</a:t>
            </a:r>
          </a:p>
          <a:p>
            <a:pPr marL="12700" marR="5080"/>
            <a:r>
              <a:rPr lang="en-US" sz="1600" kern="0" spc="-80" dirty="0">
                <a:solidFill>
                  <a:schemeClr val="accent6"/>
                </a:solidFill>
              </a:rPr>
              <a:t>What are the key data entities and their relationships?</a:t>
            </a:r>
          </a:p>
          <a:p>
            <a:pPr marL="12700" marR="5080"/>
            <a:r>
              <a:rPr lang="en-US" sz="1600" kern="0" spc="-80" dirty="0">
                <a:solidFill>
                  <a:schemeClr val="accent6"/>
                </a:solidFill>
              </a:rPr>
              <a:t>What is the volume, velocity, and variety of data?</a:t>
            </a:r>
          </a:p>
          <a:p>
            <a:pPr marL="12700" marR="5080"/>
            <a:r>
              <a:rPr lang="en-US" sz="1600" kern="0" spc="-80" dirty="0">
                <a:solidFill>
                  <a:schemeClr val="accent6"/>
                </a:solidFill>
              </a:rPr>
              <a:t>What data sources (internal, external, streaming) are used?</a:t>
            </a:r>
          </a:p>
          <a:p>
            <a:pPr marL="12700" marR="5080"/>
            <a:r>
              <a:rPr lang="en-US" sz="1600" kern="0" spc="-80" dirty="0">
                <a:solidFill>
                  <a:schemeClr val="accent6"/>
                </a:solidFill>
              </a:rPr>
              <a:t>What are the data quality and governance concerns?</a:t>
            </a:r>
          </a:p>
          <a:p>
            <a:pPr marL="12700" marR="5080"/>
            <a:r>
              <a:rPr lang="en-US" sz="1600" kern="0" spc="-80" dirty="0">
                <a:solidFill>
                  <a:schemeClr val="accent2"/>
                </a:solidFill>
              </a:rPr>
              <a:t>🔄 Integration Patterns.</a:t>
            </a:r>
          </a:p>
          <a:p>
            <a:pPr marL="12700" marR="5080"/>
            <a:r>
              <a:rPr lang="en-US" sz="1600" kern="0" spc="-80" dirty="0">
                <a:solidFill>
                  <a:schemeClr val="accent6"/>
                </a:solidFill>
              </a:rPr>
              <a:t>What integration mechanisms are required (APIs, events, ETL, messaging)?</a:t>
            </a:r>
          </a:p>
          <a:p>
            <a:pPr marL="12700" marR="5080"/>
            <a:r>
              <a:rPr lang="en-US" sz="1600" kern="0" spc="-80" dirty="0">
                <a:solidFill>
                  <a:schemeClr val="accent6"/>
                </a:solidFill>
              </a:rPr>
              <a:t>Is there a need for real-time vs batch processing?</a:t>
            </a:r>
          </a:p>
          <a:p>
            <a:pPr marL="12700" marR="5080"/>
            <a:r>
              <a:rPr lang="en-US" sz="1600" kern="0" spc="-80" dirty="0">
                <a:solidFill>
                  <a:schemeClr val="accent6"/>
                </a:solidFill>
              </a:rPr>
              <a:t>Are there legacy interfaces to modernize?</a:t>
            </a:r>
          </a:p>
          <a:p>
            <a:pPr marL="12700" marR="5080"/>
            <a:r>
              <a:rPr lang="en-US" sz="1600" kern="0" spc="-80" dirty="0">
                <a:solidFill>
                  <a:schemeClr val="accent2"/>
                </a:solidFill>
              </a:rPr>
              <a:t>☁️ 5. Infrastructure &amp; Deployment.</a:t>
            </a:r>
          </a:p>
          <a:p>
            <a:pPr marL="12700" marR="5080"/>
            <a:r>
              <a:rPr lang="en-US" sz="1600" kern="0" spc="-80" dirty="0">
                <a:solidFill>
                  <a:schemeClr val="accent2"/>
                </a:solidFill>
              </a:rPr>
              <a:t>🧱 Environment Discovery.</a:t>
            </a:r>
          </a:p>
          <a:p>
            <a:pPr marL="12700" marR="5080"/>
            <a:r>
              <a:rPr lang="en-US" sz="1600" kern="0" spc="-80" dirty="0">
                <a:solidFill>
                  <a:schemeClr val="accent6"/>
                </a:solidFill>
              </a:rPr>
              <a:t>Where will workloads run? (On-prem, Azure, AWS, GCP, Hybrid, Edge).</a:t>
            </a:r>
          </a:p>
          <a:p>
            <a:pPr marL="12700" marR="5080"/>
            <a:r>
              <a:rPr lang="en-US" sz="1600" kern="0" spc="-80" dirty="0">
                <a:solidFill>
                  <a:schemeClr val="accent6"/>
                </a:solidFill>
              </a:rPr>
              <a:t>What environments exist (Dev/Test/Prod)?</a:t>
            </a:r>
          </a:p>
          <a:p>
            <a:pPr marL="12700" marR="5080"/>
            <a:r>
              <a:rPr lang="en-US" sz="1600" kern="0" spc="-80" dirty="0">
                <a:solidFill>
                  <a:schemeClr val="accent6"/>
                </a:solidFill>
              </a:rPr>
              <a:t>How is infrastructure provisioned (manual, </a:t>
            </a:r>
            <a:r>
              <a:rPr lang="en-US" sz="1600" kern="0" spc="-80" dirty="0" err="1">
                <a:solidFill>
                  <a:schemeClr val="accent6"/>
                </a:solidFill>
              </a:rPr>
              <a:t>IaC</a:t>
            </a:r>
            <a:r>
              <a:rPr lang="en-US" sz="1600" kern="0" spc="-80" dirty="0">
                <a:solidFill>
                  <a:schemeClr val="accent6"/>
                </a:solidFill>
              </a:rPr>
              <a:t> – Terraform/Bicep)?</a:t>
            </a:r>
          </a:p>
          <a:p>
            <a:pPr marL="12700" marR="5080"/>
            <a:r>
              <a:rPr lang="en-US" sz="1600" kern="0" spc="-80" dirty="0">
                <a:solidFill>
                  <a:schemeClr val="accent6"/>
                </a:solidFill>
              </a:rPr>
              <a:t>What are the network and connectivity constraints?</a:t>
            </a:r>
          </a:p>
          <a:p>
            <a:pPr marL="12700" marR="5080"/>
            <a:r>
              <a:rPr lang="en-US" sz="1600" kern="0" spc="-80" dirty="0">
                <a:solidFill>
                  <a:schemeClr val="accent6"/>
                </a:solidFill>
              </a:rPr>
              <a:t>What compute, storage, and network resources are available?</a:t>
            </a:r>
          </a:p>
          <a:p>
            <a:pPr marL="12700" marR="5080"/>
            <a:r>
              <a:rPr lang="en-US" sz="1600" kern="0" spc="-80" dirty="0">
                <a:solidFill>
                  <a:schemeClr val="accent2"/>
                </a:solidFill>
              </a:rPr>
              <a:t>🚀 Deployment &amp; Operations.</a:t>
            </a:r>
          </a:p>
          <a:p>
            <a:pPr marL="12700" marR="5080"/>
            <a:r>
              <a:rPr lang="en-US" sz="1600" kern="0" spc="-80" dirty="0">
                <a:solidFill>
                  <a:schemeClr val="accent6"/>
                </a:solidFill>
              </a:rPr>
              <a:t>What is the CI/CD pipeline strategy?</a:t>
            </a:r>
          </a:p>
          <a:p>
            <a:pPr marL="12700" marR="5080"/>
            <a:r>
              <a:rPr lang="en-US" sz="1600" kern="0" spc="-80" dirty="0">
                <a:solidFill>
                  <a:schemeClr val="accent6"/>
                </a:solidFill>
              </a:rPr>
              <a:t>How are rollouts, rollbacks, and versioning handled?</a:t>
            </a:r>
          </a:p>
          <a:p>
            <a:pPr marL="12700" marR="5080"/>
            <a:r>
              <a:rPr lang="en-US" sz="1600" kern="0" spc="-80" dirty="0">
                <a:solidFill>
                  <a:schemeClr val="accent6"/>
                </a:solidFill>
              </a:rPr>
              <a:t>What’s the monitoring, logging, and alerting setup?</a:t>
            </a:r>
          </a:p>
          <a:p>
            <a:pPr marL="12700" marR="5080"/>
            <a:r>
              <a:rPr lang="en-US" sz="1600" kern="0" spc="-80" dirty="0">
                <a:solidFill>
                  <a:schemeClr val="accent6"/>
                </a:solidFill>
              </a:rPr>
              <a:t>Who handles incident response and SRE functions?</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11002252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615CF-7B3D-A031-1155-041E86AC75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471D53-8A67-04B4-2583-14EC356C28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5FB2B1-B1D2-AD1C-7C62-2C4077E609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BF0B749-72B6-691F-2564-DB3C84009BE4}"/>
              </a:ext>
            </a:extLst>
          </p:cNvPr>
          <p:cNvGraphicFramePr/>
          <p:nvPr>
            <p:extLst>
              <p:ext uri="{D42A27DB-BD31-4B8C-83A1-F6EECF244321}">
                <p14:modId xmlns:p14="http://schemas.microsoft.com/office/powerpoint/2010/main" val="337190444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9BA155E-E20F-5F42-869E-C5AF3BBF20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CCE9CE-A9AA-3269-E71D-075E33FF2EC7}"/>
              </a:ext>
            </a:extLst>
          </p:cNvPr>
          <p:cNvSpPr txBox="1">
            <a:spLocks/>
          </p:cNvSpPr>
          <p:nvPr/>
        </p:nvSpPr>
        <p:spPr>
          <a:xfrm>
            <a:off x="137369"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 6. Security, Compliance &amp; Governance.</a:t>
            </a:r>
          </a:p>
          <a:p>
            <a:pPr marL="12700" marR="5080"/>
            <a:r>
              <a:rPr lang="en-US" sz="1700" kern="0" spc="-80" dirty="0">
                <a:solidFill>
                  <a:schemeClr val="accent2"/>
                </a:solidFill>
              </a:rPr>
              <a:t>🔒 Security.</a:t>
            </a:r>
          </a:p>
          <a:p>
            <a:pPr marL="12700" marR="5080"/>
            <a:r>
              <a:rPr lang="en-US" sz="1700" kern="0" spc="-80" dirty="0">
                <a:solidFill>
                  <a:schemeClr val="accent6"/>
                </a:solidFill>
              </a:rPr>
              <a:t>How is identity and access management (IAM) handled?</a:t>
            </a:r>
          </a:p>
          <a:p>
            <a:pPr marL="12700" marR="5080"/>
            <a:r>
              <a:rPr lang="en-US" sz="1700" kern="0" spc="-80" dirty="0">
                <a:solidFill>
                  <a:schemeClr val="accent6"/>
                </a:solidFill>
              </a:rPr>
              <a:t>Are there encryption requirements (at rest, in transit)?</a:t>
            </a:r>
          </a:p>
          <a:p>
            <a:pPr marL="12700" marR="5080"/>
            <a:r>
              <a:rPr lang="en-US" sz="1700" kern="0" spc="-80" dirty="0">
                <a:solidFill>
                  <a:schemeClr val="accent6"/>
                </a:solidFill>
              </a:rPr>
              <a:t>How are secrets managed?</a:t>
            </a:r>
          </a:p>
          <a:p>
            <a:pPr marL="12700" marR="5080"/>
            <a:r>
              <a:rPr lang="en-US" sz="1700" kern="0" spc="-80" dirty="0">
                <a:solidFill>
                  <a:schemeClr val="accent6"/>
                </a:solidFill>
              </a:rPr>
              <a:t>Any known vulnerabilities or threats?</a:t>
            </a:r>
          </a:p>
          <a:p>
            <a:pPr marL="12700" marR="5080"/>
            <a:r>
              <a:rPr lang="en-US" sz="1700" kern="0" spc="-80" dirty="0">
                <a:solidFill>
                  <a:schemeClr val="accent2"/>
                </a:solidFill>
              </a:rPr>
              <a:t>🧾 Compliance.</a:t>
            </a:r>
          </a:p>
          <a:p>
            <a:pPr marL="12700" marR="5080"/>
            <a:r>
              <a:rPr lang="en-US" sz="1700" kern="0" spc="-80" dirty="0">
                <a:solidFill>
                  <a:schemeClr val="accent6"/>
                </a:solidFill>
              </a:rPr>
              <a:t>What regulatory frameworks apply (GDPR, HIPAA, ISO, RBI, etc.)?</a:t>
            </a:r>
          </a:p>
          <a:p>
            <a:pPr marL="12700" marR="5080"/>
            <a:r>
              <a:rPr lang="en-US" sz="1700" kern="0" spc="-80" dirty="0">
                <a:solidFill>
                  <a:schemeClr val="accent6"/>
                </a:solidFill>
              </a:rPr>
              <a:t>What are the audit and logging requirements?</a:t>
            </a:r>
          </a:p>
          <a:p>
            <a:pPr marL="12700" marR="5080"/>
            <a:r>
              <a:rPr lang="en-US" sz="1700" kern="0" spc="-80" dirty="0">
                <a:solidFill>
                  <a:schemeClr val="accent6"/>
                </a:solidFill>
              </a:rPr>
              <a:t>Are there data residency or sovereignty constraints?</a:t>
            </a:r>
          </a:p>
          <a:p>
            <a:pPr marL="12700" marR="5080"/>
            <a:r>
              <a:rPr lang="en-US" sz="1700" kern="0" spc="-80" dirty="0">
                <a:solidFill>
                  <a:schemeClr val="accent2"/>
                </a:solidFill>
              </a:rPr>
              <a:t>🧠 7. People, Process &amp; Change Management.</a:t>
            </a:r>
          </a:p>
          <a:p>
            <a:pPr marL="12700" marR="5080"/>
            <a:r>
              <a:rPr lang="en-US" sz="1700" kern="0" spc="-80" dirty="0">
                <a:solidFill>
                  <a:schemeClr val="accent6"/>
                </a:solidFill>
              </a:rPr>
              <a:t>Who will own and maintain the solution post-deployment?</a:t>
            </a:r>
          </a:p>
          <a:p>
            <a:pPr marL="12700" marR="5080"/>
            <a:r>
              <a:rPr lang="en-US" sz="1700" kern="0" spc="-80" dirty="0">
                <a:solidFill>
                  <a:schemeClr val="accent6"/>
                </a:solidFill>
              </a:rPr>
              <a:t>What skills are available in-house vs. need upskilling?</a:t>
            </a:r>
          </a:p>
          <a:p>
            <a:pPr marL="12700" marR="5080"/>
            <a:r>
              <a:rPr lang="en-US" sz="1700" kern="0" spc="-80" dirty="0">
                <a:solidFill>
                  <a:schemeClr val="accent6"/>
                </a:solidFill>
              </a:rPr>
              <a:t>Are there existing DevOps/SRE or </a:t>
            </a:r>
            <a:r>
              <a:rPr lang="en-US" sz="1700" kern="0" spc="-80" dirty="0" err="1">
                <a:solidFill>
                  <a:schemeClr val="accent6"/>
                </a:solidFill>
              </a:rPr>
              <a:t>MLOps</a:t>
            </a:r>
            <a:r>
              <a:rPr lang="en-US" sz="1700" kern="0" spc="-80" dirty="0">
                <a:solidFill>
                  <a:schemeClr val="accent6"/>
                </a:solidFill>
              </a:rPr>
              <a:t> practices?</a:t>
            </a:r>
          </a:p>
          <a:p>
            <a:pPr marL="12700" marR="5080"/>
            <a:r>
              <a:rPr lang="en-US" sz="1700" kern="0" spc="-80" dirty="0">
                <a:solidFill>
                  <a:schemeClr val="accent6"/>
                </a:solidFill>
              </a:rPr>
              <a:t>What change management or training plans are required?</a:t>
            </a:r>
          </a:p>
          <a:p>
            <a:pPr marL="12700" marR="5080"/>
            <a:r>
              <a:rPr lang="en-US" sz="1700" kern="0" spc="-80" dirty="0">
                <a:solidFill>
                  <a:schemeClr val="accent2"/>
                </a:solidFill>
              </a:rPr>
              <a:t>📈 8. Risks, Constraints &amp; Assumptions.</a:t>
            </a:r>
          </a:p>
          <a:p>
            <a:pPr marL="12700" marR="5080"/>
            <a:r>
              <a:rPr lang="en-US" sz="1700" kern="0" spc="-80" dirty="0">
                <a:solidFill>
                  <a:schemeClr val="accent2"/>
                </a:solidFill>
              </a:rPr>
              <a:t>Category             Example.</a:t>
            </a:r>
          </a:p>
          <a:p>
            <a:pPr marL="12700" marR="5080"/>
            <a:r>
              <a:rPr lang="en-US" sz="1700" kern="0" spc="-80" dirty="0">
                <a:solidFill>
                  <a:schemeClr val="accent6"/>
                </a:solidFill>
              </a:rPr>
              <a:t>Risks                   Legacy dependency, integration complexity, unclear requirements.</a:t>
            </a:r>
          </a:p>
          <a:p>
            <a:pPr marL="12700" marR="5080"/>
            <a:r>
              <a:rPr lang="en-US" sz="1700" kern="0" spc="-80" dirty="0">
                <a:solidFill>
                  <a:schemeClr val="accent6"/>
                </a:solidFill>
              </a:rPr>
              <a:t>Constraints        Budget, licensing, regulatory, cloud choice.</a:t>
            </a:r>
          </a:p>
          <a:p>
            <a:pPr marL="12700" marR="5080"/>
            <a:r>
              <a:rPr lang="en-US" sz="1700" kern="0" spc="-80" dirty="0">
                <a:solidFill>
                  <a:schemeClr val="accent6"/>
                </a:solidFill>
              </a:rPr>
              <a:t>Assumptions     APIs available, data access permitted, team resources allocated.</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29069374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0835C-8533-C09C-F17F-DCDF0F55D73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0EE7E59-AA8A-451C-E613-639CA795E1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021537-0BC7-DFD4-10AA-CDDD647649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8EE37B-688D-F71D-5000-29839B001495}"/>
              </a:ext>
            </a:extLst>
          </p:cNvPr>
          <p:cNvGraphicFramePr/>
          <p:nvPr>
            <p:extLst>
              <p:ext uri="{D42A27DB-BD31-4B8C-83A1-F6EECF244321}">
                <p14:modId xmlns:p14="http://schemas.microsoft.com/office/powerpoint/2010/main" val="36527957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B304389-F981-CD37-7E12-03F79C4A0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03C7FDA-4039-63C0-2C79-7AF7CCDD99C2}"/>
              </a:ext>
            </a:extLst>
          </p:cNvPr>
          <p:cNvSpPr txBox="1">
            <a:spLocks/>
          </p:cNvSpPr>
          <p:nvPr/>
        </p:nvSpPr>
        <p:spPr>
          <a:xfrm>
            <a:off x="137369"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r>
              <a:rPr lang="en-US" sz="1700" kern="0" spc="-80" dirty="0">
                <a:solidFill>
                  <a:schemeClr val="accent2"/>
                </a:solidFill>
              </a:rPr>
              <a:t>9. Architecture Decision Inputs.</a:t>
            </a:r>
          </a:p>
          <a:p>
            <a:pPr marL="12700" marR="5080"/>
            <a:r>
              <a:rPr lang="en-US" sz="1700" kern="0" spc="-80" dirty="0">
                <a:solidFill>
                  <a:schemeClr val="accent2"/>
                </a:solidFill>
              </a:rPr>
              <a:t>Prepare to capture Architecture Decision Records (ADRs) based on:</a:t>
            </a:r>
          </a:p>
          <a:p>
            <a:pPr marL="12700" marR="5080"/>
            <a:r>
              <a:rPr lang="en-US" sz="1700" kern="0" spc="-80" dirty="0">
                <a:solidFill>
                  <a:schemeClr val="accent6"/>
                </a:solidFill>
              </a:rPr>
              <a:t>Chosen architecture style (Microservices, Event-driven, Data , etc.).</a:t>
            </a:r>
          </a:p>
          <a:p>
            <a:pPr marL="12700" marR="5080"/>
            <a:r>
              <a:rPr lang="en-US" sz="1700" kern="0" spc="-80" dirty="0">
                <a:solidFill>
                  <a:schemeClr val="accent6"/>
                </a:solidFill>
              </a:rPr>
              <a:t>Key trade-offs (complexity vs flexibility, performance vs cost).</a:t>
            </a:r>
          </a:p>
          <a:p>
            <a:pPr marL="12700" marR="5080"/>
            <a:r>
              <a:rPr lang="en-US" sz="1700" kern="0" spc="-80" dirty="0">
                <a:solidFill>
                  <a:schemeClr val="accent6"/>
                </a:solidFill>
              </a:rPr>
              <a:t>Tooling &amp; framework selection rationale.</a:t>
            </a:r>
          </a:p>
          <a:p>
            <a:pPr marL="12700" marR="5080"/>
            <a:r>
              <a:rPr lang="en-US" sz="1700" kern="0" spc="-80" dirty="0">
                <a:solidFill>
                  <a:schemeClr val="accent6"/>
                </a:solidFill>
              </a:rPr>
              <a:t>Cloud or platform strategy (Azure, AWS, hybrid).</a:t>
            </a:r>
          </a:p>
          <a:p>
            <a:pPr marL="12700" marR="5080"/>
            <a:r>
              <a:rPr lang="en-US" sz="1700" kern="0" spc="-80" dirty="0">
                <a:solidFill>
                  <a:schemeClr val="accent2"/>
                </a:solidFill>
              </a:rPr>
              <a:t>🧩 10. Artifacts to Produce.</a:t>
            </a:r>
          </a:p>
          <a:p>
            <a:pPr marL="12700" marR="5080"/>
            <a:r>
              <a:rPr lang="en-US" sz="1700" kern="0" spc="-80" dirty="0">
                <a:solidFill>
                  <a:schemeClr val="accent2"/>
                </a:solidFill>
              </a:rPr>
              <a:t>During or after discovery, architects should aim to deliver:</a:t>
            </a:r>
          </a:p>
          <a:p>
            <a:pPr marL="12700" marR="5080"/>
            <a:r>
              <a:rPr lang="en-US" sz="1700" kern="0" spc="-80" dirty="0">
                <a:solidFill>
                  <a:schemeClr val="accent6"/>
                </a:solidFill>
              </a:rPr>
              <a:t>Current-State (As-Is) architecture diagram.</a:t>
            </a:r>
          </a:p>
          <a:p>
            <a:pPr marL="12700" marR="5080"/>
            <a:r>
              <a:rPr lang="en-US" sz="1700" kern="0" spc="-80" dirty="0">
                <a:solidFill>
                  <a:schemeClr val="accent6"/>
                </a:solidFill>
              </a:rPr>
              <a:t>Target-State (To-Be) architecture diagram.</a:t>
            </a:r>
          </a:p>
          <a:p>
            <a:pPr marL="12700" marR="5080"/>
            <a:r>
              <a:rPr lang="en-US" sz="1700" kern="0" spc="-80" dirty="0">
                <a:solidFill>
                  <a:schemeClr val="accent6"/>
                </a:solidFill>
              </a:rPr>
              <a:t>Strategy Diagram to transform from As-Is to To-Be</a:t>
            </a:r>
          </a:p>
          <a:p>
            <a:pPr marL="12700" marR="5080"/>
            <a:r>
              <a:rPr lang="en-US" sz="1700" kern="0" spc="-80" dirty="0">
                <a:solidFill>
                  <a:schemeClr val="accent6"/>
                </a:solidFill>
              </a:rPr>
              <a:t>Context and container views (C4 model).</a:t>
            </a:r>
          </a:p>
          <a:p>
            <a:pPr marL="12700" marR="5080"/>
            <a:r>
              <a:rPr lang="en-US" sz="1700" kern="0" spc="-80" dirty="0">
                <a:solidFill>
                  <a:schemeClr val="accent6"/>
                </a:solidFill>
              </a:rPr>
              <a:t>Integration/data flow diagrams.</a:t>
            </a:r>
          </a:p>
          <a:p>
            <a:pPr marL="12700" marR="5080"/>
            <a:r>
              <a:rPr lang="en-US" sz="1700" kern="0" spc="-80" dirty="0">
                <a:solidFill>
                  <a:schemeClr val="accent6"/>
                </a:solidFill>
              </a:rPr>
              <a:t>NFR matrix.</a:t>
            </a:r>
          </a:p>
          <a:p>
            <a:pPr marL="12700" marR="5080"/>
            <a:r>
              <a:rPr lang="en-US" sz="1700" kern="0" spc="-80" dirty="0">
                <a:solidFill>
                  <a:schemeClr val="accent6"/>
                </a:solidFill>
              </a:rPr>
              <a:t>Risk and mitigation log.</a:t>
            </a:r>
          </a:p>
          <a:p>
            <a:pPr marL="12700" marR="5080"/>
            <a:r>
              <a:rPr lang="en-US" sz="1700" kern="0" spc="-80" dirty="0">
                <a:solidFill>
                  <a:schemeClr val="accent6"/>
                </a:solidFill>
              </a:rPr>
              <a:t>Architecture Decision Records (ADRs)</a:t>
            </a:r>
            <a:endParaRPr lang="en-IN" sz="1700" kern="0" spc="-80" dirty="0">
              <a:solidFill>
                <a:schemeClr val="accent6"/>
              </a:solidFill>
            </a:endParaRPr>
          </a:p>
        </p:txBody>
      </p:sp>
    </p:spTree>
    <p:extLst>
      <p:ext uri="{BB962C8B-B14F-4D97-AF65-F5344CB8AC3E}">
        <p14:creationId xmlns:p14="http://schemas.microsoft.com/office/powerpoint/2010/main" val="1982141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31784771"/>
              </p:ext>
            </p:extLst>
          </p:nvPr>
        </p:nvGraphicFramePr>
        <p:xfrm>
          <a:off x="194897" y="-311105"/>
          <a:ext cx="7192300" cy="12823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04800" y="13716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Is some As-Is(/Current-State) Architecture/Design/Implementation available?</a:t>
            </a:r>
          </a:p>
          <a:p>
            <a:pPr marL="12700" marR="5080"/>
            <a:endParaRPr lang="en-US" sz="2000" kern="0" spc="-220" dirty="0">
              <a:solidFill>
                <a:schemeClr val="accent6"/>
              </a:solidFill>
            </a:endParaRPr>
          </a:p>
          <a:p>
            <a:pPr marL="12700" marR="5080"/>
            <a:r>
              <a:rPr lang="en-US" sz="2000" kern="0" spc="-220" dirty="0">
                <a:solidFill>
                  <a:schemeClr val="accent6"/>
                </a:solidFill>
              </a:rPr>
              <a:t>If yes, how things are done currently – the whole process.</a:t>
            </a:r>
          </a:p>
          <a:p>
            <a:pPr marL="12700" marR="5080"/>
            <a:endParaRPr lang="en-US" sz="2000" kern="0" spc="-220" dirty="0">
              <a:solidFill>
                <a:schemeClr val="accent6"/>
              </a:solidFill>
            </a:endParaRPr>
          </a:p>
          <a:p>
            <a:pPr marL="12700" marR="5080"/>
            <a:r>
              <a:rPr lang="en-US" sz="2000" kern="0" spc="-220" dirty="0">
                <a:solidFill>
                  <a:schemeClr val="accent6"/>
                </a:solidFill>
              </a:rPr>
              <a:t>Is there any To-Be(/Target) diagram? </a:t>
            </a:r>
          </a:p>
          <a:p>
            <a:pPr marL="12700" marR="5080"/>
            <a:endParaRPr lang="en-US" sz="2000" kern="0" spc="-220" dirty="0">
              <a:solidFill>
                <a:schemeClr val="accent6"/>
              </a:solidFill>
            </a:endParaRPr>
          </a:p>
          <a:p>
            <a:pPr marL="12700" marR="5080"/>
            <a:r>
              <a:rPr lang="en-US" sz="2000" kern="0" spc="-220" dirty="0">
                <a:solidFill>
                  <a:schemeClr val="accent6"/>
                </a:solidFill>
              </a:rPr>
              <a:t>If needed, ask why transforming from As-Is to To-Be? And why now?</a:t>
            </a:r>
          </a:p>
          <a:p>
            <a:pPr marL="12700" marR="5080"/>
            <a:endParaRPr lang="en-US" sz="2000" kern="0" spc="-220" dirty="0">
              <a:solidFill>
                <a:schemeClr val="accent6"/>
              </a:solidFill>
            </a:endParaRPr>
          </a:p>
          <a:p>
            <a:pPr marL="12700" marR="5080"/>
            <a:r>
              <a:rPr lang="en-US" sz="2000" kern="0" spc="-220" dirty="0">
                <a:solidFill>
                  <a:schemeClr val="accent6"/>
                </a:solidFill>
              </a:rPr>
              <a:t>Being Customer Centric rather than just Requirements Centric  i.e. if needed, modify the requirements for better customer satisfaction.</a:t>
            </a:r>
          </a:p>
          <a:p>
            <a:pPr marL="12700" marR="5080"/>
            <a:endParaRPr lang="en-US" sz="2000" kern="0" spc="-220" dirty="0">
              <a:solidFill>
                <a:schemeClr val="accent6"/>
              </a:solidFill>
            </a:endParaRPr>
          </a:p>
          <a:p>
            <a:pPr marL="12700" marR="5080"/>
            <a:r>
              <a:rPr lang="en-US" sz="2000" kern="0" spc="-220" dirty="0">
                <a:solidFill>
                  <a:schemeClr val="accent6"/>
                </a:solidFill>
              </a:rPr>
              <a:t>Proactively ask relevant queries in Requirements Analysis phase  &amp; envision (design) tasks which can turn out to be really very helpful to make the product/service better in the Product Engineering landscape.</a:t>
            </a:r>
          </a:p>
          <a:p>
            <a:pPr marL="12700" marR="5080"/>
            <a:endParaRPr lang="en-US" sz="2400" kern="0" spc="-80" dirty="0">
              <a:solidFill>
                <a:schemeClr val="accent6"/>
              </a:solidFill>
            </a:endParaRPr>
          </a:p>
        </p:txBody>
      </p:sp>
      <p:sp>
        <p:nvSpPr>
          <p:cNvPr id="3" name="object 4">
            <a:extLst>
              <a:ext uri="{FF2B5EF4-FFF2-40B4-BE49-F238E27FC236}">
                <a16:creationId xmlns:a16="http://schemas.microsoft.com/office/drawing/2014/main" id="{AA9CCAEE-3766-F0E4-5E82-9F8EB6CAEFB6}"/>
              </a:ext>
            </a:extLst>
          </p:cNvPr>
          <p:cNvSpPr/>
          <p:nvPr/>
        </p:nvSpPr>
        <p:spPr>
          <a:xfrm>
            <a:off x="1871620" y="113395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937EDB09-A356-4297-DD47-3F27FD65CABA}"/>
              </a:ext>
            </a:extLst>
          </p:cNvPr>
          <p:cNvSpPr/>
          <p:nvPr/>
        </p:nvSpPr>
        <p:spPr>
          <a:xfrm>
            <a:off x="1871620" y="98155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19680988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1817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029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99831909"/>
              </p:ext>
            </p:extLst>
          </p:nvPr>
        </p:nvGraphicFramePr>
        <p:xfrm>
          <a:off x="76200" y="-60735"/>
          <a:ext cx="7192300" cy="11469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295400"/>
            <a:ext cx="8624937" cy="46628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QPS/RPS/TPS(Queries/Requests/Transactions per second)</a:t>
            </a:r>
            <a:r>
              <a:rPr lang="en-US" sz="1800" kern="0" spc="-220" dirty="0">
                <a:solidFill>
                  <a:schemeClr val="accent6"/>
                </a:solidFill>
              </a:rPr>
              <a:t> – As thumb rule, assume(/start with) 1K QPS can be handled by a standard server (&amp; API(s) response time within 100ms in general).</a:t>
            </a:r>
          </a:p>
          <a:p>
            <a:pPr marL="12700" marR="5080"/>
            <a:endParaRPr lang="en-US" sz="1800" kern="0" spc="-220" dirty="0">
              <a:solidFill>
                <a:schemeClr val="accent6"/>
              </a:solidFill>
            </a:endParaRPr>
          </a:p>
          <a:p>
            <a:pPr marL="12700" marR="5080"/>
            <a:r>
              <a:rPr lang="en-US" sz="1800" kern="0" spc="-220" dirty="0">
                <a:solidFill>
                  <a:schemeClr val="accent2"/>
                </a:solidFill>
              </a:rPr>
              <a:t>Read/Write Ratio</a:t>
            </a:r>
            <a:r>
              <a:rPr lang="en-US" sz="1800" kern="0" spc="-220" dirty="0">
                <a:solidFill>
                  <a:schemeClr val="accent6"/>
                </a:solidFill>
              </a:rPr>
              <a:t> – Calculate the tentative/assumed Read/Write</a:t>
            </a:r>
          </a:p>
          <a:p>
            <a:pPr marL="12700" marR="5080"/>
            <a:r>
              <a:rPr lang="en-US" sz="1800" kern="0" spc="-220" dirty="0">
                <a:solidFill>
                  <a:schemeClr val="accent6"/>
                </a:solidFill>
              </a:rPr>
              <a:t>Ratio. This can be helpful in scaling the reads &amp; writes separately.</a:t>
            </a:r>
          </a:p>
          <a:p>
            <a:pPr marL="12700" marR="5080"/>
            <a:endParaRPr lang="en-US" sz="1800" kern="0" spc="-220" dirty="0">
              <a:solidFill>
                <a:schemeClr val="accent6"/>
              </a:solidFill>
            </a:endParaRPr>
          </a:p>
          <a:p>
            <a:pPr marL="12700" marR="5080"/>
            <a:r>
              <a:rPr lang="en-US" sz="1800" kern="0" spc="-220" dirty="0">
                <a:solidFill>
                  <a:schemeClr val="accent2"/>
                </a:solidFill>
              </a:rPr>
              <a:t>Infra Considerations -  </a:t>
            </a:r>
            <a:r>
              <a:rPr lang="en-US" sz="1800" kern="0" spc="-220" dirty="0">
                <a:solidFill>
                  <a:schemeClr val="accent6"/>
                </a:solidFill>
              </a:rPr>
              <a:t>Number of Servers/VMs needed &amp; CPU/Disk/RAM Size needed in each Server/</a:t>
            </a:r>
            <a:r>
              <a:rPr lang="en-US" sz="1800" kern="0" spc="-220" dirty="0" err="1">
                <a:solidFill>
                  <a:schemeClr val="accent6"/>
                </a:solidFill>
              </a:rPr>
              <a:t>Vm</a:t>
            </a:r>
            <a:r>
              <a:rPr lang="en-US" sz="1800" kern="0" spc="-220" dirty="0">
                <a:solidFill>
                  <a:schemeClr val="accent6"/>
                </a:solidFill>
              </a:rPr>
              <a:t>. Network Bandwidth considerations are also important here.</a:t>
            </a:r>
          </a:p>
          <a:p>
            <a:pPr marL="12700" marR="5080"/>
            <a:endParaRPr lang="en-US" sz="1800" kern="0" spc="-220" dirty="0">
              <a:solidFill>
                <a:schemeClr val="accent6"/>
              </a:solidFill>
            </a:endParaRPr>
          </a:p>
          <a:p>
            <a:pPr marL="12700" marR="5080"/>
            <a:r>
              <a:rPr lang="en-US" sz="1800" kern="0" spc="-220" dirty="0">
                <a:solidFill>
                  <a:schemeClr val="accent2"/>
                </a:solidFill>
              </a:rPr>
              <a:t>Storage Size</a:t>
            </a:r>
            <a:r>
              <a:rPr lang="en-US" sz="1800" kern="0" spc="-220" dirty="0">
                <a:solidFill>
                  <a:schemeClr val="accent6"/>
                </a:solidFill>
              </a:rPr>
              <a:t> – Evaluate the size of blobs, DBs </a:t>
            </a:r>
            <a:r>
              <a:rPr lang="en-US" sz="1800" kern="0" spc="-220" dirty="0" err="1">
                <a:solidFill>
                  <a:schemeClr val="accent6"/>
                </a:solidFill>
              </a:rPr>
              <a:t>etc</a:t>
            </a:r>
            <a:r>
              <a:rPr lang="en-US" sz="1800" kern="0" spc="-220" dirty="0">
                <a:solidFill>
                  <a:schemeClr val="accent6"/>
                </a:solidFill>
              </a:rPr>
              <a:t> needed.</a:t>
            </a:r>
          </a:p>
          <a:p>
            <a:pPr marL="12700" marR="5080"/>
            <a:endParaRPr lang="en-US" sz="1800" kern="0" spc="-220" dirty="0">
              <a:solidFill>
                <a:schemeClr val="accent6"/>
              </a:solidFill>
            </a:endParaRPr>
          </a:p>
          <a:p>
            <a:pPr marL="12700" marR="5080"/>
            <a:r>
              <a:rPr lang="en-US" sz="1800" kern="0" spc="-220" dirty="0">
                <a:solidFill>
                  <a:schemeClr val="accent2"/>
                </a:solidFill>
              </a:rPr>
              <a:t>YoY(Year on Year [including  Day 0,1…N]) Growth[for all the above] </a:t>
            </a:r>
            <a:r>
              <a:rPr lang="en-US" sz="1800" kern="0" spc="-220" dirty="0">
                <a:solidFill>
                  <a:schemeClr val="accent6"/>
                </a:solidFill>
              </a:rPr>
              <a:t>– Can be helpful in capacity planning for initial cloud assessment or full on-premise assessment</a:t>
            </a:r>
          </a:p>
          <a:p>
            <a:pPr marL="12700" marR="5080"/>
            <a:endParaRPr lang="en-US" sz="1800" kern="0" spc="-220" dirty="0">
              <a:solidFill>
                <a:schemeClr val="accent6"/>
              </a:solidFill>
            </a:endParaRPr>
          </a:p>
          <a:p>
            <a:pPr marL="12700" marR="5080"/>
            <a:r>
              <a:rPr lang="en-US" sz="1800" kern="0" spc="-220" dirty="0">
                <a:solidFill>
                  <a:schemeClr val="accent6"/>
                </a:solidFill>
              </a:rPr>
              <a:t>Also known as “Capacity Planning”/”Back of the Envelope” Calculations – </a:t>
            </a:r>
            <a:r>
              <a:rPr lang="en-IN" sz="1500" dirty="0" err="1">
                <a:hlinkClick r:id="rId7"/>
              </a:rPr>
              <a:t>ByteByteGo</a:t>
            </a:r>
            <a:r>
              <a:rPr lang="en-IN" sz="1500" dirty="0">
                <a:hlinkClick r:id="rId7"/>
              </a:rPr>
              <a:t> | Back Of the Envelope Estimation</a:t>
            </a:r>
            <a:endParaRPr lang="en-US" sz="2400" kern="0" spc="-80" dirty="0">
              <a:solidFill>
                <a:schemeClr val="accent6"/>
              </a:solidFill>
            </a:endParaRPr>
          </a:p>
        </p:txBody>
      </p:sp>
    </p:spTree>
    <p:extLst>
      <p:ext uri="{BB962C8B-B14F-4D97-AF65-F5344CB8AC3E}">
        <p14:creationId xmlns:p14="http://schemas.microsoft.com/office/powerpoint/2010/main" val="342675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334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1817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08736320"/>
              </p:ext>
            </p:extLst>
          </p:nvPr>
        </p:nvGraphicFramePr>
        <p:xfrm>
          <a:off x="304800" y="76200"/>
          <a:ext cx="7192300" cy="14129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411843"/>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WBS(Work Breakdown Structure)</a:t>
            </a:r>
            <a:r>
              <a:rPr lang="en-US" sz="1400" kern="0" spc="-80" dirty="0">
                <a:solidFill>
                  <a:schemeClr val="accent6"/>
                </a:solidFill>
              </a:rPr>
              <a:t> – Used for normal User Stories in most agile projects. </a:t>
            </a:r>
            <a:r>
              <a:rPr lang="en-US" sz="1400" kern="0" spc="-80" dirty="0" err="1">
                <a:solidFill>
                  <a:schemeClr val="accent6"/>
                </a:solidFill>
              </a:rPr>
              <a:t>Infact</a:t>
            </a:r>
            <a:r>
              <a:rPr lang="en-US" sz="1400" kern="0" spc="-80" dirty="0">
                <a:solidFill>
                  <a:schemeClr val="accent6"/>
                </a:solidFill>
              </a:rPr>
              <a:t> when you do Story-Pointing, you are implicitly using WBS.</a:t>
            </a:r>
          </a:p>
          <a:p>
            <a:pPr marL="12700" marR="5080"/>
            <a:endParaRPr lang="en-US" sz="1400" kern="0" spc="-80" dirty="0">
              <a:solidFill>
                <a:schemeClr val="accent6"/>
              </a:solidFill>
            </a:endParaRPr>
          </a:p>
          <a:p>
            <a:pPr marL="12700" marR="5080"/>
            <a:r>
              <a:rPr lang="en-US" sz="1400" kern="0" spc="-80" dirty="0">
                <a:solidFill>
                  <a:schemeClr val="accent2"/>
                </a:solidFill>
              </a:rPr>
              <a:t>Use Case Estimation</a:t>
            </a:r>
            <a:r>
              <a:rPr lang="en-US" sz="1400" kern="0" spc="-80" dirty="0">
                <a:solidFill>
                  <a:schemeClr val="accent6"/>
                </a:solidFill>
              </a:rPr>
              <a:t> – Used for whole new or Enhancement projects. WBS can be used for each use case for better granularity.</a:t>
            </a:r>
          </a:p>
          <a:p>
            <a:pPr marL="12700" marR="5080"/>
            <a:endParaRPr lang="en-US" sz="1400" kern="0" spc="-80" dirty="0">
              <a:solidFill>
                <a:schemeClr val="accent6"/>
              </a:solidFill>
            </a:endParaRPr>
          </a:p>
          <a:p>
            <a:pPr marL="12700" marR="5080"/>
            <a:r>
              <a:rPr lang="en-US" sz="1400" kern="0" spc="-80" dirty="0">
                <a:solidFill>
                  <a:schemeClr val="accent2"/>
                </a:solidFill>
              </a:rPr>
              <a:t>Function Point Estimation</a:t>
            </a:r>
            <a:r>
              <a:rPr lang="en-US" sz="1400" kern="0" spc="-80" dirty="0">
                <a:solidFill>
                  <a:schemeClr val="accent6"/>
                </a:solidFill>
              </a:rPr>
              <a:t> – Used in some migration projects if source code of existing project is available.</a:t>
            </a:r>
          </a:p>
          <a:p>
            <a:pPr marL="12700" marR="5080"/>
            <a:r>
              <a:rPr lang="en-US" sz="1400" kern="0" spc="-80" dirty="0">
                <a:solidFill>
                  <a:schemeClr val="accent6"/>
                </a:solidFill>
              </a:rPr>
              <a:t>N.B. -&gt; If its some totally new concept/technology, do a PoC using Design Thinking approach and then give the overall estimate using WBS.</a:t>
            </a:r>
          </a:p>
          <a:p>
            <a:pPr marL="12700" marR="5080"/>
            <a:endParaRPr lang="en-US" sz="1400" kern="0" spc="-80" dirty="0">
              <a:solidFill>
                <a:schemeClr val="accent6"/>
              </a:solidFill>
            </a:endParaRPr>
          </a:p>
          <a:p>
            <a:pPr marL="12700" marR="5080"/>
            <a:r>
              <a:rPr lang="en-US" sz="1400" kern="0" spc="-80" dirty="0" err="1">
                <a:solidFill>
                  <a:schemeClr val="accent2"/>
                </a:solidFill>
              </a:rPr>
              <a:t>SAFe</a:t>
            </a:r>
            <a:r>
              <a:rPr lang="en-US" sz="1400" kern="0" spc="-80" dirty="0">
                <a:solidFill>
                  <a:schemeClr val="accent2"/>
                </a:solidFill>
              </a:rPr>
              <a:t> Estimation Techniques</a:t>
            </a:r>
            <a:r>
              <a:rPr lang="en-US" sz="1400" kern="0" spc="-80" dirty="0">
                <a:solidFill>
                  <a:schemeClr val="accent6"/>
                </a:solidFill>
              </a:rPr>
              <a:t> - </a:t>
            </a:r>
            <a:r>
              <a:rPr lang="en-US" sz="1500" dirty="0">
                <a:hlinkClick r:id="rId7"/>
              </a:rPr>
              <a:t>Estimation &amp; Prioritization : Agile &amp; </a:t>
            </a:r>
            <a:r>
              <a:rPr lang="en-US" sz="1500" dirty="0" err="1">
                <a:hlinkClick r:id="rId7"/>
              </a:rPr>
              <a:t>SAFe</a:t>
            </a:r>
            <a:r>
              <a:rPr lang="en-US" sz="1500" dirty="0">
                <a:hlinkClick r:id="rId7"/>
              </a:rPr>
              <a:t> Framework | LinkedIn</a:t>
            </a:r>
            <a:endParaRPr lang="en-US" sz="1500" kern="0" spc="-80" dirty="0">
              <a:solidFill>
                <a:schemeClr val="accent6"/>
              </a:solidFill>
            </a:endParaRPr>
          </a:p>
          <a:p>
            <a:pPr marL="12700" marR="5080"/>
            <a:endParaRPr lang="en-US" sz="1800" kern="0" spc="-80" dirty="0">
              <a:solidFill>
                <a:schemeClr val="accent6"/>
              </a:solidFill>
            </a:endParaRPr>
          </a:p>
          <a:p>
            <a:pPr marL="12700" marR="5080"/>
            <a:r>
              <a:rPr lang="en-US" sz="1400" kern="0" spc="-80" dirty="0">
                <a:solidFill>
                  <a:schemeClr val="accent6"/>
                </a:solidFill>
              </a:rPr>
              <a:t>Some Most Important “Common-Sense” points to keep in consideration while doing any estimate are(although common sense but sometimes we forget these the most) – </a:t>
            </a:r>
          </a:p>
          <a:p>
            <a:pPr marL="355600" marR="5080" indent="-342900">
              <a:buFontTx/>
              <a:buAutoNum type="arabicParenR"/>
            </a:pPr>
            <a:r>
              <a:rPr lang="en-US" sz="1400" kern="0" spc="-80" dirty="0">
                <a:solidFill>
                  <a:schemeClr val="accent6"/>
                </a:solidFill>
              </a:rPr>
              <a:t>Work Load(as per Granular Scoping &amp; Prioritization as per need of the hour), Complexity &amp; Uncertainty. </a:t>
            </a:r>
          </a:p>
          <a:p>
            <a:pPr marL="355600" marR="5080" indent="-342900">
              <a:buAutoNum type="arabicParenR"/>
            </a:pPr>
            <a:r>
              <a:rPr lang="en-US" sz="1400" kern="0" spc="-80" dirty="0">
                <a:solidFill>
                  <a:schemeClr val="accent6"/>
                </a:solidFill>
              </a:rPr>
              <a:t>Always consider 20-30% buffer on overall base estimates you give. It’s always better to commit less &amp; deliver more than vice versa. Check </a:t>
            </a:r>
            <a:r>
              <a:rPr lang="en-IN" sz="1500" dirty="0">
                <a:hlinkClick r:id="rId8"/>
              </a:rPr>
              <a:t>Arpit </a:t>
            </a:r>
            <a:r>
              <a:rPr lang="en-IN" sz="1500" dirty="0" err="1">
                <a:hlinkClick r:id="rId8"/>
              </a:rPr>
              <a:t>Bhayani’s</a:t>
            </a:r>
            <a:r>
              <a:rPr lang="en-IN" sz="1500" dirty="0">
                <a:hlinkClick r:id="rId8"/>
              </a:rPr>
              <a:t> Post on Estimation| LinkedIn</a:t>
            </a:r>
            <a:endParaRPr lang="en-US" sz="1500" kern="0" spc="-80" dirty="0">
              <a:solidFill>
                <a:schemeClr val="accent6"/>
              </a:solidFill>
            </a:endParaRPr>
          </a:p>
          <a:p>
            <a:pPr marL="355600" marR="5080" indent="-342900">
              <a:buAutoNum type="arabicParenR"/>
            </a:pPr>
            <a:r>
              <a:rPr lang="en-US" sz="1400" kern="0" spc="-80" dirty="0">
                <a:solidFill>
                  <a:schemeClr val="accent6"/>
                </a:solidFill>
              </a:rPr>
              <a:t>Team Capacity or Timelines may be needed to be increased/decreased as per need of the hour.</a:t>
            </a:r>
          </a:p>
          <a:p>
            <a:pPr marL="12700" marR="5080"/>
            <a:endParaRPr lang="en-US" sz="1800" kern="0" spc="-80" dirty="0">
              <a:solidFill>
                <a:schemeClr val="accent6"/>
              </a:solidFill>
            </a:endParaRPr>
          </a:p>
          <a:p>
            <a:pPr marL="355600" marR="5080" indent="-342900">
              <a:buAutoNum type="arabicParenR"/>
            </a:pPr>
            <a:endParaRPr lang="en-US" sz="1800" kern="0" spc="-80" dirty="0">
              <a:solidFill>
                <a:schemeClr val="accent6"/>
              </a:solidFill>
            </a:endParaRPr>
          </a:p>
        </p:txBody>
      </p:sp>
    </p:spTree>
    <p:extLst>
      <p:ext uri="{BB962C8B-B14F-4D97-AF65-F5344CB8AC3E}">
        <p14:creationId xmlns:p14="http://schemas.microsoft.com/office/powerpoint/2010/main" val="16911777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26594620"/>
              </p:ext>
            </p:extLst>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90600"/>
            <a:ext cx="8624937" cy="43704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UML </a:t>
            </a:r>
            <a:r>
              <a:rPr lang="en-US" sz="2400" kern="0" spc="-80" dirty="0">
                <a:solidFill>
                  <a:schemeClr val="accent6"/>
                </a:solidFill>
              </a:rPr>
              <a:t>– </a:t>
            </a:r>
          </a:p>
          <a:p>
            <a:pPr marL="12700" marR="5080"/>
            <a:r>
              <a:rPr lang="en-US" sz="2400" kern="0" spc="-80" dirty="0">
                <a:solidFill>
                  <a:schemeClr val="accent2"/>
                </a:solidFill>
              </a:rPr>
              <a:t>Use Case &amp; Activity Diagrams</a:t>
            </a:r>
            <a:r>
              <a:rPr lang="en-US" sz="2400" kern="0" spc="-80" dirty="0">
                <a:solidFill>
                  <a:schemeClr val="accent6"/>
                </a:solidFill>
              </a:rPr>
              <a:t> – </a:t>
            </a:r>
            <a:r>
              <a:rPr lang="en-US" sz="2000" kern="0" spc="-80" dirty="0">
                <a:solidFill>
                  <a:schemeClr val="accent6"/>
                </a:solidFill>
              </a:rPr>
              <a:t>Used for interaction between Dev team and BAs/</a:t>
            </a:r>
            <a:r>
              <a:rPr lang="en-US" sz="2000" kern="0" spc="-80" dirty="0" err="1">
                <a:solidFill>
                  <a:schemeClr val="accent6"/>
                </a:solidFill>
              </a:rPr>
              <a:t>POs.</a:t>
            </a:r>
            <a:r>
              <a:rPr lang="en-US" sz="2000" kern="0" spc="-80" dirty="0">
                <a:solidFill>
                  <a:schemeClr val="accent6"/>
                </a:solidFill>
              </a:rPr>
              <a:t> </a:t>
            </a:r>
          </a:p>
          <a:p>
            <a:pPr marL="12700" marR="5080"/>
            <a:r>
              <a:rPr lang="en-US" sz="1500" dirty="0">
                <a:hlinkClick r:id="rId7"/>
              </a:rPr>
              <a:t>Difference Between Use Case Diagram and Activity Diagram | Compare the Difference Between Similar Terms</a:t>
            </a:r>
            <a:endParaRPr lang="en-US" sz="1500" dirty="0"/>
          </a:p>
          <a:p>
            <a:pPr marL="12700" marR="5080"/>
            <a:endParaRPr lang="en-US" sz="2400" kern="0" spc="-80" dirty="0">
              <a:solidFill>
                <a:schemeClr val="accent6"/>
              </a:solidFill>
            </a:endParaRPr>
          </a:p>
          <a:p>
            <a:pPr marL="12700" marR="5080"/>
            <a:r>
              <a:rPr lang="en-US" sz="2400" kern="0" spc="-80" dirty="0">
                <a:solidFill>
                  <a:schemeClr val="accent2"/>
                </a:solidFill>
              </a:rPr>
              <a:t>Component Diagrams</a:t>
            </a:r>
            <a:r>
              <a:rPr lang="en-US" sz="2400" kern="0" spc="-80" dirty="0">
                <a:solidFill>
                  <a:schemeClr val="accent6"/>
                </a:solidFill>
              </a:rPr>
              <a:t> – </a:t>
            </a:r>
            <a:r>
              <a:rPr lang="en-US" sz="2000" kern="0" spc="-80" dirty="0">
                <a:solidFill>
                  <a:schemeClr val="accent6"/>
                </a:solidFill>
              </a:rPr>
              <a:t>To show how components/services interact with each other</a:t>
            </a:r>
          </a:p>
          <a:p>
            <a:pPr marL="12700" marR="5080"/>
            <a:r>
              <a:rPr lang="en-IN" sz="1500" dirty="0">
                <a:hlinkClick r:id="rId8"/>
              </a:rPr>
              <a:t>What is Component Diagram?</a:t>
            </a:r>
            <a:endParaRPr lang="en-IN" sz="1500" dirty="0"/>
          </a:p>
          <a:p>
            <a:pPr marL="12700" marR="5080"/>
            <a:endParaRPr lang="en-US" sz="1500" kern="0" spc="-80" dirty="0">
              <a:solidFill>
                <a:schemeClr val="accent6"/>
              </a:solidFill>
            </a:endParaRPr>
          </a:p>
          <a:p>
            <a:pPr marL="12700" marR="5080"/>
            <a:r>
              <a:rPr lang="en-US" sz="2400" kern="0" spc="-80" dirty="0">
                <a:solidFill>
                  <a:schemeClr val="accent2"/>
                </a:solidFill>
              </a:rPr>
              <a:t>Class Diagrams</a:t>
            </a:r>
            <a:r>
              <a:rPr lang="en-US" sz="2400" kern="0" spc="-80" dirty="0">
                <a:solidFill>
                  <a:schemeClr val="accent6"/>
                </a:solidFill>
              </a:rPr>
              <a:t> – </a:t>
            </a:r>
            <a:r>
              <a:rPr lang="en-US" sz="2000" kern="0" spc="-80" dirty="0">
                <a:solidFill>
                  <a:schemeClr val="accent6"/>
                </a:solidFill>
              </a:rPr>
              <a:t>To show how components/services are build using class(es)/interface(s).Can be helpful in Reverse Engineering as well. </a:t>
            </a:r>
          </a:p>
          <a:p>
            <a:pPr marL="12700" marR="5080"/>
            <a:r>
              <a:rPr lang="pt-BR" sz="1500" dirty="0">
                <a:hlinkClick r:id="rId9"/>
              </a:rPr>
              <a:t>UML Class Diagram Tutorial | Lucidchart</a:t>
            </a:r>
            <a:r>
              <a:rPr lang="en-US" sz="2000" kern="0" spc="-80" dirty="0">
                <a:solidFill>
                  <a:schemeClr val="accent6"/>
                </a:solidFill>
              </a:rPr>
              <a:t> </a:t>
            </a:r>
            <a:r>
              <a:rPr lang="en-US" sz="2400" kern="0" spc="-80" dirty="0">
                <a:solidFill>
                  <a:schemeClr val="accent6"/>
                </a:solidFill>
              </a:rPr>
              <a:t> </a:t>
            </a:r>
          </a:p>
        </p:txBody>
      </p:sp>
    </p:spTree>
    <p:extLst>
      <p:ext uri="{BB962C8B-B14F-4D97-AF65-F5344CB8AC3E}">
        <p14:creationId xmlns:p14="http://schemas.microsoft.com/office/powerpoint/2010/main" val="32996176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04800" y="949674"/>
            <a:ext cx="8624937" cy="42780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UML </a:t>
            </a:r>
            <a:r>
              <a:rPr lang="en-US" sz="2400" kern="0" spc="-80" dirty="0" err="1">
                <a:solidFill>
                  <a:schemeClr val="accent2"/>
                </a:solidFill>
              </a:rPr>
              <a:t>contd</a:t>
            </a:r>
            <a:r>
              <a:rPr lang="en-US" sz="2400" kern="0" spc="-80" dirty="0">
                <a:solidFill>
                  <a:schemeClr val="accent2"/>
                </a:solidFill>
              </a:rPr>
              <a:t>… </a:t>
            </a:r>
            <a:r>
              <a:rPr lang="en-US" sz="2400" kern="0" spc="-80" dirty="0">
                <a:solidFill>
                  <a:schemeClr val="accent6"/>
                </a:solidFill>
              </a:rPr>
              <a:t>– </a:t>
            </a:r>
          </a:p>
          <a:p>
            <a:pPr marL="12700" marR="5080"/>
            <a:r>
              <a:rPr lang="en-US" sz="2000" kern="0" spc="-80" dirty="0">
                <a:solidFill>
                  <a:schemeClr val="accent2"/>
                </a:solidFill>
              </a:rPr>
              <a:t>Sequence(&amp; Collaboration Diagrams)</a:t>
            </a:r>
            <a:r>
              <a:rPr lang="en-US" sz="2000" kern="0" spc="-80" dirty="0">
                <a:solidFill>
                  <a:schemeClr val="accent6"/>
                </a:solidFill>
              </a:rPr>
              <a:t> </a:t>
            </a:r>
            <a:r>
              <a:rPr lang="en-US" sz="2400" kern="0" spc="-80" dirty="0">
                <a:solidFill>
                  <a:schemeClr val="accent6"/>
                </a:solidFill>
              </a:rPr>
              <a:t>– </a:t>
            </a:r>
            <a:r>
              <a:rPr lang="en-US" sz="2000" kern="0" spc="-80" dirty="0">
                <a:solidFill>
                  <a:schemeClr val="accent6"/>
                </a:solidFill>
              </a:rPr>
              <a:t>Can be used to show interactions flow between classes/components/services. </a:t>
            </a:r>
          </a:p>
          <a:p>
            <a:pPr marL="12700" marR="5080"/>
            <a:r>
              <a:rPr lang="en-US" sz="1500" dirty="0">
                <a:hlinkClick r:id="rId7"/>
              </a:rPr>
              <a:t>Difference between Sequence diagram and Collaboration diagram – </a:t>
            </a:r>
            <a:r>
              <a:rPr lang="en-US" sz="1500" dirty="0" err="1">
                <a:hlinkClick r:id="rId7"/>
              </a:rPr>
              <a:t>GeeksforGeeks</a:t>
            </a:r>
            <a:endParaRPr lang="en-US" sz="1500" dirty="0"/>
          </a:p>
          <a:p>
            <a:pPr marL="12700" marR="5080"/>
            <a:endParaRPr lang="en-US" sz="2400" kern="0" spc="-80" dirty="0">
              <a:solidFill>
                <a:schemeClr val="accent2"/>
              </a:solidFill>
            </a:endParaRPr>
          </a:p>
          <a:p>
            <a:pPr marL="12700" marR="5080"/>
            <a:r>
              <a:rPr lang="en-US" sz="2000" kern="0" spc="-80" dirty="0">
                <a:solidFill>
                  <a:schemeClr val="accent2"/>
                </a:solidFill>
              </a:rPr>
              <a:t>Other Diagramming Models</a:t>
            </a:r>
            <a:r>
              <a:rPr lang="en-US" sz="2000" kern="0" spc="-80" dirty="0">
                <a:solidFill>
                  <a:schemeClr val="accent6"/>
                </a:solidFill>
              </a:rPr>
              <a:t> –</a:t>
            </a:r>
          </a:p>
          <a:p>
            <a:pPr marL="12700" marR="5080"/>
            <a:r>
              <a:rPr lang="en-US" sz="2000" kern="0" spc="-80" dirty="0">
                <a:solidFill>
                  <a:schemeClr val="accent2"/>
                </a:solidFill>
              </a:rPr>
              <a:t>C4 Model</a:t>
            </a:r>
            <a:r>
              <a:rPr lang="en-US" sz="2000" kern="0" spc="-80" dirty="0">
                <a:solidFill>
                  <a:schemeClr val="accent6"/>
                </a:solidFill>
              </a:rPr>
              <a:t> -</a:t>
            </a:r>
            <a:r>
              <a:rPr lang="en-US" sz="2800" kern="0" spc="-80" dirty="0">
                <a:solidFill>
                  <a:schemeClr val="accent6"/>
                </a:solidFill>
              </a:rPr>
              <a:t> </a:t>
            </a:r>
            <a:r>
              <a:rPr lang="en-US" sz="1500" dirty="0">
                <a:hlinkClick r:id="rId8"/>
              </a:rPr>
              <a:t>Visualize Your Software Architecture With The C4 Model</a:t>
            </a:r>
            <a:endParaRPr lang="en-US" sz="1500" dirty="0"/>
          </a:p>
          <a:p>
            <a:pPr marL="12700" marR="5080"/>
            <a:r>
              <a:rPr lang="en-US" sz="2000" kern="0" spc="-80" dirty="0">
                <a:solidFill>
                  <a:schemeClr val="accent2"/>
                </a:solidFill>
              </a:rPr>
              <a:t>BPMN</a:t>
            </a:r>
            <a:r>
              <a:rPr lang="en-US" sz="2000" kern="0" spc="-80" dirty="0">
                <a:solidFill>
                  <a:schemeClr val="accent6"/>
                </a:solidFill>
              </a:rPr>
              <a:t> -</a:t>
            </a:r>
            <a:r>
              <a:rPr lang="en-US" sz="2400" kern="0" spc="-80" dirty="0">
                <a:solidFill>
                  <a:schemeClr val="accent6"/>
                </a:solidFill>
              </a:rPr>
              <a:t> </a:t>
            </a:r>
            <a:r>
              <a:rPr lang="en-US" sz="1500" dirty="0">
                <a:hlinkClick r:id="rId9"/>
              </a:rPr>
              <a:t>BPMN Specification - Business Process Model and Notation</a:t>
            </a:r>
            <a:r>
              <a:rPr lang="en-US" sz="2000" kern="0" spc="-80" dirty="0">
                <a:solidFill>
                  <a:schemeClr val="accent6"/>
                </a:solidFill>
              </a:rPr>
              <a:t> </a:t>
            </a:r>
          </a:p>
          <a:p>
            <a:pPr marL="12700" marR="5080"/>
            <a:r>
              <a:rPr lang="en-US" sz="2000" kern="0" spc="-80" dirty="0" err="1">
                <a:solidFill>
                  <a:schemeClr val="accent2"/>
                </a:solidFill>
              </a:rPr>
              <a:t>Archimate</a:t>
            </a:r>
            <a:r>
              <a:rPr lang="en-US" sz="2000" kern="0" spc="-80" dirty="0">
                <a:solidFill>
                  <a:schemeClr val="accent6"/>
                </a:solidFill>
              </a:rPr>
              <a:t> -</a:t>
            </a:r>
            <a:r>
              <a:rPr lang="en-US" sz="2400" kern="0" spc="-80" dirty="0">
                <a:solidFill>
                  <a:schemeClr val="accent6"/>
                </a:solidFill>
              </a:rPr>
              <a:t> </a:t>
            </a:r>
            <a:r>
              <a:rPr lang="en-IN" sz="1500" dirty="0">
                <a:hlinkClick r:id="rId10"/>
              </a:rPr>
              <a:t>ArchiMate – Wikipedia</a:t>
            </a:r>
            <a:endParaRPr lang="en-IN" sz="1500" dirty="0"/>
          </a:p>
          <a:p>
            <a:pPr marL="12700" marR="5080"/>
            <a:endParaRPr lang="en-US" sz="1500" kern="0" spc="-80" dirty="0">
              <a:solidFill>
                <a:schemeClr val="accent6"/>
              </a:solidFill>
            </a:endParaRPr>
          </a:p>
          <a:p>
            <a:pPr marL="12700" marR="5080"/>
            <a:r>
              <a:rPr lang="en-US" sz="2000" kern="0" spc="-80" dirty="0">
                <a:solidFill>
                  <a:schemeClr val="accent6"/>
                </a:solidFill>
              </a:rPr>
              <a:t>N.B. – Use </a:t>
            </a:r>
            <a:r>
              <a:rPr lang="en-US" sz="2000" kern="0" spc="-80" dirty="0" err="1">
                <a:solidFill>
                  <a:schemeClr val="accent6"/>
                </a:solidFill>
              </a:rPr>
              <a:t>Colour</a:t>
            </a:r>
            <a:r>
              <a:rPr lang="en-US" sz="2000" kern="0" spc="-80" dirty="0">
                <a:solidFill>
                  <a:schemeClr val="accent6"/>
                </a:solidFill>
              </a:rPr>
              <a:t> Coding(border or full box) for Legends for Architectural Components like “New”, “Existing To Be used”, “Modified” or “To be </a:t>
            </a:r>
            <a:r>
              <a:rPr lang="en-US" sz="2000" kern="0" spc="-80" dirty="0" err="1">
                <a:solidFill>
                  <a:schemeClr val="accent6"/>
                </a:solidFill>
              </a:rPr>
              <a:t>Decomissioned</a:t>
            </a:r>
            <a:r>
              <a:rPr lang="en-US" sz="2000" kern="0" spc="-80" dirty="0">
                <a:solidFill>
                  <a:schemeClr val="accent6"/>
                </a:solidFill>
              </a:rPr>
              <a:t>”</a:t>
            </a:r>
            <a:endParaRPr lang="en-US" sz="2400" kern="0" spc="-80" dirty="0">
              <a:solidFill>
                <a:schemeClr val="accent6"/>
              </a:solidFill>
            </a:endParaRPr>
          </a:p>
        </p:txBody>
      </p:sp>
    </p:spTree>
    <p:extLst>
      <p:ext uri="{BB962C8B-B14F-4D97-AF65-F5344CB8AC3E}">
        <p14:creationId xmlns:p14="http://schemas.microsoft.com/office/powerpoint/2010/main" val="26453858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0668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Important Architecture Diagrams and Documentation</a:t>
            </a:r>
          </a:p>
          <a:p>
            <a:pPr marL="12700" marR="5080"/>
            <a:r>
              <a:rPr lang="en-US" sz="2400" kern="0" spc="-80" dirty="0">
                <a:solidFill>
                  <a:schemeClr val="accent2"/>
                </a:solidFill>
              </a:rPr>
              <a:t>Vision &amp; Strategy</a:t>
            </a:r>
            <a:r>
              <a:rPr lang="en-US" sz="2400" kern="0" spc="-80" dirty="0">
                <a:solidFill>
                  <a:schemeClr val="accent6"/>
                </a:solidFill>
              </a:rPr>
              <a:t> </a:t>
            </a:r>
            <a:r>
              <a:rPr lang="en-US" sz="2000" kern="0" spc="-80" dirty="0">
                <a:solidFill>
                  <a:schemeClr val="accent6"/>
                </a:solidFill>
              </a:rPr>
              <a:t>using Roadmaps/Milestones/</a:t>
            </a:r>
            <a:r>
              <a:rPr lang="en-US" sz="2000" kern="0" spc="-80" dirty="0" err="1">
                <a:solidFill>
                  <a:schemeClr val="accent6"/>
                </a:solidFill>
              </a:rPr>
              <a:t>TimeLines</a:t>
            </a:r>
            <a:endParaRPr lang="en-US" sz="2000" kern="0" spc="-80" dirty="0">
              <a:solidFill>
                <a:schemeClr val="accent6"/>
              </a:solidFill>
            </a:endParaRPr>
          </a:p>
          <a:p>
            <a:pPr marL="12700" marR="5080"/>
            <a:endParaRPr lang="en-US" sz="2000" kern="0" spc="-80" dirty="0">
              <a:solidFill>
                <a:schemeClr val="accent6"/>
              </a:solidFill>
            </a:endParaRPr>
          </a:p>
          <a:p>
            <a:pPr marL="12700" marR="5080"/>
            <a:r>
              <a:rPr lang="en-US" sz="2400" kern="0" spc="-80" dirty="0">
                <a:solidFill>
                  <a:schemeClr val="accent2"/>
                </a:solidFill>
              </a:rPr>
              <a:t>Enterprise Landscape</a:t>
            </a:r>
            <a:r>
              <a:rPr lang="en-US" sz="2400" kern="0" spc="-80" dirty="0">
                <a:solidFill>
                  <a:schemeClr val="accent6"/>
                </a:solidFill>
              </a:rPr>
              <a:t> – </a:t>
            </a:r>
            <a:r>
              <a:rPr lang="en-US" sz="2000" kern="0" spc="-80" dirty="0">
                <a:solidFill>
                  <a:schemeClr val="accent6"/>
                </a:solidFill>
              </a:rPr>
              <a:t>for overall high-level view of the entire Enterprise Landscape</a:t>
            </a:r>
          </a:p>
          <a:p>
            <a:pPr marL="12700" marR="5080"/>
            <a:endParaRPr lang="en-US" sz="2000" kern="0" spc="-80" dirty="0">
              <a:solidFill>
                <a:schemeClr val="accent6"/>
              </a:solidFill>
            </a:endParaRPr>
          </a:p>
          <a:p>
            <a:pPr marL="12700" marR="5080"/>
            <a:r>
              <a:rPr lang="en-US" sz="2400" kern="0" spc="-80" dirty="0">
                <a:solidFill>
                  <a:schemeClr val="accent2"/>
                </a:solidFill>
              </a:rPr>
              <a:t>Business Architecture</a:t>
            </a:r>
            <a:r>
              <a:rPr lang="en-US" sz="2400" kern="0" spc="-80" dirty="0">
                <a:solidFill>
                  <a:schemeClr val="accent6"/>
                </a:solidFill>
              </a:rPr>
              <a:t> – </a:t>
            </a:r>
            <a:r>
              <a:rPr lang="en-US" sz="2000" kern="0" spc="-80" dirty="0">
                <a:solidFill>
                  <a:schemeClr val="accent6"/>
                </a:solidFill>
              </a:rPr>
              <a:t>Shows the high-level Business Components &amp; flows/interactions between them</a:t>
            </a:r>
          </a:p>
          <a:p>
            <a:pPr marL="12700" marR="5080"/>
            <a:endParaRPr lang="en-US" sz="2000" kern="0" spc="-80" dirty="0">
              <a:solidFill>
                <a:schemeClr val="accent6"/>
              </a:solidFill>
            </a:endParaRPr>
          </a:p>
          <a:p>
            <a:pPr marL="12700" marR="5080"/>
            <a:r>
              <a:rPr lang="en-US" sz="2400" kern="0" spc="-80" dirty="0">
                <a:solidFill>
                  <a:schemeClr val="accent2"/>
                </a:solidFill>
              </a:rPr>
              <a:t>Application Architecture</a:t>
            </a:r>
            <a:r>
              <a:rPr lang="en-US" sz="2400" kern="0" spc="-80" dirty="0">
                <a:solidFill>
                  <a:schemeClr val="accent6"/>
                </a:solidFill>
              </a:rPr>
              <a:t> – </a:t>
            </a:r>
            <a:r>
              <a:rPr lang="en-US" sz="2000" kern="0" spc="-80" dirty="0">
                <a:solidFill>
                  <a:schemeClr val="accent6"/>
                </a:solidFill>
              </a:rPr>
              <a:t>Various components(showing clearly what technologies are used to build the app) and interactions between them in project(s). </a:t>
            </a:r>
          </a:p>
          <a:p>
            <a:pPr marL="12700" marR="5080"/>
            <a:endParaRPr lang="en-US" sz="2000" kern="0" spc="-80" dirty="0">
              <a:solidFill>
                <a:schemeClr val="accent6"/>
              </a:solidFill>
            </a:endParaRPr>
          </a:p>
          <a:p>
            <a:pPr marL="12700" marR="5080"/>
            <a:r>
              <a:rPr lang="en-US" sz="2000" kern="0" spc="-80" dirty="0">
                <a:solidFill>
                  <a:schemeClr val="accent2"/>
                </a:solidFill>
              </a:rPr>
              <a:t>Technology Architecture</a:t>
            </a:r>
            <a:r>
              <a:rPr lang="en-US" sz="2000" kern="0" spc="-80" dirty="0">
                <a:solidFill>
                  <a:schemeClr val="accent6"/>
                </a:solidFill>
              </a:rPr>
              <a:t> – Showing the Infra &amp; Deployment strategies</a:t>
            </a:r>
          </a:p>
          <a:p>
            <a:pPr marL="12700" marR="5080"/>
            <a:endParaRPr lang="en-US" sz="2000" kern="0" spc="-80" dirty="0">
              <a:solidFill>
                <a:schemeClr val="accent6"/>
              </a:solidFill>
            </a:endParaRPr>
          </a:p>
        </p:txBody>
      </p:sp>
    </p:spTree>
    <p:extLst>
      <p:ext uri="{BB962C8B-B14F-4D97-AF65-F5344CB8AC3E}">
        <p14:creationId xmlns:p14="http://schemas.microsoft.com/office/powerpoint/2010/main" val="208759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46838832"/>
              </p:ext>
            </p:extLst>
          </p:nvPr>
        </p:nvGraphicFramePr>
        <p:xfrm>
          <a:off x="304800" y="-38736"/>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0709"/>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Important Architecture Diagrams and Documentation </a:t>
            </a:r>
            <a:r>
              <a:rPr lang="en-US" sz="2400" kern="0" spc="-80" dirty="0" err="1">
                <a:solidFill>
                  <a:schemeClr val="accent2"/>
                </a:solidFill>
              </a:rPr>
              <a:t>contd</a:t>
            </a:r>
            <a:r>
              <a:rPr lang="en-US" sz="2400" kern="0" spc="-80" dirty="0">
                <a:solidFill>
                  <a:schemeClr val="accent2"/>
                </a:solidFill>
              </a:rPr>
              <a:t> …</a:t>
            </a:r>
          </a:p>
          <a:p>
            <a:pPr marL="12700" marR="5080"/>
            <a:r>
              <a:rPr lang="en-US" sz="2000" kern="0" spc="-80" dirty="0">
                <a:solidFill>
                  <a:schemeClr val="accent2"/>
                </a:solidFill>
              </a:rPr>
              <a:t>Integration Architecture</a:t>
            </a:r>
            <a:r>
              <a:rPr lang="en-US" sz="2400" kern="0" spc="-80" dirty="0">
                <a:solidFill>
                  <a:schemeClr val="accent2"/>
                </a:solidFill>
              </a:rPr>
              <a:t> </a:t>
            </a:r>
            <a:r>
              <a:rPr lang="en-US" sz="2400" kern="0" spc="-80" dirty="0">
                <a:solidFill>
                  <a:schemeClr val="accent6"/>
                </a:solidFill>
              </a:rPr>
              <a:t>– </a:t>
            </a:r>
            <a:r>
              <a:rPr lang="en-US" sz="1800" kern="0" spc="-80" dirty="0">
                <a:solidFill>
                  <a:schemeClr val="accent6"/>
                </a:solidFill>
              </a:rPr>
              <a:t>Showing the major internal/external integrations.</a:t>
            </a:r>
          </a:p>
          <a:p>
            <a:pPr marL="12700" marR="5080"/>
            <a:r>
              <a:rPr lang="en-US" sz="2000" kern="0" spc="-80" dirty="0">
                <a:solidFill>
                  <a:schemeClr val="accent2"/>
                </a:solidFill>
              </a:rPr>
              <a:t>DB Architecture</a:t>
            </a:r>
            <a:r>
              <a:rPr lang="en-US" sz="2400" kern="0" spc="-80" dirty="0">
                <a:solidFill>
                  <a:schemeClr val="accent2"/>
                </a:solidFill>
              </a:rPr>
              <a:t> </a:t>
            </a:r>
            <a:r>
              <a:rPr lang="en-US" sz="2400" kern="0" spc="-80" dirty="0">
                <a:solidFill>
                  <a:schemeClr val="accent6"/>
                </a:solidFill>
              </a:rPr>
              <a:t>– </a:t>
            </a:r>
            <a:r>
              <a:rPr lang="en-US" sz="1800" kern="0" spc="-80" dirty="0">
                <a:solidFill>
                  <a:schemeClr val="accent6"/>
                </a:solidFill>
              </a:rPr>
              <a:t>Showing the conceptual, logical &amp; physical DB models and ER diagrams &amp; the DB Tables metadata structure.</a:t>
            </a:r>
          </a:p>
          <a:p>
            <a:pPr marL="12700" marR="5080"/>
            <a:endParaRPr lang="en-US" sz="2000" kern="0" spc="-80" dirty="0">
              <a:solidFill>
                <a:schemeClr val="accent6"/>
              </a:solidFill>
            </a:endParaRPr>
          </a:p>
          <a:p>
            <a:pPr marL="12700" marR="5080"/>
            <a:r>
              <a:rPr lang="en-US" sz="1800" kern="0" spc="-80" dirty="0">
                <a:solidFill>
                  <a:schemeClr val="accent6"/>
                </a:solidFill>
              </a:rPr>
              <a:t>Also important is to document the NFRs(Non Functional Requirements), ADRs(Architecture Decision Records) &amp; AIRs(Architecture Improvement Logs). </a:t>
            </a:r>
            <a:r>
              <a:rPr lang="en-US" sz="1800" kern="0" spc="-80" dirty="0">
                <a:solidFill>
                  <a:schemeClr val="tx2">
                    <a:lumMod val="60000"/>
                    <a:lumOff val="40000"/>
                  </a:schemeClr>
                </a:solidFill>
              </a:rPr>
              <a:t>For ADRs &amp; AIRs, do check the gotchas associated with any (new) Technology tool.</a:t>
            </a:r>
          </a:p>
          <a:p>
            <a:pPr marL="12700" marR="5080"/>
            <a:r>
              <a:rPr lang="en-US" sz="2000" kern="0" spc="-80" dirty="0">
                <a:solidFill>
                  <a:schemeClr val="accent2"/>
                </a:solidFill>
              </a:rPr>
              <a:t>Other Stuffs to Document</a:t>
            </a:r>
            <a:r>
              <a:rPr lang="en-US" sz="2000" kern="0" spc="-80" dirty="0">
                <a:solidFill>
                  <a:schemeClr val="accent6"/>
                </a:solidFill>
              </a:rPr>
              <a:t> –</a:t>
            </a:r>
            <a:r>
              <a:rPr lang="en-US" sz="2400" kern="0" spc="-80" dirty="0">
                <a:solidFill>
                  <a:schemeClr val="accent6"/>
                </a:solidFill>
              </a:rPr>
              <a:t> </a:t>
            </a:r>
          </a:p>
          <a:p>
            <a:pPr marL="12700" marR="5080"/>
            <a:r>
              <a:rPr lang="en-US" sz="1800" kern="0" spc="-80" dirty="0">
                <a:solidFill>
                  <a:schemeClr val="accent6"/>
                </a:solidFill>
              </a:rPr>
              <a:t>Architecture Principles</a:t>
            </a:r>
          </a:p>
          <a:p>
            <a:pPr marL="12700" marR="5080"/>
            <a:r>
              <a:rPr lang="en-US" sz="1800" kern="0" spc="-80" dirty="0">
                <a:solidFill>
                  <a:schemeClr val="accent6"/>
                </a:solidFill>
              </a:rPr>
              <a:t>Governance Processes</a:t>
            </a:r>
          </a:p>
          <a:p>
            <a:pPr marL="12700" marR="5080"/>
            <a:r>
              <a:rPr lang="en-US" sz="1800" kern="0" spc="-80" dirty="0">
                <a:solidFill>
                  <a:schemeClr val="accent6"/>
                </a:solidFill>
              </a:rPr>
              <a:t>Development Architecture</a:t>
            </a:r>
          </a:p>
          <a:p>
            <a:pPr marL="12700" marR="5080"/>
            <a:r>
              <a:rPr lang="en-US" sz="1800" kern="0" spc="-80" dirty="0">
                <a:solidFill>
                  <a:schemeClr val="accent2"/>
                </a:solidFill>
              </a:rPr>
              <a:t>N.B. – In general, search/google/</a:t>
            </a:r>
            <a:r>
              <a:rPr lang="en-US" sz="1800" kern="0" spc="-80" dirty="0" err="1">
                <a:solidFill>
                  <a:schemeClr val="accent2"/>
                </a:solidFill>
              </a:rPr>
              <a:t>chatGPT</a:t>
            </a:r>
            <a:r>
              <a:rPr lang="en-US" sz="1800" kern="0" spc="-80" dirty="0">
                <a:solidFill>
                  <a:schemeClr val="accent2"/>
                </a:solidFill>
              </a:rPr>
              <a:t> for templates of the aforementioned docs &amp; refer them to prepare your own project specific template.</a:t>
            </a:r>
          </a:p>
        </p:txBody>
      </p:sp>
    </p:spTree>
    <p:extLst>
      <p:ext uri="{BB962C8B-B14F-4D97-AF65-F5344CB8AC3E}">
        <p14:creationId xmlns:p14="http://schemas.microsoft.com/office/powerpoint/2010/main" val="20152405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066800"/>
            <a:ext cx="8624937" cy="15696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 Good Modelling compilation Resource – </a:t>
            </a:r>
          </a:p>
          <a:p>
            <a:pPr marL="12700" marR="5080"/>
            <a:r>
              <a:rPr lang="en-IN" sz="1500" dirty="0" err="1">
                <a:hlinkClick r:id="rId7"/>
              </a:rPr>
              <a:t>Modeling</a:t>
            </a:r>
            <a:r>
              <a:rPr lang="en-IN" sz="1500" dirty="0">
                <a:hlinkClick r:id="rId7"/>
              </a:rPr>
              <a:t> - Awesome Software Architecture</a:t>
            </a:r>
            <a:endParaRPr lang="en-IN" sz="1500" dirty="0"/>
          </a:p>
          <a:p>
            <a:pPr marL="12700" marR="5080"/>
            <a:endParaRPr lang="en-US" sz="1500" kern="0" spc="-80" dirty="0">
              <a:solidFill>
                <a:schemeClr val="accent6"/>
              </a:solidFill>
            </a:endParaRPr>
          </a:p>
          <a:p>
            <a:pPr marL="12700" marR="5080"/>
            <a:endParaRPr lang="en-US" sz="2400" kern="0" spc="-80" dirty="0">
              <a:solidFill>
                <a:schemeClr val="accent6"/>
              </a:solidFill>
            </a:endParaRPr>
          </a:p>
          <a:p>
            <a:pPr marL="12700" marR="5080"/>
            <a:endParaRPr lang="en-US" sz="2400" kern="0" spc="-80" dirty="0">
              <a:solidFill>
                <a:schemeClr val="accent6"/>
              </a:solidFill>
            </a:endParaRPr>
          </a:p>
        </p:txBody>
      </p:sp>
      <p:sp>
        <p:nvSpPr>
          <p:cNvPr id="7" name="object 2">
            <a:extLst>
              <a:ext uri="{FF2B5EF4-FFF2-40B4-BE49-F238E27FC236}">
                <a16:creationId xmlns:a16="http://schemas.microsoft.com/office/drawing/2014/main" id="{01192CCC-E239-75BD-56A7-3C039152FBAB}"/>
              </a:ext>
            </a:extLst>
          </p:cNvPr>
          <p:cNvSpPr txBox="1">
            <a:spLocks/>
          </p:cNvSpPr>
          <p:nvPr/>
        </p:nvSpPr>
        <p:spPr>
          <a:xfrm>
            <a:off x="358395" y="2071821"/>
            <a:ext cx="8624937" cy="35625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Software Architecture As Code Tools –</a:t>
            </a:r>
          </a:p>
          <a:p>
            <a:pPr marL="12700" marR="5080"/>
            <a:r>
              <a:rPr lang="en-US" sz="1500" dirty="0">
                <a:hlinkClick r:id="rId8"/>
              </a:rPr>
              <a:t>From Text to Models</a:t>
            </a:r>
            <a:endParaRPr lang="en-US" sz="1500" dirty="0"/>
          </a:p>
          <a:p>
            <a:pPr marL="12700" marR="5080"/>
            <a:r>
              <a:rPr lang="en-US" sz="1500" dirty="0">
                <a:hlinkClick r:id="rId9"/>
              </a:rPr>
              <a:t>Application Architecture as Code - The Architect Elevator</a:t>
            </a:r>
            <a:endParaRPr lang="en-US" sz="1500" dirty="0"/>
          </a:p>
          <a:p>
            <a:pPr marL="12700" marR="5080"/>
            <a:r>
              <a:rPr lang="en-US" sz="1500" dirty="0">
                <a:hlinkClick r:id="rId10"/>
              </a:rPr>
              <a:t>How to automate software-architecture, using architecture-as-code (</a:t>
            </a:r>
            <a:r>
              <a:rPr lang="en-US" sz="1500" dirty="0" err="1">
                <a:hlinkClick r:id="rId10"/>
              </a:rPr>
              <a:t>SAaC</a:t>
            </a:r>
            <a:r>
              <a:rPr lang="en-US" sz="1500" dirty="0">
                <a:hlinkClick r:id="rId10"/>
              </a:rPr>
              <a:t>) approach</a:t>
            </a:r>
            <a:endParaRPr lang="en-US" sz="1500" dirty="0"/>
          </a:p>
          <a:p>
            <a:pPr marL="12700" marR="5080"/>
            <a:r>
              <a:rPr lang="en-US" sz="1600" dirty="0">
                <a:hlinkClick r:id="rId11"/>
              </a:rPr>
              <a:t>Likec4</a:t>
            </a:r>
            <a:endParaRPr lang="en-US" sz="1600" dirty="0"/>
          </a:p>
          <a:p>
            <a:pPr marL="12700" marR="5080"/>
            <a:endParaRPr lang="en-US" sz="1500" kern="0" spc="-80" dirty="0">
              <a:solidFill>
                <a:schemeClr val="accent6"/>
              </a:solidFill>
            </a:endParaRPr>
          </a:p>
          <a:p>
            <a:pPr marL="12700" marR="5080"/>
            <a:r>
              <a:rPr lang="en-US" sz="2400" kern="0" spc="-80" dirty="0">
                <a:solidFill>
                  <a:schemeClr val="accent2"/>
                </a:solidFill>
              </a:rPr>
              <a:t>Reverse Engineering Tools – </a:t>
            </a:r>
          </a:p>
          <a:p>
            <a:pPr marL="12700" marR="5080"/>
            <a:r>
              <a:rPr lang="en-US" sz="1500" dirty="0">
                <a:hlinkClick r:id="rId12"/>
              </a:rPr>
              <a:t>UML - Are there good tools for C# reverse engineering? - Stack Overflow</a:t>
            </a:r>
            <a:endParaRPr lang="en-US" sz="1500" dirty="0"/>
          </a:p>
          <a:p>
            <a:pPr marL="12700" marR="5080"/>
            <a:r>
              <a:rPr lang="en-US" sz="1500" dirty="0">
                <a:hlinkClick r:id="rId13"/>
              </a:rPr>
              <a:t>Software Design Diagrams Using GitHub Copilot – YouTube</a:t>
            </a:r>
            <a:endParaRPr lang="en-US" sz="1500" dirty="0"/>
          </a:p>
          <a:p>
            <a:pPr marL="12700" marR="5080"/>
            <a:endParaRPr lang="en-US" sz="1050" dirty="0"/>
          </a:p>
          <a:p>
            <a:pPr marL="12700" marR="5080"/>
            <a:r>
              <a:rPr lang="en-US" sz="2400" kern="0" spc="-80" dirty="0">
                <a:solidFill>
                  <a:schemeClr val="accent2"/>
                </a:solidFill>
              </a:rPr>
              <a:t>Other Related Tools – </a:t>
            </a:r>
          </a:p>
          <a:p>
            <a:pPr marL="12700" marR="5080"/>
            <a:r>
              <a:rPr lang="en-IN" sz="1400" dirty="0">
                <a:hlinkClick r:id="rId14"/>
              </a:rPr>
              <a:t>Diagram to Code using Amazon Q | LinkedIn</a:t>
            </a:r>
            <a:endParaRPr lang="en-IN" sz="1400" dirty="0"/>
          </a:p>
          <a:p>
            <a:pPr marL="12700" marR="5080"/>
            <a:r>
              <a:rPr lang="en-US" sz="1400" dirty="0">
                <a:hlinkClick r:id="rId15"/>
              </a:rPr>
              <a:t>How to use GitHub Copilot? A Detailed, Comprehensive Guide 2025</a:t>
            </a:r>
            <a:endParaRPr lang="en-US" sz="24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7029780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4400"/>
            <a:ext cx="8624937" cy="60016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Some closing points w.r.t Documentation  - </a:t>
            </a:r>
          </a:p>
          <a:p>
            <a:pPr marL="355600" marR="5080" indent="-342900">
              <a:buAutoNum type="arabicParenR"/>
            </a:pPr>
            <a:r>
              <a:rPr lang="en-US" sz="1400" kern="0" spc="-80" dirty="0">
                <a:solidFill>
                  <a:schemeClr val="accent6"/>
                </a:solidFill>
              </a:rPr>
              <a:t>Analyze the as-is &amp; to-be system state e2e thoroughly from product requirements perspective. If needed, clarify all your queries/doubts, pro-actively. </a:t>
            </a:r>
          </a:p>
          <a:p>
            <a:pPr marL="355600" marR="5080" indent="-342900">
              <a:buAutoNum type="arabicParenR"/>
            </a:pPr>
            <a:r>
              <a:rPr lang="en-US" sz="1400" kern="0" spc="-80" dirty="0">
                <a:solidFill>
                  <a:schemeClr val="accent6"/>
                </a:solidFill>
              </a:rPr>
              <a:t>Document the Business Architecture in as detail as possible for both as-is &amp; to-be states based on 1 above (maybe using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Component/Sequence Diagrams etc.). Also check if the to-be processes can be made better, process-wise(maybe simpler or providing some tactical solution instead of strategic solution or providing additional capabilities).           </a:t>
            </a:r>
          </a:p>
          <a:p>
            <a:pPr marL="355600" marR="5080" indent="-342900">
              <a:buAutoNum type="arabicParenR"/>
            </a:pPr>
            <a:r>
              <a:rPr lang="en-US" sz="1400" kern="0" spc="-80" dirty="0">
                <a:solidFill>
                  <a:schemeClr val="accent6"/>
                </a:solidFill>
              </a:rPr>
              <a:t>Document the Application[including Integration] Architecture in as detail as possible(mainly for the to-be state) along-with associated NFRs(ideally both as-is &amp; to-be). Try to use technologies(old or emerging) that suits your contextual requirements &amp; not based on hype associated with some technology. Again, can use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a:t>
            </a:r>
            <a:r>
              <a:rPr lang="en-US" sz="1400" kern="0" spc="-80" dirty="0" err="1">
                <a:solidFill>
                  <a:schemeClr val="accent6"/>
                </a:solidFill>
              </a:rPr>
              <a:t>Compoinent</a:t>
            </a:r>
            <a:r>
              <a:rPr lang="en-US" sz="1400" kern="0" spc="-80" dirty="0">
                <a:solidFill>
                  <a:schemeClr val="accent6"/>
                </a:solidFill>
              </a:rPr>
              <a:t>/Sequence Diagrams etc.</a:t>
            </a:r>
          </a:p>
          <a:p>
            <a:pPr marL="355600" marR="5080" indent="-342900">
              <a:buFontTx/>
              <a:buAutoNum type="arabicParenR"/>
            </a:pPr>
            <a:r>
              <a:rPr lang="en-US" sz="1400" kern="0" spc="-80" dirty="0">
                <a:solidFill>
                  <a:schemeClr val="accent6"/>
                </a:solidFill>
              </a:rPr>
              <a:t>Document the Infra(also called Technology) Architecture[including </a:t>
            </a:r>
            <a:r>
              <a:rPr lang="en-US" sz="1400" kern="0" spc="-80" dirty="0" err="1">
                <a:solidFill>
                  <a:schemeClr val="accent6"/>
                </a:solidFill>
              </a:rPr>
              <a:t>DevSecOps</a:t>
            </a:r>
            <a:r>
              <a:rPr lang="en-US" sz="1400" kern="0" spc="-80" dirty="0">
                <a:solidFill>
                  <a:schemeClr val="accent6"/>
                </a:solidFill>
              </a:rPr>
              <a:t> &amp; SRE]  in as detail as possible(mainly for the to-be state) along-with associated NFRs(ideally both as-is &amp; to-be with comparison if needed). Try to use technologies(old or emerging) that suits your contextual requirements &amp; not based on hype associated with some technology. Again, can use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Component/Sequence Diagrams etc.</a:t>
            </a:r>
          </a:p>
          <a:p>
            <a:pPr marL="355600" marR="5080" indent="-342900">
              <a:buFontTx/>
              <a:buAutoNum type="arabicParenR"/>
            </a:pPr>
            <a:r>
              <a:rPr lang="en-US" sz="1400" kern="0" spc="-80" dirty="0">
                <a:solidFill>
                  <a:schemeClr val="accent6"/>
                </a:solidFill>
              </a:rPr>
              <a:t>Document the Data Architecture[including Data Engineering &amp; Data Science needs with explicit Data Models{ER Diagrams &amp; DB Tables}], in as detail as possible(mainly for the to-be state) along-with associated NFRs(ideally both as-is &amp; to-be with comparison if needed). Try to use technologies(old or emerging – e.g. </a:t>
            </a:r>
            <a:r>
              <a:rPr lang="en-US" sz="1400" kern="0" spc="-80" dirty="0" err="1">
                <a:solidFill>
                  <a:schemeClr val="accent6"/>
                </a:solidFill>
              </a:rPr>
              <a:t>NoSql</a:t>
            </a:r>
            <a:r>
              <a:rPr lang="en-US" sz="1400" kern="0" spc="-80" dirty="0">
                <a:solidFill>
                  <a:schemeClr val="accent6"/>
                </a:solidFill>
              </a:rPr>
              <a:t>/RDBMS) that suits your contextual requirements.</a:t>
            </a:r>
          </a:p>
          <a:p>
            <a:pPr marL="355600" marR="5080" indent="-342900">
              <a:buFontTx/>
              <a:buAutoNum type="arabicParenR"/>
            </a:pPr>
            <a:r>
              <a:rPr lang="en-US" sz="1400" kern="0" spc="-80" dirty="0">
                <a:solidFill>
                  <a:schemeClr val="accent6"/>
                </a:solidFill>
              </a:rPr>
              <a:t>Maybe after all the above, document the ADRs &amp; AIRs. We may need AIRs since we might be going for some tactical solution &amp; thereby create technical debts.</a:t>
            </a:r>
          </a:p>
          <a:p>
            <a:pPr marL="355600" marR="5080" indent="-342900">
              <a:buAutoNum type="arabicParenR"/>
            </a:pPr>
            <a:endParaRPr lang="en-US" sz="1600" kern="0" spc="-80" dirty="0">
              <a:solidFill>
                <a:schemeClr val="accent6"/>
              </a:solidFill>
            </a:endParaRPr>
          </a:p>
          <a:p>
            <a:pPr marL="12700" marR="5080"/>
            <a:endParaRPr lang="en-US" sz="1800" kern="0" spc="-80" dirty="0">
              <a:solidFill>
                <a:schemeClr val="accent6"/>
              </a:solidFill>
            </a:endParaRPr>
          </a:p>
          <a:p>
            <a:pPr marL="12700" marR="5080"/>
            <a:endParaRPr lang="en-US" sz="2400" kern="0" spc="-80" dirty="0">
              <a:solidFill>
                <a:schemeClr val="accent6"/>
              </a:solidFill>
            </a:endParaRPr>
          </a:p>
        </p:txBody>
      </p:sp>
    </p:spTree>
    <p:extLst>
      <p:ext uri="{BB962C8B-B14F-4D97-AF65-F5344CB8AC3E}">
        <p14:creationId xmlns:p14="http://schemas.microsoft.com/office/powerpoint/2010/main" val="22072336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44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IN" sz="2100" dirty="0">
                <a:hlinkClick r:id="rId7"/>
              </a:rPr>
              <a:t>Documenting Software Architectures - by Dr Milan Milanović</a:t>
            </a:r>
            <a:r>
              <a:rPr lang="en-US" sz="2100" kern="0" spc="-80" dirty="0">
                <a:solidFill>
                  <a:schemeClr val="accent2"/>
                </a:solidFill>
              </a:rPr>
              <a:t>    </a:t>
            </a:r>
          </a:p>
          <a:p>
            <a:pPr marL="12700" marR="5080"/>
            <a:r>
              <a:rPr lang="en-IN" sz="2100" dirty="0">
                <a:hlinkClick r:id="rId8"/>
              </a:rPr>
              <a:t>The Ultimate Guide To Software Architecture Documentation</a:t>
            </a:r>
            <a:endParaRPr lang="en-IN" sz="2100" dirty="0"/>
          </a:p>
          <a:p>
            <a:pPr marL="12700" marR="5080"/>
            <a:r>
              <a:rPr lang="en-IN" sz="2100" dirty="0">
                <a:hlinkClick r:id="rId9"/>
              </a:rPr>
              <a:t>Architecture-Document-Template</a:t>
            </a:r>
            <a:endParaRPr lang="en-IN" sz="2100" dirty="0"/>
          </a:p>
          <a:p>
            <a:pPr marL="12700" marR="5080"/>
            <a:r>
              <a:rPr lang="en-US" sz="2100" dirty="0">
                <a:hlinkClick r:id="rId10"/>
              </a:rPr>
              <a:t>High Level Design Template</a:t>
            </a:r>
          </a:p>
          <a:p>
            <a:pPr marL="12700" marR="5080"/>
            <a:r>
              <a:rPr lang="en-US" sz="2100" dirty="0" err="1">
                <a:hlinkClick r:id="rId10"/>
              </a:rPr>
              <a:t>WebMethods</a:t>
            </a:r>
            <a:r>
              <a:rPr lang="en-US" sz="2100" dirty="0">
                <a:hlinkClick r:id="rId10"/>
              </a:rPr>
              <a:t> - Software AG Tech Community &amp; Forums</a:t>
            </a:r>
            <a:endParaRPr lang="en-US" sz="2100" dirty="0"/>
          </a:p>
          <a:p>
            <a:pPr marL="12700" marR="5080"/>
            <a:r>
              <a:rPr lang="en-US" sz="2100" dirty="0">
                <a:hlinkClick r:id="rId11"/>
              </a:rPr>
              <a:t>Writing an effective End-to-End High-Level Design</a:t>
            </a:r>
            <a:endParaRPr lang="en-US" sz="2100" dirty="0"/>
          </a:p>
          <a:p>
            <a:pPr marL="12700" marR="5080"/>
            <a:r>
              <a:rPr lang="en-US" sz="2100" dirty="0">
                <a:hlinkClick r:id="rId12"/>
              </a:rPr>
              <a:t>System-Design-Templates-</a:t>
            </a:r>
            <a:r>
              <a:rPr lang="en-US" sz="2100" dirty="0" err="1">
                <a:hlinkClick r:id="rId12"/>
              </a:rPr>
              <a:t>Excalidraw</a:t>
            </a:r>
            <a:endParaRPr lang="en-US" sz="2100" dirty="0"/>
          </a:p>
          <a:p>
            <a:pPr marL="12700" marR="5080"/>
            <a:r>
              <a:rPr lang="en-US" sz="2100" dirty="0">
                <a:hlinkClick r:id="rId13"/>
              </a:rPr>
              <a:t>Free Software architecture review template | Confluence</a:t>
            </a:r>
            <a:endParaRPr lang="en-US" sz="2100" dirty="0"/>
          </a:p>
          <a:p>
            <a:pPr marL="12700" marR="5080"/>
            <a:r>
              <a:rPr lang="en-US" sz="2100" dirty="0">
                <a:hlinkClick r:id="rId14"/>
              </a:rPr>
              <a:t>Practical-Architecture</a:t>
            </a:r>
            <a:endParaRPr lang="en-US" sz="2100" dirty="0"/>
          </a:p>
          <a:p>
            <a:pPr marL="12700" marR="5080"/>
            <a:r>
              <a:rPr lang="en-US" sz="2100" dirty="0">
                <a:hlinkClick r:id="rId15"/>
              </a:rPr>
              <a:t>Architecture-Decision-Record</a:t>
            </a:r>
            <a:endParaRPr lang="en-US" sz="2100" dirty="0"/>
          </a:p>
          <a:p>
            <a:pPr marL="12700" marR="5080"/>
            <a:r>
              <a:rPr lang="en-US" sz="2100" dirty="0">
                <a:hlinkClick r:id="rId16"/>
              </a:rPr>
              <a:t>Enterprise Architecture: How to Design Models &amp; Diagrams</a:t>
            </a:r>
            <a:endParaRPr lang="en-US" sz="2100" dirty="0"/>
          </a:p>
          <a:p>
            <a:pPr marL="12700" marR="5080"/>
            <a:r>
              <a:rPr lang="en-IN" sz="2100" dirty="0">
                <a:hlinkClick r:id="rId17"/>
              </a:rPr>
              <a:t>Communication Patterns[Book]</a:t>
            </a:r>
            <a:endParaRPr lang="en-US" sz="2100" kern="0" spc="-80" dirty="0">
              <a:solidFill>
                <a:schemeClr val="accent2"/>
              </a:solidFill>
            </a:endParaRPr>
          </a:p>
          <a:p>
            <a:pPr marL="12700" marR="5080"/>
            <a:r>
              <a:rPr lang="en-IN" sz="2100" dirty="0">
                <a:hlinkClick r:id="rId18"/>
              </a:rPr>
              <a:t>Practical Model-Driven Enterprise Architecture</a:t>
            </a:r>
            <a:endParaRPr lang="en-IN" sz="2100" dirty="0"/>
          </a:p>
          <a:p>
            <a:pPr marL="12700" marR="5080"/>
            <a:r>
              <a:rPr lang="en-US" sz="2100" dirty="0">
                <a:hlinkClick r:id="rId19"/>
              </a:rPr>
              <a:t>Modeling Enterprise Architecture with TOGAF[Book]</a:t>
            </a:r>
            <a:endParaRPr lang="en-US" sz="2100" kern="0" spc="-80" dirty="0">
              <a:solidFill>
                <a:schemeClr val="accent6"/>
              </a:solidFill>
            </a:endParaRPr>
          </a:p>
          <a:p>
            <a:pPr marL="12700" marR="5080"/>
            <a:endParaRPr lang="en-US" sz="1800" kern="0" spc="-80" dirty="0">
              <a:solidFill>
                <a:schemeClr val="accent6"/>
              </a:solidFill>
            </a:endParaRPr>
          </a:p>
          <a:p>
            <a:pPr marL="12700" marR="5080"/>
            <a:endParaRPr lang="en-US" sz="2400" kern="0" spc="-80" dirty="0">
              <a:solidFill>
                <a:schemeClr val="accent6"/>
              </a:solidFill>
            </a:endParaRPr>
          </a:p>
        </p:txBody>
      </p:sp>
    </p:spTree>
    <p:extLst>
      <p:ext uri="{BB962C8B-B14F-4D97-AF65-F5344CB8AC3E}">
        <p14:creationId xmlns:p14="http://schemas.microsoft.com/office/powerpoint/2010/main" val="2754229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61189477"/>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1095613"/>
            <a:ext cx="8624937" cy="25391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Architecture(/Design) Principles - </a:t>
            </a:r>
            <a:endParaRPr lang="en-US" sz="2400" kern="0" spc="-220" dirty="0">
              <a:solidFill>
                <a:schemeClr val="accent6"/>
              </a:solidFill>
              <a:hlinkClick r:id="rId7"/>
            </a:endParaRPr>
          </a:p>
          <a:p>
            <a:pPr marL="12700" marR="5080"/>
            <a:r>
              <a:rPr lang="en-US" sz="1500" dirty="0">
                <a:hlinkClick r:id="rId7"/>
              </a:rPr>
              <a:t>Architectural Design Principles - Awesome Software Architecture</a:t>
            </a:r>
            <a:r>
              <a:rPr lang="en-US" sz="1500" kern="0" spc="-220" dirty="0">
                <a:solidFill>
                  <a:schemeClr val="accent6"/>
                </a:solidFill>
              </a:rPr>
              <a:t> </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80" dirty="0">
                <a:solidFill>
                  <a:schemeClr val="accent2"/>
                </a:solidFill>
              </a:rPr>
              <a:t>Reactive Design- </a:t>
            </a:r>
          </a:p>
          <a:p>
            <a:pPr marL="12700" marR="5080"/>
            <a:r>
              <a:rPr lang="en-US" sz="2400" kern="0" spc="-80" dirty="0">
                <a:solidFill>
                  <a:schemeClr val="accent2"/>
                </a:solidFill>
              </a:rPr>
              <a:t>  </a:t>
            </a:r>
            <a:r>
              <a:rPr lang="en-US" sz="1500" dirty="0">
                <a:hlinkClick r:id="rId8"/>
              </a:rPr>
              <a:t>Code repo for Functional and Reactive Domain Modeling</a:t>
            </a:r>
            <a:endParaRPr lang="en-US" sz="1500" dirty="0"/>
          </a:p>
          <a:p>
            <a:pPr marL="12700" marR="5080"/>
            <a:r>
              <a:rPr lang="en-US" sz="1500" kern="0" spc="-80" dirty="0">
                <a:solidFill>
                  <a:schemeClr val="accent2"/>
                </a:solidFill>
              </a:rPr>
              <a:t>   </a:t>
            </a:r>
            <a:r>
              <a:rPr lang="en-IN" sz="1500" dirty="0">
                <a:hlinkClick r:id="rId9"/>
              </a:rPr>
              <a:t>Reactive Design Patterns </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Reactive Messaging Patterns with the Actor Model</a:t>
            </a:r>
            <a:endParaRPr lang="en-US" sz="2000" kern="0" spc="-80" dirty="0">
              <a:solidFill>
                <a:schemeClr val="accent6"/>
              </a:solidFill>
            </a:endParaRPr>
          </a:p>
        </p:txBody>
      </p:sp>
    </p:spTree>
    <p:extLst>
      <p:ext uri="{BB962C8B-B14F-4D97-AF65-F5344CB8AC3E}">
        <p14:creationId xmlns:p14="http://schemas.microsoft.com/office/powerpoint/2010/main" val="20640485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0ADAC8-BBD2-11C3-47E4-6817457B3382}"/>
              </a:ext>
            </a:extLst>
          </p:cNvPr>
          <p:cNvSpPr txBox="1">
            <a:spLocks/>
          </p:cNvSpPr>
          <p:nvPr/>
        </p:nvSpPr>
        <p:spPr>
          <a:xfrm>
            <a:off x="381000" y="780395"/>
            <a:ext cx="8624937" cy="31547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Architecture(/Design) is mainly </a:t>
            </a:r>
            <a:r>
              <a:rPr lang="en-US" sz="1600" kern="0" spc="-80" dirty="0">
                <a:solidFill>
                  <a:schemeClr val="accent1"/>
                </a:solidFill>
              </a:rPr>
              <a:t>taking decisions </a:t>
            </a:r>
            <a:r>
              <a:rPr lang="en-US" sz="1600" kern="0" spc="-80" dirty="0">
                <a:solidFill>
                  <a:schemeClr val="accent6"/>
                </a:solidFill>
              </a:rPr>
              <a:t>based on trade-offs wherein the goal is to build the </a:t>
            </a:r>
            <a:r>
              <a:rPr lang="en-US" sz="1600" kern="0" spc="-80" dirty="0">
                <a:solidFill>
                  <a:schemeClr val="accent1"/>
                </a:solidFill>
              </a:rPr>
              <a:t>Least Worst Architecture(/Design)</a:t>
            </a:r>
            <a:r>
              <a:rPr lang="en-US" sz="1600" kern="0" spc="-80" dirty="0">
                <a:solidFill>
                  <a:schemeClr val="accent6"/>
                </a:solidFill>
              </a:rPr>
              <a:t>.</a:t>
            </a:r>
          </a:p>
          <a:p>
            <a:pPr marL="12700" marR="5080"/>
            <a:endParaRPr lang="en-US" sz="1600" kern="0" spc="-80" dirty="0">
              <a:solidFill>
                <a:schemeClr val="accent6"/>
              </a:solidFill>
            </a:endParaRPr>
          </a:p>
          <a:p>
            <a:pPr marL="12700" marR="5080"/>
            <a:r>
              <a:rPr lang="en-US" sz="1800" kern="0" spc="-80" dirty="0">
                <a:solidFill>
                  <a:schemeClr val="accent2"/>
                </a:solidFill>
              </a:rPr>
              <a:t>ATAM(Architecture Trade-Off Analysis Method) – </a:t>
            </a:r>
          </a:p>
          <a:p>
            <a:pPr marL="12700" marR="5080"/>
            <a:r>
              <a:rPr lang="en-IN" sz="1500" dirty="0">
                <a:hlinkClick r:id="rId7"/>
              </a:rPr>
              <a:t>Architecture </a:t>
            </a:r>
            <a:r>
              <a:rPr lang="en-IN" sz="1500" dirty="0" err="1">
                <a:hlinkClick r:id="rId7"/>
              </a:rPr>
              <a:t>Tradeoff</a:t>
            </a:r>
            <a:r>
              <a:rPr lang="en-IN" sz="1500" dirty="0">
                <a:hlinkClick r:id="rId7"/>
              </a:rPr>
              <a:t> Analysis Method (ATAM) - </a:t>
            </a:r>
            <a:r>
              <a:rPr lang="en-IN" sz="1500" dirty="0" err="1">
                <a:hlinkClick r:id="rId7"/>
              </a:rPr>
              <a:t>GeeksforGeeks</a:t>
            </a:r>
            <a:r>
              <a:rPr lang="en-US" sz="1500" kern="0" spc="-80" dirty="0">
                <a:solidFill>
                  <a:schemeClr val="accent2"/>
                </a:solidFill>
              </a:rPr>
              <a:t> </a:t>
            </a:r>
          </a:p>
          <a:p>
            <a:pPr marL="12700" marR="5080"/>
            <a:endParaRPr lang="en-US" sz="1800" kern="0" spc="-80" dirty="0">
              <a:solidFill>
                <a:schemeClr val="accent2"/>
              </a:solidFill>
            </a:endParaRPr>
          </a:p>
          <a:p>
            <a:pPr marL="12700" marR="5080"/>
            <a:r>
              <a:rPr lang="en-US" sz="1800" kern="0" spc="-80" dirty="0">
                <a:solidFill>
                  <a:schemeClr val="accent2"/>
                </a:solidFill>
              </a:rPr>
              <a:t>Architecture Trade-Off Examples – </a:t>
            </a:r>
          </a:p>
          <a:p>
            <a:pPr marL="12700" marR="5080"/>
            <a:r>
              <a:rPr lang="en-US" sz="1100" kern="0" spc="-80" dirty="0">
                <a:solidFill>
                  <a:schemeClr val="accent2"/>
                </a:solidFill>
              </a:rPr>
              <a:t> </a:t>
            </a:r>
            <a:r>
              <a:rPr lang="en-US" sz="1500" kern="0" spc="-80" dirty="0">
                <a:solidFill>
                  <a:schemeClr val="accent2"/>
                </a:solidFill>
              </a:rPr>
              <a:t> </a:t>
            </a:r>
            <a:r>
              <a:rPr lang="en-US" sz="1500" dirty="0">
                <a:hlinkClick r:id="rId8"/>
              </a:rPr>
              <a:t>How to make software architecture trade-off decisions | by Alex </a:t>
            </a:r>
            <a:r>
              <a:rPr lang="en-US" sz="1500" dirty="0" err="1">
                <a:hlinkClick r:id="rId8"/>
              </a:rPr>
              <a:t>Wauters</a:t>
            </a:r>
            <a:r>
              <a:rPr lang="en-US" sz="1500" dirty="0">
                <a:hlinkClick r:id="rId8"/>
              </a:rPr>
              <a:t> | Medium</a:t>
            </a:r>
            <a:endParaRPr lang="en-US" sz="1500" dirty="0"/>
          </a:p>
          <a:p>
            <a:pPr marL="12700" marR="5080"/>
            <a:r>
              <a:rPr lang="en-US" sz="1500" kern="0" spc="-80" dirty="0">
                <a:solidFill>
                  <a:schemeClr val="accent2"/>
                </a:solidFill>
              </a:rPr>
              <a:t>  </a:t>
            </a:r>
            <a:r>
              <a:rPr lang="en-US" sz="1500" dirty="0">
                <a:hlinkClick r:id="rId9"/>
              </a:rPr>
              <a:t>How do you evaluate and communicate the trade-offs of different architectural choices?</a:t>
            </a:r>
            <a:endParaRPr lang="en-US" sz="1500" dirty="0"/>
          </a:p>
          <a:p>
            <a:pPr marL="12700" marR="5080"/>
            <a:endParaRPr lang="en-US" sz="1800" kern="0" spc="-80" dirty="0">
              <a:solidFill>
                <a:schemeClr val="accent2"/>
              </a:solidFill>
            </a:endParaRPr>
          </a:p>
          <a:p>
            <a:pPr marL="12700" marR="5080"/>
            <a:endParaRPr lang="en-US" sz="1100" kern="0" spc="-80" dirty="0">
              <a:solidFill>
                <a:schemeClr val="accent2"/>
              </a:solidFill>
            </a:endParaRPr>
          </a:p>
          <a:p>
            <a:pPr marL="12700" marR="5080"/>
            <a:r>
              <a:rPr lang="en-US" sz="1400" kern="0" spc="-80" dirty="0">
                <a:solidFill>
                  <a:schemeClr val="accent2"/>
                </a:solidFill>
              </a:rPr>
              <a:t> </a:t>
            </a:r>
            <a:r>
              <a:rPr lang="en-US" sz="1200" kern="0" spc="-80" dirty="0">
                <a:solidFill>
                  <a:schemeClr val="accent2"/>
                </a:solidFill>
              </a:rPr>
              <a:t> </a:t>
            </a:r>
            <a:endParaRPr lang="en-IN" sz="1200" kern="0" spc="-80" dirty="0">
              <a:solidFill>
                <a:schemeClr val="accent2"/>
              </a:solidFill>
            </a:endParaRPr>
          </a:p>
        </p:txBody>
      </p:sp>
    </p:spTree>
    <p:extLst>
      <p:ext uri="{BB962C8B-B14F-4D97-AF65-F5344CB8AC3E}">
        <p14:creationId xmlns:p14="http://schemas.microsoft.com/office/powerpoint/2010/main" val="22525121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7E0BB-44A4-442D-90A7-1935526853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7C4CCB-03A8-7529-F5C8-D764709905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371F26-5FE6-FCAA-A4D1-2CEE5A8F53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5A79FD-A69E-7968-C868-FA170F265A3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758D7C-CC11-5499-61A2-7123A9CE2E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623863-CB36-CCEB-BF92-4646ADD1857A}"/>
              </a:ext>
            </a:extLst>
          </p:cNvPr>
          <p:cNvSpPr txBox="1">
            <a:spLocks/>
          </p:cNvSpPr>
          <p:nvPr/>
        </p:nvSpPr>
        <p:spPr>
          <a:xfrm>
            <a:off x="381000" y="780395"/>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a:t>
            </a:r>
          </a:p>
          <a:p>
            <a:pPr marL="12700" marR="5080"/>
            <a:r>
              <a:rPr lang="en-IN" sz="1700" dirty="0">
                <a:hlinkClick r:id="rId7"/>
              </a:rPr>
              <a:t>Fitness function-driven development | Thoughtworks</a:t>
            </a:r>
            <a:endParaRPr lang="en-IN" sz="1700" dirty="0"/>
          </a:p>
          <a:p>
            <a:pPr marL="12700" marR="5080"/>
            <a:r>
              <a:rPr lang="en-US" sz="1700" dirty="0">
                <a:hlinkClick r:id="rId8"/>
              </a:rPr>
              <a:t>Enforcing Software Architecture With Architecture Tests</a:t>
            </a:r>
            <a:endParaRPr lang="en-US" sz="1700" dirty="0"/>
          </a:p>
          <a:p>
            <a:pPr marL="12700" marR="5080"/>
            <a:r>
              <a:rPr lang="en-US" sz="1700" dirty="0">
                <a:hlinkClick r:id="rId9"/>
              </a:rPr>
              <a:t>Software Architecture: Foundations, Theory, and Practice </a:t>
            </a:r>
            <a:r>
              <a:rPr lang="en-US" sz="1700" dirty="0">
                <a:hlinkClick r:id="rId10"/>
              </a:rPr>
              <a:t>–</a:t>
            </a:r>
            <a:r>
              <a:rPr lang="en-US" sz="1700" dirty="0">
                <a:hlinkClick r:id="rId9"/>
              </a:rPr>
              <a:t> Resources</a:t>
            </a:r>
            <a:endParaRPr lang="en-US" sz="1700" dirty="0"/>
          </a:p>
          <a:p>
            <a:pPr marL="12700" marR="5080"/>
            <a:r>
              <a:rPr lang="en-US" sz="1700" dirty="0">
                <a:hlinkClick r:id="rId10"/>
              </a:rPr>
              <a:t>The Semantic Design Toolbox - Semantic Software Design [Book]</a:t>
            </a:r>
            <a:endParaRPr lang="en-US" sz="1700" dirty="0"/>
          </a:p>
          <a:p>
            <a:pPr marL="12700" marR="5080"/>
            <a:r>
              <a:rPr lang="en-US" sz="1700" dirty="0">
                <a:hlinkClick r:id="rId11"/>
              </a:rPr>
              <a:t>Design It!: From Programmer to Software Architect by Michael Keeling</a:t>
            </a:r>
            <a:endParaRPr lang="en-US" sz="1700" dirty="0"/>
          </a:p>
          <a:p>
            <a:pPr marL="12700" marR="5080"/>
            <a:r>
              <a:rPr lang="en-IN" sz="1700" dirty="0">
                <a:hlinkClick r:id="rId12"/>
              </a:rPr>
              <a:t>Building Evolutionary Architectures · GitHub</a:t>
            </a:r>
            <a:endParaRPr lang="en-IN" sz="1700" dirty="0"/>
          </a:p>
          <a:p>
            <a:pPr marL="12700" marR="5080"/>
            <a:r>
              <a:rPr lang="en-US" sz="1700" dirty="0">
                <a:hlinkClick r:id="rId13"/>
              </a:rPr>
              <a:t>Evolutionary-Architecture-by-example</a:t>
            </a:r>
            <a:endParaRPr lang="en-US" sz="1700" dirty="0"/>
          </a:p>
          <a:p>
            <a:pPr marL="12700" marR="5080"/>
            <a:r>
              <a:rPr lang="en-US" sz="1700" dirty="0">
                <a:hlinkClick r:id="rId14"/>
              </a:rPr>
              <a:t>Evolutionary Architectures. This is a summary of some interesting…</a:t>
            </a:r>
            <a:endParaRPr lang="en-US" sz="1700" dirty="0"/>
          </a:p>
          <a:p>
            <a:pPr marL="12700" marR="5080"/>
            <a:r>
              <a:rPr lang="en-US" sz="1700" dirty="0">
                <a:hlinkClick r:id="rId15"/>
              </a:rPr>
              <a:t>Geek read: Building Evolutionary Architectures 2nd edition</a:t>
            </a:r>
            <a:endParaRPr lang="en-US" sz="1700" dirty="0"/>
          </a:p>
          <a:p>
            <a:pPr marL="12700" marR="5080"/>
            <a:r>
              <a:rPr lang="en-US" sz="1700" dirty="0">
                <a:hlinkClick r:id="rId16"/>
              </a:rPr>
              <a:t>Notes on Building Evolutionary Architectures. | Irrational Exuberance</a:t>
            </a:r>
            <a:endParaRPr lang="en-US" sz="1700" dirty="0"/>
          </a:p>
          <a:p>
            <a:pPr marL="12700" marR="5080"/>
            <a:r>
              <a:rPr lang="en-IN" sz="1700" dirty="0">
                <a:hlinkClick r:id="rId17"/>
              </a:rPr>
              <a:t>Building Evolutionary Architectures</a:t>
            </a:r>
            <a:endParaRPr lang="en-IN" sz="1700" dirty="0"/>
          </a:p>
          <a:p>
            <a:pPr marL="12700" marR="5080"/>
            <a:r>
              <a:rPr lang="en-IN" sz="1700" dirty="0">
                <a:hlinkClick r:id="rId18"/>
              </a:rPr>
              <a:t>Software Architecture Metrics[Book]</a:t>
            </a:r>
            <a:endParaRPr lang="en-IN" sz="1700" dirty="0"/>
          </a:p>
          <a:p>
            <a:pPr marL="12700" marR="5080"/>
            <a:r>
              <a:rPr lang="en-US" sz="1700" dirty="0">
                <a:hlinkClick r:id="rId19"/>
              </a:rPr>
              <a:t>Solutions-Architect-metrics-</a:t>
            </a:r>
            <a:r>
              <a:rPr lang="en-US" sz="1700" dirty="0" err="1">
                <a:hlinkClick r:id="rId19"/>
              </a:rPr>
              <a:t>cheatsheet</a:t>
            </a:r>
            <a:endParaRPr lang="en-US" sz="1700" dirty="0"/>
          </a:p>
          <a:p>
            <a:pPr marL="12700" marR="5080"/>
            <a:r>
              <a:rPr lang="en-US" sz="1700" dirty="0">
                <a:hlinkClick r:id="rId20"/>
              </a:rPr>
              <a:t>Metrics For Software Architects and Designers</a:t>
            </a:r>
            <a:endParaRPr lang="en-US" sz="1700" dirty="0"/>
          </a:p>
          <a:p>
            <a:pPr marL="12700" marR="5080"/>
            <a:r>
              <a:rPr lang="en-IN" sz="1700" dirty="0">
                <a:hlinkClick r:id="rId21"/>
              </a:rPr>
              <a:t>Designing Software Architectures </a:t>
            </a:r>
            <a:r>
              <a:rPr lang="en-IN" sz="1700" dirty="0">
                <a:hlinkClick r:id="rId22"/>
              </a:rPr>
              <a:t>–</a:t>
            </a:r>
            <a:r>
              <a:rPr lang="en-IN" sz="1700" dirty="0">
                <a:hlinkClick r:id="rId21"/>
              </a:rPr>
              <a:t> notes</a:t>
            </a:r>
            <a:endParaRPr lang="en-IN" sz="1700" dirty="0"/>
          </a:p>
          <a:p>
            <a:pPr marL="12700" marR="5080"/>
            <a:r>
              <a:rPr lang="en-IN" sz="1700" dirty="0">
                <a:hlinkClick r:id="rId23"/>
              </a:rPr>
              <a:t>System Design </a:t>
            </a:r>
            <a:r>
              <a:rPr lang="en-IN" sz="1700" dirty="0" err="1">
                <a:hlinkClick r:id="rId23"/>
              </a:rPr>
              <a:t>TradeOff</a:t>
            </a:r>
            <a:r>
              <a:rPr lang="en-IN" sz="1700" dirty="0">
                <a:hlinkClick r:id="rId23"/>
              </a:rPr>
              <a:t> Series | LinkedIn</a:t>
            </a:r>
            <a:endParaRPr lang="en-US" sz="1700" kern="0" spc="-80" dirty="0">
              <a:solidFill>
                <a:schemeClr val="accent2"/>
              </a:solidFill>
            </a:endParaRPr>
          </a:p>
          <a:p>
            <a:pPr marL="12700" marR="5080"/>
            <a:endParaRPr lang="en-US" sz="1100" kern="0" spc="-80" dirty="0">
              <a:solidFill>
                <a:schemeClr val="accent2"/>
              </a:solidFill>
            </a:endParaRPr>
          </a:p>
          <a:p>
            <a:pPr marL="12700" marR="5080"/>
            <a:r>
              <a:rPr lang="en-US" sz="1400" kern="0" spc="-80" dirty="0">
                <a:solidFill>
                  <a:schemeClr val="accent2"/>
                </a:solidFill>
              </a:rPr>
              <a:t> </a:t>
            </a:r>
            <a:r>
              <a:rPr lang="en-US" sz="1200" kern="0" spc="-80" dirty="0">
                <a:solidFill>
                  <a:schemeClr val="accent2"/>
                </a:solidFill>
              </a:rPr>
              <a:t> </a:t>
            </a:r>
            <a:endParaRPr lang="en-IN" sz="1200" kern="0" spc="-80" dirty="0">
              <a:solidFill>
                <a:schemeClr val="accent2"/>
              </a:solidFill>
            </a:endParaRPr>
          </a:p>
        </p:txBody>
      </p:sp>
    </p:spTree>
    <p:extLst>
      <p:ext uri="{BB962C8B-B14F-4D97-AF65-F5344CB8AC3E}">
        <p14:creationId xmlns:p14="http://schemas.microsoft.com/office/powerpoint/2010/main" val="2462305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7FFC3-2BD3-AB43-09AB-168738357B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A62B29-CFAA-6ADF-5360-5E23B387AC8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5C0F84-A906-D723-69EE-BBDE9EB471E2}"/>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F1AC55-FAC5-DB51-383B-42A24B452A89}"/>
              </a:ext>
            </a:extLst>
          </p:cNvPr>
          <p:cNvGraphicFramePr/>
          <p:nvPr>
            <p:extLst>
              <p:ext uri="{D42A27DB-BD31-4B8C-83A1-F6EECF244321}">
                <p14:modId xmlns:p14="http://schemas.microsoft.com/office/powerpoint/2010/main" val="263912142"/>
              </p:ext>
            </p:extLst>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EF32BA-4918-37C3-392F-CBE3C77E2805}"/>
              </a:ext>
            </a:extLst>
          </p:cNvPr>
          <p:cNvSpPr txBox="1">
            <a:spLocks/>
          </p:cNvSpPr>
          <p:nvPr/>
        </p:nvSpPr>
        <p:spPr>
          <a:xfrm>
            <a:off x="313400" y="694301"/>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What is TOGAF?</a:t>
            </a:r>
          </a:p>
          <a:p>
            <a:pPr marL="12700" marR="5080"/>
            <a:r>
              <a:rPr lang="en-US" sz="1300" kern="0" spc="-80" dirty="0">
                <a:solidFill>
                  <a:schemeClr val="accent6"/>
                </a:solidFill>
              </a:rPr>
              <a:t>TOGAF (The Open Group Architecture Framework) is a framework for designing, planning, implementing, and governing enterprise architecture. The heart of TOGAF is the ADM (Architecture Development Method) — a step-by-step, iterative process for developing and evolving enterprise architecture.</a:t>
            </a:r>
          </a:p>
          <a:p>
            <a:pPr marL="12700" marR="5080"/>
            <a:r>
              <a:rPr lang="en-US" sz="1300" kern="0" spc="-80" dirty="0">
                <a:solidFill>
                  <a:schemeClr val="accent2"/>
                </a:solidFill>
              </a:rPr>
              <a:t>ADM (Architecture Development Method) – Overview</a:t>
            </a:r>
          </a:p>
          <a:p>
            <a:pPr marL="12700" marR="5080"/>
            <a:r>
              <a:rPr lang="en-US" sz="1300" kern="0" spc="-80" dirty="0">
                <a:solidFill>
                  <a:schemeClr val="accent6"/>
                </a:solidFill>
              </a:rPr>
              <a:t>The ADM is a cycle that you repeat continuously. Each iteration can update one layer or the entire architecture.</a:t>
            </a:r>
          </a:p>
          <a:p>
            <a:pPr marL="12700" marR="5080"/>
            <a:r>
              <a:rPr lang="en-US" sz="1300" kern="0" spc="-80" dirty="0">
                <a:solidFill>
                  <a:schemeClr val="accent6"/>
                </a:solidFill>
              </a:rPr>
              <a:t>      Preliminary</a:t>
            </a:r>
          </a:p>
          <a:p>
            <a:pPr marL="12700" marR="5080"/>
            <a:r>
              <a:rPr lang="en-US" sz="1300" kern="0" spc="-80" dirty="0">
                <a:solidFill>
                  <a:schemeClr val="accent6"/>
                </a:solidFill>
              </a:rPr>
              <a:t>           ↓</a:t>
            </a:r>
          </a:p>
          <a:p>
            <a:pPr marL="12700" marR="5080"/>
            <a:r>
              <a:rPr lang="en-US" sz="1300" kern="0" spc="-80" dirty="0">
                <a:solidFill>
                  <a:schemeClr val="accent6"/>
                </a:solidFill>
              </a:rPr>
              <a:t>       A. Architecture Vision</a:t>
            </a:r>
          </a:p>
          <a:p>
            <a:pPr marL="12700" marR="5080"/>
            <a:r>
              <a:rPr lang="en-US" sz="1300" kern="0" spc="-80" dirty="0">
                <a:solidFill>
                  <a:schemeClr val="accent6"/>
                </a:solidFill>
              </a:rPr>
              <a:t>           ↓</a:t>
            </a:r>
          </a:p>
          <a:p>
            <a:pPr marL="12700" marR="5080"/>
            <a:r>
              <a:rPr lang="en-US" sz="1300" kern="0" spc="-80" dirty="0">
                <a:solidFill>
                  <a:schemeClr val="accent6"/>
                </a:solidFill>
              </a:rPr>
              <a:t>       B. Business Architecture</a:t>
            </a:r>
          </a:p>
          <a:p>
            <a:pPr marL="12700" marR="5080"/>
            <a:r>
              <a:rPr lang="en-US" sz="1300" kern="0" spc="-80" dirty="0">
                <a:solidFill>
                  <a:schemeClr val="accent6"/>
                </a:solidFill>
              </a:rPr>
              <a:t>           ↓</a:t>
            </a:r>
          </a:p>
          <a:p>
            <a:pPr marL="12700" marR="5080"/>
            <a:r>
              <a:rPr lang="en-US" sz="1300" kern="0" spc="-80" dirty="0">
                <a:solidFill>
                  <a:schemeClr val="accent6"/>
                </a:solidFill>
              </a:rPr>
              <a:t>       C. Information Systems Architecture</a:t>
            </a:r>
          </a:p>
          <a:p>
            <a:pPr marL="12700" marR="5080"/>
            <a:r>
              <a:rPr lang="en-US" sz="1300" kern="0" spc="-80" dirty="0">
                <a:solidFill>
                  <a:schemeClr val="accent6"/>
                </a:solidFill>
              </a:rPr>
              <a:t>             (Data + Application)</a:t>
            </a:r>
          </a:p>
          <a:p>
            <a:pPr marL="12700" marR="5080"/>
            <a:r>
              <a:rPr lang="en-US" sz="1300" kern="0" spc="-80" dirty="0">
                <a:solidFill>
                  <a:schemeClr val="accent6"/>
                </a:solidFill>
              </a:rPr>
              <a:t>           ↓</a:t>
            </a:r>
          </a:p>
          <a:p>
            <a:pPr marL="12700" marR="5080"/>
            <a:r>
              <a:rPr lang="en-US" sz="1300" kern="0" spc="-80" dirty="0">
                <a:solidFill>
                  <a:schemeClr val="accent6"/>
                </a:solidFill>
              </a:rPr>
              <a:t>       D. Technology Architecture</a:t>
            </a:r>
          </a:p>
          <a:p>
            <a:pPr marL="12700" marR="5080"/>
            <a:r>
              <a:rPr lang="en-US" sz="1300" kern="0" spc="-80" dirty="0">
                <a:solidFill>
                  <a:schemeClr val="accent6"/>
                </a:solidFill>
              </a:rPr>
              <a:t>           ↓</a:t>
            </a:r>
          </a:p>
          <a:p>
            <a:pPr marL="12700" marR="5080"/>
            <a:r>
              <a:rPr lang="en-US" sz="1300" kern="0" spc="-80" dirty="0">
                <a:solidFill>
                  <a:schemeClr val="accent6"/>
                </a:solidFill>
              </a:rPr>
              <a:t>       E. Opportunities &amp; Solutions</a:t>
            </a:r>
          </a:p>
          <a:p>
            <a:pPr marL="12700" marR="5080"/>
            <a:r>
              <a:rPr lang="en-US" sz="1300" kern="0" spc="-80" dirty="0">
                <a:solidFill>
                  <a:schemeClr val="accent6"/>
                </a:solidFill>
              </a:rPr>
              <a:t>           ↓</a:t>
            </a:r>
          </a:p>
          <a:p>
            <a:pPr marL="12700" marR="5080"/>
            <a:r>
              <a:rPr lang="en-US" sz="1300" kern="0" spc="-80" dirty="0">
                <a:solidFill>
                  <a:schemeClr val="accent6"/>
                </a:solidFill>
              </a:rPr>
              <a:t>       F. Migration Planning</a:t>
            </a:r>
          </a:p>
          <a:p>
            <a:pPr marL="12700" marR="5080"/>
            <a:r>
              <a:rPr lang="en-US" sz="1300" kern="0" spc="-80" dirty="0">
                <a:solidFill>
                  <a:schemeClr val="accent6"/>
                </a:solidFill>
              </a:rPr>
              <a:t>           ↓</a:t>
            </a:r>
          </a:p>
          <a:p>
            <a:pPr marL="12700" marR="5080"/>
            <a:r>
              <a:rPr lang="en-US" sz="1300" kern="0" spc="-80" dirty="0">
                <a:solidFill>
                  <a:schemeClr val="accent6"/>
                </a:solidFill>
              </a:rPr>
              <a:t>       G. Implementation Governance</a:t>
            </a:r>
          </a:p>
          <a:p>
            <a:pPr marL="12700" marR="5080"/>
            <a:r>
              <a:rPr lang="en-US" sz="1300" kern="0" spc="-80" dirty="0">
                <a:solidFill>
                  <a:schemeClr val="accent6"/>
                </a:solidFill>
              </a:rPr>
              <a:t>           ↓</a:t>
            </a:r>
          </a:p>
          <a:p>
            <a:pPr marL="12700" marR="5080"/>
            <a:r>
              <a:rPr lang="en-US" sz="1300" kern="0" spc="-80" dirty="0">
                <a:solidFill>
                  <a:schemeClr val="accent6"/>
                </a:solidFill>
              </a:rPr>
              <a:t>       H. Architecture Change Management</a:t>
            </a:r>
          </a:p>
          <a:p>
            <a:pPr marL="12700" marR="5080"/>
            <a:r>
              <a:rPr lang="en-US" sz="1300" kern="0" spc="-80" dirty="0">
                <a:solidFill>
                  <a:schemeClr val="accent6"/>
                </a:solidFill>
              </a:rPr>
              <a:t>           ↺ (back to A/B/C etc.)</a:t>
            </a:r>
          </a:p>
          <a:p>
            <a:pPr marL="12700" marR="5080"/>
            <a:r>
              <a:rPr lang="en-US" sz="1300" kern="0" spc="-80" dirty="0">
                <a:solidFill>
                  <a:schemeClr val="accent6"/>
                </a:solidFill>
              </a:rPr>
              <a:t>Additionally, the Requirements Management phase runs through all phases.</a:t>
            </a:r>
          </a:p>
        </p:txBody>
      </p:sp>
    </p:spTree>
    <p:extLst>
      <p:ext uri="{BB962C8B-B14F-4D97-AF65-F5344CB8AC3E}">
        <p14:creationId xmlns:p14="http://schemas.microsoft.com/office/powerpoint/2010/main" val="10462924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CED3F-829C-F391-7F77-C16F45D724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ED76A3-428B-C420-81AB-0E79B797412A}"/>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EA5E1E-ABAF-7EB8-79FB-E2971323985C}"/>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7CC427-8FD6-0236-00FE-8F223B470D3E}"/>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F7B61A-B356-BA96-F22B-4D6601ADD5DC}"/>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Preliminary Phase – Prepare &amp; Set the Stage</a:t>
            </a:r>
          </a:p>
          <a:p>
            <a:pPr marL="12700" marR="5080"/>
            <a:r>
              <a:rPr lang="en-US" sz="1400" kern="0" spc="-80" dirty="0">
                <a:solidFill>
                  <a:schemeClr val="accent2"/>
                </a:solidFill>
              </a:rPr>
              <a:t>Purpose</a:t>
            </a:r>
          </a:p>
          <a:p>
            <a:pPr marL="12700" marR="5080"/>
            <a:r>
              <a:rPr lang="en-US" sz="1400" kern="0" spc="-80" dirty="0">
                <a:solidFill>
                  <a:schemeClr val="accent2"/>
                </a:solidFill>
              </a:rPr>
              <a:t>Define:</a:t>
            </a:r>
          </a:p>
          <a:p>
            <a:pPr marL="12700" marR="5080"/>
            <a:r>
              <a:rPr lang="en-US" sz="1400" kern="0" spc="-80" dirty="0">
                <a:solidFill>
                  <a:schemeClr val="accent6"/>
                </a:solidFill>
              </a:rPr>
              <a:t>Why we are doing architecture</a:t>
            </a:r>
          </a:p>
          <a:p>
            <a:pPr marL="12700" marR="5080"/>
            <a:r>
              <a:rPr lang="en-US" sz="1400" kern="0" spc="-80" dirty="0">
                <a:solidFill>
                  <a:schemeClr val="accent6"/>
                </a:solidFill>
              </a:rPr>
              <a:t>Scope of transformation</a:t>
            </a:r>
          </a:p>
          <a:p>
            <a:pPr marL="12700" marR="5080"/>
            <a:r>
              <a:rPr lang="en-US" sz="1400" kern="0" spc="-80" dirty="0">
                <a:solidFill>
                  <a:schemeClr val="accent6"/>
                </a:solidFill>
              </a:rPr>
              <a:t>Architecture principles</a:t>
            </a:r>
          </a:p>
          <a:p>
            <a:pPr marL="12700" marR="5080"/>
            <a:r>
              <a:rPr lang="en-US" sz="1400" kern="0" spc="-80" dirty="0">
                <a:solidFill>
                  <a:schemeClr val="accent6"/>
                </a:solidFill>
              </a:rPr>
              <a:t>Governance model</a:t>
            </a:r>
          </a:p>
          <a:p>
            <a:pPr marL="12700" marR="5080"/>
            <a:r>
              <a:rPr lang="en-US" sz="1400" kern="0" spc="-80" dirty="0">
                <a:solidFill>
                  <a:schemeClr val="accent6"/>
                </a:solidFill>
              </a:rPr>
              <a:t>Tools and repository</a:t>
            </a:r>
          </a:p>
          <a:p>
            <a:pPr marL="12700" marR="5080"/>
            <a:r>
              <a:rPr lang="en-US" sz="1400" kern="0" spc="-80" dirty="0">
                <a:solidFill>
                  <a:schemeClr val="accent2"/>
                </a:solidFill>
              </a:rPr>
              <a:t>Key Outputs</a:t>
            </a:r>
          </a:p>
          <a:p>
            <a:pPr marL="12700" marR="5080"/>
            <a:r>
              <a:rPr lang="en-US" sz="1400" kern="0" spc="-80" dirty="0">
                <a:solidFill>
                  <a:schemeClr val="accent6"/>
                </a:solidFill>
              </a:rPr>
              <a:t>Organizational context</a:t>
            </a:r>
          </a:p>
          <a:p>
            <a:pPr marL="12700" marR="5080"/>
            <a:r>
              <a:rPr lang="en-US" sz="1400" kern="0" spc="-80" dirty="0">
                <a:solidFill>
                  <a:schemeClr val="accent6"/>
                </a:solidFill>
              </a:rPr>
              <a:t>Architecture principles (e.g., reuse before buy before build)</a:t>
            </a:r>
          </a:p>
          <a:p>
            <a:pPr marL="12700" marR="5080"/>
            <a:r>
              <a:rPr lang="en-US" sz="1400" kern="0" spc="-80" dirty="0">
                <a:solidFill>
                  <a:schemeClr val="accent6"/>
                </a:solidFill>
              </a:rPr>
              <a:t>Architecture governance framework</a:t>
            </a:r>
          </a:p>
          <a:p>
            <a:pPr marL="12700" marR="5080"/>
            <a:r>
              <a:rPr lang="en-US" sz="1400" kern="0" spc="-80" dirty="0">
                <a:solidFill>
                  <a:schemeClr val="accent6"/>
                </a:solidFill>
              </a:rPr>
              <a:t>EA repository structure</a:t>
            </a:r>
          </a:p>
          <a:p>
            <a:pPr marL="12700" marR="5080"/>
            <a:r>
              <a:rPr lang="en-US" sz="1400" kern="0" spc="-80" dirty="0">
                <a:solidFill>
                  <a:schemeClr val="accent2"/>
                </a:solidFill>
              </a:rPr>
              <a:t>Phase A: Architecture Vision</a:t>
            </a:r>
          </a:p>
          <a:p>
            <a:pPr marL="12700" marR="5080"/>
            <a:r>
              <a:rPr lang="en-US" sz="1400" kern="0" spc="-80" dirty="0">
                <a:solidFill>
                  <a:schemeClr val="accent2"/>
                </a:solidFill>
              </a:rPr>
              <a:t>Purpose</a:t>
            </a:r>
          </a:p>
          <a:p>
            <a:pPr marL="12700" marR="5080"/>
            <a:r>
              <a:rPr lang="en-US" sz="1400" kern="0" spc="-80" dirty="0">
                <a:solidFill>
                  <a:schemeClr val="accent6"/>
                </a:solidFill>
              </a:rPr>
              <a:t>Create a high-level vision to:</a:t>
            </a:r>
          </a:p>
          <a:p>
            <a:pPr marL="12700" marR="5080"/>
            <a:r>
              <a:rPr lang="en-US" sz="1400" kern="0" spc="-80" dirty="0">
                <a:solidFill>
                  <a:schemeClr val="accent6"/>
                </a:solidFill>
              </a:rPr>
              <a:t>Align stakeholders</a:t>
            </a:r>
          </a:p>
          <a:p>
            <a:pPr marL="12700" marR="5080"/>
            <a:r>
              <a:rPr lang="en-US" sz="1400" kern="0" spc="-80" dirty="0">
                <a:solidFill>
                  <a:schemeClr val="accent6"/>
                </a:solidFill>
              </a:rPr>
              <a:t>Secure funding and approval</a:t>
            </a:r>
          </a:p>
          <a:p>
            <a:pPr marL="12700" marR="5080"/>
            <a:r>
              <a:rPr lang="en-US" sz="1400" kern="0" spc="-80" dirty="0">
                <a:solidFill>
                  <a:schemeClr val="accent6"/>
                </a:solidFill>
              </a:rPr>
              <a:t>Set initial scope and boundaries</a:t>
            </a:r>
          </a:p>
          <a:p>
            <a:pPr marL="12700" marR="5080"/>
            <a:r>
              <a:rPr lang="en-US" sz="1400" kern="0" spc="-80" dirty="0">
                <a:solidFill>
                  <a:schemeClr val="accent2"/>
                </a:solidFill>
              </a:rPr>
              <a:t>Activities</a:t>
            </a:r>
          </a:p>
          <a:p>
            <a:pPr marL="12700" marR="5080"/>
            <a:r>
              <a:rPr lang="en-US" sz="1400" kern="0" spc="-80" dirty="0">
                <a:solidFill>
                  <a:schemeClr val="accent6"/>
                </a:solidFill>
              </a:rPr>
              <a:t>Identify stakeholders</a:t>
            </a:r>
          </a:p>
          <a:p>
            <a:pPr marL="12700" marR="5080"/>
            <a:r>
              <a:rPr lang="en-US" sz="1400" kern="0" spc="-80" dirty="0">
                <a:solidFill>
                  <a:schemeClr val="accent6"/>
                </a:solidFill>
              </a:rPr>
              <a:t>Define business context and drivers</a:t>
            </a:r>
          </a:p>
          <a:p>
            <a:pPr marL="12700" marR="5080"/>
            <a:r>
              <a:rPr lang="en-US" sz="1400" kern="0" spc="-80" dirty="0">
                <a:solidFill>
                  <a:schemeClr val="accent6"/>
                </a:solidFill>
              </a:rPr>
              <a:t>Form a high-level Target Architecture (not detailed yet)</a:t>
            </a:r>
          </a:p>
          <a:p>
            <a:pPr marL="12700" marR="5080"/>
            <a:r>
              <a:rPr lang="en-US" sz="1400" kern="0" spc="-80" dirty="0">
                <a:solidFill>
                  <a:schemeClr val="accent6"/>
                </a:solidFill>
              </a:rPr>
              <a:t>Develop the Business Case</a:t>
            </a:r>
          </a:p>
          <a:p>
            <a:pPr marL="12700" marR="5080"/>
            <a:r>
              <a:rPr lang="en-US" sz="1400" kern="0" spc="-80" dirty="0">
                <a:solidFill>
                  <a:schemeClr val="accent6"/>
                </a:solidFill>
              </a:rPr>
              <a:t>Create Architecture Vision Document</a:t>
            </a:r>
          </a:p>
        </p:txBody>
      </p:sp>
    </p:spTree>
    <p:extLst>
      <p:ext uri="{BB962C8B-B14F-4D97-AF65-F5344CB8AC3E}">
        <p14:creationId xmlns:p14="http://schemas.microsoft.com/office/powerpoint/2010/main" val="41604583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C2B83-2B36-7498-E434-AC3553F194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0F0D54-90D8-07DC-C648-ED22A939A2BF}"/>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33B5EB-BDB4-7F16-C6DF-3B700B29BFFD}"/>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C98B5D-88FE-3886-8A66-8C628BFFFC34}"/>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06A249D-1984-351F-B288-0AF55AC8DE83}"/>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Outputs</a:t>
            </a:r>
          </a:p>
          <a:p>
            <a:pPr marL="12700" marR="5080"/>
            <a:r>
              <a:rPr lang="en-US" sz="1400" kern="0" spc="-80" dirty="0">
                <a:solidFill>
                  <a:schemeClr val="accent6"/>
                </a:solidFill>
              </a:rPr>
              <a:t>Statement of Architecture Work</a:t>
            </a:r>
          </a:p>
          <a:p>
            <a:pPr marL="12700" marR="5080"/>
            <a:r>
              <a:rPr lang="en-US" sz="1400" kern="0" spc="-80" dirty="0">
                <a:solidFill>
                  <a:schemeClr val="accent6"/>
                </a:solidFill>
              </a:rPr>
              <a:t>Architecture Vision (with high-level diagrams)</a:t>
            </a:r>
          </a:p>
          <a:p>
            <a:pPr marL="12700" marR="5080"/>
            <a:r>
              <a:rPr lang="en-US" sz="1400" kern="0" spc="-80" dirty="0">
                <a:solidFill>
                  <a:schemeClr val="accent6"/>
                </a:solidFill>
              </a:rPr>
              <a:t>Stakeholder maps and communication plan</a:t>
            </a:r>
          </a:p>
          <a:p>
            <a:pPr marL="12700" marR="5080"/>
            <a:r>
              <a:rPr lang="en-US" sz="1400" kern="0" spc="-80" dirty="0">
                <a:solidFill>
                  <a:schemeClr val="accent2"/>
                </a:solidFill>
              </a:rPr>
              <a:t>Phase B: Business Architecture</a:t>
            </a:r>
          </a:p>
          <a:p>
            <a:pPr marL="12700" marR="5080"/>
            <a:r>
              <a:rPr lang="en-US" sz="1400" kern="0" spc="-80" dirty="0">
                <a:solidFill>
                  <a:schemeClr val="accent2"/>
                </a:solidFill>
              </a:rPr>
              <a:t>Purpose</a:t>
            </a:r>
          </a:p>
          <a:p>
            <a:pPr marL="12700" marR="5080"/>
            <a:r>
              <a:rPr lang="en-US" sz="1400" kern="0" spc="-80" dirty="0">
                <a:solidFill>
                  <a:schemeClr val="accent6"/>
                </a:solidFill>
              </a:rPr>
              <a:t>Define the Target Business Architecture:</a:t>
            </a:r>
          </a:p>
          <a:p>
            <a:pPr marL="12700" marR="5080"/>
            <a:r>
              <a:rPr lang="en-US" sz="1400" kern="0" spc="-80" dirty="0">
                <a:solidFill>
                  <a:schemeClr val="accent6"/>
                </a:solidFill>
              </a:rPr>
              <a:t>Business capabilities</a:t>
            </a:r>
          </a:p>
          <a:p>
            <a:pPr marL="12700" marR="5080"/>
            <a:r>
              <a:rPr lang="en-US" sz="1400" kern="0" spc="-80" dirty="0">
                <a:solidFill>
                  <a:schemeClr val="accent2"/>
                </a:solidFill>
              </a:rPr>
              <a:t>Processes</a:t>
            </a:r>
          </a:p>
          <a:p>
            <a:pPr marL="12700" marR="5080"/>
            <a:r>
              <a:rPr lang="en-US" sz="1400" kern="0" spc="-80" dirty="0">
                <a:solidFill>
                  <a:schemeClr val="accent6"/>
                </a:solidFill>
              </a:rPr>
              <a:t>Organization structure</a:t>
            </a:r>
          </a:p>
          <a:p>
            <a:pPr marL="12700" marR="5080"/>
            <a:r>
              <a:rPr lang="en-US" sz="1400" kern="0" spc="-80" dirty="0">
                <a:solidFill>
                  <a:schemeClr val="accent6"/>
                </a:solidFill>
              </a:rPr>
              <a:t>Value streams</a:t>
            </a:r>
          </a:p>
          <a:p>
            <a:pPr marL="12700" marR="5080"/>
            <a:r>
              <a:rPr lang="en-US" sz="1400" kern="0" spc="-80" dirty="0">
                <a:solidFill>
                  <a:schemeClr val="accent6"/>
                </a:solidFill>
              </a:rPr>
              <a:t>Business rules</a:t>
            </a:r>
          </a:p>
          <a:p>
            <a:pPr marL="12700" marR="5080"/>
            <a:r>
              <a:rPr lang="en-US" sz="1400" kern="0" spc="-80" dirty="0">
                <a:solidFill>
                  <a:schemeClr val="accent2"/>
                </a:solidFill>
              </a:rPr>
              <a:t>Inputs</a:t>
            </a:r>
          </a:p>
          <a:p>
            <a:pPr marL="12700" marR="5080"/>
            <a:r>
              <a:rPr lang="en-US" sz="1400" kern="0" spc="-80" dirty="0">
                <a:solidFill>
                  <a:schemeClr val="accent6"/>
                </a:solidFill>
              </a:rPr>
              <a:t>Architecture Vision</a:t>
            </a:r>
          </a:p>
          <a:p>
            <a:pPr marL="12700" marR="5080"/>
            <a:r>
              <a:rPr lang="en-US" sz="1400" kern="0" spc="-80" dirty="0">
                <a:solidFill>
                  <a:schemeClr val="accent6"/>
                </a:solidFill>
              </a:rPr>
              <a:t>Business strategies</a:t>
            </a:r>
          </a:p>
          <a:p>
            <a:pPr marL="12700" marR="5080"/>
            <a:r>
              <a:rPr lang="en-US" sz="1400" kern="0" spc="-80" dirty="0">
                <a:solidFill>
                  <a:schemeClr val="accent2"/>
                </a:solidFill>
              </a:rPr>
              <a:t>Activitie</a:t>
            </a:r>
            <a:r>
              <a:rPr lang="en-US" sz="1400" kern="0" spc="-80" dirty="0">
                <a:solidFill>
                  <a:schemeClr val="accent6"/>
                </a:solidFill>
              </a:rPr>
              <a:t>s</a:t>
            </a:r>
          </a:p>
          <a:p>
            <a:pPr marL="12700" marR="5080"/>
            <a:r>
              <a:rPr lang="en-US" sz="1400" kern="0" spc="-80" dirty="0">
                <a:solidFill>
                  <a:schemeClr val="accent6"/>
                </a:solidFill>
              </a:rPr>
              <a:t>Baseline Business Architecture (current state As-Is)</a:t>
            </a:r>
          </a:p>
          <a:p>
            <a:pPr marL="12700" marR="5080"/>
            <a:r>
              <a:rPr lang="en-US" sz="1400" kern="0" spc="-80" dirty="0">
                <a:solidFill>
                  <a:schemeClr val="accent6"/>
                </a:solidFill>
              </a:rPr>
              <a:t>Target Business Architecture (future state To-Be)</a:t>
            </a:r>
          </a:p>
          <a:p>
            <a:pPr marL="12700" marR="5080"/>
            <a:r>
              <a:rPr lang="en-US" sz="1400" kern="0" spc="-80" dirty="0">
                <a:solidFill>
                  <a:schemeClr val="accent6"/>
                </a:solidFill>
              </a:rPr>
              <a:t>Identify gaps (Gap Analysis)</a:t>
            </a:r>
          </a:p>
          <a:p>
            <a:pPr marL="12700" marR="5080"/>
            <a:r>
              <a:rPr lang="en-US" sz="1400" kern="0" spc="-80" dirty="0">
                <a:solidFill>
                  <a:schemeClr val="accent2"/>
                </a:solidFill>
              </a:rPr>
              <a:t>Outputs</a:t>
            </a:r>
          </a:p>
          <a:p>
            <a:pPr marL="12700" marR="5080"/>
            <a:r>
              <a:rPr lang="en-US" sz="1400" kern="0" spc="-80" dirty="0">
                <a:solidFill>
                  <a:schemeClr val="accent6"/>
                </a:solidFill>
              </a:rPr>
              <a:t>Business Capability Model</a:t>
            </a:r>
          </a:p>
          <a:p>
            <a:pPr marL="12700" marR="5080"/>
            <a:r>
              <a:rPr lang="en-US" sz="1400" kern="0" spc="-80" dirty="0">
                <a:solidFill>
                  <a:schemeClr val="accent6"/>
                </a:solidFill>
              </a:rPr>
              <a:t>Value Stream Maps</a:t>
            </a:r>
          </a:p>
          <a:p>
            <a:pPr marL="12700" marR="5080"/>
            <a:r>
              <a:rPr lang="en-US" sz="1400" kern="0" spc="-80" dirty="0">
                <a:solidFill>
                  <a:schemeClr val="accent6"/>
                </a:solidFill>
              </a:rPr>
              <a:t>Business Process Models</a:t>
            </a:r>
          </a:p>
          <a:p>
            <a:pPr marL="12700" marR="5080"/>
            <a:r>
              <a:rPr lang="en-US" sz="1400" kern="0" spc="-80" dirty="0">
                <a:solidFill>
                  <a:schemeClr val="accent6"/>
                </a:solidFill>
              </a:rPr>
              <a:t>Business Domain/Data impact analysis</a:t>
            </a:r>
          </a:p>
        </p:txBody>
      </p:sp>
    </p:spTree>
    <p:extLst>
      <p:ext uri="{BB962C8B-B14F-4D97-AF65-F5344CB8AC3E}">
        <p14:creationId xmlns:p14="http://schemas.microsoft.com/office/powerpoint/2010/main" val="12009864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41A53-41EC-407B-7026-A1CE2F889D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0B61D2-9DE3-F30E-EB8E-9486342785AF}"/>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F5B268-983F-7955-B87F-2400A162729E}"/>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B25ED5-151F-9158-186E-BBE79BEDCAB8}"/>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1924F79-7405-F655-7F74-F66AB57D012F}"/>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Phase C: Information Systems Architectures</a:t>
            </a:r>
          </a:p>
          <a:p>
            <a:pPr marL="12700" marR="5080"/>
            <a:r>
              <a:rPr lang="en-US" sz="1400" kern="0" spc="-80" dirty="0">
                <a:solidFill>
                  <a:schemeClr val="accent2"/>
                </a:solidFill>
              </a:rPr>
              <a:t>Divided into:</a:t>
            </a:r>
          </a:p>
          <a:p>
            <a:pPr marL="12700" marR="5080"/>
            <a:r>
              <a:rPr lang="en-US" sz="1400" kern="0" spc="-80" dirty="0">
                <a:solidFill>
                  <a:schemeClr val="accent6"/>
                </a:solidFill>
              </a:rPr>
              <a:t>Data Architecture</a:t>
            </a:r>
          </a:p>
          <a:p>
            <a:pPr marL="12700" marR="5080"/>
            <a:r>
              <a:rPr lang="en-US" sz="1400" kern="0" spc="-80" dirty="0">
                <a:solidFill>
                  <a:schemeClr val="accent6"/>
                </a:solidFill>
              </a:rPr>
              <a:t>Application Architecture</a:t>
            </a:r>
          </a:p>
          <a:p>
            <a:pPr marL="12700" marR="5080"/>
            <a:r>
              <a:rPr lang="en-US" sz="1400" kern="0" spc="-80" dirty="0">
                <a:solidFill>
                  <a:schemeClr val="accent2"/>
                </a:solidFill>
              </a:rPr>
              <a:t>C1. Data Architecture</a:t>
            </a:r>
          </a:p>
          <a:p>
            <a:pPr marL="12700" marR="5080"/>
            <a:r>
              <a:rPr lang="en-US" sz="1400" kern="0" spc="-80" dirty="0">
                <a:solidFill>
                  <a:schemeClr val="accent2"/>
                </a:solidFill>
              </a:rPr>
              <a:t>Define:</a:t>
            </a:r>
          </a:p>
          <a:p>
            <a:pPr marL="12700" marR="5080"/>
            <a:r>
              <a:rPr lang="en-US" sz="1400" kern="0" spc="-80" dirty="0">
                <a:solidFill>
                  <a:schemeClr val="accent6"/>
                </a:solidFill>
              </a:rPr>
              <a:t>Data entities &amp; relationships</a:t>
            </a:r>
          </a:p>
          <a:p>
            <a:pPr marL="12700" marR="5080"/>
            <a:r>
              <a:rPr lang="en-US" sz="1400" kern="0" spc="-80" dirty="0">
                <a:solidFill>
                  <a:schemeClr val="accent6"/>
                </a:solidFill>
              </a:rPr>
              <a:t>Data ownership</a:t>
            </a:r>
          </a:p>
          <a:p>
            <a:pPr marL="12700" marR="5080"/>
            <a:r>
              <a:rPr lang="en-US" sz="1400" kern="0" spc="-80" dirty="0">
                <a:solidFill>
                  <a:schemeClr val="accent6"/>
                </a:solidFill>
              </a:rPr>
              <a:t>Data flows &amp; lifecycle</a:t>
            </a:r>
          </a:p>
          <a:p>
            <a:pPr marL="12700" marR="5080"/>
            <a:r>
              <a:rPr lang="en-US" sz="1400" kern="0" spc="-80" dirty="0">
                <a:solidFill>
                  <a:schemeClr val="accent6"/>
                </a:solidFill>
              </a:rPr>
              <a:t>Master data boundaries</a:t>
            </a:r>
          </a:p>
          <a:p>
            <a:pPr marL="12700" marR="5080"/>
            <a:r>
              <a:rPr lang="en-US" sz="1400" kern="0" spc="-80" dirty="0">
                <a:solidFill>
                  <a:schemeClr val="accent2"/>
                </a:solidFill>
              </a:rPr>
              <a:t>C2. Application Architecture</a:t>
            </a:r>
          </a:p>
          <a:p>
            <a:pPr marL="12700" marR="5080"/>
            <a:r>
              <a:rPr lang="en-US" sz="1400" kern="0" spc="-80" dirty="0">
                <a:solidFill>
                  <a:schemeClr val="accent2"/>
                </a:solidFill>
              </a:rPr>
              <a:t>Define:</a:t>
            </a:r>
          </a:p>
          <a:p>
            <a:pPr marL="12700" marR="5080"/>
            <a:r>
              <a:rPr lang="en-US" sz="1400" kern="0" spc="-80" dirty="0">
                <a:solidFill>
                  <a:schemeClr val="accent6"/>
                </a:solidFill>
              </a:rPr>
              <a:t>Application components &amp; services</a:t>
            </a:r>
          </a:p>
          <a:p>
            <a:pPr marL="12700" marR="5080"/>
            <a:r>
              <a:rPr lang="en-US" sz="1400" kern="0" spc="-80" dirty="0">
                <a:solidFill>
                  <a:schemeClr val="accent6"/>
                </a:solidFill>
              </a:rPr>
              <a:t>Integration patterns (e.g., API, ESB, events)</a:t>
            </a:r>
          </a:p>
          <a:p>
            <a:pPr marL="12700" marR="5080"/>
            <a:r>
              <a:rPr lang="en-US" sz="1400" kern="0" spc="-80" dirty="0">
                <a:solidFill>
                  <a:schemeClr val="accent6"/>
                </a:solidFill>
              </a:rPr>
              <a:t>Application-to-capability mapping</a:t>
            </a:r>
          </a:p>
          <a:p>
            <a:pPr marL="12700" marR="5080"/>
            <a:r>
              <a:rPr lang="en-US" sz="1400" kern="0" spc="-80" dirty="0">
                <a:solidFill>
                  <a:schemeClr val="accent2"/>
                </a:solidFill>
              </a:rPr>
              <a:t>Outputs (combined)</a:t>
            </a:r>
          </a:p>
          <a:p>
            <a:pPr marL="12700" marR="5080"/>
            <a:r>
              <a:rPr lang="en-US" sz="1400" kern="0" spc="-80" dirty="0">
                <a:solidFill>
                  <a:schemeClr val="accent6"/>
                </a:solidFill>
              </a:rPr>
              <a:t>Logical Data Model</a:t>
            </a:r>
          </a:p>
          <a:p>
            <a:pPr marL="12700" marR="5080"/>
            <a:r>
              <a:rPr lang="en-US" sz="1400" kern="0" spc="-80" dirty="0">
                <a:solidFill>
                  <a:schemeClr val="accent6"/>
                </a:solidFill>
              </a:rPr>
              <a:t>Application Interaction Diagram</a:t>
            </a:r>
          </a:p>
          <a:p>
            <a:pPr marL="12700" marR="5080"/>
            <a:r>
              <a:rPr lang="en-US" sz="1400" kern="0" spc="-80" dirty="0">
                <a:solidFill>
                  <a:schemeClr val="accent6"/>
                </a:solidFill>
              </a:rPr>
              <a:t>Data/Application Gap Analysis</a:t>
            </a:r>
          </a:p>
          <a:p>
            <a:pPr marL="12700" marR="5080"/>
            <a:r>
              <a:rPr lang="en-US" sz="1400" kern="0" spc="-80" dirty="0">
                <a:solidFill>
                  <a:schemeClr val="accent2"/>
                </a:solidFill>
              </a:rPr>
              <a:t>Phase D: Technology Architecture</a:t>
            </a:r>
          </a:p>
          <a:p>
            <a:pPr marL="12700" marR="5080"/>
            <a:r>
              <a:rPr lang="en-US" sz="1400" kern="0" spc="-80" dirty="0">
                <a:solidFill>
                  <a:schemeClr val="accent2"/>
                </a:solidFill>
              </a:rPr>
              <a:t>Purpose</a:t>
            </a:r>
          </a:p>
          <a:p>
            <a:pPr marL="12700" marR="5080"/>
            <a:r>
              <a:rPr lang="en-US" sz="1400" kern="0" spc="-80" dirty="0">
                <a:solidFill>
                  <a:schemeClr val="accent6"/>
                </a:solidFill>
              </a:rPr>
              <a:t>Define the technical platform needed to realize the applications &amp; data.</a:t>
            </a:r>
          </a:p>
          <a:p>
            <a:pPr marL="12700" marR="5080"/>
            <a:r>
              <a:rPr lang="en-US" sz="1400" kern="0" spc="-80" dirty="0">
                <a:solidFill>
                  <a:schemeClr val="accent2"/>
                </a:solidFill>
              </a:rPr>
              <a:t>This includes:</a:t>
            </a:r>
          </a:p>
          <a:p>
            <a:pPr marL="12700" marR="5080"/>
            <a:r>
              <a:rPr lang="en-US" sz="1400" kern="0" spc="-80" dirty="0">
                <a:solidFill>
                  <a:schemeClr val="accent6"/>
                </a:solidFill>
              </a:rPr>
              <a:t>Infrastructure</a:t>
            </a:r>
          </a:p>
          <a:p>
            <a:pPr marL="12700" marR="5080"/>
            <a:r>
              <a:rPr lang="en-US" sz="1400" kern="0" spc="-80" dirty="0">
                <a:solidFill>
                  <a:schemeClr val="accent6"/>
                </a:solidFill>
              </a:rPr>
              <a:t>Networking</a:t>
            </a:r>
          </a:p>
        </p:txBody>
      </p:sp>
    </p:spTree>
    <p:extLst>
      <p:ext uri="{BB962C8B-B14F-4D97-AF65-F5344CB8AC3E}">
        <p14:creationId xmlns:p14="http://schemas.microsoft.com/office/powerpoint/2010/main" val="958560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17C5A-0656-BD3B-7985-FCFDF35C32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6698F6-8B3A-6151-52ED-55FAF8765AC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8D9366-453A-BAC7-70AD-1174A4D814EF}"/>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5C0CF1-83A1-87F4-51B7-2979AA4B1C49}"/>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757D3A-B153-FE45-2110-434631DD6557}"/>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Security</a:t>
            </a:r>
          </a:p>
          <a:p>
            <a:pPr marL="12700" marR="5080"/>
            <a:r>
              <a:rPr lang="en-US" sz="1400" kern="0" spc="-80" dirty="0">
                <a:solidFill>
                  <a:schemeClr val="accent6"/>
                </a:solidFill>
              </a:rPr>
              <a:t>Cloud Platforms (IaaS/PaaS)</a:t>
            </a:r>
          </a:p>
          <a:p>
            <a:pPr marL="12700" marR="5080"/>
            <a:r>
              <a:rPr lang="en-US" sz="1400" kern="0" spc="-80" dirty="0">
                <a:solidFill>
                  <a:schemeClr val="accent6"/>
                </a:solidFill>
              </a:rPr>
              <a:t>DevOps / CI/CD environments</a:t>
            </a:r>
          </a:p>
          <a:p>
            <a:pPr marL="12700" marR="5080"/>
            <a:r>
              <a:rPr lang="en-US" sz="1400" kern="0" spc="-80" dirty="0">
                <a:solidFill>
                  <a:schemeClr val="accent6"/>
                </a:solidFill>
              </a:rPr>
              <a:t>Runtime environments (EKS/AKS, App Service, VMs, Containers, etc.)</a:t>
            </a:r>
          </a:p>
          <a:p>
            <a:pPr marL="12700" marR="5080"/>
            <a:r>
              <a:rPr lang="en-US" sz="1400" kern="0" spc="-80" dirty="0">
                <a:solidFill>
                  <a:schemeClr val="accent2"/>
                </a:solidFill>
              </a:rPr>
              <a:t>Outputs</a:t>
            </a:r>
          </a:p>
          <a:p>
            <a:pPr marL="12700" marR="5080"/>
            <a:r>
              <a:rPr lang="en-US" sz="1400" kern="0" spc="-80" dirty="0">
                <a:solidFill>
                  <a:schemeClr val="accent6"/>
                </a:solidFill>
              </a:rPr>
              <a:t>Platform Reference Architecture</a:t>
            </a:r>
          </a:p>
          <a:p>
            <a:pPr marL="12700" marR="5080"/>
            <a:r>
              <a:rPr lang="en-US" sz="1400" kern="0" spc="-80" dirty="0">
                <a:solidFill>
                  <a:schemeClr val="accent6"/>
                </a:solidFill>
              </a:rPr>
              <a:t>Infrastructure designs (logical &gt; physical)</a:t>
            </a:r>
          </a:p>
          <a:p>
            <a:pPr marL="12700" marR="5080"/>
            <a:r>
              <a:rPr lang="en-US" sz="1400" kern="0" spc="-80" dirty="0">
                <a:solidFill>
                  <a:schemeClr val="accent6"/>
                </a:solidFill>
              </a:rPr>
              <a:t>Tech standards and policies</a:t>
            </a:r>
          </a:p>
          <a:p>
            <a:pPr marL="12700" marR="5080"/>
            <a:r>
              <a:rPr lang="en-US" sz="1400" kern="0" spc="-80" dirty="0">
                <a:solidFill>
                  <a:schemeClr val="accent2"/>
                </a:solidFill>
              </a:rPr>
              <a:t>Phase E: Opportunities &amp; Solutions</a:t>
            </a:r>
          </a:p>
          <a:p>
            <a:pPr marL="12700" marR="5080"/>
            <a:r>
              <a:rPr lang="en-US" sz="1400" kern="0" spc="-80" dirty="0">
                <a:solidFill>
                  <a:schemeClr val="accent2"/>
                </a:solidFill>
              </a:rPr>
              <a:t>Purpose</a:t>
            </a:r>
          </a:p>
          <a:p>
            <a:pPr marL="12700" marR="5080"/>
            <a:r>
              <a:rPr lang="en-US" sz="1400" kern="0" spc="-80" dirty="0">
                <a:solidFill>
                  <a:schemeClr val="accent6"/>
                </a:solidFill>
              </a:rPr>
              <a:t>Convert architectures into solution direction.</a:t>
            </a:r>
          </a:p>
          <a:p>
            <a:pPr marL="12700" marR="5080"/>
            <a:r>
              <a:rPr lang="en-US" sz="1400" kern="0" spc="-80" dirty="0">
                <a:solidFill>
                  <a:schemeClr val="accent2"/>
                </a:solidFill>
              </a:rPr>
              <a:t>Identify:</a:t>
            </a:r>
          </a:p>
          <a:p>
            <a:pPr marL="12700" marR="5080"/>
            <a:r>
              <a:rPr lang="en-US" sz="1400" kern="0" spc="-80" dirty="0">
                <a:solidFill>
                  <a:schemeClr val="accent6"/>
                </a:solidFill>
              </a:rPr>
              <a:t>Projects</a:t>
            </a:r>
          </a:p>
          <a:p>
            <a:pPr marL="12700" marR="5080"/>
            <a:r>
              <a:rPr lang="en-US" sz="1400" kern="0" spc="-80" dirty="0">
                <a:solidFill>
                  <a:schemeClr val="accent6"/>
                </a:solidFill>
              </a:rPr>
              <a:t>Work packages</a:t>
            </a:r>
          </a:p>
          <a:p>
            <a:pPr marL="12700" marR="5080"/>
            <a:r>
              <a:rPr lang="en-US" sz="1400" kern="0" spc="-80" dirty="0">
                <a:solidFill>
                  <a:schemeClr val="accent6"/>
                </a:solidFill>
              </a:rPr>
              <a:t>Reusable building blocks</a:t>
            </a:r>
          </a:p>
          <a:p>
            <a:pPr marL="12700" marR="5080"/>
            <a:r>
              <a:rPr lang="en-US" sz="1400" kern="0" spc="-80" dirty="0">
                <a:solidFill>
                  <a:schemeClr val="accent6"/>
                </a:solidFill>
              </a:rPr>
              <a:t>Technology enablers</a:t>
            </a:r>
          </a:p>
          <a:p>
            <a:pPr marL="12700" marR="5080"/>
            <a:r>
              <a:rPr lang="en-US" sz="1400" kern="0" spc="-80" dirty="0">
                <a:solidFill>
                  <a:schemeClr val="accent2"/>
                </a:solidFill>
              </a:rPr>
              <a:t>Outputs</a:t>
            </a:r>
          </a:p>
          <a:p>
            <a:pPr marL="12700" marR="5080"/>
            <a:r>
              <a:rPr lang="en-US" sz="1400" kern="0" spc="-80" dirty="0">
                <a:solidFill>
                  <a:schemeClr val="accent6"/>
                </a:solidFill>
              </a:rPr>
              <a:t>Solution Architecture Roadmap</a:t>
            </a:r>
          </a:p>
          <a:p>
            <a:pPr marL="12700" marR="5080"/>
            <a:r>
              <a:rPr lang="en-US" sz="1400" kern="0" spc="-80" dirty="0">
                <a:solidFill>
                  <a:schemeClr val="accent6"/>
                </a:solidFill>
              </a:rPr>
              <a:t>Work Package Definitions</a:t>
            </a:r>
          </a:p>
          <a:p>
            <a:pPr marL="12700" marR="5080"/>
            <a:r>
              <a:rPr lang="en-US" sz="1400" kern="0" spc="-80" dirty="0">
                <a:solidFill>
                  <a:schemeClr val="accent2"/>
                </a:solidFill>
              </a:rPr>
              <a:t>Phase F: Migration Planning</a:t>
            </a:r>
          </a:p>
          <a:p>
            <a:pPr marL="12700" marR="5080"/>
            <a:r>
              <a:rPr lang="en-US" sz="1400" kern="0" spc="-80" dirty="0">
                <a:solidFill>
                  <a:schemeClr val="accent2"/>
                </a:solidFill>
              </a:rPr>
              <a:t>Purpose</a:t>
            </a:r>
          </a:p>
          <a:p>
            <a:pPr marL="12700" marR="5080"/>
            <a:r>
              <a:rPr lang="en-US" sz="1400" kern="0" spc="-80" dirty="0">
                <a:solidFill>
                  <a:schemeClr val="accent6"/>
                </a:solidFill>
              </a:rPr>
              <a:t>Create a phased implementation roadmap based on:</a:t>
            </a:r>
          </a:p>
          <a:p>
            <a:pPr marL="12700" marR="5080"/>
            <a:r>
              <a:rPr lang="en-US" sz="1400" kern="0" spc="-80" dirty="0">
                <a:solidFill>
                  <a:schemeClr val="accent6"/>
                </a:solidFill>
              </a:rPr>
              <a:t>Business priorities</a:t>
            </a:r>
          </a:p>
          <a:p>
            <a:pPr marL="12700" marR="5080"/>
            <a:r>
              <a:rPr lang="en-US" sz="1400" kern="0" spc="-80" dirty="0">
                <a:solidFill>
                  <a:schemeClr val="accent6"/>
                </a:solidFill>
              </a:rPr>
              <a:t>Dependencies</a:t>
            </a:r>
          </a:p>
        </p:txBody>
      </p:sp>
    </p:spTree>
    <p:extLst>
      <p:ext uri="{BB962C8B-B14F-4D97-AF65-F5344CB8AC3E}">
        <p14:creationId xmlns:p14="http://schemas.microsoft.com/office/powerpoint/2010/main" val="8692333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27FE2-832C-3FF3-8070-FC88000399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F9750F-E405-3DA6-9FAF-2C3EF6A5EA8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04140B-5F02-840F-C927-83A89112436F}"/>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F3A19FC-27A9-C301-61EF-1665E8DAD5BA}"/>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47DEC4-7C91-66A7-5D9A-C0DC83D9DD8E}"/>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Budget</a:t>
            </a:r>
          </a:p>
          <a:p>
            <a:pPr marL="12700" marR="5080"/>
            <a:r>
              <a:rPr lang="en-US" sz="1400" kern="0" spc="-80" dirty="0">
                <a:solidFill>
                  <a:schemeClr val="accent6"/>
                </a:solidFill>
              </a:rPr>
              <a:t>Risk</a:t>
            </a:r>
          </a:p>
          <a:p>
            <a:pPr marL="12700" marR="5080"/>
            <a:r>
              <a:rPr lang="en-US" sz="1400" kern="0" spc="-80" dirty="0">
                <a:solidFill>
                  <a:schemeClr val="accent2"/>
                </a:solidFill>
              </a:rPr>
              <a:t>Outputs</a:t>
            </a:r>
          </a:p>
          <a:p>
            <a:pPr marL="12700" marR="5080"/>
            <a:r>
              <a:rPr lang="en-US" sz="1400" kern="0" spc="-80" dirty="0">
                <a:solidFill>
                  <a:schemeClr val="accent6"/>
                </a:solidFill>
              </a:rPr>
              <a:t>Prioritized Migration Roadmap (e.g., Phase 1, Phase 2…)</a:t>
            </a:r>
          </a:p>
          <a:p>
            <a:pPr marL="12700" marR="5080"/>
            <a:r>
              <a:rPr lang="en-US" sz="1400" kern="0" spc="-80" dirty="0">
                <a:solidFill>
                  <a:schemeClr val="accent6"/>
                </a:solidFill>
              </a:rPr>
              <a:t>Implementation Plan aligned with PMO governance</a:t>
            </a:r>
          </a:p>
          <a:p>
            <a:pPr marL="12700" marR="5080"/>
            <a:r>
              <a:rPr lang="en-US" sz="1400" kern="0" spc="-80" dirty="0">
                <a:solidFill>
                  <a:schemeClr val="accent2"/>
                </a:solidFill>
              </a:rPr>
              <a:t>Phase G: Implementation Governance</a:t>
            </a:r>
          </a:p>
          <a:p>
            <a:pPr marL="12700" marR="5080"/>
            <a:r>
              <a:rPr lang="en-US" sz="1400" kern="0" spc="-80" dirty="0">
                <a:solidFill>
                  <a:schemeClr val="accent2"/>
                </a:solidFill>
              </a:rPr>
              <a:t>Purpose</a:t>
            </a:r>
          </a:p>
          <a:p>
            <a:pPr marL="12700" marR="5080"/>
            <a:r>
              <a:rPr lang="en-US" sz="1400" kern="0" spc="-80" dirty="0">
                <a:solidFill>
                  <a:schemeClr val="accent6"/>
                </a:solidFill>
              </a:rPr>
              <a:t>Ensure that implementation follows the architecture.</a:t>
            </a:r>
          </a:p>
          <a:p>
            <a:pPr marL="12700" marR="5080"/>
            <a:r>
              <a:rPr lang="en-US" sz="1400" kern="0" spc="-80" dirty="0">
                <a:solidFill>
                  <a:schemeClr val="accent2"/>
                </a:solidFill>
              </a:rPr>
              <a:t>Activities</a:t>
            </a:r>
          </a:p>
          <a:p>
            <a:pPr marL="12700" marR="5080"/>
            <a:r>
              <a:rPr lang="en-US" sz="1400" kern="0" spc="-80" dirty="0">
                <a:solidFill>
                  <a:schemeClr val="accent6"/>
                </a:solidFill>
              </a:rPr>
              <a:t>Architecture review boards</a:t>
            </a:r>
          </a:p>
          <a:p>
            <a:pPr marL="12700" marR="5080"/>
            <a:r>
              <a:rPr lang="en-US" sz="1400" kern="0" spc="-80" dirty="0">
                <a:solidFill>
                  <a:schemeClr val="accent6"/>
                </a:solidFill>
              </a:rPr>
              <a:t>Design approvals</a:t>
            </a:r>
          </a:p>
          <a:p>
            <a:pPr marL="12700" marR="5080"/>
            <a:r>
              <a:rPr lang="en-US" sz="1400" kern="0" spc="-80" dirty="0">
                <a:solidFill>
                  <a:schemeClr val="accent6"/>
                </a:solidFill>
              </a:rPr>
              <a:t>Solution alignment checks</a:t>
            </a:r>
          </a:p>
          <a:p>
            <a:pPr marL="12700" marR="5080"/>
            <a:r>
              <a:rPr lang="en-US" sz="1400" kern="0" spc="-80" dirty="0">
                <a:solidFill>
                  <a:schemeClr val="accent2"/>
                </a:solidFill>
              </a:rPr>
              <a:t>Outputs</a:t>
            </a:r>
          </a:p>
          <a:p>
            <a:pPr marL="12700" marR="5080"/>
            <a:r>
              <a:rPr lang="en-US" sz="1400" kern="0" spc="-80" dirty="0">
                <a:solidFill>
                  <a:schemeClr val="accent6"/>
                </a:solidFill>
              </a:rPr>
              <a:t>Compliance assessment reports</a:t>
            </a:r>
          </a:p>
          <a:p>
            <a:pPr marL="12700" marR="5080"/>
            <a:r>
              <a:rPr lang="en-US" sz="1400" kern="0" spc="-80" dirty="0">
                <a:solidFill>
                  <a:schemeClr val="accent6"/>
                </a:solidFill>
              </a:rPr>
              <a:t>Waivers / justification logs (when deviation required)</a:t>
            </a:r>
          </a:p>
          <a:p>
            <a:pPr marL="12700" marR="5080"/>
            <a:r>
              <a:rPr lang="en-US" sz="1400" kern="0" spc="-80" dirty="0">
                <a:solidFill>
                  <a:schemeClr val="accent2"/>
                </a:solidFill>
              </a:rPr>
              <a:t>Phase H: Architecture Change Management</a:t>
            </a:r>
          </a:p>
          <a:p>
            <a:pPr marL="12700" marR="5080"/>
            <a:r>
              <a:rPr lang="en-US" sz="1400" kern="0" spc="-80" dirty="0">
                <a:solidFill>
                  <a:schemeClr val="accent2"/>
                </a:solidFill>
              </a:rPr>
              <a:t>Purpose</a:t>
            </a:r>
          </a:p>
          <a:p>
            <a:pPr marL="12700" marR="5080"/>
            <a:r>
              <a:rPr lang="en-US" sz="1400" kern="0" spc="-80" dirty="0">
                <a:solidFill>
                  <a:schemeClr val="accent6"/>
                </a:solidFill>
              </a:rPr>
              <a:t>Keep architecture live and relevant.</a:t>
            </a:r>
          </a:p>
          <a:p>
            <a:pPr marL="12700" marR="5080"/>
            <a:r>
              <a:rPr lang="en-US" sz="1400" kern="0" spc="-80" dirty="0">
                <a:solidFill>
                  <a:schemeClr val="accent2"/>
                </a:solidFill>
              </a:rPr>
              <a:t>Actions</a:t>
            </a:r>
          </a:p>
          <a:p>
            <a:pPr marL="12700" marR="5080"/>
            <a:r>
              <a:rPr lang="en-US" sz="1400" kern="0" spc="-80" dirty="0">
                <a:solidFill>
                  <a:schemeClr val="accent6"/>
                </a:solidFill>
              </a:rPr>
              <a:t>Monitor changes in business, technology, regulations</a:t>
            </a:r>
          </a:p>
          <a:p>
            <a:pPr marL="12700" marR="5080"/>
            <a:r>
              <a:rPr lang="en-US" sz="1400" kern="0" spc="-80" dirty="0">
                <a:solidFill>
                  <a:schemeClr val="accent6"/>
                </a:solidFill>
              </a:rPr>
              <a:t>Decide whether to update architecture or start new ADM cycle</a:t>
            </a:r>
          </a:p>
          <a:p>
            <a:pPr marL="12700" marR="5080"/>
            <a:r>
              <a:rPr lang="en-US" sz="1400" kern="0" spc="-80" dirty="0">
                <a:solidFill>
                  <a:schemeClr val="accent2"/>
                </a:solidFill>
              </a:rPr>
              <a:t>Outputs</a:t>
            </a:r>
          </a:p>
          <a:p>
            <a:pPr marL="12700" marR="5080"/>
            <a:r>
              <a:rPr lang="en-US" sz="1400" kern="0" spc="-80" dirty="0">
                <a:solidFill>
                  <a:schemeClr val="accent6"/>
                </a:solidFill>
              </a:rPr>
              <a:t>Updated architecture repository</a:t>
            </a:r>
          </a:p>
          <a:p>
            <a:pPr marL="12700" marR="5080"/>
            <a:r>
              <a:rPr lang="en-US" sz="1400" kern="0" spc="-80" dirty="0">
                <a:solidFill>
                  <a:schemeClr val="accent6"/>
                </a:solidFill>
              </a:rPr>
              <a:t>Architecture Change Requests</a:t>
            </a:r>
          </a:p>
          <a:p>
            <a:pPr marL="12700" marR="5080"/>
            <a:r>
              <a:rPr lang="en-US" sz="1400" kern="0" spc="-80" dirty="0">
                <a:solidFill>
                  <a:schemeClr val="accent6"/>
                </a:solidFill>
              </a:rPr>
              <a:t>Requirements Management</a:t>
            </a:r>
          </a:p>
        </p:txBody>
      </p:sp>
    </p:spTree>
    <p:extLst>
      <p:ext uri="{BB962C8B-B14F-4D97-AF65-F5344CB8AC3E}">
        <p14:creationId xmlns:p14="http://schemas.microsoft.com/office/powerpoint/2010/main" val="21639230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757A3-CFD7-9B1E-EB56-4D4C55AF99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D5B953-441C-2B87-6308-422B3DE8891E}"/>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54E5AA-72A3-6197-4331-2A1D5AA5BF0C}"/>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0A28AD-B492-02D4-FDA6-F7BE49A28A5B}"/>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3A7A22-DEF4-68F0-A7CA-6EEEBBEA07D6}"/>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Operates across all phases:</a:t>
            </a:r>
          </a:p>
          <a:p>
            <a:pPr marL="12700" marR="5080"/>
            <a:r>
              <a:rPr lang="en-US" sz="1400" kern="0" spc="-80" dirty="0">
                <a:solidFill>
                  <a:schemeClr val="accent6"/>
                </a:solidFill>
              </a:rPr>
              <a:t>Collects, stores, traces, updates requirements</a:t>
            </a:r>
          </a:p>
          <a:p>
            <a:pPr marL="12700" marR="5080"/>
            <a:r>
              <a:rPr lang="en-US" sz="1400" kern="0" spc="-80" dirty="0">
                <a:solidFill>
                  <a:schemeClr val="accent6"/>
                </a:solidFill>
              </a:rPr>
              <a:t>Ensures traceability from strategy → architecture → implementation</a:t>
            </a:r>
          </a:p>
          <a:p>
            <a:pPr marL="12700" marR="5080"/>
            <a:r>
              <a:rPr lang="en-US" sz="1400" kern="0" spc="-80" dirty="0">
                <a:solidFill>
                  <a:schemeClr val="accent2"/>
                </a:solidFill>
              </a:rPr>
              <a:t>Artifacts (Documents) Produced Across ADM</a:t>
            </a:r>
          </a:p>
          <a:p>
            <a:pPr marL="12700" marR="5080"/>
            <a:r>
              <a:rPr lang="en-US" sz="1400" kern="0" spc="-80" dirty="0">
                <a:solidFill>
                  <a:schemeClr val="accent2"/>
                </a:solidFill>
              </a:rPr>
              <a:t>Phase	                    Key Deliverables</a:t>
            </a:r>
          </a:p>
          <a:p>
            <a:pPr marL="12700" marR="5080"/>
            <a:r>
              <a:rPr lang="en-US" sz="1400" kern="0" spc="-80" dirty="0">
                <a:solidFill>
                  <a:schemeClr val="accent6"/>
                </a:solidFill>
              </a:rPr>
              <a:t>Preliminary	Architecture Principles, Governance Model</a:t>
            </a:r>
          </a:p>
          <a:p>
            <a:pPr marL="12700" marR="5080"/>
            <a:r>
              <a:rPr lang="en-US" sz="1400" kern="0" spc="-80" dirty="0">
                <a:solidFill>
                  <a:schemeClr val="accent6"/>
                </a:solidFill>
              </a:rPr>
              <a:t>A: Vision	                    Architecture Vision, Statement of Work, Business Case</a:t>
            </a:r>
          </a:p>
          <a:p>
            <a:pPr marL="12700" marR="5080"/>
            <a:r>
              <a:rPr lang="en-US" sz="1400" kern="0" spc="-80" dirty="0">
                <a:solidFill>
                  <a:schemeClr val="accent6"/>
                </a:solidFill>
              </a:rPr>
              <a:t>B: Business	Capability Map, Value Streams, Business Process Models</a:t>
            </a:r>
          </a:p>
          <a:p>
            <a:pPr marL="12700" marR="5080"/>
            <a:r>
              <a:rPr lang="en-US" sz="1400" kern="0" spc="-80" dirty="0">
                <a:solidFill>
                  <a:schemeClr val="accent6"/>
                </a:solidFill>
              </a:rPr>
              <a:t>C: Data/App	Logical Data Model, Application Interaction Diagrams</a:t>
            </a:r>
          </a:p>
          <a:p>
            <a:pPr marL="12700" marR="5080"/>
            <a:r>
              <a:rPr lang="en-US" sz="1400" kern="0" spc="-80" dirty="0">
                <a:solidFill>
                  <a:schemeClr val="accent6"/>
                </a:solidFill>
              </a:rPr>
              <a:t>D: Technology	Platform Reference Architecture, Tech Standards</a:t>
            </a:r>
          </a:p>
          <a:p>
            <a:pPr marL="12700" marR="5080"/>
            <a:r>
              <a:rPr lang="en-US" sz="1400" kern="0" spc="-80" dirty="0">
                <a:solidFill>
                  <a:schemeClr val="accent6"/>
                </a:solidFill>
              </a:rPr>
              <a:t>E: Opportunities	Solution Building Blocks, Roadmap</a:t>
            </a:r>
          </a:p>
          <a:p>
            <a:pPr marL="12700" marR="5080"/>
            <a:r>
              <a:rPr lang="en-US" sz="1400" kern="0" spc="-80" dirty="0">
                <a:solidFill>
                  <a:schemeClr val="accent6"/>
                </a:solidFill>
              </a:rPr>
              <a:t>F: Migration	Migration Plan, Dependency Map</a:t>
            </a:r>
          </a:p>
          <a:p>
            <a:pPr marL="12700" marR="5080"/>
            <a:r>
              <a:rPr lang="en-US" sz="1400" kern="0" spc="-80" dirty="0">
                <a:solidFill>
                  <a:schemeClr val="accent6"/>
                </a:solidFill>
              </a:rPr>
              <a:t>G: Governance	Architecture Compliance Report</a:t>
            </a:r>
          </a:p>
          <a:p>
            <a:pPr marL="12700" marR="5080"/>
            <a:r>
              <a:rPr lang="en-US" sz="1400" kern="0" spc="-80" dirty="0">
                <a:solidFill>
                  <a:schemeClr val="accent2"/>
                </a:solidFill>
              </a:rPr>
              <a:t>H: Change	Change Request Log</a:t>
            </a:r>
          </a:p>
          <a:p>
            <a:pPr marL="12700" marR="5080"/>
            <a:r>
              <a:rPr lang="en-US" sz="1400" kern="0" spc="-80" dirty="0">
                <a:solidFill>
                  <a:schemeClr val="accent2"/>
                </a:solidFill>
              </a:rPr>
              <a:t>How Iteration Works</a:t>
            </a:r>
          </a:p>
          <a:p>
            <a:pPr marL="12700" marR="5080"/>
            <a:r>
              <a:rPr lang="en-US" sz="1400" kern="0" spc="-80" dirty="0">
                <a:solidFill>
                  <a:schemeClr val="accent6"/>
                </a:solidFill>
              </a:rPr>
              <a:t>TOGAF does not expect you to finish everything then move on.</a:t>
            </a:r>
          </a:p>
          <a:p>
            <a:pPr marL="12700" marR="5080"/>
            <a:r>
              <a:rPr lang="en-US" sz="1400" kern="0" spc="-80" dirty="0">
                <a:solidFill>
                  <a:schemeClr val="accent2"/>
                </a:solidFill>
              </a:rPr>
              <a:t>Each phase:</a:t>
            </a:r>
          </a:p>
          <a:p>
            <a:pPr marL="12700" marR="5080"/>
            <a:r>
              <a:rPr lang="en-US" sz="1400" kern="0" spc="-80" dirty="0">
                <a:solidFill>
                  <a:schemeClr val="accent6"/>
                </a:solidFill>
              </a:rPr>
              <a:t>Can be revisited</a:t>
            </a:r>
          </a:p>
          <a:p>
            <a:pPr marL="12700" marR="5080"/>
            <a:r>
              <a:rPr lang="en-US" sz="1400" kern="0" spc="-80" dirty="0">
                <a:solidFill>
                  <a:schemeClr val="accent6"/>
                </a:solidFill>
              </a:rPr>
              <a:t>Can be done in domain-specific cycles (e.g., only Application Architecture)</a:t>
            </a:r>
          </a:p>
          <a:p>
            <a:pPr marL="12700" marR="5080"/>
            <a:r>
              <a:rPr lang="en-US" sz="1400" kern="0" spc="-80" dirty="0">
                <a:solidFill>
                  <a:schemeClr val="accent6"/>
                </a:solidFill>
              </a:rPr>
              <a:t>Can be scaled (lightweight for small projects, detailed for large)</a:t>
            </a:r>
          </a:p>
          <a:p>
            <a:pPr marL="12700" marR="5080"/>
            <a:r>
              <a:rPr lang="en-US" sz="1400" kern="0" spc="-80" dirty="0">
                <a:solidFill>
                  <a:schemeClr val="accent2"/>
                </a:solidFill>
              </a:rPr>
              <a:t>In Simple Terms</a:t>
            </a:r>
          </a:p>
          <a:p>
            <a:pPr marL="12700" marR="5080"/>
            <a:r>
              <a:rPr lang="en-US" sz="1400" kern="0" spc="-80" dirty="0">
                <a:solidFill>
                  <a:schemeClr val="accent2"/>
                </a:solidFill>
              </a:rPr>
              <a:t>TOGAF Step	              Practical Meaning</a:t>
            </a:r>
          </a:p>
          <a:p>
            <a:pPr marL="12700" marR="5080"/>
            <a:r>
              <a:rPr lang="en-US" sz="1400" kern="0" spc="-80" dirty="0">
                <a:solidFill>
                  <a:schemeClr val="accent6"/>
                </a:solidFill>
              </a:rPr>
              <a:t>Vision	                                 Why are we doing this? What is the high-level target?</a:t>
            </a:r>
          </a:p>
          <a:p>
            <a:pPr marL="12700" marR="5080"/>
            <a:r>
              <a:rPr lang="en-US" sz="1400" kern="0" spc="-80" dirty="0">
                <a:solidFill>
                  <a:schemeClr val="accent6"/>
                </a:solidFill>
              </a:rPr>
              <a:t>Business Architecture	              What the business needs to do.</a:t>
            </a:r>
          </a:p>
          <a:p>
            <a:pPr marL="12700" marR="5080"/>
            <a:r>
              <a:rPr lang="en-US" sz="1400" kern="0" spc="-80" dirty="0">
                <a:solidFill>
                  <a:schemeClr val="accent6"/>
                </a:solidFill>
              </a:rPr>
              <a:t>Data + Application	              What systems and data are needed.</a:t>
            </a:r>
          </a:p>
        </p:txBody>
      </p:sp>
    </p:spTree>
    <p:extLst>
      <p:ext uri="{BB962C8B-B14F-4D97-AF65-F5344CB8AC3E}">
        <p14:creationId xmlns:p14="http://schemas.microsoft.com/office/powerpoint/2010/main" val="11248995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1A4D3-0FF9-C676-A26E-0AAC6A4F4B9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978700-3F1C-AD83-0BA9-5183C9A090BB}"/>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CCC8D9-2D9B-CDC6-E714-C91873A3E758}"/>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EDF428-C2DF-C9A9-D175-AA7F03779607}"/>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7A65E3B-847B-B17F-1975-94B7F6682DED}"/>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TOGAF Step	             Practical Meaning</a:t>
            </a:r>
          </a:p>
          <a:p>
            <a:pPr marL="12700" marR="5080"/>
            <a:r>
              <a:rPr lang="en-US" sz="1400" kern="0" spc="-80" dirty="0">
                <a:solidFill>
                  <a:schemeClr val="accent6"/>
                </a:solidFill>
              </a:rPr>
              <a:t>Technology	             Which platforms and tech we will use.</a:t>
            </a:r>
          </a:p>
          <a:p>
            <a:pPr marL="12700" marR="5080"/>
            <a:r>
              <a:rPr lang="en-US" sz="1400" kern="0" spc="-80" dirty="0">
                <a:solidFill>
                  <a:schemeClr val="accent6"/>
                </a:solidFill>
              </a:rPr>
              <a:t>Opportunities &amp; Solutions       How to translate architecture to executable solutions.</a:t>
            </a:r>
          </a:p>
          <a:p>
            <a:pPr marL="12700" marR="5080"/>
            <a:r>
              <a:rPr lang="en-US" sz="1400" kern="0" spc="-80" dirty="0">
                <a:solidFill>
                  <a:schemeClr val="accent6"/>
                </a:solidFill>
              </a:rPr>
              <a:t>Migration Planning	             When and in what order.</a:t>
            </a:r>
          </a:p>
          <a:p>
            <a:pPr marL="12700" marR="5080"/>
            <a:r>
              <a:rPr lang="en-US" sz="1400" kern="0" spc="-80" dirty="0">
                <a:solidFill>
                  <a:schemeClr val="accent6"/>
                </a:solidFill>
              </a:rPr>
              <a:t>Governance	             Ensure execution follows design.</a:t>
            </a:r>
          </a:p>
          <a:p>
            <a:pPr marL="12700" marR="5080"/>
            <a:r>
              <a:rPr lang="en-US" sz="1400" kern="0" spc="-80" dirty="0">
                <a:solidFill>
                  <a:schemeClr val="accent6"/>
                </a:solidFill>
              </a:rPr>
              <a:t>Change Management	             Keep architecture relevant over time. </a:t>
            </a:r>
          </a:p>
          <a:p>
            <a:pPr marL="12700" marR="5080"/>
            <a:endParaRPr lang="en-US" sz="1400" kern="0" spc="-80" dirty="0">
              <a:solidFill>
                <a:schemeClr val="accent6"/>
              </a:solidFill>
            </a:endParaRPr>
          </a:p>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Phase A – Architecture Vision</a:t>
            </a:r>
          </a:p>
          <a:p>
            <a:pPr marL="12700" marR="5080"/>
            <a:r>
              <a:rPr lang="en-US" sz="1400" kern="0" spc="-80" dirty="0">
                <a:solidFill>
                  <a:schemeClr val="accent2"/>
                </a:solidFill>
              </a:rPr>
              <a:t>Objective: </a:t>
            </a:r>
            <a:r>
              <a:rPr lang="en-US" sz="1400" kern="0" spc="-80" dirty="0">
                <a:solidFill>
                  <a:schemeClr val="accent6"/>
                </a:solidFill>
              </a:rPr>
              <a:t>Define high-level target architecture, stakeholders, and business case.</a:t>
            </a:r>
          </a:p>
          <a:p>
            <a:pPr marL="12700" marR="5080"/>
            <a:r>
              <a:rPr lang="en-US" sz="1400" kern="0" spc="-80" dirty="0">
                <a:solidFill>
                  <a:schemeClr val="accent2"/>
                </a:solidFill>
              </a:rPr>
              <a:t>Key Artifacts:</a:t>
            </a:r>
          </a:p>
          <a:p>
            <a:pPr marL="12700" marR="5080"/>
            <a:r>
              <a:rPr lang="en-US" sz="1400" kern="0" spc="-80" dirty="0">
                <a:solidFill>
                  <a:schemeClr val="accent2"/>
                </a:solidFill>
              </a:rPr>
              <a:t>Architecture Vision Deck (PPTX) – includes:</a:t>
            </a:r>
          </a:p>
          <a:p>
            <a:pPr marL="12700" marR="5080"/>
            <a:r>
              <a:rPr lang="en-US" sz="1400" kern="0" spc="-80" dirty="0">
                <a:solidFill>
                  <a:schemeClr val="accent2"/>
                </a:solidFill>
              </a:rPr>
              <a:t>Business drivers: </a:t>
            </a:r>
            <a:r>
              <a:rPr lang="en-US" sz="1400" kern="0" spc="-80" dirty="0">
                <a:solidFill>
                  <a:schemeClr val="accent6"/>
                </a:solidFill>
              </a:rPr>
              <a:t>legacy monolith, slow product launches, regulatory pressure, digital channels</a:t>
            </a:r>
          </a:p>
          <a:p>
            <a:pPr marL="12700" marR="5080"/>
            <a:r>
              <a:rPr lang="en-US" sz="1400" kern="0" spc="-80" dirty="0">
                <a:solidFill>
                  <a:schemeClr val="accent2"/>
                </a:solidFill>
              </a:rPr>
              <a:t>Stakeholder map: </a:t>
            </a:r>
            <a:r>
              <a:rPr lang="en-US" sz="1400" kern="0" spc="-80" dirty="0">
                <a:solidFill>
                  <a:schemeClr val="accent6"/>
                </a:solidFill>
              </a:rPr>
              <a:t>CIO, CTO, Business Heads, Risk &amp; Compliance, PMO</a:t>
            </a:r>
          </a:p>
          <a:p>
            <a:pPr marL="12700" marR="5080"/>
            <a:r>
              <a:rPr lang="en-US" sz="1400" kern="0" spc="-80" dirty="0">
                <a:solidFill>
                  <a:schemeClr val="accent6"/>
                </a:solidFill>
              </a:rPr>
              <a:t>High-level Target Architecture Diagram (Cloud + Microservices + API layer)</a:t>
            </a:r>
          </a:p>
          <a:p>
            <a:pPr marL="12700" marR="5080"/>
            <a:r>
              <a:rPr lang="en-US" sz="1400" kern="0" spc="-80" dirty="0">
                <a:solidFill>
                  <a:schemeClr val="accent6"/>
                </a:solidFill>
              </a:rPr>
              <a:t>Business case &amp; KPIs (time-to-market, cost reduction, reliability)</a:t>
            </a:r>
          </a:p>
          <a:p>
            <a:pPr marL="12700" marR="5080"/>
            <a:r>
              <a:rPr lang="en-US" sz="1400" kern="0" spc="-80" dirty="0">
                <a:solidFill>
                  <a:schemeClr val="accent2"/>
                </a:solidFill>
              </a:rPr>
              <a:t>Phase B – Business Architecture</a:t>
            </a:r>
          </a:p>
          <a:p>
            <a:pPr marL="12700" marR="5080"/>
            <a:r>
              <a:rPr lang="en-US" sz="1400" kern="0" spc="-80" dirty="0">
                <a:solidFill>
                  <a:schemeClr val="accent2"/>
                </a:solidFill>
              </a:rPr>
              <a:t>Objective:</a:t>
            </a:r>
            <a:r>
              <a:rPr lang="en-US" sz="1400" kern="0" spc="-80" dirty="0">
                <a:solidFill>
                  <a:schemeClr val="accent6"/>
                </a:solidFill>
              </a:rPr>
              <a:t> Map current and target business capabilities.</a:t>
            </a:r>
          </a:p>
          <a:p>
            <a:pPr marL="12700" marR="5080"/>
            <a:r>
              <a:rPr lang="en-US" sz="1400" kern="0" spc="-80" dirty="0">
                <a:solidFill>
                  <a:schemeClr val="accent2"/>
                </a:solidFill>
              </a:rPr>
              <a:t>Artifacts:</a:t>
            </a:r>
          </a:p>
          <a:p>
            <a:pPr marL="12700" marR="5080"/>
            <a:r>
              <a:rPr lang="en-US" sz="1400" kern="0" spc="-80" dirty="0">
                <a:solidFill>
                  <a:schemeClr val="accent6"/>
                </a:solidFill>
              </a:rPr>
              <a:t>Business Capability Map (PPTX)</a:t>
            </a:r>
          </a:p>
          <a:p>
            <a:pPr marL="12700" marR="5080"/>
            <a:r>
              <a:rPr lang="en-US" sz="1400" kern="0" spc="-80" dirty="0">
                <a:solidFill>
                  <a:schemeClr val="accent2"/>
                </a:solidFill>
              </a:rPr>
              <a:t>Key domains: </a:t>
            </a:r>
            <a:r>
              <a:rPr lang="en-US" sz="1400" kern="0" spc="-80" dirty="0">
                <a:solidFill>
                  <a:schemeClr val="accent6"/>
                </a:solidFill>
              </a:rPr>
              <a:t>Retail Banking, Corporate Banking, Treasury, Risk, Compliance, Payments</a:t>
            </a:r>
          </a:p>
          <a:p>
            <a:pPr marL="12700" marR="5080"/>
            <a:r>
              <a:rPr lang="en-US" sz="1400" kern="0" spc="-80" dirty="0">
                <a:solidFill>
                  <a:schemeClr val="accent6"/>
                </a:solidFill>
              </a:rPr>
              <a:t>Highlight which capabilities are enhanced, migrated, or modernized</a:t>
            </a:r>
          </a:p>
          <a:p>
            <a:pPr marL="12700" marR="5080"/>
            <a:r>
              <a:rPr lang="en-US" sz="1400" kern="0" spc="-80" dirty="0">
                <a:solidFill>
                  <a:schemeClr val="accent6"/>
                </a:solidFill>
              </a:rPr>
              <a:t>Value Streams &amp; Process Models</a:t>
            </a:r>
          </a:p>
          <a:p>
            <a:pPr marL="12700" marR="5080"/>
            <a:r>
              <a:rPr lang="en-US" sz="1400" kern="0" spc="-80" dirty="0">
                <a:solidFill>
                  <a:schemeClr val="accent2"/>
                </a:solidFill>
              </a:rPr>
              <a:t>Example:</a:t>
            </a:r>
            <a:r>
              <a:rPr lang="en-US" sz="1400" kern="0" spc="-80" dirty="0">
                <a:solidFill>
                  <a:schemeClr val="accent6"/>
                </a:solidFill>
              </a:rPr>
              <a:t> Account Opening, Loan Origination, Transaction Processing</a:t>
            </a:r>
          </a:p>
        </p:txBody>
      </p:sp>
    </p:spTree>
    <p:extLst>
      <p:ext uri="{BB962C8B-B14F-4D97-AF65-F5344CB8AC3E}">
        <p14:creationId xmlns:p14="http://schemas.microsoft.com/office/powerpoint/2010/main" val="23023765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04909-193A-AD99-6C9C-2AA93C28E7B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3580F4E-D5CA-17F0-79BE-3B253A1D20FE}"/>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10B3DE-3B1F-CA1C-AFA0-BFEDB6F518B7}"/>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1F8976-8558-99B3-473D-CD021F8477F1}"/>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05E220-3269-A58F-EACF-C43006146921}"/>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Business Gap Analysis</a:t>
            </a:r>
          </a:p>
          <a:p>
            <a:pPr marL="12700" marR="5080"/>
            <a:r>
              <a:rPr lang="en-US" sz="1400" kern="0" spc="-80" dirty="0">
                <a:solidFill>
                  <a:schemeClr val="accent6"/>
                </a:solidFill>
              </a:rPr>
              <a:t>Manual processes → automated microservices</a:t>
            </a:r>
          </a:p>
          <a:p>
            <a:pPr marL="12700" marR="5080"/>
            <a:r>
              <a:rPr lang="en-US" sz="1400" kern="0" spc="-80" dirty="0">
                <a:solidFill>
                  <a:schemeClr val="accent6"/>
                </a:solidFill>
              </a:rPr>
              <a:t>Siloed product lines → integrated product platform</a:t>
            </a:r>
          </a:p>
          <a:p>
            <a:pPr marL="12700" marR="5080"/>
            <a:r>
              <a:rPr lang="en-US" sz="1400" kern="0" spc="-80" dirty="0">
                <a:solidFill>
                  <a:schemeClr val="accent2"/>
                </a:solidFill>
              </a:rPr>
              <a:t>Phase C – Information Systems Architecture</a:t>
            </a:r>
          </a:p>
          <a:p>
            <a:pPr marL="12700" marR="5080"/>
            <a:r>
              <a:rPr lang="en-US" sz="1400" kern="0" spc="-80" dirty="0">
                <a:solidFill>
                  <a:schemeClr val="accent6"/>
                </a:solidFill>
              </a:rPr>
              <a:t>Data Architecture</a:t>
            </a:r>
          </a:p>
          <a:p>
            <a:pPr marL="12700" marR="5080"/>
            <a:r>
              <a:rPr lang="en-US" sz="1400" kern="0" spc="-80" dirty="0">
                <a:solidFill>
                  <a:schemeClr val="accent6"/>
                </a:solidFill>
              </a:rPr>
              <a:t>Canonical data model for Customer, Account, Transaction, Loan, Product, KYC</a:t>
            </a:r>
          </a:p>
          <a:p>
            <a:pPr marL="12700" marR="5080"/>
            <a:r>
              <a:rPr lang="en-US" sz="1400" kern="0" spc="-80" dirty="0">
                <a:solidFill>
                  <a:schemeClr val="accent6"/>
                </a:solidFill>
              </a:rPr>
              <a:t>Master Data Management boundaries</a:t>
            </a:r>
          </a:p>
          <a:p>
            <a:pPr marL="12700" marR="5080"/>
            <a:r>
              <a:rPr lang="en-US" sz="1400" kern="0" spc="-80" dirty="0">
                <a:solidFill>
                  <a:schemeClr val="accent6"/>
                </a:solidFill>
              </a:rPr>
              <a:t>Data flow diagrams showing source systems → microservices → reporting</a:t>
            </a:r>
          </a:p>
          <a:p>
            <a:pPr marL="12700" marR="5080"/>
            <a:r>
              <a:rPr lang="en-US" sz="1400" kern="0" spc="-80" dirty="0">
                <a:solidFill>
                  <a:schemeClr val="accent6"/>
                </a:solidFill>
              </a:rPr>
              <a:t>Application Architecture</a:t>
            </a:r>
          </a:p>
          <a:p>
            <a:pPr marL="12700" marR="5080"/>
            <a:r>
              <a:rPr lang="en-US" sz="1400" kern="0" spc="-80" dirty="0">
                <a:solidFill>
                  <a:schemeClr val="accent6"/>
                </a:solidFill>
              </a:rPr>
              <a:t>Domain-driven microservices mapped to business capabilities</a:t>
            </a:r>
          </a:p>
          <a:p>
            <a:pPr marL="12700" marR="5080"/>
            <a:r>
              <a:rPr lang="en-US" sz="1400" kern="0" spc="-80" dirty="0">
                <a:solidFill>
                  <a:schemeClr val="accent6"/>
                </a:solidFill>
              </a:rPr>
              <a:t>API Gateway for internal/external integration</a:t>
            </a:r>
          </a:p>
          <a:p>
            <a:pPr marL="12700" marR="5080"/>
            <a:r>
              <a:rPr lang="en-US" sz="1400" kern="0" spc="-80" dirty="0">
                <a:solidFill>
                  <a:schemeClr val="accent6"/>
                </a:solidFill>
              </a:rPr>
              <a:t>Event-driven architecture (Kafka, RabbitMQ)</a:t>
            </a:r>
          </a:p>
          <a:p>
            <a:pPr marL="12700" marR="5080"/>
            <a:r>
              <a:rPr lang="en-US" sz="1400" kern="0" spc="-80" dirty="0">
                <a:solidFill>
                  <a:schemeClr val="accent6"/>
                </a:solidFill>
              </a:rPr>
              <a:t>Integration with legacy core for phased migration</a:t>
            </a:r>
          </a:p>
          <a:p>
            <a:pPr marL="12700" marR="5080"/>
            <a:r>
              <a:rPr lang="en-US" sz="1400" kern="0" spc="-80" dirty="0">
                <a:solidFill>
                  <a:schemeClr val="accent2"/>
                </a:solidFill>
              </a:rPr>
              <a:t>Artifacts:</a:t>
            </a:r>
          </a:p>
          <a:p>
            <a:pPr marL="12700" marR="5080"/>
            <a:r>
              <a:rPr lang="en-US" sz="1400" kern="0" spc="-80" dirty="0">
                <a:solidFill>
                  <a:schemeClr val="accent6"/>
                </a:solidFill>
              </a:rPr>
              <a:t>Logical Data Model Diagram (PPTX)</a:t>
            </a:r>
          </a:p>
          <a:p>
            <a:pPr marL="12700" marR="5080"/>
            <a:r>
              <a:rPr lang="en-US" sz="1400" kern="0" spc="-80" dirty="0">
                <a:solidFill>
                  <a:schemeClr val="accent6"/>
                </a:solidFill>
              </a:rPr>
              <a:t>Application Interaction Diagram (PPTX)</a:t>
            </a:r>
          </a:p>
          <a:p>
            <a:pPr marL="12700" marR="5080"/>
            <a:r>
              <a:rPr lang="en-US" sz="1400" kern="0" spc="-80" dirty="0">
                <a:solidFill>
                  <a:schemeClr val="accent6"/>
                </a:solidFill>
              </a:rPr>
              <a:t>Gap Analysis Table (XLSX)</a:t>
            </a:r>
          </a:p>
          <a:p>
            <a:pPr marL="12700" marR="5080"/>
            <a:r>
              <a:rPr lang="en-US" sz="1400" kern="0" spc="-80" dirty="0">
                <a:solidFill>
                  <a:schemeClr val="accent2"/>
                </a:solidFill>
              </a:rPr>
              <a:t>Phase D – Technology Architecture</a:t>
            </a:r>
          </a:p>
          <a:p>
            <a:pPr marL="12700" marR="5080"/>
            <a:r>
              <a:rPr lang="en-US" sz="1400" kern="0" spc="-80" dirty="0">
                <a:solidFill>
                  <a:schemeClr val="accent2"/>
                </a:solidFill>
              </a:rPr>
              <a:t>Objective: </a:t>
            </a:r>
            <a:r>
              <a:rPr lang="en-US" sz="1400" kern="0" spc="-80" dirty="0">
                <a:solidFill>
                  <a:schemeClr val="accent6"/>
                </a:solidFill>
              </a:rPr>
              <a:t>Define platform to support microservices and hybrid cloud.</a:t>
            </a:r>
          </a:p>
          <a:p>
            <a:pPr marL="12700" marR="5080"/>
            <a:r>
              <a:rPr lang="en-US" sz="1400" kern="0" spc="-80" dirty="0">
                <a:solidFill>
                  <a:schemeClr val="accent2"/>
                </a:solidFill>
              </a:rPr>
              <a:t>Components:</a:t>
            </a:r>
          </a:p>
          <a:p>
            <a:pPr marL="12700" marR="5080"/>
            <a:r>
              <a:rPr lang="en-US" sz="1400" kern="0" spc="-80" dirty="0">
                <a:solidFill>
                  <a:schemeClr val="accent2"/>
                </a:solidFill>
              </a:rPr>
              <a:t>Hybrid cloud: </a:t>
            </a:r>
            <a:r>
              <a:rPr lang="en-US" sz="1400" kern="0" spc="-80" dirty="0">
                <a:solidFill>
                  <a:schemeClr val="accent6"/>
                </a:solidFill>
              </a:rPr>
              <a:t>On-prem DC + Azure/AWS for microservices</a:t>
            </a:r>
          </a:p>
          <a:p>
            <a:pPr marL="12700" marR="5080"/>
            <a:r>
              <a:rPr lang="en-US" sz="1400" kern="0" spc="-80" dirty="0">
                <a:solidFill>
                  <a:schemeClr val="accent6"/>
                </a:solidFill>
              </a:rPr>
              <a:t>Kubernetes (AKS/EKS) clusters for microservices</a:t>
            </a:r>
          </a:p>
          <a:p>
            <a:pPr marL="12700" marR="5080"/>
            <a:r>
              <a:rPr lang="en-US" sz="1400" kern="0" spc="-80" dirty="0">
                <a:solidFill>
                  <a:schemeClr val="accent6"/>
                </a:solidFill>
              </a:rPr>
              <a:t>CI/CD pipeline with Jenkins/GitHub Actions</a:t>
            </a:r>
          </a:p>
        </p:txBody>
      </p:sp>
    </p:spTree>
    <p:extLst>
      <p:ext uri="{BB962C8B-B14F-4D97-AF65-F5344CB8AC3E}">
        <p14:creationId xmlns:p14="http://schemas.microsoft.com/office/powerpoint/2010/main" val="36608634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A551D-FF61-F773-78BC-8EC845EB6DA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8855D4-15EA-7BB0-DBD9-954DE7C39C4B}"/>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8893102-E187-2E88-84D4-4D909FD0C4E0}"/>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F89CFC1-5F54-CF28-D722-00E8E583663B}"/>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81E425D-4C78-2DF4-E8A0-EC851F87CB0C}"/>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6"/>
                </a:solidFill>
              </a:rPr>
              <a:t>Security, IAM, monitoring, disaster recovery</a:t>
            </a:r>
          </a:p>
          <a:p>
            <a:pPr marL="12700" marR="5080"/>
            <a:r>
              <a:rPr lang="en-US" sz="1400" kern="0" spc="-80" dirty="0">
                <a:solidFill>
                  <a:schemeClr val="accent2"/>
                </a:solidFill>
              </a:rPr>
              <a:t>Artifacts:</a:t>
            </a:r>
          </a:p>
          <a:p>
            <a:pPr marL="12700" marR="5080"/>
            <a:r>
              <a:rPr lang="en-US" sz="1400" kern="0" spc="-80" dirty="0">
                <a:solidFill>
                  <a:schemeClr val="accent6"/>
                </a:solidFill>
              </a:rPr>
              <a:t>Technology Reference Architecture Diagram (PPTX)</a:t>
            </a:r>
          </a:p>
          <a:p>
            <a:pPr marL="12700" marR="5080"/>
            <a:r>
              <a:rPr lang="en-US" sz="1400" kern="0" spc="-80" dirty="0">
                <a:solidFill>
                  <a:schemeClr val="accent6"/>
                </a:solidFill>
              </a:rPr>
              <a:t>Infrastructure Components Heatmap</a:t>
            </a:r>
          </a:p>
          <a:p>
            <a:pPr marL="12700" marR="5080"/>
            <a:r>
              <a:rPr lang="en-US" sz="1400" kern="0" spc="-80" dirty="0">
                <a:solidFill>
                  <a:schemeClr val="accent2"/>
                </a:solidFill>
              </a:rPr>
              <a:t>Phase E – Opportunities &amp; Solutions</a:t>
            </a:r>
          </a:p>
          <a:p>
            <a:pPr marL="12700" marR="5080"/>
            <a:r>
              <a:rPr lang="en-US" sz="1400" kern="0" spc="-80" dirty="0">
                <a:solidFill>
                  <a:schemeClr val="accent2"/>
                </a:solidFill>
              </a:rPr>
              <a:t>Objective: </a:t>
            </a:r>
            <a:r>
              <a:rPr lang="en-US" sz="1400" kern="0" spc="-80" dirty="0">
                <a:solidFill>
                  <a:schemeClr val="accent6"/>
                </a:solidFill>
              </a:rPr>
              <a:t>Map architectures to executable projects.</a:t>
            </a:r>
          </a:p>
          <a:p>
            <a:pPr marL="12700" marR="5080"/>
            <a:r>
              <a:rPr lang="en-US" sz="1400" kern="0" spc="-80" dirty="0">
                <a:solidFill>
                  <a:schemeClr val="accent2"/>
                </a:solidFill>
              </a:rPr>
              <a:t>Artifacts:</a:t>
            </a:r>
          </a:p>
          <a:p>
            <a:pPr marL="12700" marR="5080"/>
            <a:r>
              <a:rPr lang="en-US" sz="1400" kern="0" spc="-80" dirty="0">
                <a:solidFill>
                  <a:schemeClr val="accent6"/>
                </a:solidFill>
              </a:rPr>
              <a:t>Solution building blocks</a:t>
            </a:r>
          </a:p>
          <a:p>
            <a:pPr marL="12700" marR="5080"/>
            <a:r>
              <a:rPr lang="en-US" sz="1400" kern="0" spc="-80" dirty="0">
                <a:solidFill>
                  <a:schemeClr val="accent2"/>
                </a:solidFill>
              </a:rPr>
              <a:t>Work packages:</a:t>
            </a:r>
          </a:p>
          <a:p>
            <a:pPr marL="12700" marR="5080"/>
            <a:r>
              <a:rPr lang="en-US" sz="1400" kern="0" spc="-80" dirty="0">
                <a:solidFill>
                  <a:schemeClr val="accent6"/>
                </a:solidFill>
              </a:rPr>
              <a:t>Domain microservices development (Customer, Account, Transaction, Loan)</a:t>
            </a:r>
          </a:p>
          <a:p>
            <a:pPr marL="12700" marR="5080"/>
            <a:r>
              <a:rPr lang="en-US" sz="1400" kern="0" spc="-80" dirty="0">
                <a:solidFill>
                  <a:schemeClr val="accent6"/>
                </a:solidFill>
              </a:rPr>
              <a:t>API Gateway implementation</a:t>
            </a:r>
          </a:p>
          <a:p>
            <a:pPr marL="12700" marR="5080"/>
            <a:r>
              <a:rPr lang="en-US" sz="1400" kern="0" spc="-80" dirty="0">
                <a:solidFill>
                  <a:schemeClr val="accent6"/>
                </a:solidFill>
              </a:rPr>
              <a:t>Hybrid cloud platform provisioning</a:t>
            </a:r>
          </a:p>
          <a:p>
            <a:pPr marL="12700" marR="5080"/>
            <a:r>
              <a:rPr lang="en-US" sz="1400" kern="0" spc="-80" dirty="0">
                <a:solidFill>
                  <a:schemeClr val="accent6"/>
                </a:solidFill>
              </a:rPr>
              <a:t>Data migration &amp; MDM rollout</a:t>
            </a:r>
          </a:p>
          <a:p>
            <a:pPr marL="12700" marR="5080"/>
            <a:r>
              <a:rPr lang="en-US" sz="1400" kern="0" spc="-80" dirty="0">
                <a:solidFill>
                  <a:schemeClr val="accent6"/>
                </a:solidFill>
              </a:rPr>
              <a:t>Roadmap for each domain</a:t>
            </a:r>
          </a:p>
          <a:p>
            <a:pPr marL="12700" marR="5080"/>
            <a:r>
              <a:rPr lang="en-US" sz="1400" kern="0" spc="-80" dirty="0">
                <a:solidFill>
                  <a:schemeClr val="accent2"/>
                </a:solidFill>
              </a:rPr>
              <a:t>Phase F – Migration Planning</a:t>
            </a:r>
          </a:p>
          <a:p>
            <a:pPr marL="12700" marR="5080"/>
            <a:r>
              <a:rPr lang="en-US" sz="1400" kern="0" spc="-80" dirty="0">
                <a:solidFill>
                  <a:schemeClr val="accent2"/>
                </a:solidFill>
              </a:rPr>
              <a:t>Objective: </a:t>
            </a:r>
            <a:r>
              <a:rPr lang="en-US" sz="1400" kern="0" spc="-80" dirty="0">
                <a:solidFill>
                  <a:schemeClr val="accent6"/>
                </a:solidFill>
              </a:rPr>
              <a:t>Define phased implementation.</a:t>
            </a:r>
          </a:p>
          <a:p>
            <a:pPr marL="12700" marR="5080"/>
            <a:r>
              <a:rPr lang="en-US" sz="1400" kern="0" spc="-80" dirty="0">
                <a:solidFill>
                  <a:schemeClr val="accent2"/>
                </a:solidFill>
              </a:rPr>
              <a:t>Artifacts:</a:t>
            </a:r>
          </a:p>
          <a:p>
            <a:pPr marL="12700" marR="5080"/>
            <a:r>
              <a:rPr lang="en-US" sz="1400" kern="0" spc="-80" dirty="0">
                <a:solidFill>
                  <a:schemeClr val="accent6"/>
                </a:solidFill>
              </a:rPr>
              <a:t>Migration roadmap (XLSX)</a:t>
            </a:r>
          </a:p>
          <a:p>
            <a:pPr marL="12700" marR="5080"/>
            <a:r>
              <a:rPr lang="en-US" sz="1400" kern="0" spc="-80" dirty="0">
                <a:solidFill>
                  <a:schemeClr val="accent6"/>
                </a:solidFill>
              </a:rPr>
              <a:t>Phase 1: Customer &amp; Account services</a:t>
            </a:r>
          </a:p>
          <a:p>
            <a:pPr marL="12700" marR="5080"/>
            <a:r>
              <a:rPr lang="en-US" sz="1400" kern="0" spc="-80" dirty="0">
                <a:solidFill>
                  <a:schemeClr val="accent6"/>
                </a:solidFill>
              </a:rPr>
              <a:t>Phase 2: Loan &amp; Transaction services</a:t>
            </a:r>
          </a:p>
          <a:p>
            <a:pPr marL="12700" marR="5080"/>
            <a:r>
              <a:rPr lang="en-US" sz="1400" kern="0" spc="-80" dirty="0">
                <a:solidFill>
                  <a:schemeClr val="accent6"/>
                </a:solidFill>
              </a:rPr>
              <a:t>Phase 3: Payments &amp; Treasury services</a:t>
            </a:r>
          </a:p>
          <a:p>
            <a:pPr marL="12700" marR="5080"/>
            <a:r>
              <a:rPr lang="en-US" sz="1400" kern="0" spc="-80" dirty="0">
                <a:solidFill>
                  <a:schemeClr val="accent6"/>
                </a:solidFill>
              </a:rPr>
              <a:t>Dependencies, cost estimates, resource planning</a:t>
            </a:r>
          </a:p>
          <a:p>
            <a:pPr marL="12700" marR="5080"/>
            <a:r>
              <a:rPr lang="en-US" sz="1400" kern="0" spc="-80" dirty="0">
                <a:solidFill>
                  <a:schemeClr val="accent2"/>
                </a:solidFill>
              </a:rPr>
              <a:t>Phase G – Implementation Governance</a:t>
            </a:r>
          </a:p>
          <a:p>
            <a:pPr marL="12700" marR="5080"/>
            <a:r>
              <a:rPr lang="en-US" sz="1400" kern="0" spc="-80" dirty="0">
                <a:solidFill>
                  <a:schemeClr val="accent2"/>
                </a:solidFill>
              </a:rPr>
              <a:t>Objective:</a:t>
            </a:r>
            <a:r>
              <a:rPr lang="en-US" sz="1400" kern="0" spc="-80" dirty="0">
                <a:solidFill>
                  <a:schemeClr val="accent6"/>
                </a:solidFill>
              </a:rPr>
              <a:t> Ensure compliance with architecture.</a:t>
            </a:r>
          </a:p>
        </p:txBody>
      </p:sp>
    </p:spTree>
    <p:extLst>
      <p:ext uri="{BB962C8B-B14F-4D97-AF65-F5344CB8AC3E}">
        <p14:creationId xmlns:p14="http://schemas.microsoft.com/office/powerpoint/2010/main" val="12171976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D42DC-059E-BAAF-8046-9DCFA8825C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014FBDD-4277-4701-06CE-D364E3279D39}"/>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EE82C-9245-4158-8657-A9DAEF0BDCC2}"/>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C817F4-0E67-A66B-95E4-9B91E60811E4}"/>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210A32-090C-1402-EAEF-BD7FA4AD4945}"/>
              </a:ext>
            </a:extLst>
          </p:cNvPr>
          <p:cNvSpPr txBox="1">
            <a:spLocks/>
          </p:cNvSpPr>
          <p:nvPr/>
        </p:nvSpPr>
        <p:spPr>
          <a:xfrm>
            <a:off x="313400" y="694301"/>
            <a:ext cx="8624937" cy="36625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Artifacts:</a:t>
            </a:r>
          </a:p>
          <a:p>
            <a:pPr marL="12700" marR="5080"/>
            <a:r>
              <a:rPr lang="en-US" sz="1400" kern="0" spc="-80" dirty="0">
                <a:solidFill>
                  <a:schemeClr val="accent6"/>
                </a:solidFill>
              </a:rPr>
              <a:t>Architecture compliance checklist</a:t>
            </a:r>
          </a:p>
          <a:p>
            <a:pPr marL="12700" marR="5080"/>
            <a:r>
              <a:rPr lang="en-US" sz="1400" kern="0" spc="-80" dirty="0">
                <a:solidFill>
                  <a:schemeClr val="accent6"/>
                </a:solidFill>
              </a:rPr>
              <a:t>Review board schedule</a:t>
            </a:r>
          </a:p>
          <a:p>
            <a:pPr marL="12700" marR="5080"/>
            <a:r>
              <a:rPr lang="en-US" sz="1400" kern="0" spc="-80" dirty="0">
                <a:solidFill>
                  <a:schemeClr val="accent6"/>
                </a:solidFill>
              </a:rPr>
              <a:t>Deviation approval templates</a:t>
            </a:r>
          </a:p>
          <a:p>
            <a:pPr marL="12700" marR="5080"/>
            <a:r>
              <a:rPr lang="en-US" sz="1400" kern="0" spc="-80" dirty="0">
                <a:solidFill>
                  <a:schemeClr val="accent2"/>
                </a:solidFill>
              </a:rPr>
              <a:t>Phase H – Architecture Change Management</a:t>
            </a:r>
          </a:p>
          <a:p>
            <a:pPr marL="12700" marR="5080"/>
            <a:r>
              <a:rPr lang="en-US" sz="1400" kern="0" spc="-80" dirty="0">
                <a:solidFill>
                  <a:schemeClr val="accent2"/>
                </a:solidFill>
              </a:rPr>
              <a:t>Objective: </a:t>
            </a:r>
            <a:r>
              <a:rPr lang="en-US" sz="1400" kern="0" spc="-80" dirty="0">
                <a:solidFill>
                  <a:schemeClr val="accent6"/>
                </a:solidFill>
              </a:rPr>
              <a:t>Ensure EA evolves with business.</a:t>
            </a:r>
          </a:p>
          <a:p>
            <a:pPr marL="12700" marR="5080"/>
            <a:r>
              <a:rPr lang="en-US" sz="1400" kern="0" spc="-80" dirty="0">
                <a:solidFill>
                  <a:schemeClr val="accent2"/>
                </a:solidFill>
              </a:rPr>
              <a:t>Artifacts:</a:t>
            </a:r>
          </a:p>
          <a:p>
            <a:pPr marL="12700" marR="5080"/>
            <a:r>
              <a:rPr lang="en-US" sz="1400" kern="0" spc="-80" dirty="0">
                <a:solidFill>
                  <a:schemeClr val="accent6"/>
                </a:solidFill>
              </a:rPr>
              <a:t>Change management log template (DOCX)</a:t>
            </a:r>
          </a:p>
          <a:p>
            <a:pPr marL="12700" marR="5080"/>
            <a:r>
              <a:rPr lang="en-US" sz="1400" kern="0" spc="-80" dirty="0">
                <a:solidFill>
                  <a:schemeClr val="accent6"/>
                </a:solidFill>
              </a:rPr>
              <a:t>Architecture update guidelines</a:t>
            </a:r>
          </a:p>
          <a:p>
            <a:pPr marL="12700" marR="5080"/>
            <a:r>
              <a:rPr lang="en-US" sz="1400" kern="0" spc="-80" dirty="0">
                <a:solidFill>
                  <a:schemeClr val="accent6"/>
                </a:solidFill>
              </a:rPr>
              <a:t>Periodic assessment metrics</a:t>
            </a:r>
          </a:p>
          <a:p>
            <a:pPr marL="12700" marR="5080"/>
            <a:r>
              <a:rPr lang="en-US" sz="1400" kern="0" spc="-80" dirty="0">
                <a:solidFill>
                  <a:schemeClr val="accent6"/>
                </a:solidFill>
              </a:rPr>
              <a:t>Requirements Management</a:t>
            </a:r>
          </a:p>
          <a:p>
            <a:pPr marL="12700" marR="5080"/>
            <a:r>
              <a:rPr lang="en-US" sz="1400" kern="0" spc="-80" dirty="0">
                <a:solidFill>
                  <a:schemeClr val="accent6"/>
                </a:solidFill>
              </a:rPr>
              <a:t>Central repository linking business drivers → capabilities → data → applications → technology → solutions</a:t>
            </a:r>
          </a:p>
          <a:p>
            <a:pPr marL="12700" marR="5080"/>
            <a:r>
              <a:rPr lang="en-US" sz="1400" kern="0" spc="-80" dirty="0">
                <a:solidFill>
                  <a:schemeClr val="accent6"/>
                </a:solidFill>
              </a:rPr>
              <a:t>Traceability ensured for audit &amp; regulatory compliance.</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961665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34C3E-3C7D-8891-E508-8888FE3CD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B59E37F-EFBD-64EC-0355-AD65A8E1C839}"/>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82794C-F2BC-7623-F46B-0A5D7A6EFD34}"/>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99E9BE-638C-0C7E-C293-24C903C7434F}"/>
              </a:ext>
            </a:extLst>
          </p:cNvPr>
          <p:cNvGraphicFramePr/>
          <p:nvPr>
            <p:extLst>
              <p:ext uri="{D42A27DB-BD31-4B8C-83A1-F6EECF244321}">
                <p14:modId xmlns:p14="http://schemas.microsoft.com/office/powerpoint/2010/main" val="3408768351"/>
              </p:ext>
            </p:extLst>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E1641EC-9BC1-924F-1691-4720CF22AD07}"/>
              </a:ext>
            </a:extLst>
          </p:cNvPr>
          <p:cNvSpPr txBox="1">
            <a:spLocks/>
          </p:cNvSpPr>
          <p:nvPr/>
        </p:nvSpPr>
        <p:spPr>
          <a:xfrm>
            <a:off x="282645" y="694301"/>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  </a:t>
            </a:r>
          </a:p>
          <a:p>
            <a:pPr marL="12700" marR="5080"/>
            <a:r>
              <a:rPr lang="en-US" sz="1700" dirty="0">
                <a:hlinkClick r:id="rId8"/>
              </a:rPr>
              <a:t>Day One as an Enterprise Architect | LinkedIn</a:t>
            </a:r>
            <a:endParaRPr lang="en-US" sz="1700" kern="0" spc="-80" dirty="0">
              <a:solidFill>
                <a:schemeClr val="accent2"/>
              </a:solidFill>
            </a:endParaRPr>
          </a:p>
          <a:p>
            <a:pPr marL="12700" marR="5080"/>
            <a:r>
              <a:rPr lang="en-US" sz="1700" dirty="0">
                <a:hlinkClick r:id="rId9"/>
              </a:rPr>
              <a:t>Standard 10.0 - Level 1 Enterprise Architect Course | Udemy</a:t>
            </a:r>
            <a:r>
              <a:rPr lang="en-US" sz="1700" dirty="0"/>
              <a:t> </a:t>
            </a:r>
          </a:p>
          <a:p>
            <a:pPr marL="12700" marR="5080"/>
            <a:r>
              <a:rPr lang="en-US" sz="1700" dirty="0">
                <a:hlinkClick r:id="rId10"/>
              </a:rPr>
              <a:t>Standard 9.2 - Part 2 Certified Enterprise Architect Course | Udemy</a:t>
            </a:r>
            <a:endParaRPr lang="en-US" sz="1700" dirty="0"/>
          </a:p>
          <a:p>
            <a:pPr marL="12700" marR="5080"/>
            <a:r>
              <a:rPr lang="en-US" sz="1700" dirty="0">
                <a:hlinkClick r:id="rId11"/>
              </a:rPr>
              <a:t>Enterprise Architecture Practitioner with TOGAF 10 Standard | Udemy</a:t>
            </a:r>
            <a:r>
              <a:rPr lang="en-US" sz="1700" dirty="0"/>
              <a:t> </a:t>
            </a:r>
          </a:p>
          <a:p>
            <a:pPr marL="12700" marR="5080"/>
            <a:r>
              <a:rPr lang="en-IN" sz="1700" dirty="0">
                <a:hlinkClick r:id="rId12"/>
              </a:rPr>
              <a:t>Practical Solution Architecture | Udemy</a:t>
            </a:r>
            <a:endParaRPr lang="en-IN" sz="1700" dirty="0"/>
          </a:p>
          <a:p>
            <a:pPr marL="12700" marR="5080"/>
            <a:r>
              <a:rPr lang="en-US" sz="1700" dirty="0">
                <a:hlinkClick r:id="rId13"/>
              </a:rPr>
              <a:t>The Practice of Enterprise Architecture (Part III) | Udemy</a:t>
            </a:r>
            <a:endParaRPr lang="en-US" sz="1700" dirty="0"/>
          </a:p>
          <a:p>
            <a:r>
              <a:rPr lang="en-US" sz="1700" dirty="0">
                <a:hlinkClick r:id="rId14"/>
              </a:rPr>
              <a:t>Enterprise Architecture by Example | Udemy</a:t>
            </a:r>
            <a:endParaRPr lang="en-US" sz="1700" dirty="0"/>
          </a:p>
          <a:p>
            <a:r>
              <a:rPr lang="en-US" sz="1700" dirty="0">
                <a:hlinkClick r:id="rId15"/>
              </a:rPr>
              <a:t>Enterprise Architecture Governance | The Definitive Guide | </a:t>
            </a:r>
            <a:r>
              <a:rPr lang="en-US" sz="1700" dirty="0" err="1">
                <a:hlinkClick r:id="rId15"/>
              </a:rPr>
              <a:t>LeanIX</a:t>
            </a:r>
            <a:endParaRPr lang="en-US" sz="1700" dirty="0"/>
          </a:p>
          <a:p>
            <a:r>
              <a:rPr lang="en-IN" sz="1700" dirty="0">
                <a:hlinkClick r:id="rId16"/>
              </a:rPr>
              <a:t>Enterprise Design Patterns Book — Enterprise Design Patterns</a:t>
            </a:r>
            <a:endParaRPr lang="en-IN" sz="1700" dirty="0"/>
          </a:p>
          <a:p>
            <a:r>
              <a:rPr lang="en-US" sz="1700" dirty="0">
                <a:hlinkClick r:id="rId17"/>
              </a:rPr>
              <a:t>Enterprise Architecture at Work</a:t>
            </a:r>
            <a:endParaRPr lang="en-US" sz="1700" dirty="0"/>
          </a:p>
          <a:p>
            <a:r>
              <a:rPr lang="en-IN" sz="1700" dirty="0">
                <a:hlinkClick r:id="rId18"/>
              </a:rPr>
              <a:t>TOGAF Skill Guide. When I started my TOGAF Learning…</a:t>
            </a:r>
            <a:endParaRPr lang="en-IN" sz="1700" dirty="0"/>
          </a:p>
          <a:p>
            <a:r>
              <a:rPr lang="en-US" sz="1700" dirty="0" err="1">
                <a:hlinkClick r:id="rId19"/>
              </a:rPr>
              <a:t>CloudGAF</a:t>
            </a:r>
            <a:r>
              <a:rPr lang="en-US" sz="1700" dirty="0">
                <a:hlinkClick r:id="rId19"/>
              </a:rPr>
              <a:t> - A Tailored TOGAF Framework for Cloud Adoption</a:t>
            </a:r>
            <a:endParaRPr lang="en-US" sz="1700" dirty="0"/>
          </a:p>
          <a:p>
            <a:r>
              <a:rPr lang="en-US" sz="1700" dirty="0">
                <a:hlinkClick r:id="rId20"/>
              </a:rPr>
              <a:t>Complex Enterprise Architecture: A New Adaptive Systems Approach</a:t>
            </a:r>
            <a:endParaRPr lang="en-US" sz="1700" dirty="0"/>
          </a:p>
          <a:p>
            <a:r>
              <a:rPr lang="en-IN" sz="1700" dirty="0" err="1">
                <a:hlinkClick r:id="rId21"/>
              </a:rPr>
              <a:t>EAWheel</a:t>
            </a:r>
            <a:endParaRPr lang="en-IN" sz="1700" dirty="0"/>
          </a:p>
          <a:p>
            <a:r>
              <a:rPr lang="en-US" sz="1700" dirty="0">
                <a:hlinkClick r:id="rId22"/>
              </a:rPr>
              <a:t>Fundamentals of Enterprise Architecture[Book]</a:t>
            </a:r>
            <a:endParaRPr lang="en-US" sz="1700" dirty="0"/>
          </a:p>
          <a:p>
            <a:r>
              <a:rPr lang="en-IN" sz="1700" dirty="0">
                <a:hlinkClick r:id="rId23"/>
              </a:rPr>
              <a:t>Free Enterprise Architecture Resources – </a:t>
            </a:r>
            <a:r>
              <a:rPr lang="en-IN" sz="1700" dirty="0" err="1">
                <a:hlinkClick r:id="rId23"/>
              </a:rPr>
              <a:t>Conexiam</a:t>
            </a:r>
            <a:r>
              <a:rPr lang="en-IN" sz="1700" dirty="0"/>
              <a:t> </a:t>
            </a:r>
          </a:p>
          <a:p>
            <a:r>
              <a:rPr lang="en-US" sz="1700" dirty="0">
                <a:hlinkClick r:id="rId24"/>
              </a:rPr>
              <a:t>Realize Enterprise Architecture with AWS and </a:t>
            </a:r>
            <a:r>
              <a:rPr lang="en-US" sz="1700" dirty="0" err="1">
                <a:hlinkClick r:id="rId24"/>
              </a:rPr>
              <a:t>SAFe</a:t>
            </a:r>
            <a:endParaRPr lang="en-US" sz="1700" dirty="0"/>
          </a:p>
          <a:p>
            <a:r>
              <a:rPr lang="en-IN" sz="1700" dirty="0">
                <a:hlinkClick r:id="rId25"/>
              </a:rPr>
              <a:t>Technology Strategy Patterns[Book]</a:t>
            </a:r>
            <a:endParaRPr lang="en-IN" sz="1700" dirty="0"/>
          </a:p>
          <a:p>
            <a:pPr marL="12700" marR="5080"/>
            <a:endParaRPr lang="en-US" sz="1150" kern="0" spc="-80" dirty="0">
              <a:solidFill>
                <a:schemeClr val="accent6"/>
              </a:solidFill>
            </a:endParaRPr>
          </a:p>
        </p:txBody>
      </p:sp>
    </p:spTree>
    <p:extLst>
      <p:ext uri="{BB962C8B-B14F-4D97-AF65-F5344CB8AC3E}">
        <p14:creationId xmlns:p14="http://schemas.microsoft.com/office/powerpoint/2010/main" val="251382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87D2BB94-61CD-4B89-6E92-2F393F8507B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7199" y="838200"/>
            <a:ext cx="8396337" cy="411480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BE392FD-A773-2249-0C48-A53E7BD034F6}"/>
              </a:ext>
            </a:extLst>
          </p:cNvPr>
          <p:cNvSpPr txBox="1">
            <a:spLocks/>
          </p:cNvSpPr>
          <p:nvPr/>
        </p:nvSpPr>
        <p:spPr>
          <a:xfrm>
            <a:off x="259531" y="5067161"/>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1500" dirty="0">
                <a:hlinkClick r:id="rId8"/>
              </a:rPr>
              <a:t>Is ASP.NET MVC a framework, architecture, or a design pattern? </a:t>
            </a:r>
            <a:r>
              <a:rPr lang="en-US" sz="1500" dirty="0">
                <a:hlinkClick r:id="rId9"/>
              </a:rPr>
              <a:t>–</a:t>
            </a:r>
            <a:r>
              <a:rPr lang="en-US" sz="1500" dirty="0">
                <a:hlinkClick r:id="rId8"/>
              </a:rPr>
              <a:t> Quora</a:t>
            </a:r>
            <a:endParaRPr lang="en-US" sz="1500" dirty="0"/>
          </a:p>
          <a:p>
            <a:pPr marL="12700" marR="5080"/>
            <a:r>
              <a:rPr lang="en-IN" sz="1500" dirty="0">
                <a:hlinkClick r:id="rId9"/>
              </a:rPr>
              <a:t>Are Architectural Styles, Patterns &amp; Design Patterns Different | LinkedIn</a:t>
            </a:r>
            <a:endParaRPr lang="en-US" sz="1500" kern="0" spc="-80" dirty="0">
              <a:solidFill>
                <a:schemeClr val="accent6"/>
              </a:solidFill>
            </a:endParaRPr>
          </a:p>
        </p:txBody>
      </p:sp>
    </p:spTree>
    <p:extLst>
      <p:ext uri="{BB962C8B-B14F-4D97-AF65-F5344CB8AC3E}">
        <p14:creationId xmlns:p14="http://schemas.microsoft.com/office/powerpoint/2010/main" val="6102633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(Modular/Distributed) Monolith Architecture – </a:t>
            </a:r>
          </a:p>
        </p:txBody>
      </p:sp>
      <p:pic>
        <p:nvPicPr>
          <p:cNvPr id="8194" name="Picture 2" descr="Monolith Architecture | by Chien Hoang | Chien's tech blogs">
            <a:extLst>
              <a:ext uri="{FF2B5EF4-FFF2-40B4-BE49-F238E27FC236}">
                <a16:creationId xmlns:a16="http://schemas.microsoft.com/office/drawing/2014/main" id="{6B1FB9AA-30EE-545A-37DA-B22B28EAAF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27113"/>
            <a:ext cx="9144000" cy="4245473"/>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47D59599-FF81-59EA-AC89-252258F49DA2}"/>
              </a:ext>
            </a:extLst>
          </p:cNvPr>
          <p:cNvSpPr txBox="1">
            <a:spLocks/>
          </p:cNvSpPr>
          <p:nvPr/>
        </p:nvSpPr>
        <p:spPr>
          <a:xfrm>
            <a:off x="137369" y="5257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Modular Monolith - Awesome Software Architecture </a:t>
            </a:r>
            <a:r>
              <a:rPr lang="en-US" sz="1600" kern="0" spc="-80" dirty="0">
                <a:solidFill>
                  <a:schemeClr val="accent2"/>
                </a:solidFill>
                <a:hlinkClick r:id="rId8"/>
              </a:rPr>
              <a:t>/</a:t>
            </a:r>
            <a:r>
              <a:rPr lang="en-US" sz="1600" kern="0" spc="-80" dirty="0">
                <a:solidFill>
                  <a:schemeClr val="accent2"/>
                </a:solidFill>
              </a:rPr>
              <a:t> </a:t>
            </a:r>
          </a:p>
        </p:txBody>
      </p:sp>
    </p:spTree>
    <p:extLst>
      <p:ext uri="{BB962C8B-B14F-4D97-AF65-F5344CB8AC3E}">
        <p14:creationId xmlns:p14="http://schemas.microsoft.com/office/powerpoint/2010/main" val="6331192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p:txBody>
      </p:sp>
      <p:pic>
        <p:nvPicPr>
          <p:cNvPr id="10244" name="Picture 4" descr="Microservices architecture on Google Cloud | Google Cloud Blog">
            <a:extLst>
              <a:ext uri="{FF2B5EF4-FFF2-40B4-BE49-F238E27FC236}">
                <a16:creationId xmlns:a16="http://schemas.microsoft.com/office/drawing/2014/main" id="{69CA7AFF-EC15-E698-A044-1EE7F62EEB5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79082"/>
            <a:ext cx="9144000" cy="47121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718668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DE1C0-8CEF-6C59-C9F8-A2BA0585812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116C060-BAA4-A1C4-EB2F-873A54A601A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2DAE36-24BA-F0BE-7209-6F5C8D7B60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6ABF3E-8AE3-A5CB-535C-41E24830B64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5133D7-C455-3F7F-175F-BFE0947D5CB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3216752-B850-697F-95EC-38E2DB48C9F3}"/>
              </a:ext>
            </a:extLst>
          </p:cNvPr>
          <p:cNvSpPr txBox="1">
            <a:spLocks/>
          </p:cNvSpPr>
          <p:nvPr/>
        </p:nvSpPr>
        <p:spPr>
          <a:xfrm>
            <a:off x="137369" y="67101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a:p>
            <a:pPr marL="12700" marR="5080"/>
            <a:r>
              <a:rPr lang="en-US" sz="2400" kern="0" spc="-80" dirty="0">
                <a:solidFill>
                  <a:schemeClr val="accent2"/>
                </a:solidFill>
              </a:rPr>
              <a:t>Reference Architecture - </a:t>
            </a:r>
          </a:p>
        </p:txBody>
      </p:sp>
      <p:pic>
        <p:nvPicPr>
          <p:cNvPr id="8" name="Picture 7">
            <a:extLst>
              <a:ext uri="{FF2B5EF4-FFF2-40B4-BE49-F238E27FC236}">
                <a16:creationId xmlns:a16="http://schemas.microsoft.com/office/drawing/2014/main" id="{1CDC749F-FEAF-8BCA-2BEC-980345239A0C}"/>
              </a:ext>
            </a:extLst>
          </p:cNvPr>
          <p:cNvPicPr>
            <a:picLocks noChangeAspect="1"/>
          </p:cNvPicPr>
          <p:nvPr/>
        </p:nvPicPr>
        <p:blipFill>
          <a:blip r:embed="rId7"/>
          <a:stretch>
            <a:fillRect/>
          </a:stretch>
        </p:blipFill>
        <p:spPr>
          <a:xfrm>
            <a:off x="0" y="1448413"/>
            <a:ext cx="9144000" cy="4495187"/>
          </a:xfrm>
          <a:prstGeom prst="rect">
            <a:avLst/>
          </a:prstGeom>
        </p:spPr>
      </p:pic>
    </p:spTree>
    <p:extLst>
      <p:ext uri="{BB962C8B-B14F-4D97-AF65-F5344CB8AC3E}">
        <p14:creationId xmlns:p14="http://schemas.microsoft.com/office/powerpoint/2010/main" val="5561193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099A7-413A-9CF3-1D34-72656DA541D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BE636C-361A-036F-CA99-58B19D25B6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9619CD-0B12-3497-9193-CA37D94DFDA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62C3D6-9DE5-53C5-F444-C5BCBD30BE4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CDCBF72-4976-C065-78F6-E3848516BA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280CF0-4166-4A49-E2F3-D5DDE7E0DC53}"/>
              </a:ext>
            </a:extLst>
          </p:cNvPr>
          <p:cNvSpPr txBox="1">
            <a:spLocks/>
          </p:cNvSpPr>
          <p:nvPr/>
        </p:nvSpPr>
        <p:spPr>
          <a:xfrm>
            <a:off x="137369" y="67101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a:p>
            <a:pPr marL="12700" marR="5080"/>
            <a:r>
              <a:rPr lang="en-US" sz="2400" kern="0" spc="-80" dirty="0">
                <a:solidFill>
                  <a:schemeClr val="accent2"/>
                </a:solidFill>
              </a:rPr>
              <a:t>(Typical Java Based) Technology Architecture - </a:t>
            </a:r>
          </a:p>
        </p:txBody>
      </p:sp>
      <p:pic>
        <p:nvPicPr>
          <p:cNvPr id="8" name="Picture 7">
            <a:extLst>
              <a:ext uri="{FF2B5EF4-FFF2-40B4-BE49-F238E27FC236}">
                <a16:creationId xmlns:a16="http://schemas.microsoft.com/office/drawing/2014/main" id="{D68724A5-C64E-6019-9D62-0535852F0473}"/>
              </a:ext>
            </a:extLst>
          </p:cNvPr>
          <p:cNvPicPr>
            <a:picLocks noChangeAspect="1"/>
          </p:cNvPicPr>
          <p:nvPr/>
        </p:nvPicPr>
        <p:blipFill>
          <a:blip r:embed="rId8"/>
          <a:stretch>
            <a:fillRect/>
          </a:stretch>
        </p:blipFill>
        <p:spPr>
          <a:xfrm>
            <a:off x="-30932" y="1365129"/>
            <a:ext cx="9144000" cy="3253309"/>
          </a:xfrm>
          <a:prstGeom prst="rect">
            <a:avLst/>
          </a:prstGeom>
        </p:spPr>
      </p:pic>
      <p:sp>
        <p:nvSpPr>
          <p:cNvPr id="7" name="object 2">
            <a:extLst>
              <a:ext uri="{FF2B5EF4-FFF2-40B4-BE49-F238E27FC236}">
                <a16:creationId xmlns:a16="http://schemas.microsoft.com/office/drawing/2014/main" id="{6A11736F-DC2D-C8FF-5368-064AD76144FF}"/>
              </a:ext>
            </a:extLst>
          </p:cNvPr>
          <p:cNvSpPr txBox="1">
            <a:spLocks/>
          </p:cNvSpPr>
          <p:nvPr/>
        </p:nvSpPr>
        <p:spPr>
          <a:xfrm>
            <a:off x="50212" y="4425133"/>
            <a:ext cx="8624937" cy="15542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100" dirty="0">
                <a:hlinkClick r:id="rId9"/>
              </a:rPr>
              <a:t>Perfect-Roadmap-To-Learn-Java-SpringBoot-In-2024: Roadmap To Learn Java </a:t>
            </a:r>
            <a:r>
              <a:rPr lang="en-IN" sz="1100" dirty="0" err="1">
                <a:hlinkClick r:id="rId9"/>
              </a:rPr>
              <a:t>Springboot</a:t>
            </a:r>
            <a:r>
              <a:rPr lang="en-IN" sz="1100" dirty="0">
                <a:hlinkClick r:id="rId9"/>
              </a:rPr>
              <a:t> in 2024</a:t>
            </a:r>
            <a:endParaRPr lang="en-IN" sz="1100" dirty="0"/>
          </a:p>
          <a:p>
            <a:pPr marL="12700" marR="5080"/>
            <a:r>
              <a:rPr lang="en-US" sz="1100" dirty="0">
                <a:hlinkClick r:id="rId10"/>
              </a:rPr>
              <a:t>Microservices-with-Spring-Boot-and-Spring-Cloud-Third-Edition: Microservices with Spring Boot and Spring Cloud</a:t>
            </a:r>
            <a:endParaRPr lang="en-US" sz="1100" dirty="0"/>
          </a:p>
          <a:p>
            <a:pPr marL="12700" marR="5080"/>
            <a:r>
              <a:rPr lang="en-US" sz="1100" dirty="0">
                <a:hlinkClick r:id="rId11"/>
              </a:rPr>
              <a:t>Practical-Microservices-Architectural-Patterns</a:t>
            </a:r>
          </a:p>
          <a:p>
            <a:pPr marL="12700" marR="5080"/>
            <a:r>
              <a:rPr lang="en-US" sz="1100" dirty="0">
                <a:hlinkClick r:id="rId11"/>
              </a:rPr>
              <a:t>Patterns' by </a:t>
            </a:r>
            <a:r>
              <a:rPr lang="en-US" sz="1100" dirty="0" err="1">
                <a:hlinkClick r:id="rId11"/>
              </a:rPr>
              <a:t>Binildas</a:t>
            </a:r>
            <a:r>
              <a:rPr lang="en-US" sz="1100" dirty="0">
                <a:hlinkClick r:id="rId11"/>
              </a:rPr>
              <a:t> </a:t>
            </a:r>
            <a:r>
              <a:rPr lang="en-US" sz="1100" dirty="0" err="1">
                <a:hlinkClick r:id="rId11"/>
              </a:rPr>
              <a:t>Christudas</a:t>
            </a:r>
            <a:endParaRPr lang="en-US" sz="1100" dirty="0"/>
          </a:p>
          <a:p>
            <a:pPr marL="12700" marR="5080"/>
            <a:r>
              <a:rPr lang="en-IN" sz="1100" dirty="0">
                <a:hlinkClick r:id="rId12"/>
              </a:rPr>
              <a:t>Architecture · </a:t>
            </a:r>
            <a:r>
              <a:rPr lang="en-IN" sz="1100" dirty="0" err="1">
                <a:hlinkClick r:id="rId12"/>
              </a:rPr>
              <a:t>OpenZipkin</a:t>
            </a:r>
            <a:endParaRPr lang="en-IN" sz="1100" dirty="0"/>
          </a:p>
          <a:p>
            <a:pPr marL="12700" marR="5080"/>
            <a:r>
              <a:rPr lang="en-US" sz="1100" dirty="0">
                <a:hlinkClick r:id="rId13"/>
              </a:rPr>
              <a:t>Service Discovery with Zookeeper</a:t>
            </a:r>
            <a:endParaRPr lang="en-US" sz="1100" dirty="0"/>
          </a:p>
          <a:p>
            <a:pPr marL="12700" marR="5080"/>
            <a:r>
              <a:rPr lang="en-US" sz="1100" dirty="0">
                <a:hlinkClick r:id="rId14"/>
              </a:rPr>
              <a:t>Service discovery in .NET - .NET | Microsoft Learn</a:t>
            </a:r>
            <a:endParaRPr lang="en-US" sz="1100" kern="0" spc="-80" dirty="0">
              <a:solidFill>
                <a:schemeClr val="accent2"/>
              </a:solidFill>
            </a:endParaRPr>
          </a:p>
        </p:txBody>
      </p:sp>
    </p:spTree>
    <p:extLst>
      <p:ext uri="{BB962C8B-B14F-4D97-AF65-F5344CB8AC3E}">
        <p14:creationId xmlns:p14="http://schemas.microsoft.com/office/powerpoint/2010/main" val="19922678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EDA(Event Driven Architecture) using Messaging –</a:t>
            </a:r>
          </a:p>
        </p:txBody>
      </p:sp>
      <p:pic>
        <p:nvPicPr>
          <p:cNvPr id="21506" name="Picture 2" descr="Communicating Between Microservices - DZone">
            <a:extLst>
              <a:ext uri="{FF2B5EF4-FFF2-40B4-BE49-F238E27FC236}">
                <a16:creationId xmlns:a16="http://schemas.microsoft.com/office/drawing/2014/main" id="{FDD4DEBC-C35D-66A5-5309-B7A80CD0F6A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834" y="1025560"/>
            <a:ext cx="8624937" cy="3079075"/>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1B330A2D-BF5F-8CF4-B650-24603B0B4A3E}"/>
              </a:ext>
            </a:extLst>
          </p:cNvPr>
          <p:cNvSpPr txBox="1">
            <a:spLocks/>
          </p:cNvSpPr>
          <p:nvPr/>
        </p:nvSpPr>
        <p:spPr>
          <a:xfrm>
            <a:off x="152400" y="4227746"/>
            <a:ext cx="8624937" cy="17158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250" dirty="0">
                <a:hlinkClick r:id="rId8"/>
              </a:rPr>
              <a:t>Message Broker vs. Event Broker: When to Use Each One Of Them | </a:t>
            </a:r>
            <a:r>
              <a:rPr lang="en-US" sz="1250" dirty="0" err="1">
                <a:hlinkClick r:id="rId8"/>
              </a:rPr>
              <a:t>Riskified</a:t>
            </a:r>
            <a:r>
              <a:rPr lang="en-US" sz="1250" dirty="0">
                <a:hlinkClick r:id="rId8"/>
              </a:rPr>
              <a:t> Tech</a:t>
            </a:r>
            <a:r>
              <a:rPr lang="en-US" sz="1250" kern="0" spc="-80" dirty="0">
                <a:solidFill>
                  <a:schemeClr val="accent2"/>
                </a:solidFill>
              </a:rPr>
              <a:t>  </a:t>
            </a:r>
          </a:p>
          <a:p>
            <a:pPr marL="12700" marR="5080"/>
            <a:r>
              <a:rPr lang="en-IN" sz="1250" dirty="0" err="1">
                <a:hlinkClick r:id="rId9"/>
              </a:rPr>
              <a:t>Bytebytego</a:t>
            </a:r>
            <a:r>
              <a:rPr lang="en-IN" sz="1250" dirty="0">
                <a:hlinkClick r:id="rId9"/>
              </a:rPr>
              <a:t> on X: "IBM MQ -&gt; RabbitMQ -&gt; Kafka -&gt;Pulsar, </a:t>
            </a:r>
            <a:endParaRPr lang="en-IN" sz="1250" dirty="0"/>
          </a:p>
          <a:p>
            <a:pPr marL="12700" marR="5080"/>
            <a:r>
              <a:rPr lang="en-US" sz="1250" dirty="0">
                <a:hlinkClick r:id="rId10"/>
              </a:rPr>
              <a:t>Azure Service Bus messaging - queues, topics, and subscriptions - Azure Service Bus | Microsoft Learn</a:t>
            </a:r>
            <a:r>
              <a:rPr lang="en-US" sz="1250" kern="0" spc="-80" dirty="0">
                <a:solidFill>
                  <a:schemeClr val="accent2"/>
                </a:solidFill>
              </a:rPr>
              <a:t> </a:t>
            </a:r>
          </a:p>
          <a:p>
            <a:pPr marL="12700" marR="5080"/>
            <a:r>
              <a:rPr lang="en-US" sz="1250" dirty="0">
                <a:hlinkClick r:id="rId11"/>
              </a:rPr>
              <a:t>Best practices for improving performance using Azure Service Bus - Azure Service Bus | Microsoft Learn</a:t>
            </a:r>
            <a:endParaRPr lang="en-US" sz="1250" dirty="0"/>
          </a:p>
          <a:p>
            <a:pPr marL="12700" marR="5080"/>
            <a:r>
              <a:rPr lang="en-US" sz="1250" dirty="0">
                <a:hlinkClick r:id="rId12"/>
              </a:rPr>
              <a:t>Service Bus asynchronous messaging - Azure Service Bus | Microsoft Learn</a:t>
            </a:r>
            <a:endParaRPr lang="en-US" sz="1250" dirty="0"/>
          </a:p>
          <a:p>
            <a:pPr marL="12700" marR="5080"/>
            <a:r>
              <a:rPr lang="en-US" sz="1250" dirty="0">
                <a:hlinkClick r:id="rId13"/>
              </a:rPr>
              <a:t>AMQP 1.0 in Azure Service Bus and Event Hubs - Azure Service Bus | Microsoft Learn</a:t>
            </a:r>
            <a:endParaRPr lang="en-US" sz="1250" dirty="0"/>
          </a:p>
          <a:p>
            <a:pPr marL="12700" marR="5080"/>
            <a:r>
              <a:rPr lang="en-US" sz="1250" dirty="0">
                <a:hlinkClick r:id="rId14"/>
              </a:rPr>
              <a:t>AMQP 0-9-1 Model Explained | RabbitMQ</a:t>
            </a:r>
            <a:endParaRPr lang="en-US" sz="1250" kern="0" spc="-80" dirty="0">
              <a:solidFill>
                <a:schemeClr val="accent2"/>
              </a:solidFill>
            </a:endParaRPr>
          </a:p>
        </p:txBody>
      </p:sp>
      <p:sp>
        <p:nvSpPr>
          <p:cNvPr id="8" name="object 2">
            <a:extLst>
              <a:ext uri="{FF2B5EF4-FFF2-40B4-BE49-F238E27FC236}">
                <a16:creationId xmlns:a16="http://schemas.microsoft.com/office/drawing/2014/main" id="{6D6A65F8-6FA1-933B-CE1D-1309F823DCB2}"/>
              </a:ext>
            </a:extLst>
          </p:cNvPr>
          <p:cNvSpPr txBox="1">
            <a:spLocks/>
          </p:cNvSpPr>
          <p:nvPr/>
        </p:nvSpPr>
        <p:spPr>
          <a:xfrm>
            <a:off x="152400" y="4104635"/>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Erratum – Polish/Subscribe above is a typo mistake. Should be Publish/Subscribe.</a:t>
            </a:r>
          </a:p>
        </p:txBody>
      </p:sp>
    </p:spTree>
    <p:extLst>
      <p:ext uri="{BB962C8B-B14F-4D97-AF65-F5344CB8AC3E}">
        <p14:creationId xmlns:p14="http://schemas.microsoft.com/office/powerpoint/2010/main" val="12792314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71014"/>
            <a:ext cx="89915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EDA(Event Driven Architecture) using </a:t>
            </a:r>
            <a:r>
              <a:rPr lang="en-US" sz="2400" kern="0" spc="-80" dirty="0" err="1">
                <a:solidFill>
                  <a:schemeClr val="accent2"/>
                </a:solidFill>
              </a:rPr>
              <a:t>WebHooks</a:t>
            </a:r>
            <a:r>
              <a:rPr lang="en-US" sz="2400" kern="0" spc="-80" dirty="0">
                <a:solidFill>
                  <a:schemeClr val="accent2"/>
                </a:solidFill>
              </a:rPr>
              <a:t> &amp; </a:t>
            </a:r>
            <a:r>
              <a:rPr lang="en-US" sz="2400" kern="0" spc="-80" dirty="0" err="1">
                <a:solidFill>
                  <a:schemeClr val="accent2"/>
                </a:solidFill>
              </a:rPr>
              <a:t>WebSub</a:t>
            </a:r>
            <a:r>
              <a:rPr lang="en-US" sz="2400" kern="0" spc="-80" dirty="0">
                <a:solidFill>
                  <a:schemeClr val="accent2"/>
                </a:solidFill>
              </a:rPr>
              <a:t> –</a:t>
            </a:r>
          </a:p>
        </p:txBody>
      </p:sp>
      <p:sp>
        <p:nvSpPr>
          <p:cNvPr id="7" name="object 2">
            <a:extLst>
              <a:ext uri="{FF2B5EF4-FFF2-40B4-BE49-F238E27FC236}">
                <a16:creationId xmlns:a16="http://schemas.microsoft.com/office/drawing/2014/main" id="{1B330A2D-BF5F-8CF4-B650-24603B0B4A3E}"/>
              </a:ext>
            </a:extLst>
          </p:cNvPr>
          <p:cNvSpPr txBox="1">
            <a:spLocks/>
          </p:cNvSpPr>
          <p:nvPr/>
        </p:nvSpPr>
        <p:spPr>
          <a:xfrm>
            <a:off x="228600" y="5097214"/>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kern="0" spc="-80" dirty="0">
                <a:solidFill>
                  <a:schemeClr val="accent2"/>
                </a:solidFill>
              </a:rPr>
              <a:t> </a:t>
            </a:r>
            <a:r>
              <a:rPr lang="en-IN" sz="1500" dirty="0">
                <a:hlinkClick r:id="rId7"/>
              </a:rPr>
              <a:t>Event-Driven APIs With Webhook and </a:t>
            </a:r>
            <a:r>
              <a:rPr lang="en-IN" sz="1500" dirty="0" err="1">
                <a:hlinkClick r:id="rId7"/>
              </a:rPr>
              <a:t>WebSub</a:t>
            </a:r>
            <a:endParaRPr lang="en-IN" sz="1500" dirty="0"/>
          </a:p>
          <a:p>
            <a:pPr marL="12700" marR="5080"/>
            <a:r>
              <a:rPr lang="en-US" sz="1500" dirty="0">
                <a:hlinkClick r:id="rId8"/>
              </a:rPr>
              <a:t>ASP.NET </a:t>
            </a:r>
            <a:r>
              <a:rPr lang="en-US" sz="1500" dirty="0" err="1">
                <a:hlinkClick r:id="rId8"/>
              </a:rPr>
              <a:t>WebHooks</a:t>
            </a:r>
            <a:r>
              <a:rPr lang="en-US" sz="1500" dirty="0">
                <a:hlinkClick r:id="rId8"/>
              </a:rPr>
              <a:t> Succinctly</a:t>
            </a:r>
            <a:endParaRPr lang="en-US" sz="1500" kern="0" spc="-80" dirty="0">
              <a:solidFill>
                <a:schemeClr val="accent2"/>
              </a:solidFill>
            </a:endParaRPr>
          </a:p>
        </p:txBody>
      </p:sp>
      <p:pic>
        <p:nvPicPr>
          <p:cNvPr id="1026" name="Picture 2">
            <a:extLst>
              <a:ext uri="{FF2B5EF4-FFF2-40B4-BE49-F238E27FC236}">
                <a16:creationId xmlns:a16="http://schemas.microsoft.com/office/drawing/2014/main" id="{50DDEE9E-B61C-F56B-B655-82D758CB76E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066799"/>
            <a:ext cx="9144000" cy="3145305"/>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F34E919-7E20-37B4-34B6-53F676978B40}"/>
              </a:ext>
            </a:extLst>
          </p:cNvPr>
          <p:cNvSpPr txBox="1">
            <a:spLocks/>
          </p:cNvSpPr>
          <p:nvPr/>
        </p:nvSpPr>
        <p:spPr>
          <a:xfrm>
            <a:off x="259531" y="4212104"/>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Notes-</a:t>
            </a:r>
          </a:p>
          <a:p>
            <a:pPr marL="12700" marR="5080"/>
            <a:r>
              <a:rPr lang="en-US" sz="1600" kern="0" spc="-80" dirty="0">
                <a:solidFill>
                  <a:schemeClr val="accent6">
                    <a:lumMod val="75000"/>
                  </a:schemeClr>
                </a:solidFill>
              </a:rPr>
              <a:t>Seems, most legacy/old MQ or Service bus based approaches can be replaced by </a:t>
            </a:r>
            <a:r>
              <a:rPr lang="en-US" sz="1600" kern="0" spc="-80" dirty="0" err="1">
                <a:solidFill>
                  <a:schemeClr val="accent6">
                    <a:lumMod val="75000"/>
                  </a:schemeClr>
                </a:solidFill>
              </a:rPr>
              <a:t>WebHooks</a:t>
            </a:r>
            <a:r>
              <a:rPr lang="en-US" sz="1600" kern="0" spc="-80" dirty="0">
                <a:solidFill>
                  <a:schemeClr val="accent6">
                    <a:lumMod val="75000"/>
                  </a:schemeClr>
                </a:solidFill>
              </a:rPr>
              <a:t> &amp; </a:t>
            </a:r>
            <a:r>
              <a:rPr lang="en-US" sz="1600" kern="0" spc="-80" dirty="0" err="1">
                <a:solidFill>
                  <a:schemeClr val="accent6">
                    <a:lumMod val="75000"/>
                  </a:schemeClr>
                </a:solidFill>
              </a:rPr>
              <a:t>WebSubs</a:t>
            </a:r>
            <a:r>
              <a:rPr lang="en-US" sz="1600" kern="0" spc="-80" dirty="0">
                <a:solidFill>
                  <a:schemeClr val="accent6">
                    <a:lumMod val="75000"/>
                  </a:schemeClr>
                </a:solidFill>
              </a:rPr>
              <a:t> respectively as part of App Modernization, to do most of the tasks in event driven way.</a:t>
            </a:r>
          </a:p>
        </p:txBody>
      </p:sp>
    </p:spTree>
    <p:extLst>
      <p:ext uri="{BB962C8B-B14F-4D97-AF65-F5344CB8AC3E}">
        <p14:creationId xmlns:p14="http://schemas.microsoft.com/office/powerpoint/2010/main" val="13905684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1746" name="Picture 2" descr="Introduction to Message Routing - Enterprise Integration Patterns">
            <a:extLst>
              <a:ext uri="{FF2B5EF4-FFF2-40B4-BE49-F238E27FC236}">
                <a16:creationId xmlns:a16="http://schemas.microsoft.com/office/drawing/2014/main" id="{81B8F603-B29D-7B9F-13B8-C2C224E2B99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838200"/>
            <a:ext cx="8320137" cy="3951238"/>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F808C92-1EBD-C20B-9798-F73E7512FB78}"/>
              </a:ext>
            </a:extLst>
          </p:cNvPr>
          <p:cNvSpPr txBox="1">
            <a:spLocks/>
          </p:cNvSpPr>
          <p:nvPr/>
        </p:nvSpPr>
        <p:spPr>
          <a:xfrm>
            <a:off x="8263" y="4789438"/>
            <a:ext cx="8624937" cy="115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IN" sz="1500" dirty="0">
                <a:hlinkClick r:id="rId8"/>
              </a:rPr>
              <a:t>Enterprise Integration Patterns</a:t>
            </a:r>
            <a:r>
              <a:rPr lang="en-US" sz="1500" kern="0" spc="-80" dirty="0">
                <a:solidFill>
                  <a:schemeClr val="accent2"/>
                </a:solidFill>
              </a:rPr>
              <a:t> </a:t>
            </a:r>
          </a:p>
          <a:p>
            <a:pPr marL="12700" marR="5080"/>
            <a:r>
              <a:rPr lang="en-US" sz="1500" dirty="0">
                <a:hlinkClick r:id="rId9"/>
              </a:rPr>
              <a:t>Choosing a Message Exchange Pattern - WCF | Microsoft Learn</a:t>
            </a:r>
            <a:r>
              <a:rPr lang="en-US" sz="1500" kern="0" spc="-80" dirty="0">
                <a:solidFill>
                  <a:schemeClr val="accent2"/>
                </a:solidFill>
              </a:rPr>
              <a:t>   </a:t>
            </a:r>
          </a:p>
          <a:p>
            <a:pPr marL="12700" marR="5080"/>
            <a:r>
              <a:rPr lang="en-IN" sz="1500" dirty="0">
                <a:hlinkClick r:id="rId10"/>
              </a:rPr>
              <a:t>Enterprise Integration Patterns on Azure - Introduction | pacodelacruz.io</a:t>
            </a:r>
            <a:endParaRPr lang="en-IN" sz="1500" dirty="0"/>
          </a:p>
          <a:p>
            <a:pPr marL="12700" marR="5080"/>
            <a:r>
              <a:rPr lang="en-US" sz="1500" dirty="0">
                <a:hlinkClick r:id="rId11"/>
              </a:rPr>
              <a:t>Implementing enterprise integration patterns with AWS messaging services</a:t>
            </a:r>
            <a:endParaRPr lang="en-US" sz="1500" kern="0" spc="-80" dirty="0">
              <a:solidFill>
                <a:schemeClr val="accent2"/>
              </a:solidFill>
            </a:endParaRPr>
          </a:p>
        </p:txBody>
      </p:sp>
    </p:spTree>
    <p:extLst>
      <p:ext uri="{BB962C8B-B14F-4D97-AF65-F5344CB8AC3E}">
        <p14:creationId xmlns:p14="http://schemas.microsoft.com/office/powerpoint/2010/main" val="21502679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F808C92-1EBD-C20B-9798-F73E7512FB78}"/>
              </a:ext>
            </a:extLst>
          </p:cNvPr>
          <p:cNvSpPr txBox="1">
            <a:spLocks/>
          </p:cNvSpPr>
          <p:nvPr/>
        </p:nvSpPr>
        <p:spPr>
          <a:xfrm>
            <a:off x="366663" y="838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iPaaS(Integration Platform as a Service)</a:t>
            </a:r>
            <a:r>
              <a:rPr lang="en-US" sz="1500" kern="0" spc="-80" dirty="0">
                <a:solidFill>
                  <a:schemeClr val="accent2"/>
                </a:solidFill>
              </a:rPr>
              <a:t> </a:t>
            </a:r>
            <a:r>
              <a:rPr lang="en-US" sz="2400" kern="0" spc="-80" dirty="0">
                <a:solidFill>
                  <a:schemeClr val="accent2"/>
                </a:solidFill>
              </a:rPr>
              <a:t>–</a:t>
            </a:r>
            <a:r>
              <a:rPr lang="en-US" sz="1600" kern="0" spc="-80" dirty="0">
                <a:solidFill>
                  <a:schemeClr val="accent2"/>
                </a:solidFill>
              </a:rPr>
              <a:t>  </a:t>
            </a:r>
          </a:p>
        </p:txBody>
      </p:sp>
      <p:sp>
        <p:nvSpPr>
          <p:cNvPr id="3" name="object 2">
            <a:extLst>
              <a:ext uri="{FF2B5EF4-FFF2-40B4-BE49-F238E27FC236}">
                <a16:creationId xmlns:a16="http://schemas.microsoft.com/office/drawing/2014/main" id="{85B16EC7-4DB2-C201-C469-2A4B688E9D41}"/>
              </a:ext>
            </a:extLst>
          </p:cNvPr>
          <p:cNvSpPr txBox="1">
            <a:spLocks/>
          </p:cNvSpPr>
          <p:nvPr/>
        </p:nvSpPr>
        <p:spPr>
          <a:xfrm>
            <a:off x="149998" y="5348955"/>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What is iPaaS? Guide to Integration Platform as a Service</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CBE65028-5A1C-8020-4F88-9AAC9AA71D58}"/>
              </a:ext>
            </a:extLst>
          </p:cNvPr>
          <p:cNvPicPr>
            <a:picLocks noChangeAspect="1"/>
          </p:cNvPicPr>
          <p:nvPr/>
        </p:nvPicPr>
        <p:blipFill>
          <a:blip r:embed="rId8"/>
          <a:stretch>
            <a:fillRect/>
          </a:stretch>
        </p:blipFill>
        <p:spPr>
          <a:xfrm>
            <a:off x="366662" y="1207532"/>
            <a:ext cx="8167737" cy="3669267"/>
          </a:xfrm>
          <a:prstGeom prst="rect">
            <a:avLst/>
          </a:prstGeom>
        </p:spPr>
      </p:pic>
    </p:spTree>
    <p:extLst>
      <p:ext uri="{BB962C8B-B14F-4D97-AF65-F5344CB8AC3E}">
        <p14:creationId xmlns:p14="http://schemas.microsoft.com/office/powerpoint/2010/main" val="102491122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06D116B2-6FAC-58AB-9231-42179F72312E}"/>
              </a:ext>
            </a:extLst>
          </p:cNvPr>
          <p:cNvPicPr>
            <a:picLocks noChangeAspect="1"/>
          </p:cNvPicPr>
          <p:nvPr/>
        </p:nvPicPr>
        <p:blipFill>
          <a:blip r:embed="rId7"/>
          <a:stretch>
            <a:fillRect/>
          </a:stretch>
        </p:blipFill>
        <p:spPr>
          <a:xfrm>
            <a:off x="0" y="781821"/>
            <a:ext cx="9144000" cy="5127354"/>
          </a:xfrm>
          <a:prstGeom prst="rect">
            <a:avLst/>
          </a:prstGeom>
        </p:spPr>
      </p:pic>
    </p:spTree>
    <p:extLst>
      <p:ext uri="{BB962C8B-B14F-4D97-AF65-F5344CB8AC3E}">
        <p14:creationId xmlns:p14="http://schemas.microsoft.com/office/powerpoint/2010/main" val="19574470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381000" y="685800"/>
            <a:ext cx="8624937" cy="57861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1600" b="0" i="0" dirty="0">
                <a:effectLst/>
                <a:latin typeface="-apple-system"/>
              </a:rPr>
              <a:t> </a:t>
            </a:r>
            <a:r>
              <a:rPr lang="en-IN" sz="1600" kern="0" spc="-80" dirty="0">
                <a:solidFill>
                  <a:schemeClr val="accent6"/>
                </a:solidFill>
              </a:rPr>
              <a:t>𝗠𝗩𝗖 (𝗠𝗼𝗱𝗲𝗹-𝗩𝗶𝗲𝘄-𝗖𝗼𝗻𝘁𝗿𝗼𝗹𝗹𝗲𝗿): </a:t>
            </a:r>
          </a:p>
          <a:p>
            <a:pPr marL="12700" marR="5080"/>
            <a:r>
              <a:rPr lang="en-IN" sz="1600" kern="0" spc="-80" dirty="0">
                <a:solidFill>
                  <a:schemeClr val="accent6"/>
                </a:solidFill>
              </a:rPr>
              <a:t>  - Classic pattern separating code into three layers:    </a:t>
            </a:r>
          </a:p>
          <a:p>
            <a:pPr marL="12700" marR="5080"/>
            <a:r>
              <a:rPr lang="en-IN" sz="1600" kern="0" spc="-80" dirty="0">
                <a:solidFill>
                  <a:schemeClr val="accent6"/>
                </a:solidFill>
              </a:rPr>
              <a:t>  - 𝗠𝗼𝗱𝗲𝗹: Data and business logic     </a:t>
            </a:r>
          </a:p>
          <a:p>
            <a:pPr marL="12700" marR="5080"/>
            <a:r>
              <a:rPr lang="en-IN" sz="1600" kern="0" spc="-80" dirty="0">
                <a:solidFill>
                  <a:schemeClr val="accent6"/>
                </a:solidFill>
              </a:rPr>
              <a:t>  - 𝗩𝗶𝗲𝘄: Presentation of data to the user     </a:t>
            </a:r>
          </a:p>
          <a:p>
            <a:pPr marL="12700" marR="5080"/>
            <a:r>
              <a:rPr lang="en-IN" sz="1600" kern="0" spc="-80" dirty="0">
                <a:solidFill>
                  <a:schemeClr val="accent6"/>
                </a:solidFill>
              </a:rPr>
              <a:t>  - 𝗖𝗼𝗻𝘁𝗿𝗼𝗹𝗹𝗲𝗿: Handles user input and updates model/view - Simple and familiar,  but can lead to tightly coupled components in complex applications.</a:t>
            </a:r>
          </a:p>
          <a:p>
            <a:pPr marL="12700" marR="5080"/>
            <a:r>
              <a:rPr lang="en-IN" sz="1600" kern="0" spc="-80" dirty="0">
                <a:solidFill>
                  <a:schemeClr val="accent6"/>
                </a:solidFill>
              </a:rPr>
              <a:t>  </a:t>
            </a:r>
            <a:r>
              <a:rPr lang="en-IN" sz="1600" kern="0" spc="-80" dirty="0">
                <a:solidFill>
                  <a:schemeClr val="accent1"/>
                </a:solidFill>
              </a:rPr>
              <a:t> - Can be used for normal Web based MVC Apps(e.g. ASP.NET MVC)</a:t>
            </a:r>
          </a:p>
          <a:p>
            <a:pPr marL="12700" marR="5080"/>
            <a:endParaRPr lang="en-IN" sz="1600" kern="0" spc="-80" dirty="0">
              <a:solidFill>
                <a:schemeClr val="accent1"/>
              </a:solidFill>
            </a:endParaRPr>
          </a:p>
          <a:p>
            <a:pPr marL="12700" marR="5080"/>
            <a:r>
              <a:rPr lang="en-IN" sz="1600" kern="0" spc="-80" dirty="0">
                <a:solidFill>
                  <a:schemeClr val="accent6"/>
                </a:solidFill>
              </a:rPr>
              <a:t> 𝗠𝗩𝗣 (𝗠𝗼𝗱𝗲𝗹-𝗩𝗶𝗲𝘄-𝗣𝗿𝗲𝘀𝗲𝗻𝘁𝗲𝗿): </a:t>
            </a:r>
          </a:p>
          <a:p>
            <a:pPr marL="12700" marR="5080"/>
            <a:r>
              <a:rPr lang="en-IN" sz="1600" kern="0" spc="-80" dirty="0">
                <a:solidFill>
                  <a:schemeClr val="accent6"/>
                </a:solidFill>
              </a:rPr>
              <a:t>  - Introduces a Presenter to mediate between view and model.</a:t>
            </a:r>
          </a:p>
          <a:p>
            <a:pPr marL="12700" marR="5080"/>
            <a:r>
              <a:rPr lang="en-IN" sz="1600" kern="0" spc="-80" dirty="0">
                <a:solidFill>
                  <a:schemeClr val="accent6"/>
                </a:solidFill>
              </a:rPr>
              <a:t>  - Improves separation of concerns and testability. </a:t>
            </a:r>
          </a:p>
          <a:p>
            <a:pPr marL="12700" marR="5080"/>
            <a:r>
              <a:rPr lang="en-IN" sz="1600" kern="0" spc="-80" dirty="0">
                <a:solidFill>
                  <a:schemeClr val="accent6"/>
                </a:solidFill>
              </a:rPr>
              <a:t>  - Requires additional boilerplate code compared to MVC. </a:t>
            </a:r>
          </a:p>
          <a:p>
            <a:pPr marL="12700" marR="5080"/>
            <a:r>
              <a:rPr lang="en-IN" sz="1600" kern="0" spc="-80" dirty="0">
                <a:solidFill>
                  <a:schemeClr val="accent1"/>
                </a:solidFill>
              </a:rPr>
              <a:t>  - Can be used for </a:t>
            </a:r>
            <a:r>
              <a:rPr lang="en-IN" sz="1600" kern="0" spc="-80" dirty="0" err="1">
                <a:solidFill>
                  <a:schemeClr val="accent1"/>
                </a:solidFill>
              </a:rPr>
              <a:t>Winforms</a:t>
            </a:r>
            <a:r>
              <a:rPr lang="en-IN" sz="1600" kern="0" spc="-80" dirty="0">
                <a:solidFill>
                  <a:schemeClr val="accent1"/>
                </a:solidFill>
              </a:rPr>
              <a:t> based Apps</a:t>
            </a:r>
          </a:p>
          <a:p>
            <a:pPr marL="12700" marR="5080"/>
            <a:endParaRPr lang="en-IN" sz="1600" kern="0" spc="-80" dirty="0">
              <a:solidFill>
                <a:schemeClr val="accent1"/>
              </a:solidFill>
            </a:endParaRPr>
          </a:p>
          <a:p>
            <a:pPr marL="12700" marR="5080"/>
            <a:r>
              <a:rPr lang="en-IN" sz="1600" kern="0" spc="-80" dirty="0">
                <a:solidFill>
                  <a:schemeClr val="accent6"/>
                </a:solidFill>
              </a:rPr>
              <a:t> 𝗠𝗩𝗜 (𝗠𝗼𝗱𝗲𝗹-𝗩𝗶𝗲𝘄-𝗜𝗻𝘁𝗲𝗻𝘁): </a:t>
            </a:r>
          </a:p>
          <a:p>
            <a:pPr marL="12700" marR="5080"/>
            <a:r>
              <a:rPr lang="en-IN" sz="1600" kern="0" spc="-80" dirty="0">
                <a:solidFill>
                  <a:schemeClr val="accent6"/>
                </a:solidFill>
              </a:rPr>
              <a:t>  - Built for reactive programming. </a:t>
            </a:r>
          </a:p>
          <a:p>
            <a:pPr marL="12700" marR="5080"/>
            <a:r>
              <a:rPr lang="en-IN" sz="1600" kern="0" spc="-80" dirty="0">
                <a:solidFill>
                  <a:schemeClr val="accent6"/>
                </a:solidFill>
              </a:rPr>
              <a:t>  - View emits intents, handled by the model, updating state and view. </a:t>
            </a:r>
          </a:p>
          <a:p>
            <a:pPr marL="12700" marR="5080"/>
            <a:r>
              <a:rPr lang="en-IN" sz="1600" kern="0" spc="-80" dirty="0">
                <a:solidFill>
                  <a:schemeClr val="accent6"/>
                </a:solidFill>
              </a:rPr>
              <a:t>  - Promotes unidirectional data flow and simplifies UI logic. </a:t>
            </a:r>
          </a:p>
          <a:p>
            <a:pPr marL="12700" marR="5080"/>
            <a:r>
              <a:rPr lang="en-IN" sz="1600" kern="0" spc="-80" dirty="0">
                <a:solidFill>
                  <a:schemeClr val="accent6"/>
                </a:solidFill>
              </a:rPr>
              <a:t>  - May require a steeper learning curve. </a:t>
            </a:r>
          </a:p>
          <a:p>
            <a:pPr marL="12700" marR="5080"/>
            <a:r>
              <a:rPr lang="en-IN" sz="1600" kern="0" spc="-80" dirty="0">
                <a:solidFill>
                  <a:schemeClr val="accent1"/>
                </a:solidFill>
              </a:rPr>
              <a:t>  - Can be used for normal SPA based Web Apps</a:t>
            </a:r>
          </a:p>
          <a:p>
            <a:pPr marL="12700" marR="5080"/>
            <a:endParaRPr lang="en-IN" sz="1600" kern="0" spc="-80" dirty="0">
              <a:solidFill>
                <a:schemeClr val="accent6"/>
              </a:solidFill>
            </a:endParaRPr>
          </a:p>
          <a:p>
            <a:pPr marL="12700" marR="5080"/>
            <a:r>
              <a:rPr lang="en-IN" sz="1600" kern="0" spc="-80" dirty="0">
                <a:solidFill>
                  <a:schemeClr val="accent6"/>
                </a:solidFill>
              </a:rPr>
              <a:t> </a:t>
            </a:r>
            <a:endParaRPr lang="en-US" sz="1600" kern="0" spc="-80" dirty="0">
              <a:solidFill>
                <a:schemeClr val="accent6"/>
              </a:solidFill>
            </a:endParaRPr>
          </a:p>
        </p:txBody>
      </p:sp>
    </p:spTree>
    <p:extLst>
      <p:ext uri="{BB962C8B-B14F-4D97-AF65-F5344CB8AC3E}">
        <p14:creationId xmlns:p14="http://schemas.microsoft.com/office/powerpoint/2010/main" val="22962333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2400" kern="0" spc="-80" dirty="0">
                <a:solidFill>
                  <a:schemeClr val="accent6"/>
                </a:solidFill>
              </a:rPr>
              <a:t> </a:t>
            </a:r>
            <a:r>
              <a:rPr lang="en-IN" sz="1600" kern="0" spc="-80" dirty="0">
                <a:solidFill>
                  <a:schemeClr val="accent6"/>
                </a:solidFill>
              </a:rPr>
              <a:t>𝗠𝗩𝗩𝗠 (𝗠𝗼𝗱𝗲𝗹-𝗩𝗶𝗲𝘄-𝗩𝗶𝗲𝘄𝗠𝗼𝗱𝗲𝗹): </a:t>
            </a:r>
          </a:p>
          <a:p>
            <a:pPr marL="12700" marR="5080"/>
            <a:r>
              <a:rPr lang="en-IN" sz="1600" kern="0" spc="-80" dirty="0">
                <a:solidFill>
                  <a:schemeClr val="accent6"/>
                </a:solidFill>
              </a:rPr>
              <a:t>  - View binds to a </a:t>
            </a:r>
            <a:r>
              <a:rPr lang="en-IN" sz="1600" kern="0" spc="-80" dirty="0" err="1">
                <a:solidFill>
                  <a:schemeClr val="accent6"/>
                </a:solidFill>
              </a:rPr>
              <a:t>ViewModel</a:t>
            </a:r>
            <a:r>
              <a:rPr lang="en-IN" sz="1600" kern="0" spc="-80" dirty="0">
                <a:solidFill>
                  <a:schemeClr val="accent6"/>
                </a:solidFill>
              </a:rPr>
              <a:t> holding data and display logic. </a:t>
            </a:r>
          </a:p>
          <a:p>
            <a:pPr marL="12700" marR="5080"/>
            <a:r>
              <a:rPr lang="en-IN" sz="1600" kern="0" spc="-80" dirty="0">
                <a:solidFill>
                  <a:schemeClr val="accent6"/>
                </a:solidFill>
              </a:rPr>
              <a:t>  - </a:t>
            </a:r>
            <a:r>
              <a:rPr lang="en-IN" sz="1600" kern="0" spc="-80" dirty="0" err="1">
                <a:solidFill>
                  <a:schemeClr val="accent6"/>
                </a:solidFill>
              </a:rPr>
              <a:t>ViewModel</a:t>
            </a:r>
            <a:r>
              <a:rPr lang="en-IN" sz="1600" kern="0" spc="-80" dirty="0">
                <a:solidFill>
                  <a:schemeClr val="accent6"/>
                </a:solidFill>
              </a:rPr>
              <a:t> updates by the model, then updates the view. </a:t>
            </a:r>
          </a:p>
          <a:p>
            <a:pPr marL="12700" marR="5080"/>
            <a:r>
              <a:rPr lang="en-IN" sz="1600" kern="0" spc="-80" dirty="0">
                <a:solidFill>
                  <a:schemeClr val="accent6"/>
                </a:solidFill>
              </a:rPr>
              <a:t>  - Well-suited for reactive frameworks and complex UIs. </a:t>
            </a:r>
          </a:p>
          <a:p>
            <a:pPr marL="12700" marR="5080"/>
            <a:r>
              <a:rPr lang="en-IN" sz="1600" kern="0" spc="-80" dirty="0">
                <a:solidFill>
                  <a:schemeClr val="accent6"/>
                </a:solidFill>
              </a:rPr>
              <a:t>  - Requires additional </a:t>
            </a:r>
            <a:r>
              <a:rPr lang="en-IN" sz="1600" kern="0" spc="-80" dirty="0" err="1">
                <a:solidFill>
                  <a:schemeClr val="accent6"/>
                </a:solidFill>
              </a:rPr>
              <a:t>ViewModel</a:t>
            </a:r>
            <a:r>
              <a:rPr lang="en-IN" sz="1600" kern="0" spc="-80" dirty="0">
                <a:solidFill>
                  <a:schemeClr val="accent6"/>
                </a:solidFill>
              </a:rPr>
              <a:t> setup compared to MVP. </a:t>
            </a:r>
          </a:p>
          <a:p>
            <a:pPr marL="12700" marR="5080"/>
            <a:r>
              <a:rPr lang="en-IN" sz="1600" kern="0" spc="-80" dirty="0">
                <a:solidFill>
                  <a:schemeClr val="accent1"/>
                </a:solidFill>
              </a:rPr>
              <a:t>  - Can be used for WPF Apps &amp; Mobile Native Apps</a:t>
            </a:r>
          </a:p>
          <a:p>
            <a:pPr marL="12700" marR="5080"/>
            <a:endParaRPr lang="en-IN" sz="1600" kern="0" spc="-80" dirty="0">
              <a:solidFill>
                <a:schemeClr val="accent1"/>
              </a:solidFill>
            </a:endParaRPr>
          </a:p>
          <a:p>
            <a:pPr marL="12700" marR="5080"/>
            <a:r>
              <a:rPr lang="en-IN" sz="1600" b="0" i="0" dirty="0">
                <a:effectLst/>
                <a:latin typeface="-apple-system"/>
              </a:rPr>
              <a:t> </a:t>
            </a:r>
            <a:r>
              <a:rPr lang="en-IN" sz="1600" kern="0" spc="-80" dirty="0">
                <a:solidFill>
                  <a:schemeClr val="accent6"/>
                </a:solidFill>
              </a:rPr>
              <a:t> 𝗩𝗜𝗣𝗘𝗥 (𝗩𝗶𝗲𝘄, 𝗜𝗻𝘁𝗲𝗿𝗮𝗰𝘁𝗼𝗿, 𝗣𝗿𝗲𝘀𝗲𝗻𝘁𝗲𝗿, 𝗘𝗻𝘁𝗶𝘁𝘆, 𝗥𝗼𝘂𝘁𝗲𝗿): </a:t>
            </a:r>
          </a:p>
          <a:p>
            <a:pPr marL="12700" marR="5080"/>
            <a:r>
              <a:rPr lang="en-IN" sz="1600" kern="0" spc="-80" dirty="0">
                <a:solidFill>
                  <a:schemeClr val="accent6"/>
                </a:solidFill>
              </a:rPr>
              <a:t>   - Designed for large and complex applications. </a:t>
            </a:r>
          </a:p>
          <a:p>
            <a:pPr marL="12700" marR="5080"/>
            <a:r>
              <a:rPr lang="en-IN" sz="1600" kern="0" spc="-80" dirty="0">
                <a:solidFill>
                  <a:schemeClr val="accent6"/>
                </a:solidFill>
              </a:rPr>
              <a:t>   - Five layers: View, Interactor (business logic), Presenter (data preparation), Entity (data models), Router (data flow coordination). </a:t>
            </a:r>
          </a:p>
          <a:p>
            <a:pPr marL="12700" marR="5080"/>
            <a:r>
              <a:rPr lang="en-IN" sz="1600" kern="0" spc="-80" dirty="0">
                <a:solidFill>
                  <a:schemeClr val="accent6"/>
                </a:solidFill>
              </a:rPr>
              <a:t>   - Enhances modularity and maintainability for massive projects. </a:t>
            </a:r>
          </a:p>
          <a:p>
            <a:pPr marL="12700" marR="5080"/>
            <a:r>
              <a:rPr lang="en-IN" sz="1600" kern="0" spc="-80" dirty="0">
                <a:solidFill>
                  <a:schemeClr val="accent6"/>
                </a:solidFill>
              </a:rPr>
              <a:t>   - Requires meticulous planning and understanding due to its complexity.</a:t>
            </a:r>
          </a:p>
          <a:p>
            <a:pPr marL="12700" marR="5080"/>
            <a:r>
              <a:rPr lang="en-IN" sz="1600" kern="0" spc="-80" dirty="0">
                <a:solidFill>
                  <a:schemeClr val="accent1"/>
                </a:solidFill>
              </a:rPr>
              <a:t>   - Can be used for Real Time Web Apps(&amp; Mobile Native Apps &amp; Embedded Systems)</a:t>
            </a:r>
          </a:p>
          <a:p>
            <a:pPr marL="12700" marR="5080"/>
            <a:endParaRPr lang="en-IN" sz="1600" kern="0" spc="-80" dirty="0">
              <a:solidFill>
                <a:schemeClr val="accent1"/>
              </a:solidFill>
            </a:endParaRPr>
          </a:p>
        </p:txBody>
      </p:sp>
    </p:spTree>
    <p:extLst>
      <p:ext uri="{BB962C8B-B14F-4D97-AF65-F5344CB8AC3E}">
        <p14:creationId xmlns:p14="http://schemas.microsoft.com/office/powerpoint/2010/main" val="31658216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2400" kern="0" spc="-80" dirty="0">
                <a:solidFill>
                  <a:schemeClr val="accent6"/>
                </a:solidFill>
              </a:rPr>
              <a:t> 𝗖𝗵𝗼𝗼𝘀𝗶𝗻𝗴 𝘁𝗵𝗲 𝗥𝗶𝗴𝗵𝘁 𝗣𝗮𝘁𝘁𝗲𝗿𝗻: </a:t>
            </a:r>
          </a:p>
          <a:p>
            <a:pPr marL="12700" marR="5080"/>
            <a:r>
              <a:rPr lang="en-IN" sz="1600" kern="0" spc="-80" dirty="0">
                <a:solidFill>
                  <a:schemeClr val="accent6"/>
                </a:solidFill>
              </a:rPr>
              <a:t>  The optimal pattern depends on various factors, including: </a:t>
            </a:r>
          </a:p>
          <a:p>
            <a:pPr marL="12700" marR="5080"/>
            <a:r>
              <a:rPr lang="en-IN" sz="1600" kern="0" spc="-80" dirty="0">
                <a:solidFill>
                  <a:schemeClr val="accent6"/>
                </a:solidFill>
              </a:rPr>
              <a:t>    - 𝗣𝗿𝗼𝗷𝗲𝗰𝘁 𝘀𝗶𝘇𝗲 𝗮𝗻𝗱 𝗰𝗼𝗺𝗽𝗹𝗲𝘅𝗶𝘁𝘆: MVC/MVP for simple apps, MVI/MVVM for reactive apps, VIPER for large projects. </a:t>
            </a:r>
          </a:p>
          <a:p>
            <a:pPr marL="12700" marR="5080"/>
            <a:r>
              <a:rPr lang="en-IN" sz="1600" kern="0" spc="-80" dirty="0">
                <a:solidFill>
                  <a:schemeClr val="accent6"/>
                </a:solidFill>
              </a:rPr>
              <a:t>    - 𝗧𝗲𝗮𝗺 𝗲𝘅𝗽𝗲𝗿𝗶𝗲𝗻𝗰𝗲: Choose a pattern familiar to your team to avoid learning curves.</a:t>
            </a:r>
          </a:p>
          <a:p>
            <a:pPr marL="12700" marR="5080"/>
            <a:r>
              <a:rPr lang="en-IN" sz="1600" kern="0" spc="-80" dirty="0">
                <a:solidFill>
                  <a:schemeClr val="accent6"/>
                </a:solidFill>
              </a:rPr>
              <a:t>    - 𝗣𝗲𝗿𝘀𝗼𝗻𝗮𝗹 𝗽𝗿𝗲𝗳𝗲𝗿𝗲𝗻𝗰𝗲: Experiment and find what works best for you and your team.</a:t>
            </a:r>
          </a:p>
          <a:p>
            <a:pPr marL="12700" marR="5080"/>
            <a:endParaRPr lang="en-IN" sz="1600" kern="0" spc="-80" dirty="0">
              <a:solidFill>
                <a:schemeClr val="accent6"/>
              </a:solidFill>
            </a:endParaRPr>
          </a:p>
        </p:txBody>
      </p:sp>
      <p:sp>
        <p:nvSpPr>
          <p:cNvPr id="7" name="object 2">
            <a:extLst>
              <a:ext uri="{FF2B5EF4-FFF2-40B4-BE49-F238E27FC236}">
                <a16:creationId xmlns:a16="http://schemas.microsoft.com/office/drawing/2014/main" id="{DF2FF321-84F5-A6AC-317B-D3A2AFACD421}"/>
              </a:ext>
            </a:extLst>
          </p:cNvPr>
          <p:cNvSpPr txBox="1">
            <a:spLocks/>
          </p:cNvSpPr>
          <p:nvPr/>
        </p:nvSpPr>
        <p:spPr>
          <a:xfrm>
            <a:off x="19280" y="4974104"/>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a:t>
            </a:r>
          </a:p>
          <a:p>
            <a:pPr marL="12700" marR="5080"/>
            <a:r>
              <a:rPr lang="en-US" sz="1600" dirty="0">
                <a:hlinkClick r:id="rId7"/>
              </a:rPr>
              <a:t>MVVM-pattern-.NET-MAUI</a:t>
            </a:r>
            <a:endParaRPr lang="en-US" sz="1600" dirty="0"/>
          </a:p>
          <a:p>
            <a:pPr marL="12700" marR="5080"/>
            <a:r>
              <a:rPr lang="en-US" sz="1600" dirty="0" err="1">
                <a:hlinkClick r:id="rId8"/>
              </a:rPr>
              <a:t>Swift_VIPER_Demo</a:t>
            </a:r>
            <a:r>
              <a:rPr lang="en-US" sz="1600" dirty="0">
                <a:hlinkClick r:id="rId8"/>
              </a:rPr>
              <a:t>: A Sample App Demoing the VIPER Architecture Pattern</a:t>
            </a:r>
            <a:endParaRPr lang="en-US" sz="1600" dirty="0"/>
          </a:p>
          <a:p>
            <a:pPr marL="12700" marR="5080"/>
            <a:r>
              <a:rPr lang="en-US" sz="1600" dirty="0">
                <a:hlinkClick r:id="rId9"/>
              </a:rPr>
              <a:t>The-Book-of-VIPER</a:t>
            </a:r>
            <a:endParaRPr lang="en-US" sz="1500" kern="0" spc="-80" dirty="0">
              <a:solidFill>
                <a:schemeClr val="accent2"/>
              </a:solidFill>
            </a:endParaRPr>
          </a:p>
        </p:txBody>
      </p:sp>
    </p:spTree>
    <p:extLst>
      <p:ext uri="{BB962C8B-B14F-4D97-AF65-F5344CB8AC3E}">
        <p14:creationId xmlns:p14="http://schemas.microsoft.com/office/powerpoint/2010/main" val="37664401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Hexagonal Architecture –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Hexagonal Architecture - Awesome Software Architecture</a:t>
            </a:r>
            <a:r>
              <a:rPr lang="en-US" sz="1600" kern="0" spc="-80" dirty="0">
                <a:solidFill>
                  <a:schemeClr val="accent2"/>
                </a:solidFill>
              </a:rPr>
              <a:t>  </a:t>
            </a:r>
          </a:p>
        </p:txBody>
      </p:sp>
      <p:pic>
        <p:nvPicPr>
          <p:cNvPr id="1026" name="Picture 2">
            <a:extLst>
              <a:ext uri="{FF2B5EF4-FFF2-40B4-BE49-F238E27FC236}">
                <a16:creationId xmlns:a16="http://schemas.microsoft.com/office/drawing/2014/main" id="{643E1EBC-724D-B806-95EF-6427C20AA55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7369" y="1040346"/>
            <a:ext cx="8778031" cy="42412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1664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10387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Onion Architecture –</a:t>
            </a:r>
          </a:p>
          <a:p>
            <a:pPr marL="12700" marR="5080"/>
            <a:r>
              <a:rPr lang="en-US" sz="1450" kern="0" spc="-80" dirty="0">
                <a:solidFill>
                  <a:schemeClr val="accent6"/>
                </a:solidFill>
              </a:rPr>
              <a:t>Onion Architecture adds layers to the core of Hexagonal Architecture with the rule that each layer can only depend on more central layers, and the most central layer – the domain model – only depends on itself.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Onion Architecture - Awesome Software Architecture</a:t>
            </a:r>
            <a:endParaRPr lang="en-US" sz="1500" kern="0" spc="-80" dirty="0">
              <a:solidFill>
                <a:schemeClr val="accent2"/>
              </a:solidFill>
            </a:endParaRPr>
          </a:p>
        </p:txBody>
      </p:sp>
      <p:pic>
        <p:nvPicPr>
          <p:cNvPr id="4098" name="Picture 2" descr="Onion Architecture – @hgraca">
            <a:extLst>
              <a:ext uri="{FF2B5EF4-FFF2-40B4-BE49-F238E27FC236}">
                <a16:creationId xmlns:a16="http://schemas.microsoft.com/office/drawing/2014/main" id="{B0433093-D28A-294C-8ECF-EDB52534FFF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2900" y="2286000"/>
            <a:ext cx="7886700" cy="29865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9221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5924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Clean Architecture –</a:t>
            </a:r>
          </a:p>
          <a:p>
            <a:pPr marL="12700" marR="5080"/>
            <a:r>
              <a:rPr lang="en-US" sz="1450" kern="0" spc="-80" dirty="0">
                <a:solidFill>
                  <a:schemeClr val="accent6"/>
                </a:solidFill>
              </a:rPr>
              <a:t>Clean Architecture almost equates Onion Architecture with some equivalent alternate names.</a:t>
            </a:r>
          </a:p>
        </p:txBody>
      </p:sp>
      <p:pic>
        <p:nvPicPr>
          <p:cNvPr id="3074" name="Picture 2" descr="Choosing Between using Clean/Onion or Vertical Slice Architecture for  Enterprise Apps in .NET : r/dotnet">
            <a:extLst>
              <a:ext uri="{FF2B5EF4-FFF2-40B4-BE49-F238E27FC236}">
                <a16:creationId xmlns:a16="http://schemas.microsoft.com/office/drawing/2014/main" id="{A4294CBD-4BC9-DDCE-0AC6-9E9F17EEF2F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31500"/>
            <a:ext cx="7353300" cy="3697699"/>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7C37DC4B-7FEE-2D46-4FCB-1E24A5C5706A}"/>
              </a:ext>
            </a:extLst>
          </p:cNvPr>
          <p:cNvSpPr txBox="1">
            <a:spLocks/>
          </p:cNvSpPr>
          <p:nvPr/>
        </p:nvSpPr>
        <p:spPr>
          <a:xfrm>
            <a:off x="138063"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Pragmatic Clean Architecture | Milan Jovanović</a:t>
            </a:r>
            <a:endParaRPr lang="en-US" sz="1500" dirty="0"/>
          </a:p>
          <a:p>
            <a:pPr marL="12700" marR="5080"/>
            <a:r>
              <a:rPr lang="en-US" sz="1500" dirty="0">
                <a:hlinkClick r:id="rId9"/>
              </a:rPr>
              <a:t>Clean Architecture - Awesome Software Architecture</a:t>
            </a:r>
            <a:endParaRPr lang="en-US" sz="1500" dirty="0"/>
          </a:p>
          <a:p>
            <a:pPr marL="12700" marR="5080"/>
            <a:r>
              <a:rPr lang="en-IN" sz="1500" dirty="0">
                <a:hlinkClick r:id="rId10"/>
              </a:rPr>
              <a:t>Hexagonal vs Onion vs Clean Architecture | LinkedIn</a:t>
            </a:r>
            <a:endParaRPr lang="en-US" sz="1500" kern="0" spc="-80" dirty="0">
              <a:solidFill>
                <a:schemeClr val="accent2"/>
              </a:solidFill>
            </a:endParaRPr>
          </a:p>
        </p:txBody>
      </p:sp>
    </p:spTree>
    <p:extLst>
      <p:ext uri="{BB962C8B-B14F-4D97-AF65-F5344CB8AC3E}">
        <p14:creationId xmlns:p14="http://schemas.microsoft.com/office/powerpoint/2010/main" val="32900833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Vertical Slice Architecture –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1054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Vertical Slice Architecture</a:t>
            </a:r>
            <a:endParaRPr lang="en-IN" sz="1500" dirty="0"/>
          </a:p>
          <a:p>
            <a:pPr marL="12700" marR="5080"/>
            <a:r>
              <a:rPr lang="en-US" sz="1500" dirty="0">
                <a:hlinkClick r:id="rId8"/>
              </a:rPr>
              <a:t>Vertical Slice Architecture - Awesome Software Architecture</a:t>
            </a:r>
            <a:endParaRPr lang="en-US" sz="1500" kern="0" spc="-80" dirty="0">
              <a:solidFill>
                <a:schemeClr val="accent2"/>
              </a:solidFill>
            </a:endParaRPr>
          </a:p>
        </p:txBody>
      </p:sp>
      <p:pic>
        <p:nvPicPr>
          <p:cNvPr id="6146" name="Picture 2" descr="Software Architecture – Part 4: Vertical-Slice Architecture | For the love  of challenges :)">
            <a:extLst>
              <a:ext uri="{FF2B5EF4-FFF2-40B4-BE49-F238E27FC236}">
                <a16:creationId xmlns:a16="http://schemas.microsoft.com/office/drawing/2014/main" id="{48722137-028F-7F54-3EE3-E603E6A5D41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990600"/>
            <a:ext cx="8122017" cy="40946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743443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DDD(Domain Driven Design) Concepts –</a:t>
            </a:r>
            <a:br>
              <a:rPr lang="en-US" sz="2400" kern="0" spc="-80" dirty="0">
                <a:solidFill>
                  <a:schemeClr val="accent2"/>
                </a:solidFill>
              </a:rPr>
            </a:br>
            <a:r>
              <a:rPr lang="en-US" sz="1450" b="0" i="0" dirty="0">
                <a:effectLst/>
                <a:latin typeface="-apple-system"/>
              </a:rPr>
              <a:t>🔍 </a:t>
            </a:r>
            <a:r>
              <a:rPr lang="en-US" sz="1450" kern="0" spc="-80" dirty="0">
                <a:solidFill>
                  <a:schemeClr val="accent2"/>
                </a:solidFill>
              </a:rPr>
              <a:t>Understanding the Domain</a:t>
            </a:r>
            <a:r>
              <a:rPr lang="en-US" sz="1450" kern="0" spc="-80" dirty="0">
                <a:solidFill>
                  <a:schemeClr val="accent6"/>
                </a:solidFill>
              </a:rPr>
              <a:t>: At the heart of DDD is a deep dive into the business domain you're dealing with. It's all about comprehending the intricacies, rules, and intricacies of the problem space. </a:t>
            </a:r>
          </a:p>
          <a:p>
            <a:pPr marL="12700" marR="5080"/>
            <a:r>
              <a:rPr lang="en-US" sz="1450" kern="0" spc="-80" dirty="0">
                <a:solidFill>
                  <a:schemeClr val="accent6"/>
                </a:solidFill>
              </a:rPr>
              <a:t>🧩 </a:t>
            </a:r>
            <a:r>
              <a:rPr lang="en-US" sz="1450" kern="0" spc="-80" dirty="0">
                <a:solidFill>
                  <a:schemeClr val="accent2"/>
                </a:solidFill>
              </a:rPr>
              <a:t>Ubiquitous Language</a:t>
            </a:r>
            <a:r>
              <a:rPr lang="en-US" sz="1450" kern="0" spc="-80" dirty="0">
                <a:solidFill>
                  <a:schemeClr val="accent6"/>
                </a:solidFill>
              </a:rPr>
              <a:t>: DDD encourages the development of a common, shared language between developers and domain experts. This shared vocabulary ensures everyone is on the same page, fostering better collaboration. </a:t>
            </a:r>
          </a:p>
          <a:p>
            <a:pPr marL="12700" marR="5080"/>
            <a:r>
              <a:rPr lang="en-US" sz="1450" kern="0" spc="-80" dirty="0">
                <a:solidFill>
                  <a:schemeClr val="accent6"/>
                </a:solidFill>
              </a:rPr>
              <a:t>🏗️ </a:t>
            </a:r>
            <a:r>
              <a:rPr lang="en-US" sz="1450" kern="0" spc="-80" dirty="0">
                <a:solidFill>
                  <a:schemeClr val="accent2"/>
                </a:solidFill>
              </a:rPr>
              <a:t>Bounded Contexts</a:t>
            </a:r>
            <a:r>
              <a:rPr lang="en-US" sz="1450" kern="0" spc="-80" dirty="0">
                <a:solidFill>
                  <a:schemeClr val="accent6"/>
                </a:solidFill>
              </a:rPr>
              <a:t>: DDD suggests dividing complex systems into smaller, manageable "bounded contexts." These contexts have their own rules and definitions, providing a clean way to manage complexity. </a:t>
            </a:r>
          </a:p>
          <a:p>
            <a:pPr marL="12700" marR="5080"/>
            <a:r>
              <a:rPr lang="en-US" sz="1450" kern="0" spc="-80" dirty="0">
                <a:solidFill>
                  <a:schemeClr val="accent6"/>
                </a:solidFill>
              </a:rPr>
              <a:t>📦 </a:t>
            </a:r>
            <a:r>
              <a:rPr lang="en-US" sz="1450" kern="0" spc="-80" dirty="0">
                <a:solidFill>
                  <a:schemeClr val="accent2"/>
                </a:solidFill>
              </a:rPr>
              <a:t>Aggregates and Entities</a:t>
            </a:r>
            <a:r>
              <a:rPr lang="en-US" sz="1450" kern="0" spc="-80" dirty="0">
                <a:solidFill>
                  <a:schemeClr val="accent6"/>
                </a:solidFill>
              </a:rPr>
              <a:t>: DDD promotes modeling the domain using aggregates and entities, which encapsulate business rules and ensure data integrity. This helps create maintainable and understandable code. </a:t>
            </a:r>
          </a:p>
          <a:p>
            <a:pPr marL="12700" marR="5080"/>
            <a:r>
              <a:rPr lang="en-US" sz="1450" kern="0" spc="-80" dirty="0">
                <a:solidFill>
                  <a:schemeClr val="accent6"/>
                </a:solidFill>
              </a:rPr>
              <a:t>🛠️ </a:t>
            </a:r>
            <a:r>
              <a:rPr lang="en-US" sz="1450" kern="0" spc="-80" dirty="0">
                <a:solidFill>
                  <a:schemeClr val="accent2"/>
                </a:solidFill>
              </a:rPr>
              <a:t>Value Objects</a:t>
            </a:r>
            <a:r>
              <a:rPr lang="en-US" sz="1450" kern="0" spc="-80" dirty="0">
                <a:solidFill>
                  <a:schemeClr val="accent6"/>
                </a:solidFill>
              </a:rPr>
              <a:t>: Value objects, another DDD concept, represent immutable elements within the domain, such as currency, addresses, or date ranges. They promote simplicity and code reusability. </a:t>
            </a:r>
          </a:p>
          <a:p>
            <a:pPr marL="12700" marR="5080"/>
            <a:r>
              <a:rPr lang="en-US" sz="1450" kern="0" spc="-80" dirty="0">
                <a:solidFill>
                  <a:schemeClr val="accent6"/>
                </a:solidFill>
              </a:rPr>
              <a:t>🌌 </a:t>
            </a:r>
            <a:r>
              <a:rPr lang="en-US" sz="1450" kern="0" spc="-80" dirty="0">
                <a:solidFill>
                  <a:schemeClr val="accent2"/>
                </a:solidFill>
              </a:rPr>
              <a:t>Repositories</a:t>
            </a:r>
            <a:r>
              <a:rPr lang="en-US" sz="1450" kern="0" spc="-80" dirty="0">
                <a:solidFill>
                  <a:schemeClr val="accent6"/>
                </a:solidFill>
              </a:rPr>
              <a:t>: Repositories provide a way to access domain objects without exposing their underlying details. They are crucial for abstracting data access. </a:t>
            </a:r>
          </a:p>
          <a:p>
            <a:pPr marL="12700" marR="5080"/>
            <a:r>
              <a:rPr lang="en-US" sz="1450" kern="0" spc="-80" dirty="0">
                <a:solidFill>
                  <a:schemeClr val="accent6"/>
                </a:solidFill>
              </a:rPr>
              <a:t>🧬 </a:t>
            </a:r>
            <a:r>
              <a:rPr lang="en-US" sz="1450" kern="0" spc="-80" dirty="0">
                <a:solidFill>
                  <a:schemeClr val="accent2"/>
                </a:solidFill>
              </a:rPr>
              <a:t>Event-Driven Architecture:</a:t>
            </a:r>
            <a:r>
              <a:rPr lang="en-US" sz="1450" kern="0" spc="-80" dirty="0">
                <a:solidFill>
                  <a:schemeClr val="accent6"/>
                </a:solidFill>
              </a:rPr>
              <a:t> DDD aligns well with event-driven architectures, allowing systems to respond to domain events and changes. </a:t>
            </a:r>
          </a:p>
          <a:p>
            <a:pPr marL="12700" marR="5080"/>
            <a:endParaRPr lang="en-US" sz="1450" kern="0" spc="-80" dirty="0">
              <a:solidFill>
                <a:schemeClr val="accent6"/>
              </a:solidFill>
            </a:endParaRPr>
          </a:p>
          <a:p>
            <a:pPr marL="12700" marR="5080"/>
            <a:r>
              <a:rPr lang="en-US" sz="1500" kern="0" spc="-80" dirty="0">
                <a:solidFill>
                  <a:schemeClr val="accent2"/>
                </a:solidFill>
              </a:rPr>
              <a:t>For Further Exploration </a:t>
            </a:r>
            <a:r>
              <a:rPr lang="en-US" sz="1500" kern="0" spc="-80" dirty="0">
                <a:solidFill>
                  <a:schemeClr val="accent2"/>
                </a:solidFill>
                <a:hlinkClick r:id="rId7"/>
              </a:rPr>
              <a:t>–</a:t>
            </a:r>
            <a:r>
              <a:rPr lang="en-US" sz="1500" kern="0" spc="-80" dirty="0">
                <a:solidFill>
                  <a:schemeClr val="accent2"/>
                </a:solidFill>
              </a:rPr>
              <a:t> </a:t>
            </a:r>
          </a:p>
          <a:p>
            <a:pPr marL="12700" marR="5080"/>
            <a:r>
              <a:rPr lang="en-US" sz="1500" kern="0" spc="-80" dirty="0">
                <a:solidFill>
                  <a:schemeClr val="accent2"/>
                </a:solidFill>
              </a:rPr>
              <a:t> </a:t>
            </a:r>
            <a:r>
              <a:rPr lang="en-IN" sz="900" dirty="0">
                <a:hlinkClick r:id="rId8"/>
              </a:rPr>
              <a:t>Understanding Domain Objects, Entities, DTOs &amp; Models</a:t>
            </a:r>
            <a:endParaRPr lang="en-IN" sz="900" dirty="0"/>
          </a:p>
          <a:p>
            <a:pPr marL="12700" marR="5080"/>
            <a:r>
              <a:rPr lang="en-US" sz="900" kern="0" spc="-80" dirty="0">
                <a:solidFill>
                  <a:schemeClr val="accent2"/>
                </a:solidFill>
              </a:rPr>
              <a:t>  </a:t>
            </a:r>
            <a:r>
              <a:rPr lang="en-US" sz="900" dirty="0">
                <a:hlinkClick r:id="rId9"/>
              </a:rPr>
              <a:t>Domain Driven Design - Awesome Software Architecture</a:t>
            </a:r>
            <a:endParaRPr lang="en-US" sz="900" dirty="0"/>
          </a:p>
          <a:p>
            <a:pPr marL="12700" marR="5080"/>
            <a:r>
              <a:rPr lang="en-US" sz="900" kern="0" spc="-80" dirty="0">
                <a:solidFill>
                  <a:schemeClr val="accent2"/>
                </a:solidFill>
              </a:rPr>
              <a:t>  </a:t>
            </a:r>
            <a:r>
              <a:rPr lang="en-US" sz="900" dirty="0">
                <a:hlinkClick r:id="rId7"/>
              </a:rPr>
              <a:t>DDD-Based-Enterprise-Application-Framework: A Domain Driven Design Based Enterprise Application Framework</a:t>
            </a:r>
            <a:endParaRPr lang="en-US" sz="900" kern="0" spc="-80" dirty="0">
              <a:solidFill>
                <a:schemeClr val="accent2"/>
              </a:solidFill>
            </a:endParaRPr>
          </a:p>
          <a:p>
            <a:pPr marL="12700" marR="5080"/>
            <a:r>
              <a:rPr lang="en-US" sz="900" kern="0" spc="-80" dirty="0">
                <a:solidFill>
                  <a:schemeClr val="accent6"/>
                </a:solidFill>
              </a:rPr>
              <a:t>  </a:t>
            </a:r>
            <a:r>
              <a:rPr lang="en-US" sz="900" dirty="0">
                <a:hlinkClick r:id="rId10"/>
              </a:rPr>
              <a:t>Event Driven Architecture - Awesome Software Architecture</a:t>
            </a:r>
            <a:endParaRPr lang="en-US" sz="900" kern="0" spc="-80" dirty="0">
              <a:solidFill>
                <a:schemeClr val="accent6"/>
              </a:solidFill>
            </a:endParaRPr>
          </a:p>
        </p:txBody>
      </p:sp>
    </p:spTree>
    <p:extLst>
      <p:ext uri="{BB962C8B-B14F-4D97-AF65-F5344CB8AC3E}">
        <p14:creationId xmlns:p14="http://schemas.microsoft.com/office/powerpoint/2010/main" val="176933912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CQRS(Command Query Responsibility Segregation) - </a:t>
            </a:r>
            <a:endParaRPr lang="en-US" sz="1500" kern="0" spc="-80" dirty="0">
              <a:solidFill>
                <a:schemeClr val="accent2"/>
              </a:solidFill>
            </a:endParaRPr>
          </a:p>
        </p:txBody>
      </p:sp>
      <p:pic>
        <p:nvPicPr>
          <p:cNvPr id="1026" name="Picture 2" descr="Diagram showing a high level Simplified CQRS and DDD microservice.">
            <a:extLst>
              <a:ext uri="{FF2B5EF4-FFF2-40B4-BE49-F238E27FC236}">
                <a16:creationId xmlns:a16="http://schemas.microsoft.com/office/drawing/2014/main" id="{D2CBAE6F-8289-1A0A-4597-C2F33200803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60"/>
            <a:ext cx="9144000" cy="4079840"/>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24ED3F65-21EF-EC62-DC6D-B04DD06731DD}"/>
              </a:ext>
            </a:extLst>
          </p:cNvPr>
          <p:cNvSpPr txBox="1">
            <a:spLocks/>
          </p:cNvSpPr>
          <p:nvPr/>
        </p:nvSpPr>
        <p:spPr>
          <a:xfrm>
            <a:off x="7620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Applying simplified CQRS and DDD patterns in a microservice - .NET | Microsoft Learn</a:t>
            </a:r>
            <a:endParaRPr lang="en-US" sz="1500" dirty="0"/>
          </a:p>
          <a:p>
            <a:pPr marL="12700" marR="5080"/>
            <a:r>
              <a:rPr lang="en-IN" sz="1500" dirty="0">
                <a:hlinkClick r:id="rId9"/>
              </a:rPr>
              <a:t>CQRS - Awesome Software Architecture</a:t>
            </a:r>
            <a:endParaRPr lang="en-US" sz="1500" kern="0" spc="-80" dirty="0">
              <a:solidFill>
                <a:schemeClr val="accent2"/>
              </a:solidFill>
            </a:endParaRPr>
          </a:p>
        </p:txBody>
      </p:sp>
    </p:spTree>
    <p:extLst>
      <p:ext uri="{BB962C8B-B14F-4D97-AF65-F5344CB8AC3E}">
        <p14:creationId xmlns:p14="http://schemas.microsoft.com/office/powerpoint/2010/main" val="1522126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Event Storming vs Event Sourcing - </a:t>
            </a:r>
            <a:endParaRPr lang="en-US" sz="1500" kern="0" spc="-80" dirty="0">
              <a:solidFill>
                <a:schemeClr val="accent2"/>
              </a:solidFill>
            </a:endParaRPr>
          </a:p>
        </p:txBody>
      </p:sp>
      <p:pic>
        <p:nvPicPr>
          <p:cNvPr id="2052" name="Picture 4" descr="Event Sourcing vs Stream Processing: Progressing to Real-Time Streams">
            <a:extLst>
              <a:ext uri="{FF2B5EF4-FFF2-40B4-BE49-F238E27FC236}">
                <a16:creationId xmlns:a16="http://schemas.microsoft.com/office/drawing/2014/main" id="{2B24D483-F2BE-9B5D-1B82-92CFD2C6DAB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010774"/>
            <a:ext cx="7620000" cy="40184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EE502F46-797E-EEA4-FA0F-25B7CCA3B55D}"/>
              </a:ext>
            </a:extLst>
          </p:cNvPr>
          <p:cNvSpPr txBox="1">
            <a:spLocks/>
          </p:cNvSpPr>
          <p:nvPr/>
        </p:nvSpPr>
        <p:spPr>
          <a:xfrm>
            <a:off x="137369" y="50292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Event Storming - Awesome Software Architecture</a:t>
            </a:r>
            <a:r>
              <a:rPr lang="en-US" sz="1500" kern="0" spc="-80" dirty="0">
                <a:solidFill>
                  <a:schemeClr val="accent2"/>
                </a:solidFill>
              </a:rPr>
              <a:t> </a:t>
            </a:r>
          </a:p>
          <a:p>
            <a:pPr marL="12700" marR="5080"/>
            <a:r>
              <a:rPr lang="en-US" sz="1500" kern="0" spc="-80" dirty="0">
                <a:solidFill>
                  <a:schemeClr val="accent2"/>
                </a:solidFill>
                <a:hlinkClick r:id="rId9"/>
              </a:rPr>
              <a:t> </a:t>
            </a:r>
            <a:r>
              <a:rPr lang="en-US" sz="1500" dirty="0">
                <a:hlinkClick r:id="rId9"/>
              </a:rPr>
              <a:t>Event Sourcing - Awesome Software Architecture</a:t>
            </a:r>
            <a:r>
              <a:rPr lang="en-US" sz="1600" kern="0" spc="-80" dirty="0">
                <a:solidFill>
                  <a:schemeClr val="accent2"/>
                </a:solidFill>
              </a:rPr>
              <a:t> </a:t>
            </a:r>
          </a:p>
        </p:txBody>
      </p:sp>
    </p:spTree>
    <p:extLst>
      <p:ext uri="{BB962C8B-B14F-4D97-AF65-F5344CB8AC3E}">
        <p14:creationId xmlns:p14="http://schemas.microsoft.com/office/powerpoint/2010/main" val="214304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854231" cy="25083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2400" kern="0" spc="-80" dirty="0">
                <a:solidFill>
                  <a:schemeClr val="accent2"/>
                </a:solidFill>
              </a:rPr>
              <a:t>For Further Exploration(some are legacy/old patterns though) – </a:t>
            </a:r>
          </a:p>
          <a:p>
            <a:pPr marL="12700" marR="5080"/>
            <a:r>
              <a:rPr lang="en-IN" sz="2400" kern="0" spc="-80" dirty="0">
                <a:solidFill>
                  <a:schemeClr val="accent2"/>
                </a:solidFill>
              </a:rPr>
              <a:t> </a:t>
            </a:r>
            <a:r>
              <a:rPr lang="en-US" sz="1500" dirty="0">
                <a:hlinkClick r:id="rId7"/>
              </a:rPr>
              <a:t>Catalog of Patterns of Enterprise Application Architecture</a:t>
            </a:r>
            <a:r>
              <a:rPr lang="en-IN" sz="1500" kern="0" spc="-80" dirty="0">
                <a:solidFill>
                  <a:schemeClr val="accent2"/>
                </a:solidFill>
              </a:rPr>
              <a:t> </a:t>
            </a:r>
          </a:p>
          <a:p>
            <a:pPr marL="12700" marR="5080"/>
            <a:endParaRPr lang="en-IN" sz="1500" kern="0" spc="-80" dirty="0">
              <a:solidFill>
                <a:schemeClr val="accent2"/>
              </a:solidFill>
            </a:endParaRPr>
          </a:p>
          <a:p>
            <a:pPr marL="12700" marR="5080"/>
            <a:r>
              <a:rPr lang="en-IN" sz="1500" kern="0" spc="-80" dirty="0">
                <a:solidFill>
                  <a:schemeClr val="accent2"/>
                </a:solidFill>
              </a:rPr>
              <a:t>  </a:t>
            </a:r>
            <a:r>
              <a:rPr lang="en-IN" sz="1500" dirty="0">
                <a:hlinkClick r:id="rId8"/>
              </a:rPr>
              <a:t>Martin Fowler: </a:t>
            </a:r>
            <a:r>
              <a:rPr lang="en-IN" sz="1500" dirty="0" err="1">
                <a:hlinkClick r:id="rId8"/>
              </a:rPr>
              <a:t>eaaDev</a:t>
            </a:r>
            <a:r>
              <a:rPr lang="en-IN" sz="1500" kern="0" spc="-80" dirty="0">
                <a:solidFill>
                  <a:schemeClr val="accent2"/>
                </a:solidFill>
              </a:rPr>
              <a:t> </a:t>
            </a:r>
          </a:p>
          <a:p>
            <a:pPr marL="12700" marR="5080"/>
            <a:endParaRPr lang="en-IN" sz="1500" kern="0" spc="-80" dirty="0">
              <a:solidFill>
                <a:schemeClr val="accent2"/>
              </a:solidFill>
            </a:endParaRPr>
          </a:p>
          <a:p>
            <a:pPr marL="12700" marR="5080"/>
            <a:r>
              <a:rPr lang="en-IN" sz="1500" kern="0" spc="-80" dirty="0">
                <a:solidFill>
                  <a:schemeClr val="accent2"/>
                </a:solidFill>
              </a:rPr>
              <a:t>  </a:t>
            </a:r>
            <a:r>
              <a:rPr lang="en-IN" sz="1500" dirty="0">
                <a:hlinkClick r:id="rId9"/>
              </a:rPr>
              <a:t>Core J2EE Patterns</a:t>
            </a:r>
            <a:endParaRPr lang="en-IN" sz="1500" dirty="0"/>
          </a:p>
          <a:p>
            <a:pPr marL="12700" marR="5080"/>
            <a:endParaRPr lang="en-IN" sz="1500" kern="0" spc="-80" dirty="0">
              <a:solidFill>
                <a:schemeClr val="accent2"/>
              </a:solidFill>
            </a:endParaRPr>
          </a:p>
          <a:p>
            <a:pPr marL="12700" marR="5080"/>
            <a:r>
              <a:rPr lang="en-IN" sz="1500" kern="0" spc="-80">
                <a:solidFill>
                  <a:schemeClr val="accent2"/>
                </a:solidFill>
              </a:rPr>
              <a:t>  </a:t>
            </a:r>
            <a:r>
              <a:rPr lang="en-IN" sz="1600">
                <a:hlinkClick r:id="rId10"/>
              </a:rPr>
              <a:t>.NET application architecture guides | .NET</a:t>
            </a:r>
            <a:r>
              <a:rPr lang="en-IN" sz="1600"/>
              <a:t> </a:t>
            </a:r>
            <a:endParaRPr lang="en-US" sz="1500" kern="0" spc="-80" dirty="0">
              <a:solidFill>
                <a:schemeClr val="accent2"/>
              </a:solidFill>
            </a:endParaRPr>
          </a:p>
        </p:txBody>
      </p:sp>
    </p:spTree>
    <p:extLst>
      <p:ext uri="{BB962C8B-B14F-4D97-AF65-F5344CB8AC3E}">
        <p14:creationId xmlns:p14="http://schemas.microsoft.com/office/powerpoint/2010/main" val="11731965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15628276"/>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D59599-FF81-59EA-AC89-252258F49DA2}"/>
              </a:ext>
            </a:extLst>
          </p:cNvPr>
          <p:cNvSpPr txBox="1">
            <a:spLocks/>
          </p:cNvSpPr>
          <p:nvPr/>
        </p:nvSpPr>
        <p:spPr>
          <a:xfrm>
            <a:off x="137369" y="4803085"/>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Microservices - Awesome Software Architecture</a:t>
            </a:r>
            <a:endParaRPr lang="en-IN" sz="1500" dirty="0"/>
          </a:p>
          <a:p>
            <a:pPr marL="12700" marR="5080"/>
            <a:r>
              <a:rPr lang="en-US" sz="1500" dirty="0">
                <a:hlinkClick r:id="rId8"/>
              </a:rPr>
              <a:t>Microservices vs APIs - Difference Between Modular Software Design Approaches - AWS</a:t>
            </a:r>
            <a:r>
              <a:rPr lang="en-US" sz="1500" kern="0" spc="-80" dirty="0">
                <a:solidFill>
                  <a:schemeClr val="accent2"/>
                </a:solidFill>
              </a:rPr>
              <a:t> </a:t>
            </a:r>
          </a:p>
          <a:p>
            <a:pPr marL="12700" marR="5080"/>
            <a:r>
              <a:rPr lang="en-US" sz="1500" dirty="0">
                <a:hlinkClick r:id="rId9"/>
              </a:rPr>
              <a:t>Microservices vs Service-Oriented Architecture by Mark Richards | Goodreads</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5F2C0B30-08EC-CE67-A445-2DD56DC6A608}"/>
              </a:ext>
            </a:extLst>
          </p:cNvPr>
          <p:cNvPicPr>
            <a:picLocks noChangeAspect="1"/>
          </p:cNvPicPr>
          <p:nvPr/>
        </p:nvPicPr>
        <p:blipFill>
          <a:blip r:embed="rId10"/>
          <a:stretch>
            <a:fillRect/>
          </a:stretch>
        </p:blipFill>
        <p:spPr>
          <a:xfrm>
            <a:off x="137369" y="838200"/>
            <a:ext cx="8716168" cy="3341177"/>
          </a:xfrm>
          <a:prstGeom prst="rect">
            <a:avLst/>
          </a:prstGeom>
        </p:spPr>
      </p:pic>
    </p:spTree>
    <p:extLst>
      <p:ext uri="{BB962C8B-B14F-4D97-AF65-F5344CB8AC3E}">
        <p14:creationId xmlns:p14="http://schemas.microsoft.com/office/powerpoint/2010/main" val="36969498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096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pic>
        <p:nvPicPr>
          <p:cNvPr id="12" name="Picture 11">
            <a:extLst>
              <a:ext uri="{FF2B5EF4-FFF2-40B4-BE49-F238E27FC236}">
                <a16:creationId xmlns:a16="http://schemas.microsoft.com/office/drawing/2014/main" id="{E6829A2F-CDBE-C240-260F-E8219AEC3B10}"/>
              </a:ext>
            </a:extLst>
          </p:cNvPr>
          <p:cNvPicPr>
            <a:picLocks noChangeAspect="1"/>
          </p:cNvPicPr>
          <p:nvPr/>
        </p:nvPicPr>
        <p:blipFill>
          <a:blip r:embed="rId2"/>
          <a:stretch>
            <a:fillRect/>
          </a:stretch>
        </p:blipFill>
        <p:spPr>
          <a:xfrm>
            <a:off x="0" y="953391"/>
            <a:ext cx="9144000" cy="4837809"/>
          </a:xfrm>
          <a:prstGeom prst="rect">
            <a:avLst/>
          </a:prstGeom>
        </p:spPr>
      </p:pic>
      <p:grpSp>
        <p:nvGrpSpPr>
          <p:cNvPr id="7" name="Group 6">
            <a:extLst>
              <a:ext uri="{FF2B5EF4-FFF2-40B4-BE49-F238E27FC236}">
                <a16:creationId xmlns:a16="http://schemas.microsoft.com/office/drawing/2014/main" id="{A510A04F-A463-E2D1-557F-8DCAF4799E90}"/>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D634618C-C184-5A97-9EF8-38D289D91B42}"/>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266DAC13-C99D-2EAF-1734-399A82299FAA}"/>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5196319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24DAA-E737-2017-E7C1-DBF52C03BE6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389601-D794-A296-7849-2B36B2D5DD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1C2CBA-FEA0-45F2-5767-24C7DA758B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160B4566-C4E1-D9A8-11B8-10DA493056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26C34E2-C713-7D5D-94A6-DC3DF0F4D526}"/>
              </a:ext>
            </a:extLst>
          </p:cNvPr>
          <p:cNvSpPr txBox="1">
            <a:spLocks/>
          </p:cNvSpPr>
          <p:nvPr/>
        </p:nvSpPr>
        <p:spPr>
          <a:xfrm>
            <a:off x="211157" y="55617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A339E548-A51C-D040-1809-A4230E5A86BA}"/>
              </a:ext>
            </a:extLst>
          </p:cNvPr>
          <p:cNvSpPr txBox="1">
            <a:spLocks/>
          </p:cNvSpPr>
          <p:nvPr/>
        </p:nvSpPr>
        <p:spPr>
          <a:xfrm>
            <a:off x="246043" y="875664"/>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800" dirty="0">
                <a:hlinkClick r:id="rId2"/>
              </a:rPr>
              <a:t>HTTP Requests, body vs param vs headers vs data - Stack Overflow</a:t>
            </a:r>
            <a:endParaRPr lang="en-US" sz="1800" kern="0" spc="-80" dirty="0">
              <a:solidFill>
                <a:schemeClr val="accent2"/>
              </a:solidFill>
            </a:endParaRPr>
          </a:p>
          <a:p>
            <a:pPr marL="12700" marR="5080"/>
            <a:r>
              <a:rPr lang="en-IN" sz="1800" dirty="0">
                <a:hlinkClick r:id="rId3"/>
              </a:rPr>
              <a:t>API Design Roadmap</a:t>
            </a:r>
            <a:endParaRPr lang="en-IN" sz="1800" dirty="0"/>
          </a:p>
          <a:p>
            <a:pPr marL="12700" marR="5080"/>
            <a:r>
              <a:rPr lang="en-IN" sz="1800" dirty="0">
                <a:hlinkClick r:id="rId4"/>
              </a:rPr>
              <a:t>Patterns for API Design</a:t>
            </a:r>
            <a:endParaRPr lang="en-IN" sz="1800" dirty="0"/>
          </a:p>
          <a:p>
            <a:pPr marL="12700" marR="5080"/>
            <a:r>
              <a:rPr lang="en-US" sz="1800" dirty="0">
                <a:hlinkClick r:id="rId5"/>
              </a:rPr>
              <a:t>Functional Error Handling in .NET With the Result Pattern</a:t>
            </a:r>
            <a:endParaRPr lang="en-US" sz="1800" dirty="0"/>
          </a:p>
          <a:p>
            <a:pPr marL="12700" marR="5080"/>
            <a:r>
              <a:rPr lang="en-IN" sz="1800" dirty="0">
                <a:hlinkClick r:id="rId6"/>
              </a:rPr>
              <a:t>Mastering API Architecture[Book]</a:t>
            </a:r>
            <a:endParaRPr lang="en-IN" sz="1800" dirty="0"/>
          </a:p>
          <a:p>
            <a:pPr marL="12700" marR="5080"/>
            <a:r>
              <a:rPr lang="en-US" sz="1800" dirty="0">
                <a:hlinkClick r:id="rId7"/>
              </a:rPr>
              <a:t>API Guidelines in the Wild | API Guidelines</a:t>
            </a:r>
            <a:endParaRPr lang="en-US" sz="1800" dirty="0"/>
          </a:p>
          <a:p>
            <a:pPr marL="12700" marR="5080"/>
            <a:r>
              <a:rPr lang="en-US" sz="1800" dirty="0">
                <a:hlinkClick r:id="rId8"/>
              </a:rPr>
              <a:t>REPR Pattern - For C# developers | </a:t>
            </a:r>
            <a:r>
              <a:rPr lang="en-US" sz="1800" dirty="0" err="1">
                <a:hlinkClick r:id="rId8"/>
              </a:rPr>
              <a:t>TheCodeMan</a:t>
            </a:r>
            <a:endParaRPr lang="en-IN" sz="1800" dirty="0"/>
          </a:p>
          <a:p>
            <a:pPr marL="12700" marR="5080"/>
            <a:r>
              <a:rPr lang="en-US" sz="1800" dirty="0">
                <a:hlinkClick r:id="rId9"/>
              </a:rPr>
              <a:t>Api-Design-Patterns-Notes</a:t>
            </a:r>
            <a:endParaRPr lang="en-US" sz="1800" dirty="0"/>
          </a:p>
          <a:p>
            <a:pPr marL="12700" marR="5080"/>
            <a:r>
              <a:rPr lang="en-IN" sz="1800" kern="0" spc="-80" dirty="0">
                <a:solidFill>
                  <a:schemeClr val="accent2"/>
                </a:solidFill>
                <a:hlinkClick r:id="rId10"/>
              </a:rPr>
              <a:t>Simone </a:t>
            </a:r>
            <a:r>
              <a:rPr lang="en-IN" sz="1800" kern="0" spc="-80" dirty="0" err="1">
                <a:solidFill>
                  <a:schemeClr val="accent2"/>
                </a:solidFill>
                <a:hlinkClick r:id="rId10"/>
              </a:rPr>
              <a:t>Chiaretta’s</a:t>
            </a:r>
            <a:r>
              <a:rPr lang="en-IN" sz="1800" kern="0" spc="-80" dirty="0">
                <a:solidFill>
                  <a:schemeClr val="accent2"/>
                </a:solidFill>
                <a:hlinkClick r:id="rId10"/>
              </a:rPr>
              <a:t> ASP.NET Books</a:t>
            </a:r>
            <a:r>
              <a:rPr lang="en-US" sz="1800" dirty="0">
                <a:hlinkClick r:id="rId10"/>
              </a:rPr>
              <a:t> | </a:t>
            </a:r>
            <a:r>
              <a:rPr lang="en-US" sz="1800" dirty="0" err="1">
                <a:hlinkClick r:id="rId10"/>
              </a:rPr>
              <a:t>Syncfusion</a:t>
            </a:r>
            <a:endParaRPr lang="en-US" sz="1800" kern="0" spc="-80" dirty="0">
              <a:solidFill>
                <a:schemeClr val="accent2"/>
              </a:solidFill>
            </a:endParaRPr>
          </a:p>
          <a:p>
            <a:pPr marL="12700" marR="5080"/>
            <a:r>
              <a:rPr lang="en-IN" sz="1800" dirty="0">
                <a:hlinkClick r:id="rId11"/>
              </a:rPr>
              <a:t>JSON Web Tokens - jwt.io</a:t>
            </a:r>
            <a:endParaRPr lang="en-US" sz="1800" kern="0" spc="-80" dirty="0">
              <a:solidFill>
                <a:schemeClr val="accent2"/>
              </a:solidFill>
            </a:endParaRPr>
          </a:p>
          <a:p>
            <a:pPr marL="12700" marR="5080"/>
            <a:r>
              <a:rPr lang="en-US" sz="1800" dirty="0">
                <a:hlinkClick r:id="rId12"/>
              </a:rPr>
              <a:t>Refit</a:t>
            </a:r>
            <a:endParaRPr lang="en-US" sz="1800" dirty="0"/>
          </a:p>
          <a:p>
            <a:pPr marL="12700" marR="5080"/>
            <a:r>
              <a:rPr lang="en-US" sz="1800" dirty="0">
                <a:hlinkClick r:id="rId13"/>
              </a:rPr>
              <a:t>Generate Refit interfaces from OpenAPI specifications using </a:t>
            </a:r>
            <a:r>
              <a:rPr lang="en-US" sz="1800" dirty="0" err="1">
                <a:hlinkClick r:id="rId13"/>
              </a:rPr>
              <a:t>Refitter</a:t>
            </a:r>
            <a:endParaRPr lang="en-US" sz="1800" dirty="0"/>
          </a:p>
          <a:p>
            <a:pPr marL="12700" marR="5080"/>
            <a:r>
              <a:rPr lang="en-US" sz="1800" dirty="0">
                <a:hlinkClick r:id="rId14"/>
              </a:rPr>
              <a:t>Refit Client using a dynamic base address - Stack Overflow</a:t>
            </a:r>
            <a:endParaRPr lang="en-US" sz="1800" kern="0" spc="-80" dirty="0">
              <a:solidFill>
                <a:schemeClr val="accent2"/>
              </a:solidFill>
            </a:endParaRPr>
          </a:p>
          <a:p>
            <a:pPr marL="12700" marR="5080"/>
            <a:r>
              <a:rPr lang="en-IN" sz="1800" dirty="0">
                <a:hlinkClick r:id="rId15"/>
              </a:rPr>
              <a:t>Richardson Maturity Model</a:t>
            </a:r>
            <a:endParaRPr lang="en-IN" sz="1800" dirty="0"/>
          </a:p>
          <a:p>
            <a:pPr marL="12700" marR="5080"/>
            <a:r>
              <a:rPr lang="en-US" sz="1800" dirty="0">
                <a:hlinkClick r:id="rId16"/>
              </a:rPr>
              <a:t>Implementing HATEOAS in ASP.NET Core Web API - Code Maze</a:t>
            </a:r>
            <a:endParaRPr lang="en-US" sz="1800" dirty="0"/>
          </a:p>
          <a:p>
            <a:pPr marL="12700" marR="5080"/>
            <a:r>
              <a:rPr lang="en-US" sz="1800" dirty="0">
                <a:hlinkClick r:id="rId17"/>
              </a:rPr>
              <a:t>Difference Between Streaming and Downloading</a:t>
            </a:r>
            <a:endParaRPr lang="en-US" sz="1800" dirty="0"/>
          </a:p>
          <a:p>
            <a:pPr marL="12700" marR="5080"/>
            <a:r>
              <a:rPr lang="en-US" sz="1800" dirty="0">
                <a:hlinkClick r:id="rId18"/>
              </a:rPr>
              <a:t>What is http multipart request? - Stack Overflow</a:t>
            </a:r>
            <a:endParaRPr lang="en-US" sz="1800" dirty="0"/>
          </a:p>
          <a:p>
            <a:pPr marL="12700" marR="5080"/>
            <a:endParaRPr lang="en-US" sz="1800" kern="0" spc="-80" dirty="0">
              <a:solidFill>
                <a:schemeClr val="accent2"/>
              </a:solidFill>
            </a:endParaRPr>
          </a:p>
        </p:txBody>
      </p:sp>
      <p:grpSp>
        <p:nvGrpSpPr>
          <p:cNvPr id="7" name="Group 6">
            <a:extLst>
              <a:ext uri="{FF2B5EF4-FFF2-40B4-BE49-F238E27FC236}">
                <a16:creationId xmlns:a16="http://schemas.microsoft.com/office/drawing/2014/main" id="{2C5C251E-6C7E-8E80-2A47-02F6D6B73655}"/>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791CD731-8C5E-C435-1F70-819A26CBD255}"/>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E3361FC2-7033-C632-632E-72D199071C6C}"/>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487077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5267E-2EF5-4E50-6B14-0CE0621C4C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7D83DA-390D-E5B1-9EDF-521DDCB14D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F668E7-AE58-8029-7324-FCC986C2BB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72F7FF2A-8C11-9127-93E3-7E30539192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CB0108-36F7-E08A-8FA0-C6A160299E79}"/>
              </a:ext>
            </a:extLst>
          </p:cNvPr>
          <p:cNvSpPr txBox="1">
            <a:spLocks/>
          </p:cNvSpPr>
          <p:nvPr/>
        </p:nvSpPr>
        <p:spPr>
          <a:xfrm>
            <a:off x="211157" y="55617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3ECC8709-4729-0A3B-3D02-1876C6F51E95}"/>
              </a:ext>
            </a:extLst>
          </p:cNvPr>
          <p:cNvSpPr txBox="1">
            <a:spLocks/>
          </p:cNvSpPr>
          <p:nvPr/>
        </p:nvSpPr>
        <p:spPr>
          <a:xfrm>
            <a:off x="246043" y="875664"/>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 –</a:t>
            </a:r>
          </a:p>
          <a:p>
            <a:pPr marL="12700" marR="5080"/>
            <a:r>
              <a:rPr lang="en-US" sz="1600" dirty="0">
                <a:hlinkClick r:id="rId2"/>
              </a:rPr>
              <a:t>How to upload file to server with HTTP POST multipart/form-data</a:t>
            </a:r>
            <a:endParaRPr lang="en-US" sz="1600" dirty="0"/>
          </a:p>
          <a:p>
            <a:pPr marL="12700" marR="5080"/>
            <a:r>
              <a:rPr lang="en-US" sz="1600" dirty="0">
                <a:hlinkClick r:id="rId3"/>
              </a:rPr>
              <a:t>Multipart Downloading in C#? - Stack Overflow</a:t>
            </a:r>
            <a:endParaRPr lang="en-US" sz="1600" dirty="0"/>
          </a:p>
          <a:p>
            <a:pPr marL="12700" marR="5080"/>
            <a:r>
              <a:rPr lang="en-IN" sz="1800" dirty="0" err="1">
                <a:hlinkClick r:id="rId4"/>
              </a:rPr>
              <a:t>GraphQL</a:t>
            </a:r>
            <a:r>
              <a:rPr lang="en-IN" sz="1800" dirty="0">
                <a:hlinkClick r:id="rId4"/>
              </a:rPr>
              <a:t> Roadmap</a:t>
            </a:r>
            <a:endParaRPr lang="en-IN" sz="1800" dirty="0"/>
          </a:p>
          <a:p>
            <a:pPr marL="12700" marR="5080"/>
            <a:r>
              <a:rPr lang="en-US" sz="1800" dirty="0">
                <a:hlinkClick r:id="rId5"/>
              </a:rPr>
              <a:t>When to use </a:t>
            </a:r>
            <a:r>
              <a:rPr lang="en-US" sz="1800" dirty="0" err="1">
                <a:hlinkClick r:id="rId5"/>
              </a:rPr>
              <a:t>GraphQL</a:t>
            </a:r>
            <a:r>
              <a:rPr lang="en-US" sz="1800" dirty="0">
                <a:hlinkClick r:id="rId5"/>
              </a:rPr>
              <a:t>, </a:t>
            </a:r>
            <a:r>
              <a:rPr lang="en-US" sz="1800" dirty="0" err="1">
                <a:hlinkClick r:id="rId5"/>
              </a:rPr>
              <a:t>gRPC</a:t>
            </a:r>
            <a:r>
              <a:rPr lang="en-US" sz="1800" dirty="0">
                <a:hlinkClick r:id="rId5"/>
              </a:rPr>
              <a:t>, and REST?</a:t>
            </a:r>
            <a:endParaRPr lang="en-US" sz="1800" dirty="0"/>
          </a:p>
          <a:p>
            <a:pPr marL="12700" marR="5080"/>
            <a:r>
              <a:rPr lang="en-US" sz="1800" dirty="0">
                <a:hlinkClick r:id="rId6"/>
              </a:rPr>
              <a:t>Comparing </a:t>
            </a:r>
            <a:r>
              <a:rPr lang="en-US" sz="1800" dirty="0" err="1">
                <a:hlinkClick r:id="rId6"/>
              </a:rPr>
              <a:t>GraphQL</a:t>
            </a:r>
            <a:r>
              <a:rPr lang="en-US" sz="1800" dirty="0">
                <a:hlinkClick r:id="rId6"/>
              </a:rPr>
              <a:t> and OData: Which is Best and When</a:t>
            </a:r>
            <a:endParaRPr lang="en-US" sz="1800" dirty="0"/>
          </a:p>
          <a:p>
            <a:pPr marL="12700" marR="5080"/>
            <a:r>
              <a:rPr lang="en-IN" sz="1800" dirty="0" err="1">
                <a:hlinkClick r:id="rId7"/>
              </a:rPr>
              <a:t>GraphQL</a:t>
            </a:r>
            <a:r>
              <a:rPr lang="en-IN" sz="1800" dirty="0">
                <a:hlinkClick r:id="rId7"/>
              </a:rPr>
              <a:t> &amp; Under/Over Fetching Problems | LinkedIn</a:t>
            </a:r>
            <a:endParaRPr lang="en-IN" sz="1800" dirty="0"/>
          </a:p>
          <a:p>
            <a:pPr marL="12700" marR="5080"/>
            <a:r>
              <a:rPr lang="en-US" sz="1800" dirty="0">
                <a:hlinkClick r:id="rId8"/>
              </a:rPr>
              <a:t>Building Microservices Architecture Using </a:t>
            </a:r>
            <a:r>
              <a:rPr lang="en-US" sz="1800" dirty="0" err="1">
                <a:hlinkClick r:id="rId8"/>
              </a:rPr>
              <a:t>GraphQL</a:t>
            </a:r>
            <a:r>
              <a:rPr lang="en-US" sz="1800" dirty="0">
                <a:hlinkClick r:id="rId8"/>
              </a:rPr>
              <a:t> and ASP.NET 7 Core</a:t>
            </a:r>
            <a:endParaRPr lang="en-US" sz="1800" dirty="0"/>
          </a:p>
          <a:p>
            <a:pPr marL="12700" marR="5080"/>
            <a:r>
              <a:rPr lang="en-US" sz="1800" dirty="0">
                <a:hlinkClick r:id="rId9"/>
              </a:rPr>
              <a:t>Overview - Hot Chocolate v13 - </a:t>
            </a:r>
            <a:r>
              <a:rPr lang="en-US" sz="1800" dirty="0" err="1">
                <a:hlinkClick r:id="rId9"/>
              </a:rPr>
              <a:t>ChilliCream</a:t>
            </a:r>
            <a:r>
              <a:rPr lang="en-US" sz="1800" dirty="0">
                <a:hlinkClick r:id="rId9"/>
              </a:rPr>
              <a:t> </a:t>
            </a:r>
            <a:r>
              <a:rPr lang="en-US" sz="1800" dirty="0" err="1">
                <a:hlinkClick r:id="rId9"/>
              </a:rPr>
              <a:t>GraphQL</a:t>
            </a:r>
            <a:r>
              <a:rPr lang="en-US" sz="1800" dirty="0">
                <a:hlinkClick r:id="rId9"/>
              </a:rPr>
              <a:t> Platform</a:t>
            </a:r>
            <a:endParaRPr lang="en-US" sz="1800" dirty="0"/>
          </a:p>
          <a:p>
            <a:pPr marL="12700" marR="5080"/>
            <a:r>
              <a:rPr lang="en-IN" sz="1800" dirty="0">
                <a:hlinkClick r:id="rId10"/>
              </a:rPr>
              <a:t>Rest vs </a:t>
            </a:r>
            <a:r>
              <a:rPr lang="en-IN" sz="1800" dirty="0" err="1">
                <a:hlinkClick r:id="rId10"/>
              </a:rPr>
              <a:t>gRPC</a:t>
            </a:r>
            <a:r>
              <a:rPr lang="en-IN" sz="1800" dirty="0">
                <a:hlinkClick r:id="rId10"/>
              </a:rPr>
              <a:t> LinkedIn</a:t>
            </a:r>
            <a:endParaRPr lang="en-IN" sz="1800" dirty="0"/>
          </a:p>
          <a:p>
            <a:pPr marL="12700" marR="5080"/>
            <a:r>
              <a:rPr lang="en-US" sz="1800" dirty="0">
                <a:hlinkClick r:id="rId11"/>
              </a:rPr>
              <a:t>How to build </a:t>
            </a:r>
            <a:r>
              <a:rPr lang="en-US" sz="1800" dirty="0" err="1">
                <a:hlinkClick r:id="rId11"/>
              </a:rPr>
              <a:t>gRPC</a:t>
            </a:r>
            <a:r>
              <a:rPr lang="en-US" sz="1800" dirty="0">
                <a:hlinkClick r:id="rId11"/>
              </a:rPr>
              <a:t> applications in ASP.NET Core | InfoWorld</a:t>
            </a:r>
            <a:endParaRPr lang="en-US" sz="1800" dirty="0"/>
          </a:p>
          <a:p>
            <a:pPr marL="12700" marR="5080"/>
            <a:r>
              <a:rPr lang="en-US" sz="1800" dirty="0">
                <a:hlinkClick r:id="rId12"/>
              </a:rPr>
              <a:t>Microservices Communication in .NET Using </a:t>
            </a:r>
            <a:r>
              <a:rPr lang="en-US" sz="1800" dirty="0" err="1">
                <a:hlinkClick r:id="rId12"/>
              </a:rPr>
              <a:t>gRPC</a:t>
            </a:r>
            <a:endParaRPr lang="en-US" sz="1800" dirty="0"/>
          </a:p>
          <a:p>
            <a:pPr marL="12700" marR="5080"/>
            <a:r>
              <a:rPr lang="en-IN" sz="1800" dirty="0">
                <a:hlinkClick r:id="rId13"/>
              </a:rPr>
              <a:t>Enterprise API Management | Web Development | Print</a:t>
            </a:r>
            <a:endParaRPr lang="en-IN" sz="1800" dirty="0"/>
          </a:p>
          <a:p>
            <a:pPr marL="12700" marR="5080"/>
            <a:r>
              <a:rPr lang="en-US" sz="1800" dirty="0">
                <a:hlinkClick r:id="rId14"/>
              </a:rPr>
              <a:t>API Management: An Architect's Guide to Developing and Managing APIs for Your Organization | SpringerLink</a:t>
            </a:r>
            <a:endParaRPr lang="en-US" sz="1800" dirty="0"/>
          </a:p>
          <a:p>
            <a:pPr marL="12700" marR="5080"/>
            <a:r>
              <a:rPr lang="en-IN" sz="1800" dirty="0">
                <a:hlinkClick r:id="rId15"/>
              </a:rPr>
              <a:t>DFE-Digital/</a:t>
            </a:r>
            <a:r>
              <a:rPr lang="en-IN" sz="1800" dirty="0" err="1">
                <a:hlinkClick r:id="rId15"/>
              </a:rPr>
              <a:t>eapim</a:t>
            </a:r>
            <a:r>
              <a:rPr lang="en-IN" sz="1800" dirty="0">
                <a:hlinkClick r:id="rId15"/>
              </a:rPr>
              <a:t>-platform-</a:t>
            </a:r>
            <a:r>
              <a:rPr lang="en-IN" sz="1800" dirty="0" err="1">
                <a:hlinkClick r:id="rId15"/>
              </a:rPr>
              <a:t>api</a:t>
            </a:r>
            <a:endParaRPr lang="en-US" sz="1800" kern="0" spc="-80" dirty="0">
              <a:solidFill>
                <a:schemeClr val="accent2"/>
              </a:solidFill>
            </a:endParaRPr>
          </a:p>
        </p:txBody>
      </p:sp>
      <p:grpSp>
        <p:nvGrpSpPr>
          <p:cNvPr id="7" name="Group 6">
            <a:extLst>
              <a:ext uri="{FF2B5EF4-FFF2-40B4-BE49-F238E27FC236}">
                <a16:creationId xmlns:a16="http://schemas.microsoft.com/office/drawing/2014/main" id="{09AE930D-3CB0-8EF0-85E5-4E1EDCA61968}"/>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735F9D2F-2DAC-E743-C022-3E0B28C1124F}"/>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F486FB78-44F4-2990-D3D2-8BEA65A24AA6}"/>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3557954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OpenAPI</a:t>
            </a:r>
            <a:r>
              <a:rPr lang="en-US" sz="2400" kern="0" spc="-80" dirty="0">
                <a:solidFill>
                  <a:schemeClr val="accent2"/>
                </a:solidFill>
              </a:rPr>
              <a:t> – </a:t>
            </a:r>
            <a:r>
              <a:rPr lang="en-US" sz="2000" kern="0" spc="-80" dirty="0">
                <a:solidFill>
                  <a:schemeClr val="accent6"/>
                </a:solidFill>
              </a:rPr>
              <a:t>You can write an </a:t>
            </a:r>
            <a:r>
              <a:rPr lang="en-US" sz="2000" kern="0" spc="-80" dirty="0" err="1">
                <a:solidFill>
                  <a:schemeClr val="accent6"/>
                </a:solidFill>
              </a:rPr>
              <a:t>OpenAPI</a:t>
            </a:r>
            <a:r>
              <a:rPr lang="en-US" sz="2000" kern="0" spc="-80" dirty="0">
                <a:solidFill>
                  <a:schemeClr val="accent6"/>
                </a:solidFill>
              </a:rPr>
              <a:t>(Swagger) specification &amp; generate the code in your choice of language. This is called </a:t>
            </a:r>
            <a:r>
              <a:rPr lang="en-US" sz="2000" kern="0" spc="-80" dirty="0">
                <a:solidFill>
                  <a:schemeClr val="accent1"/>
                </a:solidFill>
              </a:rPr>
              <a:t>Contract(/API) First Development</a:t>
            </a:r>
            <a:r>
              <a:rPr lang="en-US" sz="2000" kern="0" spc="-80" dirty="0">
                <a:solidFill>
                  <a:schemeClr val="accent6"/>
                </a:solidFill>
              </a:rPr>
              <a:t>. Things can be done other way around as well. </a:t>
            </a:r>
          </a:p>
        </p:txBody>
      </p:sp>
      <p:pic>
        <p:nvPicPr>
          <p:cNvPr id="11266" name="Picture 2" descr="API Development with Design-first Approach">
            <a:extLst>
              <a:ext uri="{FF2B5EF4-FFF2-40B4-BE49-F238E27FC236}">
                <a16:creationId xmlns:a16="http://schemas.microsoft.com/office/drawing/2014/main" id="{F74CD852-A02F-4FB1-970D-196CD53474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369" y="1963676"/>
            <a:ext cx="8457506" cy="283692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8540CFCD-AB35-7FFA-6EC9-59DFC6F0E366}"/>
              </a:ext>
            </a:extLst>
          </p:cNvPr>
          <p:cNvSpPr txBox="1">
            <a:spLocks/>
          </p:cNvSpPr>
          <p:nvPr/>
        </p:nvSpPr>
        <p:spPr>
          <a:xfrm>
            <a:off x="53653" y="4687669"/>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00" dirty="0">
                <a:hlinkClick r:id="rId3"/>
              </a:rPr>
              <a:t>Contract-First API Development with </a:t>
            </a:r>
            <a:r>
              <a:rPr lang="en-US" sz="1000" dirty="0" err="1">
                <a:hlinkClick r:id="rId3"/>
              </a:rPr>
              <a:t>OpenAPI</a:t>
            </a:r>
            <a:r>
              <a:rPr lang="en-US" sz="1000" dirty="0">
                <a:hlinkClick r:id="rId3"/>
              </a:rPr>
              <a:t> Generator and </a:t>
            </a:r>
            <a:r>
              <a:rPr lang="en-US" sz="1000" dirty="0" err="1">
                <a:hlinkClick r:id="rId3"/>
              </a:rPr>
              <a:t>Connexion</a:t>
            </a:r>
            <a:r>
              <a:rPr lang="en-US" sz="1000" dirty="0">
                <a:hlinkClick r:id="rId3"/>
              </a:rPr>
              <a:t> | by </a:t>
            </a:r>
            <a:r>
              <a:rPr lang="en-US" sz="1000" dirty="0" err="1">
                <a:hlinkClick r:id="rId3"/>
              </a:rPr>
              <a:t>Anıl</a:t>
            </a:r>
            <a:r>
              <a:rPr lang="en-US" sz="1000" dirty="0">
                <a:hlinkClick r:id="rId3"/>
              </a:rPr>
              <a:t> Can </a:t>
            </a:r>
            <a:r>
              <a:rPr lang="en-US" sz="1000" dirty="0" err="1">
                <a:hlinkClick r:id="rId3"/>
              </a:rPr>
              <a:t>Aydın</a:t>
            </a:r>
            <a:r>
              <a:rPr lang="en-US" sz="1000" dirty="0">
                <a:hlinkClick r:id="rId3"/>
              </a:rPr>
              <a:t> | </a:t>
            </a:r>
            <a:r>
              <a:rPr lang="en-US" sz="1000" dirty="0" err="1">
                <a:hlinkClick r:id="rId3"/>
              </a:rPr>
              <a:t>Commencis</a:t>
            </a:r>
            <a:r>
              <a:rPr lang="en-US" sz="1000" dirty="0">
                <a:hlinkClick r:id="rId3"/>
              </a:rPr>
              <a:t> | Medium</a:t>
            </a:r>
            <a:endParaRPr lang="en-US" sz="1000" dirty="0"/>
          </a:p>
          <a:p>
            <a:pPr marL="12700" marR="5080"/>
            <a:r>
              <a:rPr lang="en-US" sz="1000" dirty="0" err="1">
                <a:hlinkClick r:id="rId4"/>
              </a:rPr>
              <a:t>OpenAPI.Tools</a:t>
            </a:r>
            <a:r>
              <a:rPr lang="en-US" sz="1000" dirty="0">
                <a:hlinkClick r:id="rId4"/>
              </a:rPr>
              <a:t> - an Open Source list of great tools for </a:t>
            </a:r>
            <a:r>
              <a:rPr lang="en-US" sz="1000" dirty="0" err="1">
                <a:hlinkClick r:id="rId4"/>
              </a:rPr>
              <a:t>OpenAPI</a:t>
            </a:r>
            <a:r>
              <a:rPr lang="en-US" sz="1000" dirty="0">
                <a:hlinkClick r:id="rId4"/>
              </a:rPr>
              <a:t>.</a:t>
            </a:r>
            <a:endParaRPr lang="en-US" sz="1000" dirty="0"/>
          </a:p>
          <a:p>
            <a:pPr marL="12700" marR="5080"/>
            <a:r>
              <a:rPr lang="en-IN" sz="1000" dirty="0">
                <a:hlinkClick r:id="rId5"/>
              </a:rPr>
              <a:t>Contract Testing in Action</a:t>
            </a:r>
            <a:endParaRPr lang="en-IN" sz="1000" dirty="0"/>
          </a:p>
          <a:p>
            <a:pPr marL="12700" marR="5080"/>
            <a:r>
              <a:rPr lang="en-US" sz="1000" dirty="0" err="1">
                <a:hlinkClick r:id="rId6"/>
              </a:rPr>
              <a:t>Swashbuckle.Examples</a:t>
            </a:r>
            <a:r>
              <a:rPr lang="en-US" sz="1000" dirty="0">
                <a:hlinkClick r:id="rId6"/>
              </a:rPr>
              <a:t>: Adds the [</a:t>
            </a:r>
            <a:r>
              <a:rPr lang="en-US" sz="1000" dirty="0" err="1">
                <a:hlinkClick r:id="rId6"/>
              </a:rPr>
              <a:t>SwaggerRequestExample</a:t>
            </a:r>
            <a:r>
              <a:rPr lang="en-US" sz="1000" dirty="0">
                <a:hlinkClick r:id="rId6"/>
              </a:rPr>
              <a:t>] and [</a:t>
            </a:r>
            <a:r>
              <a:rPr lang="en-US" sz="1000" dirty="0" err="1">
                <a:hlinkClick r:id="rId6"/>
              </a:rPr>
              <a:t>SwaggerResponseExample</a:t>
            </a:r>
            <a:r>
              <a:rPr lang="en-US" sz="1000" dirty="0">
                <a:hlinkClick r:id="rId6"/>
              </a:rPr>
              <a:t>] attributes to </a:t>
            </a:r>
            <a:r>
              <a:rPr lang="en-US" sz="1000" dirty="0" err="1">
                <a:hlinkClick r:id="rId6"/>
              </a:rPr>
              <a:t>Swashbuckle</a:t>
            </a:r>
            <a:endParaRPr lang="en-US" sz="1000" dirty="0"/>
          </a:p>
          <a:p>
            <a:pPr marL="12700" marR="5080"/>
            <a:r>
              <a:rPr lang="en-IN" sz="1000" dirty="0" err="1">
                <a:hlinkClick r:id="rId7"/>
              </a:rPr>
              <a:t>NSwag</a:t>
            </a:r>
            <a:r>
              <a:rPr lang="en-IN" sz="1000" dirty="0">
                <a:hlinkClick r:id="rId7"/>
              </a:rPr>
              <a:t>: The Swagger/OpenAPI toolchain for .NET, ASP.NET Core and TypeScript.</a:t>
            </a:r>
            <a:r>
              <a:rPr lang="en-US" sz="1000" kern="0" spc="-80" dirty="0">
                <a:solidFill>
                  <a:schemeClr val="accent2"/>
                </a:solidFill>
              </a:rPr>
              <a:t> </a:t>
            </a:r>
          </a:p>
          <a:p>
            <a:pPr marL="12700" marR="5080"/>
            <a:r>
              <a:rPr lang="en-US" sz="1000" dirty="0">
                <a:hlinkClick r:id="rId8"/>
              </a:rPr>
              <a:t>Documenting </a:t>
            </a:r>
            <a:r>
              <a:rPr lang="en-US" sz="1000" dirty="0" err="1">
                <a:hlinkClick r:id="rId8"/>
              </a:rPr>
              <a:t>GraphQL</a:t>
            </a:r>
            <a:r>
              <a:rPr lang="en-US" sz="1000" dirty="0">
                <a:hlinkClick r:id="rId8"/>
              </a:rPr>
              <a:t> APIs with Swagger - </a:t>
            </a:r>
            <a:r>
              <a:rPr lang="en-US" sz="1000" dirty="0" err="1">
                <a:hlinkClick r:id="rId8"/>
              </a:rPr>
              <a:t>GeeksforGeeks</a:t>
            </a:r>
            <a:endParaRPr lang="en-US" sz="1000" kern="0" spc="-80" dirty="0">
              <a:solidFill>
                <a:schemeClr val="accent2"/>
              </a:solidFill>
            </a:endParaRPr>
          </a:p>
        </p:txBody>
      </p:sp>
      <p:graphicFrame>
        <p:nvGraphicFramePr>
          <p:cNvPr id="7" name="Diagram 6">
            <a:extLst>
              <a:ext uri="{FF2B5EF4-FFF2-40B4-BE49-F238E27FC236}">
                <a16:creationId xmlns:a16="http://schemas.microsoft.com/office/drawing/2014/main" id="{9BD32B12-7A48-9312-BADE-EB2CDE155634}"/>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40535174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Evolution/Versioning(App Level using ASP.NET Web API) - </a:t>
            </a:r>
            <a:endParaRPr lang="en-US" sz="2000" kern="0" spc="-80" dirty="0">
              <a:solidFill>
                <a:schemeClr val="accent6"/>
              </a:solidFill>
            </a:endParaRPr>
          </a:p>
        </p:txBody>
      </p:sp>
      <p:pic>
        <p:nvPicPr>
          <p:cNvPr id="13314" name="Picture 2" descr="Different Methods of API Versioning &amp; Routing in ASP.Net Core">
            <a:extLst>
              <a:ext uri="{FF2B5EF4-FFF2-40B4-BE49-F238E27FC236}">
                <a16:creationId xmlns:a16="http://schemas.microsoft.com/office/drawing/2014/main" id="{3670A362-8CB8-35C2-EE0A-3A42B44755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83" y="1029817"/>
            <a:ext cx="8229600" cy="2856383"/>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359575C6-9D33-2173-B43B-65C82F516E06}"/>
              </a:ext>
            </a:extLst>
          </p:cNvPr>
          <p:cNvSpPr txBox="1">
            <a:spLocks/>
          </p:cNvSpPr>
          <p:nvPr/>
        </p:nvSpPr>
        <p:spPr>
          <a:xfrm>
            <a:off x="137369" y="4879479"/>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3"/>
              </a:rPr>
              <a:t>Different Methods of API Versioning &amp; Routing in </a:t>
            </a:r>
            <a:r>
              <a:rPr lang="en-US" sz="1500" dirty="0" err="1">
                <a:hlinkClick r:id="rId3"/>
              </a:rPr>
              <a:t>ASP.Net</a:t>
            </a:r>
            <a:r>
              <a:rPr lang="en-US" sz="1500" dirty="0">
                <a:hlinkClick r:id="rId3"/>
              </a:rPr>
              <a:t> Core - </a:t>
            </a:r>
            <a:r>
              <a:rPr lang="en-US" sz="1500" dirty="0" err="1">
                <a:hlinkClick r:id="rId3"/>
              </a:rPr>
              <a:t>TatvaSoft</a:t>
            </a:r>
            <a:r>
              <a:rPr lang="en-US" sz="1500" dirty="0">
                <a:hlinkClick r:id="rId3"/>
              </a:rPr>
              <a:t> Blog</a:t>
            </a:r>
            <a:endParaRPr lang="en-US" sz="1500" dirty="0"/>
          </a:p>
          <a:p>
            <a:pPr marL="12700" marR="5080"/>
            <a:r>
              <a:rPr lang="en-IN" sz="1500" dirty="0">
                <a:hlinkClick r:id="rId4"/>
              </a:rPr>
              <a:t>API Versioning Strategies | LinkedIn</a:t>
            </a:r>
            <a:endParaRPr lang="en-IN" sz="1500" dirty="0"/>
          </a:p>
          <a:p>
            <a:pPr marL="12700" marR="5080"/>
            <a:r>
              <a:rPr lang="en-US" sz="1500" dirty="0">
                <a:hlinkClick r:id="rId5"/>
              </a:rPr>
              <a:t>API Versioning Approach With AWS API Gateway</a:t>
            </a:r>
            <a:endParaRPr lang="en-US" sz="1500" kern="0" spc="-80" dirty="0">
              <a:solidFill>
                <a:schemeClr val="accent2"/>
              </a:solidFill>
            </a:endParaRPr>
          </a:p>
        </p:txBody>
      </p:sp>
      <p:graphicFrame>
        <p:nvGraphicFramePr>
          <p:cNvPr id="8" name="Diagram 7">
            <a:extLst>
              <a:ext uri="{FF2B5EF4-FFF2-40B4-BE49-F238E27FC236}">
                <a16:creationId xmlns:a16="http://schemas.microsoft.com/office/drawing/2014/main" id="{D3FF7F5E-9D10-E04E-26BC-94C5DAA48129}"/>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6" name="object 2">
            <a:extLst>
              <a:ext uri="{FF2B5EF4-FFF2-40B4-BE49-F238E27FC236}">
                <a16:creationId xmlns:a16="http://schemas.microsoft.com/office/drawing/2014/main" id="{1E168C45-F37F-0CCF-1FA4-52FCB5CA709A}"/>
              </a:ext>
            </a:extLst>
          </p:cNvPr>
          <p:cNvSpPr txBox="1">
            <a:spLocks/>
          </p:cNvSpPr>
          <p:nvPr/>
        </p:nvSpPr>
        <p:spPr>
          <a:xfrm>
            <a:off x="140123" y="3981272"/>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50" kern="0" spc="-80" dirty="0">
                <a:solidFill>
                  <a:schemeClr val="accent6"/>
                </a:solidFill>
              </a:rPr>
              <a:t>The #1 rule w.r.t API versioning is not to use versions in API until &amp; unless you really need </a:t>
            </a:r>
            <a:r>
              <a:rPr lang="en-US" sz="1450" kern="0" spc="-80" dirty="0" err="1">
                <a:solidFill>
                  <a:schemeClr val="accent6"/>
                </a:solidFill>
              </a:rPr>
              <a:t>it.In</a:t>
            </a:r>
            <a:r>
              <a:rPr lang="en-US" sz="1450" kern="0" spc="-80" dirty="0">
                <a:solidFill>
                  <a:schemeClr val="accent6"/>
                </a:solidFill>
              </a:rPr>
              <a:t> some projects there can be a mandate that the API should have v1(the default version) within the API even if they don’t </a:t>
            </a:r>
            <a:r>
              <a:rPr lang="en-US" sz="1450" kern="0" spc="-80" dirty="0" err="1">
                <a:solidFill>
                  <a:schemeClr val="accent6"/>
                </a:solidFill>
              </a:rPr>
              <a:t>forsee</a:t>
            </a:r>
            <a:r>
              <a:rPr lang="en-US" sz="1450" kern="0" spc="-80" dirty="0">
                <a:solidFill>
                  <a:schemeClr val="accent6"/>
                </a:solidFill>
              </a:rPr>
              <a:t> that going forward further API versions will be required. That’s also kind of a best practice since most APIs evolve.</a:t>
            </a:r>
          </a:p>
        </p:txBody>
      </p:sp>
    </p:spTree>
    <p:extLst>
      <p:ext uri="{BB962C8B-B14F-4D97-AF65-F5344CB8AC3E}">
        <p14:creationId xmlns:p14="http://schemas.microsoft.com/office/powerpoint/2010/main" val="284199672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Evolution/Versioning(Schema Versioning) - </a:t>
            </a:r>
            <a:endParaRPr lang="en-US" sz="2000" kern="0" spc="-80" dirty="0">
              <a:solidFill>
                <a:schemeClr val="accent6"/>
              </a:solidFill>
            </a:endParaRPr>
          </a:p>
        </p:txBody>
      </p:sp>
      <p:pic>
        <p:nvPicPr>
          <p:cNvPr id="14338" name="Picture 2" descr="versioning db schema diagram">
            <a:extLst>
              <a:ext uri="{FF2B5EF4-FFF2-40B4-BE49-F238E27FC236}">
                <a16:creationId xmlns:a16="http://schemas.microsoft.com/office/drawing/2014/main" id="{E99C5993-0D81-FCC7-8821-3A637B1248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370" y="1154668"/>
            <a:ext cx="8716168" cy="478893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D872BD37-101E-D7CC-2D01-F4B8390A3D7A}"/>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66403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Evolution/Versioning(Build Level) – </a:t>
            </a:r>
            <a:endParaRPr lang="en-US" sz="2000" kern="0" spc="-80" dirty="0">
              <a:solidFill>
                <a:schemeClr val="accent6"/>
              </a:solidFill>
            </a:endParaRPr>
          </a:p>
        </p:txBody>
      </p:sp>
      <p:pic>
        <p:nvPicPr>
          <p:cNvPr id="12290" name="Picture 2" descr="continuous integration - Microservices architecture versioning on periodic  releases - Stack Overflow">
            <a:extLst>
              <a:ext uri="{FF2B5EF4-FFF2-40B4-BE49-F238E27FC236}">
                <a16:creationId xmlns:a16="http://schemas.microsoft.com/office/drawing/2014/main" id="{FD6B889F-4951-9322-50FF-828154B108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8138" y="1040346"/>
            <a:ext cx="8467725" cy="4674654"/>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678CD7A0-1F24-37AD-D28C-867B394C536A}"/>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395965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Idempotency – </a:t>
            </a:r>
            <a:endParaRPr lang="en-US" sz="2000" kern="0" spc="-80" dirty="0">
              <a:solidFill>
                <a:schemeClr val="accent6"/>
              </a:solidFill>
            </a:endParaRPr>
          </a:p>
        </p:txBody>
      </p:sp>
      <p:pic>
        <p:nvPicPr>
          <p:cNvPr id="15364" name="Picture 4" descr="Idempotency in Scalable Distributed Architectures — Example | by Debasis  Das | Medium">
            <a:extLst>
              <a:ext uri="{FF2B5EF4-FFF2-40B4-BE49-F238E27FC236}">
                <a16:creationId xmlns:a16="http://schemas.microsoft.com/office/drawing/2014/main" id="{33423CCE-AB8A-2F0D-0BE7-4AB7FE5650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798" y="1040346"/>
            <a:ext cx="8229602" cy="300137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A5B12884-E03A-339D-AE9B-D159FE67CA6E}"/>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object 2">
            <a:extLst>
              <a:ext uri="{FF2B5EF4-FFF2-40B4-BE49-F238E27FC236}">
                <a16:creationId xmlns:a16="http://schemas.microsoft.com/office/drawing/2014/main" id="{8372BBD4-FB88-A0E9-3E45-E8C0E7E30C60}"/>
              </a:ext>
            </a:extLst>
          </p:cNvPr>
          <p:cNvSpPr txBox="1">
            <a:spLocks/>
          </p:cNvSpPr>
          <p:nvPr/>
        </p:nvSpPr>
        <p:spPr>
          <a:xfrm>
            <a:off x="190956" y="3581400"/>
            <a:ext cx="8624937" cy="13619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r>
              <a:rPr lang="en-US" sz="1500" kern="0" spc="-80" dirty="0">
                <a:solidFill>
                  <a:schemeClr val="accent2"/>
                </a:solidFill>
              </a:rPr>
              <a:t>An example – </a:t>
            </a:r>
            <a:r>
              <a:rPr lang="en-US" sz="1450" kern="0" spc="-80" dirty="0">
                <a:solidFill>
                  <a:schemeClr val="accent6"/>
                </a:solidFill>
              </a:rPr>
              <a:t>Say a UI page button click calls an API. What if the user clicks the button twice? One solution can be to disable the button in the UI once clicked &amp; keeping the button disabled until &amp; unless the request completes. But then what if </a:t>
            </a:r>
            <a:r>
              <a:rPr lang="en-US" sz="1450" kern="0" spc="-80" dirty="0" err="1">
                <a:solidFill>
                  <a:schemeClr val="accent6"/>
                </a:solidFill>
              </a:rPr>
              <a:t>javascript</a:t>
            </a:r>
            <a:r>
              <a:rPr lang="en-US" sz="1450" kern="0" spc="-80" dirty="0">
                <a:solidFill>
                  <a:schemeClr val="accent6"/>
                </a:solidFill>
              </a:rPr>
              <a:t> is disabled? A better &amp; more robust solution is to have server side idempotency based handling </a:t>
            </a:r>
            <a:r>
              <a:rPr lang="en-US" sz="1450" kern="0" spc="-80" dirty="0" err="1">
                <a:solidFill>
                  <a:schemeClr val="accent6"/>
                </a:solidFill>
              </a:rPr>
              <a:t>alongwith</a:t>
            </a:r>
            <a:r>
              <a:rPr lang="en-US" sz="1450" kern="0" spc="-80" dirty="0">
                <a:solidFill>
                  <a:schemeClr val="accent6"/>
                </a:solidFill>
              </a:rPr>
              <a:t> the client side handling.</a:t>
            </a:r>
          </a:p>
        </p:txBody>
      </p:sp>
      <p:sp>
        <p:nvSpPr>
          <p:cNvPr id="8" name="object 2">
            <a:extLst>
              <a:ext uri="{FF2B5EF4-FFF2-40B4-BE49-F238E27FC236}">
                <a16:creationId xmlns:a16="http://schemas.microsoft.com/office/drawing/2014/main" id="{43019945-0B3A-7D49-6B0F-6F7476E7A8E7}"/>
              </a:ext>
            </a:extLst>
          </p:cNvPr>
          <p:cNvSpPr txBox="1">
            <a:spLocks/>
          </p:cNvSpPr>
          <p:nvPr/>
        </p:nvSpPr>
        <p:spPr>
          <a:xfrm>
            <a:off x="171676" y="4974104"/>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200" dirty="0">
                <a:hlinkClick r:id="rId8"/>
              </a:rPr>
              <a:t>Idempotence in HTTP Methods – Explained with CRUD Examples</a:t>
            </a:r>
            <a:endParaRPr lang="en-US" sz="1200" kern="0" spc="-80" dirty="0">
              <a:solidFill>
                <a:schemeClr val="accent2"/>
              </a:solidFill>
            </a:endParaRPr>
          </a:p>
          <a:p>
            <a:pPr marL="12700" marR="5080"/>
            <a:r>
              <a:rPr lang="en-IN" sz="1200" dirty="0">
                <a:hlinkClick r:id="rId9"/>
              </a:rPr>
              <a:t>Ways to Achieve Idempotency | LinkedIn</a:t>
            </a:r>
            <a:endParaRPr lang="en-IN" sz="1200" dirty="0"/>
          </a:p>
          <a:p>
            <a:pPr marL="12700" marR="5080"/>
            <a:r>
              <a:rPr lang="en-US" sz="1200" dirty="0">
                <a:hlinkClick r:id="rId10"/>
              </a:rPr>
              <a:t>Idempotency and ordering in event-driven systems</a:t>
            </a:r>
            <a:endParaRPr lang="en-US" sz="1200" dirty="0"/>
          </a:p>
          <a:p>
            <a:pPr marL="12700" marR="5080"/>
            <a:r>
              <a:rPr lang="en-US" sz="1200" dirty="0">
                <a:hlinkClick r:id="rId11"/>
              </a:rPr>
              <a:t>Azure Service Bus duplicate message detection - Azure Service Bus</a:t>
            </a:r>
            <a:endParaRPr lang="en-US" sz="1450" kern="0" spc="-80" dirty="0">
              <a:solidFill>
                <a:schemeClr val="accent6"/>
              </a:solidFill>
            </a:endParaRPr>
          </a:p>
        </p:txBody>
      </p:sp>
    </p:spTree>
    <p:extLst>
      <p:ext uri="{BB962C8B-B14F-4D97-AF65-F5344CB8AC3E}">
        <p14:creationId xmlns:p14="http://schemas.microsoft.com/office/powerpoint/2010/main" val="102990549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214263"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Application Multitenancy -  </a:t>
            </a:r>
            <a:endParaRPr lang="en-US" sz="2000" kern="0" spc="-80" dirty="0">
              <a:solidFill>
                <a:schemeClr val="accent6"/>
              </a:solidFill>
            </a:endParaRPr>
          </a:p>
        </p:txBody>
      </p:sp>
      <p:pic>
        <p:nvPicPr>
          <p:cNvPr id="17414" name="Picture 6" descr="Multi-tenant architecture with tenant-isolated components. | Download  Scientific Diagram">
            <a:extLst>
              <a:ext uri="{FF2B5EF4-FFF2-40B4-BE49-F238E27FC236}">
                <a16:creationId xmlns:a16="http://schemas.microsoft.com/office/drawing/2014/main" id="{36A175C5-A760-EDCE-0905-1004B56535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1143000"/>
            <a:ext cx="8472537" cy="380999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EA15E624-C79A-E56D-FD90-AD7DCE92E13D}"/>
              </a:ext>
            </a:extLst>
          </p:cNvPr>
          <p:cNvSpPr txBox="1">
            <a:spLocks/>
          </p:cNvSpPr>
          <p:nvPr/>
        </p:nvSpPr>
        <p:spPr>
          <a:xfrm>
            <a:off x="122975" y="4612466"/>
            <a:ext cx="8624937" cy="13311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3"/>
              </a:rPr>
              <a:t>Inevitability of Multi-Tenancy &amp; SAAS in Product Engineering | </a:t>
            </a:r>
            <a:r>
              <a:rPr lang="en-US" sz="1050" dirty="0" err="1">
                <a:hlinkClick r:id="rId3"/>
              </a:rPr>
              <a:t>prashanthpanduranga</a:t>
            </a:r>
            <a:r>
              <a:rPr lang="en-US" sz="1050" dirty="0"/>
              <a:t> </a:t>
            </a:r>
            <a:r>
              <a:rPr lang="en-US" sz="1600" kern="0" spc="-80" dirty="0">
                <a:solidFill>
                  <a:schemeClr val="accent2"/>
                </a:solidFill>
              </a:rPr>
              <a:t> </a:t>
            </a:r>
          </a:p>
          <a:p>
            <a:pPr marL="12700" marR="5080"/>
            <a:r>
              <a:rPr lang="en-US" sz="1050" dirty="0">
                <a:hlinkClick r:id="rId4"/>
              </a:rPr>
              <a:t>ASP.NET Multitenant Applications Succinctly</a:t>
            </a:r>
            <a:endParaRPr lang="en-US" sz="1050" dirty="0"/>
          </a:p>
          <a:p>
            <a:pPr marL="12700" marR="5080"/>
            <a:r>
              <a:rPr lang="en-US" sz="1050" dirty="0">
                <a:hlinkClick r:id="rId5"/>
              </a:rPr>
              <a:t>Building Multi-Tenant SaaS Architectures: Principles, Practices, and Patterns Using AWS</a:t>
            </a:r>
            <a:endParaRPr lang="en-US" sz="1050" dirty="0"/>
          </a:p>
          <a:p>
            <a:pPr marL="12700" marR="5080"/>
            <a:r>
              <a:rPr lang="en-IN" sz="1050" dirty="0">
                <a:hlinkClick r:id="rId6"/>
              </a:rPr>
              <a:t>Commercial-Marketplace-Client-</a:t>
            </a:r>
            <a:r>
              <a:rPr lang="en-IN" sz="1050" dirty="0" err="1">
                <a:hlinkClick r:id="rId6"/>
              </a:rPr>
              <a:t>Dotne</a:t>
            </a:r>
            <a:endParaRPr lang="en-US" sz="1600" kern="0" spc="-80" dirty="0">
              <a:solidFill>
                <a:schemeClr val="accent2"/>
              </a:solidFill>
            </a:endParaRPr>
          </a:p>
        </p:txBody>
      </p:sp>
      <p:grpSp>
        <p:nvGrpSpPr>
          <p:cNvPr id="7" name="Group 6">
            <a:extLst>
              <a:ext uri="{FF2B5EF4-FFF2-40B4-BE49-F238E27FC236}">
                <a16:creationId xmlns:a16="http://schemas.microsoft.com/office/drawing/2014/main" id="{1D4186EC-4003-6851-8C1C-DE7FC86F8EE1}"/>
              </a:ext>
            </a:extLst>
          </p:cNvPr>
          <p:cNvGrpSpPr/>
          <p:nvPr/>
        </p:nvGrpSpPr>
        <p:grpSpPr>
          <a:xfrm>
            <a:off x="304800" y="23687"/>
            <a:ext cx="8472537" cy="433513"/>
            <a:chOff x="0" y="0"/>
            <a:chExt cx="8472537" cy="433513"/>
          </a:xfrm>
        </p:grpSpPr>
        <p:sp>
          <p:nvSpPr>
            <p:cNvPr id="9" name="Rectangle: Rounded Corners 8">
              <a:extLst>
                <a:ext uri="{FF2B5EF4-FFF2-40B4-BE49-F238E27FC236}">
                  <a16:creationId xmlns:a16="http://schemas.microsoft.com/office/drawing/2014/main" id="{A9F05178-1638-B08C-2B64-5022F16F5896}"/>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EC17163F-3170-F71C-28EA-CF48E9CF5C53}"/>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34573280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Infrastructure Multitenancy(using K8s)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EA15E624-C79A-E56D-FD90-AD7DCE92E13D}"/>
              </a:ext>
            </a:extLst>
          </p:cNvPr>
          <p:cNvSpPr txBox="1">
            <a:spLocks/>
          </p:cNvSpPr>
          <p:nvPr/>
        </p:nvSpPr>
        <p:spPr>
          <a:xfrm>
            <a:off x="22860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2"/>
              </a:rPr>
              <a:t>Kubernetes Multi-tenancy Best Practices &amp; Architecture Model..(2/2) - Vamsi Talks Tech</a:t>
            </a:r>
            <a:endParaRPr lang="en-US" sz="1500" dirty="0"/>
          </a:p>
          <a:p>
            <a:pPr marL="12700" marR="5080"/>
            <a:r>
              <a:rPr lang="en-IN" sz="1500" dirty="0">
                <a:hlinkClick r:id="rId3"/>
              </a:rPr>
              <a:t>Multi-tenancy | Kubernetes</a:t>
            </a:r>
            <a:endParaRPr lang="en-IN" sz="1500" dirty="0"/>
          </a:p>
          <a:p>
            <a:pPr marL="12700" marR="5080"/>
            <a:r>
              <a:rPr lang="en-US" sz="1500" dirty="0">
                <a:hlinkClick r:id="rId4"/>
              </a:rPr>
              <a:t>Multi-tenancy in Kubernetes: implementation and optimization | CNCF</a:t>
            </a:r>
            <a:endParaRPr lang="en-US" sz="1500" kern="0" spc="-80" dirty="0">
              <a:solidFill>
                <a:schemeClr val="accent2"/>
              </a:solidFill>
            </a:endParaRPr>
          </a:p>
        </p:txBody>
      </p:sp>
      <p:pic>
        <p:nvPicPr>
          <p:cNvPr id="18436" name="Picture 4">
            <a:extLst>
              <a:ext uri="{FF2B5EF4-FFF2-40B4-BE49-F238E27FC236}">
                <a16:creationId xmlns:a16="http://schemas.microsoft.com/office/drawing/2014/main" id="{0B3DDC4B-61AA-00D8-7B65-58937D02D7D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4800" y="1079083"/>
            <a:ext cx="8396337" cy="3492918"/>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Rounded Corners 4">
            <a:extLst>
              <a:ext uri="{FF2B5EF4-FFF2-40B4-BE49-F238E27FC236}">
                <a16:creationId xmlns:a16="http://schemas.microsoft.com/office/drawing/2014/main" id="{8B3FBA2C-2929-0CC0-EE5E-3F5ECAF00429}"/>
              </a:ext>
            </a:extLst>
          </p:cNvPr>
          <p:cNvSpPr txBox="1"/>
          <p:nvPr/>
        </p:nvSpPr>
        <p:spPr>
          <a:xfrm>
            <a:off x="325962" y="44849"/>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nvGrpSpPr>
          <p:cNvPr id="9" name="Group 8">
            <a:extLst>
              <a:ext uri="{FF2B5EF4-FFF2-40B4-BE49-F238E27FC236}">
                <a16:creationId xmlns:a16="http://schemas.microsoft.com/office/drawing/2014/main" id="{1FE043B7-ABA4-01E5-8111-0AB1E40100A1}"/>
              </a:ext>
            </a:extLst>
          </p:cNvPr>
          <p:cNvGrpSpPr/>
          <p:nvPr/>
        </p:nvGrpSpPr>
        <p:grpSpPr>
          <a:xfrm>
            <a:off x="304800" y="23687"/>
            <a:ext cx="8472537" cy="433513"/>
            <a:chOff x="0" y="0"/>
            <a:chExt cx="8472537" cy="433513"/>
          </a:xfrm>
        </p:grpSpPr>
        <p:sp>
          <p:nvSpPr>
            <p:cNvPr id="10" name="Rectangle: Rounded Corners 9">
              <a:extLst>
                <a:ext uri="{FF2B5EF4-FFF2-40B4-BE49-F238E27FC236}">
                  <a16:creationId xmlns:a16="http://schemas.microsoft.com/office/drawing/2014/main" id="{929DB29B-CCB6-99BE-FD95-418B1975DFA4}"/>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E02D3F7D-6871-8969-3242-570004B1A95D}"/>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1537393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36433795"/>
              </p:ext>
            </p:extLst>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Monolith to Microservices Migration – </a:t>
            </a:r>
            <a:endParaRPr lang="en-US" sz="2000" kern="0" spc="-80" dirty="0">
              <a:solidFill>
                <a:schemeClr val="accent6"/>
              </a:solidFill>
            </a:endParaRPr>
          </a:p>
        </p:txBody>
      </p:sp>
      <p:pic>
        <p:nvPicPr>
          <p:cNvPr id="16386" name="Picture 2" descr="Steps for Migrating from Monolith to Microservices">
            <a:extLst>
              <a:ext uri="{FF2B5EF4-FFF2-40B4-BE49-F238E27FC236}">
                <a16:creationId xmlns:a16="http://schemas.microsoft.com/office/drawing/2014/main" id="{F53F825D-178D-ED8E-DAA8-87296CAEE8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371601"/>
            <a:ext cx="8305800" cy="3428999"/>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2C6693FA-415E-5238-EF65-BB01F556BF26}"/>
              </a:ext>
            </a:extLst>
          </p:cNvPr>
          <p:cNvSpPr txBox="1">
            <a:spLocks/>
          </p:cNvSpPr>
          <p:nvPr/>
        </p:nvSpPr>
        <p:spPr>
          <a:xfrm>
            <a:off x="137368" y="5078178"/>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Refactor a monolith into microservices  |  Cloud Architecture Center  |  Google Cloud</a:t>
            </a:r>
            <a:endParaRPr lang="en-US" sz="1500" kern="0" spc="-80" dirty="0">
              <a:solidFill>
                <a:schemeClr val="accent2"/>
              </a:solidFill>
            </a:endParaRPr>
          </a:p>
          <a:p>
            <a:pPr marL="12700" marR="5080"/>
            <a:r>
              <a:rPr lang="en-US" sz="1500" dirty="0">
                <a:hlinkClick r:id="rId9"/>
              </a:rPr>
              <a:t>Monolith to Microservices — Migration patters | by Priyal </a:t>
            </a:r>
            <a:r>
              <a:rPr lang="en-US" sz="1500" dirty="0" err="1">
                <a:hlinkClick r:id="rId9"/>
              </a:rPr>
              <a:t>Walpita</a:t>
            </a:r>
            <a:r>
              <a:rPr lang="en-US" sz="1500" dirty="0">
                <a:hlinkClick r:id="rId9"/>
              </a:rPr>
              <a:t> | Medium</a:t>
            </a:r>
            <a:endParaRPr lang="en-US" sz="1500" kern="0" spc="-80" dirty="0">
              <a:solidFill>
                <a:schemeClr val="accent2"/>
              </a:solidFill>
            </a:endParaRPr>
          </a:p>
        </p:txBody>
      </p:sp>
    </p:spTree>
    <p:extLst>
      <p:ext uri="{BB962C8B-B14F-4D97-AF65-F5344CB8AC3E}">
        <p14:creationId xmlns:p14="http://schemas.microsoft.com/office/powerpoint/2010/main" val="217613244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E9D84-C2F3-AB9E-4910-20EA5E44DA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9B6E6BE-3F23-126B-19DB-FB5FB1DC979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6B42A5-A696-0750-58E7-F65531DBF5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0A38D58-75E1-1C90-3494-509C7E2E6070}"/>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80C3B2B-C05F-E4DB-AEBE-4D21A7D994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4D73415-4C51-604B-E52E-48094EE95C3C}"/>
              </a:ext>
            </a:extLst>
          </p:cNvPr>
          <p:cNvSpPr txBox="1">
            <a:spLocks/>
          </p:cNvSpPr>
          <p:nvPr/>
        </p:nvSpPr>
        <p:spPr>
          <a:xfrm>
            <a:off x="137369" y="671014"/>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What is a service mesh ?</a:t>
            </a:r>
          </a:p>
          <a:p>
            <a:pPr marL="12700" marR="5080"/>
            <a:r>
              <a:rPr lang="en-US" sz="1450" kern="0" spc="-80" dirty="0">
                <a:solidFill>
                  <a:schemeClr val="accent6"/>
                </a:solidFill>
              </a:rPr>
              <a:t>A service mesh is an infrastructure layer that transparently manages service-to-service communication for microservices. It provides traffic management, security (zero-trust / </a:t>
            </a:r>
            <a:r>
              <a:rPr lang="en-US" sz="1450" kern="0" spc="-80" dirty="0" err="1">
                <a:solidFill>
                  <a:schemeClr val="accent6"/>
                </a:solidFill>
              </a:rPr>
              <a:t>mTLS</a:t>
            </a:r>
            <a:r>
              <a:rPr lang="en-US" sz="1450" kern="0" spc="-80" dirty="0">
                <a:solidFill>
                  <a:schemeClr val="accent6"/>
                </a:solidFill>
              </a:rPr>
              <a:t>), observability (metrics/traces/logs), and policy enforcement without changing application code. Typical architecture splits responsibilities into a data plane (proxies that handle actual traffic) and a control plane (configures those proxies). </a:t>
            </a:r>
          </a:p>
          <a:p>
            <a:pPr marL="12700" marR="5080"/>
            <a:endParaRPr lang="en-US" sz="1450" kern="0" spc="-80" dirty="0">
              <a:solidFill>
                <a:schemeClr val="accent6"/>
              </a:solidFill>
            </a:endParaRPr>
          </a:p>
          <a:p>
            <a:pPr marL="12700" marR="5080"/>
            <a:r>
              <a:rPr lang="en-US" sz="1450" kern="0" spc="-80" dirty="0">
                <a:solidFill>
                  <a:schemeClr val="accent2"/>
                </a:solidFill>
              </a:rPr>
              <a:t>Core architecture &amp; building blocks</a:t>
            </a:r>
          </a:p>
          <a:p>
            <a:pPr marL="12700" marR="5080"/>
            <a:r>
              <a:rPr lang="en-US" sz="1450" kern="0" spc="-80" dirty="0">
                <a:solidFill>
                  <a:schemeClr val="accent2"/>
                </a:solidFill>
              </a:rPr>
              <a:t>1. Data plane</a:t>
            </a:r>
          </a:p>
          <a:p>
            <a:pPr marL="12700" marR="5080"/>
            <a:r>
              <a:rPr lang="en-US" sz="1450" kern="0" spc="-80" dirty="0">
                <a:solidFill>
                  <a:schemeClr val="accent6"/>
                </a:solidFill>
              </a:rPr>
              <a:t>Usually implemented by sidecar proxies (one proxy per service instance/pod) that intercept all inbound/outbound traffic and apply routing, retries, timeouts, circuit breakers, telemetry, and security controls. Envoy is the most common sidecar proxy. </a:t>
            </a:r>
          </a:p>
          <a:p>
            <a:pPr marL="12700" marR="5080"/>
            <a:r>
              <a:rPr lang="en-US" sz="1450" kern="0" spc="-80" dirty="0">
                <a:solidFill>
                  <a:schemeClr val="accent2"/>
                </a:solidFill>
              </a:rPr>
              <a:t>2. Control plane</a:t>
            </a:r>
          </a:p>
          <a:p>
            <a:pPr marL="12700" marR="5080"/>
            <a:r>
              <a:rPr lang="en-US" sz="1450" kern="0" spc="-80" dirty="0">
                <a:solidFill>
                  <a:schemeClr val="accent6"/>
                </a:solidFill>
              </a:rPr>
              <a:t>Centralized components that translate high-level policies (traffic rules, security, telemetry sampling) into low-level configuration for the proxies and distribute it dynamically (via </a:t>
            </a:r>
            <a:r>
              <a:rPr lang="en-US" sz="1450" kern="0" spc="-80" dirty="0" err="1">
                <a:solidFill>
                  <a:schemeClr val="accent6"/>
                </a:solidFill>
              </a:rPr>
              <a:t>xDS</a:t>
            </a:r>
            <a:r>
              <a:rPr lang="en-US" sz="1450" kern="0" spc="-80" dirty="0">
                <a:solidFill>
                  <a:schemeClr val="accent6"/>
                </a:solidFill>
              </a:rPr>
              <a:t> or similar APIs). Istio, </a:t>
            </a:r>
            <a:r>
              <a:rPr lang="en-US" sz="1450" kern="0" spc="-80" dirty="0" err="1">
                <a:solidFill>
                  <a:schemeClr val="accent6"/>
                </a:solidFill>
              </a:rPr>
              <a:t>Linkerd</a:t>
            </a:r>
            <a:r>
              <a:rPr lang="en-US" sz="1450" kern="0" spc="-80" dirty="0">
                <a:solidFill>
                  <a:schemeClr val="accent6"/>
                </a:solidFill>
              </a:rPr>
              <a:t>, Consul, Kuma, Open Service Mesh are examples of control planes. </a:t>
            </a:r>
          </a:p>
          <a:p>
            <a:pPr marL="12700" marR="5080"/>
            <a:r>
              <a:rPr lang="en-US" sz="1450" kern="0" spc="-80" dirty="0">
                <a:solidFill>
                  <a:schemeClr val="accent2"/>
                </a:solidFill>
              </a:rPr>
              <a:t>3. Gateways / Ingress/Egress</a:t>
            </a:r>
          </a:p>
          <a:p>
            <a:pPr marL="12700" marR="5080"/>
            <a:r>
              <a:rPr lang="en-US" sz="1450" kern="0" spc="-80" dirty="0">
                <a:solidFill>
                  <a:schemeClr val="accent6"/>
                </a:solidFill>
              </a:rPr>
              <a:t>Specialized proxies that handle traffic entering or leaving the mesh (TLS termination, external routing, ingress policies). They are often Envoy or an API gateway integrated with the mesh.</a:t>
            </a:r>
          </a:p>
          <a:p>
            <a:pPr marL="12700" marR="5080"/>
            <a:r>
              <a:rPr lang="en-US" sz="1450" kern="0" spc="-80" dirty="0">
                <a:solidFill>
                  <a:schemeClr val="accent2"/>
                </a:solidFill>
              </a:rPr>
              <a:t>4. Service identity &amp; CA</a:t>
            </a:r>
          </a:p>
          <a:p>
            <a:pPr marL="12700" marR="5080"/>
            <a:r>
              <a:rPr lang="en-US" sz="1450" kern="0" spc="-80" dirty="0">
                <a:solidFill>
                  <a:schemeClr val="accent6"/>
                </a:solidFill>
              </a:rPr>
              <a:t>The mesh issues identities/certificates (short-lived) to workloads and enforces </a:t>
            </a:r>
            <a:r>
              <a:rPr lang="en-US" sz="1450" kern="0" spc="-80" dirty="0" err="1">
                <a:solidFill>
                  <a:schemeClr val="accent6"/>
                </a:solidFill>
              </a:rPr>
              <a:t>mTLS</a:t>
            </a:r>
            <a:r>
              <a:rPr lang="en-US" sz="1450" kern="0" spc="-80" dirty="0">
                <a:solidFill>
                  <a:schemeClr val="accent6"/>
                </a:solidFill>
              </a:rPr>
              <a:t> between proxies for confidentiality and authentication.</a:t>
            </a:r>
          </a:p>
        </p:txBody>
      </p:sp>
    </p:spTree>
    <p:extLst>
      <p:ext uri="{BB962C8B-B14F-4D97-AF65-F5344CB8AC3E}">
        <p14:creationId xmlns:p14="http://schemas.microsoft.com/office/powerpoint/2010/main" val="37618580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7B71E-40EC-F265-9B7C-74C5058746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806BBB-C1EA-76FB-FC36-AC6BF7AADA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CFEF95F-94CB-9F92-1BB2-C4830A8AE1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C3840B5-CD75-3915-612F-D36C97166C4D}"/>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59EFF2E-6020-AD0B-F4A5-D6711464F24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6436F7C-E7EF-EBBC-3A94-F5F9D04D0C54}"/>
              </a:ext>
            </a:extLst>
          </p:cNvPr>
          <p:cNvSpPr txBox="1">
            <a:spLocks/>
          </p:cNvSpPr>
          <p:nvPr/>
        </p:nvSpPr>
        <p:spPr>
          <a:xfrm>
            <a:off x="137369" y="671014"/>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Core architecture &amp; building blocks</a:t>
            </a:r>
          </a:p>
          <a:p>
            <a:pPr marL="12700" marR="5080"/>
            <a:r>
              <a:rPr lang="en-US" sz="1450" kern="0" spc="-80" dirty="0">
                <a:solidFill>
                  <a:schemeClr val="accent2"/>
                </a:solidFill>
              </a:rPr>
              <a:t>5. Observability pipeline</a:t>
            </a:r>
          </a:p>
          <a:p>
            <a:pPr marL="12700" marR="5080"/>
            <a:r>
              <a:rPr lang="en-US" sz="1450" kern="0" spc="-80" dirty="0">
                <a:solidFill>
                  <a:schemeClr val="accent6"/>
                </a:solidFill>
              </a:rPr>
              <a:t>The data plane emits metrics, logs, and traces to collectors (Prometheus, Jaeger/Tempo, </a:t>
            </a:r>
            <a:r>
              <a:rPr lang="en-US" sz="1450" kern="0" spc="-80" dirty="0" err="1">
                <a:solidFill>
                  <a:schemeClr val="accent6"/>
                </a:solidFill>
              </a:rPr>
              <a:t>Fluentd</a:t>
            </a:r>
            <a:r>
              <a:rPr lang="en-US" sz="1450" kern="0" spc="-80" dirty="0">
                <a:solidFill>
                  <a:schemeClr val="accent6"/>
                </a:solidFill>
              </a:rPr>
              <a:t>/Vector). The control plane often provides telemetry adapters and sampling controls.</a:t>
            </a:r>
          </a:p>
          <a:p>
            <a:pPr marL="12700" marR="5080"/>
            <a:endParaRPr lang="en-US" sz="1450" kern="0" spc="-80" dirty="0">
              <a:solidFill>
                <a:schemeClr val="accent6"/>
              </a:solidFill>
            </a:endParaRPr>
          </a:p>
          <a:p>
            <a:pPr marL="12700" marR="5080"/>
            <a:r>
              <a:rPr lang="en-US" sz="1450" kern="0" spc="-80" dirty="0">
                <a:solidFill>
                  <a:schemeClr val="accent2"/>
                </a:solidFill>
              </a:rPr>
              <a:t>Main features / capabilities (with patterns)</a:t>
            </a:r>
          </a:p>
          <a:p>
            <a:pPr marL="12700" marR="5080"/>
            <a:r>
              <a:rPr lang="en-US" sz="1450" kern="0" spc="-80" dirty="0">
                <a:solidFill>
                  <a:schemeClr val="accent2"/>
                </a:solidFill>
              </a:rPr>
              <a:t>Traffic management &amp; routing</a:t>
            </a:r>
          </a:p>
          <a:p>
            <a:pPr marL="12700" marR="5080"/>
            <a:r>
              <a:rPr lang="en-US" sz="1450" kern="0" spc="-80" dirty="0">
                <a:solidFill>
                  <a:schemeClr val="accent6"/>
                </a:solidFill>
              </a:rPr>
              <a:t>Layer-7 routing (host/path/headers): route requests to specific versions or subsets.</a:t>
            </a:r>
          </a:p>
          <a:p>
            <a:pPr marL="12700" marR="5080"/>
            <a:r>
              <a:rPr lang="en-US" sz="1450" kern="0" spc="-80" dirty="0">
                <a:solidFill>
                  <a:schemeClr val="accent6"/>
                </a:solidFill>
              </a:rPr>
              <a:t>Traffic splitting for canary, A/B testing (percentage-based).</a:t>
            </a:r>
          </a:p>
          <a:p>
            <a:pPr marL="12700" marR="5080"/>
            <a:r>
              <a:rPr lang="en-US" sz="1450" kern="0" spc="-80" dirty="0">
                <a:solidFill>
                  <a:schemeClr val="accent6"/>
                </a:solidFill>
              </a:rPr>
              <a:t>Request mirroring (shadowing) for testing without impacting production.</a:t>
            </a:r>
          </a:p>
          <a:p>
            <a:pPr marL="12700" marR="5080"/>
            <a:r>
              <a:rPr lang="en-US" sz="1450" kern="0" spc="-80" dirty="0">
                <a:solidFill>
                  <a:schemeClr val="accent6"/>
                </a:solidFill>
              </a:rPr>
              <a:t>Retries, timeouts, and circuit breakers for resiliency.</a:t>
            </a:r>
          </a:p>
          <a:p>
            <a:pPr marL="12700" marR="5080"/>
            <a:r>
              <a:rPr lang="en-US" sz="1450" kern="0" spc="-80" dirty="0">
                <a:solidFill>
                  <a:schemeClr val="accent6"/>
                </a:solidFill>
              </a:rPr>
              <a:t>Load balancing strategies: round robin, least request, ring/hash, locality aware. Envoy implements many of these.</a:t>
            </a:r>
          </a:p>
          <a:p>
            <a:pPr marL="12700" marR="5080"/>
            <a:r>
              <a:rPr lang="en-US" sz="1450" kern="0" spc="-80" dirty="0">
                <a:solidFill>
                  <a:schemeClr val="accent6"/>
                </a:solidFill>
              </a:rPr>
              <a:t>Patterns: blue/green, canary, staged rollouts (percentage splits), A/B testing, shadowing, traffic shaping.</a:t>
            </a:r>
          </a:p>
          <a:p>
            <a:pPr marL="12700" marR="5080"/>
            <a:r>
              <a:rPr lang="en-US" sz="1450" kern="0" spc="-80" dirty="0">
                <a:solidFill>
                  <a:schemeClr val="accent2"/>
                </a:solidFill>
              </a:rPr>
              <a:t>Resiliency</a:t>
            </a:r>
          </a:p>
          <a:p>
            <a:pPr marL="12700" marR="5080"/>
            <a:r>
              <a:rPr lang="en-US" sz="1450" kern="0" spc="-80" dirty="0">
                <a:solidFill>
                  <a:schemeClr val="accent6"/>
                </a:solidFill>
              </a:rPr>
              <a:t>Circuit breaker pattern (open/half-open/closed) to prevent cascading failures.</a:t>
            </a:r>
          </a:p>
          <a:p>
            <a:pPr marL="12700" marR="5080"/>
            <a:r>
              <a:rPr lang="en-US" sz="1450" kern="0" spc="-80" dirty="0">
                <a:solidFill>
                  <a:schemeClr val="accent6"/>
                </a:solidFill>
              </a:rPr>
              <a:t>Bulkhead (isolate failures by service or instance).</a:t>
            </a:r>
          </a:p>
          <a:p>
            <a:pPr marL="12700" marR="5080"/>
            <a:r>
              <a:rPr lang="en-US" sz="1450" kern="0" spc="-80" dirty="0">
                <a:solidFill>
                  <a:schemeClr val="accent6"/>
                </a:solidFill>
              </a:rPr>
              <a:t>Retries with backoff and timeouts to avoid resource contention.</a:t>
            </a:r>
          </a:p>
          <a:p>
            <a:pPr marL="12700" marR="5080"/>
            <a:r>
              <a:rPr lang="en-US" sz="1450" kern="0" spc="-80" dirty="0">
                <a:solidFill>
                  <a:schemeClr val="accent6"/>
                </a:solidFill>
              </a:rPr>
              <a:t>Fault injection for chaos testing (delay, abort responses).</a:t>
            </a:r>
          </a:p>
          <a:p>
            <a:pPr marL="12700" marR="5080"/>
            <a:r>
              <a:rPr lang="en-US" sz="1450" kern="0" spc="-80" dirty="0">
                <a:solidFill>
                  <a:schemeClr val="accent2"/>
                </a:solidFill>
              </a:rPr>
              <a:t>Security</a:t>
            </a:r>
          </a:p>
          <a:p>
            <a:pPr marL="12700" marR="5080"/>
            <a:r>
              <a:rPr lang="en-US" sz="1450" kern="0" spc="-80" dirty="0" err="1">
                <a:solidFill>
                  <a:schemeClr val="accent6"/>
                </a:solidFill>
              </a:rPr>
              <a:t>mTLS</a:t>
            </a:r>
            <a:r>
              <a:rPr lang="en-US" sz="1450" kern="0" spc="-80" dirty="0">
                <a:solidFill>
                  <a:schemeClr val="accent6"/>
                </a:solidFill>
              </a:rPr>
              <a:t> between proxies to provide encryption and workload identity.</a:t>
            </a:r>
          </a:p>
        </p:txBody>
      </p:sp>
    </p:spTree>
    <p:extLst>
      <p:ext uri="{BB962C8B-B14F-4D97-AF65-F5344CB8AC3E}">
        <p14:creationId xmlns:p14="http://schemas.microsoft.com/office/powerpoint/2010/main" val="380086824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D9453-D84E-7263-EEA2-5C013E71AF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CDBF0E-1342-AE1B-C470-4ED7335256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192D63-9F00-F675-A134-A4FFD7BEC51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023D0FE-C5B8-6F1D-819D-D07891AACB6C}"/>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43EA626-3485-C3F9-7BB8-8F674B0772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9D5DA1-CE16-A322-398F-E5512CEA394C}"/>
              </a:ext>
            </a:extLst>
          </p:cNvPr>
          <p:cNvSpPr txBox="1">
            <a:spLocks/>
          </p:cNvSpPr>
          <p:nvPr/>
        </p:nvSpPr>
        <p:spPr>
          <a:xfrm>
            <a:off x="137369" y="671014"/>
            <a:ext cx="8624937" cy="50552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Core architecture &amp; building blocks</a:t>
            </a:r>
          </a:p>
          <a:p>
            <a:pPr marL="12700" marR="5080"/>
            <a:r>
              <a:rPr lang="en-US" sz="1450" kern="0" spc="-80" dirty="0">
                <a:solidFill>
                  <a:schemeClr val="accent2"/>
                </a:solidFill>
              </a:rPr>
              <a:t>Main features / capabilities (with patterns)</a:t>
            </a:r>
          </a:p>
          <a:p>
            <a:pPr marL="12700" marR="5080"/>
            <a:r>
              <a:rPr lang="en-US" sz="1450" kern="0" spc="-80" dirty="0">
                <a:solidFill>
                  <a:schemeClr val="accent2"/>
                </a:solidFill>
              </a:rPr>
              <a:t>Security</a:t>
            </a:r>
          </a:p>
          <a:p>
            <a:pPr marL="12700" marR="5080"/>
            <a:r>
              <a:rPr lang="en-US" sz="1450" kern="0" spc="-80" dirty="0">
                <a:solidFill>
                  <a:schemeClr val="accent6"/>
                </a:solidFill>
              </a:rPr>
              <a:t>Authentication &amp; Authorization policies (RBAC, JWT/OAuth integration, OIDC).</a:t>
            </a:r>
          </a:p>
          <a:p>
            <a:pPr marL="12700" marR="5080"/>
            <a:r>
              <a:rPr lang="en-US" sz="1450" kern="0" spc="-80" dirty="0">
                <a:solidFill>
                  <a:schemeClr val="accent6"/>
                </a:solidFill>
              </a:rPr>
              <a:t>Service identity lifecycle using a mesh CA or external CA (short-lived certs).</a:t>
            </a:r>
          </a:p>
          <a:p>
            <a:pPr marL="12700" marR="5080"/>
            <a:r>
              <a:rPr lang="en-US" sz="1450" kern="0" spc="-80" dirty="0">
                <a:solidFill>
                  <a:schemeClr val="accent6"/>
                </a:solidFill>
              </a:rPr>
              <a:t>Fine-grained access control (who can call which service/method). </a:t>
            </a:r>
          </a:p>
          <a:p>
            <a:pPr marL="12700" marR="5080"/>
            <a:r>
              <a:rPr lang="en-US" sz="1450" kern="0" spc="-80" dirty="0">
                <a:solidFill>
                  <a:schemeClr val="accent2"/>
                </a:solidFill>
              </a:rPr>
              <a:t>Observability &amp; Telemetry</a:t>
            </a:r>
          </a:p>
          <a:p>
            <a:pPr marL="12700" marR="5080"/>
            <a:r>
              <a:rPr lang="en-US" sz="1450" kern="0" spc="-80" dirty="0">
                <a:solidFill>
                  <a:schemeClr val="accent6"/>
                </a:solidFill>
              </a:rPr>
              <a:t>Metrics (per route/service latency, success rates, bytes).</a:t>
            </a:r>
          </a:p>
          <a:p>
            <a:pPr marL="12700" marR="5080"/>
            <a:r>
              <a:rPr lang="en-US" sz="1450" kern="0" spc="-80" dirty="0">
                <a:solidFill>
                  <a:schemeClr val="accent6"/>
                </a:solidFill>
              </a:rPr>
              <a:t>Distributed tracing (context propagation, traces per request).</a:t>
            </a:r>
          </a:p>
          <a:p>
            <a:pPr marL="12700" marR="5080"/>
            <a:r>
              <a:rPr lang="en-US" sz="1450" kern="0" spc="-80" dirty="0">
                <a:solidFill>
                  <a:schemeClr val="accent6"/>
                </a:solidFill>
              </a:rPr>
              <a:t>Structured logging and request/response captures for debugging.</a:t>
            </a:r>
          </a:p>
          <a:p>
            <a:pPr marL="12700" marR="5080"/>
            <a:r>
              <a:rPr lang="en-US" sz="1450" kern="0" spc="-80" dirty="0">
                <a:solidFill>
                  <a:schemeClr val="accent6"/>
                </a:solidFill>
              </a:rPr>
              <a:t>SLA/SLI monitoring derived from service metrics. Envoy and meshes emit detailed L7 telemetry. </a:t>
            </a:r>
          </a:p>
          <a:p>
            <a:pPr marL="12700" marR="5080"/>
            <a:r>
              <a:rPr lang="en-US" sz="1450" kern="0" spc="-80" dirty="0">
                <a:solidFill>
                  <a:schemeClr val="accent2"/>
                </a:solidFill>
              </a:rPr>
              <a:t>Policy and configuration</a:t>
            </a:r>
          </a:p>
          <a:p>
            <a:pPr marL="12700" marR="5080"/>
            <a:r>
              <a:rPr lang="en-US" sz="1450" kern="0" spc="-80" dirty="0">
                <a:solidFill>
                  <a:schemeClr val="accent6"/>
                </a:solidFill>
              </a:rPr>
              <a:t>Centralized policies for rate limiting, quotas, retries, timeouts, auth.</a:t>
            </a:r>
          </a:p>
          <a:p>
            <a:pPr marL="12700" marR="5080"/>
            <a:r>
              <a:rPr lang="en-US" sz="1450" kern="0" spc="-80" dirty="0">
                <a:solidFill>
                  <a:schemeClr val="accent6"/>
                </a:solidFill>
              </a:rPr>
              <a:t>Policy enforcement can be done in control plane or via </a:t>
            </a:r>
            <a:r>
              <a:rPr lang="en-US" sz="1450" kern="0" spc="-80" dirty="0" err="1">
                <a:solidFill>
                  <a:schemeClr val="accent6"/>
                </a:solidFill>
              </a:rPr>
              <a:t>WebAssembly</a:t>
            </a:r>
            <a:r>
              <a:rPr lang="en-US" sz="1450" kern="0" spc="-80" dirty="0">
                <a:solidFill>
                  <a:schemeClr val="accent6"/>
                </a:solidFill>
              </a:rPr>
              <a:t> filters in proxies.</a:t>
            </a:r>
          </a:p>
          <a:p>
            <a:pPr marL="12700" marR="5080"/>
            <a:r>
              <a:rPr lang="en-US" sz="1450" kern="0" spc="-80" dirty="0">
                <a:solidFill>
                  <a:schemeClr val="accent6"/>
                </a:solidFill>
              </a:rPr>
              <a:t>Admission/sidecar injection mechanisms in Kubernetes to deploy proxies next to workloads automatically.</a:t>
            </a:r>
          </a:p>
          <a:p>
            <a:pPr marL="12700" marR="5080"/>
            <a:r>
              <a:rPr lang="en-US" sz="1450" kern="0" spc="-80" dirty="0">
                <a:solidFill>
                  <a:schemeClr val="accent2"/>
                </a:solidFill>
              </a:rPr>
              <a:t>Service discovery &amp; identity</a:t>
            </a:r>
          </a:p>
          <a:p>
            <a:pPr marL="12700" marR="5080"/>
            <a:r>
              <a:rPr lang="en-US" sz="1450" kern="0" spc="-80" dirty="0">
                <a:solidFill>
                  <a:schemeClr val="accent6"/>
                </a:solidFill>
              </a:rPr>
              <a:t>The mesh integrates with service discovery (Kubernetes API, Consul, DNS) to map logical service names to endpoints.</a:t>
            </a:r>
          </a:p>
          <a:p>
            <a:pPr marL="12700" marR="5080"/>
            <a:r>
              <a:rPr lang="en-US" sz="1450" kern="0" spc="-80" dirty="0">
                <a:solidFill>
                  <a:schemeClr val="accent6"/>
                </a:solidFill>
              </a:rPr>
              <a:t>Identity provisioning ties service identity to the underlying platform (pod identity, VM identity).</a:t>
            </a:r>
          </a:p>
          <a:p>
            <a:pPr marL="12700" marR="5080"/>
            <a:endParaRPr lang="en-US" sz="1450" kern="0" spc="-80" dirty="0">
              <a:solidFill>
                <a:schemeClr val="accent6"/>
              </a:solidFill>
            </a:endParaRPr>
          </a:p>
        </p:txBody>
      </p:sp>
    </p:spTree>
    <p:extLst>
      <p:ext uri="{BB962C8B-B14F-4D97-AF65-F5344CB8AC3E}">
        <p14:creationId xmlns:p14="http://schemas.microsoft.com/office/powerpoint/2010/main" val="424740756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71FD9-546D-EB75-B87A-D3A9D34FAF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1C1540-A308-CE77-C17E-64F0DF6421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1403E89-BEB0-D460-DBC9-C28855D579A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2BE10E-44BF-7BFE-3E63-B436035FA9A0}"/>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108BFBF-59DB-8242-7091-7C6EFFF08B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C3AB076-411C-7AB3-3529-38B87C958954}"/>
              </a:ext>
            </a:extLst>
          </p:cNvPr>
          <p:cNvSpPr txBox="1">
            <a:spLocks/>
          </p:cNvSpPr>
          <p:nvPr/>
        </p:nvSpPr>
        <p:spPr>
          <a:xfrm>
            <a:off x="137369" y="671014"/>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Core architecture &amp; building blocks</a:t>
            </a:r>
          </a:p>
          <a:p>
            <a:pPr marL="12700" marR="5080"/>
            <a:r>
              <a:rPr lang="en-US" sz="1450" kern="0" spc="-80" dirty="0">
                <a:solidFill>
                  <a:schemeClr val="accent2"/>
                </a:solidFill>
              </a:rPr>
              <a:t>Common technologies / projects (short overview)</a:t>
            </a:r>
          </a:p>
          <a:p>
            <a:pPr marL="12700" marR="5080"/>
            <a:r>
              <a:rPr lang="en-US" sz="1450" kern="0" spc="-80" dirty="0">
                <a:solidFill>
                  <a:schemeClr val="accent6"/>
                </a:solidFill>
              </a:rPr>
              <a:t>Envoy — high-performance L7 proxy used as the default data plane for many meshes. </a:t>
            </a:r>
          </a:p>
          <a:p>
            <a:pPr marL="12700" marR="5080"/>
            <a:r>
              <a:rPr lang="en-US" sz="1450" kern="0" spc="-80" dirty="0">
                <a:solidFill>
                  <a:schemeClr val="accent6"/>
                </a:solidFill>
              </a:rPr>
              <a:t>Istio — popular, feature-rich control plane that uses Envoy sidecars. Strong in policy, telemetry, and traffic management. </a:t>
            </a:r>
          </a:p>
          <a:p>
            <a:pPr marL="12700" marR="5080"/>
            <a:r>
              <a:rPr lang="en-US" sz="1450" kern="0" spc="-80" dirty="0" err="1">
                <a:solidFill>
                  <a:schemeClr val="accent6"/>
                </a:solidFill>
              </a:rPr>
              <a:t>Linkerd</a:t>
            </a:r>
            <a:r>
              <a:rPr lang="en-US" sz="1450" kern="0" spc="-80" dirty="0">
                <a:solidFill>
                  <a:schemeClr val="accent6"/>
                </a:solidFill>
              </a:rPr>
              <a:t> — lightweight service mesh focusing on simplicity and performance; uses its own proxy (Rust/Go versions historically). </a:t>
            </a:r>
          </a:p>
          <a:p>
            <a:pPr marL="12700" marR="5080"/>
            <a:r>
              <a:rPr lang="en-US" sz="1450" kern="0" spc="-80" dirty="0">
                <a:solidFill>
                  <a:schemeClr val="accent6"/>
                </a:solidFill>
              </a:rPr>
              <a:t>Cilium — </a:t>
            </a:r>
            <a:r>
              <a:rPr lang="en-US" sz="1450" kern="0" spc="-80" dirty="0" err="1">
                <a:solidFill>
                  <a:schemeClr val="accent6"/>
                </a:solidFill>
              </a:rPr>
              <a:t>eBPF</a:t>
            </a:r>
            <a:r>
              <a:rPr lang="en-US" sz="1450" kern="0" spc="-80" dirty="0">
                <a:solidFill>
                  <a:schemeClr val="accent6"/>
                </a:solidFill>
              </a:rPr>
              <a:t>-based data plane that can implement mesh capabilities at kernel level (agentless or hybrid), avoiding sidecar overhead in some deployments. </a:t>
            </a:r>
          </a:p>
          <a:p>
            <a:pPr marL="12700" marR="5080"/>
            <a:r>
              <a:rPr lang="en-US" sz="1450" kern="0" spc="-80" dirty="0">
                <a:solidFill>
                  <a:schemeClr val="accent6"/>
                </a:solidFill>
              </a:rPr>
              <a:t>Open Service Mesh (OSM) — CNCF project implementing SMI; lightweight. </a:t>
            </a:r>
          </a:p>
          <a:p>
            <a:pPr marL="12700" marR="5080"/>
            <a:r>
              <a:rPr lang="en-US" sz="1450" kern="0" spc="-80" dirty="0">
                <a:solidFill>
                  <a:schemeClr val="accent6"/>
                </a:solidFill>
              </a:rPr>
              <a:t>Open Service Mesh</a:t>
            </a:r>
          </a:p>
          <a:p>
            <a:pPr marL="12700" marR="5080"/>
            <a:r>
              <a:rPr lang="en-US" sz="1450" kern="0" spc="-80" dirty="0">
                <a:solidFill>
                  <a:schemeClr val="accent6"/>
                </a:solidFill>
              </a:rPr>
              <a:t>SMI (Service Mesh Interface) — a Kubernetes API specification that provides a standard, provider-agnostic interface for traffic, metrics, and policies. Useful for interoperability. </a:t>
            </a:r>
          </a:p>
          <a:p>
            <a:pPr marL="12700" marR="5080"/>
            <a:r>
              <a:rPr lang="en-US" sz="1450" kern="0" spc="-80" dirty="0">
                <a:solidFill>
                  <a:schemeClr val="accent6"/>
                </a:solidFill>
              </a:rPr>
              <a:t>Commercial/managed: AWS App Mesh, Kong Mesh, </a:t>
            </a:r>
            <a:r>
              <a:rPr lang="en-US" sz="1450" kern="0" spc="-80" dirty="0" err="1">
                <a:solidFill>
                  <a:schemeClr val="accent6"/>
                </a:solidFill>
              </a:rPr>
              <a:t>Tetrate</a:t>
            </a:r>
            <a:r>
              <a:rPr lang="en-US" sz="1450" kern="0" spc="-80" dirty="0">
                <a:solidFill>
                  <a:schemeClr val="accent6"/>
                </a:solidFill>
              </a:rPr>
              <a:t>, </a:t>
            </a:r>
            <a:r>
              <a:rPr lang="en-US" sz="1450" kern="0" spc="-80" dirty="0" err="1">
                <a:solidFill>
                  <a:schemeClr val="accent6"/>
                </a:solidFill>
              </a:rPr>
              <a:t>Solo.io’s</a:t>
            </a:r>
            <a:r>
              <a:rPr lang="en-US" sz="1450" kern="0" spc="-80" dirty="0">
                <a:solidFill>
                  <a:schemeClr val="accent6"/>
                </a:solidFill>
              </a:rPr>
              <a:t> </a:t>
            </a:r>
            <a:r>
              <a:rPr lang="en-US" sz="1450" kern="0" spc="-80" dirty="0" err="1">
                <a:solidFill>
                  <a:schemeClr val="accent6"/>
                </a:solidFill>
              </a:rPr>
              <a:t>Gloo</a:t>
            </a:r>
            <a:r>
              <a:rPr lang="en-US" sz="1450" kern="0" spc="-80" dirty="0">
                <a:solidFill>
                  <a:schemeClr val="accent6"/>
                </a:solidFill>
              </a:rPr>
              <a:t> Mesh, etc. (they build on Envoy/Istio/Cilium variants). </a:t>
            </a:r>
          </a:p>
          <a:p>
            <a:pPr marL="12700" marR="5080"/>
            <a:endParaRPr lang="en-US" sz="1450" kern="0" spc="-80" dirty="0">
              <a:solidFill>
                <a:schemeClr val="accent6"/>
              </a:solidFill>
            </a:endParaRPr>
          </a:p>
          <a:p>
            <a:pPr marL="12700" marR="5080"/>
            <a:r>
              <a:rPr lang="en-US" sz="1450" kern="0" spc="-80" dirty="0">
                <a:solidFill>
                  <a:schemeClr val="accent2"/>
                </a:solidFill>
              </a:rPr>
              <a:t>Deployment models &amp; alternatives</a:t>
            </a:r>
          </a:p>
          <a:p>
            <a:pPr marL="12700" marR="5080"/>
            <a:r>
              <a:rPr lang="en-US" sz="1450" kern="0" spc="-80" dirty="0">
                <a:solidFill>
                  <a:schemeClr val="accent2"/>
                </a:solidFill>
              </a:rPr>
              <a:t>Sidecar model (classic)</a:t>
            </a:r>
          </a:p>
          <a:p>
            <a:pPr marL="12700" marR="5080"/>
            <a:r>
              <a:rPr lang="en-US" sz="1450" kern="0" spc="-80" dirty="0">
                <a:solidFill>
                  <a:schemeClr val="accent2"/>
                </a:solidFill>
              </a:rPr>
              <a:t>Pros: </a:t>
            </a:r>
            <a:r>
              <a:rPr lang="en-US" sz="1450" kern="0" spc="-80" dirty="0">
                <a:solidFill>
                  <a:schemeClr val="accent6"/>
                </a:solidFill>
              </a:rPr>
              <a:t>full L7 visibility and control; feature-rich (routing, headers, tracing).</a:t>
            </a:r>
          </a:p>
          <a:p>
            <a:pPr marL="12700" marR="5080"/>
            <a:r>
              <a:rPr lang="en-US" sz="1450" kern="0" spc="-80" dirty="0">
                <a:solidFill>
                  <a:schemeClr val="accent2"/>
                </a:solidFill>
              </a:rPr>
              <a:t>Cons: </a:t>
            </a:r>
            <a:r>
              <a:rPr lang="en-US" sz="1450" kern="0" spc="-80" dirty="0">
                <a:solidFill>
                  <a:schemeClr val="accent6"/>
                </a:solidFill>
              </a:rPr>
              <a:t>resource overhead (one proxy per pod), complexity in operations.</a:t>
            </a:r>
          </a:p>
        </p:txBody>
      </p:sp>
    </p:spTree>
    <p:extLst>
      <p:ext uri="{BB962C8B-B14F-4D97-AF65-F5344CB8AC3E}">
        <p14:creationId xmlns:p14="http://schemas.microsoft.com/office/powerpoint/2010/main" val="6899950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24FCE-D712-E338-3488-87756129A56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A40064-38AF-EC7C-9D70-F8FAD8E49C3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7B94BD-159C-319D-6190-7AB60668474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5FC2A5E-2DC7-9FAC-01F9-3E40A6DC7FFC}"/>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F94002E-9DEC-065E-CBC5-599B976F82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68DFC11-A21E-996F-7AF8-6B46F666FAA8}"/>
              </a:ext>
            </a:extLst>
          </p:cNvPr>
          <p:cNvSpPr txBox="1">
            <a:spLocks/>
          </p:cNvSpPr>
          <p:nvPr/>
        </p:nvSpPr>
        <p:spPr>
          <a:xfrm>
            <a:off x="137369" y="671014"/>
            <a:ext cx="8624937" cy="50552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Deployment models &amp; alternatives</a:t>
            </a:r>
          </a:p>
          <a:p>
            <a:pPr marL="12700" marR="5080"/>
            <a:r>
              <a:rPr lang="en-US" sz="1450" kern="0" spc="-80" dirty="0">
                <a:solidFill>
                  <a:schemeClr val="accent2"/>
                </a:solidFill>
              </a:rPr>
              <a:t>Gateway + sidecar (hybrid)</a:t>
            </a:r>
          </a:p>
          <a:p>
            <a:pPr marL="12700" marR="5080"/>
            <a:r>
              <a:rPr lang="en-US" sz="1450" kern="0" spc="-80" dirty="0">
                <a:solidFill>
                  <a:schemeClr val="accent6"/>
                </a:solidFill>
              </a:rPr>
              <a:t>Use gateway proxies for north/south traffic and sidecars for east/west.</a:t>
            </a:r>
          </a:p>
          <a:p>
            <a:pPr marL="12700" marR="5080"/>
            <a:r>
              <a:rPr lang="en-US" sz="1450" kern="0" spc="-80" dirty="0" err="1">
                <a:solidFill>
                  <a:schemeClr val="accent2"/>
                </a:solidFill>
              </a:rPr>
              <a:t>eBPF</a:t>
            </a:r>
            <a:r>
              <a:rPr lang="en-US" sz="1450" kern="0" spc="-80" dirty="0">
                <a:solidFill>
                  <a:schemeClr val="accent2"/>
                </a:solidFill>
              </a:rPr>
              <a:t> / kernel-level mesh (Cilium)</a:t>
            </a:r>
          </a:p>
          <a:p>
            <a:pPr marL="12700" marR="5080"/>
            <a:r>
              <a:rPr lang="en-US" sz="1450" kern="0" spc="-80" dirty="0">
                <a:solidFill>
                  <a:schemeClr val="accent6"/>
                </a:solidFill>
              </a:rPr>
              <a:t>Implements packet interception in kernel (via </a:t>
            </a:r>
            <a:r>
              <a:rPr lang="en-US" sz="1450" kern="0" spc="-80" dirty="0" err="1">
                <a:solidFill>
                  <a:schemeClr val="accent6"/>
                </a:solidFill>
              </a:rPr>
              <a:t>eBPF</a:t>
            </a:r>
            <a:r>
              <a:rPr lang="en-US" sz="1450" kern="0" spc="-80" dirty="0">
                <a:solidFill>
                  <a:schemeClr val="accent6"/>
                </a:solidFill>
              </a:rPr>
              <a:t>), reducing per-pod sidecar overhead and sometimes improving performance and simplicity for L3/L4 and some L7 features. Trades off some L7 flexibility compared to full Envoy sidecar. </a:t>
            </a:r>
          </a:p>
          <a:p>
            <a:pPr marL="12700" marR="5080"/>
            <a:r>
              <a:rPr lang="en-US" sz="1450" kern="0" spc="-80" dirty="0">
                <a:solidFill>
                  <a:schemeClr val="accent2"/>
                </a:solidFill>
              </a:rPr>
              <a:t>VM &amp; multi-platform support</a:t>
            </a:r>
          </a:p>
          <a:p>
            <a:pPr marL="12700" marR="5080"/>
            <a:r>
              <a:rPr lang="en-US" sz="1450" kern="0" spc="-80" dirty="0">
                <a:solidFill>
                  <a:schemeClr val="accent6"/>
                </a:solidFill>
              </a:rPr>
              <a:t>Meshes support VMs by running proxies on VMs and joining them to the mesh; useful for hybrid cloud or legacy workloads.</a:t>
            </a:r>
          </a:p>
          <a:p>
            <a:pPr marL="12700" marR="5080"/>
            <a:r>
              <a:rPr lang="en-US" sz="1450" kern="0" spc="-80" dirty="0">
                <a:solidFill>
                  <a:schemeClr val="accent2"/>
                </a:solidFill>
              </a:rPr>
              <a:t>Multi-cluster / multi-mesh</a:t>
            </a:r>
          </a:p>
          <a:p>
            <a:pPr marL="12700" marR="5080"/>
            <a:r>
              <a:rPr lang="en-US" sz="1450" kern="0" spc="-80" dirty="0">
                <a:solidFill>
                  <a:schemeClr val="accent6"/>
                </a:solidFill>
              </a:rPr>
              <a:t>Patterns for multi-cluster include: federation, gateway peering, service replication, global control plane vs per-cluster control plane. These add complexity in identity and routing.</a:t>
            </a:r>
          </a:p>
          <a:p>
            <a:pPr marL="12700" marR="5080"/>
            <a:endParaRPr lang="en-US" sz="1450" kern="0" spc="-80" dirty="0">
              <a:solidFill>
                <a:schemeClr val="accent6"/>
              </a:solidFill>
            </a:endParaRPr>
          </a:p>
          <a:p>
            <a:pPr marL="12700" marR="5080"/>
            <a:r>
              <a:rPr lang="en-US" sz="1450" kern="0" spc="-80" dirty="0">
                <a:solidFill>
                  <a:schemeClr val="accent2"/>
                </a:solidFill>
              </a:rPr>
              <a:t>Design patterns &amp; anti-patterns (practical)</a:t>
            </a:r>
          </a:p>
          <a:p>
            <a:pPr marL="12700" marR="5080"/>
            <a:r>
              <a:rPr lang="en-US" sz="1450" kern="0" spc="-80" dirty="0">
                <a:solidFill>
                  <a:schemeClr val="accent2"/>
                </a:solidFill>
              </a:rPr>
              <a:t>Use-cases &amp; patterns</a:t>
            </a:r>
          </a:p>
          <a:p>
            <a:pPr marL="12700" marR="5080"/>
            <a:r>
              <a:rPr lang="en-US" sz="1450" kern="0" spc="-80" dirty="0">
                <a:solidFill>
                  <a:schemeClr val="accent6"/>
                </a:solidFill>
              </a:rPr>
              <a:t>Progressive delivery — canary / percentage-based traffic splitting + health checks + rollback. (Traffic management + observability)</a:t>
            </a:r>
          </a:p>
          <a:p>
            <a:pPr marL="12700" marR="5080"/>
            <a:r>
              <a:rPr lang="en-US" sz="1450" kern="0" spc="-80" dirty="0">
                <a:solidFill>
                  <a:schemeClr val="accent6"/>
                </a:solidFill>
              </a:rPr>
              <a:t>Fault isolation — circuit breakers + bulkheads to prevent cascading failure.</a:t>
            </a:r>
          </a:p>
          <a:p>
            <a:pPr marL="12700" marR="5080"/>
            <a:r>
              <a:rPr lang="en-US" sz="1450" kern="0" spc="-80" dirty="0">
                <a:solidFill>
                  <a:schemeClr val="accent6"/>
                </a:solidFill>
              </a:rPr>
              <a:t>Service authorization — zero-trust: </a:t>
            </a:r>
            <a:r>
              <a:rPr lang="en-US" sz="1450" kern="0" spc="-80" dirty="0" err="1">
                <a:solidFill>
                  <a:schemeClr val="accent6"/>
                </a:solidFill>
              </a:rPr>
              <a:t>mTLS</a:t>
            </a:r>
            <a:r>
              <a:rPr lang="en-US" sz="1450" kern="0" spc="-80" dirty="0">
                <a:solidFill>
                  <a:schemeClr val="accent6"/>
                </a:solidFill>
              </a:rPr>
              <a:t> for </a:t>
            </a:r>
            <a:r>
              <a:rPr lang="en-US" sz="1450" kern="0" spc="-80" dirty="0" err="1">
                <a:solidFill>
                  <a:schemeClr val="accent6"/>
                </a:solidFill>
              </a:rPr>
              <a:t>authn</a:t>
            </a:r>
            <a:r>
              <a:rPr lang="en-US" sz="1450" kern="0" spc="-80" dirty="0">
                <a:solidFill>
                  <a:schemeClr val="accent6"/>
                </a:solidFill>
              </a:rPr>
              <a:t> and RBAC/ABAC in the control plane for </a:t>
            </a:r>
            <a:r>
              <a:rPr lang="en-US" sz="1450" kern="0" spc="-80" dirty="0" err="1">
                <a:solidFill>
                  <a:schemeClr val="accent6"/>
                </a:solidFill>
              </a:rPr>
              <a:t>authz</a:t>
            </a:r>
            <a:r>
              <a:rPr lang="en-US" sz="1450" kern="0" spc="-80" dirty="0">
                <a:solidFill>
                  <a:schemeClr val="accent6"/>
                </a:solidFill>
              </a:rPr>
              <a:t>.</a:t>
            </a:r>
          </a:p>
          <a:p>
            <a:pPr marL="12700" marR="5080"/>
            <a:r>
              <a:rPr lang="en-US" sz="1450" kern="0" spc="-80" dirty="0">
                <a:solidFill>
                  <a:schemeClr val="accent6"/>
                </a:solidFill>
              </a:rPr>
              <a:t>Multi-tenant isolation — network policies + namespace scoping + policies per tenant.</a:t>
            </a:r>
          </a:p>
        </p:txBody>
      </p:sp>
    </p:spTree>
    <p:extLst>
      <p:ext uri="{BB962C8B-B14F-4D97-AF65-F5344CB8AC3E}">
        <p14:creationId xmlns:p14="http://schemas.microsoft.com/office/powerpoint/2010/main" val="217270162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60550-5285-5107-73B8-55F9F92C462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1B5A12E-AB4A-2097-6091-BB74E918714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1E3BCE-E0DD-322F-2B5A-856621BC9B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9DF545F-B580-846F-A048-84655724B86D}"/>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243698B-04B6-D318-5CED-14363EB846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B6380AF-BA16-6F53-EAA3-4D11AE4AFFED}"/>
              </a:ext>
            </a:extLst>
          </p:cNvPr>
          <p:cNvSpPr txBox="1">
            <a:spLocks/>
          </p:cNvSpPr>
          <p:nvPr/>
        </p:nvSpPr>
        <p:spPr>
          <a:xfrm>
            <a:off x="137369" y="671014"/>
            <a:ext cx="8624937" cy="50552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Design patterns &amp; anti-patterns (practical)</a:t>
            </a:r>
          </a:p>
          <a:p>
            <a:pPr marL="12700" marR="5080"/>
            <a:r>
              <a:rPr lang="en-US" sz="1450" kern="0" spc="-80" dirty="0">
                <a:solidFill>
                  <a:schemeClr val="accent2"/>
                </a:solidFill>
              </a:rPr>
              <a:t>Use-cases &amp; patterns</a:t>
            </a:r>
          </a:p>
          <a:p>
            <a:pPr marL="12700" marR="5080"/>
            <a:r>
              <a:rPr lang="en-US" sz="1450" kern="0" spc="-80" dirty="0">
                <a:solidFill>
                  <a:schemeClr val="accent6"/>
                </a:solidFill>
              </a:rPr>
              <a:t>Observability-first design — inject tracing and metrics at the proxy level to instrument apps without code change.</a:t>
            </a:r>
          </a:p>
          <a:p>
            <a:pPr marL="12700" marR="5080"/>
            <a:r>
              <a:rPr lang="en-US" sz="1450" kern="0" spc="-80" dirty="0">
                <a:solidFill>
                  <a:schemeClr val="accent6"/>
                </a:solidFill>
              </a:rPr>
              <a:t>Policy as code — express access/network policies declaratively in the control plane and version them.</a:t>
            </a:r>
          </a:p>
          <a:p>
            <a:pPr marL="12700" marR="5080"/>
            <a:endParaRPr lang="en-US" sz="1450" kern="0" spc="-80" dirty="0">
              <a:solidFill>
                <a:schemeClr val="accent6"/>
              </a:solidFill>
            </a:endParaRPr>
          </a:p>
          <a:p>
            <a:pPr marL="12700" marR="5080"/>
            <a:r>
              <a:rPr lang="en-US" sz="1450" kern="0" spc="-80" dirty="0">
                <a:solidFill>
                  <a:schemeClr val="accent2"/>
                </a:solidFill>
              </a:rPr>
              <a:t>Anti-patterns</a:t>
            </a:r>
          </a:p>
          <a:p>
            <a:pPr marL="12700" marR="5080"/>
            <a:r>
              <a:rPr lang="en-US" sz="1450" kern="0" spc="-80" dirty="0">
                <a:solidFill>
                  <a:schemeClr val="accent6"/>
                </a:solidFill>
              </a:rPr>
              <a:t>"Mesh everything" immediately — don’t flip the switch for all services; adopt incrementally starting with a few critical services.</a:t>
            </a:r>
          </a:p>
          <a:p>
            <a:pPr marL="12700" marR="5080"/>
            <a:r>
              <a:rPr lang="en-US" sz="1450" kern="0" spc="-80" dirty="0">
                <a:solidFill>
                  <a:schemeClr val="accent6"/>
                </a:solidFill>
              </a:rPr>
              <a:t>Heavy-handed policies — applying global strict retries/timeouts without tuning can worsen latency or amplify load.</a:t>
            </a:r>
          </a:p>
          <a:p>
            <a:pPr marL="12700" marR="5080"/>
            <a:r>
              <a:rPr lang="en-US" sz="1450" kern="0" spc="-80" dirty="0">
                <a:solidFill>
                  <a:schemeClr val="accent6"/>
                </a:solidFill>
              </a:rPr>
              <a:t>Ignoring the data plane cost — sidecars increase CPU/memory; evaluate </a:t>
            </a:r>
            <a:r>
              <a:rPr lang="en-US" sz="1450" kern="0" spc="-80" dirty="0" err="1">
                <a:solidFill>
                  <a:schemeClr val="accent6"/>
                </a:solidFill>
              </a:rPr>
              <a:t>eBPF</a:t>
            </a:r>
            <a:r>
              <a:rPr lang="en-US" sz="1450" kern="0" spc="-80" dirty="0">
                <a:solidFill>
                  <a:schemeClr val="accent6"/>
                </a:solidFill>
              </a:rPr>
              <a:t> or lightweight proxies if overhead matters.</a:t>
            </a:r>
          </a:p>
          <a:p>
            <a:pPr marL="12700" marR="5080"/>
            <a:r>
              <a:rPr lang="en-US" sz="1450" kern="0" spc="-80" dirty="0">
                <a:solidFill>
                  <a:schemeClr val="accent6"/>
                </a:solidFill>
              </a:rPr>
              <a:t>Treating mesh as a silver bullet — it solves many cross-cutting concerns, but adds complexity and operational overhead.</a:t>
            </a:r>
          </a:p>
          <a:p>
            <a:pPr marL="12700" marR="5080"/>
            <a:endParaRPr lang="en-US" sz="1450" kern="0" spc="-80" dirty="0">
              <a:solidFill>
                <a:schemeClr val="accent6"/>
              </a:solidFill>
            </a:endParaRPr>
          </a:p>
          <a:p>
            <a:pPr marL="12700" marR="5080"/>
            <a:r>
              <a:rPr lang="en-US" sz="1450" kern="0" spc="-80" dirty="0">
                <a:solidFill>
                  <a:schemeClr val="accent2"/>
                </a:solidFill>
              </a:rPr>
              <a:t>Practical operational concerns</a:t>
            </a:r>
          </a:p>
          <a:p>
            <a:pPr marL="12700" marR="5080"/>
            <a:r>
              <a:rPr lang="en-US" sz="1450" kern="0" spc="-80" dirty="0">
                <a:solidFill>
                  <a:schemeClr val="accent2"/>
                </a:solidFill>
              </a:rPr>
              <a:t>Performance &amp; resource use</a:t>
            </a:r>
          </a:p>
          <a:p>
            <a:pPr marL="12700" marR="5080"/>
            <a:r>
              <a:rPr lang="en-US" sz="1450" kern="0" spc="-80" dirty="0">
                <a:solidFill>
                  <a:schemeClr val="accent6"/>
                </a:solidFill>
              </a:rPr>
              <a:t>Sidecars add CPU/memory overhead; measure latency and resource usage during rollout.</a:t>
            </a:r>
          </a:p>
          <a:p>
            <a:pPr marL="12700" marR="5080"/>
            <a:r>
              <a:rPr lang="en-US" sz="1450" kern="0" spc="-80" dirty="0">
                <a:solidFill>
                  <a:schemeClr val="accent6"/>
                </a:solidFill>
              </a:rPr>
              <a:t>Use explicit L7 vs L4 needs to decide proxy and features (full Envoy vs simpler proxies).</a:t>
            </a:r>
          </a:p>
        </p:txBody>
      </p:sp>
    </p:spTree>
    <p:extLst>
      <p:ext uri="{BB962C8B-B14F-4D97-AF65-F5344CB8AC3E}">
        <p14:creationId xmlns:p14="http://schemas.microsoft.com/office/powerpoint/2010/main" val="237053533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E6D0B-0B8E-36D0-BBFD-0E63F8BAF2D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6A22AED-EB0D-1FDA-E71E-9EA58B5756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F4695C-69A3-19BF-D4E9-68307F5B79F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7EF678E-2AEC-2C55-9646-98F834A279A3}"/>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252F595-B1E5-B747-ADC5-DBB23F91C39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489E52A-2CBD-6555-BAA7-0E93BA5BBADE}"/>
              </a:ext>
            </a:extLst>
          </p:cNvPr>
          <p:cNvSpPr txBox="1">
            <a:spLocks/>
          </p:cNvSpPr>
          <p:nvPr/>
        </p:nvSpPr>
        <p:spPr>
          <a:xfrm>
            <a:off x="137369" y="671014"/>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Practical operational concerns</a:t>
            </a:r>
          </a:p>
          <a:p>
            <a:pPr marL="12700" marR="5080"/>
            <a:r>
              <a:rPr lang="en-US" sz="1450" kern="0" spc="-80" dirty="0">
                <a:solidFill>
                  <a:schemeClr val="accent2"/>
                </a:solidFill>
              </a:rPr>
              <a:t>Upgrades &amp; compatibility</a:t>
            </a:r>
          </a:p>
          <a:p>
            <a:pPr marL="12700" marR="5080"/>
            <a:r>
              <a:rPr lang="en-US" sz="1450" kern="0" spc="-80" dirty="0">
                <a:solidFill>
                  <a:schemeClr val="accent6"/>
                </a:solidFill>
              </a:rPr>
              <a:t>Control plane upgrades must be coordinated with proxy versions; use canaries for mesh upgrades themselves.</a:t>
            </a:r>
          </a:p>
          <a:p>
            <a:pPr marL="12700" marR="5080"/>
            <a:r>
              <a:rPr lang="en-US" sz="1450" kern="0" spc="-80" dirty="0">
                <a:solidFill>
                  <a:schemeClr val="accent2"/>
                </a:solidFill>
              </a:rPr>
              <a:t>Observability pipelines</a:t>
            </a:r>
          </a:p>
          <a:p>
            <a:pPr marL="12700" marR="5080"/>
            <a:r>
              <a:rPr lang="en-US" sz="1450" kern="0" spc="-80" dirty="0">
                <a:solidFill>
                  <a:schemeClr val="accent6"/>
                </a:solidFill>
              </a:rPr>
              <a:t>Ensure sampling and metric aggregation are tuned to avoid overwhelming collectors.</a:t>
            </a:r>
          </a:p>
          <a:p>
            <a:pPr marL="12700" marR="5080"/>
            <a:r>
              <a:rPr lang="en-US" sz="1450" kern="0" spc="-80" dirty="0">
                <a:solidFill>
                  <a:schemeClr val="accent6"/>
                </a:solidFill>
              </a:rPr>
              <a:t>Use correlation IDs / trace context — the mesh can propagate these automatically.</a:t>
            </a:r>
          </a:p>
          <a:p>
            <a:pPr marL="12700" marR="5080"/>
            <a:r>
              <a:rPr lang="en-US" sz="1450" kern="0" spc="-80" dirty="0">
                <a:solidFill>
                  <a:schemeClr val="accent2"/>
                </a:solidFill>
              </a:rPr>
              <a:t>Security</a:t>
            </a:r>
          </a:p>
          <a:p>
            <a:pPr marL="12700" marR="5080"/>
            <a:r>
              <a:rPr lang="en-US" sz="1450" kern="0" spc="-80" dirty="0">
                <a:solidFill>
                  <a:schemeClr val="accent6"/>
                </a:solidFill>
              </a:rPr>
              <a:t>Short-lived certificates, automated rotation, and proper trust anchors are essential.</a:t>
            </a:r>
          </a:p>
          <a:p>
            <a:pPr marL="12700" marR="5080"/>
            <a:r>
              <a:rPr lang="en-US" sz="1450" kern="0" spc="-80" dirty="0">
                <a:solidFill>
                  <a:schemeClr val="accent6"/>
                </a:solidFill>
              </a:rPr>
              <a:t>Plan for CA compromise scenarios (rotation, revocation).</a:t>
            </a:r>
          </a:p>
          <a:p>
            <a:pPr marL="12700" marR="5080"/>
            <a:r>
              <a:rPr lang="en-US" sz="1450" kern="0" spc="-80" dirty="0">
                <a:solidFill>
                  <a:schemeClr val="accent6"/>
                </a:solidFill>
              </a:rPr>
              <a:t>Policy management &amp; compliance</a:t>
            </a:r>
          </a:p>
          <a:p>
            <a:pPr marL="12700" marR="5080"/>
            <a:r>
              <a:rPr lang="en-US" sz="1450" kern="0" spc="-80" dirty="0">
                <a:solidFill>
                  <a:schemeClr val="accent6"/>
                </a:solidFill>
              </a:rPr>
              <a:t>Keep policy definitions in git (</a:t>
            </a:r>
            <a:r>
              <a:rPr lang="en-US" sz="1450" kern="0" spc="-80" dirty="0" err="1">
                <a:solidFill>
                  <a:schemeClr val="accent6"/>
                </a:solidFill>
              </a:rPr>
              <a:t>GitOps</a:t>
            </a:r>
            <a:r>
              <a:rPr lang="en-US" sz="1450" kern="0" spc="-80" dirty="0">
                <a:solidFill>
                  <a:schemeClr val="accent6"/>
                </a:solidFill>
              </a:rPr>
              <a:t>) and validate with conformance tools (</a:t>
            </a:r>
            <a:r>
              <a:rPr lang="en-US" sz="1450" kern="0" spc="-80" dirty="0" err="1">
                <a:solidFill>
                  <a:schemeClr val="accent6"/>
                </a:solidFill>
              </a:rPr>
              <a:t>Meshery</a:t>
            </a:r>
            <a:r>
              <a:rPr lang="en-US" sz="1450" kern="0" spc="-80" dirty="0">
                <a:solidFill>
                  <a:schemeClr val="accent6"/>
                </a:solidFill>
              </a:rPr>
              <a:t>, SMI conformance). </a:t>
            </a:r>
          </a:p>
          <a:p>
            <a:pPr marL="12700" marR="5080"/>
            <a:endParaRPr lang="en-US" sz="1450" kern="0" spc="-80" dirty="0">
              <a:solidFill>
                <a:schemeClr val="accent6"/>
              </a:solidFill>
            </a:endParaRPr>
          </a:p>
          <a:p>
            <a:pPr marL="12700" marR="5080"/>
            <a:r>
              <a:rPr lang="en-US" sz="1450" kern="0" spc="-80" dirty="0">
                <a:solidFill>
                  <a:schemeClr val="accent2"/>
                </a:solidFill>
              </a:rPr>
              <a:t>When to adopt a service mesh — quick checklist</a:t>
            </a:r>
          </a:p>
          <a:p>
            <a:pPr marL="12700" marR="5080"/>
            <a:r>
              <a:rPr lang="en-US" sz="1450" kern="0" spc="-80" dirty="0">
                <a:solidFill>
                  <a:schemeClr val="accent2"/>
                </a:solidFill>
              </a:rPr>
              <a:t>Adopt a mesh when you have:</a:t>
            </a:r>
          </a:p>
          <a:p>
            <a:pPr marL="12700" marR="5080"/>
            <a:r>
              <a:rPr lang="en-US" sz="1450" kern="0" spc="-80" dirty="0">
                <a:solidFill>
                  <a:schemeClr val="accent6"/>
                </a:solidFill>
              </a:rPr>
              <a:t>Many microservices with complex communication patterns.</a:t>
            </a:r>
          </a:p>
          <a:p>
            <a:pPr marL="12700" marR="5080"/>
            <a:r>
              <a:rPr lang="en-US" sz="1450" kern="0" spc="-80" dirty="0">
                <a:solidFill>
                  <a:schemeClr val="accent6"/>
                </a:solidFill>
              </a:rPr>
              <a:t>Need for consistent security (</a:t>
            </a:r>
            <a:r>
              <a:rPr lang="en-US" sz="1450" kern="0" spc="-80" dirty="0" err="1">
                <a:solidFill>
                  <a:schemeClr val="accent6"/>
                </a:solidFill>
              </a:rPr>
              <a:t>mTLS</a:t>
            </a:r>
            <a:r>
              <a:rPr lang="en-US" sz="1450" kern="0" spc="-80" dirty="0">
                <a:solidFill>
                  <a:schemeClr val="accent6"/>
                </a:solidFill>
              </a:rPr>
              <a:t>) and identity.</a:t>
            </a:r>
          </a:p>
          <a:p>
            <a:pPr marL="12700" marR="5080"/>
            <a:r>
              <a:rPr lang="en-US" sz="1450" kern="0" spc="-80" dirty="0">
                <a:solidFill>
                  <a:schemeClr val="accent6"/>
                </a:solidFill>
              </a:rPr>
              <a:t>Requirements for advanced traffic control (canary, blue/green).</a:t>
            </a:r>
          </a:p>
          <a:p>
            <a:pPr marL="12700" marR="5080"/>
            <a:r>
              <a:rPr lang="en-US" sz="1450" kern="0" spc="-80" dirty="0">
                <a:solidFill>
                  <a:schemeClr val="accent6"/>
                </a:solidFill>
              </a:rPr>
              <a:t>Need for centralized telemetry for SLIs/SLOs.</a:t>
            </a:r>
          </a:p>
        </p:txBody>
      </p:sp>
    </p:spTree>
    <p:extLst>
      <p:ext uri="{BB962C8B-B14F-4D97-AF65-F5344CB8AC3E}">
        <p14:creationId xmlns:p14="http://schemas.microsoft.com/office/powerpoint/2010/main" val="192441357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2BFBC-1604-F6F9-4870-986674F493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5B183C-D4D3-556B-3460-9085A5BCFB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AA057C-A12F-94AE-4A57-D36B9148E8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ED4473-850D-0A3C-0273-79BC90D5BB22}"/>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352B736-F112-4CC6-2146-1F66491519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8C0D351-510E-1B1B-389C-D18C02B63FE6}"/>
              </a:ext>
            </a:extLst>
          </p:cNvPr>
          <p:cNvSpPr txBox="1">
            <a:spLocks/>
          </p:cNvSpPr>
          <p:nvPr/>
        </p:nvSpPr>
        <p:spPr>
          <a:xfrm>
            <a:off x="137369" y="671014"/>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When to adopt a service mesh — quick checklist</a:t>
            </a:r>
          </a:p>
          <a:p>
            <a:pPr marL="12700" marR="5080"/>
            <a:r>
              <a:rPr lang="en-US" sz="1450" kern="0" spc="-80" dirty="0">
                <a:solidFill>
                  <a:schemeClr val="accent2"/>
                </a:solidFill>
              </a:rPr>
              <a:t>Avoid if:</a:t>
            </a:r>
          </a:p>
          <a:p>
            <a:pPr marL="12700" marR="5080"/>
            <a:r>
              <a:rPr lang="en-US" sz="1450" kern="0" spc="-80" dirty="0">
                <a:solidFill>
                  <a:schemeClr val="accent6"/>
                </a:solidFill>
              </a:rPr>
              <a:t>You have a tiny set of services (added complexity not worth it).</a:t>
            </a:r>
          </a:p>
          <a:p>
            <a:pPr marL="12700" marR="5080"/>
            <a:r>
              <a:rPr lang="en-US" sz="1450" kern="0" spc="-80" dirty="0">
                <a:solidFill>
                  <a:schemeClr val="accent6"/>
                </a:solidFill>
              </a:rPr>
              <a:t>Strict resource constraints where sidecar overhead is unacceptable (consider </a:t>
            </a:r>
            <a:r>
              <a:rPr lang="en-US" sz="1450" kern="0" spc="-80" dirty="0" err="1">
                <a:solidFill>
                  <a:schemeClr val="accent6"/>
                </a:solidFill>
              </a:rPr>
              <a:t>eBPF</a:t>
            </a:r>
            <a:r>
              <a:rPr lang="en-US" sz="1450" kern="0" spc="-80" dirty="0">
                <a:solidFill>
                  <a:schemeClr val="accent6"/>
                </a:solidFill>
              </a:rPr>
              <a:t> or selective injection).</a:t>
            </a:r>
          </a:p>
          <a:p>
            <a:pPr marL="12700" marR="5080"/>
            <a:r>
              <a:rPr lang="en-US" sz="1450" kern="0" spc="-80" dirty="0">
                <a:solidFill>
                  <a:schemeClr val="accent2"/>
                </a:solidFill>
              </a:rPr>
              <a:t>Example: progressive delivery flow using a mesh (concrete)</a:t>
            </a:r>
          </a:p>
          <a:p>
            <a:pPr marL="12700" marR="5080"/>
            <a:r>
              <a:rPr lang="en-US" sz="1450" kern="0" spc="-80" dirty="0">
                <a:solidFill>
                  <a:schemeClr val="accent6"/>
                </a:solidFill>
              </a:rPr>
              <a:t>Deploy sidecar to service A (v1) and B (v1).</a:t>
            </a:r>
          </a:p>
          <a:p>
            <a:pPr marL="12700" marR="5080"/>
            <a:r>
              <a:rPr lang="en-US" sz="1450" kern="0" spc="-80" dirty="0">
                <a:solidFill>
                  <a:schemeClr val="accent6"/>
                </a:solidFill>
              </a:rPr>
              <a:t>Deploy B v2 alongside v1.</a:t>
            </a:r>
          </a:p>
          <a:p>
            <a:pPr marL="12700" marR="5080"/>
            <a:r>
              <a:rPr lang="en-US" sz="1450" kern="0" spc="-80" dirty="0">
                <a:solidFill>
                  <a:schemeClr val="accent6"/>
                </a:solidFill>
              </a:rPr>
              <a:t>Use control plane rule to split 90/10 traffic to v1/v2.</a:t>
            </a:r>
          </a:p>
          <a:p>
            <a:pPr marL="12700" marR="5080"/>
            <a:r>
              <a:rPr lang="en-US" sz="1450" kern="0" spc="-80" dirty="0">
                <a:solidFill>
                  <a:schemeClr val="accent6"/>
                </a:solidFill>
              </a:rPr>
              <a:t>Monitor success rate and latency via mesh telemetry.</a:t>
            </a:r>
          </a:p>
          <a:p>
            <a:pPr marL="12700" marR="5080"/>
            <a:r>
              <a:rPr lang="en-US" sz="1450" kern="0" spc="-80" dirty="0">
                <a:solidFill>
                  <a:schemeClr val="accent6"/>
                </a:solidFill>
              </a:rPr>
              <a:t>If OK, gradually shift percentages to 100%; if not, rollback by changing traffic split.</a:t>
            </a:r>
          </a:p>
          <a:p>
            <a:pPr marL="12700" marR="5080"/>
            <a:r>
              <a:rPr lang="en-US" sz="1450" kern="0" spc="-80" dirty="0">
                <a:solidFill>
                  <a:schemeClr val="accent6"/>
                </a:solidFill>
              </a:rPr>
              <a:t>Use request mirroring to test B v2 with real traffic before switching. </a:t>
            </a:r>
          </a:p>
          <a:p>
            <a:pPr marL="12700" marR="5080"/>
            <a:r>
              <a:rPr lang="en-US" sz="1450" kern="0" spc="-80" dirty="0">
                <a:solidFill>
                  <a:schemeClr val="accent2"/>
                </a:solidFill>
              </a:rPr>
              <a:t>Standards &amp; interoperability</a:t>
            </a:r>
          </a:p>
          <a:p>
            <a:pPr marL="12700" marR="5080"/>
            <a:r>
              <a:rPr lang="en-US" sz="1450" kern="0" spc="-80" dirty="0">
                <a:solidFill>
                  <a:schemeClr val="accent6"/>
                </a:solidFill>
              </a:rPr>
              <a:t>SMI (Service Mesh Interface) provides a common set of APIs for traffic spec, telemetry and policies so apps can be portable across meshes. Use it to avoid vendor lock-in where possible. </a:t>
            </a:r>
          </a:p>
          <a:p>
            <a:pPr marL="12700" marR="5080"/>
            <a:endParaRPr lang="en-US" sz="1450" kern="0" spc="-80" dirty="0">
              <a:solidFill>
                <a:schemeClr val="accent6"/>
              </a:solidFill>
            </a:endParaRPr>
          </a:p>
          <a:p>
            <a:pPr marL="12700" marR="5080"/>
            <a:r>
              <a:rPr lang="en-US" sz="1450" kern="0" spc="-80" dirty="0">
                <a:solidFill>
                  <a:schemeClr val="accent2"/>
                </a:solidFill>
              </a:rPr>
              <a:t>Emerging trends</a:t>
            </a:r>
          </a:p>
          <a:p>
            <a:pPr marL="12700" marR="5080"/>
            <a:r>
              <a:rPr lang="en-US" sz="1450" kern="0" spc="-80" dirty="0" err="1">
                <a:solidFill>
                  <a:schemeClr val="accent6"/>
                </a:solidFill>
              </a:rPr>
              <a:t>eBPF</a:t>
            </a:r>
            <a:r>
              <a:rPr lang="en-US" sz="1450" kern="0" spc="-80" dirty="0">
                <a:solidFill>
                  <a:schemeClr val="accent6"/>
                </a:solidFill>
              </a:rPr>
              <a:t>-based meshes reducing or eliminating sidecars (Cilium, </a:t>
            </a:r>
            <a:r>
              <a:rPr lang="en-US" sz="1450" kern="0" spc="-80" dirty="0" err="1">
                <a:solidFill>
                  <a:schemeClr val="accent6"/>
                </a:solidFill>
              </a:rPr>
              <a:t>Isovalent</a:t>
            </a:r>
            <a:r>
              <a:rPr lang="en-US" sz="1450" kern="0" spc="-80" dirty="0">
                <a:solidFill>
                  <a:schemeClr val="accent6"/>
                </a:solidFill>
              </a:rPr>
              <a:t>).</a:t>
            </a:r>
          </a:p>
          <a:p>
            <a:pPr marL="12700" marR="5080"/>
            <a:r>
              <a:rPr lang="en-US" sz="1450" kern="0" spc="-80" dirty="0">
                <a:solidFill>
                  <a:schemeClr val="accent6"/>
                </a:solidFill>
              </a:rPr>
              <a:t>WASM filters in proxies for custom logic without rebuilding proxies.</a:t>
            </a:r>
          </a:p>
          <a:p>
            <a:pPr marL="12700" marR="5080"/>
            <a:r>
              <a:rPr lang="en-US" sz="1450" kern="0" spc="-80" dirty="0">
                <a:solidFill>
                  <a:schemeClr val="accent6"/>
                </a:solidFill>
              </a:rPr>
              <a:t>Service mesh for non-Kubernetes environments and unified meshes across VMs and Kubernetes clusters.</a:t>
            </a:r>
          </a:p>
          <a:p>
            <a:pPr marL="12700" marR="5080"/>
            <a:r>
              <a:rPr lang="en-US" sz="1450" kern="0" spc="-80" dirty="0">
                <a:solidFill>
                  <a:schemeClr val="accent6"/>
                </a:solidFill>
              </a:rPr>
              <a:t>Policy federation and multi-mesh control planes for global governance.</a:t>
            </a:r>
          </a:p>
          <a:p>
            <a:pPr marL="12700" marR="5080"/>
            <a:endParaRPr lang="en-US" sz="1450" kern="0" spc="-80" dirty="0">
              <a:solidFill>
                <a:schemeClr val="accent6"/>
              </a:solidFill>
            </a:endParaRPr>
          </a:p>
        </p:txBody>
      </p:sp>
    </p:spTree>
    <p:extLst>
      <p:ext uri="{BB962C8B-B14F-4D97-AF65-F5344CB8AC3E}">
        <p14:creationId xmlns:p14="http://schemas.microsoft.com/office/powerpoint/2010/main" val="159094504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ECF27-2266-70E1-E689-46AD08B22C7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C42B4C-0063-1745-F9C4-1435603799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A68E12-CDCB-A2B6-7E87-6F3F1D1F3E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5E6D9C-A6F0-9511-0895-A9F30233B081}"/>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EFB6970-477C-9CAB-E35A-E6383869BE5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6760AEC-4FD7-82DA-EDF1-A01935CED9BF}"/>
              </a:ext>
            </a:extLst>
          </p:cNvPr>
          <p:cNvSpPr txBox="1">
            <a:spLocks/>
          </p:cNvSpPr>
          <p:nvPr/>
        </p:nvSpPr>
        <p:spPr>
          <a:xfrm>
            <a:off x="137369" y="671014"/>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Emerging trends</a:t>
            </a:r>
          </a:p>
          <a:p>
            <a:pPr marL="12700" marR="5080"/>
            <a:r>
              <a:rPr lang="en-US" sz="1450" kern="0" spc="-80" dirty="0">
                <a:solidFill>
                  <a:schemeClr val="accent6"/>
                </a:solidFill>
              </a:rPr>
              <a:t>Quick list of useful references (official docs)</a:t>
            </a:r>
          </a:p>
          <a:p>
            <a:pPr marL="12700" marR="5080"/>
            <a:r>
              <a:rPr lang="en-US" sz="1450" kern="0" spc="-80" dirty="0">
                <a:solidFill>
                  <a:schemeClr val="accent6"/>
                </a:solidFill>
              </a:rPr>
              <a:t>Istio architecture &amp; traffic management (control/data plane concepts): Istio docs. </a:t>
            </a:r>
          </a:p>
          <a:p>
            <a:pPr marL="12700" marR="5080"/>
            <a:r>
              <a:rPr lang="en-US" sz="1450" kern="0" spc="-80" dirty="0">
                <a:solidFill>
                  <a:schemeClr val="accent6"/>
                </a:solidFill>
              </a:rPr>
              <a:t>Envoy proxy (data plane capabilities): Envoy docs.</a:t>
            </a:r>
          </a:p>
          <a:p>
            <a:pPr marL="12700" marR="5080"/>
            <a:r>
              <a:rPr lang="en-US" sz="1450" kern="0" spc="-80" dirty="0">
                <a:solidFill>
                  <a:schemeClr val="accent6"/>
                </a:solidFill>
              </a:rPr>
              <a:t>Cilium </a:t>
            </a:r>
            <a:r>
              <a:rPr lang="en-US" sz="1450" kern="0" spc="-80" dirty="0" err="1">
                <a:solidFill>
                  <a:schemeClr val="accent6"/>
                </a:solidFill>
              </a:rPr>
              <a:t>eBPF</a:t>
            </a:r>
            <a:r>
              <a:rPr lang="en-US" sz="1450" kern="0" spc="-80" dirty="0">
                <a:solidFill>
                  <a:schemeClr val="accent6"/>
                </a:solidFill>
              </a:rPr>
              <a:t> service mesh overview: Cilium docs. </a:t>
            </a:r>
          </a:p>
          <a:p>
            <a:pPr marL="12700" marR="5080"/>
            <a:r>
              <a:rPr lang="en-US" sz="1450" kern="0" spc="-80" dirty="0">
                <a:solidFill>
                  <a:schemeClr val="accent6"/>
                </a:solidFill>
              </a:rPr>
              <a:t>SMI (Service Mesh Interface) spec &amp; GitHub: SMI site and repo. </a:t>
            </a:r>
          </a:p>
          <a:p>
            <a:pPr marL="12700" marR="5080"/>
            <a:r>
              <a:rPr lang="en-US" sz="1450" kern="0" spc="-80" dirty="0" err="1">
                <a:solidFill>
                  <a:schemeClr val="accent6"/>
                </a:solidFill>
              </a:rPr>
              <a:t>Meshery</a:t>
            </a:r>
            <a:r>
              <a:rPr lang="en-US" sz="1450" kern="0" spc="-80" dirty="0">
                <a:solidFill>
                  <a:schemeClr val="accent6"/>
                </a:solidFill>
              </a:rPr>
              <a:t> / SMI conformance: Layer5 / </a:t>
            </a:r>
            <a:r>
              <a:rPr lang="en-US" sz="1450" kern="0" spc="-80" dirty="0" err="1">
                <a:solidFill>
                  <a:schemeClr val="accent6"/>
                </a:solidFill>
              </a:rPr>
              <a:t>Meshery</a:t>
            </a:r>
            <a:r>
              <a:rPr lang="en-US" sz="1450" kern="0" spc="-80" dirty="0">
                <a:solidFill>
                  <a:schemeClr val="accent6"/>
                </a:solidFill>
              </a:rPr>
              <a:t> pages.</a:t>
            </a:r>
          </a:p>
          <a:p>
            <a:pPr marL="12700" marR="5080"/>
            <a:endParaRPr lang="en-US" sz="1450" kern="0" spc="-80" dirty="0">
              <a:solidFill>
                <a:schemeClr val="accent6"/>
              </a:solidFill>
            </a:endParaRPr>
          </a:p>
          <a:p>
            <a:pPr marL="12700" marR="5080"/>
            <a:r>
              <a:rPr lang="en-US" sz="1450" kern="0" spc="-80" dirty="0">
                <a:solidFill>
                  <a:schemeClr val="accent2"/>
                </a:solidFill>
              </a:rPr>
              <a:t>Practical advice</a:t>
            </a:r>
          </a:p>
          <a:p>
            <a:pPr marL="12700" marR="5080"/>
            <a:r>
              <a:rPr lang="en-US" sz="1450" kern="0" spc="-80" dirty="0">
                <a:solidFill>
                  <a:schemeClr val="accent6"/>
                </a:solidFill>
              </a:rPr>
              <a:t>Start small: pick a pilot team/service, enable sidecar, validate traffic management and telemetry.</a:t>
            </a:r>
          </a:p>
          <a:p>
            <a:pPr marL="12700" marR="5080"/>
            <a:r>
              <a:rPr lang="en-US" sz="1450" kern="0" spc="-80" dirty="0">
                <a:solidFill>
                  <a:schemeClr val="accent6"/>
                </a:solidFill>
              </a:rPr>
              <a:t>Choose tooling by priorities: Istio for features &amp; policy, </a:t>
            </a:r>
            <a:r>
              <a:rPr lang="en-US" sz="1450" kern="0" spc="-80" dirty="0" err="1">
                <a:solidFill>
                  <a:schemeClr val="accent6"/>
                </a:solidFill>
              </a:rPr>
              <a:t>Linkerd</a:t>
            </a:r>
            <a:r>
              <a:rPr lang="en-US" sz="1450" kern="0" spc="-80" dirty="0">
                <a:solidFill>
                  <a:schemeClr val="accent6"/>
                </a:solidFill>
              </a:rPr>
              <a:t> for simplicity &amp; performance, Cilium if you want minimal sidecar overhead or kernel-level enforcement.</a:t>
            </a:r>
          </a:p>
          <a:p>
            <a:pPr marL="12700" marR="5080"/>
            <a:r>
              <a:rPr lang="en-US" sz="1450" kern="0" spc="-80" dirty="0">
                <a:solidFill>
                  <a:schemeClr val="accent6"/>
                </a:solidFill>
              </a:rPr>
              <a:t>Use </a:t>
            </a:r>
            <a:r>
              <a:rPr lang="en-US" sz="1450" kern="0" spc="-80" dirty="0" err="1">
                <a:solidFill>
                  <a:schemeClr val="accent6"/>
                </a:solidFill>
              </a:rPr>
              <a:t>GitOps</a:t>
            </a:r>
            <a:r>
              <a:rPr lang="en-US" sz="1450" kern="0" spc="-80" dirty="0">
                <a:solidFill>
                  <a:schemeClr val="accent6"/>
                </a:solidFill>
              </a:rPr>
              <a:t> for mesh configuration, tune sampling &amp; resource use, and treat the mesh as an operational component that needs testing and upgrades.</a:t>
            </a:r>
          </a:p>
        </p:txBody>
      </p:sp>
    </p:spTree>
    <p:extLst>
      <p:ext uri="{BB962C8B-B14F-4D97-AF65-F5344CB8AC3E}">
        <p14:creationId xmlns:p14="http://schemas.microsoft.com/office/powerpoint/2010/main" val="66445783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786046" cy="53399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2400" kern="0" spc="-80" dirty="0">
                <a:solidFill>
                  <a:schemeClr val="accent2"/>
                </a:solidFill>
              </a:rPr>
              <a:t>For Further Exploration</a:t>
            </a:r>
          </a:p>
          <a:p>
            <a:pPr marL="12700" marR="5080"/>
            <a:r>
              <a:rPr lang="en-US" sz="1700" dirty="0">
                <a:hlinkClick r:id="rId7">
                  <a:extLst>
                    <a:ext uri="{A12FA001-AC4F-418D-AE19-62706E023703}">
                      <ahyp:hlinkClr xmlns:ahyp="http://schemas.microsoft.com/office/drawing/2018/hyperlinkcolor" val="tx"/>
                    </a:ext>
                  </a:extLst>
                </a:hlinkClick>
              </a:rPr>
              <a:t>What is a Service Mesh? | Definition from TechTarget</a:t>
            </a:r>
            <a:endParaRPr lang="en-US" sz="1700" dirty="0"/>
          </a:p>
          <a:p>
            <a:pPr marL="12700" marR="5080"/>
            <a:r>
              <a:rPr lang="en-US" sz="1700" dirty="0">
                <a:hlinkClick r:id="rId8">
                  <a:extLst>
                    <a:ext uri="{A12FA001-AC4F-418D-AE19-62706E023703}">
                      <ahyp:hlinkClr xmlns:ahyp="http://schemas.microsoft.com/office/drawing/2018/hyperlinkcolor" val="tx"/>
                    </a:ext>
                  </a:extLst>
                </a:hlinkClick>
              </a:rPr>
              <a:t>Microservice Service Discovery: Service Mesh vs API Gateway Explained</a:t>
            </a:r>
            <a:r>
              <a:rPr lang="en-US" sz="1700" dirty="0"/>
              <a:t> </a:t>
            </a:r>
          </a:p>
          <a:p>
            <a:pPr marL="12700" marR="5080"/>
            <a:r>
              <a:rPr lang="en-US" sz="1700" dirty="0">
                <a:hlinkClick r:id="rId9"/>
              </a:rPr>
              <a:t>How to implement security for microservices</a:t>
            </a:r>
            <a:endParaRPr lang="en-US" sz="1700" dirty="0"/>
          </a:p>
          <a:p>
            <a:pPr marL="12700" marR="5080"/>
            <a:r>
              <a:rPr lang="en-IN" sz="1700" dirty="0">
                <a:hlinkClick r:id="rId10"/>
              </a:rPr>
              <a:t>Kubernetes-Service-Mesh-with-Istio</a:t>
            </a:r>
            <a:endParaRPr lang="en-IN" sz="1700" dirty="0"/>
          </a:p>
          <a:p>
            <a:pPr marL="12700" marR="5080"/>
            <a:r>
              <a:rPr lang="en-US" sz="1700" dirty="0">
                <a:hlinkClick r:id="rId11"/>
              </a:rPr>
              <a:t>Service Mesh Interface Conformance with </a:t>
            </a:r>
            <a:r>
              <a:rPr lang="en-US" sz="1700" dirty="0" err="1">
                <a:hlinkClick r:id="rId11"/>
              </a:rPr>
              <a:t>Meshery</a:t>
            </a:r>
            <a:r>
              <a:rPr lang="en-US" sz="1700" dirty="0">
                <a:hlinkClick r:id="rId11"/>
              </a:rPr>
              <a:t> · Actions · GitHub Marketplace · GitHub</a:t>
            </a:r>
            <a:endParaRPr lang="en-US" sz="1700" dirty="0"/>
          </a:p>
          <a:p>
            <a:pPr marL="12700" marR="5080"/>
            <a:r>
              <a:rPr lang="en-US" sz="1700" dirty="0">
                <a:hlinkClick r:id="rId12"/>
              </a:rPr>
              <a:t>The Enterprise Path to Service Mesh Architectures (2nd Edition)</a:t>
            </a:r>
            <a:endParaRPr lang="en-US" sz="1700" dirty="0"/>
          </a:p>
          <a:p>
            <a:pPr marL="12700" marR="5080"/>
            <a:r>
              <a:rPr lang="en-IN" sz="1700" dirty="0">
                <a:hlinkClick r:id="rId13"/>
              </a:rPr>
              <a:t>Service Mesh Patterns | Service Mesh Patterns</a:t>
            </a:r>
            <a:endParaRPr lang="en-IN" sz="1700" dirty="0"/>
          </a:p>
          <a:p>
            <a:pPr marL="12700" marR="5080"/>
            <a:r>
              <a:rPr lang="en-IN" sz="1700" dirty="0">
                <a:hlinkClick r:id="rId14"/>
              </a:rPr>
              <a:t>Service Mesh in Microservices | Feed | LinkedIn</a:t>
            </a:r>
            <a:endParaRPr lang="en-IN" sz="1700" dirty="0"/>
          </a:p>
          <a:p>
            <a:pPr marL="12700" marR="5080"/>
            <a:r>
              <a:rPr lang="en-US" sz="1700" dirty="0">
                <a:hlinkClick r:id="rId15"/>
              </a:rPr>
              <a:t>What Is Istio? | Google Cloud</a:t>
            </a:r>
            <a:endParaRPr lang="en-US" sz="1700" dirty="0"/>
          </a:p>
          <a:p>
            <a:pPr marL="12700" marR="5080"/>
            <a:r>
              <a:rPr lang="en-IN" sz="1700" dirty="0">
                <a:hlinkClick r:id="rId16"/>
              </a:rPr>
              <a:t>Istio Succinctly</a:t>
            </a:r>
            <a:endParaRPr lang="en-IN" sz="1700" dirty="0"/>
          </a:p>
          <a:p>
            <a:pPr marL="12700" marR="5080"/>
            <a:r>
              <a:rPr lang="en-IN" sz="1700" dirty="0">
                <a:hlinkClick r:id="rId17"/>
              </a:rPr>
              <a:t>Istio</a:t>
            </a:r>
            <a:endParaRPr lang="en-IN" sz="1700" dirty="0"/>
          </a:p>
          <a:p>
            <a:pPr marL="12700" marR="5080"/>
            <a:r>
              <a:rPr lang="en-US" sz="1700" dirty="0">
                <a:hlinkClick r:id="rId18"/>
              </a:rPr>
              <a:t>Mastering-Service-Mesh: Mastering Service Mesh, published by </a:t>
            </a:r>
            <a:r>
              <a:rPr lang="en-US" sz="1700" dirty="0" err="1">
                <a:hlinkClick r:id="rId18"/>
              </a:rPr>
              <a:t>Packt</a:t>
            </a:r>
            <a:r>
              <a:rPr lang="en-US" sz="1700" dirty="0">
                <a:hlinkClick r:id="rId18"/>
              </a:rPr>
              <a:t> </a:t>
            </a:r>
            <a:endParaRPr lang="en-US" sz="1700" dirty="0"/>
          </a:p>
          <a:p>
            <a:pPr marL="12700" marR="5080"/>
            <a:r>
              <a:rPr lang="en-IN" sz="1700" dirty="0">
                <a:hlinkClick r:id="rId19"/>
              </a:rPr>
              <a:t>Mastering-Service-Mesh-Architecture</a:t>
            </a:r>
            <a:endParaRPr lang="en-IN" sz="1700" dirty="0"/>
          </a:p>
          <a:p>
            <a:pPr marL="12700" marR="5080"/>
            <a:r>
              <a:rPr lang="en-US" sz="1700" dirty="0">
                <a:hlinkClick r:id="rId20"/>
              </a:rPr>
              <a:t>Bootstrap-Service-Mesh-Implementations-with-Istio</a:t>
            </a:r>
            <a:endParaRPr lang="en-US" sz="17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170613591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74503453"/>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2776" name="Picture 8" descr="Microservice Architecture and Design Patterns for Microservices | by  madhuka udantha | Medium">
            <a:extLst>
              <a:ext uri="{FF2B5EF4-FFF2-40B4-BE49-F238E27FC236}">
                <a16:creationId xmlns:a16="http://schemas.microsoft.com/office/drawing/2014/main" id="{FD19EBCB-3A62-CFC0-C082-F93B61E4F68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143000"/>
            <a:ext cx="8534401" cy="4228464"/>
          </a:xfrm>
          <a:prstGeom prst="rect">
            <a:avLst/>
          </a:prstGeom>
          <a:noFill/>
          <a:extLst>
            <a:ext uri="{909E8E84-426E-40DD-AFC4-6F175D3DCCD1}">
              <a14:hiddenFill xmlns:a14="http://schemas.microsoft.com/office/drawing/2010/main">
                <a:solidFill>
                  <a:srgbClr val="FFFFFF"/>
                </a:solidFill>
              </a14:hiddenFill>
            </a:ext>
          </a:extLst>
        </p:spPr>
      </p:pic>
      <p:sp>
        <p:nvSpPr>
          <p:cNvPr id="13" name="object 2">
            <a:extLst>
              <a:ext uri="{FF2B5EF4-FFF2-40B4-BE49-F238E27FC236}">
                <a16:creationId xmlns:a16="http://schemas.microsoft.com/office/drawing/2014/main" id="{6ED63413-A022-8721-0141-A55D702FB7CA}"/>
              </a:ext>
            </a:extLst>
          </p:cNvPr>
          <p:cNvSpPr txBox="1">
            <a:spLocks/>
          </p:cNvSpPr>
          <p:nvPr/>
        </p:nvSpPr>
        <p:spPr>
          <a:xfrm>
            <a:off x="12372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Cloud Architecture Patterns </a:t>
            </a:r>
            <a:r>
              <a:rPr lang="en-US" sz="2400" kern="0" spc="-80" dirty="0">
                <a:solidFill>
                  <a:schemeClr val="accent2"/>
                </a:solidFill>
              </a:rPr>
              <a:t>–</a:t>
            </a:r>
          </a:p>
          <a:p>
            <a:pPr marL="12700" marR="5080"/>
            <a:r>
              <a:rPr lang="en-IN" sz="1500" dirty="0">
                <a:hlinkClick r:id="rId8"/>
              </a:rPr>
              <a:t>Cloud-design-patterns</a:t>
            </a:r>
            <a:endParaRPr lang="en-US" sz="1500" kern="0" spc="-80" dirty="0">
              <a:solidFill>
                <a:schemeClr val="accent2"/>
              </a:solidFill>
            </a:endParaRPr>
          </a:p>
        </p:txBody>
      </p:sp>
      <p:sp>
        <p:nvSpPr>
          <p:cNvPr id="8" name="object 2">
            <a:extLst>
              <a:ext uri="{FF2B5EF4-FFF2-40B4-BE49-F238E27FC236}">
                <a16:creationId xmlns:a16="http://schemas.microsoft.com/office/drawing/2014/main" id="{A5B7113F-9B20-7EA2-F9CA-BA92DE554742}"/>
              </a:ext>
            </a:extLst>
          </p:cNvPr>
          <p:cNvSpPr txBox="1">
            <a:spLocks/>
          </p:cNvSpPr>
          <p:nvPr/>
        </p:nvSpPr>
        <p:spPr>
          <a:xfrm>
            <a:off x="289769"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Microservices Architecture Patterns </a:t>
            </a:r>
            <a:r>
              <a:rPr lang="en-US" sz="2400" kern="0" spc="-80" dirty="0">
                <a:solidFill>
                  <a:schemeClr val="accent2"/>
                </a:solidFill>
              </a:rPr>
              <a:t>–</a:t>
            </a:r>
          </a:p>
        </p:txBody>
      </p:sp>
    </p:spTree>
    <p:extLst>
      <p:ext uri="{BB962C8B-B14F-4D97-AF65-F5344CB8AC3E}">
        <p14:creationId xmlns:p14="http://schemas.microsoft.com/office/powerpoint/2010/main" val="399580628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7795079"/>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3" name="object 2">
            <a:extLst>
              <a:ext uri="{FF2B5EF4-FFF2-40B4-BE49-F238E27FC236}">
                <a16:creationId xmlns:a16="http://schemas.microsoft.com/office/drawing/2014/main" id="{6ED63413-A022-8721-0141-A55D702FB7CA}"/>
              </a:ext>
            </a:extLst>
          </p:cNvPr>
          <p:cNvSpPr txBox="1">
            <a:spLocks/>
          </p:cNvSpPr>
          <p:nvPr/>
        </p:nvSpPr>
        <p:spPr>
          <a:xfrm>
            <a:off x="290463" y="781368"/>
            <a:ext cx="8624937" cy="42319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IN" sz="1700" dirty="0">
                <a:hlinkClick r:id="rId7"/>
              </a:rPr>
              <a:t>A pattern language for microservices</a:t>
            </a:r>
            <a:r>
              <a:rPr lang="en-US" sz="1700" kern="0" spc="-80" dirty="0">
                <a:solidFill>
                  <a:schemeClr val="accent2"/>
                </a:solidFill>
              </a:rPr>
              <a:t>  </a:t>
            </a:r>
          </a:p>
          <a:p>
            <a:pPr marL="12700" marR="5080"/>
            <a:r>
              <a:rPr lang="en-IN" sz="1700" dirty="0">
                <a:hlinkClick r:id="rId8"/>
              </a:rPr>
              <a:t>SOA: Patterns</a:t>
            </a:r>
            <a:endParaRPr lang="en-US" sz="1700" kern="0" spc="-80" dirty="0">
              <a:solidFill>
                <a:schemeClr val="accent2"/>
              </a:solidFill>
            </a:endParaRPr>
          </a:p>
          <a:p>
            <a:pPr marL="12700" marR="5080"/>
            <a:r>
              <a:rPr lang="en-IN" sz="1700" dirty="0">
                <a:hlinkClick r:id="rId9"/>
              </a:rPr>
              <a:t>Microservices with Netflix OSS, Spring Boot, and non-JVM applications</a:t>
            </a:r>
            <a:endParaRPr lang="en-IN" sz="1700" dirty="0"/>
          </a:p>
          <a:p>
            <a:pPr marL="12700" marR="5080"/>
            <a:r>
              <a:rPr lang="en-US" sz="1700" dirty="0">
                <a:hlinkClick r:id="rId10"/>
              </a:rPr>
              <a:t>Ribbon</a:t>
            </a:r>
            <a:endParaRPr lang="en-US" sz="1700" dirty="0"/>
          </a:p>
          <a:p>
            <a:pPr marL="12700" marR="5080"/>
            <a:r>
              <a:rPr lang="en-IN" sz="1700" dirty="0">
                <a:hlinkClick r:id="rId11"/>
              </a:rPr>
              <a:t>Kubernetes Components | Kubernetes</a:t>
            </a:r>
            <a:endParaRPr lang="en-US" sz="1700" dirty="0"/>
          </a:p>
          <a:p>
            <a:pPr marL="12700" marR="5080"/>
            <a:r>
              <a:rPr lang="en-US" sz="1700" dirty="0">
                <a:hlinkClick r:id="rId12"/>
              </a:rPr>
              <a:t>Services, Load Balancing, and Networking | Kubernetes</a:t>
            </a:r>
            <a:endParaRPr lang="en-US" sz="1700" dirty="0"/>
          </a:p>
          <a:p>
            <a:pPr marL="12700" marR="5080"/>
            <a:r>
              <a:rPr lang="en-US" sz="1700" dirty="0">
                <a:hlinkClick r:id="rId13"/>
              </a:rPr>
              <a:t>Service Discovery in Microservices with C# and .NET | LinkedIn</a:t>
            </a:r>
            <a:endParaRPr lang="en-US" sz="1700" dirty="0"/>
          </a:p>
          <a:p>
            <a:pPr marL="12700" marR="5080"/>
            <a:r>
              <a:rPr lang="en-US" sz="1700" dirty="0">
                <a:hlinkClick r:id="rId14"/>
              </a:rPr>
              <a:t>.NET Microservices with </a:t>
            </a:r>
            <a:r>
              <a:rPr lang="en-US" sz="1700" dirty="0" err="1">
                <a:hlinkClick r:id="rId14"/>
              </a:rPr>
              <a:t>Steeltoe</a:t>
            </a:r>
            <a:r>
              <a:rPr lang="en-US" sz="1700" dirty="0">
                <a:hlinkClick r:id="rId14"/>
              </a:rPr>
              <a:t> | Microsoft Learn</a:t>
            </a:r>
            <a:endParaRPr lang="en-US" sz="1700" dirty="0"/>
          </a:p>
          <a:p>
            <a:pPr marL="12700" marR="5080"/>
            <a:r>
              <a:rPr lang="en-US" sz="1700" dirty="0">
                <a:hlinkClick r:id="rId15"/>
              </a:rPr>
              <a:t>Resilient Microservices with </a:t>
            </a:r>
            <a:r>
              <a:rPr lang="en-US" sz="1700" dirty="0" err="1">
                <a:hlinkClick r:id="rId15"/>
              </a:rPr>
              <a:t>Steeltoe</a:t>
            </a:r>
            <a:endParaRPr lang="en-US" sz="1700" kern="0" spc="-80" dirty="0">
              <a:solidFill>
                <a:schemeClr val="accent2"/>
              </a:solidFill>
            </a:endParaRPr>
          </a:p>
          <a:p>
            <a:pPr marL="12700" marR="5080"/>
            <a:r>
              <a:rPr lang="en-US" sz="1700" dirty="0">
                <a:hlinkClick r:id="rId16"/>
              </a:rPr>
              <a:t>Fan-out/fan-in scenarios in Durable Functions - Azure | Microsoft Learn</a:t>
            </a:r>
            <a:r>
              <a:rPr lang="en-US" sz="1700" kern="0" spc="-80" dirty="0">
                <a:solidFill>
                  <a:schemeClr val="accent2"/>
                </a:solidFill>
              </a:rPr>
              <a:t> </a:t>
            </a:r>
          </a:p>
          <a:p>
            <a:pPr marL="12700" marR="5080"/>
            <a:r>
              <a:rPr lang="en-US" sz="1700" dirty="0">
                <a:hlinkClick r:id="rId17"/>
              </a:rPr>
              <a:t>Design Patterns for Cloud Native Applications[Book]</a:t>
            </a:r>
            <a:endParaRPr lang="en-US" sz="1700" dirty="0"/>
          </a:p>
          <a:p>
            <a:pPr marL="12700" marR="5080"/>
            <a:r>
              <a:rPr lang="en-IN" sz="1700" dirty="0">
                <a:hlinkClick r:id="rId18"/>
              </a:rPr>
              <a:t>Design Patterns used Across Various Software Layers | LinkedIn</a:t>
            </a:r>
            <a:endParaRPr lang="en-IN" sz="1700" dirty="0"/>
          </a:p>
          <a:p>
            <a:pPr marL="12700" marR="5080"/>
            <a:r>
              <a:rPr lang="en-US" sz="1700" dirty="0">
                <a:hlinkClick r:id="rId19"/>
              </a:rPr>
              <a:t>Cloud Native Architecture and Design: A Handbook for Modern Day Architecture and Design with Enterprise-Grade Examples | SpringerLink</a:t>
            </a:r>
            <a:endParaRPr lang="en-US" sz="1700" dirty="0"/>
          </a:p>
          <a:p>
            <a:pPr marL="12700" marR="5080"/>
            <a:r>
              <a:rPr lang="en-IN" sz="1700" dirty="0">
                <a:hlinkClick r:id="rId20"/>
              </a:rPr>
              <a:t>Microservices And Orchestration Lessons | LinkedIn</a:t>
            </a:r>
            <a:r>
              <a:rPr lang="en-US" sz="1700" dirty="0"/>
              <a:t> </a:t>
            </a:r>
            <a:endParaRPr lang="en-US" sz="1700" kern="0" spc="-80" dirty="0">
              <a:solidFill>
                <a:schemeClr val="accent2"/>
              </a:solidFill>
            </a:endParaRPr>
          </a:p>
        </p:txBody>
      </p:sp>
    </p:spTree>
    <p:extLst>
      <p:ext uri="{BB962C8B-B14F-4D97-AF65-F5344CB8AC3E}">
        <p14:creationId xmlns:p14="http://schemas.microsoft.com/office/powerpoint/2010/main" val="329769610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 </a:t>
            </a:r>
          </a:p>
        </p:txBody>
      </p:sp>
      <p:pic>
        <p:nvPicPr>
          <p:cNvPr id="1026" name="Picture 2" descr="networking - How to access multiple servers with local DNS - Super User">
            <a:extLst>
              <a:ext uri="{FF2B5EF4-FFF2-40B4-BE49-F238E27FC236}">
                <a16:creationId xmlns:a16="http://schemas.microsoft.com/office/drawing/2014/main" id="{F29102EC-6240-AD6D-B518-9691BD39FA1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445340"/>
            <a:ext cx="8229600" cy="41934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642589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a:t>
            </a:r>
          </a:p>
          <a:p>
            <a:pPr marL="12700" marR="5080"/>
            <a:r>
              <a:rPr lang="en-US" sz="2400" kern="0" spc="-80" dirty="0">
                <a:solidFill>
                  <a:schemeClr val="accent2"/>
                </a:solidFill>
              </a:rPr>
              <a:t>   Hierarchy -  </a:t>
            </a:r>
          </a:p>
        </p:txBody>
      </p:sp>
      <p:pic>
        <p:nvPicPr>
          <p:cNvPr id="7" name="Picture 6">
            <a:extLst>
              <a:ext uri="{FF2B5EF4-FFF2-40B4-BE49-F238E27FC236}">
                <a16:creationId xmlns:a16="http://schemas.microsoft.com/office/drawing/2014/main" id="{A7F142D3-F360-4378-E8A3-39B3AB118875}"/>
              </a:ext>
            </a:extLst>
          </p:cNvPr>
          <p:cNvPicPr>
            <a:picLocks noChangeAspect="1"/>
          </p:cNvPicPr>
          <p:nvPr/>
        </p:nvPicPr>
        <p:blipFill>
          <a:blip r:embed="rId7"/>
          <a:stretch>
            <a:fillRect/>
          </a:stretch>
        </p:blipFill>
        <p:spPr>
          <a:xfrm>
            <a:off x="361506" y="1695259"/>
            <a:ext cx="8630094" cy="3714941"/>
          </a:xfrm>
          <a:prstGeom prst="rect">
            <a:avLst/>
          </a:prstGeom>
        </p:spPr>
      </p:pic>
    </p:spTree>
    <p:extLst>
      <p:ext uri="{BB962C8B-B14F-4D97-AF65-F5344CB8AC3E}">
        <p14:creationId xmlns:p14="http://schemas.microsoft.com/office/powerpoint/2010/main" val="7001964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23094517"/>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0164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 </a:t>
            </a:r>
          </a:p>
          <a:p>
            <a:pPr marL="12700" marR="5080"/>
            <a:r>
              <a:rPr lang="en-US" sz="2400" kern="0" spc="-80" dirty="0">
                <a:solidFill>
                  <a:schemeClr val="accent2"/>
                </a:solidFill>
              </a:rPr>
              <a:t>For Further Exploration –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Local DNS </a:t>
            </a:r>
            <a:r>
              <a:rPr lang="en-US" sz="2400" kern="0" spc="-80" dirty="0">
                <a:solidFill>
                  <a:schemeClr val="accent6"/>
                </a:solidFill>
              </a:rPr>
              <a:t>– i.e. via Host File(</a:t>
            </a:r>
            <a:r>
              <a:rPr lang="en-US" sz="1500" dirty="0" err="1">
                <a:hlinkClick r:id="rId7"/>
              </a:rPr>
              <a:t>c#</a:t>
            </a:r>
            <a:r>
              <a:rPr lang="en-US" sz="1500" dirty="0">
                <a:hlinkClick r:id="rId7"/>
              </a:rPr>
              <a:t> - How do </a:t>
            </a:r>
            <a:r>
              <a:rPr lang="en-US" sz="1500" dirty="0" err="1">
                <a:hlinkClick r:id="rId7"/>
              </a:rPr>
              <a:t>i</a:t>
            </a:r>
            <a:r>
              <a:rPr lang="en-US" sz="1500" dirty="0">
                <a:hlinkClick r:id="rId7"/>
              </a:rPr>
              <a:t> change the hosts file in a windows program? - Stack Overflow</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2400" kern="0" spc="-80" dirty="0">
              <a:solidFill>
                <a:schemeClr val="accent6"/>
              </a:solidFill>
            </a:endParaRPr>
          </a:p>
          <a:p>
            <a:pPr marL="12700" marR="5080"/>
            <a:r>
              <a:rPr lang="en-US" sz="2400" kern="0" spc="-80" dirty="0">
                <a:solidFill>
                  <a:schemeClr val="accent2"/>
                </a:solidFill>
              </a:rPr>
              <a:t>Hierarchical DNS(using physical servers)</a:t>
            </a:r>
            <a:r>
              <a:rPr lang="en-US" sz="2400" kern="0" spc="-80" dirty="0">
                <a:solidFill>
                  <a:schemeClr val="accent6"/>
                </a:solidFill>
              </a:rPr>
              <a:t> – </a:t>
            </a:r>
          </a:p>
          <a:p>
            <a:pPr marL="12700" marR="5080"/>
            <a:r>
              <a:rPr lang="en-US" sz="1500" dirty="0">
                <a:hlinkClick r:id="rId8"/>
              </a:rPr>
              <a:t>Introduction to Domain Name System (DNS)</a:t>
            </a:r>
            <a:endParaRPr lang="en-US" sz="1500" dirty="0"/>
          </a:p>
          <a:p>
            <a:pPr marL="12700" marR="5080"/>
            <a:r>
              <a:rPr lang="en-US" sz="1500" dirty="0">
                <a:hlinkClick r:id="rId9"/>
              </a:rPr>
              <a:t>How the Domain Name System Works</a:t>
            </a:r>
            <a:endParaRPr lang="en-US" sz="1500" dirty="0"/>
          </a:p>
          <a:p>
            <a:pPr marL="12700" marR="5080"/>
            <a:r>
              <a:rPr lang="en-IN" sz="1500" dirty="0">
                <a:hlinkClick r:id="rId10"/>
              </a:rPr>
              <a:t>DNS Resolution – How the internet find its way | LinkedIn</a:t>
            </a:r>
            <a:endParaRPr lang="en-US" sz="1500" kern="0" spc="-80" dirty="0">
              <a:solidFill>
                <a:schemeClr val="accent6"/>
              </a:solidFill>
            </a:endParaRPr>
          </a:p>
        </p:txBody>
      </p:sp>
    </p:spTree>
    <p:extLst>
      <p:ext uri="{BB962C8B-B14F-4D97-AF65-F5344CB8AC3E}">
        <p14:creationId xmlns:p14="http://schemas.microsoft.com/office/powerpoint/2010/main" val="3125593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a:t>
            </a:r>
          </a:p>
        </p:txBody>
      </p:sp>
      <p:pic>
        <p:nvPicPr>
          <p:cNvPr id="3074" name="Picture 2" descr="What is a Load Balancer? Definition &amp; FAQs | Avi Networks">
            <a:extLst>
              <a:ext uri="{FF2B5EF4-FFF2-40B4-BE49-F238E27FC236}">
                <a16:creationId xmlns:a16="http://schemas.microsoft.com/office/drawing/2014/main" id="{11A559D1-60C2-2A39-B896-69F0DDAA5FD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307068"/>
            <a:ext cx="8534400" cy="4522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84387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 (Types)– </a:t>
            </a:r>
          </a:p>
        </p:txBody>
      </p:sp>
      <p:graphicFrame>
        <p:nvGraphicFramePr>
          <p:cNvPr id="9" name="Table 8">
            <a:extLst>
              <a:ext uri="{FF2B5EF4-FFF2-40B4-BE49-F238E27FC236}">
                <a16:creationId xmlns:a16="http://schemas.microsoft.com/office/drawing/2014/main" id="{42E7B208-F977-C274-11E9-221C8927D82D}"/>
              </a:ext>
            </a:extLst>
          </p:cNvPr>
          <p:cNvGraphicFramePr>
            <a:graphicFrameLocks noGrp="1"/>
          </p:cNvGraphicFramePr>
          <p:nvPr>
            <p:extLst>
              <p:ext uri="{D42A27DB-BD31-4B8C-83A1-F6EECF244321}">
                <p14:modId xmlns:p14="http://schemas.microsoft.com/office/powerpoint/2010/main" val="3560156930"/>
              </p:ext>
            </p:extLst>
          </p:nvPr>
        </p:nvGraphicFramePr>
        <p:xfrm>
          <a:off x="304799" y="1295400"/>
          <a:ext cx="8624936" cy="4572000"/>
        </p:xfrm>
        <a:graphic>
          <a:graphicData uri="http://schemas.openxmlformats.org/drawingml/2006/table">
            <a:tbl>
              <a:tblPr firstRow="1" bandRow="1">
                <a:tableStyleId>{5C22544A-7EE6-4342-B048-85BDC9FD1C3A}</a:tableStyleId>
              </a:tblPr>
              <a:tblGrid>
                <a:gridCol w="2156234">
                  <a:extLst>
                    <a:ext uri="{9D8B030D-6E8A-4147-A177-3AD203B41FA5}">
                      <a16:colId xmlns:a16="http://schemas.microsoft.com/office/drawing/2014/main" val="3996933972"/>
                    </a:ext>
                  </a:extLst>
                </a:gridCol>
                <a:gridCol w="2156234">
                  <a:extLst>
                    <a:ext uri="{9D8B030D-6E8A-4147-A177-3AD203B41FA5}">
                      <a16:colId xmlns:a16="http://schemas.microsoft.com/office/drawing/2014/main" val="2345343663"/>
                    </a:ext>
                  </a:extLst>
                </a:gridCol>
                <a:gridCol w="2156234">
                  <a:extLst>
                    <a:ext uri="{9D8B030D-6E8A-4147-A177-3AD203B41FA5}">
                      <a16:colId xmlns:a16="http://schemas.microsoft.com/office/drawing/2014/main" val="1360033690"/>
                    </a:ext>
                  </a:extLst>
                </a:gridCol>
                <a:gridCol w="2156234">
                  <a:extLst>
                    <a:ext uri="{9D8B030D-6E8A-4147-A177-3AD203B41FA5}">
                      <a16:colId xmlns:a16="http://schemas.microsoft.com/office/drawing/2014/main" val="3188013751"/>
                    </a:ext>
                  </a:extLst>
                </a:gridCol>
              </a:tblGrid>
              <a:tr h="388540">
                <a:tc>
                  <a:txBody>
                    <a:bodyPr/>
                    <a:lstStyle/>
                    <a:p>
                      <a:r>
                        <a:rPr lang="en-US" dirty="0"/>
                        <a:t>LB Type</a:t>
                      </a:r>
                      <a:endParaRPr lang="en-IN" dirty="0"/>
                    </a:p>
                  </a:txBody>
                  <a:tcPr/>
                </a:tc>
                <a:tc>
                  <a:txBody>
                    <a:bodyPr/>
                    <a:lstStyle/>
                    <a:p>
                      <a:r>
                        <a:rPr lang="en-US" dirty="0"/>
                        <a:t>Layer(s)</a:t>
                      </a:r>
                      <a:endParaRPr lang="en-IN" dirty="0"/>
                    </a:p>
                  </a:txBody>
                  <a:tcPr/>
                </a:tc>
                <a:tc>
                  <a:txBody>
                    <a:bodyPr/>
                    <a:lstStyle/>
                    <a:p>
                      <a:pPr marL="0"/>
                      <a:r>
                        <a:rPr lang="en-US" b="1" dirty="0">
                          <a:solidFill>
                            <a:schemeClr val="lt1"/>
                          </a:solidFill>
                          <a:latin typeface="+mn-lt"/>
                          <a:ea typeface="+mn-ea"/>
                          <a:cs typeface="+mn-cs"/>
                        </a:rPr>
                        <a:t>Feature(s)</a:t>
                      </a:r>
                      <a:endParaRPr lang="en-IN" b="1" dirty="0">
                        <a:solidFill>
                          <a:schemeClr val="lt1"/>
                        </a:solidFill>
                        <a:latin typeface="+mn-lt"/>
                        <a:ea typeface="+mn-ea"/>
                        <a:cs typeface="+mn-cs"/>
                      </a:endParaRPr>
                    </a:p>
                  </a:txBody>
                  <a:tcPr/>
                </a:tc>
                <a:tc>
                  <a:txBody>
                    <a:bodyPr/>
                    <a:lstStyle/>
                    <a:p>
                      <a:r>
                        <a:rPr lang="en-US" dirty="0"/>
                        <a:t>Use Case(s)</a:t>
                      </a:r>
                      <a:endParaRPr lang="en-IN" dirty="0"/>
                    </a:p>
                  </a:txBody>
                  <a:tcPr/>
                </a:tc>
                <a:extLst>
                  <a:ext uri="{0D108BD9-81ED-4DB2-BD59-A6C34878D82A}">
                    <a16:rowId xmlns:a16="http://schemas.microsoft.com/office/drawing/2014/main" val="3051410204"/>
                  </a:ext>
                </a:extLst>
              </a:tr>
              <a:tr h="2011893">
                <a:tc>
                  <a:txBody>
                    <a:bodyPr/>
                    <a:lstStyle/>
                    <a:p>
                      <a:r>
                        <a:rPr lang="en-US" sz="1200" dirty="0"/>
                        <a:t>GLB(Global Load Balancer)</a:t>
                      </a:r>
                      <a:endParaRPr lang="en-IN" sz="1200" dirty="0"/>
                    </a:p>
                  </a:txBody>
                  <a:tcPr/>
                </a:tc>
                <a:tc>
                  <a:txBody>
                    <a:bodyPr/>
                    <a:lstStyle/>
                    <a:p>
                      <a:r>
                        <a:rPr lang="en-US" sz="1200" dirty="0"/>
                        <a:t>Layer 3</a:t>
                      </a:r>
                      <a:endParaRPr lang="en-IN" sz="1200" dirty="0"/>
                    </a:p>
                  </a:txBody>
                  <a:tcPr/>
                </a:tc>
                <a:tc>
                  <a:txBody>
                    <a:bodyPr/>
                    <a:lstStyle/>
                    <a:p>
                      <a:r>
                        <a:rPr lang="en-US" sz="1200" b="1" dirty="0"/>
                        <a:t>Multi-Region</a:t>
                      </a:r>
                      <a:r>
                        <a:rPr lang="en-US" sz="1200" dirty="0"/>
                        <a:t>: Allows for global load balancing across multiple Cloud Regions.</a:t>
                      </a:r>
                    </a:p>
                    <a:p>
                      <a:r>
                        <a:rPr lang="en-US" sz="1200" b="1" dirty="0"/>
                        <a:t>DNS-Based:</a:t>
                      </a:r>
                      <a:r>
                        <a:rPr lang="en-US" sz="1200" dirty="0"/>
                        <a:t> GLB primarily relies on DNS for routing decisions. </a:t>
                      </a:r>
                    </a:p>
                    <a:p>
                      <a:r>
                        <a:rPr lang="en-US" sz="1200" dirty="0"/>
                        <a:t>Failover and Latency-Based </a:t>
                      </a:r>
                      <a:r>
                        <a:rPr lang="en-US" sz="1200" b="1" dirty="0"/>
                        <a:t>Routing:</a:t>
                      </a:r>
                      <a:r>
                        <a:rPr lang="en-US" sz="1200" dirty="0"/>
                        <a:t> GLB solutions often use these techniques for resilience and performance optimization.</a:t>
                      </a:r>
                      <a:endParaRPr lang="en-IN" sz="1200" dirty="0"/>
                    </a:p>
                  </a:txBody>
                  <a:tcPr/>
                </a:tc>
                <a:tc>
                  <a:txBody>
                    <a:bodyPr/>
                    <a:lstStyle/>
                    <a:p>
                      <a:r>
                        <a:rPr lang="en-US" sz="1200" dirty="0"/>
                        <a:t>— GLB is used to distribute traffic across multiple Cloud Regions or data centers to achieve global redundancy and disaster recovery.</a:t>
                      </a:r>
                    </a:p>
                    <a:p>
                      <a:r>
                        <a:rPr lang="en-US" sz="1200" dirty="0"/>
                        <a:t>— It involves configuring DNS-based solutions with failover policies and latency-based routing to direct traffic to the nearest healthy endpoint.</a:t>
                      </a:r>
                      <a:endParaRPr lang="en-IN" sz="1200" dirty="0"/>
                    </a:p>
                  </a:txBody>
                  <a:tcPr/>
                </a:tc>
                <a:extLst>
                  <a:ext uri="{0D108BD9-81ED-4DB2-BD59-A6C34878D82A}">
                    <a16:rowId xmlns:a16="http://schemas.microsoft.com/office/drawing/2014/main" val="3613485041"/>
                  </a:ext>
                </a:extLst>
              </a:tr>
              <a:tr h="2171567">
                <a:tc>
                  <a:txBody>
                    <a:bodyPr/>
                    <a:lstStyle/>
                    <a:p>
                      <a:r>
                        <a:rPr lang="en-US" sz="1200" dirty="0"/>
                        <a:t>ALB(Application Load Balancer)</a:t>
                      </a:r>
                      <a:endParaRPr lang="en-IN" sz="1200" dirty="0"/>
                    </a:p>
                  </a:txBody>
                  <a:tcPr/>
                </a:tc>
                <a:tc>
                  <a:txBody>
                    <a:bodyPr/>
                    <a:lstStyle/>
                    <a:p>
                      <a:r>
                        <a:rPr lang="en-US" sz="1200" dirty="0"/>
                        <a:t>Layer 7</a:t>
                      </a:r>
                      <a:endParaRPr lang="en-IN" sz="1200" dirty="0"/>
                    </a:p>
                  </a:txBody>
                  <a:tcPr/>
                </a:tc>
                <a:tc>
                  <a:txBody>
                    <a:bodyPr/>
                    <a:lstStyle/>
                    <a:p>
                      <a:r>
                        <a:rPr lang="en-IN" sz="1000" b="1" dirty="0"/>
                        <a:t>SSL Termination:</a:t>
                      </a:r>
                      <a:r>
                        <a:rPr lang="en-IN" sz="1000" dirty="0"/>
                        <a:t> ALB can terminate SSL/TLS connections from clients, offloading SSL processing from backend servers.</a:t>
                      </a:r>
                    </a:p>
                    <a:p>
                      <a:r>
                        <a:rPr lang="en-IN" sz="1000" b="1" dirty="0"/>
                        <a:t>Health Checks:</a:t>
                      </a:r>
                      <a:r>
                        <a:rPr lang="en-IN" sz="1000" dirty="0"/>
                        <a:t> Supports health checks at the application layer.</a:t>
                      </a:r>
                    </a:p>
                    <a:p>
                      <a:r>
                        <a:rPr lang="en-IN" sz="1000" dirty="0"/>
                        <a:t>Sticky Sessions: Provides support for sticky sessions.</a:t>
                      </a:r>
                    </a:p>
                    <a:p>
                      <a:r>
                        <a:rPr lang="en-IN" sz="1000" b="1" dirty="0" err="1"/>
                        <a:t>WebSockets</a:t>
                      </a:r>
                      <a:r>
                        <a:rPr lang="en-IN" sz="1000" b="1" dirty="0"/>
                        <a:t>:</a:t>
                      </a:r>
                      <a:r>
                        <a:rPr lang="en-IN" sz="1000" dirty="0"/>
                        <a:t> Supports WebSocket traffic.</a:t>
                      </a:r>
                    </a:p>
                    <a:p>
                      <a:r>
                        <a:rPr lang="en-IN" sz="1000" b="1" dirty="0"/>
                        <a:t>HTTP/2: </a:t>
                      </a:r>
                      <a:r>
                        <a:rPr lang="en-IN" sz="1000" dirty="0"/>
                        <a:t>Supports HTTP/2, providing better performance for modern web applications.</a:t>
                      </a:r>
                    </a:p>
                  </a:txBody>
                  <a:tcPr/>
                </a:tc>
                <a:tc>
                  <a:txBody>
                    <a:bodyPr/>
                    <a:lstStyle/>
                    <a:p>
                      <a:r>
                        <a:rPr lang="en-US" sz="1000" dirty="0"/>
                        <a:t>— Best suited for routing HTTP and HTTPS traffic.</a:t>
                      </a:r>
                    </a:p>
                    <a:p>
                      <a:r>
                        <a:rPr lang="en-US" sz="1000" dirty="0"/>
                        <a:t>— Ideal for load balancing multiple applications or microservices on a single port, as it supports content-based routing and can route requests to different target groups based on URL paths or hostnames.</a:t>
                      </a:r>
                    </a:p>
                    <a:p>
                      <a:r>
                        <a:rPr lang="en-US" sz="1000" dirty="0"/>
                        <a:t>— Provides advanced features like host-based routing, path-based routing, and support for container-based applications.</a:t>
                      </a:r>
                      <a:endParaRPr lang="en-IN" sz="1000" dirty="0"/>
                    </a:p>
                  </a:txBody>
                  <a:tcPr/>
                </a:tc>
                <a:extLst>
                  <a:ext uri="{0D108BD9-81ED-4DB2-BD59-A6C34878D82A}">
                    <a16:rowId xmlns:a16="http://schemas.microsoft.com/office/drawing/2014/main" val="2780609936"/>
                  </a:ext>
                </a:extLst>
              </a:tr>
            </a:tbl>
          </a:graphicData>
        </a:graphic>
      </p:graphicFrame>
    </p:spTree>
    <p:extLst>
      <p:ext uri="{BB962C8B-B14F-4D97-AF65-F5344CB8AC3E}">
        <p14:creationId xmlns:p14="http://schemas.microsoft.com/office/powerpoint/2010/main" val="427237079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906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 (Types) </a:t>
            </a:r>
            <a:r>
              <a:rPr lang="en-US" sz="2400" kern="0" spc="-80" dirty="0" err="1">
                <a:solidFill>
                  <a:schemeClr val="accent2"/>
                </a:solidFill>
              </a:rPr>
              <a:t>contd</a:t>
            </a:r>
            <a:r>
              <a:rPr lang="en-US" sz="2400" kern="0" spc="-80" dirty="0">
                <a:solidFill>
                  <a:schemeClr val="accent2"/>
                </a:solidFill>
              </a:rPr>
              <a:t> …– </a:t>
            </a:r>
          </a:p>
        </p:txBody>
      </p:sp>
      <p:graphicFrame>
        <p:nvGraphicFramePr>
          <p:cNvPr id="2" name="Table 1">
            <a:extLst>
              <a:ext uri="{FF2B5EF4-FFF2-40B4-BE49-F238E27FC236}">
                <a16:creationId xmlns:a16="http://schemas.microsoft.com/office/drawing/2014/main" id="{2646A98A-9158-845D-0A06-7A8B40E2AC6A}"/>
              </a:ext>
            </a:extLst>
          </p:cNvPr>
          <p:cNvGraphicFramePr>
            <a:graphicFrameLocks noGrp="1"/>
          </p:cNvGraphicFramePr>
          <p:nvPr>
            <p:extLst>
              <p:ext uri="{D42A27DB-BD31-4B8C-83A1-F6EECF244321}">
                <p14:modId xmlns:p14="http://schemas.microsoft.com/office/powerpoint/2010/main" val="4122450099"/>
              </p:ext>
            </p:extLst>
          </p:nvPr>
        </p:nvGraphicFramePr>
        <p:xfrm>
          <a:off x="304800" y="1447800"/>
          <a:ext cx="8534400" cy="2529840"/>
        </p:xfrm>
        <a:graphic>
          <a:graphicData uri="http://schemas.openxmlformats.org/drawingml/2006/table">
            <a:tbl>
              <a:tblPr firstRow="1" bandRow="1">
                <a:tableStyleId>{5C22544A-7EE6-4342-B048-85BDC9FD1C3A}</a:tableStyleId>
              </a:tblPr>
              <a:tblGrid>
                <a:gridCol w="2133600">
                  <a:extLst>
                    <a:ext uri="{9D8B030D-6E8A-4147-A177-3AD203B41FA5}">
                      <a16:colId xmlns:a16="http://schemas.microsoft.com/office/drawing/2014/main" val="621674751"/>
                    </a:ext>
                  </a:extLst>
                </a:gridCol>
                <a:gridCol w="2133600">
                  <a:extLst>
                    <a:ext uri="{9D8B030D-6E8A-4147-A177-3AD203B41FA5}">
                      <a16:colId xmlns:a16="http://schemas.microsoft.com/office/drawing/2014/main" val="1059645299"/>
                    </a:ext>
                  </a:extLst>
                </a:gridCol>
                <a:gridCol w="2133600">
                  <a:extLst>
                    <a:ext uri="{9D8B030D-6E8A-4147-A177-3AD203B41FA5}">
                      <a16:colId xmlns:a16="http://schemas.microsoft.com/office/drawing/2014/main" val="3490039623"/>
                    </a:ext>
                  </a:extLst>
                </a:gridCol>
                <a:gridCol w="2133600">
                  <a:extLst>
                    <a:ext uri="{9D8B030D-6E8A-4147-A177-3AD203B41FA5}">
                      <a16:colId xmlns:a16="http://schemas.microsoft.com/office/drawing/2014/main" val="128006741"/>
                    </a:ext>
                  </a:extLst>
                </a:gridCol>
              </a:tblGrid>
              <a:tr h="370840">
                <a:tc>
                  <a:txBody>
                    <a:bodyPr/>
                    <a:lstStyle/>
                    <a:p>
                      <a:r>
                        <a:rPr lang="en-US" dirty="0"/>
                        <a:t>LB Type</a:t>
                      </a:r>
                      <a:endParaRPr lang="en-IN" dirty="0"/>
                    </a:p>
                  </a:txBody>
                  <a:tcPr/>
                </a:tc>
                <a:tc>
                  <a:txBody>
                    <a:bodyPr/>
                    <a:lstStyle/>
                    <a:p>
                      <a:r>
                        <a:rPr lang="en-US" dirty="0"/>
                        <a:t>Layer(s)</a:t>
                      </a:r>
                      <a:endParaRPr lang="en-IN" dirty="0"/>
                    </a:p>
                  </a:txBody>
                  <a:tcPr/>
                </a:tc>
                <a:tc>
                  <a:txBody>
                    <a:bodyPr/>
                    <a:lstStyle/>
                    <a:p>
                      <a:r>
                        <a:rPr lang="en-US" b="1" dirty="0">
                          <a:solidFill>
                            <a:schemeClr val="lt1"/>
                          </a:solidFill>
                          <a:latin typeface="+mn-lt"/>
                          <a:ea typeface="+mn-ea"/>
                          <a:cs typeface="+mn-cs"/>
                        </a:rPr>
                        <a:t>Feature(s)</a:t>
                      </a:r>
                      <a:endParaRPr lang="en-IN" dirty="0"/>
                    </a:p>
                  </a:txBody>
                  <a:tcPr/>
                </a:tc>
                <a:tc>
                  <a: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Use Case(s)</a:t>
                      </a:r>
                      <a:endParaRPr lang="en-IN" dirty="0"/>
                    </a:p>
                    <a:p>
                      <a:endParaRPr lang="en-IN" dirty="0"/>
                    </a:p>
                  </a:txBody>
                  <a:tcPr/>
                </a:tc>
                <a:extLst>
                  <a:ext uri="{0D108BD9-81ED-4DB2-BD59-A6C34878D82A}">
                    <a16:rowId xmlns:a16="http://schemas.microsoft.com/office/drawing/2014/main" val="1526464570"/>
                  </a:ext>
                </a:extLst>
              </a:tr>
              <a:tr h="370840">
                <a:tc>
                  <a:txBody>
                    <a:bodyPr/>
                    <a:lstStyle/>
                    <a:p>
                      <a:r>
                        <a:rPr lang="en-US" sz="1000" dirty="0"/>
                        <a:t>NLB(Network Load Balancer)</a:t>
                      </a:r>
                      <a:endParaRPr lang="en-IN" sz="1000" dirty="0"/>
                    </a:p>
                  </a:txBody>
                  <a:tcPr/>
                </a:tc>
                <a:tc>
                  <a:txBody>
                    <a:bodyPr/>
                    <a:lstStyle/>
                    <a:p>
                      <a:r>
                        <a:rPr lang="en-US" sz="1000" dirty="0"/>
                        <a:t>Layer 4</a:t>
                      </a:r>
                      <a:endParaRPr lang="en-IN" sz="1000" dirty="0"/>
                    </a:p>
                  </a:txBody>
                  <a:tcPr/>
                </a:tc>
                <a:tc>
                  <a:txBody>
                    <a:bodyPr/>
                    <a:lstStyle/>
                    <a:p>
                      <a:r>
                        <a:rPr lang="en-US" sz="1200" b="1" dirty="0"/>
                        <a:t>High Throughput:</a:t>
                      </a:r>
                      <a:r>
                        <a:rPr lang="en-US" sz="1200" dirty="0"/>
                        <a:t> NLB is designed for high throughput and low-latency use cases.</a:t>
                      </a:r>
                    </a:p>
                    <a:p>
                      <a:r>
                        <a:rPr lang="en-US" sz="1200" b="1" dirty="0"/>
                        <a:t>TLS Termination:</a:t>
                      </a:r>
                      <a:r>
                        <a:rPr lang="en-US" sz="1200" dirty="0"/>
                        <a:t> NLB supports TLS termination, but it’s not as feature-rich as ALB in handling HTTPS traffic.</a:t>
                      </a:r>
                    </a:p>
                    <a:p>
                      <a:r>
                        <a:rPr lang="en-US" sz="1200" b="1" dirty="0"/>
                        <a:t>Health Checks:</a:t>
                      </a:r>
                      <a:r>
                        <a:rPr lang="en-US" sz="1200" dirty="0"/>
                        <a:t> Supports health checks at the transport layer.</a:t>
                      </a:r>
                      <a:endParaRPr lang="en-IN" sz="1200" dirty="0"/>
                    </a:p>
                  </a:txBody>
                  <a:tcPr/>
                </a:tc>
                <a:tc>
                  <a:txBody>
                    <a:bodyPr/>
                    <a:lstStyle/>
                    <a:p>
                      <a:r>
                        <a:rPr lang="en-US" sz="1000" b="0" dirty="0"/>
                        <a:t>— Ideal for handling TCP/UDP traffic, including custom protocols, non-HTTP protocols, and high-performance workloads.</a:t>
                      </a:r>
                    </a:p>
                    <a:p>
                      <a:r>
                        <a:rPr lang="en-US" sz="1000" b="0" dirty="0"/>
                        <a:t>— Commonly used for load balancing databases, gaming applications, and other services that rely on raw transport layer connections.</a:t>
                      </a:r>
                    </a:p>
                    <a:p>
                      <a:r>
                        <a:rPr lang="en-US" sz="1000" b="0" dirty="0"/>
                        <a:t>— Works well for scenarios where source IP preservation is important.</a:t>
                      </a:r>
                    </a:p>
                    <a:p>
                      <a:endParaRPr lang="en-IN" b="1" dirty="0"/>
                    </a:p>
                  </a:txBody>
                  <a:tcPr/>
                </a:tc>
                <a:extLst>
                  <a:ext uri="{0D108BD9-81ED-4DB2-BD59-A6C34878D82A}">
                    <a16:rowId xmlns:a16="http://schemas.microsoft.com/office/drawing/2014/main" val="1022102368"/>
                  </a:ext>
                </a:extLst>
              </a:tr>
            </a:tbl>
          </a:graphicData>
        </a:graphic>
      </p:graphicFrame>
    </p:spTree>
    <p:extLst>
      <p:ext uri="{BB962C8B-B14F-4D97-AF65-F5344CB8AC3E}">
        <p14:creationId xmlns:p14="http://schemas.microsoft.com/office/powerpoint/2010/main" val="275235324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906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Forward Proxy vs Reverse Proxy (vs Load Balancer vs API Gateway)– </a:t>
            </a:r>
          </a:p>
        </p:txBody>
      </p:sp>
      <p:pic>
        <p:nvPicPr>
          <p:cNvPr id="8" name="Picture 7">
            <a:extLst>
              <a:ext uri="{FF2B5EF4-FFF2-40B4-BE49-F238E27FC236}">
                <a16:creationId xmlns:a16="http://schemas.microsoft.com/office/drawing/2014/main" id="{2FA8A402-25FC-4DD8-51B6-949B2F970C73}"/>
              </a:ext>
            </a:extLst>
          </p:cNvPr>
          <p:cNvPicPr>
            <a:picLocks noChangeAspect="1"/>
          </p:cNvPicPr>
          <p:nvPr/>
        </p:nvPicPr>
        <p:blipFill>
          <a:blip r:embed="rId7"/>
          <a:stretch>
            <a:fillRect/>
          </a:stretch>
        </p:blipFill>
        <p:spPr>
          <a:xfrm>
            <a:off x="418756" y="3860708"/>
            <a:ext cx="8566497" cy="981257"/>
          </a:xfrm>
          <a:prstGeom prst="rect">
            <a:avLst/>
          </a:prstGeom>
        </p:spPr>
      </p:pic>
      <p:pic>
        <p:nvPicPr>
          <p:cNvPr id="10" name="Picture 9">
            <a:extLst>
              <a:ext uri="{FF2B5EF4-FFF2-40B4-BE49-F238E27FC236}">
                <a16:creationId xmlns:a16="http://schemas.microsoft.com/office/drawing/2014/main" id="{FE752332-BFA8-C9FB-33D1-9ED0D629DEFE}"/>
              </a:ext>
            </a:extLst>
          </p:cNvPr>
          <p:cNvPicPr>
            <a:picLocks noChangeAspect="1"/>
          </p:cNvPicPr>
          <p:nvPr/>
        </p:nvPicPr>
        <p:blipFill>
          <a:blip r:embed="rId8"/>
          <a:stretch>
            <a:fillRect/>
          </a:stretch>
        </p:blipFill>
        <p:spPr>
          <a:xfrm>
            <a:off x="418757" y="1676401"/>
            <a:ext cx="8510980" cy="1143000"/>
          </a:xfrm>
          <a:prstGeom prst="rect">
            <a:avLst/>
          </a:prstGeom>
        </p:spPr>
      </p:pic>
      <p:pic>
        <p:nvPicPr>
          <p:cNvPr id="12" name="Picture 11">
            <a:extLst>
              <a:ext uri="{FF2B5EF4-FFF2-40B4-BE49-F238E27FC236}">
                <a16:creationId xmlns:a16="http://schemas.microsoft.com/office/drawing/2014/main" id="{936C052F-0713-B38F-C5AC-0C6682932A83}"/>
              </a:ext>
            </a:extLst>
          </p:cNvPr>
          <p:cNvPicPr>
            <a:picLocks noChangeAspect="1"/>
          </p:cNvPicPr>
          <p:nvPr/>
        </p:nvPicPr>
        <p:blipFill>
          <a:blip r:embed="rId9"/>
          <a:stretch>
            <a:fillRect/>
          </a:stretch>
        </p:blipFill>
        <p:spPr>
          <a:xfrm>
            <a:off x="425104" y="4886144"/>
            <a:ext cx="8566496" cy="981256"/>
          </a:xfrm>
          <a:prstGeom prst="rect">
            <a:avLst/>
          </a:prstGeom>
        </p:spPr>
      </p:pic>
      <p:pic>
        <p:nvPicPr>
          <p:cNvPr id="14" name="Picture 13">
            <a:extLst>
              <a:ext uri="{FF2B5EF4-FFF2-40B4-BE49-F238E27FC236}">
                <a16:creationId xmlns:a16="http://schemas.microsoft.com/office/drawing/2014/main" id="{8B5ED736-77CC-B170-F8E9-296131BC5BD8}"/>
              </a:ext>
            </a:extLst>
          </p:cNvPr>
          <p:cNvPicPr>
            <a:picLocks noChangeAspect="1"/>
          </p:cNvPicPr>
          <p:nvPr/>
        </p:nvPicPr>
        <p:blipFill>
          <a:blip r:embed="rId10"/>
          <a:stretch>
            <a:fillRect/>
          </a:stretch>
        </p:blipFill>
        <p:spPr>
          <a:xfrm>
            <a:off x="418756" y="2819402"/>
            <a:ext cx="8510979" cy="1041306"/>
          </a:xfrm>
          <a:prstGeom prst="rect">
            <a:avLst/>
          </a:prstGeom>
        </p:spPr>
      </p:pic>
    </p:spTree>
    <p:extLst>
      <p:ext uri="{BB962C8B-B14F-4D97-AF65-F5344CB8AC3E}">
        <p14:creationId xmlns:p14="http://schemas.microsoft.com/office/powerpoint/2010/main" val="96071762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Balancing Techniques – </a:t>
            </a:r>
          </a:p>
        </p:txBody>
      </p:sp>
      <p:sp>
        <p:nvSpPr>
          <p:cNvPr id="2" name="object 2">
            <a:extLst>
              <a:ext uri="{FF2B5EF4-FFF2-40B4-BE49-F238E27FC236}">
                <a16:creationId xmlns:a16="http://schemas.microsoft.com/office/drawing/2014/main" id="{31434F92-5814-A27B-56A1-560DF180DB59}"/>
              </a:ext>
            </a:extLst>
          </p:cNvPr>
          <p:cNvSpPr txBox="1">
            <a:spLocks/>
          </p:cNvSpPr>
          <p:nvPr/>
        </p:nvSpPr>
        <p:spPr>
          <a:xfrm>
            <a:off x="137369" y="536638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Top 12 Load Balancing Techniques to keep on your Radar | LinkedIn</a:t>
            </a:r>
            <a:endParaRPr lang="en-US" sz="1500" kern="0" spc="-80" dirty="0">
              <a:solidFill>
                <a:schemeClr val="accent2"/>
              </a:solidFill>
            </a:endParaRPr>
          </a:p>
        </p:txBody>
      </p:sp>
      <p:pic>
        <p:nvPicPr>
          <p:cNvPr id="8" name="Picture 7">
            <a:extLst>
              <a:ext uri="{FF2B5EF4-FFF2-40B4-BE49-F238E27FC236}">
                <a16:creationId xmlns:a16="http://schemas.microsoft.com/office/drawing/2014/main" id="{535E5E22-8B50-F3B3-483E-29797AB2AC8D}"/>
              </a:ext>
            </a:extLst>
          </p:cNvPr>
          <p:cNvPicPr>
            <a:picLocks noChangeAspect="1"/>
          </p:cNvPicPr>
          <p:nvPr/>
        </p:nvPicPr>
        <p:blipFill>
          <a:blip r:embed="rId8"/>
          <a:stretch>
            <a:fillRect/>
          </a:stretch>
        </p:blipFill>
        <p:spPr>
          <a:xfrm>
            <a:off x="253547" y="1301557"/>
            <a:ext cx="8814253" cy="4102295"/>
          </a:xfrm>
          <a:prstGeom prst="rect">
            <a:avLst/>
          </a:prstGeom>
        </p:spPr>
      </p:pic>
    </p:spTree>
    <p:extLst>
      <p:ext uri="{BB962C8B-B14F-4D97-AF65-F5344CB8AC3E}">
        <p14:creationId xmlns:p14="http://schemas.microsoft.com/office/powerpoint/2010/main" val="305149451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2000" kern="0" spc="-80" dirty="0">
                <a:solidFill>
                  <a:schemeClr val="accent2"/>
                </a:solidFill>
              </a:rPr>
              <a:t>Load Balancers –</a:t>
            </a:r>
          </a:p>
          <a:p>
            <a:pPr marL="12700" marR="5080"/>
            <a:r>
              <a:rPr lang="en-IN" sz="1500" dirty="0">
                <a:hlinkClick r:id="rId7"/>
              </a:rPr>
              <a:t>Introduction to Load Balancers</a:t>
            </a:r>
            <a:endParaRPr lang="en-IN" sz="1500" dirty="0"/>
          </a:p>
          <a:p>
            <a:pPr marL="12700" marR="5080"/>
            <a:endParaRPr lang="en-US" sz="2400" kern="0" spc="-80" dirty="0">
              <a:solidFill>
                <a:schemeClr val="accent2"/>
              </a:solidFill>
            </a:endParaRPr>
          </a:p>
          <a:p>
            <a:pPr marL="12700" marR="5080"/>
            <a:r>
              <a:rPr lang="en-US" sz="2000" kern="0" spc="-80" dirty="0">
                <a:solidFill>
                  <a:schemeClr val="accent2"/>
                </a:solidFill>
              </a:rPr>
              <a:t>Load Balancer Types – </a:t>
            </a:r>
          </a:p>
          <a:p>
            <a:pPr marL="12700" marR="5080"/>
            <a:r>
              <a:rPr lang="en-US" sz="1500" dirty="0">
                <a:hlinkClick r:id="rId8"/>
              </a:rPr>
              <a:t>Load Balancer Choices | SystemsArchitect.io</a:t>
            </a:r>
            <a:endParaRPr lang="en-US" sz="1500" dirty="0"/>
          </a:p>
          <a:p>
            <a:pPr marL="12700" marR="5080"/>
            <a:r>
              <a:rPr lang="en-US" sz="2000" kern="0" spc="-80" dirty="0">
                <a:solidFill>
                  <a:schemeClr val="accent2"/>
                </a:solidFill>
              </a:rPr>
              <a:t> </a:t>
            </a:r>
          </a:p>
          <a:p>
            <a:pPr marL="12700" marR="5080"/>
            <a:r>
              <a:rPr lang="en-US" sz="2000" kern="0" spc="-80" dirty="0">
                <a:solidFill>
                  <a:schemeClr val="accent2"/>
                </a:solidFill>
              </a:rPr>
              <a:t>Load Balancer Sticky Session(/Session Affinity) – </a:t>
            </a:r>
          </a:p>
          <a:p>
            <a:pPr marL="12700" marR="5080"/>
            <a:r>
              <a:rPr lang="en-US" sz="1500" dirty="0">
                <a:hlinkClick r:id="rId9"/>
              </a:rPr>
              <a:t>What is Session Stickiness | Pros and Cons of Using Session Cookies | Imperva</a:t>
            </a:r>
            <a:endParaRPr lang="en-US" sz="1500" dirty="0"/>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000" kern="0" spc="-80" dirty="0">
                <a:solidFill>
                  <a:schemeClr val="accent2"/>
                </a:solidFill>
              </a:rPr>
              <a:t>Forward Proxy &amp; Reverse Proxy –</a:t>
            </a:r>
            <a:r>
              <a:rPr lang="en-US" sz="2400" kern="0" spc="-80" dirty="0">
                <a:solidFill>
                  <a:schemeClr val="accent2"/>
                </a:solidFill>
              </a:rPr>
              <a:t> </a:t>
            </a:r>
          </a:p>
          <a:p>
            <a:pPr marL="12700" marR="5080"/>
            <a:r>
              <a:rPr lang="en-US" sz="1500" dirty="0">
                <a:hlinkClick r:id="rId10"/>
              </a:rPr>
              <a:t>Forward and Reverse Proxy in System Design </a:t>
            </a:r>
            <a:endParaRPr lang="en-US" sz="1500" dirty="0"/>
          </a:p>
          <a:p>
            <a:pPr marL="12700" marR="5080"/>
            <a:r>
              <a:rPr lang="en-US" sz="1500" dirty="0">
                <a:hlinkClick r:id="rId11"/>
              </a:rPr>
              <a:t>A Deep Dive into YARP and Ocelot: Your Gateway to API Gateways </a:t>
            </a:r>
            <a:r>
              <a:rPr lang="en-US" sz="1600" kern="0" spc="-80" dirty="0">
                <a:solidFill>
                  <a:schemeClr val="accent2"/>
                </a:solidFill>
              </a:rPr>
              <a:t>(e.g. can be used to build a Payment Gateway[PCI-DSS Compliant PCI Proxy])  </a:t>
            </a:r>
          </a:p>
          <a:p>
            <a:pPr marL="12700" marR="5080"/>
            <a:r>
              <a:rPr lang="en-US" sz="1600" dirty="0">
                <a:hlinkClick r:id="rId12"/>
              </a:rPr>
              <a:t>Service-Fabric-</a:t>
            </a:r>
            <a:r>
              <a:rPr lang="en-US" sz="1600" dirty="0" err="1">
                <a:hlinkClick r:id="rId12"/>
              </a:rPr>
              <a:t>Yarp</a:t>
            </a:r>
            <a:endParaRPr lang="en-US" sz="1600" dirty="0"/>
          </a:p>
          <a:p>
            <a:pPr marL="12700" marR="5080"/>
            <a:r>
              <a:rPr lang="en-US" sz="1500" dirty="0" err="1">
                <a:hlinkClick r:id="rId13"/>
              </a:rPr>
              <a:t>Zuul</a:t>
            </a:r>
            <a:endParaRPr lang="en-US" sz="1500" kern="0" spc="-80" dirty="0">
              <a:solidFill>
                <a:schemeClr val="accent2"/>
              </a:solidFill>
            </a:endParaRPr>
          </a:p>
        </p:txBody>
      </p:sp>
    </p:spTree>
    <p:extLst>
      <p:ext uri="{BB962C8B-B14F-4D97-AF65-F5344CB8AC3E}">
        <p14:creationId xmlns:p14="http://schemas.microsoft.com/office/powerpoint/2010/main" val="108614756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p:txBody>
      </p:sp>
      <p:pic>
        <p:nvPicPr>
          <p:cNvPr id="1026" name="Picture 2">
            <a:extLst>
              <a:ext uri="{FF2B5EF4-FFF2-40B4-BE49-F238E27FC236}">
                <a16:creationId xmlns:a16="http://schemas.microsoft.com/office/drawing/2014/main" id="{080BE40B-88D8-CE47-CC0E-1DAA00B56BE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83732"/>
            <a:ext cx="4572000" cy="46598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ASE">
            <a:extLst>
              <a:ext uri="{FF2B5EF4-FFF2-40B4-BE49-F238E27FC236}">
                <a16:creationId xmlns:a16="http://schemas.microsoft.com/office/drawing/2014/main" id="{6AB8B2B2-FCD4-34F3-88A6-72167811FE1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572000" y="1283732"/>
            <a:ext cx="4572000" cy="46598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854800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1066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PACELC Theorem(extension of CAP Theorem)</a:t>
            </a:r>
            <a:r>
              <a:rPr lang="en-US" sz="2400" kern="0" spc="-80" dirty="0">
                <a:solidFill>
                  <a:schemeClr val="accent6"/>
                </a:solidFill>
              </a:rPr>
              <a:t> </a:t>
            </a:r>
            <a:r>
              <a:rPr lang="en-US" sz="2000" kern="0" spc="-80" dirty="0">
                <a:solidFill>
                  <a:schemeClr val="accent2"/>
                </a:solidFill>
              </a:rPr>
              <a:t>– </a:t>
            </a:r>
          </a:p>
        </p:txBody>
      </p:sp>
      <p:pic>
        <p:nvPicPr>
          <p:cNvPr id="11" name="Picture 10">
            <a:extLst>
              <a:ext uri="{FF2B5EF4-FFF2-40B4-BE49-F238E27FC236}">
                <a16:creationId xmlns:a16="http://schemas.microsoft.com/office/drawing/2014/main" id="{D38D18C5-C3A4-652D-0367-EF2C061907E8}"/>
              </a:ext>
            </a:extLst>
          </p:cNvPr>
          <p:cNvPicPr>
            <a:picLocks noChangeAspect="1"/>
          </p:cNvPicPr>
          <p:nvPr/>
        </p:nvPicPr>
        <p:blipFill>
          <a:blip r:embed="rId7"/>
          <a:stretch>
            <a:fillRect/>
          </a:stretch>
        </p:blipFill>
        <p:spPr>
          <a:xfrm>
            <a:off x="304800" y="1834947"/>
            <a:ext cx="8624937" cy="3956253"/>
          </a:xfrm>
          <a:prstGeom prst="rect">
            <a:avLst/>
          </a:prstGeom>
        </p:spPr>
      </p:pic>
    </p:spTree>
    <p:extLst>
      <p:ext uri="{BB962C8B-B14F-4D97-AF65-F5344CB8AC3E}">
        <p14:creationId xmlns:p14="http://schemas.microsoft.com/office/powerpoint/2010/main" val="423636152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Synchronous Transaction using 2PC(/3PC) - </a:t>
            </a:r>
            <a:endParaRPr lang="en-US" sz="2400" kern="0" spc="-80" dirty="0">
              <a:solidFill>
                <a:schemeClr val="accent6"/>
              </a:solidFill>
            </a:endParaRPr>
          </a:p>
        </p:txBody>
      </p:sp>
      <p:pic>
        <p:nvPicPr>
          <p:cNvPr id="3074" name="Picture 2">
            <a:extLst>
              <a:ext uri="{FF2B5EF4-FFF2-40B4-BE49-F238E27FC236}">
                <a16:creationId xmlns:a16="http://schemas.microsoft.com/office/drawing/2014/main" id="{8B6507FC-B36F-E578-DE5E-DFFD1AD601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95800" y="1486536"/>
            <a:ext cx="4572000" cy="408773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18A9397-2AD1-B937-15F8-727D4842FD9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81000" y="1486536"/>
            <a:ext cx="3886200" cy="408773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F94CF6B6-EDC8-F214-CDA6-B9A518620B3F}"/>
              </a:ext>
            </a:extLst>
          </p:cNvPr>
          <p:cNvSpPr txBox="1"/>
          <p:nvPr/>
        </p:nvSpPr>
        <p:spPr>
          <a:xfrm>
            <a:off x="152400" y="5574268"/>
            <a:ext cx="8732068" cy="369332"/>
          </a:xfrm>
          <a:prstGeom prst="rect">
            <a:avLst/>
          </a:prstGeom>
          <a:noFill/>
        </p:spPr>
        <p:txBody>
          <a:bodyPr wrap="square">
            <a:spAutoFit/>
          </a:bodyPr>
          <a:lstStyle/>
          <a:p>
            <a:pPr marL="12700" marR="5080"/>
            <a:r>
              <a:rPr lang="en-US" sz="1800" kern="0" spc="-80" dirty="0">
                <a:solidFill>
                  <a:schemeClr val="accent6"/>
                </a:solidFill>
              </a:rPr>
              <a:t>An example here can be Same Bank Account Transfer.</a:t>
            </a:r>
          </a:p>
        </p:txBody>
      </p:sp>
    </p:spTree>
    <p:extLst>
      <p:ext uri="{BB962C8B-B14F-4D97-AF65-F5344CB8AC3E}">
        <p14:creationId xmlns:p14="http://schemas.microsoft.com/office/powerpoint/2010/main" val="288877485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Asynchronous Transactions (</a:t>
            </a:r>
            <a:r>
              <a:rPr lang="en-US" sz="1800" kern="0" spc="-80" dirty="0">
                <a:solidFill>
                  <a:schemeClr val="accent2"/>
                </a:solidFill>
              </a:rPr>
              <a:t>Outbox[/Inbox] Pattern - Keep an audit of all egress[/ingress] transactional data in DB)-</a:t>
            </a:r>
          </a:p>
        </p:txBody>
      </p:sp>
      <p:pic>
        <p:nvPicPr>
          <p:cNvPr id="10244" name="Picture 4" descr="The Outbox Pattern in C# - DEV Community">
            <a:extLst>
              <a:ext uri="{FF2B5EF4-FFF2-40B4-BE49-F238E27FC236}">
                <a16:creationId xmlns:a16="http://schemas.microsoft.com/office/drawing/2014/main" id="{95ADBBD7-2434-3857-239F-6282CA1BEE1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823085"/>
            <a:ext cx="8305800" cy="38157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666937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Asynchronous Transactions (Saga Pattern – Handling Cancelation or Failures using Compensating Transactions) - </a:t>
            </a:r>
            <a:endParaRPr lang="en-US" sz="2000" kern="0" spc="-80" dirty="0">
              <a:solidFill>
                <a:schemeClr val="accent6"/>
              </a:solidFill>
            </a:endParaRPr>
          </a:p>
        </p:txBody>
      </p:sp>
      <p:pic>
        <p:nvPicPr>
          <p:cNvPr id="2050" name="Picture 2" descr="&#10;        Saga pattern&#10;      ">
            <a:extLst>
              <a:ext uri="{FF2B5EF4-FFF2-40B4-BE49-F238E27FC236}">
                <a16:creationId xmlns:a16="http://schemas.microsoft.com/office/drawing/2014/main" id="{4B67F98C-A131-EDF0-3203-B6519029C1C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9532" y="1746885"/>
            <a:ext cx="8808268" cy="381738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87030F2-DCF4-62AB-8794-27748829B973}"/>
              </a:ext>
            </a:extLst>
          </p:cNvPr>
          <p:cNvSpPr txBox="1"/>
          <p:nvPr/>
        </p:nvSpPr>
        <p:spPr>
          <a:xfrm>
            <a:off x="167865" y="5564273"/>
            <a:ext cx="8808267" cy="369332"/>
          </a:xfrm>
          <a:prstGeom prst="rect">
            <a:avLst/>
          </a:prstGeom>
          <a:noFill/>
        </p:spPr>
        <p:txBody>
          <a:bodyPr wrap="square">
            <a:spAutoFit/>
          </a:bodyPr>
          <a:lstStyle/>
          <a:p>
            <a:pPr marL="12700" marR="5080"/>
            <a:r>
              <a:rPr lang="en-IN" sz="1800" kern="0" spc="-80" dirty="0">
                <a:solidFill>
                  <a:schemeClr val="accent6"/>
                </a:solidFill>
              </a:rPr>
              <a:t>An example where Saga Pattern can/should be used is Cross Bank Account Transfer</a:t>
            </a:r>
          </a:p>
        </p:txBody>
      </p:sp>
    </p:spTree>
    <p:extLst>
      <p:ext uri="{BB962C8B-B14F-4D97-AF65-F5344CB8AC3E}">
        <p14:creationId xmlns:p14="http://schemas.microsoft.com/office/powerpoint/2010/main" val="203715689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906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For Further Exploration - </a:t>
            </a:r>
          </a:p>
          <a:p>
            <a:pPr marL="12700" marR="5080"/>
            <a:r>
              <a:rPr lang="en-US" sz="1800" kern="0" spc="-80" dirty="0">
                <a:solidFill>
                  <a:schemeClr val="accent2"/>
                </a:solidFill>
              </a:rPr>
              <a:t> </a:t>
            </a:r>
          </a:p>
          <a:p>
            <a:pPr marL="12700" marR="5080"/>
            <a:r>
              <a:rPr lang="en-US" sz="1600" kern="0" spc="-80" dirty="0">
                <a:solidFill>
                  <a:schemeClr val="accent2"/>
                </a:solidFill>
              </a:rPr>
              <a:t> </a:t>
            </a:r>
            <a:r>
              <a:rPr lang="en-US" sz="1700" kern="0" spc="-80" dirty="0">
                <a:solidFill>
                  <a:schemeClr val="accent2"/>
                </a:solidFill>
              </a:rPr>
              <a:t>ACID vs BASE – </a:t>
            </a:r>
          </a:p>
          <a:p>
            <a:pPr marL="12700" marR="5080"/>
            <a:r>
              <a:rPr lang="en-US" sz="1500" kern="0" spc="-80" dirty="0">
                <a:solidFill>
                  <a:schemeClr val="accent2"/>
                </a:solidFill>
              </a:rPr>
              <a:t> </a:t>
            </a:r>
            <a:r>
              <a:rPr lang="en-US" sz="1500" dirty="0">
                <a:hlinkClick r:id="rId8"/>
              </a:rPr>
              <a:t>What are the differences and similarities between ACID and BASE properties of database transactions?</a:t>
            </a:r>
            <a:endParaRPr lang="en-US" sz="1500" dirty="0"/>
          </a:p>
          <a:p>
            <a:pPr marL="12700" marR="5080"/>
            <a:r>
              <a:rPr lang="en-US" sz="1500" kern="0" spc="-80" dirty="0">
                <a:solidFill>
                  <a:schemeClr val="accent2"/>
                </a:solidFill>
              </a:rPr>
              <a:t> </a:t>
            </a:r>
            <a:r>
              <a:rPr lang="en-IN" sz="1500" dirty="0">
                <a:hlinkClick r:id="rId9"/>
              </a:rPr>
              <a:t>ACID vs BASE: Database transactions – System Design</a:t>
            </a:r>
            <a:endParaRPr lang="en-IN" sz="1500" dirty="0"/>
          </a:p>
          <a:p>
            <a:pPr marL="12700" marR="5080"/>
            <a:endParaRPr lang="en-US" sz="1700" kern="0" spc="-220" dirty="0">
              <a:solidFill>
                <a:schemeClr val="accent6"/>
              </a:solidFill>
            </a:endParaRPr>
          </a:p>
          <a:p>
            <a:pPr marL="12700" marR="5080"/>
            <a:endParaRPr lang="en-US" sz="1700" kern="0" spc="-220" dirty="0">
              <a:solidFill>
                <a:schemeClr val="accent6"/>
              </a:solidFill>
            </a:endParaRPr>
          </a:p>
          <a:p>
            <a:pPr marL="12700" marR="5080"/>
            <a:r>
              <a:rPr lang="en-US" sz="1700" kern="0" spc="-80" dirty="0">
                <a:solidFill>
                  <a:schemeClr val="accent2"/>
                </a:solidFill>
              </a:rPr>
              <a:t>  PACELC Theorem(extension of CAP Theorem)</a:t>
            </a:r>
            <a:r>
              <a:rPr lang="en-US" sz="1700" kern="0" spc="-80" dirty="0">
                <a:solidFill>
                  <a:schemeClr val="accent6"/>
                </a:solidFill>
              </a:rPr>
              <a:t> </a:t>
            </a:r>
            <a:r>
              <a:rPr lang="en-US" sz="1700" kern="0" spc="-80" dirty="0">
                <a:solidFill>
                  <a:schemeClr val="accent2"/>
                </a:solidFill>
              </a:rPr>
              <a:t>– </a:t>
            </a:r>
          </a:p>
          <a:p>
            <a:pPr marL="12700" marR="5080"/>
            <a:r>
              <a:rPr lang="en-US" sz="1700" kern="0" spc="-80" dirty="0">
                <a:solidFill>
                  <a:schemeClr val="accent2"/>
                </a:solidFill>
              </a:rPr>
              <a:t>  </a:t>
            </a:r>
            <a:r>
              <a:rPr lang="en-IN" sz="1500" dirty="0">
                <a:hlinkClick r:id="rId10"/>
              </a:rPr>
              <a:t>PACELC theorem – Wikipedia</a:t>
            </a:r>
            <a:endParaRPr lang="en-IN" sz="1500" dirty="0"/>
          </a:p>
          <a:p>
            <a:pPr marL="12700" marR="5080"/>
            <a:endParaRPr lang="en-US" sz="1700" kern="0" spc="-80" dirty="0">
              <a:solidFill>
                <a:schemeClr val="accent2"/>
              </a:solidFill>
            </a:endParaRPr>
          </a:p>
          <a:p>
            <a:pPr marL="12700" marR="5080"/>
            <a:endParaRPr lang="en-US" sz="1700" kern="0" spc="-80" dirty="0">
              <a:solidFill>
                <a:schemeClr val="accent2"/>
              </a:solidFill>
            </a:endParaRPr>
          </a:p>
          <a:p>
            <a:pPr marL="12700" marR="5080"/>
            <a:r>
              <a:rPr lang="en-US" sz="1700" kern="0" spc="-80" dirty="0">
                <a:solidFill>
                  <a:schemeClr val="accent2"/>
                </a:solidFill>
              </a:rPr>
              <a:t>  2PC/3PC Transactions – </a:t>
            </a:r>
          </a:p>
          <a:p>
            <a:pPr marL="12700" marR="5080"/>
            <a:r>
              <a:rPr lang="en-US" sz="1700" kern="0" spc="-80" dirty="0">
                <a:solidFill>
                  <a:schemeClr val="accent2"/>
                </a:solidFill>
              </a:rPr>
              <a:t>  </a:t>
            </a:r>
            <a:r>
              <a:rPr lang="en-US" sz="1500" dirty="0">
                <a:hlinkClick r:id="rId11"/>
              </a:rPr>
              <a:t>Dealing Distributed Transactions with 2PC, 3PC, Local Transaction Table with MQs</a:t>
            </a:r>
            <a:endParaRPr lang="en-US" sz="1500" dirty="0"/>
          </a:p>
          <a:p>
            <a:pPr marL="12700" marR="5080"/>
            <a:r>
              <a:rPr lang="en-US" sz="1500" dirty="0"/>
              <a:t>  </a:t>
            </a:r>
            <a:r>
              <a:rPr lang="en-US" sz="1500" dirty="0">
                <a:hlinkClick r:id="rId12"/>
              </a:rPr>
              <a:t>Flat &amp; Nested Distributed Transactions - </a:t>
            </a:r>
            <a:r>
              <a:rPr lang="en-US" sz="1500" dirty="0" err="1">
                <a:hlinkClick r:id="rId12"/>
              </a:rPr>
              <a:t>GeeksforGeeks</a:t>
            </a:r>
            <a:endParaRPr lang="en-US" sz="1500" dirty="0"/>
          </a:p>
          <a:p>
            <a:pPr marL="12700" marR="5080"/>
            <a:endParaRPr lang="en-US" sz="1700" kern="0" spc="-80" dirty="0">
              <a:solidFill>
                <a:schemeClr val="accent2"/>
              </a:solidFill>
            </a:endParaRPr>
          </a:p>
          <a:p>
            <a:pPr marL="12700" marR="5080"/>
            <a:r>
              <a:rPr lang="en-US" sz="1700" kern="0" spc="-80" dirty="0">
                <a:solidFill>
                  <a:schemeClr val="accent2"/>
                </a:solidFill>
              </a:rPr>
              <a:t>     </a:t>
            </a:r>
            <a:endParaRPr lang="en-US" sz="1500" kern="0" spc="-80" dirty="0">
              <a:solidFill>
                <a:schemeClr val="accent2"/>
              </a:solidFill>
            </a:endParaRPr>
          </a:p>
        </p:txBody>
      </p:sp>
    </p:spTree>
    <p:extLst>
      <p:ext uri="{BB962C8B-B14F-4D97-AF65-F5344CB8AC3E}">
        <p14:creationId xmlns:p14="http://schemas.microsoft.com/office/powerpoint/2010/main" val="41615123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913686"/>
            <a:ext cx="8624937" cy="52398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For Further Exploration(</a:t>
            </a:r>
            <a:r>
              <a:rPr lang="en-US" sz="2000" kern="0" spc="-80" dirty="0" err="1">
                <a:solidFill>
                  <a:schemeClr val="accent2"/>
                </a:solidFill>
              </a:rPr>
              <a:t>contd</a:t>
            </a:r>
            <a:r>
              <a:rPr lang="en-US" sz="2000" kern="0" spc="-80" dirty="0">
                <a:solidFill>
                  <a:schemeClr val="accent2"/>
                </a:solidFill>
              </a:rPr>
              <a:t> … ) – </a:t>
            </a:r>
          </a:p>
          <a:p>
            <a:pPr marL="12700" marR="5080"/>
            <a:r>
              <a:rPr lang="en-US" sz="2000" kern="0" spc="-80" dirty="0">
                <a:solidFill>
                  <a:schemeClr val="accent2"/>
                </a:solidFill>
              </a:rPr>
              <a:t> </a:t>
            </a:r>
            <a:r>
              <a:rPr lang="en-US" sz="1800" kern="0" spc="-80" dirty="0">
                <a:solidFill>
                  <a:schemeClr val="accent2"/>
                </a:solidFill>
              </a:rPr>
              <a:t>An Example of Synchronous Transaction using 2PC/3PC(MS-DTC needs to be enabled for this in windows based machines)</a:t>
            </a:r>
            <a:r>
              <a:rPr lang="en-US" sz="1800" kern="0" spc="-80" dirty="0">
                <a:solidFill>
                  <a:schemeClr val="accent6"/>
                </a:solidFill>
              </a:rPr>
              <a:t> –</a:t>
            </a:r>
          </a:p>
          <a:p>
            <a:pPr marL="12700" marR="5080"/>
            <a:r>
              <a:rPr lang="en-IN" sz="1500" dirty="0">
                <a:hlinkClick r:id="rId7"/>
              </a:rPr>
              <a:t>DDD-Based-Enterprise-Application-Framework/Infrastructure/</a:t>
            </a:r>
            <a:r>
              <a:rPr lang="en-IN" sz="1500" dirty="0" err="1">
                <a:hlinkClick r:id="rId7"/>
              </a:rPr>
              <a:t>UnitOfWork</a:t>
            </a:r>
            <a:r>
              <a:rPr lang="en-IN" sz="1500" dirty="0">
                <a:hlinkClick r:id="rId7"/>
              </a:rPr>
              <a:t>/</a:t>
            </a:r>
            <a:r>
              <a:rPr lang="en-IN" sz="1500" dirty="0" err="1">
                <a:hlinkClick r:id="rId7"/>
              </a:rPr>
              <a:t>UnitOfWork.cs</a:t>
            </a:r>
            <a:r>
              <a:rPr lang="en-IN" sz="1500" dirty="0">
                <a:hlinkClick r:id="rId7"/>
              </a:rPr>
              <a:t> at master · sandipray63in/DDD-Based-Enterprise-Application-Framework · GitHub</a:t>
            </a:r>
            <a:r>
              <a:rPr lang="en-US" sz="2400" kern="0" spc="-80" dirty="0">
                <a:solidFill>
                  <a:schemeClr val="accent6"/>
                </a:solidFill>
              </a:rPr>
              <a:t> </a:t>
            </a:r>
            <a:r>
              <a:rPr lang="en-US" sz="1600" kern="0" spc="-80" dirty="0">
                <a:solidFill>
                  <a:schemeClr val="accent6"/>
                </a:solidFill>
              </a:rPr>
              <a:t>(check the commit and </a:t>
            </a:r>
            <a:r>
              <a:rPr lang="en-US" sz="1600" kern="0" spc="-80" dirty="0" err="1">
                <a:solidFill>
                  <a:schemeClr val="accent6"/>
                </a:solidFill>
              </a:rPr>
              <a:t>commitAsync</a:t>
            </a:r>
            <a:r>
              <a:rPr lang="en-US" sz="1600" kern="0" spc="-80" dirty="0">
                <a:solidFill>
                  <a:schemeClr val="accent6"/>
                </a:solidFill>
              </a:rPr>
              <a:t> methods). </a:t>
            </a:r>
          </a:p>
          <a:p>
            <a:pPr marL="12700" marR="5080"/>
            <a:r>
              <a:rPr lang="en-US" sz="1600" kern="0" spc="-80" dirty="0">
                <a:solidFill>
                  <a:schemeClr val="accent6"/>
                </a:solidFill>
              </a:rPr>
              <a:t>N.B. - Always wrap Synchronous Transactions using </a:t>
            </a:r>
            <a:r>
              <a:rPr lang="en-US" sz="1600" kern="0" spc="-80" dirty="0" err="1">
                <a:solidFill>
                  <a:schemeClr val="accent6"/>
                </a:solidFill>
              </a:rPr>
              <a:t>UnitOfWork</a:t>
            </a:r>
            <a:r>
              <a:rPr lang="en-US" sz="1600" kern="0" spc="-80" dirty="0">
                <a:solidFill>
                  <a:schemeClr val="accent6"/>
                </a:solidFill>
              </a:rPr>
              <a:t> Pattern.</a:t>
            </a:r>
          </a:p>
          <a:p>
            <a:pPr marL="12700" marR="5080"/>
            <a:endParaRPr lang="en-US" sz="1600" kern="0" spc="-80" dirty="0">
              <a:solidFill>
                <a:schemeClr val="accent6"/>
              </a:solidFill>
            </a:endParaRPr>
          </a:p>
          <a:p>
            <a:pPr marL="12700" marR="5080"/>
            <a:r>
              <a:rPr lang="en-US" sz="2000" kern="0" spc="-80" dirty="0">
                <a:solidFill>
                  <a:schemeClr val="accent2"/>
                </a:solidFill>
              </a:rPr>
              <a:t> </a:t>
            </a:r>
            <a:r>
              <a:rPr lang="en-US" sz="1800" kern="0" spc="-80" dirty="0">
                <a:solidFill>
                  <a:schemeClr val="accent2"/>
                </a:solidFill>
              </a:rPr>
              <a:t>Asynchronous Transactions using Outbox and Saga Pattern – </a:t>
            </a:r>
          </a:p>
          <a:p>
            <a:pPr marL="12700" marR="5080"/>
            <a:r>
              <a:rPr lang="en-US" sz="1600" kern="0" spc="-80" dirty="0">
                <a:solidFill>
                  <a:schemeClr val="accent6"/>
                </a:solidFill>
              </a:rPr>
              <a:t>  Outbox(&amp; Inbox) Pattern –</a:t>
            </a:r>
          </a:p>
          <a:p>
            <a:pPr marL="12700" marR="5080"/>
            <a:r>
              <a:rPr lang="en-US" sz="1500" kern="0" spc="-80" dirty="0">
                <a:solidFill>
                  <a:schemeClr val="accent6"/>
                </a:solidFill>
              </a:rPr>
              <a:t>   </a:t>
            </a:r>
            <a:r>
              <a:rPr lang="en-IN" sz="1500" dirty="0">
                <a:hlinkClick r:id="rId8"/>
              </a:rPr>
              <a:t>Pattern: Transactional outbox</a:t>
            </a:r>
            <a:r>
              <a:rPr lang="en-US" sz="1600" kern="0" spc="-80" dirty="0">
                <a:solidFill>
                  <a:schemeClr val="accent6"/>
                </a:solidFill>
              </a:rPr>
              <a:t> </a:t>
            </a:r>
          </a:p>
          <a:p>
            <a:pPr marL="12700" marR="5080"/>
            <a:r>
              <a:rPr lang="en-US" sz="1600" kern="0" spc="-80" dirty="0">
                <a:solidFill>
                  <a:schemeClr val="accent6"/>
                </a:solidFill>
              </a:rPr>
              <a:t>  Saga Pattern </a:t>
            </a:r>
          </a:p>
          <a:p>
            <a:pPr marL="12700" marR="5080"/>
            <a:r>
              <a:rPr lang="en-US" sz="1500" kern="0" spc="-80" dirty="0">
                <a:solidFill>
                  <a:schemeClr val="accent6"/>
                </a:solidFill>
              </a:rPr>
              <a:t>   </a:t>
            </a:r>
            <a:r>
              <a:rPr lang="en-IN" sz="1500" dirty="0">
                <a:hlinkClick r:id="rId9"/>
              </a:rPr>
              <a:t>Pattern: Saga</a:t>
            </a:r>
            <a:endParaRPr lang="en-IN" sz="1500" dirty="0"/>
          </a:p>
          <a:p>
            <a:pPr marL="12700" marR="5080"/>
            <a:r>
              <a:rPr lang="en-IN" sz="1500" dirty="0"/>
              <a:t>  </a:t>
            </a:r>
            <a:endParaRPr lang="en-IN" sz="1600" kern="0" spc="-80" dirty="0">
              <a:solidFill>
                <a:schemeClr val="accent6"/>
              </a:solidFill>
            </a:endParaRPr>
          </a:p>
          <a:p>
            <a:pPr marL="12700" marR="5080"/>
            <a:r>
              <a:rPr lang="en-US" sz="1800" kern="0" spc="-80" dirty="0">
                <a:solidFill>
                  <a:schemeClr val="accent2"/>
                </a:solidFill>
              </a:rPr>
              <a:t> Microservices Data Consistency </a:t>
            </a:r>
            <a:r>
              <a:rPr lang="en-US" sz="1600" kern="0" spc="-80" dirty="0">
                <a:solidFill>
                  <a:schemeClr val="accent2"/>
                </a:solidFill>
              </a:rPr>
              <a:t>- </a:t>
            </a:r>
            <a:r>
              <a:rPr lang="en-IN" sz="1500" dirty="0">
                <a:hlinkClick r:id="rId10"/>
              </a:rPr>
              <a:t>transaction-manager-for-microservices.pdf</a:t>
            </a:r>
            <a:endParaRPr lang="en-IN" sz="1500" dirty="0"/>
          </a:p>
          <a:p>
            <a:pPr marL="12700" marR="5080"/>
            <a:r>
              <a:rPr lang="en-IN" sz="1500" dirty="0"/>
              <a:t>   </a:t>
            </a:r>
          </a:p>
          <a:p>
            <a:pPr marL="12700" marR="5080"/>
            <a:r>
              <a:rPr lang="en-IN" sz="1500" dirty="0"/>
              <a:t>   </a:t>
            </a:r>
          </a:p>
          <a:p>
            <a:pPr marL="12700" marR="5080"/>
            <a:endParaRPr lang="en-IN" sz="1050" dirty="0"/>
          </a:p>
        </p:txBody>
      </p:sp>
    </p:spTree>
    <p:extLst>
      <p:ext uri="{BB962C8B-B14F-4D97-AF65-F5344CB8AC3E}">
        <p14:creationId xmlns:p14="http://schemas.microsoft.com/office/powerpoint/2010/main" val="413326500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Back Pressure – </a:t>
            </a:r>
          </a:p>
        </p:txBody>
      </p:sp>
      <p:pic>
        <p:nvPicPr>
          <p:cNvPr id="12290" name="Picture 2" descr="Back-pressure patterns in practice">
            <a:extLst>
              <a:ext uri="{FF2B5EF4-FFF2-40B4-BE49-F238E27FC236}">
                <a16:creationId xmlns:a16="http://schemas.microsoft.com/office/drawing/2014/main" id="{83498285-BE83-CB36-F8C6-3CAA8E493D2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143000"/>
            <a:ext cx="8503468" cy="40386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18C0A533-0E07-8DBA-9A7A-7590531F9C37}"/>
              </a:ext>
            </a:extLst>
          </p:cNvPr>
          <p:cNvSpPr txBox="1">
            <a:spLocks/>
          </p:cNvSpPr>
          <p:nvPr/>
        </p:nvSpPr>
        <p:spPr>
          <a:xfrm>
            <a:off x="137369" y="5251847"/>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500" kern="0" spc="-80" dirty="0">
                <a:solidFill>
                  <a:schemeClr val="accent6"/>
                </a:solidFill>
              </a:rPr>
              <a:t> </a:t>
            </a:r>
            <a:r>
              <a:rPr lang="en-IN" sz="1500" dirty="0">
                <a:hlinkClick r:id="rId8"/>
              </a:rPr>
              <a:t>Back-pressure patterns in practice</a:t>
            </a:r>
            <a:r>
              <a:rPr lang="en-US" sz="1400" kern="0" spc="-80" dirty="0">
                <a:solidFill>
                  <a:schemeClr val="accent6"/>
                </a:solidFill>
              </a:rPr>
              <a:t> </a:t>
            </a:r>
            <a:r>
              <a:rPr lang="en-US" sz="1600" kern="0" spc="-80" dirty="0">
                <a:solidFill>
                  <a:schemeClr val="accent2"/>
                </a:solidFill>
              </a:rPr>
              <a:t> </a:t>
            </a:r>
          </a:p>
        </p:txBody>
      </p:sp>
    </p:spTree>
    <p:extLst>
      <p:ext uri="{BB962C8B-B14F-4D97-AF65-F5344CB8AC3E}">
        <p14:creationId xmlns:p14="http://schemas.microsoft.com/office/powerpoint/2010/main" val="204244048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Management vs Control vs Data Plane –</a:t>
            </a:r>
          </a:p>
          <a:p>
            <a:pPr marL="12700" marR="5080"/>
            <a:r>
              <a:rPr lang="en-US" sz="2400" kern="0" spc="-80" dirty="0">
                <a:solidFill>
                  <a:schemeClr val="accent2"/>
                </a:solidFill>
              </a:rPr>
              <a:t> </a:t>
            </a:r>
            <a:r>
              <a:rPr lang="en-US" sz="2300" kern="0" spc="-80" dirty="0">
                <a:solidFill>
                  <a:schemeClr val="accent2"/>
                </a:solidFill>
              </a:rPr>
              <a:t>Management Plane – </a:t>
            </a:r>
            <a:r>
              <a:rPr lang="en-US" sz="2300" kern="0" spc="-80" dirty="0">
                <a:solidFill>
                  <a:schemeClr val="accent6"/>
                </a:solidFill>
              </a:rPr>
              <a:t>mainly used for high level controlling &amp; monitoring the Control plane below but in most systems Management Plane is merged into Control Plane &amp; called as Control Plane. </a:t>
            </a:r>
          </a:p>
          <a:p>
            <a:pPr marL="12700" marR="5080"/>
            <a:r>
              <a:rPr lang="en-US" sz="2300" kern="0" spc="-80" dirty="0">
                <a:solidFill>
                  <a:schemeClr val="accent2"/>
                </a:solidFill>
              </a:rPr>
              <a:t>  Control Plane </a:t>
            </a:r>
            <a:r>
              <a:rPr lang="en-US" sz="2300" kern="0" spc="-80" dirty="0">
                <a:solidFill>
                  <a:schemeClr val="accent6"/>
                </a:solidFill>
              </a:rPr>
              <a:t>- mainly used for Admin(/Write[/Read]) tasks </a:t>
            </a:r>
          </a:p>
          <a:p>
            <a:pPr marL="12700" marR="5080"/>
            <a:r>
              <a:rPr lang="en-US" sz="2300" kern="0" spc="-80" dirty="0">
                <a:solidFill>
                  <a:schemeClr val="accent2"/>
                </a:solidFill>
              </a:rPr>
              <a:t>  Data Plane - </a:t>
            </a:r>
            <a:r>
              <a:rPr lang="en-US" sz="2300" kern="0" spc="-80" dirty="0">
                <a:solidFill>
                  <a:schemeClr val="accent6"/>
                </a:solidFill>
              </a:rPr>
              <a:t>mainly used for app users Transactional(/Read[/Write]) tasks</a:t>
            </a: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r>
              <a:rPr lang="en-US" sz="1800" kern="0" spc="-80" dirty="0">
                <a:solidFill>
                  <a:schemeClr val="accent2"/>
                </a:solidFill>
              </a:rPr>
              <a:t>For Further Exploration- </a:t>
            </a:r>
          </a:p>
          <a:p>
            <a:pPr marL="12700" marR="5080"/>
            <a:r>
              <a:rPr lang="en-IN" sz="1700" dirty="0">
                <a:hlinkClick r:id="rId7"/>
              </a:rPr>
              <a:t>Control Plane and Data Plane Architecture – Daniel </a:t>
            </a:r>
            <a:r>
              <a:rPr lang="en-IN" sz="1700" dirty="0" err="1">
                <a:hlinkClick r:id="rId7"/>
              </a:rPr>
              <a:t>Donbavand</a:t>
            </a:r>
            <a:endParaRPr lang="en-IN" sz="1700" dirty="0"/>
          </a:p>
          <a:p>
            <a:pPr marL="12700" marR="5080"/>
            <a:r>
              <a:rPr lang="en-US" sz="1700" dirty="0">
                <a:hlinkClick r:id="rId8"/>
              </a:rPr>
              <a:t>Data, Control, Management: Three Planes, Different Altitudes - The New Stack</a:t>
            </a:r>
            <a:r>
              <a:rPr lang="en-US" sz="1700" kern="0" spc="-80" dirty="0">
                <a:solidFill>
                  <a:schemeClr val="accent6"/>
                </a:solidFill>
              </a:rPr>
              <a:t> </a:t>
            </a:r>
          </a:p>
        </p:txBody>
      </p:sp>
    </p:spTree>
    <p:extLst>
      <p:ext uri="{BB962C8B-B14F-4D97-AF65-F5344CB8AC3E}">
        <p14:creationId xmlns:p14="http://schemas.microsoft.com/office/powerpoint/2010/main" val="5628042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137369" y="828101"/>
            <a:ext cx="8624937"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a:t>
            </a:r>
            <a:r>
              <a:rPr lang="en-US" sz="2400" kern="0" spc="-80" dirty="0">
                <a:solidFill>
                  <a:schemeClr val="accent2"/>
                </a:solidFill>
              </a:rPr>
              <a:t> </a:t>
            </a:r>
          </a:p>
          <a:p>
            <a:pPr marL="12700" marR="5080"/>
            <a:r>
              <a:rPr lang="en-US" sz="1500" dirty="0">
                <a:hlinkClick r:id="rId7"/>
              </a:rPr>
              <a:t>Fundamentals of Distributed Systems | </a:t>
            </a:r>
            <a:r>
              <a:rPr lang="en-US" sz="1500" dirty="0" err="1">
                <a:hlinkClick r:id="rId7"/>
              </a:rPr>
              <a:t>Baeldung</a:t>
            </a:r>
            <a:r>
              <a:rPr lang="en-US" sz="1500" dirty="0">
                <a:hlinkClick r:id="rId7"/>
              </a:rPr>
              <a:t> on Computer Science</a:t>
            </a:r>
            <a:r>
              <a:rPr lang="en-US" sz="1500" kern="0" spc="-80" dirty="0">
                <a:solidFill>
                  <a:schemeClr val="accent2"/>
                </a:solidFill>
              </a:rPr>
              <a:t> </a:t>
            </a:r>
          </a:p>
          <a:p>
            <a:pPr marL="12700" marR="5080"/>
            <a:r>
              <a:rPr lang="en-US" sz="1500" dirty="0">
                <a:hlinkClick r:id="rId8"/>
              </a:rPr>
              <a:t>A Thorough Introduction to Distributed Systems</a:t>
            </a:r>
            <a:endParaRPr lang="en-US" sz="1500" dirty="0"/>
          </a:p>
          <a:p>
            <a:pPr marL="12700" marR="5080"/>
            <a:r>
              <a:rPr lang="en-US" sz="1500" dirty="0">
                <a:hlinkClick r:id="rId9"/>
              </a:rPr>
              <a:t>What Are Distributed Systems? | Splunk</a:t>
            </a:r>
            <a:endParaRPr lang="en-US" sz="1500" dirty="0"/>
          </a:p>
          <a:p>
            <a:pPr marL="12700" marR="5080"/>
            <a:r>
              <a:rPr lang="en-US" sz="1500" dirty="0">
                <a:hlinkClick r:id="rId10"/>
              </a:rPr>
              <a:t>A Crash Course on Distributed Systems</a:t>
            </a:r>
            <a:endParaRPr lang="en-US" sz="1500" dirty="0"/>
          </a:p>
          <a:p>
            <a:r>
              <a:rPr lang="en-US" sz="1500" dirty="0">
                <a:hlinkClick r:id="rId11"/>
              </a:rPr>
              <a:t>Building-Modern-Distributed-Systems-with-Java</a:t>
            </a:r>
            <a:endParaRPr lang="en-US" sz="1500" dirty="0"/>
          </a:p>
          <a:p>
            <a:r>
              <a:rPr lang="en-US" sz="1500" dirty="0">
                <a:hlinkClick r:id="rId12"/>
              </a:rPr>
              <a:t>Designing Data-Intensive Applications (DDIA)</a:t>
            </a:r>
            <a:r>
              <a:rPr lang="en-US" sz="1500" dirty="0"/>
              <a:t> </a:t>
            </a:r>
          </a:p>
          <a:p>
            <a:r>
              <a:rPr lang="en-US" sz="1500" dirty="0">
                <a:hlinkClick r:id="rId13"/>
              </a:rPr>
              <a:t>Distributed Systems for practitioners - Behind the scenes – A curious mind</a:t>
            </a:r>
            <a:r>
              <a:rPr lang="en-US" sz="1500" dirty="0"/>
              <a:t> </a:t>
            </a:r>
          </a:p>
          <a:p>
            <a:r>
              <a:rPr lang="en-US" sz="1500" dirty="0">
                <a:hlinkClick r:id="rId14"/>
              </a:rPr>
              <a:t>Distributed Systems Labs and Framework</a:t>
            </a:r>
            <a:endParaRPr lang="en-US" sz="1500" dirty="0"/>
          </a:p>
          <a:p>
            <a:r>
              <a:rPr lang="en-IN" sz="1500" dirty="0">
                <a:hlinkClick r:id="rId15"/>
              </a:rPr>
              <a:t>Raspberry Pi Super Cluster | IoT &amp; Hardware | Print</a:t>
            </a:r>
            <a:endParaRPr lang="en-IN" sz="1500" dirty="0"/>
          </a:p>
          <a:p>
            <a:r>
              <a:rPr lang="en-US" sz="1500" dirty="0">
                <a:hlinkClick r:id="rId16"/>
              </a:rPr>
              <a:t>Hints for Distributed Systems Design</a:t>
            </a:r>
            <a:endParaRPr lang="en-US" sz="1500" dirty="0"/>
          </a:p>
          <a:p>
            <a:r>
              <a:rPr lang="en-US" sz="1500" dirty="0">
                <a:hlinkClick r:id="rId17"/>
              </a:rPr>
              <a:t>System-Design-Master-Plan</a:t>
            </a:r>
            <a:endParaRPr lang="en-US" sz="1500" dirty="0"/>
          </a:p>
          <a:p>
            <a:pPr marL="12700" marR="5080"/>
            <a:r>
              <a:rPr lang="en-IN" sz="1500" dirty="0">
                <a:hlinkClick r:id="rId18"/>
              </a:rPr>
              <a:t>System Design Blueprint: The Ultimate Guide</a:t>
            </a:r>
            <a:endParaRPr lang="en-IN" sz="1500" dirty="0"/>
          </a:p>
          <a:p>
            <a:pPr marL="12700" marR="5080"/>
            <a:r>
              <a:rPr lang="en-IN" sz="1500" dirty="0">
                <a:hlinkClick r:id="rId19"/>
              </a:rPr>
              <a:t>System Design PDFs - by Alex Xu - </a:t>
            </a:r>
            <a:r>
              <a:rPr lang="en-IN" sz="1500" dirty="0" err="1">
                <a:hlinkClick r:id="rId19"/>
              </a:rPr>
              <a:t>ByteByteGo</a:t>
            </a:r>
            <a:r>
              <a:rPr lang="en-IN" sz="1500" dirty="0">
                <a:hlinkClick r:id="rId19"/>
              </a:rPr>
              <a:t> Newsletter</a:t>
            </a:r>
            <a:endParaRPr lang="en-IN" sz="1500" dirty="0"/>
          </a:p>
          <a:p>
            <a:pPr marL="12700" marR="5080"/>
            <a:r>
              <a:rPr lang="en-IN" sz="1500" dirty="0">
                <a:hlinkClick r:id="rId20"/>
              </a:rPr>
              <a:t>Understanding Distributed Systems</a:t>
            </a:r>
            <a:endParaRPr lang="en-IN" sz="1500" dirty="0"/>
          </a:p>
          <a:p>
            <a:pPr marL="12700" marR="5080"/>
            <a:r>
              <a:rPr lang="en-US" sz="1500" dirty="0">
                <a:hlinkClick r:id="rId21"/>
              </a:rPr>
              <a:t>Think Distributed Systems - Dominik Tornow</a:t>
            </a:r>
            <a:endParaRPr lang="en-IN" sz="1500" dirty="0"/>
          </a:p>
          <a:p>
            <a:pPr marL="12700" marR="5080"/>
            <a:r>
              <a:rPr lang="en-US" sz="1500" dirty="0">
                <a:hlinkClick r:id="rId22"/>
              </a:rPr>
              <a:t>Amazon.com: Alex Xu: books, biography, latest update</a:t>
            </a:r>
            <a:endParaRPr lang="en-US" sz="1500" dirty="0"/>
          </a:p>
          <a:p>
            <a:pPr marL="12700" marR="5080"/>
            <a:r>
              <a:rPr lang="en-US" sz="1500" dirty="0">
                <a:hlinkClick r:id="rId23"/>
              </a:rPr>
              <a:t>System Design Interview by Alex Xu | Duri </a:t>
            </a:r>
            <a:r>
              <a:rPr lang="en-US" sz="1500" dirty="0" err="1">
                <a:hlinkClick r:id="rId23"/>
              </a:rPr>
              <a:t>Chitayat</a:t>
            </a:r>
            <a:endParaRPr lang="en-US" sz="1500" dirty="0"/>
          </a:p>
          <a:p>
            <a:pPr marL="12700" marR="5080"/>
            <a:r>
              <a:rPr lang="en-US" sz="1500" dirty="0">
                <a:hlinkClick r:id="rId24"/>
              </a:rPr>
              <a:t>System Design at Google</a:t>
            </a:r>
            <a:endParaRPr lang="en-US" sz="1500" dirty="0"/>
          </a:p>
          <a:p>
            <a:pPr marL="12700" marR="5080"/>
            <a:r>
              <a:rPr lang="en-IN" sz="1500" dirty="0">
                <a:hlinkClick r:id="rId25"/>
              </a:rPr>
              <a:t>System Design Roadmap</a:t>
            </a:r>
            <a:endParaRPr lang="en-US" sz="1500" dirty="0"/>
          </a:p>
          <a:p>
            <a:pPr marL="12700" marR="5080"/>
            <a:r>
              <a:rPr lang="en-IN" sz="1500" dirty="0">
                <a:hlinkClick r:id="rId26"/>
              </a:rPr>
              <a:t>System Design Resources | LinkedIn</a:t>
            </a:r>
            <a:endParaRPr lang="en-US" sz="1500" dirty="0"/>
          </a:p>
          <a:p>
            <a:pPr marL="12700" marR="5080"/>
            <a:r>
              <a:rPr lang="en-US" sz="1500" dirty="0">
                <a:hlinkClick r:id="rId27"/>
              </a:rPr>
              <a:t>Awesome-System-Design</a:t>
            </a:r>
            <a:endParaRPr lang="en-US" sz="1500" dirty="0"/>
          </a:p>
          <a:p>
            <a:pPr marL="12700" marR="5080"/>
            <a:endParaRPr lang="en-US" sz="1400" dirty="0"/>
          </a:p>
        </p:txBody>
      </p:sp>
    </p:spTree>
    <p:extLst>
      <p:ext uri="{BB962C8B-B14F-4D97-AF65-F5344CB8AC3E}">
        <p14:creationId xmlns:p14="http://schemas.microsoft.com/office/powerpoint/2010/main" val="4200007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165C0-E039-AADC-7755-40DC3A1A73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777CC6-DE00-BAA0-A0DB-00F793BB661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1701C7-6F70-E776-F463-F4AB71C89C7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EDCB3E0-8382-17CF-0442-A26B858815B4}"/>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B7B4C8-D4FF-BF00-20C8-8B3B9B0E2AC5}"/>
              </a:ext>
            </a:extLst>
          </p:cNvPr>
          <p:cNvSpPr txBox="1">
            <a:spLocks/>
          </p:cNvSpPr>
          <p:nvPr/>
        </p:nvSpPr>
        <p:spPr>
          <a:xfrm>
            <a:off x="228600" y="914400"/>
            <a:ext cx="8624937" cy="51321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a:t>
            </a:r>
            <a:r>
              <a:rPr lang="en-US" sz="2400" kern="0" spc="-80" dirty="0" err="1">
                <a:solidFill>
                  <a:schemeClr val="accent2"/>
                </a:solidFill>
              </a:rPr>
              <a:t>contd</a:t>
            </a:r>
            <a:r>
              <a:rPr lang="en-US" sz="2400" kern="0" spc="-80" dirty="0">
                <a:solidFill>
                  <a:schemeClr val="accent2"/>
                </a:solidFill>
              </a:rPr>
              <a:t>…) – </a:t>
            </a:r>
          </a:p>
          <a:p>
            <a:pPr marL="12700" marR="5080"/>
            <a:r>
              <a:rPr lang="en-IN" sz="1550" dirty="0">
                <a:hlinkClick r:id="rId7"/>
              </a:rPr>
              <a:t>System-Design: System Design for Web-Apps</a:t>
            </a:r>
            <a:endParaRPr lang="en-IN" sz="1550" dirty="0"/>
          </a:p>
          <a:p>
            <a:pPr marL="12700" marR="5080"/>
            <a:r>
              <a:rPr lang="en-US" sz="1550" dirty="0">
                <a:hlinkClick r:id="rId8"/>
              </a:rPr>
              <a:t>System-Design-Architecture</a:t>
            </a:r>
            <a:endParaRPr lang="en-US" sz="1550" dirty="0"/>
          </a:p>
          <a:p>
            <a:pPr marL="12700" marR="5080"/>
            <a:r>
              <a:rPr lang="en-US" sz="1550" dirty="0">
                <a:hlinkClick r:id="rId9"/>
              </a:rPr>
              <a:t>System Design on AWS[Book]</a:t>
            </a:r>
            <a:endParaRPr lang="en-US" sz="1550" dirty="0"/>
          </a:p>
          <a:p>
            <a:pPr marL="12700" marR="5080"/>
            <a:r>
              <a:rPr lang="en-IN" sz="1550" dirty="0">
                <a:hlinkClick r:id="rId10"/>
              </a:rPr>
              <a:t>Comprehensive List of System Design Problems | LinkedIn</a:t>
            </a:r>
            <a:endParaRPr lang="en-IN" sz="1550" dirty="0"/>
          </a:p>
          <a:p>
            <a:pPr marL="12700" marR="5080"/>
            <a:r>
              <a:rPr lang="en-IN" sz="1550" dirty="0">
                <a:hlinkClick r:id="rId11"/>
              </a:rPr>
              <a:t>Global State in Distributed Systems.pdf </a:t>
            </a:r>
            <a:endParaRPr lang="en-IN" sz="1550" dirty="0"/>
          </a:p>
          <a:p>
            <a:pPr marL="12700" marR="5080"/>
            <a:r>
              <a:rPr lang="en-US" sz="1550" dirty="0">
                <a:hlinkClick r:id="rId12"/>
              </a:rPr>
              <a:t>How to do distributed locking — Martin </a:t>
            </a:r>
            <a:r>
              <a:rPr lang="en-US" sz="1550" dirty="0" err="1">
                <a:hlinkClick r:id="rId12"/>
              </a:rPr>
              <a:t>Kleppmann’s</a:t>
            </a:r>
            <a:r>
              <a:rPr lang="en-US" sz="1550" dirty="0">
                <a:hlinkClick r:id="rId12"/>
              </a:rPr>
              <a:t> blog</a:t>
            </a:r>
            <a:endParaRPr lang="en-US" sz="1550" dirty="0"/>
          </a:p>
          <a:p>
            <a:pPr marL="12700" marR="5080"/>
            <a:r>
              <a:rPr lang="en-US" sz="1550" dirty="0">
                <a:hlinkClick r:id="rId13"/>
              </a:rPr>
              <a:t>Consistency Model in Distributed System - </a:t>
            </a:r>
            <a:r>
              <a:rPr lang="en-US" sz="1550" dirty="0" err="1">
                <a:hlinkClick r:id="rId13"/>
              </a:rPr>
              <a:t>GeeksforGeeks</a:t>
            </a:r>
            <a:endParaRPr lang="en-IN" sz="1550" dirty="0"/>
          </a:p>
          <a:p>
            <a:pPr marL="12700" marR="5080"/>
            <a:r>
              <a:rPr lang="en-IN" sz="1550" dirty="0">
                <a:hlinkClick r:id="rId14"/>
              </a:rPr>
              <a:t>Distributed Mutual Exclusion Algorithms </a:t>
            </a:r>
            <a:endParaRPr lang="en-IN" sz="1550" dirty="0"/>
          </a:p>
          <a:p>
            <a:pPr marL="12700" marR="5080"/>
            <a:r>
              <a:rPr lang="en-IN" sz="1550" dirty="0">
                <a:hlinkClick r:id="rId15"/>
              </a:rPr>
              <a:t>Distributed Recovery.pdf</a:t>
            </a:r>
            <a:endParaRPr lang="en-US" sz="1550" kern="0" spc="-80" dirty="0">
              <a:solidFill>
                <a:schemeClr val="accent2"/>
              </a:solidFill>
            </a:endParaRPr>
          </a:p>
          <a:p>
            <a:pPr marL="12700" marR="5080"/>
            <a:r>
              <a:rPr lang="en-US" sz="1550" dirty="0">
                <a:hlinkClick r:id="rId16"/>
              </a:rPr>
              <a:t>Design a Distributed Job Scheduler for Millions of Tasks in Daily Operations</a:t>
            </a:r>
            <a:endParaRPr lang="en-US" sz="1550" dirty="0"/>
          </a:p>
          <a:p>
            <a:pPr marL="12700" marR="5080"/>
            <a:r>
              <a:rPr lang="en-IN" sz="1550" dirty="0">
                <a:hlinkClick r:id="rId17"/>
              </a:rPr>
              <a:t>Thread (online communication) – Wikipedia</a:t>
            </a:r>
            <a:endParaRPr lang="en-IN" sz="1550" dirty="0"/>
          </a:p>
          <a:p>
            <a:pPr marL="12700" marR="5080"/>
            <a:r>
              <a:rPr lang="en-IN" sz="1550" dirty="0">
                <a:hlinkClick r:id="rId18"/>
              </a:rPr>
              <a:t>Message Threading</a:t>
            </a:r>
            <a:endParaRPr lang="en-IN" sz="1550" dirty="0"/>
          </a:p>
          <a:p>
            <a:pPr marL="12700" marR="5080"/>
            <a:r>
              <a:rPr lang="en-US" sz="1550" dirty="0">
                <a:hlinkClick r:id="rId19"/>
              </a:rPr>
              <a:t>Warming up dedicated IP addresses (standard) - Amazon Simple Email Service</a:t>
            </a:r>
            <a:endParaRPr lang="en-US" sz="1550" dirty="0"/>
          </a:p>
          <a:p>
            <a:pPr marL="12700" marR="5080"/>
            <a:r>
              <a:rPr lang="en-US" sz="1550" dirty="0">
                <a:hlinkClick r:id="rId20"/>
              </a:rPr>
              <a:t>UUID and </a:t>
            </a:r>
            <a:r>
              <a:rPr lang="en-US" sz="1550" dirty="0" err="1">
                <a:hlinkClick r:id="rId20"/>
              </a:rPr>
              <a:t>timeuuid</a:t>
            </a:r>
            <a:r>
              <a:rPr lang="en-US" sz="1550" dirty="0">
                <a:hlinkClick r:id="rId20"/>
              </a:rPr>
              <a:t> functions | CQL for Cassandra 3.0</a:t>
            </a:r>
            <a:endParaRPr lang="en-US" sz="1550" kern="0" spc="-80" dirty="0">
              <a:solidFill>
                <a:schemeClr val="accent2"/>
              </a:solidFill>
            </a:endParaRPr>
          </a:p>
          <a:p>
            <a:pPr marL="12700" marR="5080"/>
            <a:r>
              <a:rPr lang="en-US" sz="1550" dirty="0">
                <a:hlinkClick r:id="rId21"/>
              </a:rPr>
              <a:t>Writing: Differential Synchronization</a:t>
            </a:r>
            <a:endParaRPr lang="en-US" sz="1550" dirty="0"/>
          </a:p>
          <a:p>
            <a:pPr marL="12700" marR="5080"/>
            <a:r>
              <a:rPr lang="en-US" sz="1550" dirty="0">
                <a:hlinkClick r:id="rId22"/>
              </a:rPr>
              <a:t>Distributed File System (DFS) Architecture Components Explained</a:t>
            </a:r>
            <a:endParaRPr lang="en-US" sz="1550" dirty="0"/>
          </a:p>
          <a:p>
            <a:pPr marL="12700" marR="5080"/>
            <a:r>
              <a:rPr lang="en-US" sz="1550" dirty="0">
                <a:hlinkClick r:id="rId23"/>
              </a:rPr>
              <a:t>ARCHITECTING EXTREMELY LARGE SCALE WEB APPLICATIONS</a:t>
            </a:r>
            <a:endParaRPr lang="en-US" sz="1550" dirty="0"/>
          </a:p>
          <a:p>
            <a:pPr marL="12700" marR="5080"/>
            <a:r>
              <a:rPr lang="en-US" sz="1550" dirty="0">
                <a:hlinkClick r:id="rId24"/>
              </a:rPr>
              <a:t>Software Architecture, Cloud Computing, Multithreading, &amp; Advanced Java Courses</a:t>
            </a:r>
            <a:endParaRPr lang="en-US" sz="1550" dirty="0"/>
          </a:p>
          <a:p>
            <a:pPr marL="12700" marR="5080"/>
            <a:r>
              <a:rPr lang="en-IN" sz="1550" dirty="0">
                <a:hlinkClick r:id="rId25"/>
              </a:rPr>
              <a:t>Think Distributed Systems</a:t>
            </a:r>
            <a:endParaRPr lang="en-US" sz="155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173361163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CEBA59-2DCE-4C90-AF09-98865D59DB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541C69-C8A4-DBF2-A16C-B98969ABAC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958A7E-28F5-5CBE-AA71-5C0011947B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7A0CC9A-4D7E-2F95-CE36-D2AD6C58003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3D671-851F-0AF5-264B-589F1FE381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FB4C2FC-D12D-4A41-E5FA-4F1E9F519913}"/>
              </a:ext>
            </a:extLst>
          </p:cNvPr>
          <p:cNvSpPr txBox="1">
            <a:spLocks/>
          </p:cNvSpPr>
          <p:nvPr/>
        </p:nvSpPr>
        <p:spPr>
          <a:xfrm>
            <a:off x="290463" y="7620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Category	        Example Goals</a:t>
            </a:r>
          </a:p>
          <a:p>
            <a:pPr marL="12700" marR="5080"/>
            <a:r>
              <a:rPr lang="en-US" sz="2400" kern="0" spc="-80" dirty="0">
                <a:solidFill>
                  <a:schemeClr val="accent6"/>
                </a:solidFill>
              </a:rPr>
              <a:t>Performance       Response time, throughput, latency</a:t>
            </a:r>
          </a:p>
          <a:p>
            <a:pPr marL="12700" marR="5080"/>
            <a:r>
              <a:rPr lang="en-US" sz="2400" kern="0" spc="-80" dirty="0">
                <a:solidFill>
                  <a:schemeClr val="accent6"/>
                </a:solidFill>
              </a:rPr>
              <a:t>Scalability	        Ability to handle increasing load</a:t>
            </a:r>
          </a:p>
          <a:p>
            <a:pPr marL="12700" marR="5080"/>
            <a:r>
              <a:rPr lang="en-US" sz="2400" kern="0" spc="-80" dirty="0">
                <a:solidFill>
                  <a:schemeClr val="accent6"/>
                </a:solidFill>
              </a:rPr>
              <a:t>Availability	        System uptime, redundancy</a:t>
            </a:r>
          </a:p>
          <a:p>
            <a:pPr marL="12700" marR="5080"/>
            <a:r>
              <a:rPr lang="en-US" sz="2400" kern="0" spc="-80" dirty="0">
                <a:solidFill>
                  <a:schemeClr val="accent6"/>
                </a:solidFill>
              </a:rPr>
              <a:t>Reliability	        Error tolerance, failover recovery</a:t>
            </a:r>
          </a:p>
          <a:p>
            <a:pPr marL="12700" marR="5080"/>
            <a:r>
              <a:rPr lang="en-US" sz="2400" kern="0" spc="-80" dirty="0">
                <a:solidFill>
                  <a:schemeClr val="accent6"/>
                </a:solidFill>
              </a:rPr>
              <a:t>Security	        Encryption, authentication, authorization</a:t>
            </a:r>
          </a:p>
          <a:p>
            <a:pPr marL="12700" marR="5080"/>
            <a:r>
              <a:rPr lang="en-US" sz="2400" kern="0" spc="-80" dirty="0">
                <a:solidFill>
                  <a:schemeClr val="accent6"/>
                </a:solidFill>
              </a:rPr>
              <a:t>Usability	        Ease of use, accessibility</a:t>
            </a:r>
          </a:p>
          <a:p>
            <a:pPr marL="12700" marR="5080"/>
            <a:r>
              <a:rPr lang="en-US" sz="2400" kern="0" spc="-80" dirty="0">
                <a:solidFill>
                  <a:schemeClr val="accent6"/>
                </a:solidFill>
              </a:rPr>
              <a:t>Maintainability    Ease of updates, code quality</a:t>
            </a:r>
          </a:p>
          <a:p>
            <a:pPr marL="12700" marR="5080"/>
            <a:r>
              <a:rPr lang="en-US" sz="2400" kern="0" spc="-80" dirty="0">
                <a:solidFill>
                  <a:schemeClr val="accent6"/>
                </a:solidFill>
              </a:rPr>
              <a:t>Compliance	        Regulatory (GDPR, HIPAA, etc.)</a:t>
            </a:r>
          </a:p>
          <a:p>
            <a:pPr marL="12700" marR="5080"/>
            <a:r>
              <a:rPr lang="en-US" sz="2400" kern="0" spc="-80" dirty="0">
                <a:solidFill>
                  <a:schemeClr val="accent6"/>
                </a:solidFill>
              </a:rPr>
              <a:t>Portability	        Works across OS/cloud environments</a:t>
            </a:r>
          </a:p>
          <a:p>
            <a:pPr marL="12700" marR="5080"/>
            <a:r>
              <a:rPr lang="en-US" sz="2400" kern="0" spc="-80" dirty="0">
                <a:solidFill>
                  <a:schemeClr val="accent6"/>
                </a:solidFill>
              </a:rPr>
              <a:t>Observability      Monitoring, logging, tracing. </a:t>
            </a:r>
          </a:p>
        </p:txBody>
      </p:sp>
    </p:spTree>
    <p:extLst>
      <p:ext uri="{BB962C8B-B14F-4D97-AF65-F5344CB8AC3E}">
        <p14:creationId xmlns:p14="http://schemas.microsoft.com/office/powerpoint/2010/main" val="188198580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D2FF0-4979-48ED-DFF0-F78B239B5F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9311AC2-BC15-952B-534C-C97ADD234A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3EFA23-8E0D-D9C7-065A-F60270BAE2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5D8458-C948-BFEF-E3E0-B336180746D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E55C06-DFE8-58DC-54E1-CA4427C144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9" name="Picture 8" descr="A white sheet with black text&#10;&#10;AI-generated content may be incorrect.">
            <a:extLst>
              <a:ext uri="{FF2B5EF4-FFF2-40B4-BE49-F238E27FC236}">
                <a16:creationId xmlns:a16="http://schemas.microsoft.com/office/drawing/2014/main" id="{BEA0E1DA-57D8-CB6D-B70D-51B41C4B3CB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354097"/>
            <a:ext cx="8915858" cy="4132303"/>
          </a:xfrm>
          <a:prstGeom prst="rect">
            <a:avLst/>
          </a:prstGeom>
        </p:spPr>
      </p:pic>
      <p:sp>
        <p:nvSpPr>
          <p:cNvPr id="10" name="object 2">
            <a:extLst>
              <a:ext uri="{FF2B5EF4-FFF2-40B4-BE49-F238E27FC236}">
                <a16:creationId xmlns:a16="http://schemas.microsoft.com/office/drawing/2014/main" id="{491A2B38-3B04-2C38-9AEC-62E2D7DBA539}"/>
              </a:ext>
            </a:extLst>
          </p:cNvPr>
          <p:cNvSpPr txBox="1">
            <a:spLocks/>
          </p:cNvSpPr>
          <p:nvPr/>
        </p:nvSpPr>
        <p:spPr>
          <a:xfrm>
            <a:off x="76200" y="76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Common Structure of an NFR Matrix(Representative Example only and not any actual value from some actual prod App)</a:t>
            </a:r>
          </a:p>
        </p:txBody>
      </p:sp>
      <p:sp>
        <p:nvSpPr>
          <p:cNvPr id="3" name="object 2">
            <a:extLst>
              <a:ext uri="{FF2B5EF4-FFF2-40B4-BE49-F238E27FC236}">
                <a16:creationId xmlns:a16="http://schemas.microsoft.com/office/drawing/2014/main" id="{3E1124FF-99DF-D1BD-5CDC-505E525FEC47}"/>
              </a:ext>
            </a:extLst>
          </p:cNvPr>
          <p:cNvSpPr txBox="1">
            <a:spLocks/>
          </p:cNvSpPr>
          <p:nvPr/>
        </p:nvSpPr>
        <p:spPr>
          <a:xfrm>
            <a:off x="0" y="5473005"/>
            <a:ext cx="8624937" cy="4308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Correction:</a:t>
            </a:r>
            <a:r>
              <a:rPr lang="en-US" sz="1400" kern="0" spc="-80" dirty="0">
                <a:solidFill>
                  <a:schemeClr val="accent6"/>
                </a:solidFill>
              </a:rPr>
              <a:t> In the above slide, for row “Usability” and column “Validation/Test Method”, the value should be User Testing instead of </a:t>
            </a:r>
            <a:r>
              <a:rPr lang="en-US" sz="1400" kern="0" spc="-80" dirty="0" err="1">
                <a:solidFill>
                  <a:schemeClr val="accent6"/>
                </a:solidFill>
              </a:rPr>
              <a:t>Tme</a:t>
            </a:r>
            <a:r>
              <a:rPr lang="en-US" sz="1400" kern="0" spc="-80" dirty="0">
                <a:solidFill>
                  <a:schemeClr val="accent6"/>
                </a:solidFill>
              </a:rPr>
              <a:t>-to-setup. That’s </a:t>
            </a:r>
            <a:r>
              <a:rPr lang="en-US" sz="1400" kern="0" spc="-80">
                <a:solidFill>
                  <a:schemeClr val="accent6"/>
                </a:solidFill>
              </a:rPr>
              <a:t>a copy-paste </a:t>
            </a:r>
            <a:r>
              <a:rPr lang="en-US" sz="1400" kern="0" spc="-80" dirty="0">
                <a:solidFill>
                  <a:schemeClr val="accent6"/>
                </a:solidFill>
              </a:rPr>
              <a:t>error.</a:t>
            </a:r>
          </a:p>
        </p:txBody>
      </p:sp>
    </p:spTree>
    <p:extLst>
      <p:ext uri="{BB962C8B-B14F-4D97-AF65-F5344CB8AC3E}">
        <p14:creationId xmlns:p14="http://schemas.microsoft.com/office/powerpoint/2010/main" val="203185133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8B5DD-2558-88A1-CE01-37A3DF6AEB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5340C1-D760-8F87-B6E1-94209CB3F8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39DA84-5582-E1C1-5345-6D1AD893AD6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E0603F-45E8-BA90-3EDD-4A6A0A860D9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7226CD6-E0E8-BD5F-3ED4-3E191CE63B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0" name="object 2">
            <a:extLst>
              <a:ext uri="{FF2B5EF4-FFF2-40B4-BE49-F238E27FC236}">
                <a16:creationId xmlns:a16="http://schemas.microsoft.com/office/drawing/2014/main" id="{78A545D0-0CAC-690F-195B-198913EAEFD6}"/>
              </a:ext>
            </a:extLst>
          </p:cNvPr>
          <p:cNvSpPr txBox="1">
            <a:spLocks/>
          </p:cNvSpPr>
          <p:nvPr/>
        </p:nvSpPr>
        <p:spPr>
          <a:xfrm>
            <a:off x="76200" y="76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Common Structure of an NFR Matrix(Representative Example only and not any actual value from some actual prod App)</a:t>
            </a:r>
          </a:p>
        </p:txBody>
      </p:sp>
      <p:pic>
        <p:nvPicPr>
          <p:cNvPr id="7" name="Picture 6">
            <a:extLst>
              <a:ext uri="{FF2B5EF4-FFF2-40B4-BE49-F238E27FC236}">
                <a16:creationId xmlns:a16="http://schemas.microsoft.com/office/drawing/2014/main" id="{2030FEDD-3911-F5F1-128F-279BE6B35F26}"/>
              </a:ext>
            </a:extLst>
          </p:cNvPr>
          <p:cNvPicPr>
            <a:picLocks noChangeAspect="1"/>
          </p:cNvPicPr>
          <p:nvPr/>
        </p:nvPicPr>
        <p:blipFill>
          <a:blip r:embed="rId7"/>
          <a:stretch>
            <a:fillRect/>
          </a:stretch>
        </p:blipFill>
        <p:spPr>
          <a:xfrm>
            <a:off x="76200" y="1354734"/>
            <a:ext cx="9144000" cy="2683866"/>
          </a:xfrm>
          <a:prstGeom prst="rect">
            <a:avLst/>
          </a:prstGeom>
        </p:spPr>
      </p:pic>
      <p:sp>
        <p:nvSpPr>
          <p:cNvPr id="8" name="object 2">
            <a:extLst>
              <a:ext uri="{FF2B5EF4-FFF2-40B4-BE49-F238E27FC236}">
                <a16:creationId xmlns:a16="http://schemas.microsoft.com/office/drawing/2014/main" id="{50C95680-FABF-F24A-B870-BA27F7946D58}"/>
              </a:ext>
            </a:extLst>
          </p:cNvPr>
          <p:cNvSpPr txBox="1">
            <a:spLocks/>
          </p:cNvSpPr>
          <p:nvPr/>
        </p:nvSpPr>
        <p:spPr>
          <a:xfrm>
            <a:off x="0" y="424660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IN" sz="1800" dirty="0">
                <a:hlinkClick r:id="rId8"/>
              </a:rPr>
              <a:t>Non-functional requirement – Wikipedia</a:t>
            </a:r>
            <a:endParaRPr lang="en-IN" sz="1800" dirty="0"/>
          </a:p>
          <a:p>
            <a:pPr marL="12700" marR="5080"/>
            <a:r>
              <a:rPr lang="en-US" sz="1800" dirty="0">
                <a:hlinkClick r:id="rId9"/>
              </a:rPr>
              <a:t>REST API Development: Gentle checklist of NFRs</a:t>
            </a:r>
            <a:endParaRPr lang="en-US" sz="1800" kern="0" spc="-80" dirty="0">
              <a:solidFill>
                <a:schemeClr val="accent2"/>
              </a:solidFill>
            </a:endParaRPr>
          </a:p>
          <a:p>
            <a:pPr marL="12700" marR="5080"/>
            <a:r>
              <a:rPr lang="en-US" sz="1800" dirty="0">
                <a:hlinkClick r:id="rId10"/>
              </a:rPr>
              <a:t>Non Functional Requirement | My Love with SQL Server</a:t>
            </a:r>
            <a:r>
              <a:rPr lang="en-US" sz="1800" kern="0" spc="-80" dirty="0">
                <a:solidFill>
                  <a:schemeClr val="accent2"/>
                </a:solidFill>
              </a:rPr>
              <a:t> </a:t>
            </a:r>
          </a:p>
          <a:p>
            <a:pPr marL="12700" marR="5080"/>
            <a:r>
              <a:rPr lang="en-US" sz="1800" dirty="0">
                <a:hlinkClick r:id="rId11"/>
              </a:rPr>
              <a:t>Mastering Non-Functional Requirements | Programming | eBook</a:t>
            </a:r>
            <a:endParaRPr lang="en-US" sz="1800" dirty="0"/>
          </a:p>
        </p:txBody>
      </p:sp>
    </p:spTree>
    <p:extLst>
      <p:ext uri="{BB962C8B-B14F-4D97-AF65-F5344CB8AC3E}">
        <p14:creationId xmlns:p14="http://schemas.microsoft.com/office/powerpoint/2010/main" val="73306441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40601331"/>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 </a:t>
            </a:r>
          </a:p>
          <a:p>
            <a:pPr marL="12700" marR="5080"/>
            <a:r>
              <a:rPr lang="en-US" sz="2400" kern="0" spc="-80" dirty="0">
                <a:solidFill>
                  <a:schemeClr val="accent2"/>
                </a:solidFill>
              </a:rPr>
              <a:t> Logs &amp; Profiling Tools – </a:t>
            </a:r>
          </a:p>
          <a:p>
            <a:pPr marL="12700" marR="5080"/>
            <a:r>
              <a:rPr lang="en-US" sz="2400" kern="0" spc="-80" dirty="0">
                <a:solidFill>
                  <a:schemeClr val="accent2"/>
                </a:solidFill>
              </a:rPr>
              <a:t>  1) Logs -  </a:t>
            </a:r>
            <a:r>
              <a:rPr lang="en-US" sz="2400" kern="0" spc="-80" dirty="0">
                <a:solidFill>
                  <a:schemeClr val="accent6"/>
                </a:solidFill>
              </a:rPr>
              <a:t>Always 1st check logs to find the root cause of the performance issue. Also, to increase the overall performance of the application, may-be you can opt for </a:t>
            </a:r>
            <a:r>
              <a:rPr lang="en-US" sz="2400" kern="0" spc="-80" dirty="0">
                <a:solidFill>
                  <a:schemeClr val="tx2">
                    <a:lumMod val="60000"/>
                    <a:lumOff val="40000"/>
                  </a:schemeClr>
                </a:solidFill>
              </a:rPr>
              <a:t>asynchronous logging</a:t>
            </a:r>
            <a:r>
              <a:rPr lang="en-US" sz="2400" kern="0" spc="-80" dirty="0">
                <a:solidFill>
                  <a:schemeClr val="accent6"/>
                </a:solidFill>
              </a:rPr>
              <a:t>.</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2) Profiling Tools – </a:t>
            </a:r>
            <a:r>
              <a:rPr lang="en-US" sz="2400" kern="0" spc="-80" dirty="0">
                <a:solidFill>
                  <a:schemeClr val="accent6"/>
                </a:solidFill>
              </a:rPr>
              <a:t>If via step 1 above, not able to find the root cause, run some profiling tools (e.g. ANTS Profiler[$$$]) &amp; find where is the issue &amp; what’s the cause of the issue. SQL Server has inbuilt profiler. Similar profilers(or profiling add-ons) are available in other DBs(including NoSQL DBs).</a:t>
            </a:r>
          </a:p>
          <a:p>
            <a:pPr marL="12700" marR="5080"/>
            <a:endParaRPr lang="en-US" sz="2400" kern="0" spc="-80" dirty="0">
              <a:solidFill>
                <a:schemeClr val="accent2"/>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268955573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98807331"/>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 &amp; ways to improve it</a:t>
            </a:r>
            <a:r>
              <a:rPr lang="en-US" sz="2400" kern="0" spc="-80" dirty="0">
                <a:solidFill>
                  <a:schemeClr val="accent6"/>
                </a:solidFill>
              </a:rPr>
              <a:t> – </a:t>
            </a:r>
            <a:r>
              <a:rPr lang="en-US" sz="2400" kern="0" spc="-80" dirty="0" err="1">
                <a:solidFill>
                  <a:schemeClr val="accent6"/>
                </a:solidFill>
              </a:rPr>
              <a:t>Ckecking</a:t>
            </a:r>
            <a:r>
              <a:rPr lang="en-US" sz="2400" kern="0" spc="-80" dirty="0">
                <a:solidFill>
                  <a:schemeClr val="accent6"/>
                </a:solidFill>
              </a:rPr>
              <a:t> if some resource(RAM, </a:t>
            </a:r>
            <a:r>
              <a:rPr lang="en-US" sz="2400" kern="0" spc="-80" dirty="0" err="1">
                <a:solidFill>
                  <a:schemeClr val="accent6"/>
                </a:solidFill>
              </a:rPr>
              <a:t>HardDisk</a:t>
            </a:r>
            <a:r>
              <a:rPr lang="en-US" sz="2400" kern="0" spc="-80" dirty="0">
                <a:solidFill>
                  <a:schemeClr val="accent6"/>
                </a:solidFill>
              </a:rPr>
              <a:t>, CPU or Network) is getting overutilized </a:t>
            </a:r>
            <a:r>
              <a:rPr lang="en-US" sz="2400" kern="0" spc="-80" dirty="0" err="1">
                <a:solidFill>
                  <a:schemeClr val="accent6"/>
                </a:solidFill>
              </a:rPr>
              <a:t>w.r.t.</a:t>
            </a:r>
            <a:r>
              <a:rPr lang="en-US" sz="2400" kern="0" spc="-80" dirty="0">
                <a:solidFill>
                  <a:schemeClr val="accent6"/>
                </a:solidFill>
              </a:rPr>
              <a:t> some metric beyond the threshold limit.</a:t>
            </a:r>
          </a:p>
          <a:p>
            <a:pPr marL="12700" marR="5080"/>
            <a:endParaRPr lang="en-US" sz="2400" kern="0" spc="-80" dirty="0">
              <a:solidFill>
                <a:schemeClr val="accent6"/>
              </a:solidFill>
            </a:endParaRPr>
          </a:p>
          <a:p>
            <a:pPr marL="12700" marR="5080"/>
            <a:r>
              <a:rPr lang="en-US" sz="2400" kern="0" spc="-80" dirty="0">
                <a:solidFill>
                  <a:schemeClr val="accent2"/>
                </a:solidFill>
              </a:rPr>
              <a:t>   RAM Optimization</a:t>
            </a:r>
            <a:r>
              <a:rPr lang="en-US" sz="2400" kern="0" spc="-80" dirty="0">
                <a:solidFill>
                  <a:schemeClr val="accent6"/>
                </a:solidFill>
              </a:rPr>
              <a:t> - </a:t>
            </a:r>
          </a:p>
          <a:p>
            <a:pPr marL="12700" marR="5080"/>
            <a:r>
              <a:rPr lang="en-US" sz="2400" kern="0" spc="-80" dirty="0">
                <a:solidFill>
                  <a:schemeClr val="accent2"/>
                </a:solidFill>
              </a:rPr>
              <a:t>   </a:t>
            </a:r>
            <a:r>
              <a:rPr lang="en-US" sz="2400" kern="0" spc="-80" dirty="0">
                <a:solidFill>
                  <a:schemeClr val="accent6"/>
                </a:solidFill>
              </a:rPr>
              <a:t>1) Garbage Collection Optimization – Refer Garbage Collection slide(s) of Programming Paradigms Training(mainly for memory leaks issues)</a:t>
            </a:r>
          </a:p>
          <a:p>
            <a:pPr marL="12700" marR="5080"/>
            <a:r>
              <a:rPr lang="en-US" sz="2400" kern="0" spc="-80" dirty="0">
                <a:solidFill>
                  <a:schemeClr val="accent6"/>
                </a:solidFill>
              </a:rPr>
              <a:t>   2) Use Chunking &amp; Streaming Techniques if needed(e.g. you face OOM[Out of Memory] Exception)[discussed in next slide]</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426194345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60465952"/>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47814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 &amp; ways to improve it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RAM Optimization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Chunking and Streaming - </a:t>
            </a:r>
            <a:r>
              <a:rPr lang="en-US" sz="2000" kern="0" spc="-80" dirty="0">
                <a:solidFill>
                  <a:schemeClr val="accent6"/>
                </a:solidFill>
              </a:rPr>
              <a:t>Let’s say you are given below requirements – </a:t>
            </a:r>
          </a:p>
          <a:p>
            <a:pPr marL="12700" marR="5080"/>
            <a:r>
              <a:rPr lang="en-US" sz="2000" kern="0" spc="-80" dirty="0">
                <a:solidFill>
                  <a:schemeClr val="accent6"/>
                </a:solidFill>
              </a:rPr>
              <a:t>Server “A” needing a 1TB file to be processed but having only 1GB RAM</a:t>
            </a:r>
          </a:p>
          <a:p>
            <a:pPr marL="12700" marR="5080"/>
            <a:r>
              <a:rPr lang="en-US" sz="2000" kern="0" spc="-80" dirty="0">
                <a:solidFill>
                  <a:schemeClr val="accent6"/>
                </a:solidFill>
              </a:rPr>
              <a:t>Another server “B” is there with &gt; 1TB </a:t>
            </a:r>
            <a:r>
              <a:rPr lang="en-US" sz="2000" kern="0" spc="-80" dirty="0" err="1">
                <a:solidFill>
                  <a:schemeClr val="accent6"/>
                </a:solidFill>
              </a:rPr>
              <a:t>HardDisk</a:t>
            </a:r>
            <a:r>
              <a:rPr lang="en-US" sz="2000" kern="0" spc="-80" dirty="0">
                <a:solidFill>
                  <a:schemeClr val="accent6"/>
                </a:solidFill>
              </a:rPr>
              <a:t> size</a:t>
            </a:r>
          </a:p>
          <a:p>
            <a:pPr marL="12700" marR="5080"/>
            <a:r>
              <a:rPr lang="en-US" sz="2000" kern="0" spc="-80" dirty="0">
                <a:solidFill>
                  <a:schemeClr val="accent6"/>
                </a:solidFill>
              </a:rPr>
              <a:t>How do you split the 1TB file in Server A into 1K 1GB files &amp; put them in server B using server A as the processing server?</a:t>
            </a:r>
          </a:p>
          <a:p>
            <a:pPr marL="12700" marR="5080"/>
            <a:r>
              <a:rPr lang="en-US" sz="2000" kern="0" spc="-80" dirty="0">
                <a:solidFill>
                  <a:schemeClr val="accent6"/>
                </a:solidFill>
              </a:rPr>
              <a:t>      Hint - </a:t>
            </a:r>
            <a:r>
              <a:rPr lang="en-US" sz="1500" dirty="0" err="1">
                <a:hlinkClick r:id="rId7"/>
              </a:rPr>
              <a:t>c#</a:t>
            </a:r>
            <a:r>
              <a:rPr lang="en-US" sz="1500" dirty="0">
                <a:hlinkClick r:id="rId7"/>
              </a:rPr>
              <a:t> - How to load large files with </a:t>
            </a:r>
            <a:r>
              <a:rPr lang="en-US" sz="1500" dirty="0" err="1">
                <a:hlinkClick r:id="rId7"/>
              </a:rPr>
              <a:t>StreamReader</a:t>
            </a:r>
            <a:r>
              <a:rPr lang="en-US" sz="1500" dirty="0">
                <a:hlinkClick r:id="rId7"/>
              </a:rPr>
              <a:t> in chunks? - Stack Overflow</a:t>
            </a:r>
            <a:endParaRPr lang="en-US" sz="1500" dirty="0"/>
          </a:p>
          <a:p>
            <a:pPr marL="12700" marR="5080"/>
            <a:r>
              <a:rPr lang="en-US" sz="2400" kern="0" spc="-80" dirty="0">
                <a:solidFill>
                  <a:schemeClr val="accent2"/>
                </a:solidFill>
              </a:rPr>
              <a:t>     For Further Exploration – </a:t>
            </a:r>
          </a:p>
          <a:p>
            <a:pPr marL="12700" marR="5080"/>
            <a:r>
              <a:rPr lang="en-US" sz="1600" kern="0" spc="-80" dirty="0">
                <a:solidFill>
                  <a:schemeClr val="accent6"/>
                </a:solidFill>
              </a:rPr>
              <a:t>        </a:t>
            </a:r>
            <a:r>
              <a:rPr lang="en-US" sz="1500" dirty="0">
                <a:hlinkClick r:id="rId8"/>
              </a:rPr>
              <a:t>What is http multipart request? - Stack Overflow</a:t>
            </a:r>
            <a:r>
              <a:rPr lang="en-US" sz="1500" kern="0" spc="-80" dirty="0">
                <a:solidFill>
                  <a:schemeClr val="accent6"/>
                </a:solidFill>
              </a:rPr>
              <a:t> </a:t>
            </a:r>
          </a:p>
          <a:p>
            <a:pPr marL="12700" marR="5080"/>
            <a:r>
              <a:rPr lang="en-US" sz="1500" kern="0" spc="-80" dirty="0">
                <a:solidFill>
                  <a:schemeClr val="accent6"/>
                </a:solidFill>
              </a:rPr>
              <a:t>         </a:t>
            </a:r>
            <a:r>
              <a:rPr lang="en-US" sz="1500" dirty="0" err="1">
                <a:hlinkClick r:id="rId9"/>
              </a:rPr>
              <a:t>c#</a:t>
            </a:r>
            <a:r>
              <a:rPr lang="en-US" sz="1500" dirty="0">
                <a:hlinkClick r:id="rId9"/>
              </a:rPr>
              <a:t> - How do I download a large file (via HTTP) in .NET? - Stack Overflow</a:t>
            </a:r>
            <a:endParaRPr lang="en-US" sz="1500" kern="0" spc="-80" dirty="0">
              <a:solidFill>
                <a:schemeClr val="accent6"/>
              </a:solidFill>
            </a:endParaRPr>
          </a:p>
        </p:txBody>
      </p:sp>
    </p:spTree>
    <p:extLst>
      <p:ext uri="{BB962C8B-B14F-4D97-AF65-F5344CB8AC3E}">
        <p14:creationId xmlns:p14="http://schemas.microsoft.com/office/powerpoint/2010/main" val="24202544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31841198"/>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860822"/>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a:t>
            </a:r>
            <a:r>
              <a:rPr lang="en-US" sz="2400" kern="0" spc="-80" dirty="0">
                <a:solidFill>
                  <a:schemeClr val="accent6"/>
                </a:solidFill>
              </a:rPr>
              <a:t> </a:t>
            </a:r>
            <a:r>
              <a:rPr lang="en-US" sz="2400" kern="0" spc="-80" dirty="0" err="1">
                <a:solidFill>
                  <a:schemeClr val="accent2"/>
                </a:solidFill>
              </a:rPr>
              <a:t>contd</a:t>
            </a:r>
            <a:r>
              <a:rPr lang="en-US" sz="2400" kern="0" spc="-80" dirty="0">
                <a:solidFill>
                  <a:schemeClr val="accent2"/>
                </a:solidFill>
              </a:rPr>
              <a:t> … –</a:t>
            </a:r>
          </a:p>
          <a:p>
            <a:pPr marL="12700" marR="5080"/>
            <a:r>
              <a:rPr lang="en-US" sz="2400" kern="0" spc="-80" dirty="0">
                <a:solidFill>
                  <a:schemeClr val="accent2"/>
                </a:solidFill>
              </a:rPr>
              <a:t>   CPU Optimization -</a:t>
            </a:r>
            <a:r>
              <a:rPr lang="en-US" sz="2400" kern="0" spc="-80" dirty="0">
                <a:solidFill>
                  <a:schemeClr val="accent6"/>
                </a:solidFill>
              </a:rPr>
              <a:t> </a:t>
            </a:r>
          </a:p>
          <a:p>
            <a:pPr marL="12700" marR="5080"/>
            <a:r>
              <a:rPr lang="en-US" sz="2100" kern="0" spc="-80" dirty="0">
                <a:solidFill>
                  <a:schemeClr val="accent2"/>
                </a:solidFill>
              </a:rPr>
              <a:t>   </a:t>
            </a:r>
            <a:r>
              <a:rPr lang="en-US" sz="2100" kern="0" spc="-80" dirty="0">
                <a:solidFill>
                  <a:schemeClr val="accent6"/>
                </a:solidFill>
              </a:rPr>
              <a:t>  May get </a:t>
            </a:r>
            <a:r>
              <a:rPr lang="en-US" sz="2100" kern="0" spc="-80" dirty="0" err="1">
                <a:solidFill>
                  <a:schemeClr val="accent6"/>
                </a:solidFill>
              </a:rPr>
              <a:t>StackOverFlow</a:t>
            </a:r>
            <a:r>
              <a:rPr lang="en-US" sz="2100" kern="0" spc="-80" dirty="0">
                <a:solidFill>
                  <a:schemeClr val="accent6"/>
                </a:solidFill>
              </a:rPr>
              <a:t> Exception(sometime some irrelevant exception also shows up) if the CPU gets utilized too much. Mainly happens(in continuously running schedulers) due to </a:t>
            </a:r>
            <a:r>
              <a:rPr lang="en-US" sz="2100" kern="0" spc="-80" dirty="0">
                <a:solidFill>
                  <a:schemeClr val="tx2">
                    <a:lumMod val="60000"/>
                    <a:lumOff val="40000"/>
                  </a:schemeClr>
                </a:solidFill>
              </a:rPr>
              <a:t>tight loop issue</a:t>
            </a:r>
            <a:r>
              <a:rPr lang="en-US" sz="2100" kern="0" spc="-80" dirty="0">
                <a:solidFill>
                  <a:schemeClr val="accent6"/>
                </a:solidFill>
              </a:rPr>
              <a:t> wherein the CPU continuously runs the loop &amp; at some point reaches 100% utilization. To fix the issue, introduce a </a:t>
            </a:r>
            <a:r>
              <a:rPr lang="en-US" sz="2100" kern="0" spc="-80" dirty="0" err="1">
                <a:solidFill>
                  <a:schemeClr val="tx2">
                    <a:lumMod val="60000"/>
                    <a:lumOff val="40000"/>
                  </a:schemeClr>
                </a:solidFill>
              </a:rPr>
              <a:t>Thread.Sleep</a:t>
            </a:r>
            <a:r>
              <a:rPr lang="en-US" sz="2100" kern="0" spc="-80" dirty="0">
                <a:solidFill>
                  <a:schemeClr val="tx2">
                    <a:lumMod val="60000"/>
                    <a:lumOff val="40000"/>
                  </a:schemeClr>
                </a:solidFill>
              </a:rPr>
              <a:t>(1)</a:t>
            </a:r>
            <a:r>
              <a:rPr lang="en-US" sz="2100" kern="0" spc="-80" dirty="0">
                <a:solidFill>
                  <a:schemeClr val="accent6"/>
                </a:solidFill>
              </a:rPr>
              <a:t> within the loop at the end, to make the CPU relax for sometime.</a:t>
            </a:r>
          </a:p>
          <a:p>
            <a:pPr marL="12700" marR="5080"/>
            <a:r>
              <a:rPr lang="en-US" sz="2100" kern="0" spc="-80" dirty="0">
                <a:solidFill>
                  <a:schemeClr val="accent6"/>
                </a:solidFill>
              </a:rPr>
              <a:t>    And </a:t>
            </a:r>
            <a:r>
              <a:rPr lang="en-US" sz="2100" kern="0" spc="-80" dirty="0" err="1">
                <a:solidFill>
                  <a:schemeClr val="accent6"/>
                </a:solidFill>
              </a:rPr>
              <a:t>ofcourse</a:t>
            </a:r>
            <a:r>
              <a:rPr lang="en-US" sz="2100" kern="0" spc="-80" dirty="0">
                <a:solidFill>
                  <a:schemeClr val="accent6"/>
                </a:solidFill>
              </a:rPr>
              <a:t> Multi-Core Parallelism can be used to make computations fasters. Also, Multi-Threading techniques can be used to boost CPU Performance.</a:t>
            </a:r>
          </a:p>
          <a:p>
            <a:pPr marL="12700" marR="5080"/>
            <a:r>
              <a:rPr lang="en-US" sz="1500" dirty="0">
                <a:hlinkClick r:id="rId7"/>
              </a:rPr>
              <a:t>EP112: Top CPU Usage Reasons? - </a:t>
            </a:r>
            <a:r>
              <a:rPr lang="en-US" sz="1500" dirty="0" err="1">
                <a:hlinkClick r:id="rId7"/>
              </a:rPr>
              <a:t>ByteByteGo</a:t>
            </a:r>
            <a:r>
              <a:rPr lang="en-US" sz="1500" dirty="0">
                <a:hlinkClick r:id="rId7"/>
              </a:rPr>
              <a:t> Newsletter</a:t>
            </a:r>
            <a:endParaRPr lang="en-US" sz="15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281805457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68658126"/>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80" dirty="0">
                <a:solidFill>
                  <a:schemeClr val="accent2"/>
                </a:solidFill>
              </a:rPr>
              <a:t>Performance </a:t>
            </a:r>
            <a:r>
              <a:rPr lang="en-US" sz="2200" kern="0" spc="-80" dirty="0" err="1">
                <a:solidFill>
                  <a:schemeClr val="accent2"/>
                </a:solidFill>
              </a:rPr>
              <a:t>contd</a:t>
            </a:r>
            <a:r>
              <a:rPr lang="en-US" sz="2200" kern="0" spc="-80" dirty="0">
                <a:solidFill>
                  <a:schemeClr val="accent2"/>
                </a:solidFill>
              </a:rPr>
              <a:t> … – </a:t>
            </a:r>
          </a:p>
          <a:p>
            <a:pPr marL="12700" marR="5080"/>
            <a:r>
              <a:rPr lang="en-US" sz="2200" kern="0" spc="-80" dirty="0">
                <a:solidFill>
                  <a:schemeClr val="accent2"/>
                </a:solidFill>
              </a:rPr>
              <a:t> Resource Utilization</a:t>
            </a:r>
            <a:r>
              <a:rPr lang="en-US" sz="2200" kern="0" spc="-80" dirty="0">
                <a:solidFill>
                  <a:schemeClr val="accent6"/>
                </a:solidFill>
              </a:rPr>
              <a:t> </a:t>
            </a:r>
            <a:r>
              <a:rPr lang="en-US" sz="2200" kern="0" spc="-80" dirty="0" err="1">
                <a:solidFill>
                  <a:schemeClr val="accent2"/>
                </a:solidFill>
              </a:rPr>
              <a:t>contd</a:t>
            </a:r>
            <a:r>
              <a:rPr lang="en-US" sz="2200" kern="0" spc="-80" dirty="0">
                <a:solidFill>
                  <a:schemeClr val="accent2"/>
                </a:solidFill>
              </a:rPr>
              <a:t> … –</a:t>
            </a:r>
          </a:p>
          <a:p>
            <a:pPr marL="12700" marR="5080"/>
            <a:r>
              <a:rPr lang="en-US" sz="2200" kern="0" spc="-80" dirty="0">
                <a:solidFill>
                  <a:schemeClr val="accent6"/>
                </a:solidFill>
              </a:rPr>
              <a:t>   </a:t>
            </a:r>
            <a:r>
              <a:rPr lang="en-US" sz="2200" kern="0" spc="-80" dirty="0">
                <a:solidFill>
                  <a:schemeClr val="accent2"/>
                </a:solidFill>
              </a:rPr>
              <a:t>Network &amp; </a:t>
            </a:r>
            <a:r>
              <a:rPr lang="en-US" sz="2200" kern="0" spc="-80" dirty="0" err="1">
                <a:solidFill>
                  <a:schemeClr val="accent2"/>
                </a:solidFill>
              </a:rPr>
              <a:t>HardDisk</a:t>
            </a:r>
            <a:r>
              <a:rPr lang="en-US" sz="2200" kern="0" spc="-80" dirty="0">
                <a:solidFill>
                  <a:schemeClr val="accent2"/>
                </a:solidFill>
              </a:rPr>
              <a:t> (&amp; DB) IO Optimization</a:t>
            </a:r>
            <a:r>
              <a:rPr lang="en-US" sz="2200" kern="0" spc="-80" dirty="0">
                <a:solidFill>
                  <a:schemeClr val="accent6"/>
                </a:solidFill>
              </a:rPr>
              <a:t>- </a:t>
            </a:r>
          </a:p>
          <a:p>
            <a:pPr marL="12700" marR="5080"/>
            <a:r>
              <a:rPr lang="en-US" sz="2200" kern="0" spc="-80" dirty="0">
                <a:solidFill>
                  <a:schemeClr val="accent2"/>
                </a:solidFill>
              </a:rPr>
              <a:t>   </a:t>
            </a:r>
            <a:r>
              <a:rPr lang="en-US" sz="2200" kern="0" spc="-80" dirty="0">
                <a:solidFill>
                  <a:schemeClr val="accent6"/>
                </a:solidFill>
              </a:rPr>
              <a:t>  Use async/await(refer Async/Await slides of Programming Paradigms training)</a:t>
            </a:r>
          </a:p>
          <a:p>
            <a:pPr marL="12700" marR="5080"/>
            <a:r>
              <a:rPr lang="en-US" sz="2200" kern="0" spc="-80" dirty="0">
                <a:solidFill>
                  <a:schemeClr val="accent6"/>
                </a:solidFill>
              </a:rPr>
              <a:t>     Use Bulk Operations/Batch Processing wherever possible</a:t>
            </a:r>
          </a:p>
          <a:p>
            <a:pPr marL="12700" marR="5080"/>
            <a:r>
              <a:rPr lang="en-US" sz="2200" kern="0" spc="-80" dirty="0">
                <a:solidFill>
                  <a:schemeClr val="accent6"/>
                </a:solidFill>
              </a:rPr>
              <a:t>     If possible, use Parallel Async IO</a:t>
            </a:r>
          </a:p>
          <a:p>
            <a:pPr marL="12700" marR="5080"/>
            <a:r>
              <a:rPr lang="en-US" sz="2200" kern="0" spc="-80" dirty="0">
                <a:solidFill>
                  <a:schemeClr val="accent2"/>
                </a:solidFill>
              </a:rPr>
              <a:t>   Other Network &amp; </a:t>
            </a:r>
            <a:r>
              <a:rPr lang="en-US" sz="2200" kern="0" spc="-80" dirty="0" err="1">
                <a:solidFill>
                  <a:schemeClr val="accent2"/>
                </a:solidFill>
              </a:rPr>
              <a:t>HardDisk</a:t>
            </a:r>
            <a:r>
              <a:rPr lang="en-US" sz="2200" kern="0" spc="-80" dirty="0">
                <a:solidFill>
                  <a:schemeClr val="accent2"/>
                </a:solidFill>
              </a:rPr>
              <a:t>(&amp; DB) Optimization – </a:t>
            </a:r>
          </a:p>
          <a:p>
            <a:pPr marL="12700" marR="5080"/>
            <a:r>
              <a:rPr lang="en-US" sz="2200" kern="0" spc="-80" dirty="0">
                <a:solidFill>
                  <a:schemeClr val="accent2"/>
                </a:solidFill>
              </a:rPr>
              <a:t>      </a:t>
            </a:r>
            <a:r>
              <a:rPr lang="en-US" sz="2200" kern="0" spc="-80" dirty="0">
                <a:solidFill>
                  <a:schemeClr val="accent6"/>
                </a:solidFill>
              </a:rPr>
              <a:t>Other Network &amp; </a:t>
            </a:r>
            <a:r>
              <a:rPr lang="en-US" sz="2200" kern="0" spc="-80" dirty="0" err="1">
                <a:solidFill>
                  <a:schemeClr val="accent6"/>
                </a:solidFill>
              </a:rPr>
              <a:t>HardDisk</a:t>
            </a:r>
            <a:r>
              <a:rPr lang="en-US" sz="2200" kern="0" spc="-80" dirty="0">
                <a:solidFill>
                  <a:schemeClr val="accent6"/>
                </a:solidFill>
              </a:rPr>
              <a:t> performance issues(e.g. fragmentation </a:t>
            </a:r>
            <a:r>
              <a:rPr lang="en-US" sz="2200" kern="0" spc="-80" dirty="0" err="1">
                <a:solidFill>
                  <a:schemeClr val="accent6"/>
                </a:solidFill>
              </a:rPr>
              <a:t>etc</a:t>
            </a:r>
            <a:r>
              <a:rPr lang="en-US" sz="2200" kern="0" spc="-80" dirty="0">
                <a:solidFill>
                  <a:schemeClr val="accent6"/>
                </a:solidFill>
              </a:rPr>
              <a:t>) needs to be checked separately. Most of these other issues are concerns of Infra, DBA etc. teams though.</a:t>
            </a:r>
          </a:p>
          <a:p>
            <a:pPr marL="12700" marR="5080"/>
            <a:endParaRPr lang="en-US" sz="2200" kern="0" spc="-80" dirty="0">
              <a:solidFill>
                <a:schemeClr val="accent6"/>
              </a:solidFill>
            </a:endParaRPr>
          </a:p>
          <a:p>
            <a:pPr marL="12700" marR="5080"/>
            <a:r>
              <a:rPr lang="en-US" sz="2400" kern="0" spc="-80" dirty="0">
                <a:solidFill>
                  <a:schemeClr val="accent6"/>
                </a:solidFill>
              </a:rPr>
              <a:t>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10048052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70721524"/>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a:solidFill>
                  <a:schemeClr val="accent6"/>
                </a:solidFill>
              </a:rPr>
              <a:t> Time required to get the response from server since the request has been sent from the client </a:t>
            </a:r>
          </a:p>
          <a:p>
            <a:pPr marL="12700" marR="5080"/>
            <a:r>
              <a:rPr lang="en-US" sz="2400" kern="0" spc="-80" dirty="0">
                <a:solidFill>
                  <a:schemeClr val="accent2"/>
                </a:solidFill>
              </a:rPr>
              <a:t>      Ways to improve Response Time – </a:t>
            </a:r>
          </a:p>
          <a:p>
            <a:pPr marL="12700" marR="5080"/>
            <a:r>
              <a:rPr lang="en-US" sz="2400" kern="0" spc="-80" dirty="0">
                <a:solidFill>
                  <a:schemeClr val="accent2"/>
                </a:solidFill>
              </a:rPr>
              <a:t>       1) SQL Tuning</a:t>
            </a:r>
          </a:p>
          <a:p>
            <a:pPr marL="12700" marR="5080"/>
            <a:r>
              <a:rPr lang="en-US" sz="2400" kern="0" spc="-80" dirty="0">
                <a:solidFill>
                  <a:schemeClr val="accent2"/>
                </a:solidFill>
              </a:rPr>
              <a:t>           </a:t>
            </a:r>
            <a:r>
              <a:rPr lang="en-US" sz="2400" kern="0" spc="-80" dirty="0">
                <a:solidFill>
                  <a:schemeClr val="accent6"/>
                </a:solidFill>
              </a:rPr>
              <a:t>Always return specific columns in Select rather than using *</a:t>
            </a:r>
          </a:p>
          <a:p>
            <a:pPr marL="12700" marR="5080"/>
            <a:r>
              <a:rPr lang="en-US" sz="2400" kern="0" spc="-80" dirty="0">
                <a:solidFill>
                  <a:schemeClr val="accent2"/>
                </a:solidFill>
              </a:rPr>
              <a:t>           </a:t>
            </a:r>
            <a:r>
              <a:rPr lang="en-US" sz="2400" kern="0" spc="-80" dirty="0">
                <a:solidFill>
                  <a:schemeClr val="accent6"/>
                </a:solidFill>
              </a:rPr>
              <a:t>Try to get all relevant results in single shot using proper where clause(if needed use paging)</a:t>
            </a:r>
          </a:p>
          <a:p>
            <a:pPr marL="12700" marR="5080"/>
            <a:r>
              <a:rPr lang="en-US" sz="2400" kern="0" spc="-80" dirty="0">
                <a:solidFill>
                  <a:schemeClr val="accent6"/>
                </a:solidFill>
              </a:rPr>
              <a:t>           Check that proper indexes are applied in where clause and join clause columns.</a:t>
            </a:r>
          </a:p>
          <a:p>
            <a:pPr marL="12700" marR="5080"/>
            <a:r>
              <a:rPr lang="en-US" sz="2400" kern="0" spc="-80" dirty="0">
                <a:solidFill>
                  <a:schemeClr val="accent6"/>
                </a:solidFill>
              </a:rPr>
              <a:t>           Other </a:t>
            </a:r>
            <a:r>
              <a:rPr lang="en-US" sz="2400" kern="0" spc="-80" dirty="0" err="1">
                <a:solidFill>
                  <a:schemeClr val="accent6"/>
                </a:solidFill>
              </a:rPr>
              <a:t>Sql</a:t>
            </a:r>
            <a:r>
              <a:rPr lang="en-US" sz="2400" kern="0" spc="-80" dirty="0">
                <a:solidFill>
                  <a:schemeClr val="accent6"/>
                </a:solidFill>
              </a:rPr>
              <a:t> Tuning Techniques - </a:t>
            </a:r>
            <a:r>
              <a:rPr lang="en-IN" sz="1500" dirty="0">
                <a:hlinkClick r:id="rId7"/>
              </a:rPr>
              <a:t>SQL Performance Tuning - </a:t>
            </a:r>
            <a:r>
              <a:rPr lang="en-IN" sz="1500" dirty="0" err="1">
                <a:hlinkClick r:id="rId7"/>
              </a:rPr>
              <a:t>GeeksforGeeks</a:t>
            </a:r>
            <a:endParaRPr lang="en-US" sz="1500" kern="0" spc="-80" dirty="0">
              <a:solidFill>
                <a:schemeClr val="accent6"/>
              </a:solidFill>
            </a:endParaRPr>
          </a:p>
        </p:txBody>
      </p:sp>
    </p:spTree>
    <p:extLst>
      <p:ext uri="{BB962C8B-B14F-4D97-AF65-F5344CB8AC3E}">
        <p14:creationId xmlns:p14="http://schemas.microsoft.com/office/powerpoint/2010/main" val="340026699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1143182"/>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4473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 </a:t>
            </a:r>
          </a:p>
          <a:p>
            <a:pPr marL="12700" marR="5080"/>
            <a:r>
              <a:rPr lang="en-US" sz="2400" kern="0" spc="-80" dirty="0">
                <a:solidFill>
                  <a:schemeClr val="accent2"/>
                </a:solidFill>
              </a:rPr>
              <a:t>             a) ORMs(Dapper &amp; EF) Tuning – </a:t>
            </a:r>
          </a:p>
          <a:p>
            <a:pPr marL="12700" marR="5080"/>
            <a:r>
              <a:rPr lang="en-US" sz="2400" kern="0" spc="-80" dirty="0">
                <a:solidFill>
                  <a:schemeClr val="accent2"/>
                </a:solidFill>
              </a:rPr>
              <a:t>           </a:t>
            </a:r>
            <a:r>
              <a:rPr lang="en-US" sz="1800" kern="0" spc="-80" dirty="0">
                <a:solidFill>
                  <a:schemeClr val="accent6"/>
                </a:solidFill>
              </a:rPr>
              <a:t>Dapper being a micro-</a:t>
            </a:r>
            <a:r>
              <a:rPr lang="en-US" sz="1800" kern="0" spc="-80" dirty="0" err="1">
                <a:solidFill>
                  <a:schemeClr val="accent6"/>
                </a:solidFill>
              </a:rPr>
              <a:t>orm</a:t>
            </a:r>
            <a:r>
              <a:rPr lang="en-US" sz="1800" kern="0" spc="-80" dirty="0">
                <a:solidFill>
                  <a:schemeClr val="accent6"/>
                </a:solidFill>
              </a:rPr>
              <a:t> &amp; uses mainly raw </a:t>
            </a:r>
            <a:r>
              <a:rPr lang="en-US" sz="1800" kern="0" spc="-80" dirty="0" err="1">
                <a:solidFill>
                  <a:schemeClr val="accent6"/>
                </a:solidFill>
              </a:rPr>
              <a:t>sql</a:t>
            </a:r>
            <a:r>
              <a:rPr lang="en-US" sz="1800" kern="0" spc="-80" dirty="0">
                <a:solidFill>
                  <a:schemeClr val="accent6"/>
                </a:solidFill>
              </a:rPr>
              <a:t>, nothing much is there to tune within Dapper itself &amp; most of the </a:t>
            </a:r>
            <a:r>
              <a:rPr lang="en-US" sz="1800" kern="0" spc="-80" dirty="0" err="1">
                <a:solidFill>
                  <a:schemeClr val="accent6"/>
                </a:solidFill>
              </a:rPr>
              <a:t>Sql</a:t>
            </a:r>
            <a:r>
              <a:rPr lang="en-US" sz="1800" kern="0" spc="-80" dirty="0">
                <a:solidFill>
                  <a:schemeClr val="accent6"/>
                </a:solidFill>
              </a:rPr>
              <a:t> Tuning techniques should do the trick.</a:t>
            </a:r>
          </a:p>
          <a:p>
            <a:pPr marL="12700" marR="5080"/>
            <a:endParaRPr lang="en-US" sz="1800" kern="0" spc="-80" dirty="0">
              <a:solidFill>
                <a:schemeClr val="accent6"/>
              </a:solidFill>
            </a:endParaRPr>
          </a:p>
          <a:p>
            <a:pPr marL="12700" marR="5080"/>
            <a:r>
              <a:rPr lang="en-US" sz="1800" kern="0" spc="-80" dirty="0">
                <a:solidFill>
                  <a:schemeClr val="accent6"/>
                </a:solidFill>
              </a:rPr>
              <a:t>               For EF Tuning, refer - </a:t>
            </a:r>
          </a:p>
          <a:p>
            <a:pPr marL="12700" marR="5080"/>
            <a:r>
              <a:rPr lang="en-US" sz="2400" kern="0" spc="-80" dirty="0">
                <a:solidFill>
                  <a:schemeClr val="accent2"/>
                </a:solidFill>
              </a:rPr>
              <a:t>             </a:t>
            </a:r>
            <a:r>
              <a:rPr lang="en-IN" sz="1500" dirty="0">
                <a:hlinkClick r:id="rId7"/>
              </a:rPr>
              <a:t>15+ Steps to improve EF Core Performance | LinkedIn</a:t>
            </a:r>
            <a:endParaRPr lang="en-US" sz="1500" kern="0" spc="-80" dirty="0">
              <a:solidFill>
                <a:schemeClr val="accent2"/>
              </a:solidFill>
            </a:endParaRPr>
          </a:p>
          <a:p>
            <a:pPr marL="12700" marR="5080"/>
            <a:r>
              <a:rPr lang="en-US" sz="1600" kern="0" spc="-80" dirty="0">
                <a:solidFill>
                  <a:schemeClr val="accent2"/>
                </a:solidFill>
              </a:rPr>
              <a:t>                 </a:t>
            </a:r>
            <a:r>
              <a:rPr lang="en-US" sz="1800" kern="0" spc="-80" dirty="0">
                <a:solidFill>
                  <a:schemeClr val="accent6"/>
                </a:solidFill>
              </a:rPr>
              <a:t>For ADO.NET refer – </a:t>
            </a:r>
          </a:p>
          <a:p>
            <a:pPr marL="12700" marR="5080"/>
            <a:r>
              <a:rPr lang="en-US" sz="1600" kern="0" spc="-80" dirty="0">
                <a:solidFill>
                  <a:schemeClr val="accent2"/>
                </a:solidFill>
              </a:rPr>
              <a:t>                    </a:t>
            </a:r>
            <a:r>
              <a:rPr lang="en-US" sz="1500" dirty="0" err="1">
                <a:hlinkClick r:id="rId8"/>
              </a:rPr>
              <a:t>.net</a:t>
            </a:r>
            <a:r>
              <a:rPr lang="en-US" sz="1500" dirty="0">
                <a:hlinkClick r:id="rId8"/>
              </a:rPr>
              <a:t> - C# - What are Some High Performance Best Practices/Tips for ADO.NET - Stack Overflow</a:t>
            </a:r>
            <a:endParaRPr lang="en-US" sz="1500" kern="0" spc="-80" dirty="0">
              <a:solidFill>
                <a:schemeClr val="accent6"/>
              </a:solidFill>
            </a:endParaRPr>
          </a:p>
        </p:txBody>
      </p:sp>
    </p:spTree>
    <p:extLst>
      <p:ext uri="{BB962C8B-B14F-4D97-AF65-F5344CB8AC3E}">
        <p14:creationId xmlns:p14="http://schemas.microsoft.com/office/powerpoint/2010/main" val="332388560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04175520"/>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b) Caching – </a:t>
            </a:r>
          </a:p>
          <a:p>
            <a:pPr marL="12700" marR="5080"/>
            <a:r>
              <a:rPr lang="en-US" sz="2400" kern="0" spc="-80" dirty="0">
                <a:solidFill>
                  <a:schemeClr val="accent2"/>
                </a:solidFill>
              </a:rPr>
              <a:t>                </a:t>
            </a:r>
            <a:r>
              <a:rPr lang="en-US" sz="2400" kern="0" spc="-80" dirty="0">
                <a:solidFill>
                  <a:schemeClr val="accent6"/>
                </a:solidFill>
              </a:rPr>
              <a:t>Small one time write &amp; multiple read based application data can be cached in-memory but validate that it doesn’t throw OOM Exception.</a:t>
            </a:r>
          </a:p>
          <a:p>
            <a:pPr marL="12700" marR="5080"/>
            <a:r>
              <a:rPr lang="en-US" sz="2400" kern="0" spc="-80" dirty="0">
                <a:solidFill>
                  <a:schemeClr val="accent2"/>
                </a:solidFill>
              </a:rPr>
              <a:t>                </a:t>
            </a:r>
            <a:r>
              <a:rPr lang="en-US" sz="2400" kern="0" spc="-80" dirty="0">
                <a:solidFill>
                  <a:schemeClr val="accent6"/>
                </a:solidFill>
              </a:rPr>
              <a:t>Large Application data, Session data &amp; rarely-changing data can be cached using some Distributed Cache (Refer - </a:t>
            </a:r>
            <a:r>
              <a:rPr lang="en-US" sz="1500" dirty="0">
                <a:hlinkClick r:id="rId7"/>
              </a:rPr>
              <a:t>Redis OSS vs. Memcached - Difference Between In-Memory Data Stores – AWS</a:t>
            </a:r>
            <a:r>
              <a:rPr lang="en-US" sz="1500" dirty="0"/>
              <a:t>, </a:t>
            </a:r>
            <a:r>
              <a:rPr lang="en-US" sz="1500" dirty="0">
                <a:hlinkClick r:id="rId8"/>
              </a:rPr>
              <a:t>Choosing your node size - Amazon </a:t>
            </a:r>
            <a:r>
              <a:rPr lang="en-US" sz="1500" dirty="0" err="1">
                <a:hlinkClick r:id="rId8"/>
              </a:rPr>
              <a:t>ElastiCache</a:t>
            </a:r>
            <a:r>
              <a:rPr lang="en-US" sz="1500" dirty="0"/>
              <a:t> &amp; </a:t>
            </a:r>
            <a:r>
              <a:rPr lang="en-US" sz="1500" dirty="0">
                <a:hlinkClick r:id="rId9"/>
              </a:rPr>
              <a:t>Why </a:t>
            </a:r>
            <a:r>
              <a:rPr lang="en-US" sz="1500" dirty="0" err="1">
                <a:hlinkClick r:id="rId9"/>
              </a:rPr>
              <a:t>redis</a:t>
            </a:r>
            <a:r>
              <a:rPr lang="en-US" sz="1500" dirty="0">
                <a:hlinkClick r:id="rId9"/>
              </a:rPr>
              <a:t> cluster only have 16384 slots? - Stack Overflow</a:t>
            </a:r>
            <a:r>
              <a:rPr lang="en-US" sz="1500" kern="0" spc="-80" dirty="0">
                <a:solidFill>
                  <a:schemeClr val="accent2"/>
                </a:solidFill>
              </a:rPr>
              <a:t> </a:t>
            </a:r>
            <a:r>
              <a:rPr lang="en-US" sz="2400" kern="0" spc="-80" dirty="0">
                <a:solidFill>
                  <a:schemeClr val="accent6"/>
                </a:solidFill>
              </a:rPr>
              <a:t>for further exploration)</a:t>
            </a:r>
          </a:p>
          <a:p>
            <a:pPr marL="12700" marR="5080"/>
            <a:r>
              <a:rPr lang="en-US" sz="2400" kern="0" spc="-80" dirty="0">
                <a:solidFill>
                  <a:schemeClr val="accent2"/>
                </a:solidFill>
              </a:rPr>
              <a:t>           </a:t>
            </a:r>
            <a:endParaRPr lang="en-US" sz="2000" kern="0" spc="-80" dirty="0">
              <a:solidFill>
                <a:schemeClr val="accent6"/>
              </a:solidFill>
            </a:endParaRPr>
          </a:p>
        </p:txBody>
      </p:sp>
    </p:spTree>
    <p:extLst>
      <p:ext uri="{BB962C8B-B14F-4D97-AF65-F5344CB8AC3E}">
        <p14:creationId xmlns:p14="http://schemas.microsoft.com/office/powerpoint/2010/main" val="72683374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39089860"/>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b) Caching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a:t>
            </a:r>
            <a:r>
              <a:rPr lang="en-US" sz="2400" kern="0" spc="-80" dirty="0">
                <a:solidFill>
                  <a:schemeClr val="accent6"/>
                </a:solidFill>
              </a:rPr>
              <a:t>Caching Types –</a:t>
            </a:r>
          </a:p>
          <a:p>
            <a:pPr marL="12700" marR="5080"/>
            <a:r>
              <a:rPr lang="en-US" sz="2400" kern="0" spc="-80" dirty="0">
                <a:solidFill>
                  <a:schemeClr val="accent6"/>
                </a:solidFill>
              </a:rPr>
              <a:t>                  </a:t>
            </a:r>
            <a:r>
              <a:rPr lang="en-IN" sz="1400" dirty="0">
                <a:hlinkClick r:id="rId7"/>
              </a:rPr>
              <a:t>Types of Cache – </a:t>
            </a:r>
            <a:r>
              <a:rPr lang="en-IN" sz="1400" dirty="0" err="1">
                <a:hlinkClick r:id="rId7"/>
              </a:rPr>
              <a:t>GeeksforGeeks</a:t>
            </a:r>
            <a:endParaRPr lang="en-IN" sz="1400" dirty="0"/>
          </a:p>
          <a:p>
            <a:pPr marL="12700" marR="5080"/>
            <a:r>
              <a:rPr lang="en-US" sz="2400" kern="0" spc="-80" dirty="0">
                <a:solidFill>
                  <a:schemeClr val="accent2"/>
                </a:solidFill>
              </a:rPr>
              <a:t>                </a:t>
            </a:r>
            <a:r>
              <a:rPr lang="en-US" sz="2400" kern="0" spc="-80" dirty="0">
                <a:solidFill>
                  <a:schemeClr val="accent6"/>
                </a:solidFill>
              </a:rPr>
              <a:t> Caching Strategies –</a:t>
            </a:r>
          </a:p>
          <a:p>
            <a:pPr marL="12700" marR="5080"/>
            <a:r>
              <a:rPr lang="en-US" sz="2000" kern="0" spc="-80" dirty="0">
                <a:solidFill>
                  <a:schemeClr val="accent6"/>
                </a:solidFill>
              </a:rPr>
              <a:t>                      </a:t>
            </a:r>
            <a:r>
              <a:rPr lang="en-US" sz="1500" dirty="0">
                <a:hlinkClick r:id="rId8"/>
              </a:rPr>
              <a:t>Top caching strategies - by Alex Xu - </a:t>
            </a:r>
            <a:r>
              <a:rPr lang="en-US" sz="1500" dirty="0" err="1">
                <a:hlinkClick r:id="rId8"/>
              </a:rPr>
              <a:t>ByteByteGo</a:t>
            </a:r>
            <a:r>
              <a:rPr lang="en-US" sz="1500" dirty="0">
                <a:hlinkClick r:id="rId8"/>
              </a:rPr>
              <a:t> Newsletter</a:t>
            </a:r>
            <a:endParaRPr lang="en-US" sz="1500" dirty="0"/>
          </a:p>
          <a:p>
            <a:pPr marL="12700" marR="5080"/>
            <a:r>
              <a:rPr lang="en-US" sz="1500" kern="0" spc="-80" dirty="0">
                <a:solidFill>
                  <a:schemeClr val="accent6"/>
                </a:solidFill>
              </a:rPr>
              <a:t>                               </a:t>
            </a:r>
            <a:r>
              <a:rPr lang="en-IN" sz="1500" dirty="0">
                <a:hlinkClick r:id="rId9"/>
              </a:rPr>
              <a:t>Cache Strategies | Medium</a:t>
            </a:r>
            <a:endParaRPr lang="en-IN" sz="1500" dirty="0"/>
          </a:p>
          <a:p>
            <a:pPr marL="12700" marR="5080"/>
            <a:r>
              <a:rPr lang="en-US" sz="2400" kern="0" spc="-80" dirty="0">
                <a:solidFill>
                  <a:schemeClr val="accent6"/>
                </a:solidFill>
              </a:rPr>
              <a:t>                 Caching Eviction Strategies –</a:t>
            </a:r>
          </a:p>
          <a:p>
            <a:pPr marL="12700" marR="5080"/>
            <a:r>
              <a:rPr lang="en-US" sz="1500" kern="0" spc="-80" dirty="0">
                <a:solidFill>
                  <a:schemeClr val="accent6"/>
                </a:solidFill>
              </a:rPr>
              <a:t>                               </a:t>
            </a:r>
            <a:r>
              <a:rPr lang="en-IN" sz="1500" dirty="0">
                <a:hlinkClick r:id="rId10"/>
              </a:rPr>
              <a:t>Cache replacement policies – Wikipedia</a:t>
            </a:r>
            <a:endParaRPr lang="en-IN" sz="1500" dirty="0"/>
          </a:p>
          <a:p>
            <a:pPr marL="12700" marR="5080"/>
            <a:r>
              <a:rPr lang="en-IN" sz="1500" kern="0" spc="-80" dirty="0">
                <a:solidFill>
                  <a:schemeClr val="accent6"/>
                </a:solidFill>
              </a:rPr>
              <a:t>     </a:t>
            </a:r>
            <a:r>
              <a:rPr lang="en-US" sz="1500" kern="0" spc="-80" dirty="0">
                <a:solidFill>
                  <a:schemeClr val="accent2"/>
                </a:solidFill>
              </a:rPr>
              <a:t>For Further Exploration-</a:t>
            </a:r>
          </a:p>
          <a:p>
            <a:pPr marL="12700" marR="5080"/>
            <a:r>
              <a:rPr lang="en-US" sz="1500" kern="0" spc="-80" dirty="0">
                <a:solidFill>
                  <a:schemeClr val="accent6"/>
                </a:solidFill>
              </a:rPr>
              <a:t>     </a:t>
            </a:r>
            <a:r>
              <a:rPr lang="en-US" sz="1300" dirty="0">
                <a:hlinkClick r:id="rId11"/>
              </a:rPr>
              <a:t>Optimizing Distributed Cache for Read-Heavy vs. Write-Heavy Workloads with Docker</a:t>
            </a:r>
            <a:endParaRPr lang="en-US" sz="1300" dirty="0"/>
          </a:p>
          <a:p>
            <a:pPr marL="12700" marR="5080"/>
            <a:r>
              <a:rPr lang="en-US" sz="1300" kern="0" spc="-80" dirty="0">
                <a:solidFill>
                  <a:schemeClr val="accent2"/>
                </a:solidFill>
              </a:rPr>
              <a:t>      </a:t>
            </a:r>
            <a:r>
              <a:rPr lang="en-US" sz="1300" dirty="0" err="1">
                <a:hlinkClick r:id="rId12"/>
              </a:rPr>
              <a:t>HybridCache</a:t>
            </a:r>
            <a:r>
              <a:rPr lang="en-US" sz="1300" dirty="0">
                <a:hlinkClick r:id="rId12"/>
              </a:rPr>
              <a:t> in ASP.NET Core - New Caching Library</a:t>
            </a:r>
            <a:endParaRPr lang="en-US" sz="1300" kern="0" spc="-80" dirty="0">
              <a:solidFill>
                <a:schemeClr val="accent2"/>
              </a:solidFill>
            </a:endParaRPr>
          </a:p>
        </p:txBody>
      </p:sp>
    </p:spTree>
    <p:extLst>
      <p:ext uri="{BB962C8B-B14F-4D97-AF65-F5344CB8AC3E}">
        <p14:creationId xmlns:p14="http://schemas.microsoft.com/office/powerpoint/2010/main" val="294663335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0FEB2-E31F-4103-0114-49C730284D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5C2A87-2CFE-A082-9D90-0ABCF4E11F6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CA0493-9103-2EEC-F598-8B72CEB7DB9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D2D5D5C-8B5E-0AE6-2548-536CF4F22649}"/>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A04EF6-0F4E-8E18-81CA-33E8F6AAB161}"/>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779DDBD-88BB-7C64-6A72-F107A4CC9E1D}"/>
              </a:ext>
            </a:extLst>
          </p:cNvPr>
          <p:cNvSpPr txBox="1">
            <a:spLocks/>
          </p:cNvSpPr>
          <p:nvPr/>
        </p:nvSpPr>
        <p:spPr>
          <a:xfrm>
            <a:off x="304800" y="913787"/>
            <a:ext cx="8624937" cy="47859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 </a:t>
            </a:r>
          </a:p>
          <a:p>
            <a:pPr algn="l" fontAlgn="base"/>
            <a:r>
              <a:rPr lang="en-US" sz="2400" kern="0" spc="-80" dirty="0">
                <a:solidFill>
                  <a:schemeClr val="accent2"/>
                </a:solidFill>
              </a:rPr>
              <a:t>            </a:t>
            </a:r>
            <a:r>
              <a:rPr lang="en-US" sz="2000" kern="0" spc="-80" dirty="0">
                <a:solidFill>
                  <a:schemeClr val="accent2"/>
                </a:solidFill>
              </a:rPr>
              <a:t> </a:t>
            </a:r>
            <a:r>
              <a:rPr lang="en-US" sz="2000" kern="0" spc="-80" dirty="0">
                <a:solidFill>
                  <a:schemeClr val="accent6"/>
                </a:solidFill>
              </a:rPr>
              <a:t>If multiple requests do (read +) write(update/insert) the same record in some table in the DB, then concurrency issues as mentioned in </a:t>
            </a:r>
            <a:r>
              <a:rPr lang="en-US" sz="1500" dirty="0">
                <a:hlinkClick r:id="rId7"/>
              </a:rPr>
              <a:t>6 ways of doing locking in .NET (Pessimistic and optimistic)- </a:t>
            </a:r>
            <a:r>
              <a:rPr lang="en-US" sz="1500" dirty="0" err="1">
                <a:hlinkClick r:id="rId7"/>
              </a:rPr>
              <a:t>CodeProject</a:t>
            </a:r>
            <a:r>
              <a:rPr lang="en-US" sz="2000" kern="0" spc="-80" dirty="0">
                <a:solidFill>
                  <a:schemeClr val="accent6"/>
                </a:solidFill>
              </a:rPr>
              <a:t>  can happen. In general, solution to such problems is to use Optimistic or Pessimistic Concurrency handling techniques as per requirements(which are discussed in next 2 slides).Another technique can be to put the requests into some queue/buffer &amp; then process them sequentially(if possible in bulk to improve performance).</a:t>
            </a:r>
          </a:p>
          <a:p>
            <a:pPr algn="l" fontAlgn="base"/>
            <a:endParaRPr lang="en-US" sz="1500" kern="0" spc="-80" dirty="0">
              <a:solidFill>
                <a:schemeClr val="accent6"/>
              </a:solidFill>
            </a:endParaRPr>
          </a:p>
          <a:p>
            <a:pPr algn="l" fontAlgn="base"/>
            <a:r>
              <a:rPr lang="en-US" sz="1200" kern="0" spc="-80" dirty="0">
                <a:solidFill>
                  <a:schemeClr val="accent6"/>
                </a:solidFill>
              </a:rPr>
              <a:t>                 </a:t>
            </a:r>
          </a:p>
        </p:txBody>
      </p:sp>
    </p:spTree>
    <p:extLst>
      <p:ext uri="{BB962C8B-B14F-4D97-AF65-F5344CB8AC3E}">
        <p14:creationId xmlns:p14="http://schemas.microsoft.com/office/powerpoint/2010/main" val="248053993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9721504"/>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a:t>
            </a:r>
          </a:p>
          <a:p>
            <a:pPr algn="l" fontAlgn="base"/>
            <a:r>
              <a:rPr lang="en-US" sz="2000" kern="0" spc="-80" dirty="0">
                <a:solidFill>
                  <a:schemeClr val="accent2"/>
                </a:solidFill>
              </a:rPr>
              <a:t>                </a:t>
            </a:r>
            <a:r>
              <a:rPr lang="en-US" sz="2000" kern="0" spc="-80" dirty="0">
                <a:solidFill>
                  <a:schemeClr val="accent6"/>
                </a:solidFill>
              </a:rPr>
              <a:t> </a:t>
            </a:r>
            <a:r>
              <a:rPr lang="en-US" sz="2000" kern="0" spc="-80" dirty="0">
                <a:solidFill>
                  <a:schemeClr val="accent2"/>
                </a:solidFill>
              </a:rPr>
              <a:t>Optimistic Locking</a:t>
            </a:r>
            <a:r>
              <a:rPr lang="en-US" sz="2400" kern="0" spc="-80" dirty="0">
                <a:solidFill>
                  <a:schemeClr val="accent2"/>
                </a:solidFill>
              </a:rPr>
              <a:t> </a:t>
            </a:r>
            <a:r>
              <a:rPr lang="en-US" sz="2000" kern="0" spc="-80" dirty="0">
                <a:solidFill>
                  <a:schemeClr val="accent6"/>
                </a:solidFill>
              </a:rPr>
              <a:t>– </a:t>
            </a:r>
            <a:r>
              <a:rPr lang="en-US" sz="1500" kern="0" spc="-80" dirty="0">
                <a:solidFill>
                  <a:schemeClr val="accent6"/>
                </a:solidFill>
              </a:rPr>
              <a:t>a strategy where you read a record, take note of a version number (other methods to do this involve dates, timestamps or checksums/hashes) and check that the version hasn't changed before you write the record back. When you write the record back you filter the update on the version to make sure it's atomic. (i.e. hasn't been updated between when you check the version and write the record to the disk) and update the version in one </a:t>
            </a:r>
            <a:r>
              <a:rPr lang="en-US" sz="1500" kern="0" spc="-80" dirty="0" err="1">
                <a:solidFill>
                  <a:schemeClr val="accent6"/>
                </a:solidFill>
              </a:rPr>
              <a:t>hit.If</a:t>
            </a:r>
            <a:r>
              <a:rPr lang="en-US" sz="1500" kern="0" spc="-80" dirty="0">
                <a:solidFill>
                  <a:schemeClr val="accent6"/>
                </a:solidFill>
              </a:rPr>
              <a:t> the record is dirty (i.e. different version to yours) you abort the transaction and the user can re-start it.</a:t>
            </a:r>
          </a:p>
          <a:p>
            <a:pPr algn="l" fontAlgn="base"/>
            <a:r>
              <a:rPr lang="en-US" sz="1500" kern="0" spc="-80" dirty="0">
                <a:solidFill>
                  <a:schemeClr val="accent6"/>
                </a:solidFill>
              </a:rPr>
              <a:t>                       In general, we use the number of records fetched(as part of the [read +] write query e.g. checking max(</a:t>
            </a:r>
            <a:r>
              <a:rPr lang="en-US" sz="1500" kern="0" spc="-80" dirty="0" err="1">
                <a:solidFill>
                  <a:schemeClr val="accent6"/>
                </a:solidFill>
              </a:rPr>
              <a:t>VersionNumber</a:t>
            </a:r>
            <a:r>
              <a:rPr lang="en-US" sz="1500" kern="0" spc="-80" dirty="0">
                <a:solidFill>
                  <a:schemeClr val="accent6"/>
                </a:solidFill>
              </a:rPr>
              <a:t>) = current Version Number) or we check some exception raised or not(e.g. applying Retry + unique key constraint on [read +] write query) </a:t>
            </a:r>
          </a:p>
          <a:p>
            <a:pPr algn="l" fontAlgn="base"/>
            <a:r>
              <a:rPr lang="en-US" sz="1500" kern="0" spc="-80" dirty="0">
                <a:solidFill>
                  <a:schemeClr val="accent6"/>
                </a:solidFill>
              </a:rPr>
              <a:t>                        Versioning is the best approach since timestamp based approaches can have Server clock synchronization issues.</a:t>
            </a:r>
          </a:p>
          <a:p>
            <a:pPr algn="l" fontAlgn="base"/>
            <a:r>
              <a:rPr lang="en-US" sz="2000" kern="0" spc="-80" dirty="0">
                <a:solidFill>
                  <a:schemeClr val="accent6"/>
                </a:solidFill>
              </a:rPr>
              <a:t>   </a:t>
            </a:r>
          </a:p>
        </p:txBody>
      </p:sp>
    </p:spTree>
    <p:extLst>
      <p:ext uri="{BB962C8B-B14F-4D97-AF65-F5344CB8AC3E}">
        <p14:creationId xmlns:p14="http://schemas.microsoft.com/office/powerpoint/2010/main" val="290743520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63086495"/>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 – </a:t>
            </a:r>
          </a:p>
          <a:p>
            <a:pPr algn="l" fontAlgn="base"/>
            <a:r>
              <a:rPr lang="en-US" sz="2400" kern="0" spc="-80" dirty="0">
                <a:solidFill>
                  <a:schemeClr val="accent2"/>
                </a:solidFill>
              </a:rPr>
              <a:t>         </a:t>
            </a:r>
            <a:r>
              <a:rPr lang="en-US" sz="2000" kern="0" spc="-80" dirty="0">
                <a:solidFill>
                  <a:schemeClr val="accent2"/>
                </a:solidFill>
              </a:rPr>
              <a:t>       </a:t>
            </a:r>
            <a:r>
              <a:rPr lang="en-US" sz="2000" kern="0" spc="-80" dirty="0">
                <a:solidFill>
                  <a:schemeClr val="accent6"/>
                </a:solidFill>
              </a:rPr>
              <a:t> </a:t>
            </a:r>
            <a:r>
              <a:rPr lang="en-US" sz="2000" kern="0" spc="-80" dirty="0">
                <a:solidFill>
                  <a:schemeClr val="accent2"/>
                </a:solidFill>
              </a:rPr>
              <a:t>Pessimistic Locking </a:t>
            </a:r>
            <a:r>
              <a:rPr lang="en-US" sz="2000" kern="0" spc="-80" dirty="0">
                <a:solidFill>
                  <a:schemeClr val="accent6"/>
                </a:solidFill>
              </a:rPr>
              <a:t>– </a:t>
            </a:r>
            <a:r>
              <a:rPr lang="en-US" sz="1800" kern="0" spc="-80" dirty="0">
                <a:solidFill>
                  <a:schemeClr val="accent6"/>
                </a:solidFill>
              </a:rPr>
              <a:t>when you lock the record for your exclusive use until you have finished with it. It has much better integrity than optimistic locking but requires you to be careful with your application design to avoid </a:t>
            </a:r>
            <a:r>
              <a:rPr lang="en-US" sz="1800" kern="0" spc="-80" dirty="0" err="1">
                <a:solidFill>
                  <a:schemeClr val="accent6"/>
                </a:solidFill>
              </a:rPr>
              <a:t>DeadLocks</a:t>
            </a:r>
            <a:r>
              <a:rPr lang="en-US" sz="1800" kern="0" spc="-80" dirty="0">
                <a:solidFill>
                  <a:schemeClr val="accent6"/>
                </a:solidFill>
              </a:rPr>
              <a:t>. To use pessimistic locking you need either a direct connection to the database (as would typically be the case in a </a:t>
            </a:r>
            <a:r>
              <a:rPr lang="en-US" sz="1800" kern="0" spc="-80" dirty="0">
                <a:solidFill>
                  <a:schemeClr val="accent6"/>
                </a:solidFill>
                <a:hlinkClick r:id="rId7">
                  <a:extLst>
                    <a:ext uri="{A12FA001-AC4F-418D-AE19-62706E023703}">
                      <ahyp:hlinkClr xmlns:ahyp="http://schemas.microsoft.com/office/drawing/2018/hyperlinkcolor" val="tx"/>
                    </a:ext>
                  </a:extLst>
                </a:hlinkClick>
              </a:rPr>
              <a:t>two tier client server</a:t>
            </a:r>
            <a:r>
              <a:rPr lang="en-US" sz="1800" kern="0" spc="-80" dirty="0">
                <a:solidFill>
                  <a:schemeClr val="accent6"/>
                </a:solidFill>
              </a:rPr>
              <a:t> application) or an externally available transaction ID that can be used independently of the connection. In the latter case, you open the transaction with the </a:t>
            </a:r>
            <a:r>
              <a:rPr lang="en-US" sz="1800" kern="0" spc="-80" dirty="0" err="1">
                <a:solidFill>
                  <a:schemeClr val="accent6"/>
                </a:solidFill>
              </a:rPr>
              <a:t>TxID</a:t>
            </a:r>
            <a:r>
              <a:rPr lang="en-US" sz="1800" kern="0" spc="-80" dirty="0">
                <a:solidFill>
                  <a:schemeClr val="accent6"/>
                </a:solidFill>
              </a:rPr>
              <a:t> and then reconnect using that ID. The DBMS maintains the locks and allows you to pick the session back up through the </a:t>
            </a:r>
            <a:r>
              <a:rPr lang="en-US" sz="1800" kern="0" spc="-80" dirty="0" err="1">
                <a:solidFill>
                  <a:schemeClr val="accent6"/>
                </a:solidFill>
              </a:rPr>
              <a:t>TxID</a:t>
            </a:r>
            <a:r>
              <a:rPr lang="en-US" sz="1800" kern="0" spc="-80" dirty="0">
                <a:solidFill>
                  <a:schemeClr val="accent6"/>
                </a:solidFill>
              </a:rPr>
              <a:t>. </a:t>
            </a:r>
          </a:p>
          <a:p>
            <a:pPr algn="l" fontAlgn="base"/>
            <a:r>
              <a:rPr lang="en-US" sz="2000" kern="0" spc="-80" dirty="0">
                <a:solidFill>
                  <a:schemeClr val="accent6"/>
                </a:solidFill>
              </a:rPr>
              <a:t>                   For more details refer - </a:t>
            </a:r>
            <a:r>
              <a:rPr lang="en-US" sz="1500" dirty="0">
                <a:hlinkClick r:id="rId8"/>
              </a:rPr>
              <a:t>What's the difference between optimistic and pessimistic locking?</a:t>
            </a:r>
            <a:r>
              <a:rPr lang="en-US" sz="2000" kern="0" spc="-80" dirty="0">
                <a:solidFill>
                  <a:schemeClr val="accent6"/>
                </a:solidFill>
              </a:rPr>
              <a:t>          </a:t>
            </a:r>
          </a:p>
          <a:p>
            <a:pPr marL="12700" marR="5080"/>
            <a:r>
              <a:rPr lang="en-US" sz="2000" kern="0" spc="-80" dirty="0">
                <a:solidFill>
                  <a:schemeClr val="accent6"/>
                </a:solidFill>
              </a:rPr>
              <a:t>           </a:t>
            </a:r>
          </a:p>
          <a:p>
            <a:pPr marL="12700" marR="5080"/>
            <a:endParaRPr lang="en-US" sz="2000" kern="0" spc="-80" dirty="0">
              <a:solidFill>
                <a:schemeClr val="accent6"/>
              </a:solidFill>
            </a:endParaRPr>
          </a:p>
        </p:txBody>
      </p:sp>
    </p:spTree>
    <p:extLst>
      <p:ext uri="{BB962C8B-B14F-4D97-AF65-F5344CB8AC3E}">
        <p14:creationId xmlns:p14="http://schemas.microsoft.com/office/powerpoint/2010/main" val="64935748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B9B16-F285-A73C-6B75-4054C4497D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B531D0-2897-D576-6F04-63245DD0E3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32D8A2-CB59-4893-DB4A-77518382C90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031BC4C-849E-0C2B-64C5-5CB3F292EA8A}"/>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BCF4684-EBCB-CA41-767F-636C292105B5}"/>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04B9E81-8905-3B05-51EC-980075B8566C}"/>
              </a:ext>
            </a:extLst>
          </p:cNvPr>
          <p:cNvSpPr txBox="1">
            <a:spLocks/>
          </p:cNvSpPr>
          <p:nvPr/>
        </p:nvSpPr>
        <p:spPr>
          <a:xfrm>
            <a:off x="304800" y="913787"/>
            <a:ext cx="8624937" cy="35086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a:t>
            </a:r>
            <a:r>
              <a:rPr lang="en-US" sz="2400" kern="0" spc="-80" dirty="0" err="1">
                <a:solidFill>
                  <a:schemeClr val="accent2"/>
                </a:solidFill>
              </a:rPr>
              <a:t>TunTransactioning</a:t>
            </a:r>
            <a:r>
              <a:rPr lang="en-US" sz="2400" kern="0" spc="-80" dirty="0">
                <a:solidFill>
                  <a:schemeClr val="accent2"/>
                </a:solidFill>
              </a:rPr>
              <a:t>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 – </a:t>
            </a:r>
          </a:p>
          <a:p>
            <a:pPr marL="12700" marR="5080"/>
            <a:endParaRPr lang="en-US" sz="2400" kern="0" spc="-80" dirty="0">
              <a:solidFill>
                <a:schemeClr val="accent2"/>
              </a:solidFill>
            </a:endParaRPr>
          </a:p>
          <a:p>
            <a:pPr algn="l" fontAlgn="base"/>
            <a:r>
              <a:rPr lang="en-US" sz="2400" kern="0" spc="-80" dirty="0">
                <a:solidFill>
                  <a:schemeClr val="accent2"/>
                </a:solidFill>
              </a:rPr>
              <a:t>For Further Exploration- </a:t>
            </a:r>
          </a:p>
          <a:p>
            <a:pPr algn="l" fontAlgn="base"/>
            <a:r>
              <a:rPr lang="en-US" sz="1500" dirty="0">
                <a:hlinkClick r:id="rId7"/>
              </a:rPr>
              <a:t>ADO.NET Entity Framework Interview Questions- </a:t>
            </a:r>
            <a:r>
              <a:rPr lang="en-US" sz="1500" dirty="0" err="1">
                <a:hlinkClick r:id="rId7"/>
              </a:rPr>
              <a:t>CodeProject</a:t>
            </a:r>
            <a:endParaRPr lang="en-US" sz="1500" dirty="0"/>
          </a:p>
          <a:p>
            <a:pPr algn="l" fontAlgn="base"/>
            <a:r>
              <a:rPr lang="en-US" sz="1500" dirty="0">
                <a:hlinkClick r:id="rId8"/>
              </a:rPr>
              <a:t>Handling Concurrency Conflicts - EF Core | Microsoft Learn</a:t>
            </a:r>
            <a:endParaRPr lang="en-US" sz="1500" dirty="0"/>
          </a:p>
          <a:p>
            <a:pPr algn="l" fontAlgn="base"/>
            <a:r>
              <a:rPr lang="en-IN" sz="1500" dirty="0">
                <a:hlinkClick r:id="rId9"/>
              </a:rPr>
              <a:t>Different Types of DB Locks | LinkedIn</a:t>
            </a:r>
            <a:endParaRPr lang="en-IN" sz="1500" dirty="0"/>
          </a:p>
          <a:p>
            <a:pPr algn="l" fontAlgn="base"/>
            <a:r>
              <a:rPr lang="en-US" sz="1500" dirty="0">
                <a:hlinkClick r:id="rId10"/>
              </a:rPr>
              <a:t>Concurrency Control Mechanisms in Distributed Systems | by Roopa </a:t>
            </a:r>
            <a:r>
              <a:rPr lang="en-US" sz="1500" dirty="0" err="1">
                <a:hlinkClick r:id="rId10"/>
              </a:rPr>
              <a:t>Kushtagi</a:t>
            </a:r>
            <a:r>
              <a:rPr lang="en-US" sz="1500" dirty="0">
                <a:hlinkClick r:id="rId10"/>
              </a:rPr>
              <a:t> | Medium</a:t>
            </a:r>
            <a:endParaRPr lang="en-US" sz="1500" kern="0" spc="-80" dirty="0">
              <a:solidFill>
                <a:schemeClr val="accent6"/>
              </a:solidFill>
            </a:endParaRPr>
          </a:p>
        </p:txBody>
      </p:sp>
    </p:spTree>
    <p:extLst>
      <p:ext uri="{BB962C8B-B14F-4D97-AF65-F5344CB8AC3E}">
        <p14:creationId xmlns:p14="http://schemas.microsoft.com/office/powerpoint/2010/main" val="220492377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Performance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Response Time  </a:t>
            </a:r>
            <a:r>
              <a:rPr lang="en-US" sz="2000" kern="0" spc="-80" dirty="0" err="1">
                <a:solidFill>
                  <a:schemeClr val="accent2"/>
                </a:solidFill>
              </a:rPr>
              <a:t>contd</a:t>
            </a:r>
            <a:r>
              <a:rPr lang="en-US" sz="2000" kern="0" spc="-80" dirty="0">
                <a:solidFill>
                  <a:schemeClr val="accent2"/>
                </a:solidFill>
              </a:rPr>
              <a:t> … –</a:t>
            </a:r>
            <a:r>
              <a:rPr lang="en-US" sz="2000" kern="0" spc="-80" dirty="0">
                <a:solidFill>
                  <a:schemeClr val="accent6"/>
                </a:solidFill>
              </a:rPr>
              <a:t> </a:t>
            </a:r>
          </a:p>
          <a:p>
            <a:pPr marL="12700" marR="5080"/>
            <a:r>
              <a:rPr lang="en-US" sz="2000" kern="0" spc="-80" dirty="0">
                <a:solidFill>
                  <a:schemeClr val="accent2"/>
                </a:solidFill>
              </a:rPr>
              <a:t>      Ways to improve Response Time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2) Server Side Tuning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API Performance Improvement Techniques in General -</a:t>
            </a:r>
            <a:endParaRPr lang="en-US" sz="2000" kern="0" spc="-80" dirty="0">
              <a:solidFill>
                <a:schemeClr val="accent6"/>
              </a:solidFill>
            </a:endParaRPr>
          </a:p>
        </p:txBody>
      </p:sp>
      <p:pic>
        <p:nvPicPr>
          <p:cNvPr id="9" name="Picture 8">
            <a:extLst>
              <a:ext uri="{FF2B5EF4-FFF2-40B4-BE49-F238E27FC236}">
                <a16:creationId xmlns:a16="http://schemas.microsoft.com/office/drawing/2014/main" id="{7A4FD913-85C6-07CF-1732-4370AF9DBF0F}"/>
              </a:ext>
            </a:extLst>
          </p:cNvPr>
          <p:cNvPicPr>
            <a:picLocks noChangeAspect="1"/>
          </p:cNvPicPr>
          <p:nvPr/>
        </p:nvPicPr>
        <p:blipFill>
          <a:blip r:embed="rId7"/>
          <a:stretch>
            <a:fillRect/>
          </a:stretch>
        </p:blipFill>
        <p:spPr>
          <a:xfrm>
            <a:off x="23978" y="2468162"/>
            <a:ext cx="8915858" cy="3399237"/>
          </a:xfrm>
          <a:prstGeom prst="rect">
            <a:avLst/>
          </a:prstGeom>
        </p:spPr>
      </p:pic>
    </p:spTree>
    <p:extLst>
      <p:ext uri="{BB962C8B-B14F-4D97-AF65-F5344CB8AC3E}">
        <p14:creationId xmlns:p14="http://schemas.microsoft.com/office/powerpoint/2010/main" val="368507578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374564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685800"/>
            <a:ext cx="8624937" cy="56323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Web UI Tuning – </a:t>
            </a:r>
          </a:p>
          <a:p>
            <a:pPr marL="12700" marR="5080"/>
            <a:r>
              <a:rPr lang="en-US" sz="1600" kern="0" spc="-80" dirty="0">
                <a:solidFill>
                  <a:schemeClr val="accent2"/>
                </a:solidFill>
              </a:rPr>
              <a:t>            </a:t>
            </a:r>
            <a:r>
              <a:rPr lang="en-US" sz="1600" kern="0" spc="-80" dirty="0">
                <a:solidFill>
                  <a:schemeClr val="accent6"/>
                </a:solidFill>
              </a:rPr>
              <a:t>Bundling &amp; Minification</a:t>
            </a:r>
          </a:p>
          <a:p>
            <a:pPr marL="12700" marR="5080"/>
            <a:r>
              <a:rPr lang="en-US" sz="1600" kern="0" spc="-80" dirty="0">
                <a:solidFill>
                  <a:schemeClr val="accent6"/>
                </a:solidFill>
              </a:rPr>
              <a:t>            Compression</a:t>
            </a:r>
          </a:p>
          <a:p>
            <a:pPr marL="12700" marR="5080"/>
            <a:r>
              <a:rPr lang="en-US" sz="1600" kern="0" spc="-80" dirty="0">
                <a:solidFill>
                  <a:schemeClr val="accent6"/>
                </a:solidFill>
              </a:rPr>
              <a:t>            Pre-Fetching</a:t>
            </a:r>
          </a:p>
          <a:p>
            <a:pPr marL="12700" marR="5080"/>
            <a:r>
              <a:rPr lang="en-US" sz="1600" kern="0" spc="-80" dirty="0">
                <a:solidFill>
                  <a:schemeClr val="accent6"/>
                </a:solidFill>
              </a:rPr>
              <a:t>            CDN</a:t>
            </a:r>
          </a:p>
          <a:p>
            <a:pPr marL="12700" marR="5080"/>
            <a:r>
              <a:rPr lang="en-US" sz="1600" kern="0" spc="-80" dirty="0">
                <a:solidFill>
                  <a:schemeClr val="accent6"/>
                </a:solidFill>
              </a:rPr>
              <a:t>            Http/Web Caching</a:t>
            </a:r>
          </a:p>
          <a:p>
            <a:pPr marL="12700" marR="5080"/>
            <a:r>
              <a:rPr lang="en-US" sz="1600" kern="0" spc="-80" dirty="0">
                <a:solidFill>
                  <a:schemeClr val="accent6"/>
                </a:solidFill>
              </a:rPr>
              <a:t>               Cache Control &amp; Expires</a:t>
            </a:r>
          </a:p>
          <a:p>
            <a:pPr marL="12700" marR="5080"/>
            <a:r>
              <a:rPr lang="en-US" sz="1600" kern="0" spc="-80" dirty="0">
                <a:solidFill>
                  <a:schemeClr val="accent6"/>
                </a:solidFill>
              </a:rPr>
              <a:t>               </a:t>
            </a:r>
            <a:r>
              <a:rPr lang="en-US" sz="1600" kern="0" spc="-80" dirty="0" err="1">
                <a:solidFill>
                  <a:schemeClr val="accent6"/>
                </a:solidFill>
              </a:rPr>
              <a:t>Etag</a:t>
            </a:r>
            <a:r>
              <a:rPr lang="en-US" sz="1600" kern="0" spc="-80" dirty="0">
                <a:solidFill>
                  <a:schemeClr val="accent6"/>
                </a:solidFill>
              </a:rPr>
              <a:t>/Last Modified</a:t>
            </a:r>
          </a:p>
          <a:p>
            <a:pPr marL="12700" marR="5080"/>
            <a:r>
              <a:rPr lang="en-US" sz="1400" kern="0" spc="-80" dirty="0">
                <a:solidFill>
                  <a:schemeClr val="accent6"/>
                </a:solidFill>
              </a:rPr>
              <a:t>                 </a:t>
            </a:r>
            <a:r>
              <a:rPr lang="en-US" sz="1500" kern="0" spc="-80" dirty="0">
                <a:solidFill>
                  <a:schemeClr val="accent6"/>
                </a:solidFill>
              </a:rPr>
              <a:t> </a:t>
            </a:r>
            <a:r>
              <a:rPr lang="en-US" sz="1500" dirty="0">
                <a:hlinkClick r:id="rId7"/>
              </a:rPr>
              <a:t>Which one to use : Expire Header, Last Modified Header or ETags - Stack Overflow</a:t>
            </a:r>
            <a:endParaRPr lang="en-US" sz="1500" dirty="0"/>
          </a:p>
          <a:p>
            <a:pPr marL="12700" marR="5080"/>
            <a:endParaRPr lang="en-US" sz="1500" dirty="0"/>
          </a:p>
          <a:p>
            <a:pPr marL="12700" marR="5080"/>
            <a:r>
              <a:rPr lang="en-US" sz="2000" kern="0" spc="-80" dirty="0">
                <a:solidFill>
                  <a:schemeClr val="accent6"/>
                </a:solidFill>
              </a:rPr>
              <a:t> </a:t>
            </a:r>
            <a:r>
              <a:rPr lang="en-US" sz="2000" kern="0" spc="-80" dirty="0">
                <a:solidFill>
                  <a:schemeClr val="accent2"/>
                </a:solidFill>
              </a:rPr>
              <a:t>For Further Exploration - </a:t>
            </a:r>
          </a:p>
          <a:p>
            <a:pPr marL="12700" marR="5080"/>
            <a:r>
              <a:rPr lang="en-US" sz="1200" kern="0" spc="-80" dirty="0">
                <a:solidFill>
                  <a:schemeClr val="accent6"/>
                </a:solidFill>
              </a:rPr>
              <a:t>  </a:t>
            </a:r>
            <a:r>
              <a:rPr lang="en-US" sz="1200" dirty="0">
                <a:hlinkClick r:id="rId8"/>
              </a:rPr>
              <a:t>Frontend Optimization - 9 Tips to Improve Web Performance – </a:t>
            </a:r>
            <a:r>
              <a:rPr lang="en-US" sz="1200" dirty="0" err="1">
                <a:hlinkClick r:id="rId8"/>
              </a:rPr>
              <a:t>KeyCDN</a:t>
            </a:r>
            <a:endParaRPr lang="en-US" sz="1200" dirty="0"/>
          </a:p>
          <a:p>
            <a:pPr marL="12700" marR="5080"/>
            <a:r>
              <a:rPr lang="en-US" sz="1200" kern="0" spc="-80" dirty="0">
                <a:solidFill>
                  <a:schemeClr val="accent6"/>
                </a:solidFill>
              </a:rPr>
              <a:t>  </a:t>
            </a:r>
            <a:r>
              <a:rPr lang="en-US" sz="1200" dirty="0">
                <a:hlinkClick r:id="rId9"/>
              </a:rPr>
              <a:t>Data Fetching Patterns in Single-Page Applications</a:t>
            </a:r>
            <a:endParaRPr lang="en-US" sz="1200" dirty="0"/>
          </a:p>
          <a:p>
            <a:pPr marL="12700" marR="5080"/>
            <a:r>
              <a:rPr lang="en-US" sz="1200" kern="0" spc="-80" dirty="0">
                <a:solidFill>
                  <a:schemeClr val="accent6"/>
                </a:solidFill>
              </a:rPr>
              <a:t>  </a:t>
            </a:r>
            <a:r>
              <a:rPr lang="en-IN" sz="1200" dirty="0">
                <a:hlinkClick r:id="rId10"/>
              </a:rPr>
              <a:t>API Pagination | Feed | LinkedIn</a:t>
            </a:r>
            <a:endParaRPr lang="en-IN" sz="1200" dirty="0"/>
          </a:p>
          <a:p>
            <a:pPr marL="12700" marR="5080"/>
            <a:r>
              <a:rPr lang="en-US" sz="1200" kern="0" spc="-80" dirty="0">
                <a:solidFill>
                  <a:schemeClr val="accent6"/>
                </a:solidFill>
              </a:rPr>
              <a:t>  </a:t>
            </a:r>
            <a:r>
              <a:rPr lang="en-IN" sz="1200" dirty="0">
                <a:hlinkClick r:id="rId11"/>
              </a:rPr>
              <a:t>Others saying slow but it’s fast for me| LinkedIn</a:t>
            </a:r>
            <a:endParaRPr lang="en-IN" sz="1200" dirty="0"/>
          </a:p>
          <a:p>
            <a:pPr marL="12700" marR="5080"/>
            <a:r>
              <a:rPr lang="en-US" sz="1200" kern="0" spc="-80" dirty="0">
                <a:solidFill>
                  <a:schemeClr val="accent6"/>
                </a:solidFill>
              </a:rPr>
              <a:t>  </a:t>
            </a:r>
            <a:r>
              <a:rPr lang="en-US" sz="1200" dirty="0">
                <a:hlinkClick r:id="rId12"/>
              </a:rPr>
              <a:t>ASP.NET-Core-1.0-High-Performance: ASP.NET Core 1.0 High Performance by </a:t>
            </a:r>
            <a:r>
              <a:rPr lang="en-US" sz="1200" dirty="0" err="1">
                <a:hlinkClick r:id="rId12"/>
              </a:rPr>
              <a:t>Packt</a:t>
            </a:r>
            <a:r>
              <a:rPr lang="en-US" sz="1200" dirty="0">
                <a:hlinkClick r:id="rId12"/>
              </a:rPr>
              <a:t> Publishing</a:t>
            </a:r>
            <a:endParaRPr lang="en-US" sz="1200" dirty="0"/>
          </a:p>
          <a:p>
            <a:pPr marL="12700" marR="5080"/>
            <a:r>
              <a:rPr lang="en-US" sz="1200" kern="0" spc="-80">
                <a:solidFill>
                  <a:schemeClr val="accent6"/>
                </a:solidFill>
              </a:rPr>
              <a:t>  </a:t>
            </a:r>
            <a:r>
              <a:rPr lang="en-US" sz="1200">
                <a:hlinkClick r:id="rId13"/>
              </a:rPr>
              <a:t>Best </a:t>
            </a:r>
            <a:r>
              <a:rPr lang="en-US" sz="1200" dirty="0">
                <a:hlinkClick r:id="rId13"/>
              </a:rPr>
              <a:t>practices for improving performance using Azure Service Bus - Azure Service Bus | Microsoft Learn</a:t>
            </a:r>
            <a:endParaRPr lang="en-US" sz="12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3133228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 </a:t>
            </a:r>
          </a:p>
          <a:p>
            <a:pPr marL="12700" marR="5080"/>
            <a:r>
              <a:rPr lang="en-US" sz="2400" kern="0" spc="-80" dirty="0">
                <a:solidFill>
                  <a:schemeClr val="accent2"/>
                </a:solidFill>
              </a:rPr>
              <a:t> Some Important Statistics – </a:t>
            </a:r>
          </a:p>
          <a:p>
            <a:pPr marL="12700" marR="5080"/>
            <a:r>
              <a:rPr lang="en-US" sz="1600" kern="0" spc="-80" dirty="0">
                <a:solidFill>
                  <a:schemeClr val="accent2"/>
                </a:solidFill>
              </a:rPr>
              <a:t>  </a:t>
            </a:r>
            <a:r>
              <a:rPr lang="en-IN" sz="1500" kern="0" spc="-80" dirty="0">
                <a:solidFill>
                  <a:schemeClr val="accent2"/>
                </a:solidFill>
              </a:rPr>
              <a:t>Current &amp; Target loads – </a:t>
            </a:r>
          </a:p>
          <a:p>
            <a:pPr marL="12700" marR="5080"/>
            <a:r>
              <a:rPr lang="en-IN" sz="1500" kern="0" spc="-80" dirty="0">
                <a:solidFill>
                  <a:schemeClr val="accent6"/>
                </a:solidFill>
              </a:rPr>
              <a:t>   </a:t>
            </a:r>
            <a:r>
              <a:rPr lang="en-IN" sz="1500" kern="0" spc="-80" dirty="0" err="1">
                <a:solidFill>
                  <a:schemeClr val="accent6"/>
                </a:solidFill>
              </a:rPr>
              <a:t>Avg</a:t>
            </a:r>
            <a:r>
              <a:rPr lang="en-IN" sz="1500" kern="0" spc="-80" dirty="0">
                <a:solidFill>
                  <a:schemeClr val="accent6"/>
                </a:solidFill>
              </a:rPr>
              <a:t> transactions/day</a:t>
            </a:r>
          </a:p>
          <a:p>
            <a:pPr marL="12700" marR="5080"/>
            <a:r>
              <a:rPr lang="en-IN" sz="1500" kern="0" spc="-80" dirty="0">
                <a:solidFill>
                  <a:schemeClr val="accent6"/>
                </a:solidFill>
              </a:rPr>
              <a:t>   Typical hours transactions</a:t>
            </a:r>
          </a:p>
          <a:p>
            <a:pPr marL="12700" marR="5080"/>
            <a:r>
              <a:rPr lang="en-IN" sz="1500" kern="0" spc="-80" dirty="0">
                <a:solidFill>
                  <a:schemeClr val="accent6"/>
                </a:solidFill>
              </a:rPr>
              <a:t>   Peak hours transactions</a:t>
            </a:r>
          </a:p>
          <a:p>
            <a:pPr marL="12700" marR="5080"/>
            <a:r>
              <a:rPr lang="en-IN" sz="1500" kern="0" spc="-80" dirty="0">
                <a:solidFill>
                  <a:schemeClr val="accent6"/>
                </a:solidFill>
              </a:rPr>
              <a:t>   </a:t>
            </a:r>
            <a:r>
              <a:rPr lang="en-IN" sz="1500" kern="0" spc="-80" dirty="0" err="1">
                <a:solidFill>
                  <a:schemeClr val="accent6"/>
                </a:solidFill>
              </a:rPr>
              <a:t>Avg</a:t>
            </a:r>
            <a:r>
              <a:rPr lang="en-IN" sz="1500" kern="0" spc="-80" dirty="0">
                <a:solidFill>
                  <a:schemeClr val="accent6"/>
                </a:solidFill>
              </a:rPr>
              <a:t> Response time </a:t>
            </a:r>
          </a:p>
          <a:p>
            <a:pPr marL="12700" marR="5080"/>
            <a:r>
              <a:rPr lang="en-IN" sz="1500" kern="0" spc="-80" dirty="0">
                <a:solidFill>
                  <a:schemeClr val="accent6"/>
                </a:solidFill>
              </a:rPr>
              <a:t>   90 percentile response time</a:t>
            </a:r>
          </a:p>
          <a:p>
            <a:pPr marL="12700" marR="5080"/>
            <a:r>
              <a:rPr lang="en-IN" sz="1500" kern="0" spc="-80" dirty="0">
                <a:solidFill>
                  <a:schemeClr val="accent6"/>
                </a:solidFill>
              </a:rPr>
              <a:t>  </a:t>
            </a:r>
            <a:r>
              <a:rPr lang="en-IN" sz="1500" kern="0" spc="-80" dirty="0">
                <a:solidFill>
                  <a:schemeClr val="accent2"/>
                </a:solidFill>
              </a:rPr>
              <a:t>Inbound &amp; Outbound Batch Jobs</a:t>
            </a:r>
          </a:p>
          <a:p>
            <a:pPr marL="12700" marR="5080"/>
            <a:r>
              <a:rPr lang="en-IN" sz="1500" dirty="0">
                <a:latin typeface="UICTFontTextStyleBody"/>
                <a:ea typeface="Calibri" panose="020F0502020204030204" pitchFamily="34" charset="0"/>
                <a:cs typeface="Calibri" panose="020F0502020204030204" pitchFamily="34" charset="0"/>
              </a:rPr>
              <a:t>     </a:t>
            </a:r>
            <a:r>
              <a:rPr lang="en-IN" sz="1500" kern="0" spc="-80" dirty="0">
                <a:solidFill>
                  <a:schemeClr val="accent6"/>
                </a:solidFill>
                <a:latin typeface="UICTFontTextStyleBody"/>
                <a:ea typeface="Calibri" panose="020F0502020204030204" pitchFamily="34" charset="0"/>
                <a:cs typeface="Calibri" panose="020F0502020204030204" pitchFamily="34" charset="0"/>
              </a:rPr>
              <a:t>V</a:t>
            </a:r>
            <a:r>
              <a:rPr lang="en-IN" sz="1500" kern="0" spc="-80" dirty="0">
                <a:solidFill>
                  <a:schemeClr val="accent6"/>
                </a:solidFill>
              </a:rPr>
              <a:t>olume </a:t>
            </a:r>
          </a:p>
          <a:p>
            <a:pPr marL="12700" marR="5080"/>
            <a:r>
              <a:rPr lang="en-IN" sz="1500" kern="0" spc="-80" dirty="0">
                <a:solidFill>
                  <a:schemeClr val="accent6"/>
                </a:solidFill>
              </a:rPr>
              <a:t>    Duration</a:t>
            </a:r>
          </a:p>
          <a:p>
            <a:pPr marL="12700" marR="5080"/>
            <a:r>
              <a:rPr lang="en-IN" sz="1500" kern="0" spc="-80" dirty="0">
                <a:solidFill>
                  <a:schemeClr val="accent6"/>
                </a:solidFill>
              </a:rPr>
              <a:t>    Transactions/sec</a:t>
            </a: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r>
              <a:rPr lang="en-IN" sz="1600" kern="0" spc="-80" dirty="0">
                <a:solidFill>
                  <a:schemeClr val="accent2"/>
                </a:solidFill>
              </a:rPr>
              <a:t> For Further Exploration</a:t>
            </a:r>
            <a:endParaRPr lang="en-US" sz="1600" kern="0" spc="-80" dirty="0">
              <a:solidFill>
                <a:schemeClr val="accent2"/>
              </a:solidFill>
            </a:endParaRPr>
          </a:p>
          <a:p>
            <a:pPr marL="12700" marR="5080"/>
            <a:r>
              <a:rPr lang="en-US" sz="2000" dirty="0">
                <a:hlinkClick r:id="rId7"/>
              </a:rPr>
              <a:t>Benchmarking Message Queue Latency – Brave New Geek</a:t>
            </a:r>
            <a:r>
              <a:rPr lang="en-US" sz="2000" kern="0" spc="-80" dirty="0">
                <a:solidFill>
                  <a:schemeClr val="accent2"/>
                </a:solidFill>
              </a:rPr>
              <a:t> </a:t>
            </a:r>
          </a:p>
          <a:p>
            <a:pPr marL="12700" marR="5080"/>
            <a:r>
              <a:rPr lang="en-US" sz="1400" kern="0" spc="-80" dirty="0">
                <a:solidFill>
                  <a:schemeClr val="accent2"/>
                </a:solidFill>
              </a:rPr>
              <a:t> </a:t>
            </a:r>
          </a:p>
        </p:txBody>
      </p:sp>
    </p:spTree>
    <p:extLst>
      <p:ext uri="{BB962C8B-B14F-4D97-AF65-F5344CB8AC3E}">
        <p14:creationId xmlns:p14="http://schemas.microsoft.com/office/powerpoint/2010/main" val="229688333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Layer vs Tier – </a:t>
            </a:r>
          </a:p>
        </p:txBody>
      </p:sp>
      <p:pic>
        <p:nvPicPr>
          <p:cNvPr id="8" name="Picture 7">
            <a:extLst>
              <a:ext uri="{FF2B5EF4-FFF2-40B4-BE49-F238E27FC236}">
                <a16:creationId xmlns:a16="http://schemas.microsoft.com/office/drawing/2014/main" id="{6DEF562A-9398-1616-D5D9-E265B77BD155}"/>
              </a:ext>
            </a:extLst>
          </p:cNvPr>
          <p:cNvPicPr>
            <a:picLocks noChangeAspect="1"/>
          </p:cNvPicPr>
          <p:nvPr/>
        </p:nvPicPr>
        <p:blipFill>
          <a:blip r:embed="rId7"/>
          <a:stretch>
            <a:fillRect/>
          </a:stretch>
        </p:blipFill>
        <p:spPr>
          <a:xfrm>
            <a:off x="199800" y="1600200"/>
            <a:ext cx="8744399" cy="3721291"/>
          </a:xfrm>
          <a:prstGeom prst="rect">
            <a:avLst/>
          </a:prstGeom>
        </p:spPr>
      </p:pic>
    </p:spTree>
    <p:extLst>
      <p:ext uri="{BB962C8B-B14F-4D97-AF65-F5344CB8AC3E}">
        <p14:creationId xmlns:p14="http://schemas.microsoft.com/office/powerpoint/2010/main" val="86336697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Vertical vs Horizontal Scaling – </a:t>
            </a:r>
          </a:p>
        </p:txBody>
      </p:sp>
      <p:pic>
        <p:nvPicPr>
          <p:cNvPr id="9" name="Picture 8">
            <a:extLst>
              <a:ext uri="{FF2B5EF4-FFF2-40B4-BE49-F238E27FC236}">
                <a16:creationId xmlns:a16="http://schemas.microsoft.com/office/drawing/2014/main" id="{54AF0341-0816-07FD-42B5-F52CFF26FB0E}"/>
              </a:ext>
            </a:extLst>
          </p:cNvPr>
          <p:cNvPicPr>
            <a:picLocks noChangeAspect="1"/>
          </p:cNvPicPr>
          <p:nvPr/>
        </p:nvPicPr>
        <p:blipFill>
          <a:blip r:embed="rId7"/>
          <a:stretch>
            <a:fillRect/>
          </a:stretch>
        </p:blipFill>
        <p:spPr>
          <a:xfrm>
            <a:off x="381000" y="1546151"/>
            <a:ext cx="8305800" cy="4245049"/>
          </a:xfrm>
          <a:prstGeom prst="rect">
            <a:avLst/>
          </a:prstGeom>
        </p:spPr>
      </p:pic>
    </p:spTree>
    <p:extLst>
      <p:ext uri="{BB962C8B-B14F-4D97-AF65-F5344CB8AC3E}">
        <p14:creationId xmlns:p14="http://schemas.microsoft.com/office/powerpoint/2010/main" val="10809102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Scale Cube – </a:t>
            </a:r>
          </a:p>
        </p:txBody>
      </p:sp>
      <p:pic>
        <p:nvPicPr>
          <p:cNvPr id="15364" name="Picture 4" descr="The Scale Cube – Nandun Thilina Bandara">
            <a:extLst>
              <a:ext uri="{FF2B5EF4-FFF2-40B4-BE49-F238E27FC236}">
                <a16:creationId xmlns:a16="http://schemas.microsoft.com/office/drawing/2014/main" id="{71B4C2E3-F2E5-2FDA-309C-FD2013E24F6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3400" y="1562100"/>
            <a:ext cx="8229599" cy="4076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484874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34009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Layer vs Tier – </a:t>
            </a:r>
          </a:p>
          <a:p>
            <a:pPr marL="12700" marR="5080"/>
            <a:r>
              <a:rPr lang="en-US" sz="1500" kern="0" spc="-80" dirty="0">
                <a:solidFill>
                  <a:schemeClr val="accent2"/>
                </a:solidFill>
              </a:rPr>
              <a:t>     </a:t>
            </a:r>
            <a:r>
              <a:rPr lang="en-US" sz="1500" dirty="0">
                <a:hlinkClick r:id="rId7"/>
              </a:rPr>
              <a:t>What's the difference between a cake tier and a layer of cake? – My Baker</a:t>
            </a:r>
            <a:endParaRPr lang="en-US" sz="15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Horizontal vs Vertical Scaling – </a:t>
            </a:r>
          </a:p>
          <a:p>
            <a:pPr marL="12700" marR="5080"/>
            <a:r>
              <a:rPr lang="en-US" sz="1500" kern="0" spc="-80" dirty="0">
                <a:solidFill>
                  <a:schemeClr val="accent2"/>
                </a:solidFill>
              </a:rPr>
              <a:t>     </a:t>
            </a:r>
            <a:r>
              <a:rPr lang="en-IN" sz="1500" dirty="0">
                <a:hlinkClick r:id="rId8"/>
              </a:rPr>
              <a:t>Horizontal vs. Vertical Scaling: HPA, VPA &amp; Beyond | </a:t>
            </a:r>
            <a:r>
              <a:rPr lang="en-IN" sz="1500" dirty="0" err="1">
                <a:hlinkClick r:id="rId8"/>
              </a:rPr>
              <a:t>nOps</a:t>
            </a:r>
            <a:endParaRPr lang="en-US" sz="15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Scale Cube – </a:t>
            </a:r>
          </a:p>
          <a:p>
            <a:pPr marL="12700" marR="5080"/>
            <a:r>
              <a:rPr lang="en-US" sz="1500" kern="0" spc="-80" dirty="0">
                <a:solidFill>
                  <a:schemeClr val="accent2"/>
                </a:solidFill>
              </a:rPr>
              <a:t>    </a:t>
            </a:r>
            <a:r>
              <a:rPr lang="en-IN" sz="1500" dirty="0">
                <a:hlinkClick r:id="rId9"/>
              </a:rPr>
              <a:t>The Scale Cube</a:t>
            </a:r>
            <a:endParaRPr lang="en-US" sz="1500" kern="0" spc="-80" dirty="0">
              <a:solidFill>
                <a:schemeClr val="accent2"/>
              </a:solidFill>
            </a:endParaRPr>
          </a:p>
        </p:txBody>
      </p:sp>
    </p:spTree>
    <p:extLst>
      <p:ext uri="{BB962C8B-B14F-4D97-AF65-F5344CB8AC3E}">
        <p14:creationId xmlns:p14="http://schemas.microsoft.com/office/powerpoint/2010/main" val="217029420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Replication – </a:t>
            </a:r>
          </a:p>
        </p:txBody>
      </p:sp>
      <p:pic>
        <p:nvPicPr>
          <p:cNvPr id="17" name="Picture 16">
            <a:extLst>
              <a:ext uri="{FF2B5EF4-FFF2-40B4-BE49-F238E27FC236}">
                <a16:creationId xmlns:a16="http://schemas.microsoft.com/office/drawing/2014/main" id="{529E88E4-741C-576C-E09B-AFD84056C824}"/>
              </a:ext>
            </a:extLst>
          </p:cNvPr>
          <p:cNvPicPr>
            <a:picLocks noChangeAspect="1"/>
          </p:cNvPicPr>
          <p:nvPr/>
        </p:nvPicPr>
        <p:blipFill>
          <a:blip r:embed="rId7"/>
          <a:stretch>
            <a:fillRect/>
          </a:stretch>
        </p:blipFill>
        <p:spPr>
          <a:xfrm>
            <a:off x="304800" y="1524000"/>
            <a:ext cx="8624937" cy="4191000"/>
          </a:xfrm>
          <a:prstGeom prst="rect">
            <a:avLst/>
          </a:prstGeom>
        </p:spPr>
      </p:pic>
    </p:spTree>
    <p:extLst>
      <p:ext uri="{BB962C8B-B14F-4D97-AF65-F5344CB8AC3E}">
        <p14:creationId xmlns:p14="http://schemas.microsoft.com/office/powerpoint/2010/main" val="317343057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Web Stateful Replication – </a:t>
            </a:r>
          </a:p>
        </p:txBody>
      </p:sp>
      <p:pic>
        <p:nvPicPr>
          <p:cNvPr id="10" name="Picture 9">
            <a:extLst>
              <a:ext uri="{FF2B5EF4-FFF2-40B4-BE49-F238E27FC236}">
                <a16:creationId xmlns:a16="http://schemas.microsoft.com/office/drawing/2014/main" id="{1CF82766-372A-3F29-EF08-5EACB64306D7}"/>
              </a:ext>
            </a:extLst>
          </p:cNvPr>
          <p:cNvPicPr>
            <a:picLocks noChangeAspect="1"/>
          </p:cNvPicPr>
          <p:nvPr/>
        </p:nvPicPr>
        <p:blipFill>
          <a:blip r:embed="rId7"/>
          <a:stretch>
            <a:fillRect/>
          </a:stretch>
        </p:blipFill>
        <p:spPr>
          <a:xfrm>
            <a:off x="381000" y="1524000"/>
            <a:ext cx="8305799" cy="4191000"/>
          </a:xfrm>
          <a:prstGeom prst="rect">
            <a:avLst/>
          </a:prstGeom>
        </p:spPr>
      </p:pic>
    </p:spTree>
    <p:extLst>
      <p:ext uri="{BB962C8B-B14F-4D97-AF65-F5344CB8AC3E}">
        <p14:creationId xmlns:p14="http://schemas.microsoft.com/office/powerpoint/2010/main" val="30138226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Web/Service Stateless Replication – </a:t>
            </a:r>
          </a:p>
        </p:txBody>
      </p:sp>
      <p:pic>
        <p:nvPicPr>
          <p:cNvPr id="11" name="Picture 10">
            <a:extLst>
              <a:ext uri="{FF2B5EF4-FFF2-40B4-BE49-F238E27FC236}">
                <a16:creationId xmlns:a16="http://schemas.microsoft.com/office/drawing/2014/main" id="{711826C6-3270-3BDE-DC5D-76050EB66535}"/>
              </a:ext>
            </a:extLst>
          </p:cNvPr>
          <p:cNvPicPr>
            <a:picLocks noChangeAspect="1"/>
          </p:cNvPicPr>
          <p:nvPr/>
        </p:nvPicPr>
        <p:blipFill>
          <a:blip r:embed="rId7"/>
          <a:stretch>
            <a:fillRect/>
          </a:stretch>
        </p:blipFill>
        <p:spPr>
          <a:xfrm>
            <a:off x="381000" y="1524000"/>
            <a:ext cx="8305799" cy="4267200"/>
          </a:xfrm>
          <a:prstGeom prst="rect">
            <a:avLst/>
          </a:prstGeom>
        </p:spPr>
      </p:pic>
    </p:spTree>
    <p:extLst>
      <p:ext uri="{BB962C8B-B14F-4D97-AF65-F5344CB8AC3E}">
        <p14:creationId xmlns:p14="http://schemas.microsoft.com/office/powerpoint/2010/main" val="18093412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DB Replication – </a:t>
            </a:r>
          </a:p>
        </p:txBody>
      </p:sp>
      <p:pic>
        <p:nvPicPr>
          <p:cNvPr id="11" name="Picture 10">
            <a:extLst>
              <a:ext uri="{FF2B5EF4-FFF2-40B4-BE49-F238E27FC236}">
                <a16:creationId xmlns:a16="http://schemas.microsoft.com/office/drawing/2014/main" id="{435311F0-0EC9-DE29-971B-4049E74B01E7}"/>
              </a:ext>
            </a:extLst>
          </p:cNvPr>
          <p:cNvPicPr>
            <a:picLocks noChangeAspect="1"/>
          </p:cNvPicPr>
          <p:nvPr/>
        </p:nvPicPr>
        <p:blipFill>
          <a:blip r:embed="rId7"/>
          <a:stretch>
            <a:fillRect/>
          </a:stretch>
        </p:blipFill>
        <p:spPr>
          <a:xfrm>
            <a:off x="152400" y="1524000"/>
            <a:ext cx="8701137" cy="3962400"/>
          </a:xfrm>
          <a:prstGeom prst="rect">
            <a:avLst/>
          </a:prstGeom>
        </p:spPr>
      </p:pic>
    </p:spTree>
    <p:extLst>
      <p:ext uri="{BB962C8B-B14F-4D97-AF65-F5344CB8AC3E}">
        <p14:creationId xmlns:p14="http://schemas.microsoft.com/office/powerpoint/2010/main" val="393891408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DB Replication </a:t>
            </a:r>
            <a:r>
              <a:rPr lang="en-US" sz="2400" kern="0" spc="-80" dirty="0" err="1">
                <a:solidFill>
                  <a:schemeClr val="accent2"/>
                </a:solidFill>
              </a:rPr>
              <a:t>contd</a:t>
            </a:r>
            <a:r>
              <a:rPr lang="en-US" sz="2400" kern="0" spc="-80" dirty="0">
                <a:solidFill>
                  <a:schemeClr val="accent2"/>
                </a:solidFill>
              </a:rPr>
              <a:t> … – </a:t>
            </a:r>
          </a:p>
        </p:txBody>
      </p:sp>
      <p:pic>
        <p:nvPicPr>
          <p:cNvPr id="8" name="Picture 7">
            <a:extLst>
              <a:ext uri="{FF2B5EF4-FFF2-40B4-BE49-F238E27FC236}">
                <a16:creationId xmlns:a16="http://schemas.microsoft.com/office/drawing/2014/main" id="{AA74FD71-1BA4-EB23-3CD6-5E213AA3DA5B}"/>
              </a:ext>
            </a:extLst>
          </p:cNvPr>
          <p:cNvPicPr>
            <a:picLocks noChangeAspect="1"/>
          </p:cNvPicPr>
          <p:nvPr/>
        </p:nvPicPr>
        <p:blipFill>
          <a:blip r:embed="rId7"/>
          <a:stretch>
            <a:fillRect/>
          </a:stretch>
        </p:blipFill>
        <p:spPr>
          <a:xfrm>
            <a:off x="381000" y="1524000"/>
            <a:ext cx="8382000" cy="3705225"/>
          </a:xfrm>
          <a:prstGeom prst="rect">
            <a:avLst/>
          </a:prstGeom>
        </p:spPr>
      </p:pic>
    </p:spTree>
    <p:extLst>
      <p:ext uri="{BB962C8B-B14F-4D97-AF65-F5344CB8AC3E}">
        <p14:creationId xmlns:p14="http://schemas.microsoft.com/office/powerpoint/2010/main" val="315331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9067800"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Partitioning(needed for Distributed Stateful components </a:t>
            </a:r>
          </a:p>
          <a:p>
            <a:pPr marL="12700" marR="5080"/>
            <a:r>
              <a:rPr lang="en-US" sz="2400" kern="0" spc="-80" dirty="0">
                <a:solidFill>
                  <a:schemeClr val="accent2"/>
                </a:solidFill>
              </a:rPr>
              <a:t>   [DBs/MQs/Caches </a:t>
            </a:r>
            <a:r>
              <a:rPr lang="en-US" sz="2400" kern="0" spc="-80" dirty="0" err="1">
                <a:solidFill>
                  <a:schemeClr val="accent2"/>
                </a:solidFill>
              </a:rPr>
              <a:t>etc</a:t>
            </a:r>
            <a:r>
              <a:rPr lang="en-US" sz="2400" kern="0" spc="-80" dirty="0">
                <a:solidFill>
                  <a:schemeClr val="accent2"/>
                </a:solidFill>
              </a:rPr>
              <a:t>]) – </a:t>
            </a:r>
          </a:p>
        </p:txBody>
      </p:sp>
      <p:pic>
        <p:nvPicPr>
          <p:cNvPr id="9" name="Picture 8">
            <a:extLst>
              <a:ext uri="{FF2B5EF4-FFF2-40B4-BE49-F238E27FC236}">
                <a16:creationId xmlns:a16="http://schemas.microsoft.com/office/drawing/2014/main" id="{7BC767CD-61CA-9F80-FB25-24DBB1579905}"/>
              </a:ext>
            </a:extLst>
          </p:cNvPr>
          <p:cNvPicPr>
            <a:picLocks noChangeAspect="1"/>
          </p:cNvPicPr>
          <p:nvPr/>
        </p:nvPicPr>
        <p:blipFill>
          <a:blip r:embed="rId7"/>
          <a:stretch>
            <a:fillRect/>
          </a:stretch>
        </p:blipFill>
        <p:spPr>
          <a:xfrm>
            <a:off x="324080" y="1908732"/>
            <a:ext cx="8534400" cy="3265426"/>
          </a:xfrm>
          <a:prstGeom prst="rect">
            <a:avLst/>
          </a:prstGeom>
        </p:spPr>
      </p:pic>
      <p:sp>
        <p:nvSpPr>
          <p:cNvPr id="7" name="object 2">
            <a:extLst>
              <a:ext uri="{FF2B5EF4-FFF2-40B4-BE49-F238E27FC236}">
                <a16:creationId xmlns:a16="http://schemas.microsoft.com/office/drawing/2014/main" id="{BF3BCAB5-22DA-44A3-F0B6-14643EB78872}"/>
              </a:ext>
            </a:extLst>
          </p:cNvPr>
          <p:cNvSpPr txBox="1">
            <a:spLocks/>
          </p:cNvSpPr>
          <p:nvPr/>
        </p:nvSpPr>
        <p:spPr>
          <a:xfrm>
            <a:off x="278811" y="5049551"/>
            <a:ext cx="8624937" cy="8771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100" dirty="0">
                <a:hlinkClick r:id="rId8"/>
              </a:rPr>
              <a:t>Consistent Hashing Explained</a:t>
            </a:r>
            <a:endParaRPr lang="en-US" sz="1100" dirty="0"/>
          </a:p>
          <a:p>
            <a:pPr marL="12700" marR="5080"/>
            <a:r>
              <a:rPr lang="en-US" sz="1100" dirty="0">
                <a:hlinkClick r:id="rId9"/>
              </a:rPr>
              <a:t>The Ultimate Guide to Consistent Hashing | </a:t>
            </a:r>
            <a:r>
              <a:rPr lang="en-US" sz="1100" dirty="0" err="1">
                <a:hlinkClick r:id="rId9"/>
              </a:rPr>
              <a:t>Toptal</a:t>
            </a:r>
            <a:r>
              <a:rPr lang="en-US" sz="1100" dirty="0">
                <a:hlinkClick r:id="rId9"/>
              </a:rPr>
              <a:t>®</a:t>
            </a:r>
            <a:endParaRPr lang="en-US" sz="1100" dirty="0"/>
          </a:p>
          <a:p>
            <a:pPr marL="12700" marR="5080"/>
            <a:r>
              <a:rPr lang="en-US" sz="1100" dirty="0">
                <a:hlinkClick r:id="rId10"/>
              </a:rPr>
              <a:t>How data is distributed across a cluster (using virtual nodes)</a:t>
            </a:r>
            <a:endParaRPr lang="en-US" sz="1100" kern="0" spc="-80" dirty="0">
              <a:solidFill>
                <a:schemeClr val="accent2"/>
              </a:solidFill>
            </a:endParaRPr>
          </a:p>
        </p:txBody>
      </p:sp>
    </p:spTree>
    <p:extLst>
      <p:ext uri="{BB962C8B-B14F-4D97-AF65-F5344CB8AC3E}">
        <p14:creationId xmlns:p14="http://schemas.microsoft.com/office/powerpoint/2010/main" val="242198700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01058" y="5727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1800" kern="0" spc="-80" dirty="0">
                <a:solidFill>
                  <a:schemeClr val="accent2"/>
                </a:solidFill>
              </a:rPr>
              <a:t>For Further Exploration(Replication [&amp; Partitioning]) –</a:t>
            </a:r>
            <a:r>
              <a:rPr lang="en-US" sz="2400" kern="0" spc="-80" dirty="0">
                <a:solidFill>
                  <a:schemeClr val="accent2"/>
                </a:solidFill>
              </a:rPr>
              <a:t> </a:t>
            </a:r>
          </a:p>
          <a:p>
            <a:pPr marL="12700" marR="5080"/>
            <a:r>
              <a:rPr lang="en-US" sz="1400" kern="0" spc="-80" dirty="0">
                <a:solidFill>
                  <a:schemeClr val="accent2"/>
                </a:solidFill>
              </a:rPr>
              <a:t>Distributed Events Ordering(Physical vs Logical vs Vector Clock) </a:t>
            </a:r>
          </a:p>
          <a:p>
            <a:pPr marL="12700" marR="5080"/>
            <a:r>
              <a:rPr lang="en-US" sz="1500" dirty="0">
                <a:hlinkClick r:id="rId8"/>
              </a:rPr>
              <a:t>Distributed Systems: Physical, Logical, and Vector Clocks</a:t>
            </a:r>
            <a:endParaRPr lang="en-US" sz="1500" dirty="0"/>
          </a:p>
          <a:p>
            <a:pPr marL="12700" marR="5080"/>
            <a:r>
              <a:rPr lang="en-IN" sz="1500" dirty="0">
                <a:hlinkClick r:id="rId9"/>
              </a:rPr>
              <a:t>Distributed Systems Clocks | LinkedIn</a:t>
            </a:r>
            <a:endParaRPr lang="en-IN" sz="1500" dirty="0"/>
          </a:p>
          <a:p>
            <a:pPr marL="12700" marR="5080"/>
            <a:r>
              <a:rPr lang="en-US" sz="1400" kern="0" spc="-80" dirty="0">
                <a:solidFill>
                  <a:schemeClr val="accent2"/>
                </a:solidFill>
              </a:rPr>
              <a:t>Leader Election – </a:t>
            </a:r>
          </a:p>
          <a:p>
            <a:pPr marL="12700" marR="5080"/>
            <a:r>
              <a:rPr lang="en-US" sz="1500" dirty="0">
                <a:hlinkClick r:id="rId10"/>
              </a:rPr>
              <a:t>Leader Election pattern - Azure Architecture Center | Microsoft Learn</a:t>
            </a:r>
            <a:r>
              <a:rPr lang="en-US" sz="1500" kern="0" spc="-80" dirty="0">
                <a:solidFill>
                  <a:schemeClr val="accent2"/>
                </a:solidFill>
              </a:rPr>
              <a:t>   </a:t>
            </a:r>
          </a:p>
          <a:p>
            <a:pPr marL="12700" marR="5080"/>
            <a:r>
              <a:rPr lang="en-US" sz="1500" dirty="0">
                <a:hlinkClick r:id="rId11"/>
              </a:rPr>
              <a:t>How does the leader election in Raft work?</a:t>
            </a:r>
            <a:endParaRPr lang="en-US" sz="1500" dirty="0"/>
          </a:p>
          <a:p>
            <a:pPr marL="12700" marR="5080"/>
            <a:r>
              <a:rPr lang="en-US" sz="1400" kern="0" spc="-80" dirty="0" err="1">
                <a:solidFill>
                  <a:schemeClr val="accent2"/>
                </a:solidFill>
              </a:rPr>
              <a:t>tate</a:t>
            </a:r>
            <a:r>
              <a:rPr lang="en-US" sz="1400" kern="0" spc="-80" dirty="0">
                <a:solidFill>
                  <a:schemeClr val="accent2"/>
                </a:solidFill>
              </a:rPr>
              <a:t> Machine Replication(PAXOS vs RAFT vs ZAB) - </a:t>
            </a:r>
          </a:p>
          <a:p>
            <a:pPr marL="12700" marR="5080"/>
            <a:r>
              <a:rPr lang="en-IN" sz="1500" dirty="0">
                <a:hlinkClick r:id="rId12"/>
              </a:rPr>
              <a:t>Paxos vs. Raft vs. ZAB</a:t>
            </a:r>
            <a:endParaRPr lang="en-IN" sz="1500" dirty="0"/>
          </a:p>
          <a:p>
            <a:pPr marL="12700" marR="5080"/>
            <a:r>
              <a:rPr lang="en-US" sz="1400" kern="0" spc="-80" dirty="0">
                <a:solidFill>
                  <a:schemeClr val="accent2"/>
                </a:solidFill>
              </a:rPr>
              <a:t>Chain Replication - </a:t>
            </a:r>
            <a:r>
              <a:rPr lang="en-US" sz="1500" dirty="0">
                <a:hlinkClick r:id="rId13"/>
              </a:rPr>
              <a:t>Chain replication : how to build an effective KV-storage (part 1/2)</a:t>
            </a:r>
            <a:endParaRPr lang="en-US" sz="1500" dirty="0"/>
          </a:p>
          <a:p>
            <a:pPr marL="12700" marR="5080"/>
            <a:r>
              <a:rPr lang="en-US" sz="1400" kern="0" spc="-80" dirty="0">
                <a:solidFill>
                  <a:schemeClr val="accent2"/>
                </a:solidFill>
              </a:rPr>
              <a:t>CRDTs(Conflict Free Replicated Data Types) - </a:t>
            </a:r>
            <a:r>
              <a:rPr lang="en-US" sz="1500" dirty="0">
                <a:hlinkClick r:id="rId14"/>
              </a:rPr>
              <a:t>A Look at CRDT</a:t>
            </a:r>
            <a:endParaRPr lang="en-US" sz="1500" dirty="0"/>
          </a:p>
          <a:p>
            <a:pPr marL="12700" marR="5080"/>
            <a:r>
              <a:rPr lang="en-US" sz="1400" kern="0" spc="-80" dirty="0">
                <a:solidFill>
                  <a:schemeClr val="accent2"/>
                </a:solidFill>
              </a:rPr>
              <a:t>Broadcast Protocols in Distributed Systems –  </a:t>
            </a:r>
          </a:p>
          <a:p>
            <a:pPr marL="12700" marR="5080"/>
            <a:r>
              <a:rPr lang="en-US" sz="1500" dirty="0">
                <a:hlinkClick r:id="rId15"/>
              </a:rPr>
              <a:t>Broadcast protocols in distributed computer control systems – ScienceDirect</a:t>
            </a:r>
            <a:endParaRPr lang="en-US" sz="1500" dirty="0"/>
          </a:p>
          <a:p>
            <a:pPr marL="12700" marR="5080"/>
            <a:r>
              <a:rPr lang="en-US" sz="1400" kern="0" spc="-80" dirty="0">
                <a:solidFill>
                  <a:schemeClr val="accent2"/>
                </a:solidFill>
              </a:rPr>
              <a:t>Dynamo Style Stores - </a:t>
            </a:r>
            <a:r>
              <a:rPr lang="en-US" sz="1500" dirty="0">
                <a:hlinkClick r:id="rId16"/>
              </a:rPr>
              <a:t>System Design Concepts: Dynamo</a:t>
            </a:r>
            <a:endParaRPr lang="en-US" sz="1500" dirty="0"/>
          </a:p>
          <a:p>
            <a:pPr marL="12700" marR="5080"/>
            <a:r>
              <a:rPr lang="en-US" sz="1400" kern="0" spc="-80" dirty="0">
                <a:solidFill>
                  <a:schemeClr val="accent2"/>
                </a:solidFill>
              </a:rPr>
              <a:t>Co-Ordination Avoidance &amp; CALM Theorem - </a:t>
            </a:r>
            <a:r>
              <a:rPr lang="en-US" sz="1500" dirty="0">
                <a:hlinkClick r:id="rId17"/>
              </a:rPr>
              <a:t>Avoiding Coordination Cost</a:t>
            </a:r>
            <a:endParaRPr lang="en-US" sz="1500" dirty="0"/>
          </a:p>
          <a:p>
            <a:pPr marL="12700" marR="5080"/>
            <a:r>
              <a:rPr lang="en-US" sz="1500" kern="0" spc="-80" dirty="0">
                <a:solidFill>
                  <a:schemeClr val="accent2"/>
                </a:solidFill>
              </a:rPr>
              <a:t>DB Sharding vs Partitioning - </a:t>
            </a:r>
            <a:r>
              <a:rPr lang="en-US" sz="1600" dirty="0">
                <a:hlinkClick r:id="rId18"/>
              </a:rPr>
              <a:t>Sharding vs Partitioning: Understanding Database Distribution Methods | </a:t>
            </a:r>
            <a:r>
              <a:rPr lang="en-US" sz="1600">
                <a:hlinkClick r:id="rId18"/>
              </a:rPr>
              <a:t>DataCamp</a:t>
            </a:r>
            <a:endParaRPr lang="en-US" sz="1500" kern="0" spc="-80" dirty="0">
              <a:solidFill>
                <a:schemeClr val="accent2"/>
              </a:solidFill>
            </a:endParaRPr>
          </a:p>
        </p:txBody>
      </p:sp>
    </p:spTree>
    <p:extLst>
      <p:ext uri="{BB962C8B-B14F-4D97-AF65-F5344CB8AC3E}">
        <p14:creationId xmlns:p14="http://schemas.microsoft.com/office/powerpoint/2010/main" val="41053442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102239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1600" kern="0" spc="-80" dirty="0">
                <a:solidFill>
                  <a:schemeClr val="accent2"/>
                </a:solidFill>
              </a:rPr>
              <a:t>   </a:t>
            </a:r>
            <a:r>
              <a:rPr lang="en-US" sz="1200" kern="0" spc="-80" dirty="0">
                <a:solidFill>
                  <a:schemeClr val="accent2"/>
                </a:solidFill>
              </a:rPr>
              <a:t>Throughput – </a:t>
            </a:r>
            <a:r>
              <a:rPr lang="en-US" sz="1200" kern="0" spc="-80" dirty="0">
                <a:solidFill>
                  <a:schemeClr val="accent6"/>
                </a:solidFill>
              </a:rPr>
              <a:t>Number of requests(/transactions) served by a (Web/App/DB) server.</a:t>
            </a:r>
          </a:p>
          <a:p>
            <a:pPr marL="12700" marR="5080"/>
            <a:r>
              <a:rPr lang="en-US" sz="1200" kern="0" spc="-80" dirty="0">
                <a:solidFill>
                  <a:schemeClr val="accent2"/>
                </a:solidFill>
              </a:rPr>
              <a:t>    Ways to Improve Throughput</a:t>
            </a:r>
            <a:r>
              <a:rPr lang="en-US" sz="1200" kern="0" spc="-80" dirty="0">
                <a:solidFill>
                  <a:schemeClr val="accent6"/>
                </a:solidFill>
              </a:rPr>
              <a:t> – </a:t>
            </a:r>
          </a:p>
          <a:p>
            <a:pPr marL="12700" marR="5080"/>
            <a:r>
              <a:rPr lang="en-US" sz="1200" kern="0" spc="-80" dirty="0">
                <a:solidFill>
                  <a:schemeClr val="accent6"/>
                </a:solidFill>
              </a:rPr>
              <a:t>    1) Load Balancers &amp; Horizontal Scaling</a:t>
            </a:r>
          </a:p>
          <a:p>
            <a:pPr marL="12700" marR="5080"/>
            <a:r>
              <a:rPr lang="en-US" sz="1200" kern="0" spc="-80" dirty="0">
                <a:solidFill>
                  <a:schemeClr val="accent6"/>
                </a:solidFill>
              </a:rPr>
              <a:t>    2) Asynchronous Processing (mainly to increase write throughput)</a:t>
            </a:r>
          </a:p>
          <a:p>
            <a:pPr marL="12700" marR="5080"/>
            <a:r>
              <a:rPr lang="en-US" sz="1200" kern="0" spc="-80" dirty="0">
                <a:solidFill>
                  <a:schemeClr val="accent6"/>
                </a:solidFill>
              </a:rPr>
              <a:t>    3) Use Partitioning to increase Write Throughput while use Replication to increase Read Throughput</a:t>
            </a:r>
          </a:p>
          <a:p>
            <a:pPr marL="12700" marR="5080"/>
            <a:r>
              <a:rPr lang="en-US" sz="1200" kern="0" spc="-80" dirty="0">
                <a:solidFill>
                  <a:schemeClr val="accent6"/>
                </a:solidFill>
              </a:rPr>
              <a:t>      </a:t>
            </a:r>
            <a:r>
              <a:rPr lang="en-US" sz="1200" kern="0" spc="-80" dirty="0">
                <a:solidFill>
                  <a:schemeClr val="accent2"/>
                </a:solidFill>
              </a:rPr>
              <a:t>Auto-Elastic Scalability Techniques(Reactive Techniques are Rule Based &amp; State of the Art Proactive Techniques are ML based) – </a:t>
            </a:r>
          </a:p>
          <a:p>
            <a:pPr marL="12700" marR="5080"/>
            <a:r>
              <a:rPr lang="en-US" sz="1200" kern="0" spc="-80" dirty="0">
                <a:solidFill>
                  <a:schemeClr val="accent2"/>
                </a:solidFill>
              </a:rPr>
              <a:t>  </a:t>
            </a:r>
            <a:r>
              <a:rPr lang="en-IN" sz="1200" dirty="0">
                <a:hlinkClick r:id="rId7"/>
              </a:rPr>
              <a:t>autoscaling_survey.pdf</a:t>
            </a:r>
            <a:endParaRPr lang="en-US" sz="1200" kern="0" spc="-80" dirty="0">
              <a:solidFill>
                <a:schemeClr val="accent2"/>
              </a:solidFill>
            </a:endParaRPr>
          </a:p>
          <a:p>
            <a:pPr marL="12700" marR="5080"/>
            <a:r>
              <a:rPr lang="en-US" sz="1400" kern="0" spc="-80" dirty="0">
                <a:solidFill>
                  <a:schemeClr val="accent2"/>
                </a:solidFill>
              </a:rPr>
              <a:t>       For Further Exploration – </a:t>
            </a:r>
          </a:p>
          <a:p>
            <a:pPr marL="12700" marR="5080"/>
            <a:r>
              <a:rPr lang="en-US" sz="1000" kern="0" spc="-80" dirty="0">
                <a:solidFill>
                  <a:schemeClr val="accent2"/>
                </a:solidFill>
              </a:rPr>
              <a:t>  </a:t>
            </a:r>
            <a:r>
              <a:rPr lang="en-IN" sz="1000" dirty="0">
                <a:hlinkClick r:id="rId8"/>
              </a:rPr>
              <a:t>8 Must Strategies for System Scaling | Feed | LinkedIn</a:t>
            </a:r>
            <a:endParaRPr lang="en-IN" sz="1000" dirty="0"/>
          </a:p>
          <a:p>
            <a:pPr marL="12700" marR="5080"/>
            <a:r>
              <a:rPr lang="en-IN" sz="1000" dirty="0"/>
              <a:t>  </a:t>
            </a:r>
            <a:r>
              <a:rPr lang="en-IN" sz="1000" dirty="0">
                <a:hlinkClick r:id="rId9"/>
              </a:rPr>
              <a:t>7 Must Strategies for DB Scaling | LinkedIn</a:t>
            </a:r>
            <a:endParaRPr lang="en-IN" sz="1000" dirty="0"/>
          </a:p>
          <a:p>
            <a:pPr marL="12700" marR="5080"/>
            <a:r>
              <a:rPr lang="en-IN" sz="1000" dirty="0"/>
              <a:t>  </a:t>
            </a:r>
            <a:r>
              <a:rPr lang="en-US" sz="1000" dirty="0">
                <a:hlinkClick r:id="rId10"/>
              </a:rPr>
              <a:t>Art of Scalability</a:t>
            </a:r>
            <a:endParaRPr lang="en-US" sz="1000" dirty="0"/>
          </a:p>
          <a:p>
            <a:pPr marL="12700" marR="5080"/>
            <a:r>
              <a:rPr lang="en-US" sz="1000" dirty="0"/>
              <a:t>  </a:t>
            </a:r>
            <a:r>
              <a:rPr lang="en-US" sz="1000" dirty="0">
                <a:hlinkClick r:id="rId11"/>
              </a:rPr>
              <a:t>The Art of Capacity Planning, 2nd Edition [Book]</a:t>
            </a:r>
            <a:endParaRPr lang="en-US" sz="1000" dirty="0"/>
          </a:p>
          <a:p>
            <a:pPr marL="12700" marR="5080"/>
            <a:r>
              <a:rPr lang="en-US" sz="1000" dirty="0"/>
              <a:t>  </a:t>
            </a:r>
            <a:r>
              <a:rPr lang="en-IN" sz="1000" dirty="0">
                <a:hlinkClick r:id="rId12"/>
              </a:rPr>
              <a:t>Scalability Rules: 50 Principles for Scaling Web Sites eBook</a:t>
            </a:r>
            <a:endParaRPr lang="en-IN" sz="1000" dirty="0"/>
          </a:p>
          <a:p>
            <a:pPr marL="12700" marR="5080"/>
            <a:r>
              <a:rPr lang="en-IN" sz="1000" dirty="0"/>
              <a:t>  </a:t>
            </a:r>
            <a:r>
              <a:rPr lang="en-US" sz="1000" dirty="0">
                <a:hlinkClick r:id="rId13"/>
              </a:rPr>
              <a:t>Web Operations: Keeping the Data On Time eBook</a:t>
            </a:r>
            <a:endParaRPr lang="en-US" sz="1000" dirty="0"/>
          </a:p>
          <a:p>
            <a:pPr marL="12700" marR="5080"/>
            <a:r>
              <a:rPr lang="en-IN" sz="1000" dirty="0"/>
              <a:t>  </a:t>
            </a:r>
            <a:r>
              <a:rPr lang="en-US" sz="1000" dirty="0">
                <a:hlinkClick r:id="rId14"/>
              </a:rPr>
              <a:t>Scaling Pods and Nodes in K8s | Build Intelligent Apps On Azure</a:t>
            </a:r>
            <a:endParaRPr lang="en-US" sz="1000" dirty="0"/>
          </a:p>
          <a:p>
            <a:pPr marL="12700" marR="5080"/>
            <a:r>
              <a:rPr lang="en-US" sz="1000" dirty="0"/>
              <a:t>  </a:t>
            </a:r>
            <a:r>
              <a:rPr lang="en-IN" sz="1000" dirty="0">
                <a:hlinkClick r:id="rId15"/>
              </a:rPr>
              <a:t>Scale applications in Azure Kubernetes Services (AKS) - Azure Kubernetes Service | Microsoft Learn</a:t>
            </a:r>
            <a:endParaRPr lang="en-IN" sz="1000" dirty="0"/>
          </a:p>
          <a:p>
            <a:pPr marL="12700" marR="5080"/>
            <a:r>
              <a:rPr lang="en-IN" sz="1000" dirty="0"/>
              <a:t>  </a:t>
            </a:r>
            <a:r>
              <a:rPr lang="en-US" sz="1000" dirty="0">
                <a:hlinkClick r:id="rId16"/>
              </a:rPr>
              <a:t>Performance and scaling best practices for small to medium workloads in Azure Kubernetes Service (AKS)</a:t>
            </a:r>
            <a:endParaRPr lang="en-US" sz="1000" dirty="0"/>
          </a:p>
          <a:p>
            <a:pPr marL="12700" marR="5080"/>
            <a:r>
              <a:rPr lang="en-US" sz="1000" dirty="0"/>
              <a:t>  </a:t>
            </a:r>
            <a:r>
              <a:rPr lang="en-US" sz="1000" dirty="0">
                <a:hlinkClick r:id="rId17"/>
              </a:rPr>
              <a:t>Azure Service Bus - Automatically update messaging units - Azure Service Bus | Microsoft Learn</a:t>
            </a:r>
            <a:endParaRPr lang="en-US" sz="1000" dirty="0"/>
          </a:p>
          <a:p>
            <a:pPr marL="12700" marR="5080"/>
            <a:r>
              <a:rPr lang="en-US" sz="1000" dirty="0"/>
              <a:t>  </a:t>
            </a:r>
            <a:r>
              <a:rPr lang="en-US" sz="1000" dirty="0">
                <a:hlinkClick r:id="rId18"/>
              </a:rPr>
              <a:t>Microsoft Azure Service Bus quotas and limits - Azure Service Bus | Microsoft Learn</a:t>
            </a:r>
            <a:r>
              <a:rPr lang="en-US" sz="1000" dirty="0"/>
              <a:t>(</a:t>
            </a:r>
            <a:r>
              <a:rPr lang="en-US" sz="1200" kern="0" spc="-80" dirty="0">
                <a:solidFill>
                  <a:schemeClr val="accent6"/>
                </a:solidFill>
              </a:rPr>
              <a:t>an Azure SB topic/queue/subscription doesn’t allow more than 5K concurrent requests and so  topics/queues/subscriptions might have to be [auto]scaled if &gt; 5K concurrent requests needed to be supported or some sort of chunking/batching needs to be there from the publisher end[</a:t>
            </a:r>
            <a:r>
              <a:rPr lang="en-US" sz="1200" dirty="0">
                <a:hlinkClick r:id="rId19"/>
              </a:rPr>
              <a:t>Sending Large Batches to Azure Service Bus | Mikhail </a:t>
            </a:r>
            <a:r>
              <a:rPr lang="en-US" sz="1200" dirty="0" err="1">
                <a:hlinkClick r:id="rId19"/>
              </a:rPr>
              <a:t>Shilkov</a:t>
            </a:r>
            <a:r>
              <a:rPr lang="en-US" sz="1200" dirty="0"/>
              <a:t> – </a:t>
            </a:r>
            <a:r>
              <a:rPr lang="en-US" sz="1200" kern="0" spc="-80" dirty="0">
                <a:solidFill>
                  <a:schemeClr val="accent6"/>
                </a:solidFill>
              </a:rPr>
              <a:t>seems even a batch request is considered as a single request but need to test this]).Sometimes Batching can solve timeout issues as well.</a:t>
            </a:r>
          </a:p>
          <a:p>
            <a:pPr marL="12700" marR="5080"/>
            <a:r>
              <a:rPr lang="en-US" sz="1000" dirty="0"/>
              <a:t>  </a:t>
            </a:r>
            <a:r>
              <a:rPr lang="en-IN" sz="1000" dirty="0">
                <a:hlinkClick r:id="rId20"/>
              </a:rPr>
              <a:t>Kubernetes Event-driven Autoscaling (KEDA) - Azure Kubernetes Service | Microsoft Learn</a:t>
            </a:r>
            <a:r>
              <a:rPr lang="en-US" sz="1000" dirty="0"/>
              <a:t> </a:t>
            </a:r>
            <a:r>
              <a:rPr lang="en-US" sz="1000" kern="0" spc="-80" dirty="0">
                <a:solidFill>
                  <a:schemeClr val="accent2"/>
                </a:solidFill>
              </a:rPr>
              <a:t>       </a:t>
            </a:r>
          </a:p>
          <a:p>
            <a:pPr marL="12700" marR="5080"/>
            <a:r>
              <a:rPr lang="en-US" sz="1000" kern="0" spc="-80" dirty="0">
                <a:solidFill>
                  <a:schemeClr val="accent2"/>
                </a:solidFill>
              </a:rPr>
              <a:t>   </a:t>
            </a:r>
            <a:r>
              <a:rPr lang="en-US" sz="1000" dirty="0" err="1">
                <a:hlinkClick r:id="rId21"/>
              </a:rPr>
              <a:t>KEDA_Related_Query_Answered_By_ChatGPT</a:t>
            </a:r>
            <a:r>
              <a:rPr lang="en-US" sz="1000" dirty="0">
                <a:hlinkClick r:id="rId21"/>
              </a:rPr>
              <a:t> · GitHub</a:t>
            </a:r>
            <a:endParaRPr lang="en-US" sz="1000" kern="0" spc="-80" dirty="0">
              <a:solidFill>
                <a:schemeClr val="accent2"/>
              </a:solidFill>
            </a:endParaRPr>
          </a:p>
          <a:p>
            <a:pPr marL="12700" marR="5080"/>
            <a:r>
              <a:rPr lang="en-US" sz="900" kern="0" spc="-80" dirty="0">
                <a:solidFill>
                  <a:schemeClr val="accent2"/>
                </a:solidFill>
              </a:rPr>
              <a:t>  </a:t>
            </a:r>
          </a:p>
          <a:p>
            <a:pPr marL="12700" marR="5080"/>
            <a:r>
              <a:rPr lang="en-US" sz="900" kern="0" spc="-80" dirty="0">
                <a:solidFill>
                  <a:schemeClr val="accent2"/>
                </a:solidFill>
              </a:rPr>
              <a:t>    </a:t>
            </a:r>
          </a:p>
        </p:txBody>
      </p:sp>
    </p:spTree>
    <p:extLst>
      <p:ext uri="{BB962C8B-B14F-4D97-AF65-F5344CB8AC3E}">
        <p14:creationId xmlns:p14="http://schemas.microsoft.com/office/powerpoint/2010/main" val="40104053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a:t>
            </a:r>
            <a:r>
              <a:rPr lang="en-US" sz="1400" kern="0" spc="-80" dirty="0">
                <a:solidFill>
                  <a:schemeClr val="accent2"/>
                </a:solidFill>
              </a:rPr>
              <a:t>Total System Availability/Reliability – How to measure? </a:t>
            </a:r>
          </a:p>
          <a:p>
            <a:pPr marL="12700" marR="5080"/>
            <a:r>
              <a:rPr lang="en-US" sz="1400" kern="0" spc="-80" dirty="0">
                <a:solidFill>
                  <a:schemeClr val="accent2"/>
                </a:solidFill>
              </a:rPr>
              <a:t>   </a:t>
            </a:r>
            <a:r>
              <a:rPr lang="en-IN" sz="1400" dirty="0">
                <a:hlinkClick r:id="rId7"/>
              </a:rPr>
              <a:t>System Reliability and Availability</a:t>
            </a:r>
            <a:endParaRPr lang="en-IN" sz="1400" dirty="0"/>
          </a:p>
          <a:p>
            <a:pPr marL="12700" marR="5080"/>
            <a:r>
              <a:rPr lang="en-IN" sz="1400" dirty="0"/>
              <a:t>   </a:t>
            </a:r>
            <a:r>
              <a:rPr lang="en-US" sz="1400" dirty="0">
                <a:hlinkClick r:id="rId8"/>
              </a:rPr>
              <a:t>Calculating Total System Availability</a:t>
            </a:r>
            <a:endParaRPr lang="en-US" sz="1400" dirty="0"/>
          </a:p>
          <a:p>
            <a:pPr marL="12700" marR="5080"/>
            <a:r>
              <a:rPr lang="en-US" sz="1400" kern="0" spc="-80" dirty="0">
                <a:solidFill>
                  <a:schemeClr val="accent2"/>
                </a:solidFill>
              </a:rPr>
              <a:t>    </a:t>
            </a:r>
            <a:r>
              <a:rPr lang="en-US" sz="1400" dirty="0">
                <a:hlinkClick r:id="rId9"/>
              </a:rPr>
              <a:t>How to Calculate System Availability: Definition and Measurement</a:t>
            </a:r>
            <a:endParaRPr lang="en-US" sz="1400" kern="0" spc="-80" dirty="0">
              <a:solidFill>
                <a:schemeClr val="accent2"/>
              </a:solidFill>
            </a:endParaRPr>
          </a:p>
          <a:p>
            <a:pPr marL="12700" marR="5080"/>
            <a:r>
              <a:rPr lang="en-US" sz="1400" kern="0" spc="-80" dirty="0">
                <a:solidFill>
                  <a:srgbClr val="FF0000"/>
                </a:solidFill>
              </a:rPr>
              <a:t>   </a:t>
            </a:r>
            <a:r>
              <a:rPr lang="en-US" sz="1400" kern="0" spc="-80" dirty="0">
                <a:solidFill>
                  <a:schemeClr val="accent2"/>
                </a:solidFill>
              </a:rPr>
              <a:t>Health Checks - </a:t>
            </a:r>
            <a:r>
              <a:rPr lang="en-US" sz="1400" kern="0" spc="-80" dirty="0">
                <a:solidFill>
                  <a:schemeClr val="accent6"/>
                </a:solidFill>
              </a:rPr>
              <a:t>/health(/error) endpoints using </a:t>
            </a:r>
            <a:r>
              <a:rPr lang="en-US" sz="1400" kern="0" spc="-80" dirty="0" err="1">
                <a:solidFill>
                  <a:schemeClr val="accent6"/>
                </a:solidFill>
              </a:rPr>
              <a:t>httpHead</a:t>
            </a:r>
            <a:r>
              <a:rPr lang="en-US" sz="1400" kern="0" spc="-80" dirty="0">
                <a:solidFill>
                  <a:schemeClr val="accent6"/>
                </a:solidFill>
              </a:rPr>
              <a:t>(/</a:t>
            </a:r>
            <a:r>
              <a:rPr lang="en-US" sz="1400" kern="0" spc="-80" dirty="0" err="1">
                <a:solidFill>
                  <a:schemeClr val="accent6"/>
                </a:solidFill>
              </a:rPr>
              <a:t>httpGet</a:t>
            </a:r>
            <a:r>
              <a:rPr lang="en-US" sz="1400" kern="0" spc="-80" dirty="0">
                <a:solidFill>
                  <a:schemeClr val="accent6"/>
                </a:solidFill>
              </a:rPr>
              <a:t>) verbs. AP/</a:t>
            </a:r>
            <a:r>
              <a:rPr lang="en-US" sz="1400" kern="0" spc="-80" dirty="0" err="1">
                <a:solidFill>
                  <a:schemeClr val="accent6"/>
                </a:solidFill>
              </a:rPr>
              <a:t>BackgroundServices</a:t>
            </a:r>
            <a:r>
              <a:rPr lang="en-US" sz="1400" kern="0" spc="-80" dirty="0">
                <a:solidFill>
                  <a:schemeClr val="accent6"/>
                </a:solidFill>
              </a:rPr>
              <a:t> Health checks can be strong indicator of API/</a:t>
            </a:r>
            <a:r>
              <a:rPr lang="en-US" sz="1400" kern="0" spc="-80" dirty="0" err="1">
                <a:solidFill>
                  <a:schemeClr val="accent6"/>
                </a:solidFill>
              </a:rPr>
              <a:t>BackgroundServices</a:t>
            </a:r>
            <a:r>
              <a:rPr lang="en-US" sz="1400" kern="0" spc="-80" dirty="0">
                <a:solidFill>
                  <a:schemeClr val="accent6"/>
                </a:solidFill>
              </a:rPr>
              <a:t> Availability since Availability can be calculated as ratio of successful health checks to the total number of health checks performed over a specific period. Although MTTD + MTTR +  MTTF can give a much better picture about Availability but its not a trivial task to calculate MTTD, MTTR &amp; MTTF from health checks.(check next 2 slides)  </a:t>
            </a:r>
          </a:p>
          <a:p>
            <a:pPr marL="12700" marR="5080"/>
            <a:r>
              <a:rPr lang="en-US" sz="1400" kern="0" spc="-80" dirty="0">
                <a:solidFill>
                  <a:schemeClr val="accent6"/>
                </a:solidFill>
              </a:rPr>
              <a:t>   </a:t>
            </a:r>
            <a:r>
              <a:rPr lang="en-US" sz="1400" kern="0" spc="-80" dirty="0">
                <a:solidFill>
                  <a:schemeClr val="accent2"/>
                </a:solidFill>
              </a:rPr>
              <a:t>Liveness vs Readiness –</a:t>
            </a:r>
          </a:p>
          <a:p>
            <a:pPr algn="l" fontAlgn="base"/>
            <a:r>
              <a:rPr lang="en-US" sz="1400" kern="0" spc="-80" dirty="0">
                <a:solidFill>
                  <a:schemeClr val="accent2"/>
                </a:solidFill>
              </a:rPr>
              <a:t>Liveness</a:t>
            </a:r>
            <a:r>
              <a:rPr lang="en-US" sz="1400" kern="0" spc="-80" dirty="0">
                <a:solidFill>
                  <a:schemeClr val="accent6"/>
                </a:solidFill>
              </a:rPr>
              <a:t>: Used to check if the app is available and alive.</a:t>
            </a:r>
          </a:p>
          <a:p>
            <a:pPr algn="l" fontAlgn="base"/>
            <a:r>
              <a:rPr lang="en-US" sz="1400" kern="0" spc="-80" dirty="0">
                <a:solidFill>
                  <a:schemeClr val="accent2"/>
                </a:solidFill>
              </a:rPr>
              <a:t>Readiness</a:t>
            </a:r>
            <a:r>
              <a:rPr lang="en-US" sz="1400" kern="0" spc="-80" dirty="0">
                <a:solidFill>
                  <a:schemeClr val="accent6"/>
                </a:solidFill>
              </a:rPr>
              <a:t>: Used to check if the application is ready to be used and serve the traffic.</a:t>
            </a:r>
          </a:p>
          <a:p>
            <a:pPr algn="l" fontAlgn="base"/>
            <a:r>
              <a:rPr lang="en-US" sz="1400" kern="0" spc="-80" dirty="0">
                <a:solidFill>
                  <a:schemeClr val="accent6"/>
                </a:solidFill>
              </a:rPr>
              <a:t>    Normally the readiness check is only performed when an application has just been started, to make sure the load balancer or orchestrator can start directing the traffic. After the Application becomes ready, only then liveness check is performed. Typically, while a </a:t>
            </a:r>
            <a:r>
              <a:rPr lang="en-US" sz="1400" kern="0" spc="-80" dirty="0">
                <a:solidFill>
                  <a:schemeClr val="tx2">
                    <a:lumMod val="60000"/>
                    <a:lumOff val="40000"/>
                  </a:schemeClr>
                </a:solidFill>
              </a:rPr>
              <a:t>Liveness</a:t>
            </a:r>
            <a:r>
              <a:rPr lang="en-US" sz="1400" kern="0" spc="-80" dirty="0">
                <a:solidFill>
                  <a:schemeClr val="accent6"/>
                </a:solidFill>
              </a:rPr>
              <a:t> probe would return </a:t>
            </a:r>
            <a:r>
              <a:rPr lang="en-US" sz="1400" kern="0" spc="-80" dirty="0">
                <a:solidFill>
                  <a:schemeClr val="tx2">
                    <a:lumMod val="60000"/>
                    <a:lumOff val="40000"/>
                  </a:schemeClr>
                </a:solidFill>
              </a:rPr>
              <a:t>Healthy or </a:t>
            </a:r>
            <a:r>
              <a:rPr lang="en-US" sz="1400" kern="0" spc="-80" dirty="0" err="1">
                <a:solidFill>
                  <a:schemeClr val="tx2">
                    <a:lumMod val="60000"/>
                    <a:lumOff val="40000"/>
                  </a:schemeClr>
                </a:solidFill>
              </a:rPr>
              <a:t>UnHealthy</a:t>
            </a:r>
            <a:r>
              <a:rPr lang="en-US" sz="1400" kern="0" spc="-80" dirty="0">
                <a:solidFill>
                  <a:schemeClr val="accent6"/>
                </a:solidFill>
              </a:rPr>
              <a:t>, the </a:t>
            </a:r>
            <a:r>
              <a:rPr lang="en-US" sz="1400" kern="0" spc="-80" dirty="0">
                <a:solidFill>
                  <a:schemeClr val="tx2">
                    <a:lumMod val="60000"/>
                    <a:lumOff val="40000"/>
                  </a:schemeClr>
                </a:solidFill>
              </a:rPr>
              <a:t>Readiness</a:t>
            </a:r>
            <a:r>
              <a:rPr lang="en-US" sz="1400" kern="0" spc="-80" dirty="0">
                <a:solidFill>
                  <a:schemeClr val="accent6"/>
                </a:solidFill>
              </a:rPr>
              <a:t> probe could return </a:t>
            </a:r>
            <a:r>
              <a:rPr lang="en-US" sz="1400" kern="0" spc="-80" dirty="0">
                <a:solidFill>
                  <a:schemeClr val="tx2">
                    <a:lumMod val="60000"/>
                    <a:lumOff val="40000"/>
                  </a:schemeClr>
                </a:solidFill>
              </a:rPr>
              <a:t>Degraded</a:t>
            </a:r>
            <a:r>
              <a:rPr lang="en-US" sz="1400" kern="0" spc="-80" dirty="0">
                <a:solidFill>
                  <a:schemeClr val="accent6"/>
                </a:solidFill>
              </a:rPr>
              <a:t> if the application is not ready to process requests yet.</a:t>
            </a:r>
          </a:p>
          <a:p>
            <a:pPr algn="l" fontAlgn="base"/>
            <a:r>
              <a:rPr lang="en-US" sz="1400" kern="0" spc="-80" dirty="0">
                <a:solidFill>
                  <a:schemeClr val="accent2"/>
                </a:solidFill>
              </a:rPr>
              <a:t>For Further Exploration – </a:t>
            </a:r>
          </a:p>
          <a:p>
            <a:pPr marL="12700" marR="5080"/>
            <a:r>
              <a:rPr lang="en-US" sz="1400" kern="0" spc="-80" dirty="0">
                <a:solidFill>
                  <a:schemeClr val="accent2"/>
                </a:solidFill>
              </a:rPr>
              <a:t>   </a:t>
            </a:r>
            <a:r>
              <a:rPr lang="en-US" sz="1400" dirty="0">
                <a:hlinkClick r:id="rId10"/>
              </a:rPr>
              <a:t>Health checks with ASP.NET Core and Kubernetes - David Guida</a:t>
            </a:r>
            <a:endParaRPr lang="en-US" sz="1400" kern="0" spc="-80" dirty="0">
              <a:solidFill>
                <a:schemeClr val="accent2"/>
              </a:solidFill>
            </a:endParaRPr>
          </a:p>
          <a:p>
            <a:pPr marL="12700" marR="5080"/>
            <a:r>
              <a:rPr lang="en-US" sz="1400" kern="0" spc="-80" dirty="0">
                <a:solidFill>
                  <a:schemeClr val="accent2"/>
                </a:solidFill>
              </a:rPr>
              <a:t>   </a:t>
            </a:r>
            <a:r>
              <a:rPr lang="en-US" sz="1400" dirty="0">
                <a:hlinkClick r:id="rId11"/>
              </a:rPr>
              <a:t>High availability for multitier AKS applications - Azure Architecture Center | Microsoft Learn</a:t>
            </a:r>
            <a:r>
              <a:rPr lang="en-US" sz="1400" kern="0" spc="-80" dirty="0">
                <a:solidFill>
                  <a:schemeClr val="accent6"/>
                </a:solidFill>
              </a:rPr>
              <a:t>   </a:t>
            </a:r>
          </a:p>
          <a:p>
            <a:pPr marL="12700" marR="5080"/>
            <a:r>
              <a:rPr lang="en-US" sz="1400" kern="0" spc="-80" dirty="0">
                <a:solidFill>
                  <a:schemeClr val="accent6"/>
                </a:solidFill>
              </a:rPr>
              <a:t>   </a:t>
            </a:r>
            <a:r>
              <a:rPr lang="en-IN" sz="1400" dirty="0">
                <a:hlinkClick r:id="rId12"/>
              </a:rPr>
              <a:t>Erasure Coding Demystified – YouTube</a:t>
            </a:r>
            <a:endParaRPr lang="en-IN" sz="1400" dirty="0"/>
          </a:p>
          <a:p>
            <a:pPr marL="12700" marR="5080"/>
            <a:r>
              <a:rPr lang="en-IN" sz="1400" kern="0" spc="-80" dirty="0">
                <a:solidFill>
                  <a:schemeClr val="accent6"/>
                </a:solidFill>
              </a:rPr>
              <a:t>   </a:t>
            </a:r>
            <a:r>
              <a:rPr lang="en-US" sz="1400" dirty="0">
                <a:hlinkClick r:id="rId13"/>
              </a:rPr>
              <a:t>Performing a health check in .NET Core Worker Service - Stack Overflow</a:t>
            </a:r>
            <a:endParaRPr lang="en-US" sz="1400" kern="0" spc="-80" dirty="0">
              <a:solidFill>
                <a:schemeClr val="accent6"/>
              </a:solidFill>
            </a:endParaRPr>
          </a:p>
        </p:txBody>
      </p:sp>
    </p:spTree>
    <p:extLst>
      <p:ext uri="{BB962C8B-B14F-4D97-AF65-F5344CB8AC3E}">
        <p14:creationId xmlns:p14="http://schemas.microsoft.com/office/powerpoint/2010/main" val="164192519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2BEE1-6BB7-770B-FF1D-7932C4E16A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4B8E2B-DA4B-7B2A-8A55-131A084E15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540E60-AA47-4C11-113B-EA61F205C5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84CE9C-F9FB-84D1-2D24-5C04A351BD4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BCA715-C7EB-B574-3EE2-7438758D26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028FAF-DB8D-7387-D4A3-0219BA53A0F6}"/>
              </a:ext>
            </a:extLst>
          </p:cNvPr>
          <p:cNvSpPr txBox="1">
            <a:spLocks/>
          </p:cNvSpPr>
          <p:nvPr/>
        </p:nvSpPr>
        <p:spPr>
          <a:xfrm>
            <a:off x="228599" y="656037"/>
            <a:ext cx="8624937" cy="5405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Calculating MTTD, MTTR &amp; MTTF from Health checks -  </a:t>
            </a:r>
          </a:p>
          <a:p>
            <a:pPr fontAlgn="ctr"/>
            <a:r>
              <a:rPr lang="en-US" sz="1575" kern="0" spc="-80" dirty="0">
                <a:solidFill>
                  <a:schemeClr val="accent6"/>
                </a:solidFill>
              </a:rPr>
              <a:t>It is possible to calculate MTTD, MTTR, and MTTF using data from health checks. These metrics are all derived from tracking the time between events related to system failures and their resolution. Health checks can provide the necessary data points for these calculations. </a:t>
            </a:r>
          </a:p>
          <a:p>
            <a:r>
              <a:rPr lang="en-US" sz="1575" kern="0" spc="-80" dirty="0">
                <a:solidFill>
                  <a:schemeClr val="accent6"/>
                </a:solidFill>
              </a:rPr>
              <a:t>Explanation:</a:t>
            </a:r>
          </a:p>
          <a:p>
            <a:r>
              <a:rPr lang="en-US" sz="1575" kern="0" spc="-80" dirty="0">
                <a:solidFill>
                  <a:schemeClr val="accent6"/>
                </a:solidFill>
                <a:hlinkClick r:id="rId7">
                  <a:extLst>
                    <a:ext uri="{A12FA001-AC4F-418D-AE19-62706E023703}">
                      <ahyp:hlinkClr xmlns:ahyp="http://schemas.microsoft.com/office/drawing/2018/hyperlinkcolor" val="tx"/>
                    </a:ext>
                  </a:extLst>
                </a:hlinkClick>
              </a:rPr>
              <a:t>MTTD (Mean Time to Detect)</a:t>
            </a:r>
            <a:r>
              <a:rPr lang="en-US" sz="1575" kern="0" spc="-80" dirty="0">
                <a:solidFill>
                  <a:schemeClr val="accent6"/>
                </a:solidFill>
              </a:rPr>
              <a:t>:</a:t>
            </a:r>
          </a:p>
          <a:p>
            <a:pPr fontAlgn="ctr"/>
            <a:r>
              <a:rPr lang="en-US" sz="1575" kern="0" spc="-80" dirty="0">
                <a:solidFill>
                  <a:schemeClr val="accent6"/>
                </a:solidFill>
              </a:rPr>
              <a:t>Health checks can be configured to monitor system health and trigger alerts when issues arise. By logging the time of the issue detection (from the health check alert) and the time of the actual incident occurrence (if it can be determined), you can calculate the time it took to detect the issue (MTTD). </a:t>
            </a:r>
          </a:p>
          <a:p>
            <a:r>
              <a:rPr lang="en-US" sz="1575" kern="0" spc="-80" dirty="0">
                <a:solidFill>
                  <a:schemeClr val="accent6"/>
                </a:solidFill>
                <a:hlinkClick r:id="rId8">
                  <a:extLst>
                    <a:ext uri="{A12FA001-AC4F-418D-AE19-62706E023703}">
                      <ahyp:hlinkClr xmlns:ahyp="http://schemas.microsoft.com/office/drawing/2018/hyperlinkcolor" val="tx"/>
                    </a:ext>
                  </a:extLst>
                </a:hlinkClick>
              </a:rPr>
              <a:t>MTTR (Mean Time to Repair/Resolution)</a:t>
            </a:r>
            <a:r>
              <a:rPr lang="en-US" sz="1575" kern="0" spc="-80" dirty="0">
                <a:solidFill>
                  <a:schemeClr val="accent6"/>
                </a:solidFill>
              </a:rPr>
              <a:t>:</a:t>
            </a:r>
          </a:p>
          <a:p>
            <a:pPr fontAlgn="ctr"/>
            <a:r>
              <a:rPr lang="en-US" sz="1575" kern="0" spc="-80" dirty="0">
                <a:solidFill>
                  <a:schemeClr val="accent6"/>
                </a:solidFill>
              </a:rPr>
              <a:t>Health checks can also be part of the resolution process. They can be used to verify when a system or service has been restored to a healthy state after an issue is resolved. By measuring the time from detection to resolution (including any repair or remediation actions) based on health check data, you can calculate MTTR. </a:t>
            </a:r>
          </a:p>
          <a:p>
            <a:r>
              <a:rPr lang="en-US" sz="1575" kern="0" spc="-80" dirty="0">
                <a:solidFill>
                  <a:schemeClr val="accent6"/>
                </a:solidFill>
                <a:hlinkClick r:id="rId9">
                  <a:extLst>
                    <a:ext uri="{A12FA001-AC4F-418D-AE19-62706E023703}">
                      <ahyp:hlinkClr xmlns:ahyp="http://schemas.microsoft.com/office/drawing/2018/hyperlinkcolor" val="tx"/>
                    </a:ext>
                  </a:extLst>
                </a:hlinkClick>
              </a:rPr>
              <a:t>MTTF (Mean Time to Failure)</a:t>
            </a:r>
            <a:r>
              <a:rPr lang="en-US" sz="1575" kern="0" spc="-80" dirty="0">
                <a:solidFill>
                  <a:schemeClr val="accent6"/>
                </a:solidFill>
              </a:rPr>
              <a:t>:</a:t>
            </a:r>
          </a:p>
          <a:p>
            <a:pPr fontAlgn="ctr"/>
            <a:r>
              <a:rPr lang="en-US" sz="1575" kern="0" spc="-80" dirty="0">
                <a:solidFill>
                  <a:schemeClr val="accent6"/>
                </a:solidFill>
              </a:rPr>
              <a:t>This metric is typically used for non-repairable systems, but health checks can be used to track the time until a system or component reaches a point where it needs to be replaced. By monitoring the system's health and logging the time of failures, you can determine the average time to failure for that component.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3377858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2ED94-5550-11D9-743F-7A104C358E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854AA64-8BCB-842C-0B89-9AEE627FCC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78C5B8-9C5C-1B31-6ED5-69AEFAFB82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B956ED-04BA-6ADE-622C-493938765BF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DEC2C35-21C6-DD8B-94B0-22B420837D7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CDB6A95-3F7D-02D3-6B3E-3B10E6253AD8}"/>
              </a:ext>
            </a:extLst>
          </p:cNvPr>
          <p:cNvSpPr txBox="1">
            <a:spLocks/>
          </p:cNvSpPr>
          <p:nvPr/>
        </p:nvSpPr>
        <p:spPr>
          <a:xfrm>
            <a:off x="292640" y="697468"/>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Calculating MTTD, MTTR &amp; MTTF from Health checks </a:t>
            </a:r>
            <a:r>
              <a:rPr lang="en-US" sz="1600" kern="0" spc="-80" dirty="0" err="1">
                <a:solidFill>
                  <a:schemeClr val="accent2"/>
                </a:solidFill>
              </a:rPr>
              <a:t>contd</a:t>
            </a:r>
            <a:r>
              <a:rPr lang="en-US" sz="1600" kern="0" spc="-80" dirty="0">
                <a:solidFill>
                  <a:schemeClr val="accent2"/>
                </a:solidFill>
              </a:rPr>
              <a:t>… - </a:t>
            </a:r>
          </a:p>
          <a:p>
            <a:r>
              <a:rPr lang="en-US" sz="1800" kern="0" spc="-80" dirty="0">
                <a:solidFill>
                  <a:schemeClr val="accent6"/>
                </a:solidFill>
              </a:rPr>
              <a:t>How Health Checks Enable the Calculations:</a:t>
            </a:r>
          </a:p>
          <a:p>
            <a:r>
              <a:rPr lang="en-US" sz="1800" kern="0" spc="-80" dirty="0">
                <a:solidFill>
                  <a:schemeClr val="accent6"/>
                </a:solidFill>
              </a:rPr>
              <a:t>Automated Detection:</a:t>
            </a:r>
          </a:p>
          <a:p>
            <a:pPr fontAlgn="ctr"/>
            <a:r>
              <a:rPr lang="en-US" sz="1800" kern="0" spc="-80" dirty="0">
                <a:solidFill>
                  <a:schemeClr val="accent6"/>
                </a:solidFill>
              </a:rPr>
              <a:t>Health checks automate the detection of issues, providing a timestamp for when the problem was recognized. </a:t>
            </a:r>
          </a:p>
          <a:p>
            <a:r>
              <a:rPr lang="en-US" sz="1800" kern="0" spc="-80" dirty="0">
                <a:solidFill>
                  <a:schemeClr val="accent6"/>
                </a:solidFill>
              </a:rPr>
              <a:t>Automated Verification:</a:t>
            </a:r>
          </a:p>
          <a:p>
            <a:pPr fontAlgn="ctr"/>
            <a:r>
              <a:rPr lang="en-US" sz="1800" kern="0" spc="-80" dirty="0">
                <a:solidFill>
                  <a:schemeClr val="accent6"/>
                </a:solidFill>
              </a:rPr>
              <a:t>Health checks can also automatically verify if a problem has been resolved, providing a timestamp for the resolution. </a:t>
            </a:r>
          </a:p>
          <a:p>
            <a:r>
              <a:rPr lang="en-US" sz="1800" kern="0" spc="-80" dirty="0">
                <a:solidFill>
                  <a:schemeClr val="accent6"/>
                </a:solidFill>
              </a:rPr>
              <a:t>Data Logging:</a:t>
            </a:r>
          </a:p>
          <a:p>
            <a:pPr fontAlgn="ctr"/>
            <a:r>
              <a:rPr lang="en-US" sz="1800" kern="0" spc="-80" dirty="0">
                <a:solidFill>
                  <a:schemeClr val="accent6"/>
                </a:solidFill>
              </a:rPr>
              <a:t>By logging all health check data, including timestamps of incidents and resolutions, you have the necessary data points for calculating MTTD, MTTR, and MTTF. </a:t>
            </a:r>
          </a:p>
          <a:p>
            <a:r>
              <a:rPr lang="en-US" sz="1800" kern="0" spc="-80" dirty="0">
                <a:solidFill>
                  <a:schemeClr val="accent6"/>
                </a:solidFill>
              </a:rPr>
              <a:t>In essence, health checks serve as a reliable source of data for tracking the key metrics of incident management and system reliability.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85038727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2000" kern="0" spc="-80" dirty="0">
                <a:solidFill>
                  <a:schemeClr val="accent6"/>
                </a:solidFill>
              </a:rPr>
              <a:t>Redundancy is introduced in a system to avoid Single Point of </a:t>
            </a:r>
          </a:p>
          <a:p>
            <a:pPr marL="12700" marR="5080"/>
            <a:r>
              <a:rPr lang="en-US" sz="2000" kern="0" spc="-80" dirty="0">
                <a:solidFill>
                  <a:schemeClr val="accent6"/>
                </a:solidFill>
              </a:rPr>
              <a:t>    Failure.</a:t>
            </a:r>
          </a:p>
          <a:p>
            <a:pPr marL="12700" marR="5080"/>
            <a:r>
              <a:rPr lang="en-US" sz="2400" kern="0" spc="-80" dirty="0">
                <a:solidFill>
                  <a:schemeClr val="accent2"/>
                </a:solidFill>
              </a:rPr>
              <a:t>  </a:t>
            </a:r>
          </a:p>
          <a:p>
            <a:pPr marL="12700" marR="5080"/>
            <a:r>
              <a:rPr lang="en-US" sz="2400" kern="0" spc="-80" dirty="0">
                <a:solidFill>
                  <a:schemeClr val="accent2"/>
                </a:solidFill>
              </a:rPr>
              <a:t>   Redundancy Types – </a:t>
            </a:r>
            <a:endParaRPr lang="en-US" sz="2000" kern="0" spc="-80" dirty="0">
              <a:solidFill>
                <a:schemeClr val="accent2"/>
              </a:solidFill>
            </a:endParaRPr>
          </a:p>
          <a:p>
            <a:pPr marL="12700" marR="5080"/>
            <a:r>
              <a:rPr lang="en-US" sz="2000" kern="0" spc="-80" dirty="0">
                <a:solidFill>
                  <a:schemeClr val="accent2"/>
                </a:solidFill>
              </a:rPr>
              <a:t>    </a:t>
            </a:r>
            <a:r>
              <a:rPr lang="en-US" sz="2000" kern="0" spc="-80" dirty="0">
                <a:solidFill>
                  <a:schemeClr val="accent6">
                    <a:lumMod val="75000"/>
                  </a:schemeClr>
                </a:solidFill>
              </a:rPr>
              <a:t>Active Redundancy</a:t>
            </a:r>
          </a:p>
          <a:p>
            <a:pPr marL="12700" marR="5080"/>
            <a:r>
              <a:rPr lang="en-US" sz="2000" kern="0" spc="-80" dirty="0">
                <a:solidFill>
                  <a:schemeClr val="accent6"/>
                </a:solidFill>
              </a:rPr>
              <a:t>     All nodes do the processing</a:t>
            </a:r>
          </a:p>
          <a:p>
            <a:pPr marL="12700" marR="5080"/>
            <a:r>
              <a:rPr lang="en-US" sz="2000" kern="0" spc="-80" dirty="0">
                <a:solidFill>
                  <a:schemeClr val="accent6"/>
                </a:solidFill>
              </a:rPr>
              <a:t>     Ideal for Highest Availability</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Passive Redundancy</a:t>
            </a:r>
          </a:p>
          <a:p>
            <a:pPr marL="12700" marR="5080"/>
            <a:r>
              <a:rPr lang="en-US" sz="2000" kern="0" spc="-80" dirty="0">
                <a:solidFill>
                  <a:schemeClr val="accent6"/>
                </a:solidFill>
              </a:rPr>
              <a:t>     Only Active nodes do the processing</a:t>
            </a:r>
          </a:p>
          <a:p>
            <a:pPr marL="12700" marR="5080"/>
            <a:r>
              <a:rPr lang="en-US" sz="2000" kern="0" spc="-80" dirty="0">
                <a:solidFill>
                  <a:schemeClr val="accent6"/>
                </a:solidFill>
              </a:rPr>
              <a:t>     Ideal for quick Recovery</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Cold Redundancy</a:t>
            </a:r>
          </a:p>
          <a:p>
            <a:pPr marL="12700" marR="5080"/>
            <a:r>
              <a:rPr lang="en-US" sz="2000" kern="0" spc="-80" dirty="0">
                <a:solidFill>
                  <a:schemeClr val="accent6"/>
                </a:solidFill>
              </a:rPr>
              <a:t>      Spare Nodes are brought up only on failover</a:t>
            </a:r>
          </a:p>
          <a:p>
            <a:pPr marL="12700" marR="5080"/>
            <a:r>
              <a:rPr lang="en-US" sz="2000" kern="0" spc="-80" dirty="0">
                <a:solidFill>
                  <a:schemeClr val="accent6"/>
                </a:solidFill>
              </a:rPr>
              <a:t>      Not for High Availability. Good for things like </a:t>
            </a:r>
            <a:r>
              <a:rPr lang="en-US" sz="2000" kern="0" spc="-80" dirty="0" err="1">
                <a:solidFill>
                  <a:schemeClr val="accent6"/>
                </a:solidFill>
              </a:rPr>
              <a:t>BackUp</a:t>
            </a:r>
            <a:r>
              <a:rPr lang="en-US" sz="2000" kern="0" spc="-80" dirty="0">
                <a:solidFill>
                  <a:schemeClr val="accent6"/>
                </a:solidFill>
              </a:rPr>
              <a:t> etc. </a:t>
            </a:r>
          </a:p>
        </p:txBody>
      </p:sp>
    </p:spTree>
    <p:extLst>
      <p:ext uri="{BB962C8B-B14F-4D97-AF65-F5344CB8AC3E}">
        <p14:creationId xmlns:p14="http://schemas.microsoft.com/office/powerpoint/2010/main" val="343562224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2000" kern="0" spc="-80" dirty="0">
                <a:solidFill>
                  <a:schemeClr val="accent6">
                    <a:lumMod val="75000"/>
                  </a:schemeClr>
                </a:solidFill>
              </a:rPr>
              <a:t>Stateless Components Redundancy(</a:t>
            </a:r>
            <a:r>
              <a:rPr lang="en-US" sz="2000" kern="0" spc="-80" dirty="0" err="1">
                <a:solidFill>
                  <a:schemeClr val="accent6">
                    <a:lumMod val="75000"/>
                  </a:schemeClr>
                </a:solidFill>
              </a:rPr>
              <a:t>SlCR</a:t>
            </a:r>
            <a:r>
              <a:rPr lang="en-US" sz="2000" kern="0" spc="-80" dirty="0">
                <a:solidFill>
                  <a:schemeClr val="accent6">
                    <a:lumMod val="75000"/>
                  </a:schemeClr>
                </a:solidFill>
              </a:rPr>
              <a:t>) – </a:t>
            </a:r>
          </a:p>
          <a:p>
            <a:pPr marL="12700" marR="5080"/>
            <a:r>
              <a:rPr lang="en-US" sz="2000" kern="0" spc="-80" dirty="0">
                <a:solidFill>
                  <a:schemeClr val="accent6">
                    <a:lumMod val="75000"/>
                  </a:schemeClr>
                </a:solidFill>
              </a:rPr>
              <a:t>    </a:t>
            </a:r>
            <a:r>
              <a:rPr lang="en-US" sz="2000" kern="0" spc="-80" dirty="0">
                <a:solidFill>
                  <a:schemeClr val="accent6"/>
                </a:solidFill>
              </a:rPr>
              <a:t>- APIs/Services are in general stateless components</a:t>
            </a:r>
          </a:p>
          <a:p>
            <a:pPr marL="12700" marR="5080"/>
            <a:r>
              <a:rPr lang="en-US" sz="2000" kern="0" spc="-80" dirty="0">
                <a:solidFill>
                  <a:schemeClr val="accent6"/>
                </a:solidFill>
              </a:rPr>
              <a:t>    - Similar to Stateless Replication</a:t>
            </a:r>
          </a:p>
          <a:p>
            <a:pPr marL="12700" marR="5080"/>
            <a:r>
              <a:rPr lang="en-US" sz="2000" kern="0" spc="-80" dirty="0">
                <a:solidFill>
                  <a:schemeClr val="accent6"/>
                </a:solidFill>
              </a:rPr>
              <a:t>    - But need to have servers for availability requirements on top of </a:t>
            </a:r>
          </a:p>
          <a:p>
            <a:pPr marL="12700" marR="5080"/>
            <a:r>
              <a:rPr lang="en-US" sz="2000" kern="0" spc="-80" dirty="0">
                <a:solidFill>
                  <a:schemeClr val="accent6"/>
                </a:solidFill>
              </a:rPr>
              <a:t>      scalability requirements.</a:t>
            </a:r>
          </a:p>
          <a:p>
            <a:pPr marL="12700" marR="5080"/>
            <a:r>
              <a:rPr lang="en-US" sz="2000" kern="0" spc="-80" dirty="0">
                <a:solidFill>
                  <a:schemeClr val="accent6"/>
                </a:solidFill>
              </a:rPr>
              <a:t>    - Kind of Active - Active always</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Stateful Components Redundancy(</a:t>
            </a:r>
            <a:r>
              <a:rPr lang="en-US" sz="2000" kern="0" spc="-80" dirty="0" err="1">
                <a:solidFill>
                  <a:schemeClr val="accent6">
                    <a:lumMod val="75000"/>
                  </a:schemeClr>
                </a:solidFill>
              </a:rPr>
              <a:t>SfCR</a:t>
            </a:r>
            <a:r>
              <a:rPr lang="en-US" sz="2000" kern="0" spc="-80" dirty="0">
                <a:solidFill>
                  <a:schemeClr val="accent6">
                    <a:lumMod val="75000"/>
                  </a:schemeClr>
                </a:solidFill>
              </a:rPr>
              <a:t>) – </a:t>
            </a:r>
          </a:p>
          <a:p>
            <a:pPr marL="12700" marR="5080"/>
            <a:r>
              <a:rPr lang="en-US" sz="2000" kern="0" spc="-80" dirty="0">
                <a:solidFill>
                  <a:schemeClr val="accent6"/>
                </a:solidFill>
              </a:rPr>
              <a:t>     - DBs, Cache, MQs, Static Content Servers are stateful components.</a:t>
            </a:r>
          </a:p>
          <a:p>
            <a:pPr marL="12700" marR="5080"/>
            <a:r>
              <a:rPr lang="en-US" sz="2000" kern="0" spc="-80" dirty="0">
                <a:solidFill>
                  <a:schemeClr val="accent6"/>
                </a:solidFill>
              </a:rPr>
              <a:t>     - Again, similar to Stateful Replication</a:t>
            </a:r>
          </a:p>
          <a:p>
            <a:pPr marL="12700" marR="5080"/>
            <a:r>
              <a:rPr lang="en-US" sz="2000" kern="0" spc="-80" dirty="0">
                <a:solidFill>
                  <a:schemeClr val="accent6"/>
                </a:solidFill>
              </a:rPr>
              <a:t>     - In case of DBs, the redundant server is more of a Backup rather </a:t>
            </a:r>
          </a:p>
          <a:p>
            <a:pPr marL="12700" marR="5080"/>
            <a:r>
              <a:rPr lang="en-US" sz="2000" kern="0" spc="-80" dirty="0">
                <a:solidFill>
                  <a:schemeClr val="accent6"/>
                </a:solidFill>
              </a:rPr>
              <a:t>       than a replica &amp; Master Slave Architecture is mainly used(mainly  </a:t>
            </a:r>
          </a:p>
          <a:p>
            <a:pPr marL="12700" marR="5080"/>
            <a:r>
              <a:rPr lang="en-US" sz="2000" kern="0" spc="-80" dirty="0">
                <a:solidFill>
                  <a:schemeClr val="accent6"/>
                </a:solidFill>
              </a:rPr>
              <a:t>       async).</a:t>
            </a:r>
          </a:p>
          <a:p>
            <a:pPr marL="12700" marR="5080"/>
            <a:r>
              <a:rPr lang="en-US" sz="2000" kern="0" spc="-80" dirty="0">
                <a:solidFill>
                  <a:schemeClr val="accent6"/>
                </a:solidFill>
              </a:rPr>
              <a:t>     - For other stateful components, mainly Master-Master Architecture </a:t>
            </a:r>
          </a:p>
          <a:p>
            <a:pPr marL="12700" marR="5080"/>
            <a:r>
              <a:rPr lang="en-US" sz="2000" kern="0" spc="-80" dirty="0">
                <a:solidFill>
                  <a:schemeClr val="accent6"/>
                </a:solidFill>
              </a:rPr>
              <a:t>       is used(mainly in async mode)</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47122525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p>
          <a:p>
            <a:pPr marL="12700" marR="5080"/>
            <a:r>
              <a:rPr lang="en-US" sz="2400" kern="0" spc="-80" dirty="0">
                <a:solidFill>
                  <a:schemeClr val="accent2"/>
                </a:solidFill>
              </a:rPr>
              <a:t>  Correlation(Correlated Redundancy)</a:t>
            </a:r>
          </a:p>
          <a:p>
            <a:pPr marL="12700" marR="5080"/>
            <a:r>
              <a:rPr lang="en-US" sz="2400" kern="0" spc="-80" dirty="0">
                <a:solidFill>
                  <a:schemeClr val="accent2"/>
                </a:solidFill>
              </a:rPr>
              <a:t>   </a:t>
            </a:r>
            <a:r>
              <a:rPr lang="en-US" sz="2400" kern="0" spc="-80" dirty="0">
                <a:solidFill>
                  <a:schemeClr val="accent6"/>
                </a:solidFill>
              </a:rPr>
              <a:t>If I have 2 machines at the same place &amp; there has been some power failure then both the machines will go down since the failure of both is due to the same reason(i.e. the failure reason is correlated).So we should plan for correlated redundancy situations as well and that’s one of the main reasons why most of the Cloud Providers divide their cloud into Regions, Zones, Data Centers &amp; other levels of granularity.</a:t>
            </a:r>
          </a:p>
        </p:txBody>
      </p:sp>
    </p:spTree>
    <p:extLst>
      <p:ext uri="{BB962C8B-B14F-4D97-AF65-F5344CB8AC3E}">
        <p14:creationId xmlns:p14="http://schemas.microsoft.com/office/powerpoint/2010/main" val="15509606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1800" kern="0" spc="-80" dirty="0">
                <a:solidFill>
                  <a:schemeClr val="accent2"/>
                </a:solidFill>
              </a:rPr>
              <a:t>Fault Detection using Ping &amp; Heartbeat – </a:t>
            </a:r>
          </a:p>
          <a:p>
            <a:pPr marL="12700" marR="5080"/>
            <a:r>
              <a:rPr lang="en-US" sz="2400" kern="0" spc="-80" dirty="0">
                <a:solidFill>
                  <a:schemeClr val="accent2"/>
                </a:solidFill>
              </a:rPr>
              <a:t>   </a:t>
            </a:r>
            <a:r>
              <a:rPr lang="en-US" sz="1800" kern="0" spc="-80" dirty="0">
                <a:solidFill>
                  <a:schemeClr val="accent2"/>
                </a:solidFill>
              </a:rPr>
              <a:t>Ping – </a:t>
            </a:r>
            <a:r>
              <a:rPr lang="en-US" sz="1800" kern="0" spc="-80" dirty="0">
                <a:solidFill>
                  <a:schemeClr val="accent6"/>
                </a:solidFill>
              </a:rPr>
              <a:t>Ping the nodes continuously(say 1 sec interval) &amp; check that they send the response back within certain time else assume that the node is dead.</a:t>
            </a:r>
          </a:p>
          <a:p>
            <a:pPr marL="12700" marR="5080"/>
            <a:r>
              <a:rPr lang="en-US" sz="1800" kern="0" spc="-80" dirty="0">
                <a:solidFill>
                  <a:schemeClr val="accent6">
                    <a:lumMod val="75000"/>
                  </a:schemeClr>
                </a:solidFill>
              </a:rPr>
              <a:t>    </a:t>
            </a:r>
            <a:r>
              <a:rPr lang="en-US" sz="1800" kern="0" spc="-80" dirty="0">
                <a:solidFill>
                  <a:schemeClr val="accent2"/>
                </a:solidFill>
              </a:rPr>
              <a:t>Heartbeat</a:t>
            </a:r>
            <a:r>
              <a:rPr lang="en-US" sz="1800" kern="0" spc="-80" dirty="0">
                <a:solidFill>
                  <a:schemeClr val="accent6">
                    <a:lumMod val="75000"/>
                  </a:schemeClr>
                </a:solidFill>
              </a:rPr>
              <a:t> – </a:t>
            </a:r>
            <a:r>
              <a:rPr lang="en-US" sz="1800" kern="0" spc="-80" dirty="0">
                <a:solidFill>
                  <a:schemeClr val="accent6"/>
                </a:solidFill>
              </a:rPr>
              <a:t>Each node sends some heartbeat about itself to some centralized monitoring component &amp; if some node has not sent heartbeat beyond a threshold limit then consider that as dead.</a:t>
            </a: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r>
              <a:rPr lang="en-US" sz="1800" kern="0" spc="-80" dirty="0">
                <a:solidFill>
                  <a:schemeClr val="accent6"/>
                </a:solidFill>
              </a:rPr>
              <a:t>   </a:t>
            </a:r>
            <a:r>
              <a:rPr lang="en-US" sz="1800" kern="0" spc="-80" dirty="0">
                <a:solidFill>
                  <a:schemeClr val="accent2"/>
                </a:solidFill>
              </a:rPr>
              <a:t>Fault Isolation Techniques – </a:t>
            </a:r>
          </a:p>
          <a:p>
            <a:pPr marL="12700" marR="5080"/>
            <a:r>
              <a:rPr lang="en-US" sz="1800" kern="0" spc="-80" dirty="0">
                <a:solidFill>
                  <a:schemeClr val="accent2"/>
                </a:solidFill>
              </a:rPr>
              <a:t>      Bulkhead Pattern - </a:t>
            </a:r>
            <a:r>
              <a:rPr lang="en-US" sz="1500" dirty="0">
                <a:hlinkClick r:id="rId7"/>
              </a:rPr>
              <a:t>Bulkhead pattern - Azure Architecture Center | Microsoft Learn</a:t>
            </a:r>
            <a:endParaRPr lang="en-US" sz="1500" dirty="0"/>
          </a:p>
          <a:p>
            <a:pPr marL="12700" marR="5080"/>
            <a:r>
              <a:rPr lang="en-US" sz="1800" kern="0" spc="-80" dirty="0">
                <a:solidFill>
                  <a:schemeClr val="accent2"/>
                </a:solidFill>
              </a:rPr>
              <a:t>      Shuffle Sharding - </a:t>
            </a:r>
            <a:r>
              <a:rPr lang="en-US" sz="1500" dirty="0">
                <a:hlinkClick r:id="rId8"/>
              </a:rPr>
              <a:t>Shuffle Sharding: Massive and Magical Fault Isolation</a:t>
            </a:r>
            <a:endParaRPr lang="en-US" sz="1500" dirty="0"/>
          </a:p>
          <a:p>
            <a:pPr marL="12700" marR="5080"/>
            <a:r>
              <a:rPr lang="en-US" sz="1800" kern="0" spc="-80" dirty="0">
                <a:solidFill>
                  <a:schemeClr val="accent2"/>
                </a:solidFill>
              </a:rPr>
              <a:t>      Cell Based Architecture –  </a:t>
            </a:r>
            <a:r>
              <a:rPr lang="en-US" sz="1500" dirty="0">
                <a:hlinkClick r:id="rId9"/>
              </a:rPr>
              <a:t>Reducing the Scope of Impact with Cell-Based Architecture - Reducing the Scope of Impact with Cell-Based Architecture</a:t>
            </a:r>
            <a:endParaRPr lang="en-US" sz="1500" kern="0" spc="-80" dirty="0">
              <a:solidFill>
                <a:schemeClr val="accent2"/>
              </a:solidFill>
            </a:endParaRPr>
          </a:p>
        </p:txBody>
      </p:sp>
    </p:spTree>
    <p:extLst>
      <p:ext uri="{BB962C8B-B14F-4D97-AF65-F5344CB8AC3E}">
        <p14:creationId xmlns:p14="http://schemas.microsoft.com/office/powerpoint/2010/main" val="310041179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Stateful Failover – </a:t>
            </a:r>
          </a:p>
          <a:p>
            <a:pPr marL="12700" marR="5080"/>
            <a:r>
              <a:rPr lang="en-US" sz="2400" kern="0" spc="-80" dirty="0">
                <a:solidFill>
                  <a:schemeClr val="accent2"/>
                </a:solidFill>
              </a:rPr>
              <a:t>    </a:t>
            </a:r>
            <a:r>
              <a:rPr lang="en-US" sz="2400" kern="0" spc="-80" dirty="0">
                <a:solidFill>
                  <a:schemeClr val="accent6"/>
                </a:solidFill>
              </a:rPr>
              <a:t>Mainly done using a registry(similar to how a DNS works) or Floating/Virtual IP(which gets assigned to the Standby on Primary node failure &amp; sync needs to be there between the nodes). Virtual IP way is shown as below - </a:t>
            </a:r>
          </a:p>
        </p:txBody>
      </p:sp>
      <p:pic>
        <p:nvPicPr>
          <p:cNvPr id="1026" name="Picture 2" descr="Floating IP pattern for HA between active–standby stateful servers -  Real-Time Communication on AWS">
            <a:extLst>
              <a:ext uri="{FF2B5EF4-FFF2-40B4-BE49-F238E27FC236}">
                <a16:creationId xmlns:a16="http://schemas.microsoft.com/office/drawing/2014/main" id="{74D9896C-325D-24D8-CF9A-E4E9007835C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81100" y="2847976"/>
            <a:ext cx="4991100" cy="3061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152728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000" kern="0" spc="-80" dirty="0">
                <a:solidFill>
                  <a:schemeClr val="accent2"/>
                </a:solidFill>
              </a:rPr>
              <a:t>   Self Healing(3 Levels) – </a:t>
            </a:r>
          </a:p>
          <a:p>
            <a:pPr marL="12700" marR="5080"/>
            <a:r>
              <a:rPr lang="en-US" sz="2400" kern="0" spc="-80" dirty="0">
                <a:solidFill>
                  <a:schemeClr val="accent2"/>
                </a:solidFill>
              </a:rPr>
              <a:t>    </a:t>
            </a:r>
            <a:r>
              <a:rPr lang="en-US" sz="1700" kern="0" spc="-80" dirty="0">
                <a:solidFill>
                  <a:schemeClr val="accent2"/>
                </a:solidFill>
              </a:rPr>
              <a:t>System Level - </a:t>
            </a:r>
            <a:r>
              <a:rPr lang="en-US" sz="1700" kern="0" spc="-80" dirty="0">
                <a:solidFill>
                  <a:schemeClr val="accent6"/>
                </a:solidFill>
              </a:rPr>
              <a:t>The most common system level errors include process failures (often resolved by redeploying or restarting) and throughput issues (often resolved by scaling and descaling). Self-healing systems conduct health checks on different components and automatically attempt fixes (such as redeploying) to recover to their desired states.</a:t>
            </a:r>
          </a:p>
          <a:p>
            <a:pPr marL="12700" marR="5080"/>
            <a:r>
              <a:rPr lang="en-US" sz="1700" kern="0" spc="-80" dirty="0">
                <a:solidFill>
                  <a:schemeClr val="accent6"/>
                </a:solidFill>
              </a:rPr>
              <a:t>     </a:t>
            </a:r>
            <a:r>
              <a:rPr lang="en-US" sz="1700" kern="0" spc="-80" dirty="0">
                <a:solidFill>
                  <a:schemeClr val="accent2"/>
                </a:solidFill>
              </a:rPr>
              <a:t>Application Level - </a:t>
            </a:r>
            <a:r>
              <a:rPr lang="en-US" sz="1700" kern="0" spc="-80" dirty="0">
                <a:solidFill>
                  <a:schemeClr val="accent6"/>
                </a:solidFill>
              </a:rPr>
              <a:t>Self-healing applications incorporate design elements that resolve problems. For example, applications that use </a:t>
            </a:r>
            <a:r>
              <a:rPr lang="en-US" sz="1700" kern="0" spc="-80" dirty="0" err="1">
                <a:solidFill>
                  <a:schemeClr val="accent6"/>
                </a:solidFill>
                <a:hlinkClick r:id="rId7">
                  <a:extLst>
                    <a:ext uri="{A12FA001-AC4F-418D-AE19-62706E023703}">
                      <ahyp:hlinkClr xmlns:ahyp="http://schemas.microsoft.com/office/drawing/2018/hyperlinkcolor" val="tx"/>
                    </a:ext>
                  </a:extLst>
                </a:hlinkClick>
              </a:rPr>
              <a:t>Akka</a:t>
            </a:r>
            <a:r>
              <a:rPr lang="en-US" sz="1700" kern="0" spc="-80" dirty="0">
                <a:solidFill>
                  <a:schemeClr val="accent6"/>
                </a:solidFill>
              </a:rPr>
              <a:t>, arrange elements in a hierarchy and assign an actor’s problems to its supervisor. Although </a:t>
            </a:r>
            <a:r>
              <a:rPr lang="en-US" sz="1700" kern="0" spc="-80" dirty="0" err="1">
                <a:solidFill>
                  <a:schemeClr val="accent6"/>
                </a:solidFill>
              </a:rPr>
              <a:t>DapR</a:t>
            </a:r>
            <a:r>
              <a:rPr lang="en-US" sz="1700" kern="0" spc="-80" dirty="0">
                <a:solidFill>
                  <a:schemeClr val="accent6"/>
                </a:solidFill>
              </a:rPr>
              <a:t> has an in-built (virtual) actor model but it doesn’t support traditional Hierarchy Actor model like that of Akka.NET(which </a:t>
            </a:r>
            <a:r>
              <a:rPr lang="en-US" sz="1700" kern="0" spc="-80" dirty="0" err="1">
                <a:solidFill>
                  <a:schemeClr val="accent6"/>
                </a:solidFill>
              </a:rPr>
              <a:t>alongwith</a:t>
            </a:r>
            <a:r>
              <a:rPr lang="en-US" sz="1700" kern="0" spc="-80" dirty="0">
                <a:solidFill>
                  <a:schemeClr val="accent6"/>
                </a:solidFill>
              </a:rPr>
              <a:t> supporting local Hierarchies, also supports Cluster model). </a:t>
            </a:r>
            <a:endParaRPr lang="en-US" sz="1700" kern="0" spc="-80" dirty="0">
              <a:solidFill>
                <a:schemeClr val="tx2">
                  <a:lumMod val="60000"/>
                  <a:lumOff val="40000"/>
                </a:schemeClr>
              </a:solidFill>
            </a:endParaRPr>
          </a:p>
          <a:p>
            <a:pPr marL="12700" marR="5080"/>
            <a:r>
              <a:rPr lang="en-US" sz="1400" kern="0" spc="-80" dirty="0">
                <a:solidFill>
                  <a:schemeClr val="tx2">
                    <a:lumMod val="60000"/>
                    <a:lumOff val="40000"/>
                  </a:schemeClr>
                </a:solidFill>
              </a:rPr>
              <a:t>     </a:t>
            </a:r>
            <a:r>
              <a:rPr lang="en-US" sz="1500" kern="0" spc="-80" dirty="0">
                <a:solidFill>
                  <a:schemeClr val="tx2">
                    <a:lumMod val="60000"/>
                    <a:lumOff val="40000"/>
                  </a:schemeClr>
                </a:solidFill>
              </a:rPr>
              <a:t> </a:t>
            </a:r>
            <a:r>
              <a:rPr lang="en-US" sz="1500" dirty="0">
                <a:hlinkClick r:id="rId8"/>
              </a:rPr>
              <a:t>How Actors Recover from Failure | </a:t>
            </a:r>
            <a:r>
              <a:rPr lang="en-US" sz="1500" dirty="0" err="1">
                <a:hlinkClick r:id="rId8"/>
              </a:rPr>
              <a:t>Petabridge</a:t>
            </a:r>
            <a:endParaRPr lang="en-US" sz="1500" kern="0" spc="-80" dirty="0">
              <a:solidFill>
                <a:schemeClr val="tx2">
                  <a:lumMod val="60000"/>
                  <a:lumOff val="40000"/>
                </a:schemeClr>
              </a:solidFill>
            </a:endParaRPr>
          </a:p>
          <a:p>
            <a:pPr marL="12700" marR="5080"/>
            <a:r>
              <a:rPr lang="en-US" sz="1500" kern="0" spc="-80" dirty="0">
                <a:solidFill>
                  <a:schemeClr val="tx2">
                    <a:lumMod val="60000"/>
                    <a:lumOff val="40000"/>
                  </a:schemeClr>
                </a:solidFill>
              </a:rPr>
              <a:t>      </a:t>
            </a:r>
            <a:r>
              <a:rPr lang="en-US" sz="1500" dirty="0">
                <a:hlinkClick r:id="rId9"/>
              </a:rPr>
              <a:t>Meet the Top Akka.NET Design Patterns | </a:t>
            </a:r>
            <a:r>
              <a:rPr lang="en-US" sz="1500" dirty="0" err="1">
                <a:hlinkClick r:id="rId9"/>
              </a:rPr>
              <a:t>Petabridge</a:t>
            </a:r>
            <a:endParaRPr lang="en-US" sz="1500" dirty="0"/>
          </a:p>
          <a:p>
            <a:pPr marL="12700" marR="5080"/>
            <a:r>
              <a:rPr lang="en-US" sz="1700" kern="0" spc="-80" dirty="0">
                <a:solidFill>
                  <a:schemeClr val="tx2">
                    <a:lumMod val="60000"/>
                    <a:lumOff val="40000"/>
                  </a:schemeClr>
                </a:solidFill>
              </a:rPr>
              <a:t>        </a:t>
            </a:r>
            <a:r>
              <a:rPr lang="en-US" sz="1700" kern="0" spc="-80" dirty="0">
                <a:solidFill>
                  <a:schemeClr val="accent2"/>
                </a:solidFill>
              </a:rPr>
              <a:t>But do we really need App Level Self Healing? </a:t>
            </a:r>
            <a:r>
              <a:rPr lang="en-US" sz="1700" kern="0" spc="-80" dirty="0">
                <a:solidFill>
                  <a:schemeClr val="tx2">
                    <a:lumMod val="60000"/>
                    <a:lumOff val="40000"/>
                  </a:schemeClr>
                </a:solidFill>
              </a:rPr>
              <a:t>Seems K8s (&amp; Service Mesh) based Clustering &amp; System Level Self Healing is sufficient for most real world apps. If real App level healing is needed, then that can be done using something similar to Presence Detection Services approaches used in Chat/IoT Systems.</a:t>
            </a:r>
            <a:endParaRPr lang="en-US" sz="1700" kern="0" spc="-80" dirty="0">
              <a:solidFill>
                <a:schemeClr val="accent6"/>
              </a:solidFill>
            </a:endParaRPr>
          </a:p>
        </p:txBody>
      </p:sp>
    </p:spTree>
    <p:extLst>
      <p:ext uri="{BB962C8B-B14F-4D97-AF65-F5344CB8AC3E}">
        <p14:creationId xmlns:p14="http://schemas.microsoft.com/office/powerpoint/2010/main" val="49719576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000" kern="0" spc="-80" dirty="0">
                <a:solidFill>
                  <a:schemeClr val="accent2"/>
                </a:solidFill>
              </a:rPr>
              <a:t>   Self Healing(3 Levels) </a:t>
            </a:r>
            <a:r>
              <a:rPr lang="en-US" sz="2000" kern="0" spc="-80" dirty="0" err="1">
                <a:solidFill>
                  <a:schemeClr val="accent2"/>
                </a:solidFill>
              </a:rPr>
              <a:t>contd</a:t>
            </a:r>
            <a:r>
              <a:rPr lang="en-US" sz="2000" kern="0" spc="-80" dirty="0">
                <a:solidFill>
                  <a:schemeClr val="accent2"/>
                </a:solidFill>
              </a:rPr>
              <a:t> … – </a:t>
            </a:r>
          </a:p>
          <a:p>
            <a:pPr marL="12700" marR="5080"/>
            <a:r>
              <a:rPr lang="en-US" sz="1800" kern="0" spc="-80" dirty="0">
                <a:solidFill>
                  <a:schemeClr val="accent2"/>
                </a:solidFill>
              </a:rPr>
              <a:t>    Hardware Level - </a:t>
            </a:r>
            <a:r>
              <a:rPr lang="en-US" sz="1800" kern="0" spc="-80" dirty="0">
                <a:solidFill>
                  <a:schemeClr val="accent6"/>
                </a:solidFill>
              </a:rPr>
              <a:t>True hardware level self-healing (for example, a machine that can heal failed memory or repair a broken hard disk) does not exist. It’s still in the sci-fi realm and is leading to a newfound appreciation for biology, spurring fresh interest in </a:t>
            </a:r>
            <a:r>
              <a:rPr lang="en-US" sz="1800" kern="0" spc="-80" dirty="0">
                <a:solidFill>
                  <a:schemeClr val="tx2">
                    <a:lumMod val="60000"/>
                    <a:lumOff val="40000"/>
                  </a:schemeClr>
                </a:solidFill>
              </a:rPr>
              <a:t>biological computing(check </a:t>
            </a:r>
            <a:r>
              <a:rPr lang="en-US" sz="1800" dirty="0">
                <a:hlinkClick r:id="rId7"/>
              </a:rPr>
              <a:t>IISc scientists develop brain-inspired analog computing platform</a:t>
            </a:r>
            <a:r>
              <a:rPr lang="en-US" sz="1800" kern="0" spc="-80" dirty="0">
                <a:solidFill>
                  <a:schemeClr val="tx2">
                    <a:lumMod val="60000"/>
                    <a:lumOff val="40000"/>
                  </a:schemeClr>
                </a:solidFill>
              </a:rPr>
              <a:t>)</a:t>
            </a:r>
            <a:r>
              <a:rPr lang="en-US" sz="1800" kern="0" spc="-80" dirty="0">
                <a:solidFill>
                  <a:schemeClr val="accent6"/>
                </a:solidFill>
              </a:rPr>
              <a:t>.</a:t>
            </a:r>
          </a:p>
          <a:p>
            <a:pPr marL="12700" marR="5080"/>
            <a:r>
              <a:rPr lang="en-US" sz="1800" kern="0" spc="-80" dirty="0">
                <a:solidFill>
                  <a:schemeClr val="accent6"/>
                </a:solidFill>
              </a:rPr>
              <a:t>   </a:t>
            </a:r>
            <a:r>
              <a:rPr lang="en-US" sz="1800" kern="0" spc="-80" dirty="0">
                <a:solidFill>
                  <a:schemeClr val="accent2"/>
                </a:solidFill>
              </a:rPr>
              <a:t>SPOF(Single Point of Failure) –</a:t>
            </a:r>
          </a:p>
          <a:p>
            <a:pPr marL="12700" marR="5080"/>
            <a:r>
              <a:rPr lang="en-US" sz="1800" kern="0" spc="-80" dirty="0">
                <a:solidFill>
                  <a:schemeClr val="accent2"/>
                </a:solidFill>
              </a:rPr>
              <a:t>       Handling SPOF – </a:t>
            </a:r>
          </a:p>
          <a:p>
            <a:pPr marL="12700" marR="5080"/>
            <a:r>
              <a:rPr lang="en-US" sz="1800" kern="0" spc="-80" dirty="0">
                <a:solidFill>
                  <a:schemeClr val="accent6"/>
                </a:solidFill>
              </a:rPr>
              <a:t>       1) A worker in a cluster can become a master using Leader Election Algo.</a:t>
            </a:r>
          </a:p>
          <a:p>
            <a:pPr marL="12700" marR="5080"/>
            <a:r>
              <a:rPr lang="en-US" sz="1800" kern="0" spc="-80" dirty="0">
                <a:solidFill>
                  <a:schemeClr val="accent6"/>
                </a:solidFill>
              </a:rPr>
              <a:t>       2) If possible, have multiple SPOF resources communicate with each other via P2P Networking.</a:t>
            </a:r>
          </a:p>
          <a:p>
            <a:pPr marL="12700" marR="5080"/>
            <a:r>
              <a:rPr lang="en-US" sz="1800" kern="0" spc="-80" dirty="0">
                <a:solidFill>
                  <a:schemeClr val="accent6"/>
                </a:solidFill>
              </a:rPr>
              <a:t>       3) Use vertically scaled SPOF resources</a:t>
            </a:r>
          </a:p>
          <a:p>
            <a:pPr marL="12700" marR="5080"/>
            <a:r>
              <a:rPr lang="en-US" sz="1800" kern="0" spc="-80" dirty="0">
                <a:solidFill>
                  <a:schemeClr val="accent2"/>
                </a:solidFill>
              </a:rPr>
              <a:t>  For Further Exploration(mainly Global System Design Considerations) – </a:t>
            </a:r>
          </a:p>
          <a:p>
            <a:pPr marL="12700" marR="5080"/>
            <a:r>
              <a:rPr lang="en-US" sz="1500" dirty="0">
                <a:hlinkClick r:id="rId8"/>
              </a:rPr>
              <a:t>What are the biggest challenges of designing a global system architecture?</a:t>
            </a:r>
            <a:endParaRPr lang="en-US" sz="1500" dirty="0"/>
          </a:p>
          <a:p>
            <a:pPr marL="12700" marR="5080"/>
            <a:r>
              <a:rPr lang="en-US" sz="1500" dirty="0">
                <a:hlinkClick r:id="rId9"/>
              </a:rPr>
              <a:t>Localization Checklist: Top Tips and Tools</a:t>
            </a:r>
            <a:endParaRPr lang="en-US" sz="1500" dirty="0"/>
          </a:p>
          <a:p>
            <a:pPr marL="12700" marR="5080"/>
            <a:r>
              <a:rPr lang="en-IN" sz="1500" dirty="0">
                <a:hlinkClick r:id="rId10"/>
              </a:rPr>
              <a:t>Availability Regions and Zones for AWS, Azure &amp; GCP – BMC Software | Blogs</a:t>
            </a:r>
            <a:endParaRPr lang="en-IN" sz="1500" dirty="0"/>
          </a:p>
          <a:p>
            <a:pPr marL="12700" marR="5080"/>
            <a:r>
              <a:rPr lang="en-IN" sz="1500" dirty="0">
                <a:hlinkClick r:id="rId11"/>
              </a:rPr>
              <a:t>AWS Global Cloud Infrastructure: Regions, Zones &amp; More – BMC Software | Blogs</a:t>
            </a:r>
            <a:endParaRPr lang="en-IN" sz="1500" dirty="0"/>
          </a:p>
          <a:p>
            <a:pPr marL="12700" marR="5080"/>
            <a:r>
              <a:rPr lang="en-US" sz="1500" dirty="0">
                <a:hlinkClick r:id="rId12"/>
              </a:rPr>
              <a:t>Azure Global Infrastructure Cheat Sheet</a:t>
            </a:r>
            <a:endParaRPr lang="en-US" sz="1500" kern="0" spc="-80" dirty="0">
              <a:solidFill>
                <a:schemeClr val="accent2"/>
              </a:solidFill>
            </a:endParaRPr>
          </a:p>
        </p:txBody>
      </p:sp>
    </p:spTree>
    <p:extLst>
      <p:ext uri="{BB962C8B-B14F-4D97-AF65-F5344CB8AC3E}">
        <p14:creationId xmlns:p14="http://schemas.microsoft.com/office/powerpoint/2010/main" val="323427256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Timeout</a:t>
            </a:r>
            <a:r>
              <a:rPr lang="en-US" sz="2400" kern="0" spc="-80" dirty="0">
                <a:solidFill>
                  <a:schemeClr val="accent6"/>
                </a:solidFill>
              </a:rPr>
              <a:t> – This is the simplest one. You make request to some external API and wait for it to send the response &amp; if you don’t get the response within some specified threshold limit, handle this as per requirements.</a:t>
            </a:r>
          </a:p>
          <a:p>
            <a:pPr marL="12700" marR="5080"/>
            <a:r>
              <a:rPr lang="en-US" sz="2400" kern="0" spc="-80" dirty="0">
                <a:solidFill>
                  <a:schemeClr val="accent6"/>
                </a:solidFill>
              </a:rPr>
              <a:t>       </a:t>
            </a:r>
            <a:r>
              <a:rPr lang="en-US" sz="2400" kern="0" spc="-80" dirty="0">
                <a:solidFill>
                  <a:schemeClr val="tx2">
                    <a:lumMod val="60000"/>
                    <a:lumOff val="40000"/>
                  </a:schemeClr>
                </a:solidFill>
              </a:rPr>
              <a:t>COTS/Cloud Products with inbuilt non-configurable timeouts (maybe beyond certain limit) can create issues[Discussion].</a:t>
            </a:r>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Retry(for transient failures) – </a:t>
            </a:r>
          </a:p>
          <a:p>
            <a:pPr marL="12700" marR="5080"/>
            <a:r>
              <a:rPr lang="en-US" sz="2400" kern="0" spc="-80" dirty="0">
                <a:solidFill>
                  <a:schemeClr val="accent6"/>
                </a:solidFill>
              </a:rPr>
              <a:t>      </a:t>
            </a:r>
            <a:r>
              <a:rPr lang="en-US" sz="2400" kern="0" spc="-80" dirty="0">
                <a:solidFill>
                  <a:schemeClr val="accent2"/>
                </a:solidFill>
              </a:rPr>
              <a:t>Normal</a:t>
            </a:r>
            <a:r>
              <a:rPr lang="en-US" sz="2400" kern="0" spc="-80" dirty="0">
                <a:solidFill>
                  <a:schemeClr val="accent6"/>
                </a:solidFill>
              </a:rPr>
              <a:t> – the number of retries can be configured. But problem with just configuring number of retries is that if N clients are calling some API with retries, the API can get overloaded with requests.</a:t>
            </a:r>
          </a:p>
          <a:p>
            <a:pPr marL="12700" marR="5080"/>
            <a:r>
              <a:rPr lang="en-US" sz="2400" kern="0" spc="-80" dirty="0">
                <a:solidFill>
                  <a:schemeClr val="accent2"/>
                </a:solidFill>
              </a:rPr>
              <a:t>       </a:t>
            </a: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3413580610"/>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5092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Retry(for transient failures) </a:t>
            </a:r>
            <a:r>
              <a:rPr lang="en-US" sz="2400" kern="0" spc="-80" dirty="0" err="1">
                <a:solidFill>
                  <a:schemeClr val="accent2"/>
                </a:solidFill>
              </a:rPr>
              <a:t>contd</a:t>
            </a:r>
            <a:r>
              <a:rPr lang="en-US" sz="2400" kern="0" spc="-80" dirty="0">
                <a:solidFill>
                  <a:schemeClr val="accent2"/>
                </a:solidFill>
              </a:rPr>
              <a:t> …– </a:t>
            </a:r>
          </a:p>
          <a:p>
            <a:pPr marL="12700" marR="5080"/>
            <a:r>
              <a:rPr lang="en-US" sz="2400" kern="0" spc="-80" dirty="0">
                <a:solidFill>
                  <a:schemeClr val="accent6"/>
                </a:solidFill>
              </a:rPr>
              <a:t>      </a:t>
            </a:r>
            <a:r>
              <a:rPr lang="en-US" sz="2400" kern="0" spc="-80" dirty="0">
                <a:solidFill>
                  <a:schemeClr val="accent2"/>
                </a:solidFill>
              </a:rPr>
              <a:t>Exponential </a:t>
            </a:r>
            <a:r>
              <a:rPr lang="en-US" sz="2400" kern="0" spc="-80" dirty="0" err="1">
                <a:solidFill>
                  <a:schemeClr val="accent2"/>
                </a:solidFill>
              </a:rPr>
              <a:t>BackOff</a:t>
            </a:r>
            <a:r>
              <a:rPr lang="en-US" sz="2400" kern="0" spc="-80" dirty="0">
                <a:solidFill>
                  <a:schemeClr val="accent6"/>
                </a:solidFill>
              </a:rPr>
              <a:t> – increasing the time between individual retries(e.g. 2secs, 4 secs, 8 secs, 16 secs…).But again this can lead a client sometimes to wait too long.</a:t>
            </a:r>
          </a:p>
          <a:p>
            <a:pPr marL="12700" marR="5080"/>
            <a:r>
              <a:rPr lang="en-US" sz="2400" kern="0" spc="-80" dirty="0">
                <a:solidFill>
                  <a:schemeClr val="accent6"/>
                </a:solidFill>
              </a:rPr>
              <a:t>      </a:t>
            </a:r>
            <a:r>
              <a:rPr lang="en-US" sz="2400" kern="0" spc="-80" dirty="0">
                <a:solidFill>
                  <a:schemeClr val="accent2"/>
                </a:solidFill>
              </a:rPr>
              <a:t>Capped Exponential Backoff </a:t>
            </a:r>
            <a:r>
              <a:rPr lang="en-US" sz="2400" kern="0" spc="-80" dirty="0">
                <a:solidFill>
                  <a:schemeClr val="accent6"/>
                </a:solidFill>
              </a:rPr>
              <a:t>– Set a max </a:t>
            </a:r>
            <a:r>
              <a:rPr lang="en-US" sz="2400" kern="0" spc="-80" dirty="0" err="1">
                <a:solidFill>
                  <a:schemeClr val="accent6"/>
                </a:solidFill>
              </a:rPr>
              <a:t>Threshhold</a:t>
            </a:r>
            <a:r>
              <a:rPr lang="en-US" sz="2400" kern="0" spc="-80" dirty="0">
                <a:solidFill>
                  <a:schemeClr val="accent6"/>
                </a:solidFill>
              </a:rPr>
              <a:t> value on the Exponential backoff value.</a:t>
            </a:r>
          </a:p>
          <a:p>
            <a:pPr marL="12700" marR="5080"/>
            <a:r>
              <a:rPr lang="en-US" sz="2400" kern="0" spc="-80" dirty="0">
                <a:solidFill>
                  <a:schemeClr val="accent6"/>
                </a:solidFill>
              </a:rPr>
              <a:t>       </a:t>
            </a:r>
            <a:r>
              <a:rPr lang="en-US" sz="2400" kern="0" spc="-80" dirty="0">
                <a:solidFill>
                  <a:schemeClr val="accent2"/>
                </a:solidFill>
              </a:rPr>
              <a:t>Jitter</a:t>
            </a:r>
            <a:r>
              <a:rPr lang="en-US" sz="2400" kern="0" spc="-80" dirty="0">
                <a:solidFill>
                  <a:schemeClr val="accent6"/>
                </a:solidFill>
              </a:rPr>
              <a:t> – A random amount of time between each retry to prevent large bursts by spreading out the arrival rate.</a:t>
            </a:r>
          </a:p>
          <a:p>
            <a:pPr marL="12700" marR="5080"/>
            <a:r>
              <a:rPr lang="en-US" sz="2400" kern="0" spc="-80" dirty="0">
                <a:solidFill>
                  <a:schemeClr val="accent2"/>
                </a:solidFill>
              </a:rPr>
              <a:t>For Further Exploration</a:t>
            </a:r>
            <a:endParaRPr lang="en-US" sz="2400" kern="0" spc="-80" dirty="0">
              <a:solidFill>
                <a:schemeClr val="accent6"/>
              </a:solidFill>
            </a:endParaRPr>
          </a:p>
          <a:p>
            <a:pPr marL="12700" marR="5080"/>
            <a:r>
              <a:rPr lang="en-US" sz="1500" kern="0" spc="-80" dirty="0">
                <a:solidFill>
                  <a:schemeClr val="accent6"/>
                </a:solidFill>
              </a:rPr>
              <a:t> </a:t>
            </a:r>
            <a:r>
              <a:rPr lang="en-US" sz="1500" dirty="0">
                <a:hlinkClick r:id="rId7"/>
              </a:rPr>
              <a:t>Timeouts, retries and backoff with jitter</a:t>
            </a:r>
            <a:r>
              <a:rPr lang="en-US" sz="2400" kern="0" spc="-80" dirty="0">
                <a:solidFill>
                  <a:schemeClr val="accent2"/>
                </a:solidFill>
              </a:rPr>
              <a:t> </a:t>
            </a:r>
          </a:p>
          <a:p>
            <a:pPr marL="12700" marR="5080"/>
            <a:r>
              <a:rPr lang="en-US" sz="2400" kern="0" spc="-80" dirty="0">
                <a:solidFill>
                  <a:schemeClr val="accent2"/>
                </a:solidFill>
              </a:rPr>
              <a:t> </a:t>
            </a:r>
            <a:r>
              <a:rPr lang="en-US" sz="1500" dirty="0">
                <a:hlinkClick r:id="rId8"/>
              </a:rPr>
              <a:t>Resilient .NET Application with Polly Resilience Pipelines</a:t>
            </a:r>
            <a:endParaRPr lang="en-US" sz="1500" dirty="0"/>
          </a:p>
          <a:p>
            <a:pPr marL="12700" marR="5080"/>
            <a:r>
              <a:rPr lang="en-US" sz="1500" dirty="0"/>
              <a:t> </a:t>
            </a:r>
            <a:r>
              <a:rPr lang="en-US" sz="1500" dirty="0">
                <a:hlinkClick r:id="rId9"/>
              </a:rPr>
              <a:t>Building resilient cloud services with .NET 8 - .NET Blog</a:t>
            </a:r>
            <a:r>
              <a:rPr lang="en-US" sz="1500" kern="0" spc="-80" dirty="0">
                <a:solidFill>
                  <a:schemeClr val="accent2"/>
                </a:solidFill>
              </a:rPr>
              <a:t>  </a:t>
            </a:r>
          </a:p>
          <a:p>
            <a:pPr marL="12700" marR="5080"/>
            <a:r>
              <a:rPr lang="en-US" sz="1500" kern="0" spc="-80" dirty="0">
                <a:solidFill>
                  <a:schemeClr val="accent2"/>
                </a:solidFill>
              </a:rPr>
              <a:t> </a:t>
            </a:r>
            <a:r>
              <a:rPr lang="en-US" sz="1600" dirty="0">
                <a:hlinkClick r:id="rId10"/>
              </a:rPr>
              <a:t>Build resilient HTTP apps: Key development patterns - .NET | Microsoft Learn</a:t>
            </a:r>
            <a:endParaRPr lang="en-US" sz="1500" kern="0" spc="-80" dirty="0">
              <a:solidFill>
                <a:schemeClr val="accent2"/>
              </a:solidFill>
            </a:endParaRPr>
          </a:p>
          <a:p>
            <a:pPr marL="12700" marR="5080"/>
            <a:r>
              <a:rPr lang="en-US" sz="1500" kern="0" spc="-80" dirty="0">
                <a:solidFill>
                  <a:schemeClr val="accent2"/>
                </a:solidFill>
              </a:rPr>
              <a:t>   </a:t>
            </a:r>
            <a:endParaRPr lang="en-US" sz="1500" kern="0" spc="-80" dirty="0">
              <a:solidFill>
                <a:schemeClr val="accent6"/>
              </a:solidFill>
            </a:endParaRPr>
          </a:p>
        </p:txBody>
      </p:sp>
    </p:spTree>
    <p:extLst>
      <p:ext uri="{BB962C8B-B14F-4D97-AF65-F5344CB8AC3E}">
        <p14:creationId xmlns:p14="http://schemas.microsoft.com/office/powerpoint/2010/main" val="1105990384"/>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Circuit Breaker –    </a:t>
            </a:r>
          </a:p>
        </p:txBody>
      </p:sp>
      <p:pic>
        <p:nvPicPr>
          <p:cNvPr id="1026" name="Picture 2" descr="Circuit Breaker states">
            <a:extLst>
              <a:ext uri="{FF2B5EF4-FFF2-40B4-BE49-F238E27FC236}">
                <a16:creationId xmlns:a16="http://schemas.microsoft.com/office/drawing/2014/main" id="{2DCC28EC-1787-22DC-A289-9BB5384BDEA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7200" y="1828800"/>
            <a:ext cx="8305799" cy="3352799"/>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38174B95-2736-8079-E33E-A680F8CC0E2E}"/>
              </a:ext>
            </a:extLst>
          </p:cNvPr>
          <p:cNvSpPr txBox="1">
            <a:spLocks/>
          </p:cNvSpPr>
          <p:nvPr/>
        </p:nvSpPr>
        <p:spPr>
          <a:xfrm>
            <a:off x="228600" y="5432121"/>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Circuit Breaker pattern - Azure Architecture Center | Microsoft Learn</a:t>
            </a:r>
            <a:endParaRPr lang="en-US" sz="1500" kern="0" spc="-80" dirty="0">
              <a:solidFill>
                <a:schemeClr val="accent6"/>
              </a:solidFill>
            </a:endParaRPr>
          </a:p>
        </p:txBody>
      </p:sp>
    </p:spTree>
    <p:extLst>
      <p:ext uri="{BB962C8B-B14F-4D97-AF65-F5344CB8AC3E}">
        <p14:creationId xmlns:p14="http://schemas.microsoft.com/office/powerpoint/2010/main" val="9051809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a:t>
            </a:r>
            <a:r>
              <a:rPr lang="en-US" sz="2400" kern="0" spc="-80" dirty="0" err="1">
                <a:solidFill>
                  <a:schemeClr val="accent2"/>
                </a:solidFill>
              </a:rPr>
              <a:t>contd</a:t>
            </a:r>
            <a:r>
              <a:rPr lang="en-US" sz="2400" kern="0" spc="-80" dirty="0">
                <a:solidFill>
                  <a:schemeClr val="accent2"/>
                </a:solidFill>
              </a:rPr>
              <a:t> … – </a:t>
            </a:r>
          </a:p>
          <a:p>
            <a:pPr marL="12700" marR="5080"/>
            <a:r>
              <a:rPr lang="en-US" sz="1800" kern="0" spc="-80" dirty="0">
                <a:solidFill>
                  <a:schemeClr val="accent2"/>
                </a:solidFill>
              </a:rPr>
              <a:t>    </a:t>
            </a:r>
            <a:r>
              <a:rPr lang="en-US" sz="1800" kern="0" spc="-80" dirty="0">
                <a:solidFill>
                  <a:schemeClr val="accent6"/>
                </a:solidFill>
              </a:rPr>
              <a:t>A small framework related to all the Resiliency Patterns based on OOP/FP principles- </a:t>
            </a:r>
            <a:r>
              <a:rPr lang="en-US" sz="2000" kern="0" spc="-80" dirty="0">
                <a:solidFill>
                  <a:schemeClr val="accent6"/>
                </a:solidFill>
              </a:rPr>
              <a:t> </a:t>
            </a:r>
          </a:p>
          <a:p>
            <a:pPr marL="12700" marR="5080"/>
            <a:r>
              <a:rPr lang="en-US" sz="2000" kern="0" spc="-80" dirty="0">
                <a:solidFill>
                  <a:schemeClr val="accent6"/>
                </a:solidFill>
              </a:rPr>
              <a:t> </a:t>
            </a:r>
            <a:r>
              <a:rPr lang="en-IN" sz="1200" dirty="0">
                <a:hlinkClick r:id="rId7"/>
              </a:rPr>
              <a:t>DDD-Based-Enterprise-Application-Framework/Infrastructure/</a:t>
            </a:r>
            <a:r>
              <a:rPr lang="en-IN" sz="1200" dirty="0" err="1">
                <a:hlinkClick r:id="rId7"/>
              </a:rPr>
              <a:t>ExceptionHandling</a:t>
            </a:r>
            <a:r>
              <a:rPr lang="en-IN" sz="1200" dirty="0">
                <a:hlinkClick r:id="rId7"/>
              </a:rPr>
              <a:t> at master · sandipray63in/DDD-Based-Enterprise-Application-Framework · GitHub</a:t>
            </a:r>
            <a:r>
              <a:rPr lang="en-US" sz="1600" kern="0" spc="-80" dirty="0">
                <a:solidFill>
                  <a:schemeClr val="accent6"/>
                </a:solidFill>
              </a:rPr>
              <a:t> </a:t>
            </a:r>
          </a:p>
          <a:p>
            <a:pPr marL="12700" marR="5080"/>
            <a:r>
              <a:rPr lang="en-US" sz="2400" kern="0" spc="-80" dirty="0">
                <a:solidFill>
                  <a:schemeClr val="accent2"/>
                </a:solidFill>
              </a:rPr>
              <a:t>   </a:t>
            </a:r>
          </a:p>
          <a:p>
            <a:pPr marL="12700" marR="5080"/>
            <a:r>
              <a:rPr lang="en-US" sz="2400" kern="0" spc="-80" dirty="0">
                <a:solidFill>
                  <a:schemeClr val="accent2"/>
                </a:solidFill>
              </a:rPr>
              <a:t>    </a:t>
            </a:r>
            <a:r>
              <a:rPr lang="en-US" sz="1800" kern="0" spc="-80" dirty="0">
                <a:solidFill>
                  <a:schemeClr val="accent6"/>
                </a:solidFill>
              </a:rPr>
              <a:t>A more generic approach to the above framework probably would be to consolidate the (most important) Resiliency Patterns in the following order(using C# Task Continuation) </a:t>
            </a:r>
          </a:p>
          <a:p>
            <a:pPr marL="12700" marR="5080"/>
            <a:r>
              <a:rPr lang="en-US" sz="1800" kern="0" spc="-80" dirty="0">
                <a:solidFill>
                  <a:schemeClr val="accent6"/>
                </a:solidFill>
              </a:rPr>
              <a:t>   Timeout</a:t>
            </a:r>
          </a:p>
          <a:p>
            <a:pPr marL="12700" marR="5080"/>
            <a:r>
              <a:rPr lang="en-US" sz="1800" kern="0" spc="-80" dirty="0">
                <a:solidFill>
                  <a:schemeClr val="accent6"/>
                </a:solidFill>
              </a:rPr>
              <a:t>   Retry(with Jitter)</a:t>
            </a:r>
          </a:p>
          <a:p>
            <a:pPr marL="12700" marR="5080"/>
            <a:r>
              <a:rPr lang="en-US" sz="1800" kern="0" spc="-80" dirty="0">
                <a:solidFill>
                  <a:schemeClr val="accent6"/>
                </a:solidFill>
              </a:rPr>
              <a:t>   Circuit Breaker</a:t>
            </a:r>
          </a:p>
          <a:p>
            <a:pPr marL="12700" marR="5080"/>
            <a:endParaRPr lang="en-US" sz="1800" kern="0" spc="-80" dirty="0">
              <a:solidFill>
                <a:schemeClr val="accent6"/>
              </a:solidFill>
            </a:endParaRPr>
          </a:p>
          <a:p>
            <a:pPr marL="12700" marR="5080"/>
            <a:r>
              <a:rPr lang="en-US" sz="2000" kern="0" spc="-80" dirty="0">
                <a:solidFill>
                  <a:schemeClr val="accent2"/>
                </a:solidFill>
              </a:rPr>
              <a:t>For Further Exploration(Dead/Poison Letter queues also provide resiliency ultimately) – </a:t>
            </a:r>
          </a:p>
          <a:p>
            <a:pPr marL="12700" marR="5080"/>
            <a:r>
              <a:rPr lang="en-US" sz="1500" dirty="0">
                <a:hlinkClick r:id="rId8"/>
              </a:rPr>
              <a:t>Dead Letter Queue and Poison Queues - Stack Overflow</a:t>
            </a:r>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66769744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5DEDC-C2AF-F10A-C494-7EE8D3F4D5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FA563-CC1C-25E5-FF8A-27CCB6FAB2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2E33D1-4222-B1A1-92BC-C260FD77D7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FD76C6-A7C2-FE7D-AB55-F697F39C33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AAE982-3816-9F8F-F71C-63359133E1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B568A0-EF7C-1623-20B3-466AB5CC88BE}"/>
              </a:ext>
            </a:extLst>
          </p:cNvPr>
          <p:cNvSpPr txBox="1">
            <a:spLocks/>
          </p:cNvSpPr>
          <p:nvPr/>
        </p:nvSpPr>
        <p:spPr>
          <a:xfrm>
            <a:off x="292640" y="697468"/>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700" kern="0" spc="-80" dirty="0">
                <a:solidFill>
                  <a:schemeClr val="accent2"/>
                </a:solidFill>
              </a:rPr>
              <a:t>Key Self-Healing Techniques:</a:t>
            </a:r>
          </a:p>
          <a:p>
            <a:pPr marL="12700" marR="5080"/>
            <a:r>
              <a:rPr lang="en-US" sz="1700" kern="0" spc="-80" dirty="0">
                <a:solidFill>
                  <a:schemeClr val="accent2"/>
                </a:solidFill>
              </a:rPr>
              <a:t>Automatic restarts: </a:t>
            </a:r>
            <a:r>
              <a:rPr lang="en-US" sz="1700" kern="0" spc="-80" dirty="0">
                <a:solidFill>
                  <a:schemeClr val="accent6"/>
                </a:solidFill>
              </a:rPr>
              <a:t>The simplest form of self-healing, where a service is automatically restarted if it becomes unresponsive or crashes. This is effective for transient issues that a simple reboot can fix.</a:t>
            </a:r>
            <a:r>
              <a:rPr lang="en-US" sz="1600" kern="0" spc="-80" dirty="0">
                <a:solidFill>
                  <a:schemeClr val="accent6"/>
                </a:solidFill>
              </a:rPr>
              <a:t> The system executes pre-programmed corrective actions, such as restarting a service, reallocating resources, or patching a bug.</a:t>
            </a:r>
            <a:br>
              <a:rPr lang="en-US" sz="1600" kern="0" spc="-80" dirty="0">
                <a:solidFill>
                  <a:schemeClr val="accent6"/>
                </a:solidFill>
              </a:rPr>
            </a:br>
            <a:r>
              <a:rPr lang="en-US" sz="1700" kern="0" spc="-80" dirty="0">
                <a:solidFill>
                  <a:schemeClr val="accent2"/>
                </a:solidFill>
              </a:rPr>
              <a:t>Retry Policies: </a:t>
            </a:r>
            <a:r>
              <a:rPr lang="en-US" sz="1700" kern="0" spc="-80" dirty="0">
                <a:solidFill>
                  <a:schemeClr val="accent6"/>
                </a:solidFill>
              </a:rPr>
              <a:t>Automatically re-attempt failed API calls, as some issues are transient and can be resolved with a single retry. An effective retry pattern uses exponential backoff, waiting progressively longer before each retry to avoid overwhelming a failing service.</a:t>
            </a:r>
            <a:br>
              <a:rPr lang="en-US" sz="1700" kern="0" spc="-80" dirty="0">
                <a:solidFill>
                  <a:schemeClr val="accent6"/>
                </a:solidFill>
              </a:rPr>
            </a:br>
            <a:r>
              <a:rPr lang="en-US" sz="1700" kern="0" spc="-80" dirty="0">
                <a:solidFill>
                  <a:schemeClr val="accent2"/>
                </a:solidFill>
              </a:rPr>
              <a:t>Circuit Breakers:</a:t>
            </a:r>
            <a:r>
              <a:rPr lang="en-US" sz="1700" kern="0" spc="-80" dirty="0">
                <a:solidFill>
                  <a:schemeClr val="accent6"/>
                </a:solidFill>
              </a:rPr>
              <a:t> Monitor service calls and, upon detecting repeated failures, temporarily halt requests to a failing service, allowing it to recover and preventing cascading failures. Prevents a background service from repeatedly trying to access a failing dependency. After a set number of failures, the circuit "opens" and prevents further calls to that dependency, protecting both services.</a:t>
            </a:r>
          </a:p>
          <a:p>
            <a:pPr marL="12700" marR="5080"/>
            <a:r>
              <a:rPr lang="en-US" sz="1700" kern="0" spc="-80" dirty="0">
                <a:solidFill>
                  <a:schemeClr val="accent2"/>
                </a:solidFill>
              </a:rPr>
              <a:t>Fallback Mechanisms: </a:t>
            </a:r>
            <a:r>
              <a:rPr lang="en-US" sz="1700" kern="0" spc="-80" dirty="0">
                <a:solidFill>
                  <a:schemeClr val="accent6"/>
                </a:solidFill>
              </a:rPr>
              <a:t>Implement a system to switch to a backup model or service when the primary service is down, ensuring users remain unaffected.</a:t>
            </a:r>
            <a:br>
              <a:rPr lang="en-US" sz="1700" kern="0" spc="-80" dirty="0">
                <a:solidFill>
                  <a:schemeClr val="accent6"/>
                </a:solidFill>
              </a:rPr>
            </a:br>
            <a:r>
              <a:rPr lang="en-US" sz="1800" kern="0" spc="-80" dirty="0">
                <a:solidFill>
                  <a:schemeClr val="accent6"/>
                </a:solidFill>
              </a:rPr>
              <a:t>    </a:t>
            </a:r>
          </a:p>
        </p:txBody>
      </p:sp>
    </p:spTree>
    <p:extLst>
      <p:ext uri="{BB962C8B-B14F-4D97-AF65-F5344CB8AC3E}">
        <p14:creationId xmlns:p14="http://schemas.microsoft.com/office/powerpoint/2010/main" val="214300761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4CFA9-EBDE-17A7-10BB-43A3DBC1D7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53F52D6-C4EA-4F04-5BB2-89EBD96C1F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0B29A0-32F2-5600-ABE7-CF419D543E9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16F3EE-536B-51A0-8BAB-9177142864E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6857570-CF9E-D509-48B1-437A15A0F0C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692403E-3507-7383-719D-CF18C79D5332}"/>
              </a:ext>
            </a:extLst>
          </p:cNvPr>
          <p:cNvSpPr txBox="1">
            <a:spLocks/>
          </p:cNvSpPr>
          <p:nvPr/>
        </p:nvSpPr>
        <p:spPr>
          <a:xfrm>
            <a:off x="292640" y="697468"/>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Health Checks:</a:t>
            </a:r>
            <a:r>
              <a:rPr lang="en-US" sz="1800" kern="0" spc="-80" dirty="0">
                <a:solidFill>
                  <a:schemeClr val="accent6"/>
                </a:solidFill>
              </a:rPr>
              <a:t> Services expose health endpoints that are periodically checked by a health monitor. If a health check fails, the monitoring tool can trigger a restart or removal of the unhealthy service instance. Continuously monitor the API's performance and stability, providing real-time alerts when issues arise.</a:t>
            </a:r>
            <a:br>
              <a:rPr lang="en-US" sz="1800" kern="0" spc="-80" dirty="0">
                <a:solidFill>
                  <a:schemeClr val="accent6"/>
                </a:solidFill>
              </a:rPr>
            </a:br>
            <a:r>
              <a:rPr lang="en-US" sz="1800" kern="0" spc="-80" dirty="0">
                <a:solidFill>
                  <a:schemeClr val="accent2"/>
                </a:solidFill>
              </a:rPr>
              <a:t>Automated Error Handling &amp; Transformation: </a:t>
            </a:r>
            <a:r>
              <a:rPr lang="en-US" sz="1800" kern="0" spc="-80" dirty="0">
                <a:solidFill>
                  <a:schemeClr val="accent6"/>
                </a:solidFill>
              </a:rPr>
              <a:t>Use AI or rule-based systems to automatically adapt to changes, such as when a data schema mismatches, by applying safe transformations or opening a ticket with a data snapshot.</a:t>
            </a:r>
            <a:br>
              <a:rPr lang="en-US" sz="1800" kern="0" spc="-80" dirty="0">
                <a:solidFill>
                  <a:schemeClr val="accent6"/>
                </a:solidFill>
              </a:rPr>
            </a:br>
            <a:r>
              <a:rPr lang="en-US" sz="1800" kern="0" spc="-80" dirty="0">
                <a:solidFill>
                  <a:schemeClr val="accent2"/>
                </a:solidFill>
              </a:rPr>
              <a:t>Real-time Monitoring and Alerting:</a:t>
            </a:r>
            <a:r>
              <a:rPr lang="en-US" sz="1800" kern="0" spc="-80" dirty="0">
                <a:solidFill>
                  <a:schemeClr val="accent6"/>
                </a:solidFill>
              </a:rPr>
              <a:t> Receive immediate notifications about service issues and automatically fix them, contributing to a more responsive system. Continuous tracking of system metrics (e.g., CPU usage, memory, network latency, error rates) to detect anomalies or potential issues.</a:t>
            </a:r>
            <a:br>
              <a:rPr lang="en-US" sz="1800" kern="0" spc="-80" dirty="0">
                <a:solidFill>
                  <a:schemeClr val="accent6"/>
                </a:solidFill>
              </a:rPr>
            </a:br>
            <a:r>
              <a:rPr lang="en-US" sz="1800" kern="0" spc="-80" dirty="0">
                <a:solidFill>
                  <a:schemeClr val="accent2"/>
                </a:solidFill>
              </a:rPr>
              <a:t>Adaptive Load Shedding: </a:t>
            </a:r>
            <a:r>
              <a:rPr lang="en-US" sz="1800" kern="0" spc="-80" dirty="0">
                <a:solidFill>
                  <a:schemeClr val="accent6"/>
                </a:solidFill>
              </a:rPr>
              <a:t>Use techniques like token buckets to manage load and shed excess traffic during periods of high demand or failure.</a:t>
            </a:r>
            <a:br>
              <a:rPr lang="en-US" sz="1800" kern="0" spc="-80" dirty="0">
                <a:solidFill>
                  <a:schemeClr val="accent6"/>
                </a:solidFill>
              </a:rPr>
            </a:br>
            <a:r>
              <a:rPr lang="en-US" sz="1800" kern="0" spc="-80" dirty="0">
                <a:solidFill>
                  <a:schemeClr val="accent2"/>
                </a:solidFill>
              </a:rPr>
              <a:t>Auto-Rollback: </a:t>
            </a:r>
            <a:r>
              <a:rPr lang="en-US" sz="1800" kern="0" spc="-80" dirty="0">
                <a:solidFill>
                  <a:schemeClr val="accent6"/>
                </a:solidFill>
              </a:rPr>
              <a:t>Automatically roll back a new feature or deployment if it correlates with a spike in errors or negative performance indicators.</a:t>
            </a:r>
          </a:p>
        </p:txBody>
      </p:sp>
    </p:spTree>
    <p:extLst>
      <p:ext uri="{BB962C8B-B14F-4D97-AF65-F5344CB8AC3E}">
        <p14:creationId xmlns:p14="http://schemas.microsoft.com/office/powerpoint/2010/main" val="2596598484"/>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6508B-74DB-E0C0-4DEC-436E6D27147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C01D62-659E-E50B-17B3-CF2C89EEC2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BC3290-586D-29AE-3532-3731621B231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6E9804-1D75-5C9A-BEF8-0C01A1FDD40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A13AE7-2A26-A9F4-4576-E3A2516514D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233E51C-2126-DC8F-194F-CCAA6DED8058}"/>
              </a:ext>
            </a:extLst>
          </p:cNvPr>
          <p:cNvSpPr txBox="1">
            <a:spLocks/>
          </p:cNvSpPr>
          <p:nvPr/>
        </p:nvSpPr>
        <p:spPr>
          <a:xfrm>
            <a:off x="292640" y="697468"/>
            <a:ext cx="8624937"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Queue-based work processing:</a:t>
            </a:r>
            <a:r>
              <a:rPr lang="en-US" sz="1800" kern="0" spc="-80" dirty="0">
                <a:solidFill>
                  <a:schemeClr val="accent6"/>
                </a:solidFill>
              </a:rPr>
              <a:t> Instead of direct communication, background services can pull tasks from a queue. If a service instance fails, the task returns to the queue and can be picked up by another, healthy instance, preventing data loss. </a:t>
            </a:r>
          </a:p>
          <a:p>
            <a:pPr marL="12700" marR="5080"/>
            <a:r>
              <a:rPr lang="en-US" sz="1800" kern="0" spc="-80" dirty="0">
                <a:solidFill>
                  <a:schemeClr val="accent2"/>
                </a:solidFill>
              </a:rPr>
              <a:t>Recovery: </a:t>
            </a:r>
            <a:r>
              <a:rPr lang="en-US" sz="1800" kern="0" spc="-80" dirty="0">
                <a:solidFill>
                  <a:schemeClr val="accent6"/>
                </a:solidFill>
              </a:rPr>
              <a:t>The API continues to operate, potentially with reduced functionality or by serving stale data from a cache, while the underlying issue is resolved.</a:t>
            </a:r>
            <a:br>
              <a:rPr lang="en-US" sz="1800" kern="0" spc="-80" dirty="0">
                <a:solidFill>
                  <a:schemeClr val="accent6"/>
                </a:solidFill>
              </a:rPr>
            </a:br>
            <a:r>
              <a:rPr lang="en-US" sz="1800" kern="0" spc="-80" dirty="0">
                <a:solidFill>
                  <a:schemeClr val="accent2"/>
                </a:solidFill>
              </a:rPr>
              <a:t>Anomaly detection: </a:t>
            </a:r>
            <a:r>
              <a:rPr lang="en-US" sz="1800" kern="0" spc="-80" dirty="0">
                <a:solidFill>
                  <a:schemeClr val="accent6"/>
                </a:solidFill>
              </a:rPr>
              <a:t>Uses predefined thresholds, baselines, or AI/machine learning to identify performance deviations and potential failures before they</a:t>
            </a:r>
          </a:p>
          <a:p>
            <a:pPr marL="12700" marR="5080"/>
            <a:r>
              <a:rPr lang="en-US" sz="1800" kern="0" spc="-80" dirty="0">
                <a:solidFill>
                  <a:schemeClr val="accent6"/>
                </a:solidFill>
              </a:rPr>
              <a:t>escalate into an outage.</a:t>
            </a:r>
            <a:br>
              <a:rPr lang="en-US" sz="1800" kern="0" spc="-80" dirty="0">
                <a:solidFill>
                  <a:schemeClr val="accent6"/>
                </a:solidFill>
              </a:rPr>
            </a:br>
            <a:r>
              <a:rPr lang="en-US" sz="1800" kern="0" spc="-80" dirty="0">
                <a:solidFill>
                  <a:schemeClr val="accent2"/>
                </a:solidFill>
              </a:rPr>
              <a:t>Root cause analysis: </a:t>
            </a:r>
            <a:r>
              <a:rPr lang="en-US" sz="1800" kern="0" spc="-80" dirty="0">
                <a:solidFill>
                  <a:schemeClr val="accent6"/>
                </a:solidFill>
              </a:rPr>
              <a:t>A diagnostic engine that analyzes monitoring data and logs to pinpoint the underlying cause of a detected problem.                                                  </a:t>
            </a:r>
          </a:p>
          <a:p>
            <a:pPr marL="12700" marR="5080"/>
            <a:endParaRPr lang="en-US" sz="1800" kern="0" spc="-80" dirty="0">
              <a:solidFill>
                <a:schemeClr val="accent6"/>
              </a:solidFill>
            </a:endParaRPr>
          </a:p>
          <a:p>
            <a:pPr marL="12700" marR="5080"/>
            <a:r>
              <a:rPr lang="en-US" sz="1800" kern="0" spc="-80" dirty="0">
                <a:solidFill>
                  <a:schemeClr val="accent2"/>
                </a:solidFill>
              </a:rPr>
              <a:t>Infrastructure-level techniques:</a:t>
            </a:r>
            <a:br>
              <a:rPr lang="en-US" sz="1800" kern="0" spc="-80" dirty="0">
                <a:solidFill>
                  <a:schemeClr val="accent2"/>
                </a:solidFill>
              </a:rPr>
            </a:br>
            <a:r>
              <a:rPr lang="en-US" sz="1800" kern="0" spc="-80" dirty="0">
                <a:solidFill>
                  <a:schemeClr val="accent2"/>
                </a:solidFill>
              </a:rPr>
              <a:t>Container orchestration (e.g., Kubernetes):</a:t>
            </a:r>
            <a:r>
              <a:rPr lang="en-US" sz="1800" kern="0" spc="-80" dirty="0">
                <a:solidFill>
                  <a:schemeClr val="accent6"/>
                </a:solidFill>
              </a:rPr>
              <a:t> For services deployed in containers, orchestrators like Kubernetes automatically handle self-healing. They monitor container health and automatically restart or replace any that fail to meet their</a:t>
            </a:r>
          </a:p>
          <a:p>
            <a:pPr marL="12700" marR="5080"/>
            <a:endParaRPr lang="en-US" sz="1800" kern="0" spc="-80" dirty="0">
              <a:solidFill>
                <a:schemeClr val="accent6"/>
              </a:solidFill>
            </a:endParaRPr>
          </a:p>
        </p:txBody>
      </p:sp>
    </p:spTree>
    <p:extLst>
      <p:ext uri="{BB962C8B-B14F-4D97-AF65-F5344CB8AC3E}">
        <p14:creationId xmlns:p14="http://schemas.microsoft.com/office/powerpoint/2010/main" val="283231056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FF8F5-E8AC-A5D4-7A33-C6CEE4B005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F1C6B0-BAF1-E0CC-0F1E-C875F9EB67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916A1A2-99A2-DB1A-48AF-FEF1A68D4A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6E6993-58E1-B68C-16CE-333660BF074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0568876-E174-899B-13D6-0A63AF5958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8D4FDFD-55B4-9CEF-605A-48D031DCC03F}"/>
              </a:ext>
            </a:extLst>
          </p:cNvPr>
          <p:cNvSpPr txBox="1">
            <a:spLocks/>
          </p:cNvSpPr>
          <p:nvPr/>
        </p:nvSpPr>
        <p:spPr>
          <a:xfrm>
            <a:off x="137369" y="66643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6"/>
                </a:solidFill>
              </a:rPr>
              <a:t>health checks.</a:t>
            </a:r>
          </a:p>
          <a:p>
            <a:pPr marL="12700" marR="5080"/>
            <a:r>
              <a:rPr lang="en-US" sz="1800" kern="0" spc="-80" dirty="0">
                <a:solidFill>
                  <a:schemeClr val="accent2"/>
                </a:solidFill>
              </a:rPr>
              <a:t>Deployment automation:</a:t>
            </a:r>
            <a:r>
              <a:rPr lang="en-US" sz="1800" kern="0" spc="-80" dirty="0">
                <a:solidFill>
                  <a:schemeClr val="accent6"/>
                </a:solidFill>
              </a:rPr>
              <a:t> An automated and self-healing deployment pipeline can revert a new release if it fails a set of automated health checks, preventing a bad update from reaching production.</a:t>
            </a:r>
          </a:p>
          <a:p>
            <a:pPr marL="12700" marR="5080"/>
            <a:r>
              <a:rPr lang="en-US" sz="1800" kern="0" spc="-80" dirty="0">
                <a:solidFill>
                  <a:schemeClr val="accent2"/>
                </a:solidFill>
              </a:rPr>
              <a:t>Redundancy and failover:</a:t>
            </a:r>
            <a:r>
              <a:rPr lang="en-US" sz="1800" kern="0" spc="-80" dirty="0">
                <a:solidFill>
                  <a:schemeClr val="accent6"/>
                </a:solidFill>
              </a:rPr>
              <a:t> Critical services are duplicated to ensure that if one component fails, another can take over its function immediately. This includes redundant storage, databases, and compute resources.</a:t>
            </a:r>
            <a:br>
              <a:rPr lang="en-US" sz="1800" kern="0" spc="-80" dirty="0">
                <a:solidFill>
                  <a:schemeClr val="accent6"/>
                </a:solidFill>
              </a:rPr>
            </a:br>
            <a:r>
              <a:rPr lang="en-US" sz="1800" kern="0" spc="-80" dirty="0">
                <a:solidFill>
                  <a:schemeClr val="accent2"/>
                </a:solidFill>
              </a:rPr>
              <a:t>Automated scaling: </a:t>
            </a:r>
            <a:r>
              <a:rPr lang="en-US" sz="1800" kern="0" spc="-80" dirty="0">
                <a:solidFill>
                  <a:schemeClr val="accent6"/>
                </a:solidFill>
              </a:rPr>
              <a:t>When a service experiences high load that could cause a performance degradation or failure, auto-scaling mechanisms can automatically provision additional resources to handle the demand.</a:t>
            </a:r>
            <a:br>
              <a:rPr lang="en-US" sz="1800" kern="0" spc="-80" dirty="0">
                <a:solidFill>
                  <a:schemeClr val="accent6"/>
                </a:solidFill>
              </a:rPr>
            </a:br>
            <a:r>
              <a:rPr lang="en-US" sz="1800" kern="0" spc="-80" dirty="0">
                <a:solidFill>
                  <a:schemeClr val="accent2"/>
                </a:solidFill>
              </a:rPr>
              <a:t>Feedback loop: </a:t>
            </a:r>
            <a:r>
              <a:rPr lang="en-US" sz="1800" kern="0" spc="-80" dirty="0">
                <a:solidFill>
                  <a:schemeClr val="accent6"/>
                </a:solidFill>
              </a:rPr>
              <a:t>After a resolution, the system logs and analyzes the event to learn and improve its future responses.</a:t>
            </a:r>
          </a:p>
          <a:p>
            <a:pPr marL="12700" marR="5080"/>
            <a:r>
              <a:rPr lang="en-US" sz="1800" kern="0" spc="-80" dirty="0">
                <a:solidFill>
                  <a:schemeClr val="accent2"/>
                </a:solidFill>
              </a:rPr>
              <a:t>Advanced techniques with AI.</a:t>
            </a:r>
          </a:p>
          <a:p>
            <a:pPr marL="12700" marR="5080"/>
            <a:r>
              <a:rPr lang="en-US" sz="1800" kern="0" spc="-80" dirty="0">
                <a:solidFill>
                  <a:schemeClr val="accent2"/>
                </a:solidFill>
              </a:rPr>
              <a:t>Predictive maintenance:</a:t>
            </a:r>
            <a:r>
              <a:rPr lang="en-US" sz="1800" kern="0" spc="-80" dirty="0">
                <a:solidFill>
                  <a:schemeClr val="accent6"/>
                </a:solidFill>
              </a:rPr>
              <a:t> Systems learn from past errors, and AI and machine learning can be used to improve future detection and correction capabilities.</a:t>
            </a:r>
          </a:p>
          <a:p>
            <a:pPr marL="12700" marR="5080"/>
            <a:r>
              <a:rPr lang="en-US" sz="1800" kern="0" spc="-80" dirty="0">
                <a:solidFill>
                  <a:schemeClr val="accent6"/>
                </a:solidFill>
              </a:rPr>
              <a:t>AI and machine learning analyze historical data to predict potential failures</a:t>
            </a:r>
          </a:p>
        </p:txBody>
      </p:sp>
    </p:spTree>
    <p:extLst>
      <p:ext uri="{BB962C8B-B14F-4D97-AF65-F5344CB8AC3E}">
        <p14:creationId xmlns:p14="http://schemas.microsoft.com/office/powerpoint/2010/main" val="3286279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E8003-2383-D0FD-5048-F0D2E3FD1D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3651447-6DB2-1F7B-BF61-DC3A759AE1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2DC565-D2CA-AF97-29F9-4275FBCE27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597A8E-FF3F-6E4B-ED4B-D03D4B538D1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5FFA8A0-A772-C560-B638-F7D32AED79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861148C-066A-FF26-544D-BC178978D607}"/>
              </a:ext>
            </a:extLst>
          </p:cNvPr>
          <p:cNvSpPr txBox="1">
            <a:spLocks/>
          </p:cNvSpPr>
          <p:nvPr/>
        </p:nvSpPr>
        <p:spPr>
          <a:xfrm>
            <a:off x="292640" y="697468"/>
            <a:ext cx="8624937"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6"/>
                </a:solidFill>
              </a:rPr>
              <a:t>before they occur. For example, the system could identify that a particular</a:t>
            </a:r>
          </a:p>
          <a:p>
            <a:pPr marL="12700" marR="5080"/>
            <a:r>
              <a:rPr lang="en-US" sz="1800" kern="0" spc="-80" dirty="0">
                <a:solidFill>
                  <a:schemeClr val="accent6"/>
                </a:solidFill>
              </a:rPr>
              <a:t>service often fails after its memory usage crosses a certain threshold and proactively restart it.</a:t>
            </a:r>
            <a:br>
              <a:rPr lang="en-US" sz="1800" kern="0" spc="-80" dirty="0">
                <a:solidFill>
                  <a:schemeClr val="accent6"/>
                </a:solidFill>
              </a:rPr>
            </a:br>
            <a:r>
              <a:rPr lang="en-US" sz="1800" kern="0" spc="-80" dirty="0">
                <a:solidFill>
                  <a:schemeClr val="accent2"/>
                </a:solidFill>
              </a:rPr>
              <a:t>Autonomous remediation:</a:t>
            </a:r>
            <a:r>
              <a:rPr lang="en-US" sz="1800" kern="0" spc="-80" dirty="0">
                <a:solidFill>
                  <a:schemeClr val="accent6"/>
                </a:solidFill>
              </a:rPr>
              <a:t> With an AI-driven system, the background service can make autonomous decisions about the best course of action rather than relying on predefined rules. This enables more complex problem-solving without human intervention.</a:t>
            </a:r>
          </a:p>
          <a:p>
            <a:pPr marL="12700" marR="5080"/>
            <a:endParaRPr lang="en-US" sz="1800" kern="0" spc="-80" dirty="0">
              <a:solidFill>
                <a:schemeClr val="accent6"/>
              </a:solidFill>
            </a:endParaRPr>
          </a:p>
          <a:p>
            <a:pPr marL="12700" marR="5080"/>
            <a:r>
              <a:rPr lang="en-US" sz="1800" kern="0" spc="-80" dirty="0">
                <a:solidFill>
                  <a:schemeClr val="accent2"/>
                </a:solidFill>
              </a:rPr>
              <a:t>How They Work Together:</a:t>
            </a:r>
            <a:br>
              <a:rPr lang="en-US" sz="1800" kern="0" spc="-80" dirty="0">
                <a:solidFill>
                  <a:schemeClr val="accent6"/>
                </a:solidFill>
              </a:rPr>
            </a:br>
            <a:r>
              <a:rPr lang="en-US" sz="1800" kern="0" spc="-80" dirty="0">
                <a:solidFill>
                  <a:schemeClr val="accent6"/>
                </a:solidFill>
              </a:rPr>
              <a:t>These techniques are often combined in a layered approach to create a resilient system:</a:t>
            </a:r>
            <a:br>
              <a:rPr lang="en-US" sz="1800" kern="0" spc="-80" dirty="0">
                <a:solidFill>
                  <a:schemeClr val="accent6"/>
                </a:solidFill>
              </a:rPr>
            </a:br>
            <a:r>
              <a:rPr lang="en-US" sz="1800" kern="0" spc="-80" dirty="0">
                <a:solidFill>
                  <a:schemeClr val="accent2"/>
                </a:solidFill>
              </a:rPr>
              <a:t>Detection:</a:t>
            </a:r>
            <a:r>
              <a:rPr lang="en-US" sz="1800" kern="0" spc="-80" dirty="0">
                <a:solidFill>
                  <a:schemeClr val="accent6"/>
                </a:solidFill>
              </a:rPr>
              <a:t> Health checks and monitoring systems detect a problem.</a:t>
            </a:r>
            <a:br>
              <a:rPr lang="en-US" sz="1800" kern="0" spc="-80" dirty="0">
                <a:solidFill>
                  <a:schemeClr val="accent6"/>
                </a:solidFill>
              </a:rPr>
            </a:br>
            <a:r>
              <a:rPr lang="en-US" sz="1800" kern="0" spc="-80" dirty="0">
                <a:solidFill>
                  <a:schemeClr val="accent2"/>
                </a:solidFill>
              </a:rPr>
              <a:t>Isolation: </a:t>
            </a:r>
            <a:r>
              <a:rPr lang="en-US" sz="1800" kern="0" spc="-80" dirty="0">
                <a:solidFill>
                  <a:schemeClr val="accent6"/>
                </a:solidFill>
              </a:rPr>
              <a:t>A circuit breaker might be triggered to stop requests to the affected service, preventing further issues.</a:t>
            </a:r>
            <a:br>
              <a:rPr lang="en-US" sz="1800" kern="0" spc="-80" dirty="0">
                <a:solidFill>
                  <a:schemeClr val="accent6"/>
                </a:solidFill>
              </a:rPr>
            </a:br>
            <a:r>
              <a:rPr lang="en-US" sz="1800" kern="0" spc="-80" dirty="0">
                <a:solidFill>
                  <a:schemeClr val="accent2"/>
                </a:solidFill>
              </a:rPr>
              <a:t>Response:</a:t>
            </a:r>
            <a:r>
              <a:rPr lang="en-US" sz="1800" kern="0" spc="-80" dirty="0">
                <a:solidFill>
                  <a:schemeClr val="accent6"/>
                </a:solidFill>
              </a:rPr>
              <a:t> A retry mechanism attempts to re-establish a connection, a fallback mechanism might take over, or a simpler logic is used.</a:t>
            </a:r>
            <a:br>
              <a:rPr lang="en-US" sz="1800" kern="0" spc="-80" dirty="0">
                <a:solidFill>
                  <a:schemeClr val="accent6"/>
                </a:solidFill>
              </a:rPr>
            </a:br>
            <a:endParaRPr lang="en-US" sz="18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5260173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753B-48EF-1C9D-C0A4-5C2FC2EBA6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52A506-4907-A44D-45DA-7D4564DABC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8356CE-F93C-41DC-5BB5-944DA2C6BF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C900F6-982D-00D1-00B9-0B2891BA825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6BD0830-9149-9B8F-58F9-E6328BC0D5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A0EF8CC-1E3C-22B2-21B7-315CB05347D2}"/>
              </a:ext>
            </a:extLst>
          </p:cNvPr>
          <p:cNvSpPr txBox="1">
            <a:spLocks/>
          </p:cNvSpPr>
          <p:nvPr/>
        </p:nvSpPr>
        <p:spPr>
          <a:xfrm>
            <a:off x="292640" y="697468"/>
            <a:ext cx="8624937"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Benefits:</a:t>
            </a:r>
            <a:br>
              <a:rPr lang="en-US" sz="1800" kern="0" spc="-80" dirty="0">
                <a:solidFill>
                  <a:schemeClr val="accent6"/>
                </a:solidFill>
              </a:rPr>
            </a:br>
            <a:r>
              <a:rPr lang="en-US" sz="1800" kern="0" spc="-80" dirty="0">
                <a:solidFill>
                  <a:schemeClr val="accent2"/>
                </a:solidFill>
              </a:rPr>
              <a:t>Increased Reliability: </a:t>
            </a:r>
            <a:r>
              <a:rPr lang="en-US" sz="1800" kern="0" spc="-80" dirty="0">
                <a:solidFill>
                  <a:schemeClr val="accent6"/>
                </a:solidFill>
              </a:rPr>
              <a:t>APIs become more robust and less prone to downtime.</a:t>
            </a:r>
            <a:br>
              <a:rPr lang="en-US" sz="1800" kern="0" spc="-80" dirty="0">
                <a:solidFill>
                  <a:schemeClr val="accent6"/>
                </a:solidFill>
              </a:rPr>
            </a:br>
            <a:r>
              <a:rPr lang="en-US" sz="1800" kern="0" spc="-80" dirty="0">
                <a:solidFill>
                  <a:schemeClr val="accent2"/>
                </a:solidFill>
              </a:rPr>
              <a:t>Reduced Maintenance:</a:t>
            </a:r>
            <a:r>
              <a:rPr lang="en-US" sz="1800" kern="0" spc="-80" dirty="0">
                <a:solidFill>
                  <a:schemeClr val="accent6"/>
                </a:solidFill>
              </a:rPr>
              <a:t> Automated recovery reduces the need for manual intervention, saving time and effort.</a:t>
            </a:r>
            <a:br>
              <a:rPr lang="en-US" sz="1800" kern="0" spc="-80" dirty="0">
                <a:solidFill>
                  <a:schemeClr val="accent6"/>
                </a:solidFill>
              </a:rPr>
            </a:br>
            <a:r>
              <a:rPr lang="en-US" sz="1800" kern="0" spc="-80" dirty="0">
                <a:solidFill>
                  <a:schemeClr val="accent2"/>
                </a:solidFill>
              </a:rPr>
              <a:t>Improved User Experience: </a:t>
            </a:r>
            <a:r>
              <a:rPr lang="en-US" sz="1800" kern="0" spc="-80" dirty="0">
                <a:solidFill>
                  <a:schemeClr val="accent6"/>
                </a:solidFill>
              </a:rPr>
              <a:t>Users experience a more seamless and responsive service, even when underlying problems occur.</a:t>
            </a:r>
            <a:br>
              <a:rPr lang="en-US" sz="1800" kern="0" spc="-80" dirty="0">
                <a:solidFill>
                  <a:schemeClr val="accent6"/>
                </a:solidFill>
              </a:rPr>
            </a:br>
            <a:r>
              <a:rPr lang="en-US" sz="1800" kern="0" spc="-80" dirty="0">
                <a:solidFill>
                  <a:schemeClr val="accent2"/>
                </a:solidFill>
              </a:rPr>
              <a:t>Faster Issue Resolution: </a:t>
            </a:r>
            <a:r>
              <a:rPr lang="en-US" sz="1800" kern="0" spc="-80" dirty="0">
                <a:solidFill>
                  <a:schemeClr val="accent6"/>
                </a:solidFill>
              </a:rPr>
              <a:t>Problems are identified and fixed quickly, minimizing their impact on the system.</a:t>
            </a:r>
          </a:p>
          <a:p>
            <a:pPr marL="12700" marR="5080"/>
            <a:r>
              <a:rPr lang="en-US" sz="1800" kern="0" spc="-80" dirty="0">
                <a:solidFill>
                  <a:schemeClr val="accent6"/>
                </a:solidFill>
              </a:rPr>
              <a:t>    </a:t>
            </a:r>
          </a:p>
        </p:txBody>
      </p:sp>
    </p:spTree>
    <p:extLst>
      <p:ext uri="{BB962C8B-B14F-4D97-AF65-F5344CB8AC3E}">
        <p14:creationId xmlns:p14="http://schemas.microsoft.com/office/powerpoint/2010/main" val="274461473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3BE1A-A182-EEF8-13C1-92C46E59BAE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59F3EC-E5AB-F3BB-5CD1-EB4E23BD59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570660-89FF-3EC0-3659-5070F239B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C80912-BAC8-4A0C-2C8B-08477F845C1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8948889-98B1-6043-DDCE-3C2DFCF78A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C52D67-7C35-EE5F-DBD9-11A16CD9E5BC}"/>
              </a:ext>
            </a:extLst>
          </p:cNvPr>
          <p:cNvSpPr txBox="1">
            <a:spLocks/>
          </p:cNvSpPr>
          <p:nvPr/>
        </p:nvSpPr>
        <p:spPr>
          <a:xfrm>
            <a:off x="292640" y="697468"/>
            <a:ext cx="8624937" cy="57400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Network Availability &amp; Scalability -   </a:t>
            </a:r>
          </a:p>
          <a:p>
            <a:pPr marL="12700" marR="5080"/>
            <a:r>
              <a:rPr lang="en-US" sz="1400" kern="0" spc="-80" dirty="0">
                <a:solidFill>
                  <a:schemeClr val="accent6"/>
                </a:solidFill>
              </a:rPr>
              <a:t>Network availability is a measure of how well a network can respond to performance and connectivity demands, while network scalability is a network's ability to handle increased amounts of change:</a:t>
            </a:r>
          </a:p>
          <a:p>
            <a:pPr marL="12700" marR="5080"/>
            <a:r>
              <a:rPr lang="en-US" sz="1400" kern="0" spc="-80" dirty="0">
                <a:solidFill>
                  <a:schemeClr val="accent2"/>
                </a:solidFill>
              </a:rPr>
              <a:t>Network availability</a:t>
            </a:r>
          </a:p>
          <a:p>
            <a:pPr marL="12700" marR="5080"/>
            <a:r>
              <a:rPr lang="en-US" sz="1400" kern="0" spc="-80" dirty="0">
                <a:solidFill>
                  <a:schemeClr val="accent6"/>
                </a:solidFill>
              </a:rPr>
              <a:t>Also known as network uptime, this is a measure of how well a network can respond to performance and connectivity demands. A common goal for organizations is to achieve five nines (99.999%) of availability. </a:t>
            </a:r>
          </a:p>
          <a:p>
            <a:pPr marL="12700" marR="5080"/>
            <a:r>
              <a:rPr lang="en-US" sz="1400" kern="0" spc="-80" dirty="0">
                <a:solidFill>
                  <a:schemeClr val="accent2"/>
                </a:solidFill>
              </a:rPr>
              <a:t>Network scalability</a:t>
            </a:r>
          </a:p>
          <a:p>
            <a:pPr marL="12700" marR="5080"/>
            <a:r>
              <a:rPr lang="en-US" sz="1400" kern="0" spc="-80" dirty="0">
                <a:solidFill>
                  <a:schemeClr val="accent6"/>
                </a:solidFill>
              </a:rPr>
              <a:t>A scalable network can efficiently manage increased amounts of users, devices, or data, while maintaining stable and reliable performance. </a:t>
            </a:r>
          </a:p>
          <a:p>
            <a:pPr marL="12700" marR="5080"/>
            <a:r>
              <a:rPr lang="en-US" sz="1400" kern="0" spc="-80" dirty="0">
                <a:solidFill>
                  <a:schemeClr val="accent6"/>
                </a:solidFill>
              </a:rPr>
              <a:t>Here are some strategies for ensuring network availability and reliability:</a:t>
            </a:r>
          </a:p>
          <a:p>
            <a:pPr marL="12700" marR="5080"/>
            <a:r>
              <a:rPr lang="en-US" sz="1400" kern="0" spc="-80" dirty="0">
                <a:solidFill>
                  <a:schemeClr val="accent6"/>
                </a:solidFill>
              </a:rPr>
              <a:t>Design redundancy into the network architecture</a:t>
            </a:r>
          </a:p>
          <a:p>
            <a:pPr marL="12700" marR="5080"/>
            <a:r>
              <a:rPr lang="en-US" sz="1400" kern="0" spc="-80" dirty="0">
                <a:solidFill>
                  <a:schemeClr val="accent6"/>
                </a:solidFill>
              </a:rPr>
              <a:t>Monitor performance</a:t>
            </a:r>
          </a:p>
          <a:p>
            <a:pPr marL="12700" marR="5080"/>
            <a:r>
              <a:rPr lang="en-US" sz="1400" kern="0" spc="-80" dirty="0">
                <a:solidFill>
                  <a:schemeClr val="accent6"/>
                </a:solidFill>
              </a:rPr>
              <a:t>Implement security</a:t>
            </a:r>
          </a:p>
          <a:p>
            <a:pPr marL="12700" marR="5080"/>
            <a:r>
              <a:rPr lang="en-US" sz="1400" kern="0" spc="-80" dirty="0">
                <a:solidFill>
                  <a:schemeClr val="accent6"/>
                </a:solidFill>
              </a:rPr>
              <a:t>Update and patch</a:t>
            </a:r>
          </a:p>
          <a:p>
            <a:pPr marL="12700" marR="5080"/>
            <a:r>
              <a:rPr lang="en-US" sz="1400" kern="0" spc="-80" dirty="0">
                <a:solidFill>
                  <a:schemeClr val="accent6"/>
                </a:solidFill>
              </a:rPr>
              <a:t>Test and backup</a:t>
            </a:r>
          </a:p>
          <a:p>
            <a:pPr marL="12700" marR="5080"/>
            <a:r>
              <a:rPr lang="en-US" sz="1400" kern="0" spc="-80" dirty="0">
                <a:solidFill>
                  <a:schemeClr val="accent6"/>
                </a:solidFill>
              </a:rPr>
              <a:t>Train and document </a:t>
            </a:r>
          </a:p>
          <a:p>
            <a:pPr marL="12700" marR="5080"/>
            <a:r>
              <a:rPr lang="en-US" sz="1400" kern="0" spc="-80" dirty="0">
                <a:solidFill>
                  <a:schemeClr val="accent6"/>
                </a:solidFill>
              </a:rPr>
              <a:t>Load balancing can also improve a network's availability, scalability, security, and performance by directing and controlling internet traffic between application servers and their clients</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 </a:t>
            </a:r>
          </a:p>
          <a:p>
            <a:pPr marL="12700" marR="5080"/>
            <a:r>
              <a:rPr lang="en-US" sz="1500" dirty="0">
                <a:hlinkClick r:id="rId7"/>
              </a:rPr>
              <a:t>What Is Network Scalability? How to Optimize for Growth | Nile</a:t>
            </a:r>
            <a:endParaRPr lang="en-US" sz="1500" dirty="0"/>
          </a:p>
          <a:p>
            <a:pPr marL="12700" marR="5080"/>
            <a:r>
              <a:rPr lang="en-US" sz="1500" dirty="0">
                <a:hlinkClick r:id="rId8"/>
              </a:rPr>
              <a:t>What is Network Availability? - IT Glossary | SolarWinds </a:t>
            </a:r>
            <a:endParaRPr lang="en-US" sz="1500" dirty="0"/>
          </a:p>
          <a:p>
            <a:pPr marL="12700" marR="5080"/>
            <a:r>
              <a:rPr lang="en-US" sz="1500" dirty="0">
                <a:hlinkClick r:id="rId9"/>
              </a:rPr>
              <a:t>What Is Network Availability? | F5</a:t>
            </a:r>
            <a:endParaRPr lang="en-US" sz="1500" kern="0" spc="-80" dirty="0">
              <a:solidFill>
                <a:schemeClr val="accent6"/>
              </a:solidFill>
            </a:endParaRP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2377671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vs Privacy – </a:t>
            </a:r>
          </a:p>
          <a:p>
            <a:pPr marL="12700" marR="5080"/>
            <a:r>
              <a:rPr lang="en-US" sz="2400" kern="0" spc="-80" dirty="0">
                <a:solidFill>
                  <a:schemeClr val="accent2"/>
                </a:solidFill>
              </a:rPr>
              <a:t>  </a:t>
            </a:r>
            <a:r>
              <a:rPr lang="en-US" sz="2400" kern="0" spc="-80" dirty="0">
                <a:solidFill>
                  <a:schemeClr val="accent6"/>
                </a:solidFill>
              </a:rPr>
              <a:t>Security controls “who” can access the data, whereas, Privacy is more about “when’’ and “what” type of data can be accessed. “You can’t have privacy without security, but you can have security without privacy.”</a:t>
            </a:r>
          </a:p>
          <a:p>
            <a:pPr marL="12700" marR="5080"/>
            <a:r>
              <a:rPr lang="en-US" sz="2400" kern="0" spc="-80" dirty="0">
                <a:solidFill>
                  <a:schemeClr val="accent6"/>
                </a:solidFill>
              </a:rPr>
              <a:t>   For example, we’re all familiar with the term “Login Authentication and Authorization”. Here, authentication is about who can access the data, so it’s a matter of security. Authorization is all about what, when, and how much of the data is accessible to that specific user, so it’s a matter of privacy.</a:t>
            </a:r>
          </a:p>
        </p:txBody>
      </p:sp>
    </p:spTree>
    <p:extLst>
      <p:ext uri="{BB962C8B-B14F-4D97-AF65-F5344CB8AC3E}">
        <p14:creationId xmlns:p14="http://schemas.microsoft.com/office/powerpoint/2010/main" val="175322243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vs Privacy </a:t>
            </a:r>
            <a:r>
              <a:rPr lang="en-US" sz="2400" kern="0" spc="-80" dirty="0" err="1">
                <a:solidFill>
                  <a:schemeClr val="accent2"/>
                </a:solidFill>
              </a:rPr>
              <a:t>contd</a:t>
            </a:r>
            <a:r>
              <a:rPr lang="en-US" sz="2400" kern="0" spc="-80" dirty="0">
                <a:solidFill>
                  <a:schemeClr val="accent2"/>
                </a:solidFill>
              </a:rPr>
              <a:t>… – </a:t>
            </a:r>
          </a:p>
        </p:txBody>
      </p:sp>
      <p:pic>
        <p:nvPicPr>
          <p:cNvPr id="1026" name="Picture 2" descr="Data security vs data privacy">
            <a:extLst>
              <a:ext uri="{FF2B5EF4-FFF2-40B4-BE49-F238E27FC236}">
                <a16:creationId xmlns:a16="http://schemas.microsoft.com/office/drawing/2014/main" id="{D8B257BC-A9E4-AD85-5700-6D0A893CB23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24000"/>
            <a:ext cx="9144000" cy="372213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0F2EFBF3-7789-0D50-53AC-83912909B224}"/>
              </a:ext>
            </a:extLst>
          </p:cNvPr>
          <p:cNvSpPr txBox="1"/>
          <p:nvPr/>
        </p:nvSpPr>
        <p:spPr>
          <a:xfrm>
            <a:off x="76199" y="5297269"/>
            <a:ext cx="8841377" cy="646331"/>
          </a:xfrm>
          <a:prstGeom prst="rect">
            <a:avLst/>
          </a:prstGeom>
          <a:noFill/>
        </p:spPr>
        <p:txBody>
          <a:bodyPr wrap="square">
            <a:spAutoFit/>
          </a:bodyPr>
          <a:lstStyle/>
          <a:p>
            <a:r>
              <a:rPr lang="en-US" sz="1800" kern="0" spc="-80" dirty="0">
                <a:solidFill>
                  <a:schemeClr val="accent2"/>
                </a:solidFill>
              </a:rPr>
              <a:t> For Further Exploration –</a:t>
            </a:r>
          </a:p>
          <a:p>
            <a:r>
              <a:rPr lang="en-IN" dirty="0">
                <a:hlinkClick r:id="rId8"/>
              </a:rPr>
              <a:t>Privacy-</a:t>
            </a:r>
            <a:r>
              <a:rPr lang="en-IN" dirty="0" err="1">
                <a:hlinkClick r:id="rId8"/>
              </a:rPr>
              <a:t>nhancing</a:t>
            </a:r>
            <a:r>
              <a:rPr lang="en-IN" dirty="0">
                <a:hlinkClick r:id="rId8"/>
              </a:rPr>
              <a:t> technologies - Wikipedia</a:t>
            </a:r>
            <a:endParaRPr lang="en-IN" dirty="0"/>
          </a:p>
        </p:txBody>
      </p:sp>
    </p:spTree>
    <p:extLst>
      <p:ext uri="{BB962C8B-B14F-4D97-AF65-F5344CB8AC3E}">
        <p14:creationId xmlns:p14="http://schemas.microsoft.com/office/powerpoint/2010/main" val="334649328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Principles – </a:t>
            </a:r>
          </a:p>
          <a:p>
            <a:pPr marL="12700" marR="5080"/>
            <a:r>
              <a:rPr lang="en-US" sz="2400" kern="0" spc="-80" dirty="0">
                <a:solidFill>
                  <a:schemeClr val="accent2"/>
                </a:solidFill>
              </a:rPr>
              <a:t>    Secure SDLC –</a:t>
            </a:r>
            <a:r>
              <a:rPr lang="en-US" sz="2400" kern="0" spc="-80" dirty="0">
                <a:solidFill>
                  <a:schemeClr val="accent6"/>
                </a:solidFill>
              </a:rPr>
              <a:t> </a:t>
            </a:r>
            <a:r>
              <a:rPr lang="en-US" sz="2400" kern="0" spc="-80" dirty="0">
                <a:solidFill>
                  <a:schemeClr val="accent2"/>
                </a:solidFill>
              </a:rPr>
              <a:t> </a:t>
            </a:r>
          </a:p>
        </p:txBody>
      </p:sp>
      <p:sp>
        <p:nvSpPr>
          <p:cNvPr id="8" name="object 2">
            <a:extLst>
              <a:ext uri="{FF2B5EF4-FFF2-40B4-BE49-F238E27FC236}">
                <a16:creationId xmlns:a16="http://schemas.microsoft.com/office/drawing/2014/main" id="{96D5876E-51E9-1E9A-5339-93A30018D455}"/>
              </a:ext>
            </a:extLst>
          </p:cNvPr>
          <p:cNvSpPr txBox="1">
            <a:spLocks/>
          </p:cNvSpPr>
          <p:nvPr/>
        </p:nvSpPr>
        <p:spPr>
          <a:xfrm>
            <a:off x="76200" y="4189274"/>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Secure Software Development Life Cycle Explained | Black Duck Blog</a:t>
            </a:r>
            <a:endParaRPr lang="en-US" sz="1500" dirty="0"/>
          </a:p>
          <a:p>
            <a:pPr marL="12700" marR="5080"/>
            <a:r>
              <a:rPr lang="en-US" sz="1500" dirty="0">
                <a:hlinkClick r:id="rId8"/>
              </a:rPr>
              <a:t>What the Sec is </a:t>
            </a:r>
            <a:r>
              <a:rPr lang="en-US" sz="1500" dirty="0" err="1">
                <a:hlinkClick r:id="rId8"/>
              </a:rPr>
              <a:t>DevSecOps</a:t>
            </a:r>
            <a:r>
              <a:rPr lang="en-US" sz="1500" dirty="0">
                <a:hlinkClick r:id="rId8"/>
              </a:rPr>
              <a:t>? | </a:t>
            </a:r>
            <a:r>
              <a:rPr lang="en-US" sz="1500" dirty="0" err="1">
                <a:hlinkClick r:id="rId8"/>
              </a:rPr>
              <a:t>Accelera</a:t>
            </a:r>
            <a:endParaRPr lang="en-US" sz="1500" dirty="0"/>
          </a:p>
          <a:p>
            <a:pPr marL="12700" marR="5080"/>
            <a:r>
              <a:rPr lang="en-US" sz="1500" kern="0" spc="-80" dirty="0">
                <a:solidFill>
                  <a:schemeClr val="accent6"/>
                </a:solidFill>
              </a:rPr>
              <a:t>N.B. – </a:t>
            </a:r>
            <a:r>
              <a:rPr lang="en-US" sz="1500" kern="0" spc="-80" dirty="0" err="1">
                <a:solidFill>
                  <a:schemeClr val="accent6"/>
                </a:solidFill>
              </a:rPr>
              <a:t>DevSecOps</a:t>
            </a:r>
            <a:r>
              <a:rPr lang="en-US" sz="1500" kern="0" spc="-80" dirty="0">
                <a:solidFill>
                  <a:schemeClr val="accent6"/>
                </a:solidFill>
              </a:rPr>
              <a:t> pertains to securing every component in the DevOps pipeline including </a:t>
            </a:r>
            <a:r>
              <a:rPr lang="en-US" sz="1500" kern="0" spc="-80" dirty="0" err="1">
                <a:solidFill>
                  <a:schemeClr val="accent6"/>
                </a:solidFill>
              </a:rPr>
              <a:t>IaC</a:t>
            </a:r>
            <a:r>
              <a:rPr lang="en-US" sz="1500" kern="0" spc="-80" dirty="0">
                <a:solidFill>
                  <a:schemeClr val="accent6"/>
                </a:solidFill>
              </a:rPr>
              <a:t>, </a:t>
            </a:r>
            <a:r>
              <a:rPr lang="en-US" sz="1500" kern="0" spc="-80" dirty="0" err="1">
                <a:solidFill>
                  <a:schemeClr val="accent6"/>
                </a:solidFill>
              </a:rPr>
              <a:t>CaC</a:t>
            </a:r>
            <a:r>
              <a:rPr lang="en-US" sz="1500" kern="0" spc="-80" dirty="0">
                <a:solidFill>
                  <a:schemeClr val="accent6"/>
                </a:solidFill>
              </a:rPr>
              <a:t>, the pipeline itself, configs, Docker, K8s </a:t>
            </a:r>
            <a:r>
              <a:rPr lang="en-US" sz="1500" kern="0" spc="-80" dirty="0" err="1">
                <a:solidFill>
                  <a:schemeClr val="accent6"/>
                </a:solidFill>
              </a:rPr>
              <a:t>etc</a:t>
            </a:r>
            <a:r>
              <a:rPr lang="en-US" sz="1500" kern="0" spc="-80" dirty="0">
                <a:solidFill>
                  <a:schemeClr val="accent6"/>
                </a:solidFill>
              </a:rPr>
              <a:t> and running SAST/DAST/SCA </a:t>
            </a:r>
            <a:r>
              <a:rPr lang="en-US" sz="1500" kern="0" spc="-80" dirty="0" err="1">
                <a:solidFill>
                  <a:schemeClr val="accent6"/>
                </a:solidFill>
              </a:rPr>
              <a:t>etc</a:t>
            </a:r>
            <a:r>
              <a:rPr lang="en-US" sz="1500" kern="0" spc="-80" dirty="0">
                <a:solidFill>
                  <a:schemeClr val="accent6"/>
                </a:solidFill>
              </a:rPr>
              <a:t> tools (&amp; relevant reporting with integration with Jira) from the pipeline itself to identify security loopholes in app code as well.  </a:t>
            </a:r>
            <a:r>
              <a:rPr lang="en-US" sz="1500" kern="0" spc="-80" dirty="0">
                <a:solidFill>
                  <a:schemeClr val="accent2"/>
                </a:solidFill>
              </a:rPr>
              <a:t> </a:t>
            </a:r>
          </a:p>
        </p:txBody>
      </p:sp>
      <p:pic>
        <p:nvPicPr>
          <p:cNvPr id="1026" name="Picture 2" descr="Secure SDLC: A Look at the Secure Software Development Life Cycle">
            <a:extLst>
              <a:ext uri="{FF2B5EF4-FFF2-40B4-BE49-F238E27FC236}">
                <a16:creationId xmlns:a16="http://schemas.microsoft.com/office/drawing/2014/main" id="{0A8A2A78-DB8E-383D-AB9E-C584B29BCB7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733550"/>
            <a:ext cx="9067800" cy="2609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042939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Principles – </a:t>
            </a:r>
          </a:p>
          <a:p>
            <a:pPr marL="12700" marR="5080"/>
            <a:r>
              <a:rPr lang="en-US" sz="2400" kern="0" spc="-80" dirty="0">
                <a:solidFill>
                  <a:schemeClr val="accent2"/>
                </a:solidFill>
              </a:rPr>
              <a:t>    Zero Trust - </a:t>
            </a:r>
          </a:p>
          <a:p>
            <a:pPr algn="l"/>
            <a:r>
              <a:rPr lang="en-US" sz="1700" kern="0" spc="-80" dirty="0">
                <a:solidFill>
                  <a:schemeClr val="accent2"/>
                </a:solidFill>
              </a:rPr>
              <a:t>       </a:t>
            </a:r>
            <a:r>
              <a:rPr lang="en-US" sz="1800" kern="0" spc="-80" dirty="0">
                <a:solidFill>
                  <a:schemeClr val="accent6"/>
                </a:solidFill>
              </a:rPr>
              <a:t>Zero Trust doesn’t mean that you should not trust an app at all but it only means that you should trust it only after proper validation/verification of the system.</a:t>
            </a:r>
          </a:p>
          <a:p>
            <a:pPr algn="l"/>
            <a:endParaRPr lang="en-US" sz="1600" kern="0" spc="-80" dirty="0">
              <a:solidFill>
                <a:schemeClr val="accent6"/>
              </a:solidFill>
            </a:endParaRPr>
          </a:p>
          <a:p>
            <a:pPr algn="l"/>
            <a:r>
              <a:rPr lang="en-US" sz="1600" kern="0" spc="-80" dirty="0">
                <a:solidFill>
                  <a:schemeClr val="accent6"/>
                </a:solidFill>
              </a:rPr>
              <a:t>      </a:t>
            </a: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r>
              <a:rPr lang="en-US" sz="1600" kern="0" spc="-80" dirty="0">
                <a:solidFill>
                  <a:schemeClr val="accent6"/>
                </a:solidFill>
              </a:rPr>
              <a:t>    For Further Exploration</a:t>
            </a:r>
          </a:p>
          <a:p>
            <a:pPr algn="l"/>
            <a:r>
              <a:rPr lang="en-US" sz="1600" kern="0" spc="-80" dirty="0">
                <a:solidFill>
                  <a:schemeClr val="accent6"/>
                </a:solidFill>
              </a:rPr>
              <a:t>      </a:t>
            </a:r>
            <a:r>
              <a:rPr lang="en-US" sz="1500" dirty="0">
                <a:hlinkClick r:id="rId7"/>
              </a:rPr>
              <a:t>What is Zero Trust Security? Principles of the Zero Trust Model | CrowdStrike</a:t>
            </a:r>
            <a:endParaRPr lang="en-US" sz="1500" dirty="0"/>
          </a:p>
          <a:p>
            <a:pPr algn="l"/>
            <a:r>
              <a:rPr lang="en-US" sz="1500" kern="0" spc="-80" dirty="0">
                <a:solidFill>
                  <a:schemeClr val="accent6"/>
                </a:solidFill>
              </a:rPr>
              <a:t>      </a:t>
            </a:r>
            <a:r>
              <a:rPr lang="en-US" sz="1500" dirty="0">
                <a:hlinkClick r:id="rId8"/>
              </a:rPr>
              <a:t>Zero Trust Model - Modern Security Architecture | Microsoft Security</a:t>
            </a:r>
            <a:endParaRPr lang="en-US" sz="1500" dirty="0"/>
          </a:p>
          <a:p>
            <a:pPr algn="l"/>
            <a:r>
              <a:rPr lang="en-US" sz="1500" kern="0" spc="-80" dirty="0">
                <a:solidFill>
                  <a:schemeClr val="accent6"/>
                </a:solidFill>
              </a:rPr>
              <a:t>      </a:t>
            </a:r>
            <a:r>
              <a:rPr lang="en-US" sz="1500" dirty="0">
                <a:hlinkClick r:id="rId9"/>
              </a:rPr>
              <a:t>Zero Trust Security - a Cautious move | LinkedIn</a:t>
            </a:r>
            <a:endParaRPr lang="en-US" sz="1500" kern="0" spc="-80" dirty="0">
              <a:solidFill>
                <a:schemeClr val="accent6"/>
              </a:solidFill>
            </a:endParaRPr>
          </a:p>
        </p:txBody>
      </p:sp>
      <p:pic>
        <p:nvPicPr>
          <p:cNvPr id="8" name="Picture 7">
            <a:extLst>
              <a:ext uri="{FF2B5EF4-FFF2-40B4-BE49-F238E27FC236}">
                <a16:creationId xmlns:a16="http://schemas.microsoft.com/office/drawing/2014/main" id="{9BAF189A-4B77-12A5-0FF1-0D99771DFE81}"/>
              </a:ext>
            </a:extLst>
          </p:cNvPr>
          <p:cNvPicPr>
            <a:picLocks noChangeAspect="1"/>
          </p:cNvPicPr>
          <p:nvPr/>
        </p:nvPicPr>
        <p:blipFill>
          <a:blip r:embed="rId10"/>
          <a:stretch>
            <a:fillRect/>
          </a:stretch>
        </p:blipFill>
        <p:spPr>
          <a:xfrm>
            <a:off x="609600" y="2667000"/>
            <a:ext cx="8077200" cy="2133600"/>
          </a:xfrm>
          <a:prstGeom prst="rect">
            <a:avLst/>
          </a:prstGeom>
        </p:spPr>
      </p:pic>
    </p:spTree>
    <p:extLst>
      <p:ext uri="{BB962C8B-B14F-4D97-AF65-F5344CB8AC3E}">
        <p14:creationId xmlns:p14="http://schemas.microsoft.com/office/powerpoint/2010/main" val="101734765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CIA Triad – </a:t>
            </a:r>
          </a:p>
          <a:p>
            <a:pPr marL="12700" marR="5080"/>
            <a:r>
              <a:rPr lang="en-US" sz="2400" kern="0" spc="-80" dirty="0">
                <a:solidFill>
                  <a:schemeClr val="accent2"/>
                </a:solidFill>
              </a:rPr>
              <a:t>    Confidentiality – </a:t>
            </a:r>
            <a:r>
              <a:rPr lang="en-US" sz="2400" kern="0" spc="-80" dirty="0">
                <a:solidFill>
                  <a:schemeClr val="accent6"/>
                </a:solidFill>
              </a:rPr>
              <a:t>No hacker should be able to </a:t>
            </a:r>
            <a:r>
              <a:rPr lang="en-US" sz="2400" kern="0" spc="-80" dirty="0">
                <a:solidFill>
                  <a:schemeClr val="tx2">
                    <a:lumMod val="60000"/>
                    <a:lumOff val="40000"/>
                  </a:schemeClr>
                </a:solidFill>
              </a:rPr>
              <a:t>understand</a:t>
            </a:r>
            <a:r>
              <a:rPr lang="en-US" sz="2400" kern="0" spc="-80" dirty="0">
                <a:solidFill>
                  <a:schemeClr val="accent6"/>
                </a:solidFill>
              </a:rPr>
              <a:t> the data at rest or in transit. Usually Symmetric/Asymmetric Encryption used for the same.</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Integrity – </a:t>
            </a:r>
            <a:r>
              <a:rPr lang="en-US" sz="2400" kern="0" spc="-80" dirty="0">
                <a:solidFill>
                  <a:schemeClr val="accent6"/>
                </a:solidFill>
              </a:rPr>
              <a:t>No hacker should be able to </a:t>
            </a:r>
            <a:r>
              <a:rPr lang="en-US" sz="2400" kern="0" spc="-80" dirty="0">
                <a:solidFill>
                  <a:schemeClr val="tx2">
                    <a:lumMod val="60000"/>
                    <a:lumOff val="40000"/>
                  </a:schemeClr>
                </a:solidFill>
              </a:rPr>
              <a:t>tamper</a:t>
            </a:r>
            <a:r>
              <a:rPr lang="en-US" sz="2400" kern="0" spc="-80" dirty="0">
                <a:solidFill>
                  <a:schemeClr val="accent6"/>
                </a:solidFill>
              </a:rPr>
              <a:t> the (encrypted) data (especially in transit) as well. Done using some Hashing Algo.</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Availability – </a:t>
            </a:r>
            <a:r>
              <a:rPr lang="en-US" sz="2400" kern="0" spc="-80" dirty="0">
                <a:solidFill>
                  <a:schemeClr val="accent6"/>
                </a:solidFill>
              </a:rPr>
              <a:t>The system/app should be available to whom(Authentication) &amp; how much it should be available(Authorization)</a:t>
            </a:r>
          </a:p>
          <a:p>
            <a:pPr marL="12700" marR="5080"/>
            <a:endParaRPr lang="en-US" sz="24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175715764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 And “I” of CIA Triad(Example of Handshaking in SSL) –  </a:t>
            </a:r>
          </a:p>
        </p:txBody>
      </p:sp>
      <p:pic>
        <p:nvPicPr>
          <p:cNvPr id="8" name="Picture 7" descr="A screenshot of a diagram&#10;&#10;Description automatically generated">
            <a:extLst>
              <a:ext uri="{FF2B5EF4-FFF2-40B4-BE49-F238E27FC236}">
                <a16:creationId xmlns:a16="http://schemas.microsoft.com/office/drawing/2014/main" id="{EB5435BD-8C26-5BBF-B80F-ECD3D4A1E33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11706" y="1451729"/>
            <a:ext cx="8520588" cy="4095274"/>
          </a:xfrm>
          <a:prstGeom prst="rect">
            <a:avLst/>
          </a:prstGeom>
        </p:spPr>
      </p:pic>
      <p:sp>
        <p:nvSpPr>
          <p:cNvPr id="7" name="object 2">
            <a:extLst>
              <a:ext uri="{FF2B5EF4-FFF2-40B4-BE49-F238E27FC236}">
                <a16:creationId xmlns:a16="http://schemas.microsoft.com/office/drawing/2014/main" id="{7BA24F63-7DB2-F989-BE50-92126E457CF2}"/>
              </a:ext>
            </a:extLst>
          </p:cNvPr>
          <p:cNvSpPr txBox="1">
            <a:spLocks/>
          </p:cNvSpPr>
          <p:nvPr/>
        </p:nvSpPr>
        <p:spPr>
          <a:xfrm>
            <a:off x="366663" y="5638800"/>
            <a:ext cx="8624937" cy="2769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Erratum – </a:t>
            </a:r>
            <a:r>
              <a:rPr lang="en-US" sz="1800" kern="0" spc="-80" dirty="0" err="1">
                <a:solidFill>
                  <a:schemeClr val="accent6"/>
                </a:solidFill>
              </a:rPr>
              <a:t>Dataa</a:t>
            </a:r>
            <a:r>
              <a:rPr lang="en-US" sz="1800" kern="0" spc="-80" dirty="0">
                <a:solidFill>
                  <a:schemeClr val="accent6"/>
                </a:solidFill>
              </a:rPr>
              <a:t> is a typo mistake above. Should be Data.</a:t>
            </a:r>
          </a:p>
        </p:txBody>
      </p:sp>
    </p:spTree>
    <p:extLst>
      <p:ext uri="{BB962C8B-B14F-4D97-AF65-F5344CB8AC3E}">
        <p14:creationId xmlns:p14="http://schemas.microsoft.com/office/powerpoint/2010/main" val="25462131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 &amp; “I” of “CIA” Triad using </a:t>
            </a:r>
            <a:r>
              <a:rPr lang="en-US" sz="2400" kern="0" spc="-80" dirty="0" err="1">
                <a:solidFill>
                  <a:schemeClr val="accent2"/>
                </a:solidFill>
              </a:rPr>
              <a:t>mTLS</a:t>
            </a:r>
            <a:r>
              <a:rPr lang="en-US" sz="2400" kern="0" spc="-80" dirty="0">
                <a:solidFill>
                  <a:schemeClr val="accent2"/>
                </a:solidFill>
              </a:rPr>
              <a:t>–  </a:t>
            </a:r>
          </a:p>
        </p:txBody>
      </p:sp>
      <p:pic>
        <p:nvPicPr>
          <p:cNvPr id="1026" name="Picture 2" descr="TLS Different Encryption Methods">
            <a:extLst>
              <a:ext uri="{FF2B5EF4-FFF2-40B4-BE49-F238E27FC236}">
                <a16:creationId xmlns:a16="http://schemas.microsoft.com/office/drawing/2014/main" id="{F50F0603-C6C0-AE3D-0D2A-5638DF6E1D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932" y="1374892"/>
            <a:ext cx="9144000" cy="344328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3FBDF0E-D364-C11C-646B-608769CAB63A}"/>
              </a:ext>
            </a:extLst>
          </p:cNvPr>
          <p:cNvSpPr txBox="1"/>
          <p:nvPr/>
        </p:nvSpPr>
        <p:spPr>
          <a:xfrm>
            <a:off x="-30932" y="4534733"/>
            <a:ext cx="8839200" cy="1477328"/>
          </a:xfrm>
          <a:prstGeom prst="rect">
            <a:avLst/>
          </a:prstGeom>
          <a:noFill/>
        </p:spPr>
        <p:txBody>
          <a:bodyPr wrap="square">
            <a:spAutoFit/>
          </a:bodyPr>
          <a:lstStyle/>
          <a:p>
            <a:pPr marL="12700" marR="5080"/>
            <a:r>
              <a:rPr lang="en-US" sz="1800" kern="0" spc="-80" dirty="0">
                <a:solidFill>
                  <a:schemeClr val="accent2"/>
                </a:solidFill>
              </a:rPr>
              <a:t>For Further Exploration – </a:t>
            </a:r>
          </a:p>
          <a:p>
            <a:pPr marL="12700" marR="5080"/>
            <a:r>
              <a:rPr lang="en-US" kern="0" spc="-80" dirty="0">
                <a:solidFill>
                  <a:schemeClr val="accent2"/>
                </a:solidFill>
              </a:rPr>
              <a:t>  </a:t>
            </a:r>
            <a:r>
              <a:rPr lang="en-IN" dirty="0">
                <a:hlinkClick r:id="rId8"/>
              </a:rPr>
              <a:t>What Is </a:t>
            </a:r>
            <a:r>
              <a:rPr lang="en-IN" dirty="0" err="1">
                <a:hlinkClick r:id="rId8"/>
              </a:rPr>
              <a:t>mTLS</a:t>
            </a:r>
            <a:r>
              <a:rPr lang="en-IN" dirty="0">
                <a:hlinkClick r:id="rId8"/>
              </a:rPr>
              <a:t>?</a:t>
            </a:r>
            <a:endParaRPr lang="en-IN" dirty="0"/>
          </a:p>
          <a:p>
            <a:pPr marL="12700" marR="5080"/>
            <a:r>
              <a:rPr lang="en-US" kern="0" spc="-80" dirty="0">
                <a:solidFill>
                  <a:schemeClr val="accent2"/>
                </a:solidFill>
              </a:rPr>
              <a:t>  </a:t>
            </a:r>
            <a:r>
              <a:rPr lang="en-US" dirty="0">
                <a:hlinkClick r:id="rId9"/>
              </a:rPr>
              <a:t>SSL vs TLS - Difference Between Communication Protocols </a:t>
            </a:r>
            <a:r>
              <a:rPr lang="en-US" dirty="0">
                <a:hlinkClick r:id="rId10"/>
              </a:rPr>
              <a:t>–</a:t>
            </a:r>
            <a:r>
              <a:rPr lang="en-US" dirty="0">
                <a:hlinkClick r:id="rId9"/>
              </a:rPr>
              <a:t> AWS</a:t>
            </a:r>
            <a:r>
              <a:rPr lang="en-US" dirty="0"/>
              <a:t> </a:t>
            </a:r>
            <a:r>
              <a:rPr lang="en-US" kern="0" spc="-80" dirty="0">
                <a:solidFill>
                  <a:schemeClr val="accent2"/>
                </a:solidFill>
                <a:hlinkClick r:id="rId10"/>
              </a:rPr>
              <a:t>   </a:t>
            </a:r>
            <a:endParaRPr lang="en-US" kern="0" spc="-80" dirty="0">
              <a:solidFill>
                <a:schemeClr val="accent2"/>
              </a:solidFill>
            </a:endParaRPr>
          </a:p>
          <a:p>
            <a:pPr marL="12700" marR="5080"/>
            <a:r>
              <a:rPr lang="en-US" kern="0" spc="-80" dirty="0">
                <a:solidFill>
                  <a:schemeClr val="accent2"/>
                </a:solidFill>
                <a:hlinkClick r:id="rId10"/>
              </a:rPr>
              <a:t>  </a:t>
            </a:r>
            <a:r>
              <a:rPr lang="en-IN" dirty="0">
                <a:hlinkClick r:id="rId10"/>
              </a:rPr>
              <a:t>GrokkingBitcoin-Ch02-Hash-Functions-and-ignatures.adoc</a:t>
            </a:r>
          </a:p>
          <a:p>
            <a:pPr marL="12700" marR="5080"/>
            <a:r>
              <a:rPr lang="en-IN" kern="0" spc="-80" dirty="0">
                <a:solidFill>
                  <a:schemeClr val="accent2"/>
                </a:solidFill>
                <a:hlinkClick r:id="rId10"/>
              </a:rPr>
              <a:t>  </a:t>
            </a:r>
            <a:r>
              <a:rPr lang="en-US" dirty="0">
                <a:hlinkClick r:id="rId11"/>
              </a:rPr>
              <a:t>Implementing </a:t>
            </a:r>
            <a:r>
              <a:rPr lang="en-US" dirty="0" err="1">
                <a:hlinkClick r:id="rId11"/>
              </a:rPr>
              <a:t>mTLS</a:t>
            </a:r>
            <a:r>
              <a:rPr lang="en-US" dirty="0">
                <a:hlinkClick r:id="rId11"/>
              </a:rPr>
              <a:t> Between Two Apps Using ASP.NET - Microsoft Q&amp;A</a:t>
            </a:r>
            <a:endParaRPr lang="en-US" kern="0" spc="-80" dirty="0">
              <a:solidFill>
                <a:schemeClr val="accent2"/>
              </a:solidFill>
              <a:hlinkClick r:id="rId10"/>
            </a:endParaRPr>
          </a:p>
        </p:txBody>
      </p:sp>
    </p:spTree>
    <p:extLst>
      <p:ext uri="{BB962C8B-B14F-4D97-AF65-F5344CB8AC3E}">
        <p14:creationId xmlns:p14="http://schemas.microsoft.com/office/powerpoint/2010/main" val="51705689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Auth Code Grant Type – </a:t>
            </a:r>
          </a:p>
          <a:p>
            <a:pPr marL="12700" marR="5080"/>
            <a:endParaRPr lang="en-US" sz="2400" kern="0" spc="-80" dirty="0">
              <a:solidFill>
                <a:schemeClr val="accent6"/>
              </a:solidFill>
            </a:endParaRPr>
          </a:p>
          <a:p>
            <a:pPr marL="12700" marR="5080"/>
            <a:endParaRPr lang="en-US" sz="2400" kern="0" spc="-80" dirty="0">
              <a:solidFill>
                <a:schemeClr val="accent2"/>
              </a:solidFill>
            </a:endParaRPr>
          </a:p>
        </p:txBody>
      </p:sp>
      <p:pic>
        <p:nvPicPr>
          <p:cNvPr id="10" name="Picture 9">
            <a:extLst>
              <a:ext uri="{FF2B5EF4-FFF2-40B4-BE49-F238E27FC236}">
                <a16:creationId xmlns:a16="http://schemas.microsoft.com/office/drawing/2014/main" id="{27DBE7DF-E6F9-DF97-47A9-E30460D388D1}"/>
              </a:ext>
            </a:extLst>
          </p:cNvPr>
          <p:cNvPicPr>
            <a:picLocks noChangeAspect="1"/>
          </p:cNvPicPr>
          <p:nvPr/>
        </p:nvPicPr>
        <p:blipFill>
          <a:blip r:embed="rId7"/>
          <a:stretch>
            <a:fillRect/>
          </a:stretch>
        </p:blipFill>
        <p:spPr>
          <a:xfrm>
            <a:off x="237309" y="1905000"/>
            <a:ext cx="8669382" cy="3721236"/>
          </a:xfrm>
          <a:prstGeom prst="rect">
            <a:avLst/>
          </a:prstGeom>
        </p:spPr>
      </p:pic>
    </p:spTree>
    <p:extLst>
      <p:ext uri="{BB962C8B-B14F-4D97-AF65-F5344CB8AC3E}">
        <p14:creationId xmlns:p14="http://schemas.microsoft.com/office/powerpoint/2010/main" val="51433287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Client Credentials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8" name="Picture 7">
            <a:extLst>
              <a:ext uri="{FF2B5EF4-FFF2-40B4-BE49-F238E27FC236}">
                <a16:creationId xmlns:a16="http://schemas.microsoft.com/office/drawing/2014/main" id="{908E93D2-A4F5-CD11-CC8C-29E61E271CA0}"/>
              </a:ext>
            </a:extLst>
          </p:cNvPr>
          <p:cNvPicPr>
            <a:picLocks noChangeAspect="1"/>
          </p:cNvPicPr>
          <p:nvPr/>
        </p:nvPicPr>
        <p:blipFill>
          <a:blip r:embed="rId7"/>
          <a:stretch>
            <a:fillRect/>
          </a:stretch>
        </p:blipFill>
        <p:spPr>
          <a:xfrm>
            <a:off x="0" y="1905000"/>
            <a:ext cx="9144000" cy="4267200"/>
          </a:xfrm>
          <a:prstGeom prst="rect">
            <a:avLst/>
          </a:prstGeom>
        </p:spPr>
      </p:pic>
    </p:spTree>
    <p:extLst>
      <p:ext uri="{BB962C8B-B14F-4D97-AF65-F5344CB8AC3E}">
        <p14:creationId xmlns:p14="http://schemas.microsoft.com/office/powerpoint/2010/main" val="239369062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Resource Owner Credentials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9" name="Picture 8">
            <a:extLst>
              <a:ext uri="{FF2B5EF4-FFF2-40B4-BE49-F238E27FC236}">
                <a16:creationId xmlns:a16="http://schemas.microsoft.com/office/drawing/2014/main" id="{FCEEB288-B313-4E88-98B2-92ABC2AE7F01}"/>
              </a:ext>
            </a:extLst>
          </p:cNvPr>
          <p:cNvPicPr>
            <a:picLocks noChangeAspect="1"/>
          </p:cNvPicPr>
          <p:nvPr/>
        </p:nvPicPr>
        <p:blipFill>
          <a:blip r:embed="rId7"/>
          <a:stretch>
            <a:fillRect/>
          </a:stretch>
        </p:blipFill>
        <p:spPr>
          <a:xfrm>
            <a:off x="0" y="1904999"/>
            <a:ext cx="9144000" cy="4004175"/>
          </a:xfrm>
          <a:prstGeom prst="rect">
            <a:avLst/>
          </a:prstGeom>
        </p:spPr>
      </p:pic>
    </p:spTree>
    <p:extLst>
      <p:ext uri="{BB962C8B-B14F-4D97-AF65-F5344CB8AC3E}">
        <p14:creationId xmlns:p14="http://schemas.microsoft.com/office/powerpoint/2010/main" val="45117482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Refresh Token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9" name="Picture 8">
            <a:extLst>
              <a:ext uri="{FF2B5EF4-FFF2-40B4-BE49-F238E27FC236}">
                <a16:creationId xmlns:a16="http://schemas.microsoft.com/office/drawing/2014/main" id="{FCEEB288-B313-4E88-98B2-92ABC2AE7F01}"/>
              </a:ext>
            </a:extLst>
          </p:cNvPr>
          <p:cNvPicPr>
            <a:picLocks noChangeAspect="1"/>
          </p:cNvPicPr>
          <p:nvPr/>
        </p:nvPicPr>
        <p:blipFill>
          <a:blip r:embed="rId7"/>
          <a:stretch>
            <a:fillRect/>
          </a:stretch>
        </p:blipFill>
        <p:spPr>
          <a:xfrm>
            <a:off x="0" y="1904999"/>
            <a:ext cx="9144000" cy="4004175"/>
          </a:xfrm>
          <a:prstGeom prst="rect">
            <a:avLst/>
          </a:prstGeom>
        </p:spPr>
      </p:pic>
    </p:spTree>
    <p:extLst>
      <p:ext uri="{BB962C8B-B14F-4D97-AF65-F5344CB8AC3E}">
        <p14:creationId xmlns:p14="http://schemas.microsoft.com/office/powerpoint/2010/main" val="198203579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Implicit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1026" name="Picture 2">
            <a:extLst>
              <a:ext uri="{FF2B5EF4-FFF2-40B4-BE49-F238E27FC236}">
                <a16:creationId xmlns:a16="http://schemas.microsoft.com/office/drawing/2014/main" id="{64913A4A-C9FF-91F9-3C6E-A2E302A298A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828799"/>
            <a:ext cx="9144000" cy="4080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281547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Device Flow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2050" name="Picture 2">
            <a:extLst>
              <a:ext uri="{FF2B5EF4-FFF2-40B4-BE49-F238E27FC236}">
                <a16:creationId xmlns:a16="http://schemas.microsoft.com/office/drawing/2014/main" id="{98490278-F4D4-0322-2961-30B59F246B2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904999"/>
            <a:ext cx="9144000" cy="4004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8900914"/>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9410F-CF2B-8BFC-C11C-9E72DF18C43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8948B91-1E8C-E6F7-B36B-6CF7A2680DD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8EB68B-8A9D-1786-A028-C05167DBD01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D72219-9DC2-04F0-F072-6DD8F4F8420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1783DC8-19E1-653F-EAEF-87ACB553B63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32CA350-4DEF-C6D9-DCDA-E4DF648A94A9}"/>
              </a:ext>
            </a:extLst>
          </p:cNvPr>
          <p:cNvSpPr txBox="1">
            <a:spLocks/>
          </p:cNvSpPr>
          <p:nvPr/>
        </p:nvSpPr>
        <p:spPr>
          <a:xfrm>
            <a:off x="281754" y="767477"/>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1. UI → Internal API (User → Frontend → Backend)</a:t>
            </a:r>
          </a:p>
          <a:p>
            <a:pPr marL="12700" marR="5080"/>
            <a:r>
              <a:rPr lang="en-US" sz="1600" kern="0" spc="-80" dirty="0">
                <a:solidFill>
                  <a:schemeClr val="accent6"/>
                </a:solidFill>
              </a:rPr>
              <a:t>Here the user is involved. You need flows that authenticate humans, not machines.</a:t>
            </a:r>
          </a:p>
          <a:p>
            <a:pPr marL="12700" marR="5080"/>
            <a:r>
              <a:rPr lang="en-US" sz="1600" kern="0" spc="-80" dirty="0">
                <a:solidFill>
                  <a:schemeClr val="accent2"/>
                </a:solidFill>
              </a:rPr>
              <a:t>Best OAuth Flows for UI → Internal API</a:t>
            </a:r>
          </a:p>
          <a:p>
            <a:pPr marL="12700" marR="5080"/>
            <a:r>
              <a:rPr lang="en-US" sz="1600" kern="0" spc="-80" dirty="0">
                <a:solidFill>
                  <a:schemeClr val="accent2"/>
                </a:solidFill>
              </a:rPr>
              <a:t>A. Authorization Code Flow (with PKCE) — Recommended</a:t>
            </a:r>
          </a:p>
          <a:p>
            <a:pPr marL="12700" marR="5080"/>
            <a:r>
              <a:rPr lang="en-US" sz="1600" kern="0" spc="-80" dirty="0">
                <a:solidFill>
                  <a:schemeClr val="accent6"/>
                </a:solidFill>
              </a:rPr>
              <a:t>The most secure and modern flow for SPAs, mobile apps, and web apps.</a:t>
            </a:r>
          </a:p>
          <a:p>
            <a:pPr marL="12700" marR="5080"/>
            <a:r>
              <a:rPr lang="en-US" sz="1600" kern="0" spc="-80" dirty="0">
                <a:solidFill>
                  <a:schemeClr val="accent2"/>
                </a:solidFill>
              </a:rPr>
              <a:t>Where used?</a:t>
            </a:r>
          </a:p>
          <a:p>
            <a:pPr marL="12700" marR="5080"/>
            <a:r>
              <a:rPr lang="en-US" sz="1600" kern="0" spc="-80" dirty="0">
                <a:solidFill>
                  <a:schemeClr val="accent6"/>
                </a:solidFill>
              </a:rPr>
              <a:t>React / Angular / Vue SPA</a:t>
            </a:r>
          </a:p>
          <a:p>
            <a:pPr marL="12700" marR="5080"/>
            <a:r>
              <a:rPr lang="en-US" sz="1600" kern="0" spc="-80" dirty="0">
                <a:solidFill>
                  <a:schemeClr val="accent6"/>
                </a:solidFill>
              </a:rPr>
              <a:t>Mobile apps</a:t>
            </a:r>
          </a:p>
          <a:p>
            <a:pPr marL="12700" marR="5080"/>
            <a:r>
              <a:rPr lang="en-US" sz="1600" kern="0" spc="-80" dirty="0">
                <a:solidFill>
                  <a:schemeClr val="accent6"/>
                </a:solidFill>
              </a:rPr>
              <a:t>Server-rendered apps</a:t>
            </a:r>
          </a:p>
          <a:p>
            <a:pPr marL="12700" marR="5080"/>
            <a:r>
              <a:rPr lang="en-US" sz="1600" kern="0" spc="-80" dirty="0">
                <a:solidFill>
                  <a:schemeClr val="accent2"/>
                </a:solidFill>
              </a:rPr>
              <a:t>How it works</a:t>
            </a:r>
          </a:p>
          <a:p>
            <a:pPr marL="12700" marR="5080"/>
            <a:r>
              <a:rPr lang="en-US" sz="1600" kern="0" spc="-80" dirty="0">
                <a:solidFill>
                  <a:schemeClr val="accent6"/>
                </a:solidFill>
              </a:rPr>
              <a:t>UI redirects user to OAuth provider (Azure AD, Auth0, </a:t>
            </a:r>
            <a:r>
              <a:rPr lang="en-US" sz="1600" kern="0" spc="-80" dirty="0" err="1">
                <a:solidFill>
                  <a:schemeClr val="accent6"/>
                </a:solidFill>
              </a:rPr>
              <a:t>Keycloak</a:t>
            </a:r>
            <a:r>
              <a:rPr lang="en-US" sz="1600" kern="0" spc="-80" dirty="0">
                <a:solidFill>
                  <a:schemeClr val="accent6"/>
                </a:solidFill>
              </a:rPr>
              <a:t>, Okta).</a:t>
            </a:r>
          </a:p>
          <a:p>
            <a:pPr marL="12700" marR="5080"/>
            <a:r>
              <a:rPr lang="en-US" sz="1600" kern="0" spc="-80" dirty="0">
                <a:solidFill>
                  <a:schemeClr val="accent6"/>
                </a:solidFill>
              </a:rPr>
              <a:t>User logs in.</a:t>
            </a:r>
          </a:p>
          <a:p>
            <a:pPr marL="12700" marR="5080"/>
            <a:r>
              <a:rPr lang="en-US" sz="1600" kern="0" spc="-80" dirty="0">
                <a:solidFill>
                  <a:schemeClr val="accent6"/>
                </a:solidFill>
              </a:rPr>
              <a:t>OAuth provider returns a Code.</a:t>
            </a:r>
          </a:p>
          <a:p>
            <a:pPr marL="12700" marR="5080"/>
            <a:r>
              <a:rPr lang="en-US" sz="1600" kern="0" spc="-80" dirty="0">
                <a:solidFill>
                  <a:schemeClr val="accent6"/>
                </a:solidFill>
              </a:rPr>
              <a:t>UI exchanges code + PKCE verifier → gets:</a:t>
            </a:r>
          </a:p>
          <a:p>
            <a:pPr marL="12700" marR="5080"/>
            <a:r>
              <a:rPr lang="en-US" sz="1600" kern="0" spc="-80" dirty="0">
                <a:solidFill>
                  <a:schemeClr val="accent6"/>
                </a:solidFill>
              </a:rPr>
              <a:t>ID Token (JWT) → identifies user</a:t>
            </a:r>
          </a:p>
          <a:p>
            <a:pPr marL="12700" marR="5080"/>
            <a:r>
              <a:rPr lang="en-US" sz="1600" kern="0" spc="-80" dirty="0">
                <a:solidFill>
                  <a:schemeClr val="accent6"/>
                </a:solidFill>
              </a:rPr>
              <a:t>Access Token (JWT) → calls internal APIs</a:t>
            </a:r>
          </a:p>
          <a:p>
            <a:pPr marL="12700" marR="5080"/>
            <a:r>
              <a:rPr lang="en-US" sz="1600" kern="0" spc="-80" dirty="0">
                <a:solidFill>
                  <a:schemeClr val="accent6"/>
                </a:solidFill>
              </a:rPr>
              <a:t>Refresh Token (optional)</a:t>
            </a:r>
          </a:p>
        </p:txBody>
      </p:sp>
    </p:spTree>
    <p:extLst>
      <p:ext uri="{BB962C8B-B14F-4D97-AF65-F5344CB8AC3E}">
        <p14:creationId xmlns:p14="http://schemas.microsoft.com/office/powerpoint/2010/main" val="1044999454"/>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85E9E-FDD6-53A9-A43A-D9C5B0C4CB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F347E1-0151-BE44-827A-163F4782508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D0491B-6BB7-09A5-61EC-1EC5F0F7913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D674CE-C376-831A-A1E7-47C98EFAB2C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88B5F87-B9BA-5E22-A3CC-4BE51D71AAB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9BD3273-57A5-CB05-991F-B35776C7E89C}"/>
              </a:ext>
            </a:extLst>
          </p:cNvPr>
          <p:cNvSpPr txBox="1">
            <a:spLocks/>
          </p:cNvSpPr>
          <p:nvPr/>
        </p:nvSpPr>
        <p:spPr>
          <a:xfrm>
            <a:off x="281754" y="767477"/>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1. UI → Internal API (User → Frontend → Backend)</a:t>
            </a:r>
          </a:p>
          <a:p>
            <a:pPr marL="12700" marR="5080"/>
            <a:r>
              <a:rPr lang="en-US" sz="1600" kern="0" spc="-80" dirty="0">
                <a:solidFill>
                  <a:schemeClr val="accent2"/>
                </a:solidFill>
              </a:rPr>
              <a:t>A. Authorization Code Flow (with PKCE) — Recommended</a:t>
            </a:r>
          </a:p>
          <a:p>
            <a:pPr marL="12700" marR="5080"/>
            <a:r>
              <a:rPr lang="en-US" sz="1600" kern="0" spc="-80" dirty="0">
                <a:solidFill>
                  <a:schemeClr val="accent2"/>
                </a:solidFill>
              </a:rPr>
              <a:t>How it works</a:t>
            </a:r>
          </a:p>
          <a:p>
            <a:pPr marL="12700" marR="5080"/>
            <a:r>
              <a:rPr lang="en-US" sz="1600" kern="0" spc="-80" dirty="0">
                <a:solidFill>
                  <a:schemeClr val="accent2"/>
                </a:solidFill>
              </a:rPr>
              <a:t>Internal API Responsibilities</a:t>
            </a:r>
          </a:p>
          <a:p>
            <a:pPr marL="12700" marR="5080"/>
            <a:r>
              <a:rPr lang="en-US" sz="1600" kern="0" spc="-80" dirty="0">
                <a:solidFill>
                  <a:schemeClr val="accent6"/>
                </a:solidFill>
              </a:rPr>
              <a:t>Validate signature (RS256)</a:t>
            </a:r>
          </a:p>
          <a:p>
            <a:pPr marL="12700" marR="5080"/>
            <a:r>
              <a:rPr lang="en-US" sz="1600" kern="0" spc="-80" dirty="0">
                <a:solidFill>
                  <a:schemeClr val="accent6"/>
                </a:solidFill>
              </a:rPr>
              <a:t>Check expiration</a:t>
            </a:r>
          </a:p>
          <a:p>
            <a:pPr marL="12700" marR="5080"/>
            <a:r>
              <a:rPr lang="en-US" sz="1600" kern="0" spc="-80" dirty="0">
                <a:solidFill>
                  <a:schemeClr val="accent6"/>
                </a:solidFill>
              </a:rPr>
              <a:t>Enforce scopes (e.g., </a:t>
            </a:r>
            <a:r>
              <a:rPr lang="en-US" sz="1600" kern="0" spc="-80" dirty="0" err="1">
                <a:solidFill>
                  <a:schemeClr val="accent6"/>
                </a:solidFill>
              </a:rPr>
              <a:t>api.read</a:t>
            </a:r>
            <a:r>
              <a:rPr lang="en-US" sz="1600" kern="0" spc="-80" dirty="0">
                <a:solidFill>
                  <a:schemeClr val="accent6"/>
                </a:solidFill>
              </a:rPr>
              <a:t>, </a:t>
            </a:r>
            <a:r>
              <a:rPr lang="en-US" sz="1600" kern="0" spc="-80" dirty="0" err="1">
                <a:solidFill>
                  <a:schemeClr val="accent6"/>
                </a:solidFill>
              </a:rPr>
              <a:t>profile.email</a:t>
            </a:r>
            <a:r>
              <a:rPr lang="en-US" sz="1600" kern="0" spc="-80" dirty="0">
                <a:solidFill>
                  <a:schemeClr val="accent6"/>
                </a:solidFill>
              </a:rPr>
              <a:t>)</a:t>
            </a:r>
          </a:p>
          <a:p>
            <a:pPr marL="12700" marR="5080"/>
            <a:r>
              <a:rPr lang="en-US" sz="1600" kern="0" spc="-80" dirty="0">
                <a:solidFill>
                  <a:schemeClr val="accent2"/>
                </a:solidFill>
              </a:rPr>
              <a:t>Why PKCE?</a:t>
            </a:r>
          </a:p>
          <a:p>
            <a:pPr marL="12700" marR="5080"/>
            <a:r>
              <a:rPr lang="en-US" sz="1600" kern="0" spc="-80" dirty="0">
                <a:solidFill>
                  <a:schemeClr val="accent6"/>
                </a:solidFill>
              </a:rPr>
              <a:t>Prevents code interception</a:t>
            </a:r>
          </a:p>
          <a:p>
            <a:pPr marL="12700" marR="5080"/>
            <a:r>
              <a:rPr lang="en-US" sz="1600" kern="0" spc="-80" dirty="0">
                <a:solidFill>
                  <a:schemeClr val="accent6"/>
                </a:solidFill>
              </a:rPr>
              <a:t>Especially important for SPAs &amp; mobile apps</a:t>
            </a:r>
          </a:p>
          <a:p>
            <a:pPr marL="12700" marR="5080"/>
            <a:endParaRPr lang="en-US" sz="1600" kern="0" spc="-80" dirty="0">
              <a:solidFill>
                <a:schemeClr val="accent6"/>
              </a:solidFill>
            </a:endParaRPr>
          </a:p>
          <a:p>
            <a:pPr marL="12700" marR="5080"/>
            <a:r>
              <a:rPr lang="en-US" sz="1600" kern="0" spc="-80" dirty="0">
                <a:solidFill>
                  <a:schemeClr val="accent2"/>
                </a:solidFill>
              </a:rPr>
              <a:t>B. Implicit Flow (Deprecated)</a:t>
            </a:r>
          </a:p>
          <a:p>
            <a:pPr marL="12700" marR="5080"/>
            <a:r>
              <a:rPr lang="en-US" sz="1600" kern="0" spc="-80" dirty="0">
                <a:solidFill>
                  <a:schemeClr val="accent6"/>
                </a:solidFill>
              </a:rPr>
              <a:t>Used by older SPAs but should not be used now because:</a:t>
            </a:r>
          </a:p>
          <a:p>
            <a:pPr marL="12700" marR="5080"/>
            <a:r>
              <a:rPr lang="en-US" sz="1600" kern="0" spc="-80" dirty="0">
                <a:solidFill>
                  <a:schemeClr val="accent6"/>
                </a:solidFill>
              </a:rPr>
              <a:t>No refresh tokens</a:t>
            </a:r>
          </a:p>
          <a:p>
            <a:pPr marL="12700" marR="5080"/>
            <a:r>
              <a:rPr lang="en-US" sz="1600" kern="0" spc="-80" dirty="0">
                <a:solidFill>
                  <a:schemeClr val="accent6"/>
                </a:solidFill>
              </a:rPr>
              <a:t>Tokens delivered via browser URL hash</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430778777"/>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EE01F-FAEB-B658-2F1B-33E2138BD9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9247BB-18A2-8509-99B6-766D19AD9D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7CFFB3-623B-751B-5CBA-A7A46E2EB3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0BECEB7-7642-745A-E7BB-BC8BF663CAD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2C8648C-AB24-FBE9-46A7-EBAAE995CB0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6AFFA9B-A18B-9E58-FD02-FFB89BE037A0}"/>
              </a:ext>
            </a:extLst>
          </p:cNvPr>
          <p:cNvSpPr txBox="1">
            <a:spLocks/>
          </p:cNvSpPr>
          <p:nvPr/>
        </p:nvSpPr>
        <p:spPr>
          <a:xfrm>
            <a:off x="281754" y="767477"/>
            <a:ext cx="8624937" cy="60401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550" kern="0" spc="-80" dirty="0">
                <a:solidFill>
                  <a:schemeClr val="accent2"/>
                </a:solidFill>
              </a:rPr>
              <a:t>✅ 1. UI → Internal API (User → Frontend → Backend)</a:t>
            </a:r>
          </a:p>
          <a:p>
            <a:pPr marL="12700" marR="5080"/>
            <a:r>
              <a:rPr lang="en-US" sz="1550" kern="0" spc="-80" dirty="0">
                <a:solidFill>
                  <a:schemeClr val="accent2"/>
                </a:solidFill>
              </a:rPr>
              <a:t>A. Authorization Code Flow (with PKCE) — Recommended</a:t>
            </a:r>
          </a:p>
          <a:p>
            <a:pPr marL="12700" marR="5080"/>
            <a:r>
              <a:rPr lang="en-US" sz="1550" kern="0" spc="-80" dirty="0">
                <a:solidFill>
                  <a:schemeClr val="accent2"/>
                </a:solidFill>
              </a:rPr>
              <a:t>C. Session + Cookie Approach (No OAuth Token in Browser)</a:t>
            </a:r>
          </a:p>
          <a:p>
            <a:pPr marL="12700" marR="5080"/>
            <a:r>
              <a:rPr lang="en-US" sz="1550" kern="0" spc="-80" dirty="0">
                <a:solidFill>
                  <a:schemeClr val="accent6"/>
                </a:solidFill>
              </a:rPr>
              <a:t>Modern alternative to avoid token exposure in browser.</a:t>
            </a:r>
          </a:p>
          <a:p>
            <a:pPr marL="12700" marR="5080"/>
            <a:r>
              <a:rPr lang="en-US" sz="1550" kern="0" spc="-80" dirty="0">
                <a:solidFill>
                  <a:schemeClr val="accent2"/>
                </a:solidFill>
              </a:rPr>
              <a:t>Flow:</a:t>
            </a:r>
          </a:p>
          <a:p>
            <a:pPr marL="12700" marR="5080"/>
            <a:r>
              <a:rPr lang="en-US" sz="1550" kern="0" spc="-80" dirty="0">
                <a:solidFill>
                  <a:schemeClr val="accent6"/>
                </a:solidFill>
              </a:rPr>
              <a:t>UI sends login request → backend performs OAuth Authorization Flow.</a:t>
            </a:r>
          </a:p>
          <a:p>
            <a:pPr marL="12700" marR="5080"/>
            <a:r>
              <a:rPr lang="en-US" sz="1550" kern="0" spc="-80" dirty="0">
                <a:solidFill>
                  <a:schemeClr val="accent6"/>
                </a:solidFill>
              </a:rPr>
              <a:t>Backend sets </a:t>
            </a:r>
            <a:r>
              <a:rPr lang="en-US" sz="1550" kern="0" spc="-80" dirty="0" err="1">
                <a:solidFill>
                  <a:schemeClr val="accent6"/>
                </a:solidFill>
              </a:rPr>
              <a:t>HttpOnly</a:t>
            </a:r>
            <a:r>
              <a:rPr lang="en-US" sz="1550" kern="0" spc="-80" dirty="0">
                <a:solidFill>
                  <a:schemeClr val="accent6"/>
                </a:solidFill>
              </a:rPr>
              <a:t> session cookie.</a:t>
            </a:r>
          </a:p>
          <a:p>
            <a:pPr marL="12700" marR="5080"/>
            <a:r>
              <a:rPr lang="en-US" sz="1550" kern="0" spc="-80" dirty="0">
                <a:solidFill>
                  <a:schemeClr val="accent6"/>
                </a:solidFill>
              </a:rPr>
              <a:t>UI calls internal APIs → cookie automatically sent.</a:t>
            </a:r>
          </a:p>
          <a:p>
            <a:pPr marL="12700" marR="5080"/>
            <a:r>
              <a:rPr lang="en-US" sz="1550" kern="0" spc="-80" dirty="0">
                <a:solidFill>
                  <a:schemeClr val="accent2"/>
                </a:solidFill>
              </a:rPr>
              <a:t>Advantage:</a:t>
            </a:r>
          </a:p>
          <a:p>
            <a:pPr marL="12700" marR="5080"/>
            <a:r>
              <a:rPr lang="en-US" sz="1550" kern="0" spc="-80" dirty="0">
                <a:solidFill>
                  <a:schemeClr val="accent6"/>
                </a:solidFill>
              </a:rPr>
              <a:t>Tokens stay server-side; browser never sees them.</a:t>
            </a:r>
          </a:p>
          <a:p>
            <a:pPr marL="12700" marR="5080"/>
            <a:r>
              <a:rPr lang="en-US" sz="1550" kern="0" spc="-80" dirty="0">
                <a:solidFill>
                  <a:schemeClr val="accent6"/>
                </a:solidFill>
              </a:rPr>
              <a:t>🔶 Typical Architecture for UI → Internal API</a:t>
            </a:r>
          </a:p>
          <a:p>
            <a:pPr marL="12700" marR="5080"/>
            <a:r>
              <a:rPr lang="en-US" sz="1550" kern="0" spc="-80" dirty="0">
                <a:solidFill>
                  <a:schemeClr val="accent6"/>
                </a:solidFill>
              </a:rPr>
              <a:t>UI (SPA/Mobile/Web)</a:t>
            </a:r>
          </a:p>
          <a:p>
            <a:pPr marL="12700" marR="5080"/>
            <a:r>
              <a:rPr lang="en-US" sz="1550" kern="0" spc="-80" dirty="0">
                <a:solidFill>
                  <a:schemeClr val="accent6"/>
                </a:solidFill>
              </a:rPr>
              <a:t>        |</a:t>
            </a:r>
          </a:p>
          <a:p>
            <a:pPr marL="12700" marR="5080"/>
            <a:r>
              <a:rPr lang="en-US" sz="1550" kern="0" spc="-80" dirty="0">
                <a:solidFill>
                  <a:schemeClr val="accent6"/>
                </a:solidFill>
              </a:rPr>
              <a:t>        |  Access Token (JWT)</a:t>
            </a:r>
          </a:p>
          <a:p>
            <a:pPr marL="12700" marR="5080"/>
            <a:r>
              <a:rPr lang="en-US" sz="1550" kern="0" spc="-80" dirty="0">
                <a:solidFill>
                  <a:schemeClr val="accent6"/>
                </a:solidFill>
              </a:rPr>
              <a:t>        v</a:t>
            </a:r>
          </a:p>
          <a:p>
            <a:pPr marL="12700" marR="5080"/>
            <a:r>
              <a:rPr lang="en-US" sz="1550" kern="0" spc="-80" dirty="0">
                <a:solidFill>
                  <a:schemeClr val="accent6"/>
                </a:solidFill>
              </a:rPr>
              <a:t>Internal API Gateway or BFF</a:t>
            </a:r>
          </a:p>
          <a:p>
            <a:pPr marL="12700" marR="5080"/>
            <a:r>
              <a:rPr lang="en-US" sz="1550" kern="0" spc="-80" dirty="0">
                <a:solidFill>
                  <a:schemeClr val="accent6"/>
                </a:solidFill>
              </a:rPr>
              <a:t>        |</a:t>
            </a:r>
          </a:p>
          <a:p>
            <a:pPr marL="12700" marR="5080"/>
            <a:r>
              <a:rPr lang="en-US" sz="1550" kern="0" spc="-80" dirty="0">
                <a:solidFill>
                  <a:schemeClr val="accent6"/>
                </a:solidFill>
              </a:rPr>
              <a:t>        -&gt; Internal Microservices</a:t>
            </a:r>
          </a:p>
          <a:p>
            <a:pPr marL="12700" marR="5080"/>
            <a:r>
              <a:rPr lang="en-US" sz="1550" kern="0" spc="-80" dirty="0">
                <a:solidFill>
                  <a:schemeClr val="accent6"/>
                </a:solidFill>
              </a:rPr>
              <a:t>Best Practice: Use a Backend For Frontend (BFF) to prevent exposing access tokens to browser.</a:t>
            </a:r>
          </a:p>
          <a:p>
            <a:pPr marL="12700" marR="5080"/>
            <a:endParaRPr lang="en-US" sz="1600" kern="0" spc="-80" dirty="0">
              <a:solidFill>
                <a:schemeClr val="accent6"/>
              </a:solidFill>
            </a:endParaRPr>
          </a:p>
          <a:p>
            <a:pPr marL="12700" marR="5080"/>
            <a:endParaRPr lang="en-US" sz="1600" kern="0" spc="-80" dirty="0">
              <a:solidFill>
                <a:schemeClr val="accent6"/>
              </a:solidFill>
            </a:endParaRPr>
          </a:p>
          <a:p>
            <a:pPr marL="12700" marR="5080"/>
            <a:endParaRPr lang="en-US" sz="1800" kern="0" spc="-80" dirty="0">
              <a:solidFill>
                <a:schemeClr val="accent2"/>
              </a:solidFill>
            </a:endParaRPr>
          </a:p>
        </p:txBody>
      </p:sp>
    </p:spTree>
    <p:extLst>
      <p:ext uri="{BB962C8B-B14F-4D97-AF65-F5344CB8AC3E}">
        <p14:creationId xmlns:p14="http://schemas.microsoft.com/office/powerpoint/2010/main" val="401343969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63C5C-3993-D257-CA43-521D9DB2B8F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8FFB6B-3034-BED1-0D06-CA6F96B38D8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D7C6EC-9EAF-2C38-BD3B-7D808941171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3CD404-438C-BA0D-F8EA-81892DEA452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D0B3E8A-374F-39E5-5CF9-2233E91DC1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85FD709-AFCB-CFBE-5B05-E78970E37527}"/>
              </a:ext>
            </a:extLst>
          </p:cNvPr>
          <p:cNvSpPr txBox="1">
            <a:spLocks/>
          </p:cNvSpPr>
          <p:nvPr/>
        </p:nvSpPr>
        <p:spPr>
          <a:xfrm>
            <a:off x="281754" y="767477"/>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2. Internal API → Internal API (Service-to-Service Communication)</a:t>
            </a:r>
          </a:p>
          <a:p>
            <a:pPr marL="12700" marR="5080"/>
            <a:r>
              <a:rPr lang="en-US" sz="1600" kern="0" spc="-80" dirty="0">
                <a:solidFill>
                  <a:schemeClr val="accent6"/>
                </a:solidFill>
              </a:rPr>
              <a:t>This is machine-to-machine communication. No user. You need server-side OAuth flows using client credentials.</a:t>
            </a:r>
          </a:p>
          <a:p>
            <a:pPr marL="12700" marR="5080"/>
            <a:r>
              <a:rPr lang="en-US" sz="1600" kern="0" spc="-80" dirty="0">
                <a:solidFill>
                  <a:schemeClr val="accent2"/>
                </a:solidFill>
              </a:rPr>
              <a:t>Best OAuth Flows for Internal API → Internal API</a:t>
            </a:r>
          </a:p>
          <a:p>
            <a:pPr marL="12700" marR="5080"/>
            <a:endParaRPr lang="en-US" sz="1600" kern="0" spc="-80" dirty="0">
              <a:solidFill>
                <a:schemeClr val="accent6"/>
              </a:solidFill>
            </a:endParaRPr>
          </a:p>
          <a:p>
            <a:pPr marL="12700" marR="5080"/>
            <a:r>
              <a:rPr lang="en-US" sz="1600" kern="0" spc="-80" dirty="0">
                <a:solidFill>
                  <a:schemeClr val="accent2"/>
                </a:solidFill>
              </a:rPr>
              <a:t>A. Client Credentials Flow (Most Common)</a:t>
            </a:r>
          </a:p>
          <a:p>
            <a:pPr marL="12700" marR="5080"/>
            <a:r>
              <a:rPr lang="en-US" sz="1600" kern="0" spc="-80" dirty="0">
                <a:solidFill>
                  <a:schemeClr val="accent2"/>
                </a:solidFill>
              </a:rPr>
              <a:t>Each internal microservice has:</a:t>
            </a:r>
          </a:p>
          <a:p>
            <a:pPr marL="12700" marR="5080"/>
            <a:r>
              <a:rPr lang="en-US" sz="1600" kern="0" spc="-80" dirty="0">
                <a:solidFill>
                  <a:schemeClr val="accent6"/>
                </a:solidFill>
              </a:rPr>
              <a:t>Client ID</a:t>
            </a:r>
          </a:p>
          <a:p>
            <a:pPr marL="12700" marR="5080"/>
            <a:r>
              <a:rPr lang="en-US" sz="1600" kern="0" spc="-80" dirty="0">
                <a:solidFill>
                  <a:schemeClr val="accent6"/>
                </a:solidFill>
              </a:rPr>
              <a:t>Client Secret</a:t>
            </a:r>
          </a:p>
          <a:p>
            <a:pPr marL="12700" marR="5080"/>
            <a:r>
              <a:rPr lang="en-US" sz="1600" kern="0" spc="-80" dirty="0">
                <a:solidFill>
                  <a:schemeClr val="accent6"/>
                </a:solidFill>
              </a:rPr>
              <a:t>(or certificate-based authentication)</a:t>
            </a:r>
          </a:p>
          <a:p>
            <a:pPr marL="12700" marR="5080"/>
            <a:endParaRPr lang="en-US" sz="1600" kern="0" spc="-80" dirty="0">
              <a:solidFill>
                <a:schemeClr val="accent6"/>
              </a:solidFill>
            </a:endParaRPr>
          </a:p>
          <a:p>
            <a:pPr marL="12700" marR="5080"/>
            <a:r>
              <a:rPr lang="en-US" sz="1600" kern="0" spc="-80" dirty="0">
                <a:solidFill>
                  <a:schemeClr val="accent2"/>
                </a:solidFill>
              </a:rPr>
              <a:t>How it works</a:t>
            </a:r>
          </a:p>
          <a:p>
            <a:pPr marL="12700" marR="5080"/>
            <a:r>
              <a:rPr lang="en-US" sz="1600" kern="0" spc="-80" dirty="0">
                <a:solidFill>
                  <a:schemeClr val="accent6"/>
                </a:solidFill>
              </a:rPr>
              <a:t>Service A sends client credentials to OAuth server.</a:t>
            </a:r>
          </a:p>
          <a:p>
            <a:pPr marL="12700" marR="5080"/>
            <a:r>
              <a:rPr lang="en-US" sz="1600" kern="0" spc="-80" dirty="0">
                <a:solidFill>
                  <a:schemeClr val="accent6"/>
                </a:solidFill>
              </a:rPr>
              <a:t>Gets an Access Token with scopes/roles like:</a:t>
            </a:r>
          </a:p>
          <a:p>
            <a:pPr marL="12700" marR="5080"/>
            <a:r>
              <a:rPr lang="en-US" sz="1600" kern="0" spc="-80" dirty="0" err="1">
                <a:solidFill>
                  <a:schemeClr val="accent6"/>
                </a:solidFill>
              </a:rPr>
              <a:t>service.read</a:t>
            </a:r>
            <a:endParaRPr lang="en-US" sz="1600" kern="0" spc="-80" dirty="0">
              <a:solidFill>
                <a:schemeClr val="accent6"/>
              </a:solidFill>
            </a:endParaRPr>
          </a:p>
          <a:p>
            <a:pPr marL="12700" marR="5080"/>
            <a:r>
              <a:rPr lang="en-US" sz="1600" kern="0" spc="-80" dirty="0" err="1">
                <a:solidFill>
                  <a:schemeClr val="accent6"/>
                </a:solidFill>
              </a:rPr>
              <a:t>service.write</a:t>
            </a:r>
            <a:endParaRPr lang="en-US" sz="1600" kern="0" spc="-80" dirty="0">
              <a:solidFill>
                <a:schemeClr val="accent6"/>
              </a:solidFill>
            </a:endParaRPr>
          </a:p>
          <a:p>
            <a:pPr marL="12700" marR="5080"/>
            <a:r>
              <a:rPr lang="en-US" sz="1600" kern="0" spc="-80" dirty="0">
                <a:solidFill>
                  <a:schemeClr val="accent6"/>
                </a:solidFill>
              </a:rPr>
              <a:t>Service A calls Service B using bearer token.</a:t>
            </a:r>
          </a:p>
        </p:txBody>
      </p:sp>
    </p:spTree>
    <p:extLst>
      <p:ext uri="{BB962C8B-B14F-4D97-AF65-F5344CB8AC3E}">
        <p14:creationId xmlns:p14="http://schemas.microsoft.com/office/powerpoint/2010/main" val="427246336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AE41F-BC89-F689-B96F-B3D0C20F1DA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B3AAAE9-F123-EE3C-9CDC-E0E8EB5623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52E0DF-2B26-998D-7441-22BB5B00FF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02FAFE-E34A-8738-A962-E91C9B371C4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1951EA-BC5C-0031-437F-691B576F32F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785354-4D3D-D107-26A2-38C35BBE1585}"/>
              </a:ext>
            </a:extLst>
          </p:cNvPr>
          <p:cNvSpPr txBox="1">
            <a:spLocks/>
          </p:cNvSpPr>
          <p:nvPr/>
        </p:nvSpPr>
        <p:spPr>
          <a:xfrm>
            <a:off x="281754" y="767477"/>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2. Internal API → Internal API (Service-to-Service Communication)</a:t>
            </a:r>
          </a:p>
          <a:p>
            <a:pPr marL="12700" marR="5080"/>
            <a:r>
              <a:rPr lang="en-US" sz="1600" kern="0" spc="-80" dirty="0">
                <a:solidFill>
                  <a:schemeClr val="accent2"/>
                </a:solidFill>
              </a:rPr>
              <a:t>B. Token Exchange (JWT → JWT Mapping)</a:t>
            </a:r>
          </a:p>
          <a:p>
            <a:pPr marL="12700" marR="5080"/>
            <a:r>
              <a:rPr lang="en-US" sz="1600" kern="0" spc="-80" dirty="0">
                <a:solidFill>
                  <a:schemeClr val="accent2"/>
                </a:solidFill>
              </a:rPr>
              <a:t>Used when:</a:t>
            </a:r>
          </a:p>
          <a:p>
            <a:pPr marL="12700" marR="5080"/>
            <a:r>
              <a:rPr lang="en-US" sz="1600" kern="0" spc="-80" dirty="0">
                <a:solidFill>
                  <a:schemeClr val="accent6"/>
                </a:solidFill>
              </a:rPr>
              <a:t>The frontend token (user token) should not be directly forwarded to downstream APIs.</a:t>
            </a:r>
          </a:p>
          <a:p>
            <a:pPr marL="12700" marR="5080"/>
            <a:r>
              <a:rPr lang="en-US" sz="1600" kern="0" spc="-80" dirty="0">
                <a:solidFill>
                  <a:schemeClr val="accent6"/>
                </a:solidFill>
              </a:rPr>
              <a:t>Zero-trust microservice systems (e.g., Istio, Envoy).</a:t>
            </a:r>
          </a:p>
          <a:p>
            <a:pPr marL="12700" marR="5080"/>
            <a:r>
              <a:rPr lang="en-US" sz="1600" kern="0" spc="-80" dirty="0">
                <a:solidFill>
                  <a:schemeClr val="accent2"/>
                </a:solidFill>
              </a:rPr>
              <a:t>Flow:</a:t>
            </a:r>
          </a:p>
          <a:p>
            <a:pPr marL="12700" marR="5080"/>
            <a:r>
              <a:rPr lang="en-US" sz="1600" kern="0" spc="-80" dirty="0">
                <a:solidFill>
                  <a:schemeClr val="accent6"/>
                </a:solidFill>
              </a:rPr>
              <a:t>Frontend calls API Gateway with user access token.</a:t>
            </a:r>
          </a:p>
          <a:p>
            <a:pPr marL="12700" marR="5080"/>
            <a:r>
              <a:rPr lang="en-US" sz="1600" kern="0" spc="-80" dirty="0">
                <a:solidFill>
                  <a:schemeClr val="accent6"/>
                </a:solidFill>
              </a:rPr>
              <a:t>API Gateway exchanges the token for a new internal token:</a:t>
            </a:r>
          </a:p>
          <a:p>
            <a:pPr marL="12700" marR="5080"/>
            <a:r>
              <a:rPr lang="en-US" sz="1600" kern="0" spc="-80" dirty="0">
                <a:solidFill>
                  <a:schemeClr val="accent6"/>
                </a:solidFill>
              </a:rPr>
              <a:t>Removes PII</a:t>
            </a:r>
          </a:p>
          <a:p>
            <a:pPr marL="12700" marR="5080"/>
            <a:r>
              <a:rPr lang="en-US" sz="1600" kern="0" spc="-80" dirty="0">
                <a:solidFill>
                  <a:schemeClr val="accent6"/>
                </a:solidFill>
              </a:rPr>
              <a:t>Adds microservice-specific claims</a:t>
            </a:r>
          </a:p>
          <a:p>
            <a:pPr marL="12700" marR="5080"/>
            <a:r>
              <a:rPr lang="en-US" sz="1600" kern="0" spc="-80" dirty="0">
                <a:solidFill>
                  <a:schemeClr val="accent6"/>
                </a:solidFill>
              </a:rPr>
              <a:t>Gateway calls Service B with internal token.</a:t>
            </a:r>
          </a:p>
          <a:p>
            <a:pPr marL="12700" marR="5080"/>
            <a:r>
              <a:rPr lang="en-US" sz="1600" kern="0" spc="-80" dirty="0">
                <a:solidFill>
                  <a:schemeClr val="accent6"/>
                </a:solidFill>
              </a:rPr>
              <a:t>This protects:</a:t>
            </a:r>
          </a:p>
          <a:p>
            <a:pPr marL="12700" marR="5080"/>
            <a:r>
              <a:rPr lang="en-US" sz="1600" kern="0" spc="-80" dirty="0">
                <a:solidFill>
                  <a:schemeClr val="accent6"/>
                </a:solidFill>
              </a:rPr>
              <a:t>Internal API from over-exposing user claims</a:t>
            </a:r>
          </a:p>
          <a:p>
            <a:pPr marL="12700" marR="5080"/>
            <a:r>
              <a:rPr lang="en-US" sz="1600" kern="0" spc="-80" dirty="0">
                <a:solidFill>
                  <a:schemeClr val="accent6"/>
                </a:solidFill>
              </a:rPr>
              <a:t>Avoids token reuse across systems</a:t>
            </a:r>
          </a:p>
          <a:p>
            <a:pPr marL="12700" marR="5080"/>
            <a:endParaRPr lang="en-US" sz="1600" kern="0" spc="-80" dirty="0">
              <a:solidFill>
                <a:schemeClr val="accent6"/>
              </a:solidFill>
            </a:endParaRPr>
          </a:p>
          <a:p>
            <a:pPr marL="12700" marR="5080"/>
            <a:r>
              <a:rPr lang="en-US" sz="1600" kern="0" spc="-80" dirty="0">
                <a:solidFill>
                  <a:schemeClr val="accent2"/>
                </a:solidFill>
              </a:rPr>
              <a:t>C. Mutual TLS (</a:t>
            </a:r>
            <a:r>
              <a:rPr lang="en-US" sz="1600" kern="0" spc="-80" dirty="0" err="1">
                <a:solidFill>
                  <a:schemeClr val="accent2"/>
                </a:solidFill>
              </a:rPr>
              <a:t>mTLS</a:t>
            </a:r>
            <a:r>
              <a:rPr lang="en-US" sz="1600" kern="0" spc="-80" dirty="0">
                <a:solidFill>
                  <a:schemeClr val="accent2"/>
                </a:solidFill>
              </a:rPr>
              <a:t>) + OAuth</a:t>
            </a:r>
          </a:p>
          <a:p>
            <a:pPr marL="12700" marR="5080"/>
            <a:r>
              <a:rPr lang="en-US" sz="1600" kern="0" spc="-80" dirty="0">
                <a:solidFill>
                  <a:schemeClr val="accent6"/>
                </a:solidFill>
              </a:rPr>
              <a:t>Used in highly secure enterprise environments.</a:t>
            </a:r>
          </a:p>
          <a:p>
            <a:pPr marL="12700" marR="5080"/>
            <a:r>
              <a:rPr lang="en-US" sz="1600" kern="0" spc="-80" dirty="0">
                <a:solidFill>
                  <a:schemeClr val="accent2"/>
                </a:solidFill>
              </a:rPr>
              <a:t>Internal API communication uses:</a:t>
            </a:r>
          </a:p>
        </p:txBody>
      </p:sp>
    </p:spTree>
    <p:extLst>
      <p:ext uri="{BB962C8B-B14F-4D97-AF65-F5344CB8AC3E}">
        <p14:creationId xmlns:p14="http://schemas.microsoft.com/office/powerpoint/2010/main" val="202813984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EAB50-E44C-F478-FDA5-DA547E017D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C4095A4-1CCA-EA65-46AB-DE8BC6A506C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0B0F79-B559-9CB8-D066-93E34F3EDAD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DFEF34-7BA5-4565-3764-3BD7C779F1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40BB879-9F81-564E-E610-F1A00FEB92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7016DC3-8525-4D8A-6D64-BE4D0B0A3034}"/>
              </a:ext>
            </a:extLst>
          </p:cNvPr>
          <p:cNvSpPr txBox="1">
            <a:spLocks/>
          </p:cNvSpPr>
          <p:nvPr/>
        </p:nvSpPr>
        <p:spPr>
          <a:xfrm>
            <a:off x="281754" y="76747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2. Internal API → Internal API (Service-to-Service Communication)</a:t>
            </a:r>
          </a:p>
          <a:p>
            <a:pPr marL="12700" marR="5080"/>
            <a:r>
              <a:rPr lang="en-US" sz="1600" kern="0" spc="-80" dirty="0">
                <a:solidFill>
                  <a:schemeClr val="accent2"/>
                </a:solidFill>
              </a:rPr>
              <a:t>C. Mutual TLS (</a:t>
            </a:r>
            <a:r>
              <a:rPr lang="en-US" sz="1600" kern="0" spc="-80" dirty="0" err="1">
                <a:solidFill>
                  <a:schemeClr val="accent2"/>
                </a:solidFill>
              </a:rPr>
              <a:t>mTLS</a:t>
            </a:r>
            <a:r>
              <a:rPr lang="en-US" sz="1600" kern="0" spc="-80" dirty="0">
                <a:solidFill>
                  <a:schemeClr val="accent2"/>
                </a:solidFill>
              </a:rPr>
              <a:t>) + OAuth</a:t>
            </a:r>
          </a:p>
          <a:p>
            <a:pPr marL="12700" marR="5080"/>
            <a:r>
              <a:rPr lang="en-US" sz="1600" kern="0" spc="-80" dirty="0">
                <a:solidFill>
                  <a:schemeClr val="accent2"/>
                </a:solidFill>
              </a:rPr>
              <a:t>Internal API communication uses:</a:t>
            </a:r>
          </a:p>
          <a:p>
            <a:pPr marL="12700" marR="5080"/>
            <a:r>
              <a:rPr lang="en-US" sz="1600" kern="0" spc="-80" dirty="0">
                <a:solidFill>
                  <a:schemeClr val="accent6"/>
                </a:solidFill>
              </a:rPr>
              <a:t>OAuth access token</a:t>
            </a:r>
          </a:p>
          <a:p>
            <a:pPr marL="12700" marR="5080"/>
            <a:r>
              <a:rPr lang="en-US" sz="1600" kern="0" spc="-80" dirty="0" err="1">
                <a:solidFill>
                  <a:schemeClr val="accent6"/>
                </a:solidFill>
              </a:rPr>
              <a:t>mTLS</a:t>
            </a:r>
            <a:r>
              <a:rPr lang="en-US" sz="1600" kern="0" spc="-80" dirty="0">
                <a:solidFill>
                  <a:schemeClr val="accent6"/>
                </a:solidFill>
              </a:rPr>
              <a:t> certificate validation</a:t>
            </a:r>
          </a:p>
          <a:p>
            <a:pPr marL="12700" marR="5080"/>
            <a:r>
              <a:rPr lang="en-US" sz="1600" kern="0" spc="-80" dirty="0">
                <a:solidFill>
                  <a:schemeClr val="accent2"/>
                </a:solidFill>
              </a:rPr>
              <a:t>Often used for:</a:t>
            </a:r>
          </a:p>
          <a:p>
            <a:pPr marL="12700" marR="5080"/>
            <a:r>
              <a:rPr lang="en-US" sz="1600" kern="0" spc="-80" dirty="0">
                <a:solidFill>
                  <a:schemeClr val="accent6"/>
                </a:solidFill>
              </a:rPr>
              <a:t>Banking systems</a:t>
            </a:r>
          </a:p>
          <a:p>
            <a:pPr marL="12700" marR="5080"/>
            <a:r>
              <a:rPr lang="en-US" sz="1600" kern="0" spc="-80" dirty="0">
                <a:solidFill>
                  <a:schemeClr val="accent6"/>
                </a:solidFill>
              </a:rPr>
              <a:t>Smart meter / Grid IoT platforms</a:t>
            </a:r>
          </a:p>
          <a:p>
            <a:pPr marL="12700" marR="5080"/>
            <a:r>
              <a:rPr lang="en-US" sz="1600" kern="0" spc="-80" dirty="0">
                <a:solidFill>
                  <a:schemeClr val="accent6"/>
                </a:solidFill>
              </a:rPr>
              <a:t>Healthcare APIs</a:t>
            </a:r>
          </a:p>
          <a:p>
            <a:pPr marL="12700" marR="5080"/>
            <a:r>
              <a:rPr lang="en-US" sz="1600" kern="0" spc="-80" dirty="0">
                <a:solidFill>
                  <a:schemeClr val="accent2"/>
                </a:solidFill>
              </a:rPr>
              <a:t>🔶 Internal API → Internal API Architecture</a:t>
            </a:r>
          </a:p>
          <a:p>
            <a:pPr marL="12700" marR="5080"/>
            <a:r>
              <a:rPr lang="en-US" sz="1600" kern="0" spc="-80" dirty="0">
                <a:solidFill>
                  <a:schemeClr val="accent6"/>
                </a:solidFill>
              </a:rPr>
              <a:t>Service A  -- Client Credentials Token --&gt;  Service B</a:t>
            </a:r>
          </a:p>
          <a:p>
            <a:pPr marL="12700" marR="5080"/>
            <a:r>
              <a:rPr lang="en-US" sz="1600" kern="0" spc="-80" dirty="0">
                <a:solidFill>
                  <a:schemeClr val="accent6"/>
                </a:solidFill>
              </a:rPr>
              <a:t> |</a:t>
            </a:r>
          </a:p>
          <a:p>
            <a:pPr marL="12700" marR="5080"/>
            <a:r>
              <a:rPr lang="en-US" sz="1600" kern="0" spc="-80" dirty="0">
                <a:solidFill>
                  <a:schemeClr val="accent6"/>
                </a:solidFill>
              </a:rPr>
              <a:t> | (optional token exchange)</a:t>
            </a:r>
          </a:p>
          <a:p>
            <a:pPr marL="12700" marR="5080"/>
            <a:r>
              <a:rPr lang="en-US" sz="1600" kern="0" spc="-80" dirty="0">
                <a:solidFill>
                  <a:schemeClr val="accent6"/>
                </a:solidFill>
              </a:rPr>
              <a:t> v</a:t>
            </a:r>
          </a:p>
          <a:p>
            <a:pPr marL="12700" marR="5080"/>
            <a:r>
              <a:rPr lang="en-US" sz="1600" kern="0" spc="-80" dirty="0">
                <a:solidFill>
                  <a:schemeClr val="accent6"/>
                </a:solidFill>
              </a:rPr>
              <a:t>Identity Provider (Azure AD / Auth0 / </a:t>
            </a:r>
            <a:r>
              <a:rPr lang="en-US" sz="1600" kern="0" spc="-80" dirty="0" err="1">
                <a:solidFill>
                  <a:schemeClr val="accent6"/>
                </a:solidFill>
              </a:rPr>
              <a:t>Keycloak</a:t>
            </a:r>
            <a:r>
              <a:rPr lang="en-US" sz="1600" kern="0" spc="-80" dirty="0">
                <a:solidFill>
                  <a:schemeClr val="accent6"/>
                </a:solidFill>
              </a:rPr>
              <a:t>)</a:t>
            </a:r>
          </a:p>
        </p:txBody>
      </p:sp>
    </p:spTree>
    <p:extLst>
      <p:ext uri="{BB962C8B-B14F-4D97-AF65-F5344CB8AC3E}">
        <p14:creationId xmlns:p14="http://schemas.microsoft.com/office/powerpoint/2010/main" val="2399608877"/>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27920-ED94-5ABF-5C85-3FFFB14BDC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31C0A7A-CA91-D024-F640-EF670C946B5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F9580D-2EFC-2233-FF2A-16B17C60B4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BE8CC3-C4D7-3CE6-30AC-E4DDE50315C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876B454-A160-EDB6-6017-BB783E02C9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6234146-1256-3941-BD95-48CE8373D676}"/>
              </a:ext>
            </a:extLst>
          </p:cNvPr>
          <p:cNvSpPr txBox="1">
            <a:spLocks/>
          </p:cNvSpPr>
          <p:nvPr/>
        </p:nvSpPr>
        <p:spPr>
          <a:xfrm>
            <a:off x="281754" y="767477"/>
            <a:ext cx="8624937" cy="1107995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3. Internal API → External API</a:t>
            </a:r>
          </a:p>
          <a:p>
            <a:pPr marL="12700" marR="5080"/>
            <a:r>
              <a:rPr lang="en-US" sz="1600" kern="0" spc="-80" dirty="0">
                <a:solidFill>
                  <a:schemeClr val="accent6"/>
                </a:solidFill>
              </a:rPr>
              <a:t>When your backend calls a third-party external API, the OAuth configuration depends on who is calling and who needs authentication.</a:t>
            </a:r>
          </a:p>
          <a:p>
            <a:pPr marL="12700" marR="5080"/>
            <a:endParaRPr lang="en-US" sz="1600" kern="0" spc="-80" dirty="0">
              <a:solidFill>
                <a:schemeClr val="accent6"/>
              </a:solidFill>
            </a:endParaRPr>
          </a:p>
          <a:p>
            <a:pPr marL="12700" marR="5080"/>
            <a:r>
              <a:rPr lang="en-US" sz="1600" kern="0" spc="-80" dirty="0">
                <a:solidFill>
                  <a:schemeClr val="accent2"/>
                </a:solidFill>
              </a:rPr>
              <a:t>A. Backend Calls External API on Behalf of USER</a:t>
            </a:r>
          </a:p>
          <a:p>
            <a:pPr marL="12700" marR="5080"/>
            <a:r>
              <a:rPr lang="en-US" sz="1600" kern="0" spc="-80" dirty="0">
                <a:solidFill>
                  <a:schemeClr val="accent2"/>
                </a:solidFill>
              </a:rPr>
              <a:t>Example:</a:t>
            </a:r>
          </a:p>
          <a:p>
            <a:pPr marL="12700" marR="5080"/>
            <a:r>
              <a:rPr lang="en-US" sz="1600" kern="0" spc="-80" dirty="0">
                <a:solidFill>
                  <a:schemeClr val="accent6"/>
                </a:solidFill>
              </a:rPr>
              <a:t>Internal Home Automation API calling Google Home APIs</a:t>
            </a:r>
          </a:p>
          <a:p>
            <a:pPr marL="12700" marR="5080"/>
            <a:r>
              <a:rPr lang="en-US" sz="1600" kern="0" spc="-80" dirty="0">
                <a:solidFill>
                  <a:schemeClr val="accent6"/>
                </a:solidFill>
              </a:rPr>
              <a:t>CRM calling Salesforce APIs on behalf of a user</a:t>
            </a:r>
          </a:p>
          <a:p>
            <a:pPr marL="12700" marR="5080"/>
            <a:r>
              <a:rPr lang="en-US" sz="1600" kern="0" spc="-80" dirty="0">
                <a:solidFill>
                  <a:schemeClr val="accent2"/>
                </a:solidFill>
              </a:rPr>
              <a:t>Use:</a:t>
            </a:r>
            <a:r>
              <a:rPr lang="en-US" sz="1600" kern="0" spc="-80" dirty="0">
                <a:solidFill>
                  <a:schemeClr val="accent6"/>
                </a:solidFill>
              </a:rPr>
              <a:t> OAuth Authorization Code + Refresh Token</a:t>
            </a:r>
          </a:p>
          <a:p>
            <a:pPr marL="12700" marR="5080"/>
            <a:r>
              <a:rPr lang="en-US" sz="1600" kern="0" spc="-80" dirty="0">
                <a:solidFill>
                  <a:schemeClr val="accent2"/>
                </a:solidFill>
              </a:rPr>
              <a:t>Flow:</a:t>
            </a:r>
          </a:p>
          <a:p>
            <a:pPr marL="12700" marR="5080"/>
            <a:r>
              <a:rPr lang="en-US" sz="1600" kern="0" spc="-80" dirty="0">
                <a:solidFill>
                  <a:schemeClr val="accent6"/>
                </a:solidFill>
              </a:rPr>
              <a:t>User logs into external provider (Google, GitHub, Salesforce).</a:t>
            </a:r>
          </a:p>
          <a:p>
            <a:pPr marL="12700" marR="5080"/>
            <a:r>
              <a:rPr lang="en-US" sz="1600" kern="0" spc="-80" dirty="0">
                <a:solidFill>
                  <a:schemeClr val="accent6"/>
                </a:solidFill>
              </a:rPr>
              <a:t>Internal system stores refresh token securely (Key Vault).</a:t>
            </a:r>
          </a:p>
          <a:p>
            <a:pPr marL="12700" marR="5080"/>
            <a:r>
              <a:rPr lang="en-US" sz="1600" kern="0" spc="-80" dirty="0">
                <a:solidFill>
                  <a:schemeClr val="accent6"/>
                </a:solidFill>
              </a:rPr>
              <a:t>Backend gets access token whenever needed.</a:t>
            </a:r>
          </a:p>
          <a:p>
            <a:pPr marL="12700" marR="5080"/>
            <a:r>
              <a:rPr lang="en-US" sz="1600" kern="0" spc="-80" dirty="0">
                <a:solidFill>
                  <a:schemeClr val="accent6"/>
                </a:solidFill>
              </a:rPr>
              <a:t>Calls external API using bearer token.</a:t>
            </a:r>
          </a:p>
          <a:p>
            <a:pPr marL="12700" marR="5080"/>
            <a:r>
              <a:rPr lang="en-US" sz="1600" kern="0" spc="-80" dirty="0">
                <a:solidFill>
                  <a:schemeClr val="accent6"/>
                </a:solidFill>
              </a:rPr>
              <a:t>Backend responsibilities</a:t>
            </a:r>
          </a:p>
          <a:p>
            <a:pPr marL="12700" marR="5080"/>
            <a:r>
              <a:rPr lang="en-US" sz="1600" kern="0" spc="-80" dirty="0">
                <a:solidFill>
                  <a:schemeClr val="accent6"/>
                </a:solidFill>
              </a:rPr>
              <a:t>Maintain a secure token cache</a:t>
            </a:r>
          </a:p>
          <a:p>
            <a:pPr marL="12700" marR="5080"/>
            <a:r>
              <a:rPr lang="en-US" sz="1600" kern="0" spc="-80" dirty="0">
                <a:solidFill>
                  <a:schemeClr val="accent6"/>
                </a:solidFill>
              </a:rPr>
              <a:t>Auto-refresh tokens</a:t>
            </a:r>
          </a:p>
          <a:p>
            <a:pPr marL="12700" marR="5080"/>
            <a:r>
              <a:rPr lang="en-US" sz="1600" kern="0" spc="-80" dirty="0">
                <a:solidFill>
                  <a:schemeClr val="accent6"/>
                </a:solidFill>
              </a:rPr>
              <a:t>Handle token revocation</a:t>
            </a:r>
          </a:p>
          <a:p>
            <a:pPr marL="12700" marR="5080"/>
            <a:endParaRPr lang="en-US" sz="1600" kern="0" spc="-80" dirty="0">
              <a:solidFill>
                <a:schemeClr val="accent6"/>
              </a:solidFill>
            </a:endParaRPr>
          </a:p>
          <a:p>
            <a:pPr marL="12700" marR="5080"/>
            <a:endParaRPr lang="en-US" sz="1600" kern="0" spc="-80" dirty="0">
              <a:solidFill>
                <a:schemeClr val="accent6"/>
              </a:solidFill>
            </a:endParaRPr>
          </a:p>
          <a:p>
            <a:pPr marL="12700" marR="5080"/>
            <a:r>
              <a:rPr lang="en-US" sz="1600" kern="0" spc="-80" dirty="0">
                <a:solidFill>
                  <a:schemeClr val="accent6"/>
                </a:solidFill>
              </a:rPr>
              <a:t>B. Backend Calls External API as MACHINE (no user)</a:t>
            </a:r>
          </a:p>
          <a:p>
            <a:pPr marL="12700" marR="5080"/>
            <a:r>
              <a:rPr lang="en-US" sz="1600" kern="0" spc="-80" dirty="0">
                <a:solidFill>
                  <a:schemeClr val="accent6"/>
                </a:solidFill>
              </a:rPr>
              <a:t>Example:</a:t>
            </a:r>
          </a:p>
          <a:p>
            <a:pPr marL="12700" marR="5080"/>
            <a:r>
              <a:rPr lang="en-US" sz="1600" kern="0" spc="-80" dirty="0">
                <a:solidFill>
                  <a:schemeClr val="accent6"/>
                </a:solidFill>
              </a:rPr>
              <a:t>Internal service pushing logs to Datadog</a:t>
            </a:r>
          </a:p>
          <a:p>
            <a:pPr marL="12700" marR="5080"/>
            <a:r>
              <a:rPr lang="en-US" sz="1600" kern="0" spc="-80" dirty="0">
                <a:solidFill>
                  <a:schemeClr val="accent6"/>
                </a:solidFill>
              </a:rPr>
              <a:t>Backend calling Stripe API</a:t>
            </a:r>
          </a:p>
          <a:p>
            <a:pPr marL="12700" marR="5080"/>
            <a:r>
              <a:rPr lang="en-US" sz="1600" kern="0" spc="-80" dirty="0">
                <a:solidFill>
                  <a:schemeClr val="accent6"/>
                </a:solidFill>
              </a:rPr>
              <a:t>Internal system calling </a:t>
            </a:r>
            <a:r>
              <a:rPr lang="en-US" sz="1600" kern="0" spc="-80" dirty="0" err="1">
                <a:solidFill>
                  <a:schemeClr val="accent6"/>
                </a:solidFill>
              </a:rPr>
              <a:t>Mapbox</a:t>
            </a:r>
            <a:r>
              <a:rPr lang="en-US" sz="1600" kern="0" spc="-80" dirty="0">
                <a:solidFill>
                  <a:schemeClr val="accent6"/>
                </a:solidFill>
              </a:rPr>
              <a:t> or Twilio</a:t>
            </a:r>
          </a:p>
          <a:p>
            <a:pPr marL="12700" marR="5080"/>
            <a:r>
              <a:rPr lang="en-US" sz="1600" kern="0" spc="-80" dirty="0">
                <a:solidFill>
                  <a:schemeClr val="accent6"/>
                </a:solidFill>
              </a:rPr>
              <a:t>Use: OAuth Client Credentials Flow</a:t>
            </a:r>
          </a:p>
          <a:p>
            <a:pPr marL="12700" marR="5080"/>
            <a:r>
              <a:rPr lang="en-US" sz="1600" kern="0" spc="-80" dirty="0">
                <a:solidFill>
                  <a:schemeClr val="accent6"/>
                </a:solidFill>
              </a:rPr>
              <a:t>or API Key (if provider doesn’t support OAuth)</a:t>
            </a:r>
          </a:p>
          <a:p>
            <a:pPr marL="12700" marR="5080"/>
            <a:r>
              <a:rPr lang="en-US" sz="1600" kern="0" spc="-80" dirty="0">
                <a:solidFill>
                  <a:schemeClr val="accent6"/>
                </a:solidFill>
              </a:rPr>
              <a:t>Flow:</a:t>
            </a:r>
          </a:p>
          <a:p>
            <a:pPr marL="12700" marR="5080"/>
            <a:r>
              <a:rPr lang="en-US" sz="1600" kern="0" spc="-80" dirty="0">
                <a:solidFill>
                  <a:schemeClr val="accent6"/>
                </a:solidFill>
              </a:rPr>
              <a:t>Internal API sends </a:t>
            </a:r>
            <a:r>
              <a:rPr lang="en-US" sz="1600" kern="0" spc="-80" dirty="0" err="1">
                <a:solidFill>
                  <a:schemeClr val="accent6"/>
                </a:solidFill>
              </a:rPr>
              <a:t>client_secret</a:t>
            </a:r>
            <a:r>
              <a:rPr lang="en-US" sz="1600" kern="0" spc="-80" dirty="0">
                <a:solidFill>
                  <a:schemeClr val="accent6"/>
                </a:solidFill>
              </a:rPr>
              <a:t>/</a:t>
            </a:r>
            <a:r>
              <a:rPr lang="en-US" sz="1600" kern="0" spc="-80" dirty="0" err="1">
                <a:solidFill>
                  <a:schemeClr val="accent6"/>
                </a:solidFill>
              </a:rPr>
              <a:t>client_id</a:t>
            </a:r>
            <a:r>
              <a:rPr lang="en-US" sz="1600" kern="0" spc="-80" dirty="0">
                <a:solidFill>
                  <a:schemeClr val="accent6"/>
                </a:solidFill>
              </a:rPr>
              <a:t> to external provider.</a:t>
            </a:r>
          </a:p>
          <a:p>
            <a:pPr marL="12700" marR="5080"/>
            <a:r>
              <a:rPr lang="en-US" sz="1600" kern="0" spc="-80" dirty="0">
                <a:solidFill>
                  <a:schemeClr val="accent6"/>
                </a:solidFill>
              </a:rPr>
              <a:t>Gets machine token.</a:t>
            </a:r>
          </a:p>
          <a:p>
            <a:pPr marL="12700" marR="5080"/>
            <a:r>
              <a:rPr lang="en-US" sz="1600" kern="0" spc="-80" dirty="0">
                <a:solidFill>
                  <a:schemeClr val="accent6"/>
                </a:solidFill>
              </a:rPr>
              <a:t>Calls external API.</a:t>
            </a:r>
          </a:p>
          <a:p>
            <a:pPr marL="12700" marR="5080"/>
            <a:r>
              <a:rPr lang="en-US" sz="1600" kern="0" spc="-80" dirty="0">
                <a:solidFill>
                  <a:schemeClr val="accent6"/>
                </a:solidFill>
              </a:rPr>
              <a:t>C. External API Provides JWT → Your System Validates</a:t>
            </a:r>
          </a:p>
          <a:p>
            <a:pPr marL="12700" marR="5080"/>
            <a:r>
              <a:rPr lang="en-US" sz="1600" kern="0" spc="-80" dirty="0">
                <a:solidFill>
                  <a:schemeClr val="accent6"/>
                </a:solidFill>
              </a:rPr>
              <a:t>Example:</a:t>
            </a:r>
          </a:p>
          <a:p>
            <a:pPr marL="12700" marR="5080"/>
            <a:r>
              <a:rPr lang="en-US" sz="1600" kern="0" spc="-80" dirty="0">
                <a:solidFill>
                  <a:schemeClr val="accent6"/>
                </a:solidFill>
              </a:rPr>
              <a:t>Webhook systems where external system signs JWT</a:t>
            </a:r>
          </a:p>
          <a:p>
            <a:pPr marL="12700" marR="5080"/>
            <a:r>
              <a:rPr lang="en-US" sz="1600" kern="0" spc="-80" dirty="0">
                <a:solidFill>
                  <a:schemeClr val="accent6"/>
                </a:solidFill>
              </a:rPr>
              <a:t>Payment providers sending callbacks</a:t>
            </a:r>
          </a:p>
          <a:p>
            <a:pPr marL="12700" marR="5080"/>
            <a:r>
              <a:rPr lang="en-US" sz="1600" kern="0" spc="-80" dirty="0">
                <a:solidFill>
                  <a:schemeClr val="accent6"/>
                </a:solidFill>
              </a:rPr>
              <a:t>Flow:</a:t>
            </a:r>
          </a:p>
          <a:p>
            <a:pPr marL="12700" marR="5080"/>
            <a:r>
              <a:rPr lang="en-US" sz="1600" kern="0" spc="-80" dirty="0">
                <a:solidFill>
                  <a:schemeClr val="accent6"/>
                </a:solidFill>
              </a:rPr>
              <a:t>External provider signs JWT</a:t>
            </a:r>
          </a:p>
          <a:p>
            <a:pPr marL="12700" marR="5080"/>
            <a:r>
              <a:rPr lang="en-US" sz="1600" kern="0" spc="-80" dirty="0">
                <a:solidFill>
                  <a:schemeClr val="accent6"/>
                </a:solidFill>
              </a:rPr>
              <a:t>Your API validates:</a:t>
            </a:r>
          </a:p>
          <a:p>
            <a:pPr marL="12700" marR="5080"/>
            <a:r>
              <a:rPr lang="en-US" sz="1600" kern="0" spc="-80" dirty="0">
                <a:solidFill>
                  <a:schemeClr val="accent6"/>
                </a:solidFill>
              </a:rPr>
              <a:t>Signature</a:t>
            </a:r>
          </a:p>
          <a:p>
            <a:pPr marL="12700" marR="5080"/>
            <a:r>
              <a:rPr lang="en-US" sz="1600" kern="0" spc="-80" dirty="0">
                <a:solidFill>
                  <a:schemeClr val="accent6"/>
                </a:solidFill>
              </a:rPr>
              <a:t>Issuer</a:t>
            </a:r>
          </a:p>
          <a:p>
            <a:pPr marL="12700" marR="5080"/>
            <a:r>
              <a:rPr lang="en-US" sz="1600" kern="0" spc="-80" dirty="0">
                <a:solidFill>
                  <a:schemeClr val="accent6"/>
                </a:solidFill>
              </a:rPr>
              <a:t>Audience</a:t>
            </a:r>
          </a:p>
          <a:p>
            <a:pPr marL="12700" marR="5080"/>
            <a:r>
              <a:rPr lang="en-US" sz="1600" kern="0" spc="-80" dirty="0">
                <a:solidFill>
                  <a:schemeClr val="accent6"/>
                </a:solidFill>
              </a:rPr>
              <a:t>Claims</a:t>
            </a:r>
          </a:p>
        </p:txBody>
      </p:sp>
    </p:spTree>
    <p:extLst>
      <p:ext uri="{BB962C8B-B14F-4D97-AF65-F5344CB8AC3E}">
        <p14:creationId xmlns:p14="http://schemas.microsoft.com/office/powerpoint/2010/main" val="427581726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C2F53-2B98-6D25-8C1A-F8D1ADA9E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7E5C0D-95FB-582B-438C-8E028585B9A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07E18DD-B6C4-51F2-4A84-58E29949BF3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285BF8-37AE-B77E-D3E8-93FEBF24EFB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D8F8E0C-4B24-BEA0-50C2-9C3EE3AE92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B27E9F7-DC77-0D3B-6A71-43D9ED3B16B0}"/>
              </a:ext>
            </a:extLst>
          </p:cNvPr>
          <p:cNvSpPr txBox="1">
            <a:spLocks/>
          </p:cNvSpPr>
          <p:nvPr/>
        </p:nvSpPr>
        <p:spPr>
          <a:xfrm>
            <a:off x="281754" y="767477"/>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3. Internal API → External API</a:t>
            </a:r>
          </a:p>
          <a:p>
            <a:pPr marL="12700" marR="5080"/>
            <a:r>
              <a:rPr lang="en-US" sz="1600" kern="0" spc="-80" dirty="0">
                <a:solidFill>
                  <a:schemeClr val="accent2"/>
                </a:solidFill>
              </a:rPr>
              <a:t>B. Backend Calls External API as MACHINE (no user)</a:t>
            </a:r>
          </a:p>
          <a:p>
            <a:pPr marL="12700" marR="5080"/>
            <a:r>
              <a:rPr lang="en-US" sz="1600" kern="0" spc="-80" dirty="0">
                <a:solidFill>
                  <a:schemeClr val="accent2"/>
                </a:solidFill>
              </a:rPr>
              <a:t>Example:</a:t>
            </a:r>
          </a:p>
          <a:p>
            <a:pPr marL="12700" marR="5080"/>
            <a:r>
              <a:rPr lang="en-US" sz="1600" kern="0" spc="-80" dirty="0">
                <a:solidFill>
                  <a:schemeClr val="accent6"/>
                </a:solidFill>
              </a:rPr>
              <a:t>Internal service pushing logs to Datadog</a:t>
            </a:r>
          </a:p>
          <a:p>
            <a:pPr marL="12700" marR="5080"/>
            <a:r>
              <a:rPr lang="en-US" sz="1600" kern="0" spc="-80" dirty="0">
                <a:solidFill>
                  <a:schemeClr val="accent6"/>
                </a:solidFill>
              </a:rPr>
              <a:t>Backend calling Stripe API</a:t>
            </a:r>
          </a:p>
          <a:p>
            <a:pPr marL="12700" marR="5080"/>
            <a:r>
              <a:rPr lang="en-US" sz="1600" kern="0" spc="-80" dirty="0">
                <a:solidFill>
                  <a:schemeClr val="accent6"/>
                </a:solidFill>
              </a:rPr>
              <a:t>Internal system calling </a:t>
            </a:r>
            <a:r>
              <a:rPr lang="en-US" sz="1600" kern="0" spc="-80" dirty="0" err="1">
                <a:solidFill>
                  <a:schemeClr val="accent6"/>
                </a:solidFill>
              </a:rPr>
              <a:t>Mapbox</a:t>
            </a:r>
            <a:r>
              <a:rPr lang="en-US" sz="1600" kern="0" spc="-80" dirty="0">
                <a:solidFill>
                  <a:schemeClr val="accent6"/>
                </a:solidFill>
              </a:rPr>
              <a:t> or Twilio</a:t>
            </a:r>
          </a:p>
          <a:p>
            <a:pPr marL="12700" marR="5080"/>
            <a:r>
              <a:rPr lang="en-US" sz="1600" kern="0" spc="-80" dirty="0">
                <a:solidFill>
                  <a:schemeClr val="accent2"/>
                </a:solidFill>
              </a:rPr>
              <a:t>Use: </a:t>
            </a:r>
            <a:r>
              <a:rPr lang="en-US" sz="1600" kern="0" spc="-80" dirty="0">
                <a:solidFill>
                  <a:schemeClr val="accent6"/>
                </a:solidFill>
              </a:rPr>
              <a:t>OAuth Client Credentials Flow</a:t>
            </a:r>
          </a:p>
          <a:p>
            <a:pPr marL="12700" marR="5080"/>
            <a:r>
              <a:rPr lang="en-US" sz="1600" kern="0" spc="-80" dirty="0">
                <a:solidFill>
                  <a:schemeClr val="accent6"/>
                </a:solidFill>
              </a:rPr>
              <a:t>or API Key (if provider doesn’t support OAuth)</a:t>
            </a:r>
          </a:p>
          <a:p>
            <a:pPr marL="12700" marR="5080"/>
            <a:r>
              <a:rPr lang="en-US" sz="1600" kern="0" spc="-80" dirty="0">
                <a:solidFill>
                  <a:schemeClr val="accent2"/>
                </a:solidFill>
              </a:rPr>
              <a:t>Flow:</a:t>
            </a:r>
          </a:p>
          <a:p>
            <a:pPr marL="12700" marR="5080"/>
            <a:r>
              <a:rPr lang="en-US" sz="1600" kern="0" spc="-80" dirty="0">
                <a:solidFill>
                  <a:schemeClr val="accent6"/>
                </a:solidFill>
              </a:rPr>
              <a:t>Internal API sends </a:t>
            </a:r>
            <a:r>
              <a:rPr lang="en-US" sz="1600" kern="0" spc="-80" dirty="0" err="1">
                <a:solidFill>
                  <a:schemeClr val="accent6"/>
                </a:solidFill>
              </a:rPr>
              <a:t>client_secret</a:t>
            </a:r>
            <a:r>
              <a:rPr lang="en-US" sz="1600" kern="0" spc="-80" dirty="0">
                <a:solidFill>
                  <a:schemeClr val="accent6"/>
                </a:solidFill>
              </a:rPr>
              <a:t>/</a:t>
            </a:r>
            <a:r>
              <a:rPr lang="en-US" sz="1600" kern="0" spc="-80" dirty="0" err="1">
                <a:solidFill>
                  <a:schemeClr val="accent6"/>
                </a:solidFill>
              </a:rPr>
              <a:t>client_id</a:t>
            </a:r>
            <a:r>
              <a:rPr lang="en-US" sz="1600" kern="0" spc="-80" dirty="0">
                <a:solidFill>
                  <a:schemeClr val="accent6"/>
                </a:solidFill>
              </a:rPr>
              <a:t> to external provider.</a:t>
            </a:r>
          </a:p>
          <a:p>
            <a:pPr marL="12700" marR="5080"/>
            <a:r>
              <a:rPr lang="en-US" sz="1600" kern="0" spc="-80" dirty="0">
                <a:solidFill>
                  <a:schemeClr val="accent6"/>
                </a:solidFill>
              </a:rPr>
              <a:t>Gets machine token.</a:t>
            </a:r>
          </a:p>
          <a:p>
            <a:pPr marL="12700" marR="5080"/>
            <a:r>
              <a:rPr lang="en-US" sz="1600" kern="0" spc="-80" dirty="0">
                <a:solidFill>
                  <a:schemeClr val="accent6"/>
                </a:solidFill>
              </a:rPr>
              <a:t>Calls external API.</a:t>
            </a:r>
          </a:p>
          <a:p>
            <a:pPr marL="12700" marR="5080"/>
            <a:endParaRPr lang="en-US" sz="1600" kern="0" spc="-80" dirty="0">
              <a:solidFill>
                <a:schemeClr val="accent6"/>
              </a:solidFill>
            </a:endParaRPr>
          </a:p>
          <a:p>
            <a:pPr marL="12700" marR="5080"/>
            <a:r>
              <a:rPr lang="en-US" sz="1600" kern="0" spc="-80" dirty="0">
                <a:solidFill>
                  <a:schemeClr val="accent2"/>
                </a:solidFill>
              </a:rPr>
              <a:t>C. External API Provides JWT → Your System Validates</a:t>
            </a:r>
          </a:p>
          <a:p>
            <a:pPr marL="12700" marR="5080"/>
            <a:r>
              <a:rPr lang="en-US" sz="1600" kern="0" spc="-80" dirty="0">
                <a:solidFill>
                  <a:schemeClr val="accent2"/>
                </a:solidFill>
              </a:rPr>
              <a:t>Example:</a:t>
            </a:r>
          </a:p>
          <a:p>
            <a:pPr marL="12700" marR="5080"/>
            <a:r>
              <a:rPr lang="en-US" sz="1600" kern="0" spc="-80" dirty="0">
                <a:solidFill>
                  <a:schemeClr val="accent6"/>
                </a:solidFill>
              </a:rPr>
              <a:t>Webhook systems where external system signs JWT</a:t>
            </a:r>
          </a:p>
          <a:p>
            <a:pPr marL="12700" marR="5080"/>
            <a:r>
              <a:rPr lang="en-US" sz="1600" kern="0" spc="-80" dirty="0">
                <a:solidFill>
                  <a:schemeClr val="accent6"/>
                </a:solidFill>
              </a:rPr>
              <a:t>Payment providers sending callbacks</a:t>
            </a:r>
          </a:p>
        </p:txBody>
      </p:sp>
    </p:spTree>
    <p:extLst>
      <p:ext uri="{BB962C8B-B14F-4D97-AF65-F5344CB8AC3E}">
        <p14:creationId xmlns:p14="http://schemas.microsoft.com/office/powerpoint/2010/main" val="119171329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A53FD-2AB7-6809-75C3-97222096A9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D2C6391-9658-369E-5991-BFEB8382D44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04148B-1BAD-1E37-4269-E179026957A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756634-68BC-4824-F094-887C3260C2E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D4731FF-6621-6DF9-B02C-01E856F9CBE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60EA477-F451-D517-4FE2-ADD43A9EF509}"/>
              </a:ext>
            </a:extLst>
          </p:cNvPr>
          <p:cNvSpPr txBox="1">
            <a:spLocks/>
          </p:cNvSpPr>
          <p:nvPr/>
        </p:nvSpPr>
        <p:spPr>
          <a:xfrm>
            <a:off x="281754" y="767477"/>
            <a:ext cx="8624937" cy="320087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3. Internal API → External API</a:t>
            </a:r>
          </a:p>
          <a:p>
            <a:pPr marL="12700" marR="5080"/>
            <a:r>
              <a:rPr lang="en-US" sz="1600" kern="0" spc="-80" dirty="0">
                <a:solidFill>
                  <a:schemeClr val="accent2"/>
                </a:solidFill>
              </a:rPr>
              <a:t>C. External API Provides JWT → Your System Validates</a:t>
            </a:r>
          </a:p>
          <a:p>
            <a:pPr marL="12700" marR="5080"/>
            <a:r>
              <a:rPr lang="en-US" sz="1600" kern="0" spc="-80" dirty="0">
                <a:solidFill>
                  <a:schemeClr val="accent2"/>
                </a:solidFill>
              </a:rPr>
              <a:t>Flow:</a:t>
            </a:r>
          </a:p>
          <a:p>
            <a:pPr marL="12700" marR="5080"/>
            <a:r>
              <a:rPr lang="en-US" sz="1600" kern="0" spc="-80" dirty="0">
                <a:solidFill>
                  <a:schemeClr val="accent6"/>
                </a:solidFill>
              </a:rPr>
              <a:t>External provider signs JWT</a:t>
            </a:r>
          </a:p>
          <a:p>
            <a:pPr marL="12700" marR="5080"/>
            <a:r>
              <a:rPr lang="en-US" sz="1600" kern="0" spc="-80" dirty="0">
                <a:solidFill>
                  <a:schemeClr val="accent2"/>
                </a:solidFill>
              </a:rPr>
              <a:t>Your API validates:</a:t>
            </a:r>
          </a:p>
          <a:p>
            <a:pPr marL="12700" marR="5080"/>
            <a:r>
              <a:rPr lang="en-US" sz="1600" kern="0" spc="-80" dirty="0">
                <a:solidFill>
                  <a:schemeClr val="accent6"/>
                </a:solidFill>
              </a:rPr>
              <a:t>Signature</a:t>
            </a:r>
          </a:p>
          <a:p>
            <a:pPr marL="12700" marR="5080"/>
            <a:r>
              <a:rPr lang="en-US" sz="1600" kern="0" spc="-80" dirty="0">
                <a:solidFill>
                  <a:schemeClr val="accent6"/>
                </a:solidFill>
              </a:rPr>
              <a:t>Issuer</a:t>
            </a:r>
          </a:p>
          <a:p>
            <a:pPr marL="12700" marR="5080"/>
            <a:r>
              <a:rPr lang="en-US" sz="1600" kern="0" spc="-80" dirty="0">
                <a:solidFill>
                  <a:schemeClr val="accent6"/>
                </a:solidFill>
              </a:rPr>
              <a:t>Audience</a:t>
            </a:r>
          </a:p>
          <a:p>
            <a:pPr marL="12700" marR="5080"/>
            <a:r>
              <a:rPr lang="en-US" sz="1600" kern="0" spc="-80" dirty="0">
                <a:solidFill>
                  <a:schemeClr val="accent6"/>
                </a:solidFill>
              </a:rPr>
              <a:t>Claims</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127513773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35AD-DB85-E60F-1A0A-6975E03F38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5F6C77-67CE-4659-703A-D3C9DF58E6F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760F84E-070F-B425-B73A-9A793590DD2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4AC9D1-B077-E1FE-D90A-0CE3701034F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F4385-B824-8F18-3C9E-DE0FD45B8D6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A4FF88C-4B78-7CA9-88E3-611A4EE5CC96}"/>
              </a:ext>
            </a:extLst>
          </p:cNvPr>
          <p:cNvSpPr txBox="1">
            <a:spLocks/>
          </p:cNvSpPr>
          <p:nvPr/>
        </p:nvSpPr>
        <p:spPr>
          <a:xfrm>
            <a:off x="281754" y="767477"/>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Putting Everything Together </a:t>
            </a:r>
          </a:p>
          <a:p>
            <a:pPr marL="12700" marR="5080"/>
            <a:r>
              <a:rPr lang="en-US" sz="1600" kern="0" spc="-80" dirty="0">
                <a:solidFill>
                  <a:schemeClr val="accent6"/>
                </a:solidFill>
              </a:rPr>
              <a:t>      UI / Mobile App</a:t>
            </a:r>
          </a:p>
          <a:p>
            <a:pPr marL="12700" marR="5080"/>
            <a:r>
              <a:rPr lang="en-US" sz="1600" kern="0" spc="-80" dirty="0">
                <a:solidFill>
                  <a:schemeClr val="accent6"/>
                </a:solidFill>
              </a:rPr>
              <a:t>          |</a:t>
            </a:r>
          </a:p>
          <a:p>
            <a:pPr marL="12700" marR="5080"/>
            <a:r>
              <a:rPr lang="en-US" sz="1600" kern="0" spc="-80" dirty="0">
                <a:solidFill>
                  <a:schemeClr val="accent6"/>
                </a:solidFill>
              </a:rPr>
              <a:t>          | (User Token / PKCE)</a:t>
            </a:r>
          </a:p>
          <a:p>
            <a:pPr marL="12700" marR="5080"/>
            <a:r>
              <a:rPr lang="en-US" sz="1600" kern="0" spc="-80" dirty="0">
                <a:solidFill>
                  <a:schemeClr val="accent6"/>
                </a:solidFill>
              </a:rPr>
              <a:t>          v</a:t>
            </a:r>
          </a:p>
          <a:p>
            <a:pPr marL="12700" marR="5080"/>
            <a:r>
              <a:rPr lang="en-US" sz="1600" kern="0" spc="-80" dirty="0">
                <a:solidFill>
                  <a:schemeClr val="accent6"/>
                </a:solidFill>
              </a:rPr>
              <a:t>   BFF or API Gateway</a:t>
            </a:r>
          </a:p>
          <a:p>
            <a:pPr marL="12700" marR="5080"/>
            <a:r>
              <a:rPr lang="en-US" sz="1600" kern="0" spc="-80" dirty="0">
                <a:solidFill>
                  <a:schemeClr val="accent6"/>
                </a:solidFill>
              </a:rPr>
              <a:t>          |</a:t>
            </a:r>
          </a:p>
          <a:p>
            <a:pPr marL="12700" marR="5080"/>
            <a:r>
              <a:rPr lang="en-US" sz="1600" kern="0" spc="-80" dirty="0">
                <a:solidFill>
                  <a:schemeClr val="accent6"/>
                </a:solidFill>
              </a:rPr>
              <a:t>          | Token Exchange (optional)</a:t>
            </a:r>
          </a:p>
          <a:p>
            <a:pPr marL="12700" marR="5080"/>
            <a:r>
              <a:rPr lang="en-US" sz="1600" kern="0" spc="-80" dirty="0">
                <a:solidFill>
                  <a:schemeClr val="accent6"/>
                </a:solidFill>
              </a:rPr>
              <a:t>          v</a:t>
            </a:r>
          </a:p>
          <a:p>
            <a:pPr marL="12700" marR="5080"/>
            <a:r>
              <a:rPr lang="en-US" sz="1600" kern="0" spc="-80" dirty="0">
                <a:solidFill>
                  <a:schemeClr val="accent6"/>
                </a:solidFill>
              </a:rPr>
              <a:t>──────────────────────────────────────────</a:t>
            </a:r>
          </a:p>
          <a:p>
            <a:pPr marL="12700" marR="5080"/>
            <a:r>
              <a:rPr lang="en-US" sz="1600" kern="0" spc="-80" dirty="0">
                <a:solidFill>
                  <a:schemeClr val="accent6"/>
                </a:solidFill>
              </a:rPr>
              <a:t>   Internal Microservice Layer (Zero Trust)</a:t>
            </a:r>
          </a:p>
          <a:p>
            <a:pPr marL="12700" marR="5080"/>
            <a:r>
              <a:rPr lang="en-US" sz="1600" kern="0" spc="-80" dirty="0">
                <a:solidFill>
                  <a:schemeClr val="accent6"/>
                </a:solidFill>
              </a:rPr>
              <a:t>──────────────────────────────────────────</a:t>
            </a:r>
          </a:p>
          <a:p>
            <a:pPr marL="12700" marR="5080"/>
            <a:r>
              <a:rPr lang="en-US" sz="1600" kern="0" spc="-80" dirty="0">
                <a:solidFill>
                  <a:schemeClr val="accent6"/>
                </a:solidFill>
              </a:rPr>
              <a:t>   |                |</a:t>
            </a:r>
          </a:p>
          <a:p>
            <a:pPr marL="12700" marR="5080"/>
            <a:r>
              <a:rPr lang="en-US" sz="1600" kern="0" spc="-80" dirty="0">
                <a:solidFill>
                  <a:schemeClr val="accent6"/>
                </a:solidFill>
              </a:rPr>
              <a:t>   | (Client Cred)  | (Client Cred)</a:t>
            </a:r>
          </a:p>
          <a:p>
            <a:pPr marL="12700" marR="5080"/>
            <a:r>
              <a:rPr lang="en-US" sz="1600" kern="0" spc="-80" dirty="0">
                <a:solidFill>
                  <a:schemeClr val="accent6"/>
                </a:solidFill>
              </a:rPr>
              <a:t>   v                </a:t>
            </a:r>
            <a:r>
              <a:rPr lang="en-US" sz="1600" kern="0" spc="-80" dirty="0" err="1">
                <a:solidFill>
                  <a:schemeClr val="accent6"/>
                </a:solidFill>
              </a:rPr>
              <a:t>v</a:t>
            </a:r>
            <a:endParaRPr lang="en-US" sz="1600" kern="0" spc="-80" dirty="0">
              <a:solidFill>
                <a:schemeClr val="accent6"/>
              </a:solidFill>
            </a:endParaRPr>
          </a:p>
          <a:p>
            <a:pPr marL="12700" marR="5080"/>
            <a:r>
              <a:rPr lang="en-US" sz="1600" kern="0" spc="-80" dirty="0">
                <a:solidFill>
                  <a:schemeClr val="accent6"/>
                </a:solidFill>
              </a:rPr>
              <a:t>Service A →→→→→→→→ Service B →→→→→ External API</a:t>
            </a:r>
          </a:p>
          <a:p>
            <a:pPr marL="12700" marR="5080"/>
            <a:r>
              <a:rPr lang="en-US" sz="1600" kern="0" spc="-80" dirty="0">
                <a:solidFill>
                  <a:schemeClr val="accent6"/>
                </a:solidFill>
              </a:rPr>
              <a:t>            (Machine Token / JWT)</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202374859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5B77B-61FC-B6C3-C0D9-99E3C9B8E7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3E26C0-D77F-39E7-CF83-9AF8AD9DDAD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8FE1840-C490-DBCC-B24D-4ABC209A4D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03166B-354D-CE39-F2AB-EFE2E694334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24C6128-8ECF-A849-A96E-2A621E321E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2FEBF80-B570-F47D-D906-66BEE5CEC1E1}"/>
              </a:ext>
            </a:extLst>
          </p:cNvPr>
          <p:cNvSpPr txBox="1">
            <a:spLocks/>
          </p:cNvSpPr>
          <p:nvPr/>
        </p:nvSpPr>
        <p:spPr>
          <a:xfrm>
            <a:off x="281754" y="767477"/>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480" kern="0" spc="-80" dirty="0">
                <a:solidFill>
                  <a:schemeClr val="accent2"/>
                </a:solidFill>
              </a:rPr>
              <a:t>⭐ Recommended Best Practices</a:t>
            </a:r>
          </a:p>
          <a:p>
            <a:pPr marL="12700" marR="5080"/>
            <a:r>
              <a:rPr lang="en-US" sz="1480" kern="0" spc="-80" dirty="0">
                <a:solidFill>
                  <a:schemeClr val="accent2"/>
                </a:solidFill>
              </a:rPr>
              <a:t>1. Always Prefer Authorization Code + PKCE for UI</a:t>
            </a:r>
          </a:p>
          <a:p>
            <a:pPr marL="12700" marR="5080"/>
            <a:r>
              <a:rPr lang="en-US" sz="1480" kern="0" spc="-80" dirty="0">
                <a:solidFill>
                  <a:schemeClr val="accent6"/>
                </a:solidFill>
              </a:rPr>
              <a:t>Never expose client secrets or tokens in the browser.</a:t>
            </a:r>
          </a:p>
          <a:p>
            <a:pPr marL="12700" marR="5080"/>
            <a:r>
              <a:rPr lang="en-US" sz="1480" kern="0" spc="-80" dirty="0">
                <a:solidFill>
                  <a:schemeClr val="accent2"/>
                </a:solidFill>
              </a:rPr>
              <a:t>2. Use BFF Pattern ( especially for SPAs )</a:t>
            </a:r>
          </a:p>
          <a:p>
            <a:pPr marL="12700" marR="5080"/>
            <a:r>
              <a:rPr lang="en-US" sz="1480" kern="0" spc="-80" dirty="0">
                <a:solidFill>
                  <a:schemeClr val="accent6"/>
                </a:solidFill>
              </a:rPr>
              <a:t>Tokens stay server-side → more secure.</a:t>
            </a:r>
          </a:p>
          <a:p>
            <a:pPr marL="12700" marR="5080"/>
            <a:r>
              <a:rPr lang="en-US" sz="1480" kern="0" spc="-80" dirty="0">
                <a:solidFill>
                  <a:schemeClr val="accent2"/>
                </a:solidFill>
              </a:rPr>
              <a:t>3. Use Client Credentials for Microservices</a:t>
            </a:r>
          </a:p>
          <a:p>
            <a:pPr marL="12700" marR="5080"/>
            <a:r>
              <a:rPr lang="en-US" sz="1480" kern="0" spc="-80" dirty="0">
                <a:solidFill>
                  <a:schemeClr val="accent6"/>
                </a:solidFill>
              </a:rPr>
              <a:t>Do not forward user tokens unless required.</a:t>
            </a:r>
          </a:p>
          <a:p>
            <a:pPr marL="12700" marR="5080"/>
            <a:r>
              <a:rPr lang="en-US" sz="1480" kern="0" spc="-80" dirty="0">
                <a:solidFill>
                  <a:schemeClr val="accent2"/>
                </a:solidFill>
              </a:rPr>
              <a:t>4. Rotate Client Secrets Frequently</a:t>
            </a:r>
          </a:p>
          <a:p>
            <a:pPr marL="12700" marR="5080"/>
            <a:r>
              <a:rPr lang="en-US" sz="1480" kern="0" spc="-80" dirty="0">
                <a:solidFill>
                  <a:schemeClr val="accent2"/>
                </a:solidFill>
              </a:rPr>
              <a:t>Use:</a:t>
            </a:r>
          </a:p>
          <a:p>
            <a:pPr marL="12700" marR="5080"/>
            <a:r>
              <a:rPr lang="en-US" sz="1480" kern="0" spc="-80" dirty="0">
                <a:solidFill>
                  <a:schemeClr val="accent6"/>
                </a:solidFill>
              </a:rPr>
              <a:t>Azure Key Vault</a:t>
            </a:r>
          </a:p>
          <a:p>
            <a:pPr marL="12700" marR="5080"/>
            <a:r>
              <a:rPr lang="en-US" sz="1480" kern="0" spc="-80" dirty="0">
                <a:solidFill>
                  <a:schemeClr val="accent6"/>
                </a:solidFill>
              </a:rPr>
              <a:t>AWS Secrets Manager</a:t>
            </a:r>
          </a:p>
          <a:p>
            <a:pPr marL="12700" marR="5080"/>
            <a:r>
              <a:rPr lang="en-US" sz="1480" kern="0" spc="-80" dirty="0" err="1">
                <a:solidFill>
                  <a:schemeClr val="accent6"/>
                </a:solidFill>
              </a:rPr>
              <a:t>HashiCorp</a:t>
            </a:r>
            <a:r>
              <a:rPr lang="en-US" sz="1480" kern="0" spc="-80" dirty="0">
                <a:solidFill>
                  <a:schemeClr val="accent6"/>
                </a:solidFill>
              </a:rPr>
              <a:t> Vault</a:t>
            </a:r>
          </a:p>
          <a:p>
            <a:pPr marL="12700" marR="5080"/>
            <a:r>
              <a:rPr lang="en-US" sz="1480" kern="0" spc="-80" dirty="0">
                <a:solidFill>
                  <a:schemeClr val="accent2"/>
                </a:solidFill>
              </a:rPr>
              <a:t>5. Use Token Exchange Strategy</a:t>
            </a:r>
          </a:p>
          <a:p>
            <a:pPr marL="12700" marR="5080"/>
            <a:r>
              <a:rPr lang="en-US" sz="1480" kern="0" spc="-80" dirty="0">
                <a:solidFill>
                  <a:schemeClr val="accent2"/>
                </a:solidFill>
              </a:rPr>
              <a:t>Especially in:</a:t>
            </a:r>
          </a:p>
          <a:p>
            <a:pPr marL="12700" marR="5080"/>
            <a:r>
              <a:rPr lang="en-US" sz="1480" kern="0" spc="-80" dirty="0">
                <a:solidFill>
                  <a:schemeClr val="accent6"/>
                </a:solidFill>
              </a:rPr>
              <a:t>Zero-trust networks</a:t>
            </a:r>
          </a:p>
          <a:p>
            <a:pPr marL="12700" marR="5080"/>
            <a:r>
              <a:rPr lang="en-US" sz="1480" kern="0" spc="-80" dirty="0">
                <a:solidFill>
                  <a:schemeClr val="accent6"/>
                </a:solidFill>
              </a:rPr>
              <a:t>Multi-layer microservice systems</a:t>
            </a:r>
          </a:p>
          <a:p>
            <a:pPr marL="12700" marR="5080"/>
            <a:r>
              <a:rPr lang="en-US" sz="1480" kern="0" spc="-80" dirty="0">
                <a:solidFill>
                  <a:schemeClr val="accent2"/>
                </a:solidFill>
              </a:rPr>
              <a:t>6. Prefer Short-Lived Access Tokens</a:t>
            </a:r>
          </a:p>
          <a:p>
            <a:pPr marL="12700" marR="5080"/>
            <a:r>
              <a:rPr lang="en-US" sz="1480" kern="0" spc="-80" dirty="0">
                <a:solidFill>
                  <a:schemeClr val="accent2"/>
                </a:solidFill>
              </a:rPr>
              <a:t>Example:</a:t>
            </a:r>
          </a:p>
          <a:p>
            <a:pPr marL="12700" marR="5080"/>
            <a:r>
              <a:rPr lang="en-US" sz="1480" kern="0" spc="-80" dirty="0">
                <a:solidFill>
                  <a:schemeClr val="accent6"/>
                </a:solidFill>
              </a:rPr>
              <a:t>5–15 minutes access token</a:t>
            </a:r>
          </a:p>
          <a:p>
            <a:pPr marL="12700" marR="5080"/>
            <a:r>
              <a:rPr lang="en-US" sz="1480" kern="0" spc="-80" dirty="0">
                <a:solidFill>
                  <a:schemeClr val="accent6"/>
                </a:solidFill>
              </a:rPr>
              <a:t>Refresh token stored securely (encrypted)</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18803788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OIDC - </a:t>
            </a:r>
          </a:p>
          <a:p>
            <a:pPr marL="12700" marR="5080"/>
            <a:r>
              <a:rPr lang="en-US" sz="1600" kern="0" spc="-80" dirty="0">
                <a:solidFill>
                  <a:schemeClr val="accent2"/>
                </a:solidFill>
              </a:rPr>
              <a:t>    </a:t>
            </a:r>
            <a:r>
              <a:rPr lang="en-US" sz="1600" kern="0" spc="-80" dirty="0">
                <a:solidFill>
                  <a:schemeClr val="accent6"/>
                </a:solidFill>
              </a:rPr>
              <a:t>OpenID Connect is an extension of OAuth2 that adds an identity layer to the authorization framework. It allows a client to verify the identity of the user and </a:t>
            </a:r>
            <a:r>
              <a:rPr lang="en-US" sz="1600" kern="0" spc="-80" dirty="0">
                <a:solidFill>
                  <a:schemeClr val="tx2"/>
                </a:solidFill>
              </a:rPr>
              <a:t>obtain basic profile information</a:t>
            </a:r>
            <a:r>
              <a:rPr lang="en-US" sz="1600" kern="0" spc="-80" dirty="0">
                <a:solidFill>
                  <a:schemeClr val="accent6"/>
                </a:solidFill>
              </a:rPr>
              <a:t>. The user logs in to an identity provider (such as Google or Facebook) using OpenID Connect, and the identity provider returns an </a:t>
            </a:r>
            <a:r>
              <a:rPr lang="en-US" sz="1600" kern="0" spc="-80" dirty="0">
                <a:solidFill>
                  <a:schemeClr val="tx2"/>
                </a:solidFill>
              </a:rPr>
              <a:t>ID token</a:t>
            </a:r>
            <a:r>
              <a:rPr lang="en-US" sz="1600" kern="0" spc="-80" dirty="0">
                <a:solidFill>
                  <a:schemeClr val="accent6"/>
                </a:solidFill>
              </a:rPr>
              <a:t> to the client. The ID token is a JSON Web Token (JWT) that contains information about the user, such as their name, email, and picture. The client can also request an access token and a refresh token from the identity provider, which can be used to access other resources.</a:t>
            </a:r>
          </a:p>
          <a:p>
            <a:pPr marL="12700" marR="5080"/>
            <a:endParaRPr lang="en-US" sz="1600" kern="0" spc="-80" dirty="0">
              <a:solidFill>
                <a:schemeClr val="accent6"/>
              </a:solidFill>
            </a:endParaRPr>
          </a:p>
          <a:p>
            <a:pPr marL="12700" marR="5080"/>
            <a:r>
              <a:rPr lang="en-US" sz="1600" kern="0" spc="-80" dirty="0">
                <a:solidFill>
                  <a:schemeClr val="accent6"/>
                </a:solidFill>
              </a:rPr>
              <a:t>     OAuth2 is only concerned with </a:t>
            </a:r>
            <a:r>
              <a:rPr lang="en-US" sz="1600" kern="0" spc="-80" dirty="0">
                <a:solidFill>
                  <a:schemeClr val="tx2"/>
                </a:solidFill>
              </a:rPr>
              <a:t>standard client credentials based authorization</a:t>
            </a:r>
            <a:r>
              <a:rPr lang="en-US" sz="1600" kern="0" spc="-80" dirty="0">
                <a:solidFill>
                  <a:schemeClr val="accent6"/>
                </a:solidFill>
              </a:rPr>
              <a:t>, while OpenID Connect is </a:t>
            </a:r>
            <a:r>
              <a:rPr lang="en-US" sz="1600" kern="0" spc="-80" dirty="0">
                <a:solidFill>
                  <a:schemeClr val="tx2"/>
                </a:solidFill>
              </a:rPr>
              <a:t>also</a:t>
            </a:r>
            <a:r>
              <a:rPr lang="en-US" sz="1600" kern="0" spc="-80" dirty="0">
                <a:solidFill>
                  <a:schemeClr val="accent6"/>
                </a:solidFill>
              </a:rPr>
              <a:t> concerned with authentication(</a:t>
            </a:r>
            <a:r>
              <a:rPr lang="en-US" sz="1600" kern="0" spc="-80" dirty="0" err="1">
                <a:solidFill>
                  <a:schemeClr val="tx2"/>
                </a:solidFill>
              </a:rPr>
              <a:t>alongwith</a:t>
            </a:r>
            <a:r>
              <a:rPr lang="en-US" sz="1600" kern="0" spc="-80" dirty="0">
                <a:solidFill>
                  <a:schemeClr val="tx2"/>
                </a:solidFill>
              </a:rPr>
              <a:t> the OpenID specific </a:t>
            </a:r>
            <a:r>
              <a:rPr lang="en-US" sz="1600" kern="0" spc="-80" dirty="0" err="1">
                <a:solidFill>
                  <a:schemeClr val="tx2"/>
                </a:solidFill>
              </a:rPr>
              <a:t>AuthZ</a:t>
            </a:r>
            <a:r>
              <a:rPr lang="en-US" sz="1600" kern="0" spc="-80" dirty="0">
                <a:solidFill>
                  <a:schemeClr val="tx2"/>
                </a:solidFill>
              </a:rPr>
              <a:t> Roles/permissions</a:t>
            </a:r>
            <a:r>
              <a:rPr lang="en-US" sz="1600" kern="0" spc="-80" dirty="0">
                <a:solidFill>
                  <a:schemeClr val="accent6"/>
                </a:solidFill>
              </a:rPr>
              <a:t>). </a:t>
            </a:r>
            <a:r>
              <a:rPr lang="en-US" sz="1600" kern="0" spc="-80" dirty="0">
                <a:solidFill>
                  <a:schemeClr val="tx2"/>
                </a:solidFill>
              </a:rPr>
              <a:t>OAuth2 does not provide a standard way to obtain user information, while OpenID Connect does.</a:t>
            </a:r>
            <a:r>
              <a:rPr lang="en-US" sz="1600" kern="0" spc="-80" dirty="0">
                <a:solidFill>
                  <a:schemeClr val="accent6"/>
                </a:solidFill>
              </a:rPr>
              <a:t> </a:t>
            </a:r>
            <a:r>
              <a:rPr lang="en-US" sz="1600" kern="0" spc="-80" dirty="0">
                <a:solidFill>
                  <a:schemeClr val="tx2"/>
                </a:solidFill>
              </a:rPr>
              <a:t>OAuth2 relies on access tokens, which are opaque strings that can only be validated by the resource server, while OpenID Connect relies on ID tokens, which are self-contained and can be validated by the client.</a:t>
            </a:r>
            <a:r>
              <a:rPr lang="en-US" sz="1600" kern="0" spc="-80" dirty="0">
                <a:solidFill>
                  <a:schemeClr val="accent6"/>
                </a:solidFill>
              </a:rPr>
              <a:t> OAuth2 is more flexible and can be used for various types of applications, while OpenID Connect is more specific and </a:t>
            </a:r>
            <a:r>
              <a:rPr lang="en-US" sz="1600" kern="0" spc="-80" dirty="0">
                <a:solidFill>
                  <a:schemeClr val="tx2"/>
                </a:solidFill>
              </a:rPr>
              <a:t>can be used for single sign-on (SSO) or social login or any federation service.</a:t>
            </a:r>
          </a:p>
          <a:p>
            <a:pPr marL="12700" marR="5080"/>
            <a:r>
              <a:rPr lang="en-US" sz="1500" kern="0" spc="-80" dirty="0">
                <a:solidFill>
                  <a:schemeClr val="tx2"/>
                </a:solidFill>
              </a:rPr>
              <a:t> </a:t>
            </a:r>
            <a:r>
              <a:rPr lang="en-US" sz="1500" dirty="0">
                <a:hlinkClick r:id="rId7"/>
              </a:rPr>
              <a:t>How to validate an OpenID Connect ID token · Blog · Connect2id</a:t>
            </a:r>
            <a:r>
              <a:rPr lang="en-US" sz="1600" kern="0" spc="-80" dirty="0">
                <a:solidFill>
                  <a:schemeClr val="tx2"/>
                </a:solidFill>
              </a:rPr>
              <a:t> </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84147004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63606053"/>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F808C92-1EBD-C20B-9798-F73E7512FB78}"/>
              </a:ext>
            </a:extLst>
          </p:cNvPr>
          <p:cNvSpPr txBox="1">
            <a:spLocks/>
          </p:cNvSpPr>
          <p:nvPr/>
        </p:nvSpPr>
        <p:spPr>
          <a:xfrm>
            <a:off x="366663" y="8382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Security -   </a:t>
            </a:r>
          </a:p>
          <a:p>
            <a:pPr marL="12700" marR="5080"/>
            <a:r>
              <a:rPr lang="en-US" sz="2000" kern="0" spc="-80" dirty="0">
                <a:solidFill>
                  <a:schemeClr val="accent2"/>
                </a:solidFill>
              </a:rPr>
              <a:t>  Web SSO</a:t>
            </a:r>
            <a:r>
              <a:rPr lang="en-US" sz="1500" kern="0" spc="-80" dirty="0">
                <a:solidFill>
                  <a:schemeClr val="accent2"/>
                </a:solidFill>
              </a:rPr>
              <a:t> </a:t>
            </a:r>
            <a:r>
              <a:rPr lang="en-US" sz="2400" kern="0" spc="-80" dirty="0">
                <a:solidFill>
                  <a:schemeClr val="accent2"/>
                </a:solidFill>
              </a:rPr>
              <a:t>–</a:t>
            </a:r>
            <a:r>
              <a:rPr lang="en-US" sz="1600" kern="0" spc="-80" dirty="0">
                <a:solidFill>
                  <a:schemeClr val="accent2"/>
                </a:solidFill>
              </a:rPr>
              <a:t>  </a:t>
            </a:r>
          </a:p>
        </p:txBody>
      </p:sp>
      <p:pic>
        <p:nvPicPr>
          <p:cNvPr id="1026" name="Picture 2" descr="authentication - Web SSO with external or partner applications - Stack  Overflow">
            <a:extLst>
              <a:ext uri="{FF2B5EF4-FFF2-40B4-BE49-F238E27FC236}">
                <a16:creationId xmlns:a16="http://schemas.microsoft.com/office/drawing/2014/main" id="{963B0D14-F7C1-3459-C196-8A98D363F67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12738" y="1576863"/>
            <a:ext cx="8518525" cy="276927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E3E2117D-A8E2-B312-EC9D-97F5D8AAEA69}"/>
              </a:ext>
            </a:extLst>
          </p:cNvPr>
          <p:cNvSpPr txBox="1">
            <a:spLocks/>
          </p:cNvSpPr>
          <p:nvPr/>
        </p:nvSpPr>
        <p:spPr>
          <a:xfrm>
            <a:off x="113275" y="4389328"/>
            <a:ext cx="8624937" cy="15542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Web SSO can be used for UI based Integration of nested/cross app pages with separate domains within the same organization or with external partners.</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Web SSO with external or partner applications - Stack Overflow</a:t>
            </a:r>
            <a:r>
              <a:rPr lang="en-US" sz="1500" kern="0" spc="-80" dirty="0">
                <a:solidFill>
                  <a:schemeClr val="accent2"/>
                </a:solidFill>
              </a:rPr>
              <a:t> </a:t>
            </a:r>
          </a:p>
          <a:p>
            <a:pPr marL="12700" marR="5080"/>
            <a:r>
              <a:rPr lang="en-US" sz="1500" dirty="0">
                <a:hlinkClick r:id="rId9"/>
              </a:rPr>
              <a:t>How does Single Sign-On (SSO) work? - by Dr Milan </a:t>
            </a:r>
            <a:r>
              <a:rPr lang="en-US" sz="1500" dirty="0" err="1">
                <a:hlinkClick r:id="rId9"/>
              </a:rPr>
              <a:t>Milanović</a:t>
            </a:r>
            <a:r>
              <a:rPr lang="en-US" sz="1500" kern="0" spc="-80" dirty="0">
                <a:solidFill>
                  <a:schemeClr val="accent2"/>
                </a:solidFill>
              </a:rPr>
              <a:t> </a:t>
            </a:r>
          </a:p>
          <a:p>
            <a:pPr marL="12700" marR="5080"/>
            <a:r>
              <a:rPr lang="en-IN" sz="1500" dirty="0">
                <a:hlinkClick r:id="rId10"/>
              </a:rPr>
              <a:t>SSO Explained| LinkedIn</a:t>
            </a:r>
            <a:endParaRPr lang="en-IN" sz="1500" dirty="0"/>
          </a:p>
        </p:txBody>
      </p:sp>
    </p:spTree>
    <p:extLst>
      <p:ext uri="{BB962C8B-B14F-4D97-AF65-F5344CB8AC3E}">
        <p14:creationId xmlns:p14="http://schemas.microsoft.com/office/powerpoint/2010/main" val="1882232596"/>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39687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Advanced Users Management using Okta - Account Linking vs Org2Org - </a:t>
            </a:r>
          </a:p>
          <a:p>
            <a:pPr marL="12700" marR="5080"/>
            <a:r>
              <a:rPr lang="en-US" sz="1400" kern="0" spc="-80" dirty="0">
                <a:solidFill>
                  <a:schemeClr val="accent2"/>
                </a:solidFill>
              </a:rPr>
              <a:t>    </a:t>
            </a:r>
            <a:r>
              <a:rPr lang="en-US" sz="1430" kern="0" spc="-80" dirty="0">
                <a:solidFill>
                  <a:schemeClr val="accent6"/>
                </a:solidFill>
              </a:rPr>
              <a:t>Account linking &amp; Org2Org are both Okta features that can be used to connect organizations:  </a:t>
            </a:r>
          </a:p>
          <a:p>
            <a:pPr marL="12700" marR="5080"/>
            <a:r>
              <a:rPr lang="en-US" sz="1430" kern="0" spc="-80">
                <a:solidFill>
                  <a:srgbClr val="C00000"/>
                </a:solidFill>
              </a:rPr>
              <a:t>(Partner) Account </a:t>
            </a:r>
            <a:r>
              <a:rPr lang="en-US" sz="1430" kern="0" spc="-80" dirty="0">
                <a:solidFill>
                  <a:srgbClr val="C00000"/>
                </a:solidFill>
              </a:rPr>
              <a:t>linking</a:t>
            </a:r>
            <a:br>
              <a:rPr lang="en-US" sz="1430" kern="0" spc="-80" dirty="0">
                <a:solidFill>
                  <a:schemeClr val="accent6"/>
                </a:solidFill>
              </a:rPr>
            </a:br>
            <a:r>
              <a:rPr lang="en-US" sz="1430" kern="0" spc="-80" dirty="0">
                <a:solidFill>
                  <a:schemeClr val="accent6"/>
                </a:solidFill>
              </a:rPr>
              <a:t>Allows users to sign in to an app using multiple identity providers, and Okta links all of those profiles to a single Okta user. For example, if a user signs in to an app using a different identity provider than they used for registration, account linking can establish that the user owns both identities. This allows the user to sign in from either account. Account linking is configured at the identity provider level. </a:t>
            </a:r>
            <a:br>
              <a:rPr lang="en-US" sz="1430" kern="0" spc="-80" dirty="0">
                <a:solidFill>
                  <a:schemeClr val="accent6"/>
                </a:solidFill>
              </a:rPr>
            </a:br>
            <a:r>
              <a:rPr lang="en-US" sz="1430" kern="0" spc="-80" dirty="0">
                <a:solidFill>
                  <a:srgbClr val="C00000"/>
                </a:solidFill>
              </a:rPr>
              <a:t>Org2Org</a:t>
            </a:r>
            <a:r>
              <a:rPr lang="en-US" sz="1430" kern="0" spc="-80" dirty="0">
                <a:solidFill>
                  <a:schemeClr val="accent6"/>
                </a:solidFill>
              </a:rPr>
              <a:t>    </a:t>
            </a:r>
            <a:br>
              <a:rPr lang="en-US" sz="1430" kern="0" spc="-80" dirty="0">
                <a:solidFill>
                  <a:schemeClr val="accent6"/>
                </a:solidFill>
              </a:rPr>
            </a:br>
            <a:r>
              <a:rPr lang="en-US" sz="1430" kern="0" spc="-80" dirty="0">
                <a:solidFill>
                  <a:schemeClr val="accent6"/>
                </a:solidFill>
              </a:rPr>
              <a:t>Connects multiple source organizations to a single target organization, allowing the source organizations to push users to the target organization. It's designed for a hub and spoke configuration, where the source organizations are the spokes and the target organization is the hub. Org2Org supports Okta's IdP-initiated SSO and JIT (Just In Time) Provisioning features. When configuring the SAML IdP in the hub organization, it's recommended to disable account linking if possible.</a:t>
            </a:r>
          </a:p>
        </p:txBody>
      </p:sp>
      <p:sp>
        <p:nvSpPr>
          <p:cNvPr id="9" name="TextBox 8">
            <a:extLst>
              <a:ext uri="{FF2B5EF4-FFF2-40B4-BE49-F238E27FC236}">
                <a16:creationId xmlns:a16="http://schemas.microsoft.com/office/drawing/2014/main" id="{919024F5-4281-0D8A-6DB7-F55236C5F5C6}"/>
              </a:ext>
            </a:extLst>
          </p:cNvPr>
          <p:cNvSpPr txBox="1"/>
          <p:nvPr/>
        </p:nvSpPr>
        <p:spPr>
          <a:xfrm>
            <a:off x="92279" y="4609237"/>
            <a:ext cx="8839200" cy="1754326"/>
          </a:xfrm>
          <a:prstGeom prst="rect">
            <a:avLst/>
          </a:prstGeom>
          <a:noFill/>
        </p:spPr>
        <p:txBody>
          <a:bodyPr wrap="square">
            <a:spAutoFit/>
          </a:bodyPr>
          <a:lstStyle/>
          <a:p>
            <a:pPr marL="12700" marR="5080"/>
            <a:r>
              <a:rPr lang="en-US" sz="1800" kern="0" spc="-80" dirty="0">
                <a:solidFill>
                  <a:schemeClr val="accent2"/>
                </a:solidFill>
              </a:rPr>
              <a:t>For Further Exploration – </a:t>
            </a:r>
          </a:p>
          <a:p>
            <a:pPr marL="12700" marR="5080"/>
            <a:r>
              <a:rPr lang="en-US" kern="0" spc="-80" dirty="0">
                <a:solidFill>
                  <a:schemeClr val="accent2"/>
                </a:solidFill>
              </a:rPr>
              <a:t>  </a:t>
            </a:r>
            <a:r>
              <a:rPr lang="en-IN" dirty="0">
                <a:hlinkClick r:id="rId7"/>
              </a:rPr>
              <a:t>User Account Linking</a:t>
            </a:r>
            <a:endParaRPr lang="en-IN" dirty="0"/>
          </a:p>
          <a:p>
            <a:pPr marL="12700" marR="5080"/>
            <a:r>
              <a:rPr lang="en-US" sz="1800" kern="0" spc="-80" dirty="0">
                <a:solidFill>
                  <a:schemeClr val="accent2"/>
                </a:solidFill>
              </a:rPr>
              <a:t>  </a:t>
            </a:r>
            <a:r>
              <a:rPr lang="en-IN" dirty="0">
                <a:hlinkClick r:id="rId8"/>
              </a:rPr>
              <a:t>Auth0 Organizations</a:t>
            </a:r>
            <a:r>
              <a:rPr lang="en-US" kern="0" spc="-80" dirty="0">
                <a:solidFill>
                  <a:schemeClr val="accent2"/>
                </a:solidFill>
              </a:rPr>
              <a:t>  </a:t>
            </a:r>
          </a:p>
          <a:p>
            <a:pPr marL="12700" marR="5080"/>
            <a:r>
              <a:rPr lang="en-US" kern="0" spc="-80" dirty="0">
                <a:solidFill>
                  <a:schemeClr val="accent2"/>
                </a:solidFill>
              </a:rPr>
              <a:t>  </a:t>
            </a:r>
            <a:r>
              <a:rPr lang="en-US" sz="1800" dirty="0">
                <a:hlinkClick r:id="rId9"/>
              </a:rPr>
              <a:t>Account Linking and SSO - Auth0 Community</a:t>
            </a:r>
            <a:r>
              <a:rPr lang="en-US" sz="1800" kern="0" spc="-80" dirty="0">
                <a:solidFill>
                  <a:schemeClr val="accent2"/>
                </a:solidFill>
              </a:rPr>
              <a:t> </a:t>
            </a:r>
            <a:r>
              <a:rPr lang="en-US" sz="1800" kern="0" spc="-80" dirty="0">
                <a:solidFill>
                  <a:schemeClr val="accent6"/>
                </a:solidFill>
              </a:rPr>
              <a:t>(Account Linking is more at data level while SSO is more at application level) </a:t>
            </a:r>
          </a:p>
          <a:p>
            <a:pPr marL="12700" marR="5080"/>
            <a:r>
              <a:rPr lang="en-US" kern="0" spc="-80" dirty="0">
                <a:solidFill>
                  <a:schemeClr val="accent2"/>
                </a:solidFill>
              </a:rPr>
              <a:t> </a:t>
            </a:r>
            <a:endParaRPr lang="en-US" sz="1800" kern="0" spc="-80" dirty="0">
              <a:solidFill>
                <a:schemeClr val="accent2"/>
              </a:solidFill>
            </a:endParaRPr>
          </a:p>
        </p:txBody>
      </p:sp>
    </p:spTree>
    <p:extLst>
      <p:ext uri="{BB962C8B-B14F-4D97-AF65-F5344CB8AC3E}">
        <p14:creationId xmlns:p14="http://schemas.microsoft.com/office/powerpoint/2010/main" val="3711724887"/>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973BB-2E65-562F-8FD0-E53CAD7CE9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00A0F6-2B49-1BC0-17FE-B9FDB1E2F3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2EA764-0CEC-63B4-9742-08B50324A2C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86FF-FB19-45DB-C6EE-EA2D0DE6953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30265A9-7CC9-6206-27A5-C3632F4637A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A4C40A5-8FDB-ED8F-0875-4BDFDCB0EE2D}"/>
              </a:ext>
            </a:extLst>
          </p:cNvPr>
          <p:cNvSpPr txBox="1">
            <a:spLocks/>
          </p:cNvSpPr>
          <p:nvPr/>
        </p:nvSpPr>
        <p:spPr>
          <a:xfrm>
            <a:off x="281754" y="767477"/>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AuthN and </a:t>
            </a:r>
            <a:r>
              <a:rPr lang="en-US" sz="2400" kern="0" spc="-80" dirty="0" err="1">
                <a:solidFill>
                  <a:schemeClr val="accent2"/>
                </a:solidFill>
              </a:rPr>
              <a:t>AuthZ</a:t>
            </a:r>
            <a:r>
              <a:rPr lang="en-US" sz="2400" kern="0" spc="-80" dirty="0">
                <a:solidFill>
                  <a:schemeClr val="accent2"/>
                </a:solidFill>
              </a:rPr>
              <a:t> Providers</a:t>
            </a:r>
          </a:p>
          <a:p>
            <a:pPr marL="12700" marR="5080"/>
            <a:r>
              <a:rPr lang="en-US" sz="1600" kern="0" spc="-80" dirty="0">
                <a:solidFill>
                  <a:schemeClr val="accent6"/>
                </a:solidFill>
              </a:rPr>
              <a:t>AuthN (Authentication) providers verify a user's identity, while </a:t>
            </a:r>
            <a:r>
              <a:rPr lang="en-US" sz="1600" kern="0" spc="-80" dirty="0" err="1">
                <a:solidFill>
                  <a:schemeClr val="accent6"/>
                </a:solidFill>
              </a:rPr>
              <a:t>AuthZ</a:t>
            </a:r>
            <a:r>
              <a:rPr lang="en-US" sz="1600" kern="0" spc="-80" dirty="0">
                <a:solidFill>
                  <a:schemeClr val="accent6"/>
                </a:solidFill>
              </a:rPr>
              <a:t> (Authorization) providers determine what authenticated users are allowed to do. Popular AuthN providers include Auth0, Microsoft Entra ID, and </a:t>
            </a:r>
            <a:r>
              <a:rPr lang="en-US" sz="1600" kern="0" spc="-80" dirty="0" err="1">
                <a:solidFill>
                  <a:schemeClr val="accent6"/>
                </a:solidFill>
              </a:rPr>
              <a:t>Keycloak</a:t>
            </a:r>
            <a:r>
              <a:rPr lang="en-US" sz="1600" kern="0" spc="-80" dirty="0">
                <a:solidFill>
                  <a:schemeClr val="accent6"/>
                </a:solidFill>
              </a:rPr>
              <a:t>, which handle tasks like password validation or SSO. </a:t>
            </a:r>
            <a:r>
              <a:rPr lang="en-US" sz="1600" kern="0" spc="-80" dirty="0" err="1">
                <a:solidFill>
                  <a:schemeClr val="accent6"/>
                </a:solidFill>
              </a:rPr>
              <a:t>AuthZ</a:t>
            </a:r>
            <a:r>
              <a:rPr lang="en-US" sz="1600" kern="0" spc="-80" dirty="0">
                <a:solidFill>
                  <a:schemeClr val="accent6"/>
                </a:solidFill>
              </a:rPr>
              <a:t> providers often use models like Role-Based Access Control (RBAC) and might include systems like the Open Policy Agent (OPA) or </a:t>
            </a:r>
            <a:r>
              <a:rPr lang="en-US" sz="1600" kern="0" spc="-80" dirty="0" err="1">
                <a:solidFill>
                  <a:schemeClr val="accent6"/>
                </a:solidFill>
              </a:rPr>
              <a:t>OpenFGA</a:t>
            </a:r>
            <a:r>
              <a:rPr lang="en-US" sz="1600" kern="0" spc="-80" dirty="0">
                <a:solidFill>
                  <a:schemeClr val="accent6"/>
                </a:solidFill>
              </a:rPr>
              <a:t> to enforce permissions based on policies.</a:t>
            </a:r>
            <a:br>
              <a:rPr lang="en-US" sz="1600" kern="0" spc="-80" dirty="0">
                <a:solidFill>
                  <a:schemeClr val="accent6"/>
                </a:solidFill>
              </a:rPr>
            </a:br>
            <a:r>
              <a:rPr lang="en-US" sz="1600" kern="0" spc="-80" dirty="0">
                <a:solidFill>
                  <a:schemeClr val="accent2"/>
                </a:solidFill>
              </a:rPr>
              <a:t>AuthN (Authentication) Providers.</a:t>
            </a:r>
            <a:br>
              <a:rPr lang="en-US" sz="1600" kern="0" spc="-80" dirty="0">
                <a:solidFill>
                  <a:schemeClr val="accent6"/>
                </a:solidFill>
              </a:rPr>
            </a:br>
            <a:r>
              <a:rPr lang="en-US" sz="1600" kern="0" spc="-80" dirty="0">
                <a:solidFill>
                  <a:schemeClr val="accent6"/>
                </a:solidFill>
              </a:rPr>
              <a:t>These services focus on proving a user's identity.</a:t>
            </a:r>
            <a:br>
              <a:rPr lang="en-US" sz="1600" kern="0" spc="-80" dirty="0">
                <a:solidFill>
                  <a:schemeClr val="accent6"/>
                </a:solidFill>
              </a:rPr>
            </a:br>
            <a:r>
              <a:rPr lang="en-US" sz="1600" kern="0" spc="-80" dirty="0">
                <a:solidFill>
                  <a:schemeClr val="accent2"/>
                </a:solidFill>
              </a:rPr>
              <a:t>Purpose:</a:t>
            </a:r>
            <a:r>
              <a:rPr lang="en-US" sz="1600" kern="0" spc="-80" dirty="0">
                <a:solidFill>
                  <a:schemeClr val="accent6"/>
                </a:solidFill>
              </a:rPr>
              <a:t> To confirm that a user is who they claim to be.</a:t>
            </a:r>
            <a:br>
              <a:rPr lang="en-US" sz="1600" kern="0" spc="-80" dirty="0">
                <a:solidFill>
                  <a:schemeClr val="accent6"/>
                </a:solidFill>
              </a:rPr>
            </a:br>
            <a:r>
              <a:rPr lang="en-US" sz="1600" kern="0" spc="-80" dirty="0">
                <a:solidFill>
                  <a:schemeClr val="accent2"/>
                </a:solidFill>
              </a:rPr>
              <a:t>Methods:</a:t>
            </a:r>
            <a:r>
              <a:rPr lang="en-US" sz="1600" kern="0" spc="-80" dirty="0">
                <a:solidFill>
                  <a:schemeClr val="accent6"/>
                </a:solidFill>
              </a:rPr>
              <a:t> Often involves username and password, multi-factor authentication (MFA), biometrics, or tokens.</a:t>
            </a:r>
            <a:br>
              <a:rPr lang="en-US" sz="1600" kern="0" spc="-80" dirty="0">
                <a:solidFill>
                  <a:schemeClr val="accent6"/>
                </a:solidFill>
              </a:rPr>
            </a:br>
            <a:r>
              <a:rPr lang="en-US" sz="1600" kern="0" spc="-80" dirty="0">
                <a:solidFill>
                  <a:schemeClr val="accent2"/>
                </a:solidFill>
              </a:rPr>
              <a:t>Common Providers:</a:t>
            </a:r>
            <a:br>
              <a:rPr lang="en-US" sz="1600" kern="0" spc="-80" dirty="0">
                <a:solidFill>
                  <a:schemeClr val="accent6"/>
                </a:solidFill>
              </a:rPr>
            </a:br>
            <a:r>
              <a:rPr lang="en-US" sz="1600" kern="0" spc="-80" dirty="0">
                <a:solidFill>
                  <a:schemeClr val="accent2"/>
                </a:solidFill>
              </a:rPr>
              <a:t>Auth0:</a:t>
            </a:r>
            <a:r>
              <a:rPr lang="en-US" sz="1600" kern="0" spc="-80" dirty="0">
                <a:solidFill>
                  <a:schemeClr val="accent6"/>
                </a:solidFill>
              </a:rPr>
              <a:t> A popular platform offering authentication services and single sign-on (SSO).</a:t>
            </a:r>
            <a:br>
              <a:rPr lang="en-US" sz="1600" kern="0" spc="-80" dirty="0">
                <a:solidFill>
                  <a:schemeClr val="accent6"/>
                </a:solidFill>
              </a:rPr>
            </a:br>
            <a:r>
              <a:rPr lang="en-US" sz="1600" kern="0" spc="-80" dirty="0">
                <a:solidFill>
                  <a:schemeClr val="accent2"/>
                </a:solidFill>
              </a:rPr>
              <a:t>Microsoft Entra ID (formerly Azure AD):</a:t>
            </a:r>
            <a:r>
              <a:rPr lang="en-US" sz="1600" kern="0" spc="-80" dirty="0">
                <a:solidFill>
                  <a:schemeClr val="accent6"/>
                </a:solidFill>
              </a:rPr>
              <a:t> A comprehensive identity and access management service.</a:t>
            </a:r>
            <a:br>
              <a:rPr lang="en-US" sz="1600" kern="0" spc="-80" dirty="0">
                <a:solidFill>
                  <a:schemeClr val="accent6"/>
                </a:solidFill>
              </a:rPr>
            </a:br>
            <a:r>
              <a:rPr lang="en-US" sz="1600" kern="0" spc="-80" dirty="0" err="1">
                <a:solidFill>
                  <a:schemeClr val="accent2"/>
                </a:solidFill>
              </a:rPr>
              <a:t>Keycloak</a:t>
            </a:r>
            <a:r>
              <a:rPr lang="en-US" sz="1600" kern="0" spc="-80" dirty="0">
                <a:solidFill>
                  <a:schemeClr val="accent2"/>
                </a:solidFill>
              </a:rPr>
              <a:t>:</a:t>
            </a:r>
            <a:r>
              <a:rPr lang="en-US" sz="1600" kern="0" spc="-80" dirty="0">
                <a:solidFill>
                  <a:schemeClr val="accent6"/>
                </a:solidFill>
              </a:rPr>
              <a:t> An open-source identity and access management solution with SSO and user management features.</a:t>
            </a:r>
            <a:br>
              <a:rPr lang="en-US" sz="1600" kern="0" spc="-80" dirty="0">
                <a:solidFill>
                  <a:schemeClr val="accent6"/>
                </a:solidFill>
              </a:rPr>
            </a:br>
            <a:r>
              <a:rPr lang="en-US" sz="1600" kern="0" spc="-80" dirty="0">
                <a:solidFill>
                  <a:schemeClr val="accent2"/>
                </a:solidFill>
              </a:rPr>
              <a:t>Firebase Auth:</a:t>
            </a:r>
            <a:r>
              <a:rPr lang="en-US" sz="1600" kern="0" spc="-80" dirty="0">
                <a:solidFill>
                  <a:schemeClr val="accent6"/>
                </a:solidFill>
              </a:rPr>
              <a:t> Provides authentication services for web and mobile applications.</a:t>
            </a:r>
            <a:br>
              <a:rPr lang="en-US" sz="1600" kern="0" spc="-80" dirty="0">
                <a:solidFill>
                  <a:schemeClr val="accent6"/>
                </a:solidFill>
              </a:rPr>
            </a:br>
            <a:endParaRPr lang="en-US" sz="1600" kern="0" spc="-80" dirty="0">
              <a:solidFill>
                <a:schemeClr val="accent2"/>
              </a:solidFill>
            </a:endParaRPr>
          </a:p>
        </p:txBody>
      </p:sp>
    </p:spTree>
    <p:extLst>
      <p:ext uri="{BB962C8B-B14F-4D97-AF65-F5344CB8AC3E}">
        <p14:creationId xmlns:p14="http://schemas.microsoft.com/office/powerpoint/2010/main" val="959881602"/>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CD9-04D8-C936-0BA4-B655D17BE9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C30C5F-1729-20F1-83C4-10FA7EE0C7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84BD94-AA86-C539-A393-A60155C91C7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BB34C-F7B3-7C4A-ED52-4BF4ABAD5E3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CAF85C-4799-88D0-5948-9DF2BB38BF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C8EB733-0D11-1EA9-077C-8F9487F1D008}"/>
              </a:ext>
            </a:extLst>
          </p:cNvPr>
          <p:cNvSpPr txBox="1">
            <a:spLocks/>
          </p:cNvSpPr>
          <p:nvPr/>
        </p:nvSpPr>
        <p:spPr>
          <a:xfrm>
            <a:off x="235945" y="741802"/>
            <a:ext cx="8624937" cy="57246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AuthN and </a:t>
            </a:r>
            <a:r>
              <a:rPr lang="en-US" sz="2400" kern="0" spc="-80" dirty="0" err="1">
                <a:solidFill>
                  <a:schemeClr val="accent2"/>
                </a:solidFill>
              </a:rPr>
              <a:t>AuthZ</a:t>
            </a:r>
            <a:r>
              <a:rPr lang="en-US" sz="2400" kern="0" spc="-80" dirty="0">
                <a:solidFill>
                  <a:schemeClr val="accent2"/>
                </a:solidFill>
              </a:rPr>
              <a:t> Providers</a:t>
            </a:r>
          </a:p>
          <a:p>
            <a:pPr marL="12700" marR="5080"/>
            <a:r>
              <a:rPr lang="en-US" sz="1500" kern="0" spc="-80" dirty="0" err="1">
                <a:solidFill>
                  <a:schemeClr val="accent2"/>
                </a:solidFill>
              </a:rPr>
              <a:t>AuthZ</a:t>
            </a:r>
            <a:r>
              <a:rPr lang="en-US" sz="1500" kern="0" spc="-80" dirty="0">
                <a:solidFill>
                  <a:schemeClr val="accent2"/>
                </a:solidFill>
              </a:rPr>
              <a:t> (Authorization) Providers.</a:t>
            </a:r>
            <a:br>
              <a:rPr lang="en-US" sz="1500" kern="0" spc="-80" dirty="0">
                <a:solidFill>
                  <a:schemeClr val="accent6"/>
                </a:solidFill>
              </a:rPr>
            </a:br>
            <a:r>
              <a:rPr lang="en-US" sz="1500" kern="0" spc="-80" dirty="0">
                <a:solidFill>
                  <a:schemeClr val="accent6"/>
                </a:solidFill>
              </a:rPr>
              <a:t>These services manage what an authenticated user can access and do.</a:t>
            </a:r>
            <a:br>
              <a:rPr lang="en-US" sz="1500" kern="0" spc="-80" dirty="0">
                <a:solidFill>
                  <a:schemeClr val="accent6"/>
                </a:solidFill>
              </a:rPr>
            </a:br>
            <a:r>
              <a:rPr lang="en-US" sz="1500" kern="0" spc="-80" dirty="0">
                <a:solidFill>
                  <a:schemeClr val="accent2"/>
                </a:solidFill>
              </a:rPr>
              <a:t>Purpose:</a:t>
            </a:r>
            <a:r>
              <a:rPr lang="en-US" sz="1500" kern="0" spc="-80" dirty="0">
                <a:solidFill>
                  <a:schemeClr val="accent6"/>
                </a:solidFill>
              </a:rPr>
              <a:t> To define and enforce permissions and access rights for users.</a:t>
            </a:r>
            <a:br>
              <a:rPr lang="en-US" sz="1500" kern="0" spc="-80" dirty="0">
                <a:solidFill>
                  <a:schemeClr val="accent6"/>
                </a:solidFill>
              </a:rPr>
            </a:br>
            <a:r>
              <a:rPr lang="en-US" sz="1500" kern="0" spc="-80" dirty="0">
                <a:solidFill>
                  <a:schemeClr val="accent2"/>
                </a:solidFill>
              </a:rPr>
              <a:t>Models:</a:t>
            </a:r>
            <a:r>
              <a:rPr lang="en-US" sz="1500" kern="0" spc="-80" dirty="0">
                <a:solidFill>
                  <a:schemeClr val="accent6"/>
                </a:solidFill>
              </a:rPr>
              <a:t> Often uses models like </a:t>
            </a:r>
            <a:r>
              <a:rPr lang="en-US" sz="1500" kern="0" spc="-80" dirty="0">
                <a:solidFill>
                  <a:schemeClr val="accent2"/>
                </a:solidFill>
              </a:rPr>
              <a:t>Role-Based Access Control (RBAC), Attribute-Based Access Control (ABAC), or relationship-based access control (ReBAC)</a:t>
            </a:r>
            <a:r>
              <a:rPr lang="en-US" sz="1500" kern="0" spc="-80" dirty="0">
                <a:solidFill>
                  <a:schemeClr val="accent6"/>
                </a:solidFill>
              </a:rPr>
              <a:t>.</a:t>
            </a:r>
            <a:br>
              <a:rPr lang="en-US" sz="1500" kern="0" spc="-80" dirty="0">
                <a:solidFill>
                  <a:schemeClr val="accent6"/>
                </a:solidFill>
              </a:rPr>
            </a:br>
            <a:r>
              <a:rPr lang="en-US" sz="1500" kern="0" spc="-80" dirty="0">
                <a:solidFill>
                  <a:schemeClr val="accent2"/>
                </a:solidFill>
              </a:rPr>
              <a:t>Common Providers/Systems:</a:t>
            </a:r>
            <a:br>
              <a:rPr lang="en-US" sz="1500" kern="0" spc="-80" dirty="0">
                <a:solidFill>
                  <a:schemeClr val="accent6"/>
                </a:solidFill>
              </a:rPr>
            </a:br>
            <a:r>
              <a:rPr lang="en-US" sz="1500" kern="0" spc="-80" dirty="0">
                <a:solidFill>
                  <a:schemeClr val="accent2"/>
                </a:solidFill>
              </a:rPr>
              <a:t>Open Policy Agent (OPA):</a:t>
            </a:r>
            <a:r>
              <a:rPr lang="en-US" sz="1500" kern="0" spc="-80" dirty="0">
                <a:solidFill>
                  <a:schemeClr val="accent6"/>
                </a:solidFill>
              </a:rPr>
              <a:t> A general-purpose policy engine for enforcing authorization logic using the Rego policy language.</a:t>
            </a:r>
            <a:br>
              <a:rPr lang="en-US" sz="1500" kern="0" spc="-80" dirty="0">
                <a:solidFill>
                  <a:schemeClr val="accent6"/>
                </a:solidFill>
              </a:rPr>
            </a:br>
            <a:r>
              <a:rPr lang="en-US" sz="1500" kern="0" spc="-80" dirty="0" err="1">
                <a:solidFill>
                  <a:schemeClr val="accent2"/>
                </a:solidFill>
              </a:rPr>
              <a:t>OpenFGA</a:t>
            </a:r>
            <a:r>
              <a:rPr lang="en-US" sz="1500" kern="0" spc="-80" dirty="0">
                <a:solidFill>
                  <a:schemeClr val="accent2"/>
                </a:solidFill>
              </a:rPr>
              <a:t>: </a:t>
            </a:r>
            <a:r>
              <a:rPr lang="en-US" sz="1500" kern="0" spc="-80" dirty="0">
                <a:solidFill>
                  <a:schemeClr val="accent6"/>
                </a:solidFill>
              </a:rPr>
              <a:t>An open-source project based on Google's Zanzibar authorization system, using a relationship-based access model.</a:t>
            </a:r>
            <a:br>
              <a:rPr lang="en-US" sz="1500" kern="0" spc="-80" dirty="0">
                <a:solidFill>
                  <a:schemeClr val="accent6"/>
                </a:solidFill>
              </a:rPr>
            </a:br>
            <a:r>
              <a:rPr lang="en-US" sz="1500" kern="0" spc="-80" dirty="0">
                <a:solidFill>
                  <a:schemeClr val="accent2"/>
                </a:solidFill>
              </a:rPr>
              <a:t>Topaz: </a:t>
            </a:r>
            <a:r>
              <a:rPr lang="en-US" sz="1500" kern="0" spc="-80" dirty="0">
                <a:solidFill>
                  <a:schemeClr val="accent6"/>
                </a:solidFill>
              </a:rPr>
              <a:t>A standalone authorization system supporting both OPA policies and relationship-based access control.</a:t>
            </a:r>
            <a:br>
              <a:rPr lang="en-US" sz="1500" kern="0" spc="-80" dirty="0">
                <a:solidFill>
                  <a:schemeClr val="accent6"/>
                </a:solidFill>
              </a:rPr>
            </a:br>
            <a:r>
              <a:rPr lang="en-US" sz="1500" kern="0" spc="-80" dirty="0">
                <a:solidFill>
                  <a:schemeClr val="accent2"/>
                </a:solidFill>
              </a:rPr>
              <a:t>How they work together.</a:t>
            </a:r>
            <a:br>
              <a:rPr lang="en-US" sz="1500" kern="0" spc="-80" dirty="0">
                <a:solidFill>
                  <a:schemeClr val="accent6"/>
                </a:solidFill>
              </a:rPr>
            </a:br>
            <a:r>
              <a:rPr lang="en-US" sz="1500" kern="0" spc="-80" dirty="0">
                <a:solidFill>
                  <a:schemeClr val="accent6"/>
                </a:solidFill>
              </a:rPr>
              <a:t>AuthN and </a:t>
            </a:r>
            <a:r>
              <a:rPr lang="en-US" sz="1500" kern="0" spc="-80" dirty="0" err="1">
                <a:solidFill>
                  <a:schemeClr val="accent6"/>
                </a:solidFill>
              </a:rPr>
              <a:t>AuthZ</a:t>
            </a:r>
            <a:r>
              <a:rPr lang="en-US" sz="1500" kern="0" spc="-80" dirty="0">
                <a:solidFill>
                  <a:schemeClr val="accent6"/>
                </a:solidFill>
              </a:rPr>
              <a:t> work in tandem to secure systems:</a:t>
            </a:r>
            <a:br>
              <a:rPr lang="en-US" sz="1500" kern="0" spc="-80" dirty="0">
                <a:solidFill>
                  <a:schemeClr val="accent6"/>
                </a:solidFill>
              </a:rPr>
            </a:br>
            <a:r>
              <a:rPr lang="en-US" sz="1500" kern="0" spc="-80" dirty="0">
                <a:solidFill>
                  <a:schemeClr val="accent2"/>
                </a:solidFill>
              </a:rPr>
              <a:t>Authentication (AuthN):</a:t>
            </a:r>
            <a:r>
              <a:rPr lang="en-US" sz="1500" kern="0" spc="-80" dirty="0">
                <a:solidFill>
                  <a:schemeClr val="accent6"/>
                </a:solidFill>
              </a:rPr>
              <a:t> A user logs in, providing credentials (e.g., password, token). The AuthN provider verifies their identity.</a:t>
            </a:r>
            <a:br>
              <a:rPr lang="en-US" sz="1500" kern="0" spc="-80" dirty="0">
                <a:solidFill>
                  <a:schemeClr val="accent6"/>
                </a:solidFill>
              </a:rPr>
            </a:br>
            <a:r>
              <a:rPr lang="en-US" sz="1500" kern="0" spc="-80" dirty="0">
                <a:solidFill>
                  <a:schemeClr val="accent2"/>
                </a:solidFill>
              </a:rPr>
              <a:t>Authorization (</a:t>
            </a:r>
            <a:r>
              <a:rPr lang="en-US" sz="1500" kern="0" spc="-80" dirty="0" err="1">
                <a:solidFill>
                  <a:schemeClr val="accent2"/>
                </a:solidFill>
              </a:rPr>
              <a:t>AuthZ</a:t>
            </a:r>
            <a:r>
              <a:rPr lang="en-US" sz="1500" kern="0" spc="-80" dirty="0">
                <a:solidFill>
                  <a:schemeClr val="accent2"/>
                </a:solidFill>
              </a:rPr>
              <a:t>): </a:t>
            </a:r>
            <a:r>
              <a:rPr lang="en-US" sz="1500" kern="0" spc="-80" dirty="0">
                <a:solidFill>
                  <a:schemeClr val="accent6"/>
                </a:solidFill>
              </a:rPr>
              <a:t>Once the user is identified, the </a:t>
            </a:r>
            <a:r>
              <a:rPr lang="en-US" sz="1500" kern="0" spc="-80" dirty="0" err="1">
                <a:solidFill>
                  <a:schemeClr val="accent6"/>
                </a:solidFill>
              </a:rPr>
              <a:t>AuthZ</a:t>
            </a:r>
            <a:r>
              <a:rPr lang="en-US" sz="1500" kern="0" spc="-80" dirty="0">
                <a:solidFill>
                  <a:schemeClr val="accent6"/>
                </a:solidFill>
              </a:rPr>
              <a:t> provider uses policies to determine what resources or functions the authenticated user can access within the system. For instance, after a user logs in, the </a:t>
            </a:r>
            <a:r>
              <a:rPr lang="en-US" sz="1500" kern="0" spc="-80" dirty="0" err="1">
                <a:solidFill>
                  <a:schemeClr val="accent6"/>
                </a:solidFill>
              </a:rPr>
              <a:t>AuthZ</a:t>
            </a:r>
            <a:r>
              <a:rPr lang="en-US" sz="1500" kern="0" spc="-80" dirty="0">
                <a:solidFill>
                  <a:schemeClr val="accent6"/>
                </a:solidFill>
              </a:rPr>
              <a:t> system might grant them access to a specific project board but deny them access to others, based on their assigned role or permissions.</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4244972887"/>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8E185-DD86-D8AD-665E-6B62B317E5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FFF368B-9180-9C6D-E4CC-AB2FDA43D0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5B79BE-6D31-8A18-569F-6D36C43FD0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E35824-3E9E-3DF2-343A-5707FDF733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973048-3754-162B-D6D3-B8129EA4C3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F94E16-6BE0-F41E-545F-EB7D397C2E52}"/>
              </a:ext>
            </a:extLst>
          </p:cNvPr>
          <p:cNvSpPr txBox="1">
            <a:spLocks/>
          </p:cNvSpPr>
          <p:nvPr/>
        </p:nvSpPr>
        <p:spPr>
          <a:xfrm>
            <a:off x="235945" y="741802"/>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Why AuthN and </a:t>
            </a:r>
            <a:r>
              <a:rPr lang="en-US" sz="2400" kern="0" spc="-80" dirty="0" err="1">
                <a:solidFill>
                  <a:schemeClr val="accent2"/>
                </a:solidFill>
              </a:rPr>
              <a:t>AuthZ</a:t>
            </a:r>
            <a:r>
              <a:rPr lang="en-US" sz="2400" kern="0" spc="-80" dirty="0">
                <a:solidFill>
                  <a:schemeClr val="accent2"/>
                </a:solidFill>
              </a:rPr>
              <a:t> Should be separated?</a:t>
            </a:r>
          </a:p>
          <a:p>
            <a:pPr marL="12700" marR="5080"/>
            <a:r>
              <a:rPr lang="en-US" sz="1500" kern="0" spc="-80" dirty="0">
                <a:solidFill>
                  <a:schemeClr val="accent6"/>
                </a:solidFill>
              </a:rPr>
              <a:t>AuthN (authentication) and </a:t>
            </a:r>
            <a:r>
              <a:rPr lang="en-US" sz="1500" kern="0" spc="-80" dirty="0" err="1">
                <a:solidFill>
                  <a:schemeClr val="accent6"/>
                </a:solidFill>
              </a:rPr>
              <a:t>AuthZ</a:t>
            </a:r>
            <a:r>
              <a:rPr lang="en-US" sz="1500" kern="0" spc="-80" dirty="0">
                <a:solidFill>
                  <a:schemeClr val="accent6"/>
                </a:solidFill>
              </a:rPr>
              <a:t> (authorization) should be separated from their respective providers to enhance security, simplify development, and promote adaptability. Separation creates a "separation of concerns," reducing the risk that a compromise in one area will impact the other and allowing specialized tools to be used for each distinct function, leading to a more robust and scalable identity and access management (IAM) system.</a:t>
            </a:r>
            <a:br>
              <a:rPr lang="en-US" sz="1500" kern="0" spc="-80" dirty="0">
                <a:solidFill>
                  <a:schemeClr val="accent6"/>
                </a:solidFill>
              </a:rPr>
            </a:br>
            <a:r>
              <a:rPr lang="en-US" sz="1500" kern="0" spc="-80" dirty="0">
                <a:solidFill>
                  <a:schemeClr val="accent2"/>
                </a:solidFill>
              </a:rPr>
              <a:t>Security Benefits.</a:t>
            </a:r>
            <a:br>
              <a:rPr lang="en-US" sz="1500" kern="0" spc="-80" dirty="0">
                <a:solidFill>
                  <a:schemeClr val="accent6"/>
                </a:solidFill>
              </a:rPr>
            </a:br>
            <a:r>
              <a:rPr lang="en-US" sz="1500" kern="0" spc="-80" dirty="0">
                <a:solidFill>
                  <a:schemeClr val="accent2"/>
                </a:solidFill>
              </a:rPr>
              <a:t>Reduced Risk of Compromise:</a:t>
            </a:r>
            <a:r>
              <a:rPr lang="en-US" sz="1500" kern="0" spc="-80" dirty="0">
                <a:solidFill>
                  <a:schemeClr val="accent6"/>
                </a:solidFill>
              </a:rPr>
              <a:t> By separating AuthN and </a:t>
            </a:r>
            <a:r>
              <a:rPr lang="en-US" sz="1500" kern="0" spc="-80" dirty="0" err="1">
                <a:solidFill>
                  <a:schemeClr val="accent6"/>
                </a:solidFill>
              </a:rPr>
              <a:t>AuthZ</a:t>
            </a:r>
            <a:r>
              <a:rPr lang="en-US" sz="1500" kern="0" spc="-80" dirty="0">
                <a:solidFill>
                  <a:schemeClr val="accent6"/>
                </a:solidFill>
              </a:rPr>
              <a:t>, a security breach in one system is less likely to compromise the other. If a single provider handles both, an attacker who gains access to it could control both identity verification and what the user can do.</a:t>
            </a:r>
            <a:br>
              <a:rPr lang="en-US" sz="1500" kern="0" spc="-80" dirty="0">
                <a:solidFill>
                  <a:schemeClr val="accent6"/>
                </a:solidFill>
              </a:rPr>
            </a:br>
            <a:r>
              <a:rPr lang="en-US" sz="1500" kern="0" spc="-80" dirty="0">
                <a:solidFill>
                  <a:schemeClr val="accent2"/>
                </a:solidFill>
              </a:rPr>
              <a:t>Improved Posture:</a:t>
            </a:r>
            <a:r>
              <a:rPr lang="en-US" sz="1500" kern="0" spc="-80" dirty="0">
                <a:solidFill>
                  <a:schemeClr val="accent6"/>
                </a:solidFill>
              </a:rPr>
              <a:t> A dedicated </a:t>
            </a:r>
            <a:r>
              <a:rPr lang="en-US" sz="1500" kern="0" spc="-80" dirty="0" err="1">
                <a:solidFill>
                  <a:schemeClr val="accent6"/>
                </a:solidFill>
              </a:rPr>
              <a:t>AuthZ</a:t>
            </a:r>
            <a:r>
              <a:rPr lang="en-US" sz="1500" kern="0" spc="-80" dirty="0">
                <a:solidFill>
                  <a:schemeClr val="accent6"/>
                </a:solidFill>
              </a:rPr>
              <a:t> provider or system can implement policies (like the Principle of Least Privilege) that grant only necessary permissions, minimizing the impact of any potential compromise.</a:t>
            </a:r>
            <a:br>
              <a:rPr lang="en-US" sz="1500" kern="0" spc="-80" dirty="0">
                <a:solidFill>
                  <a:schemeClr val="accent6"/>
                </a:solidFill>
              </a:rPr>
            </a:br>
            <a:r>
              <a:rPr lang="en-US" sz="1500" kern="0" spc="-80" dirty="0">
                <a:solidFill>
                  <a:schemeClr val="accent2"/>
                </a:solidFill>
              </a:rPr>
              <a:t>Development &amp; Maintenance Benefits.</a:t>
            </a:r>
            <a:br>
              <a:rPr lang="en-US" sz="1500" kern="0" spc="-80" dirty="0">
                <a:solidFill>
                  <a:schemeClr val="accent6"/>
                </a:solidFill>
              </a:rPr>
            </a:br>
            <a:r>
              <a:rPr lang="en-US" sz="1500" kern="0" spc="-80" dirty="0">
                <a:solidFill>
                  <a:schemeClr val="accent2"/>
                </a:solidFill>
              </a:rPr>
              <a:t>Simpler Codebase:</a:t>
            </a:r>
            <a:r>
              <a:rPr lang="en-US" sz="1500" kern="0" spc="-80" dirty="0">
                <a:solidFill>
                  <a:schemeClr val="accent6"/>
                </a:solidFill>
              </a:rPr>
              <a:t> Separating authentication logic from authorization logic makes the code cleaner and easier to understand, as each component has a distinct purpose.</a:t>
            </a:r>
            <a:br>
              <a:rPr lang="en-US" sz="1500" kern="0" spc="-80" dirty="0">
                <a:solidFill>
                  <a:schemeClr val="accent6"/>
                </a:solidFill>
              </a:rPr>
            </a:br>
            <a:endParaRPr lang="en-US" sz="1500" kern="0" spc="-80" dirty="0">
              <a:solidFill>
                <a:schemeClr val="accent6"/>
              </a:solidFill>
            </a:endParaRPr>
          </a:p>
        </p:txBody>
      </p:sp>
    </p:spTree>
    <p:extLst>
      <p:ext uri="{BB962C8B-B14F-4D97-AF65-F5344CB8AC3E}">
        <p14:creationId xmlns:p14="http://schemas.microsoft.com/office/powerpoint/2010/main" val="56726908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076A7-5891-8AD9-14BA-62A9BE180D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9BAE03-4DBC-9ADC-B85F-D6C4C648FD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D24D99-AE13-C59E-A531-65469B8637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70F527-8C62-5A9D-AB36-3B1D05CC67F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C3C31B5-3843-BD13-B02A-DB9690AEBC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50D72AE-4D1F-C65D-4025-2F81BAD23B25}"/>
              </a:ext>
            </a:extLst>
          </p:cNvPr>
          <p:cNvSpPr txBox="1">
            <a:spLocks/>
          </p:cNvSpPr>
          <p:nvPr/>
        </p:nvSpPr>
        <p:spPr>
          <a:xfrm>
            <a:off x="235945" y="741802"/>
            <a:ext cx="8624937" cy="37394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Why AuthN and </a:t>
            </a:r>
            <a:r>
              <a:rPr lang="en-US" sz="2400" kern="0" spc="-80" dirty="0" err="1">
                <a:solidFill>
                  <a:schemeClr val="accent2"/>
                </a:solidFill>
              </a:rPr>
              <a:t>AuthZ</a:t>
            </a:r>
            <a:r>
              <a:rPr lang="en-US" sz="2400" kern="0" spc="-80" dirty="0">
                <a:solidFill>
                  <a:schemeClr val="accent2"/>
                </a:solidFill>
              </a:rPr>
              <a:t> Should be separated?</a:t>
            </a:r>
          </a:p>
          <a:p>
            <a:pPr marL="12700" marR="5080"/>
            <a:r>
              <a:rPr lang="en-US" sz="1500" kern="0" spc="-80" dirty="0">
                <a:solidFill>
                  <a:schemeClr val="accent2"/>
                </a:solidFill>
              </a:rPr>
              <a:t>Increased Agility:</a:t>
            </a:r>
            <a:r>
              <a:rPr lang="en-US" sz="1500" kern="0" spc="-80" dirty="0">
                <a:solidFill>
                  <a:schemeClr val="accent6"/>
                </a:solidFill>
              </a:rPr>
              <a:t> Teams can update or replace the AuthN or </a:t>
            </a:r>
            <a:r>
              <a:rPr lang="en-US" sz="1500" kern="0" spc="-80" dirty="0" err="1">
                <a:solidFill>
                  <a:schemeClr val="accent6"/>
                </a:solidFill>
              </a:rPr>
              <a:t>AuthZ</a:t>
            </a:r>
            <a:r>
              <a:rPr lang="en-US" sz="1500" kern="0" spc="-80" dirty="0">
                <a:solidFill>
                  <a:schemeClr val="accent6"/>
                </a:solidFill>
              </a:rPr>
              <a:t> provider without affecting the other, making it easier to adapt to new technologies or security standards.</a:t>
            </a:r>
            <a:br>
              <a:rPr lang="en-US" sz="1500" kern="0" spc="-80" dirty="0">
                <a:solidFill>
                  <a:schemeClr val="accent6"/>
                </a:solidFill>
              </a:rPr>
            </a:br>
            <a:r>
              <a:rPr lang="en-US" sz="1500" kern="0" spc="-80" dirty="0">
                <a:solidFill>
                  <a:schemeClr val="accent2"/>
                </a:solidFill>
              </a:rPr>
              <a:t>Specialized Tooling:</a:t>
            </a:r>
            <a:r>
              <a:rPr lang="en-US" sz="1500" kern="0" spc="-80" dirty="0">
                <a:solidFill>
                  <a:schemeClr val="accent6"/>
                </a:solidFill>
              </a:rPr>
              <a:t> You can select the best tools for each function. For example, a specialized Identity Provider (IdP) can handle AuthN, while a dedicated Authorization as a Service (</a:t>
            </a:r>
            <a:r>
              <a:rPr lang="en-US" sz="1500" kern="0" spc="-80" dirty="0" err="1">
                <a:solidFill>
                  <a:schemeClr val="accent6"/>
                </a:solidFill>
              </a:rPr>
              <a:t>AaaS</a:t>
            </a:r>
            <a:r>
              <a:rPr lang="en-US" sz="1500" kern="0" spc="-80" dirty="0">
                <a:solidFill>
                  <a:schemeClr val="accent6"/>
                </a:solidFill>
              </a:rPr>
              <a:t>) can handle </a:t>
            </a:r>
            <a:r>
              <a:rPr lang="en-US" sz="1500" kern="0" spc="-80" dirty="0" err="1">
                <a:solidFill>
                  <a:schemeClr val="accent6"/>
                </a:solidFill>
              </a:rPr>
              <a:t>AuthZ</a:t>
            </a:r>
            <a:r>
              <a:rPr lang="en-US" sz="1500" kern="0" spc="-80" dirty="0">
                <a:solidFill>
                  <a:schemeClr val="accent6"/>
                </a:solidFill>
              </a:rPr>
              <a:t>.</a:t>
            </a:r>
            <a:br>
              <a:rPr lang="en-US" sz="1500" kern="0" spc="-80" dirty="0">
                <a:solidFill>
                  <a:schemeClr val="accent6"/>
                </a:solidFill>
              </a:rPr>
            </a:br>
            <a:r>
              <a:rPr lang="en-US" sz="1500" kern="0" spc="-80" dirty="0">
                <a:solidFill>
                  <a:schemeClr val="accent2"/>
                </a:solidFill>
              </a:rPr>
              <a:t>Independent Development:</a:t>
            </a:r>
            <a:r>
              <a:rPr lang="en-US" sz="1500" kern="0" spc="-80" dirty="0">
                <a:solidFill>
                  <a:schemeClr val="accent6"/>
                </a:solidFill>
              </a:rPr>
              <a:t> Developers can work on the authentication and authorization services independently, which increases development velocity and productivity.</a:t>
            </a:r>
            <a:br>
              <a:rPr lang="en-US" sz="1500" kern="0" spc="-80" dirty="0">
                <a:solidFill>
                  <a:schemeClr val="accent6"/>
                </a:solidFill>
              </a:rPr>
            </a:br>
            <a:r>
              <a:rPr lang="en-US" sz="1500" kern="0" spc="-80" dirty="0">
                <a:solidFill>
                  <a:schemeClr val="accent2"/>
                </a:solidFill>
              </a:rPr>
              <a:t>Scalability &amp; Complexity.</a:t>
            </a:r>
            <a:br>
              <a:rPr lang="en-US" sz="1500" kern="0" spc="-80" dirty="0">
                <a:solidFill>
                  <a:schemeClr val="accent6"/>
                </a:solidFill>
              </a:rPr>
            </a:br>
            <a:r>
              <a:rPr lang="en-US" sz="1500" kern="0" spc="-80" dirty="0">
                <a:solidFill>
                  <a:schemeClr val="accent2"/>
                </a:solidFill>
              </a:rPr>
              <a:t>Better Scalability:</a:t>
            </a:r>
            <a:r>
              <a:rPr lang="en-US" sz="1500" kern="0" spc="-80" dirty="0">
                <a:solidFill>
                  <a:schemeClr val="accent6"/>
                </a:solidFill>
              </a:rPr>
              <a:t> As applications grow, having separate services for authentication and authorization allows them to scale independently to meet user and resource demands.</a:t>
            </a:r>
            <a:br>
              <a:rPr lang="en-US" sz="1500" kern="0" spc="-80" dirty="0">
                <a:solidFill>
                  <a:schemeClr val="accent6"/>
                </a:solidFill>
              </a:rPr>
            </a:br>
            <a:r>
              <a:rPr lang="en-US" sz="1500" kern="0" spc="-80" dirty="0">
                <a:solidFill>
                  <a:schemeClr val="accent2"/>
                </a:solidFill>
              </a:rPr>
              <a:t>Manageable Complexity: </a:t>
            </a:r>
            <a:r>
              <a:rPr lang="en-US" sz="1500" kern="0" spc="-80" dirty="0">
                <a:solidFill>
                  <a:schemeClr val="accent6"/>
                </a:solidFill>
              </a:rPr>
              <a:t>Splitting these "cross-cutting concerns" into their own services makes the overall system easier to manage, especially in large and complex applications or microservices architecture.</a:t>
            </a:r>
          </a:p>
        </p:txBody>
      </p:sp>
    </p:spTree>
    <p:extLst>
      <p:ext uri="{BB962C8B-B14F-4D97-AF65-F5344CB8AC3E}">
        <p14:creationId xmlns:p14="http://schemas.microsoft.com/office/powerpoint/2010/main" val="232638292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6219F8-5F6A-69D6-A3B1-D7AD3198B40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3E15E28-4BD9-D28B-615C-A13E738D4EE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824A2A-38EC-26CA-4144-FE4F1AB958F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B285468-6193-AA79-2D3E-DB4F06C8FDF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4F145F-2A5C-E5EC-E57F-0A2D988C75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5925A0-3CB8-F58F-129C-0C73090C454C}"/>
              </a:ext>
            </a:extLst>
          </p:cNvPr>
          <p:cNvSpPr txBox="1">
            <a:spLocks/>
          </p:cNvSpPr>
          <p:nvPr/>
        </p:nvSpPr>
        <p:spPr>
          <a:xfrm>
            <a:off x="235945" y="741802"/>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OPA vs </a:t>
            </a:r>
            <a:r>
              <a:rPr lang="en-US" sz="2400" kern="0" spc="-80" dirty="0" err="1">
                <a:solidFill>
                  <a:schemeClr val="accent2"/>
                </a:solidFill>
              </a:rPr>
              <a:t>OpenFGA</a:t>
            </a:r>
            <a:endParaRPr lang="en-US" sz="2400" kern="0" spc="-80" dirty="0">
              <a:solidFill>
                <a:schemeClr val="accent2"/>
              </a:solidFill>
            </a:endParaRPr>
          </a:p>
          <a:p>
            <a:pPr marL="12700" marR="5080"/>
            <a:r>
              <a:rPr lang="en-US" sz="1500" kern="0" spc="-80" dirty="0">
                <a:solidFill>
                  <a:schemeClr val="accent6"/>
                </a:solidFill>
              </a:rPr>
              <a:t>OPA is a flexible, policy-driven engine suitable for attribute-based (ABAC) or role-based (RBAC) access control, while </a:t>
            </a:r>
            <a:r>
              <a:rPr lang="en-US" sz="1500" kern="0" spc="-80" dirty="0" err="1">
                <a:solidFill>
                  <a:schemeClr val="accent6"/>
                </a:solidFill>
              </a:rPr>
              <a:t>OpenFGA</a:t>
            </a:r>
            <a:r>
              <a:rPr lang="en-US" sz="1500" kern="0" spc="-80" dirty="0">
                <a:solidFill>
                  <a:schemeClr val="accent6"/>
                </a:solidFill>
              </a:rPr>
              <a:t> is a data-driven, relationship-based authorization engine inspired by Google Zanzibar. OPA provides a universal policy language (Rego) for complex decisions and contextual awareness, whereas </a:t>
            </a:r>
            <a:r>
              <a:rPr lang="en-US" sz="1500" kern="0" spc="-80" dirty="0" err="1">
                <a:solidFill>
                  <a:schemeClr val="accent6"/>
                </a:solidFill>
              </a:rPr>
              <a:t>OpenFGA</a:t>
            </a:r>
            <a:r>
              <a:rPr lang="en-US" sz="1500" kern="0" spc="-80" dirty="0">
                <a:solidFill>
                  <a:schemeClr val="accent6"/>
                </a:solidFill>
              </a:rPr>
              <a:t> excels at modeling complex relationships like inheritance and containment for collaborative applications. </a:t>
            </a:r>
            <a:r>
              <a:rPr lang="en-US" sz="1500" kern="0" spc="-80" dirty="0" err="1">
                <a:solidFill>
                  <a:schemeClr val="accent6"/>
                </a:solidFill>
              </a:rPr>
              <a:t>OpenFGA</a:t>
            </a:r>
            <a:r>
              <a:rPr lang="en-US" sz="1500" kern="0" spc="-80" dirty="0">
                <a:solidFill>
                  <a:schemeClr val="accent6"/>
                </a:solidFill>
              </a:rPr>
              <a:t> offers built-in reverse queries, faster performance for relationship checks, and a simpler model for relationship-based scenarios, while OPA has a more mature ecosystem but can be more complex to configure.</a:t>
            </a:r>
            <a:br>
              <a:rPr lang="en-US" sz="1500" kern="0" spc="-80" dirty="0">
                <a:solidFill>
                  <a:schemeClr val="accent6"/>
                </a:solidFill>
              </a:rPr>
            </a:br>
            <a:r>
              <a:rPr lang="en-US" sz="1500" kern="0" spc="-80" dirty="0">
                <a:solidFill>
                  <a:schemeClr val="accent2"/>
                </a:solidFill>
              </a:rPr>
              <a:t>Open Policy Agent (OPA).</a:t>
            </a:r>
            <a:br>
              <a:rPr lang="en-US" sz="1500" kern="0" spc="-80" dirty="0">
                <a:solidFill>
                  <a:schemeClr val="accent6"/>
                </a:solidFill>
              </a:rPr>
            </a:br>
            <a:r>
              <a:rPr lang="en-US" sz="1500" kern="0" spc="-80" dirty="0">
                <a:solidFill>
                  <a:schemeClr val="accent2"/>
                </a:solidFill>
              </a:rPr>
              <a:t>Approach:</a:t>
            </a:r>
            <a:r>
              <a:rPr lang="en-US" sz="1500" kern="0" spc="-80" dirty="0">
                <a:solidFill>
                  <a:schemeClr val="accent6"/>
                </a:solidFill>
              </a:rPr>
              <a:t> Policy-driven, supporting Attribute-Based Access Control (ABAC) and Role-Based Access Control (RBAC).</a:t>
            </a:r>
            <a:br>
              <a:rPr lang="en-US" sz="1500" kern="0" spc="-80" dirty="0">
                <a:solidFill>
                  <a:schemeClr val="accent6"/>
                </a:solidFill>
              </a:rPr>
            </a:br>
            <a:r>
              <a:rPr lang="en-US" sz="1500" kern="0" spc="-80" dirty="0">
                <a:solidFill>
                  <a:schemeClr val="accent2"/>
                </a:solidFill>
              </a:rPr>
              <a:t>Strengths:</a:t>
            </a:r>
            <a:br>
              <a:rPr lang="en-US" sz="1500" kern="0" spc="-80" dirty="0">
                <a:solidFill>
                  <a:schemeClr val="accent6"/>
                </a:solidFill>
              </a:rPr>
            </a:br>
            <a:r>
              <a:rPr lang="en-US" sz="1500" kern="0" spc="-80" dirty="0">
                <a:solidFill>
                  <a:schemeClr val="accent2"/>
                </a:solidFill>
              </a:rPr>
              <a:t>Policy-as-Code:</a:t>
            </a:r>
            <a:r>
              <a:rPr lang="en-US" sz="1500" kern="0" spc="-80" dirty="0">
                <a:solidFill>
                  <a:schemeClr val="accent6"/>
                </a:solidFill>
              </a:rPr>
              <a:t> Uses the Rego policy language for flexible and auditable access control policies.</a:t>
            </a:r>
            <a:br>
              <a:rPr lang="en-US" sz="1500" kern="0" spc="-80" dirty="0">
                <a:solidFill>
                  <a:schemeClr val="accent6"/>
                </a:solidFill>
              </a:rPr>
            </a:br>
            <a:r>
              <a:rPr lang="en-US" sz="1500" kern="0" spc="-80" dirty="0">
                <a:solidFill>
                  <a:schemeClr val="accent2"/>
                </a:solidFill>
              </a:rPr>
              <a:t>Contextual Awareness:</a:t>
            </a:r>
            <a:r>
              <a:rPr lang="en-US" sz="1500" kern="0" spc="-80" dirty="0">
                <a:solidFill>
                  <a:schemeClr val="accent6"/>
                </a:solidFill>
              </a:rPr>
              <a:t> Policies can consider user, resource, and environmental attributes for decisions.</a:t>
            </a:r>
            <a:br>
              <a:rPr lang="en-US" sz="1500" kern="0" spc="-80" dirty="0">
                <a:solidFill>
                  <a:schemeClr val="accent6"/>
                </a:solidFill>
              </a:rPr>
            </a:br>
            <a:r>
              <a:rPr lang="en-US" sz="1500" kern="0" spc="-80" dirty="0">
                <a:solidFill>
                  <a:schemeClr val="accent2"/>
                </a:solidFill>
              </a:rPr>
              <a:t>Decentralized Management:</a:t>
            </a:r>
            <a:r>
              <a:rPr lang="en-US" sz="1500" kern="0" spc="-80" dirty="0">
                <a:solidFill>
                  <a:schemeClr val="accent6"/>
                </a:solidFill>
              </a:rPr>
              <a:t> Teams can manage policies independently.</a:t>
            </a:r>
            <a:br>
              <a:rPr lang="en-US" sz="1500" kern="0" spc="-80" dirty="0">
                <a:solidFill>
                  <a:schemeClr val="accent6"/>
                </a:solidFill>
              </a:rPr>
            </a:br>
            <a:r>
              <a:rPr lang="en-US" sz="1500" kern="0" spc="-80" dirty="0">
                <a:solidFill>
                  <a:schemeClr val="accent2"/>
                </a:solidFill>
              </a:rPr>
              <a:t>Best For:</a:t>
            </a:r>
            <a:r>
              <a:rPr lang="en-US" sz="1500" kern="0" spc="-80" dirty="0">
                <a:solidFill>
                  <a:schemeClr val="accent6"/>
                </a:solidFill>
              </a:rPr>
              <a:t> Scenarios requiring flexible, policy-driven control and rich contextual information for authorization decisions.</a:t>
            </a:r>
            <a:br>
              <a:rPr lang="en-US" sz="1500" kern="0" spc="-80" dirty="0">
                <a:solidFill>
                  <a:schemeClr val="accent6"/>
                </a:solidFill>
              </a:rPr>
            </a:br>
            <a:r>
              <a:rPr lang="en-US" sz="1500" kern="0" spc="-80" dirty="0">
                <a:solidFill>
                  <a:schemeClr val="accent2"/>
                </a:solidFill>
              </a:rPr>
              <a:t>Considerations:</a:t>
            </a:r>
            <a:r>
              <a:rPr lang="en-US" sz="1500" kern="0" spc="-80" dirty="0">
                <a:solidFill>
                  <a:schemeClr val="accent6"/>
                </a:solidFill>
              </a:rPr>
              <a:t> Can be complex to configure and may face scalability challenges in high-demand environments.</a:t>
            </a:r>
            <a:br>
              <a:rPr lang="en-US" sz="1500" kern="0" spc="-80" dirty="0">
                <a:solidFill>
                  <a:schemeClr val="accent6"/>
                </a:solidFill>
              </a:rPr>
            </a:br>
            <a:endParaRPr lang="en-US" sz="1500" kern="0" spc="-80" dirty="0">
              <a:solidFill>
                <a:schemeClr val="accent6"/>
              </a:solidFill>
            </a:endParaRPr>
          </a:p>
        </p:txBody>
      </p:sp>
    </p:spTree>
    <p:extLst>
      <p:ext uri="{BB962C8B-B14F-4D97-AF65-F5344CB8AC3E}">
        <p14:creationId xmlns:p14="http://schemas.microsoft.com/office/powerpoint/2010/main" val="90564373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2F1F-30E4-A054-27E4-E3622C8225A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B6AB5E-AF22-3E10-576C-36F7DE2564B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DC7D491-D46C-3008-0E29-CF77181684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D453FB-9E75-A4A7-B974-E943F6559E8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E11E8C-C93F-7276-567B-4DFE98F45F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A4D985-31EC-4165-EF3A-7775CD2F6F13}"/>
              </a:ext>
            </a:extLst>
          </p:cNvPr>
          <p:cNvSpPr txBox="1">
            <a:spLocks/>
          </p:cNvSpPr>
          <p:nvPr/>
        </p:nvSpPr>
        <p:spPr>
          <a:xfrm>
            <a:off x="235945" y="741802"/>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OPA vs </a:t>
            </a:r>
            <a:r>
              <a:rPr lang="en-US" sz="2400" kern="0" spc="-80" dirty="0" err="1">
                <a:solidFill>
                  <a:schemeClr val="accent2"/>
                </a:solidFill>
              </a:rPr>
              <a:t>OpenFGA</a:t>
            </a:r>
            <a:endParaRPr lang="en-US" sz="2400" kern="0" spc="-80" dirty="0">
              <a:solidFill>
                <a:schemeClr val="accent2"/>
              </a:solidFill>
            </a:endParaRPr>
          </a:p>
          <a:p>
            <a:pPr marL="12700" marR="5080"/>
            <a:r>
              <a:rPr lang="en-US" sz="1400" kern="0" spc="-80" dirty="0" err="1">
                <a:solidFill>
                  <a:schemeClr val="accent2"/>
                </a:solidFill>
              </a:rPr>
              <a:t>OpenFGA</a:t>
            </a:r>
            <a:r>
              <a:rPr lang="en-US" sz="1400" kern="0" spc="-80" dirty="0">
                <a:solidFill>
                  <a:schemeClr val="accent2"/>
                </a:solidFill>
              </a:rPr>
              <a:t> (Google Zanzibar).</a:t>
            </a:r>
            <a:br>
              <a:rPr lang="en-US" sz="1400" kern="0" spc="-80" dirty="0">
                <a:solidFill>
                  <a:schemeClr val="accent6"/>
                </a:solidFill>
              </a:rPr>
            </a:br>
            <a:r>
              <a:rPr lang="en-US" sz="1400" kern="0" spc="-80" dirty="0">
                <a:solidFill>
                  <a:schemeClr val="accent2"/>
                </a:solidFill>
              </a:rPr>
              <a:t>Approach: </a:t>
            </a:r>
            <a:r>
              <a:rPr lang="en-US" sz="1400" kern="0" spc="-80" dirty="0">
                <a:solidFill>
                  <a:schemeClr val="accent6"/>
                </a:solidFill>
              </a:rPr>
              <a:t>Data-driven, focusing on Relationship-Based Access Control (ReBAC). Strengths:</a:t>
            </a:r>
            <a:br>
              <a:rPr lang="en-US" sz="1400" kern="0" spc="-80" dirty="0">
                <a:solidFill>
                  <a:schemeClr val="accent6"/>
                </a:solidFill>
              </a:rPr>
            </a:br>
            <a:r>
              <a:rPr lang="en-US" sz="1400" kern="0" spc="-80" dirty="0">
                <a:solidFill>
                  <a:schemeClr val="accent2"/>
                </a:solidFill>
              </a:rPr>
              <a:t>Native Relationship Modeling:</a:t>
            </a:r>
            <a:r>
              <a:rPr lang="en-US" sz="1400" kern="0" spc="-80" dirty="0">
                <a:solidFill>
                  <a:schemeClr val="accent6"/>
                </a:solidFill>
              </a:rPr>
              <a:t> Built-in support for complex relationships like hierarchies and containment.</a:t>
            </a:r>
            <a:br>
              <a:rPr lang="en-US" sz="1400" kern="0" spc="-80" dirty="0">
                <a:solidFill>
                  <a:schemeClr val="accent6"/>
                </a:solidFill>
              </a:rPr>
            </a:br>
            <a:r>
              <a:rPr lang="en-US" sz="1400" kern="0" spc="-80" dirty="0">
                <a:solidFill>
                  <a:schemeClr val="accent2"/>
                </a:solidFill>
              </a:rPr>
              <a:t>Reverse Queries:</a:t>
            </a:r>
            <a:r>
              <a:rPr lang="en-US" sz="1400" kern="0" spc="-80" dirty="0">
                <a:solidFill>
                  <a:schemeClr val="accent6"/>
                </a:solidFill>
              </a:rPr>
              <a:t> Easily answer questions like "who has access".</a:t>
            </a:r>
            <a:br>
              <a:rPr lang="en-US" sz="1400" kern="0" spc="-80" dirty="0">
                <a:solidFill>
                  <a:schemeClr val="accent6"/>
                </a:solidFill>
              </a:rPr>
            </a:br>
            <a:r>
              <a:rPr lang="en-US" sz="1400" kern="0" spc="-80" dirty="0">
                <a:solidFill>
                  <a:schemeClr val="accent2"/>
                </a:solidFill>
              </a:rPr>
              <a:t>Intuitive Model: </a:t>
            </a:r>
            <a:r>
              <a:rPr lang="en-US" sz="1400" kern="0" spc="-80" dirty="0">
                <a:solidFill>
                  <a:schemeClr val="accent6"/>
                </a:solidFill>
              </a:rPr>
              <a:t>Simpler for relationship-heavy collaborative applications.</a:t>
            </a:r>
            <a:br>
              <a:rPr lang="en-US" sz="1400" kern="0" spc="-80" dirty="0">
                <a:solidFill>
                  <a:schemeClr val="accent6"/>
                </a:solidFill>
              </a:rPr>
            </a:br>
            <a:r>
              <a:rPr lang="en-US" sz="1400" kern="0" spc="-80" dirty="0">
                <a:solidFill>
                  <a:schemeClr val="accent2"/>
                </a:solidFill>
              </a:rPr>
              <a:t>Best For:</a:t>
            </a:r>
            <a:r>
              <a:rPr lang="en-US" sz="1400" kern="0" spc="-80" dirty="0">
                <a:solidFill>
                  <a:schemeClr val="accent6"/>
                </a:solidFill>
              </a:rPr>
              <a:t> Systems that rely heavily on complex relationships between users and resources, such as collaborative platforms. Considerations: Less suitable for use cases focused on attributes (ABAC) or simple RBAC. The ecosystem is younger than OPA's. Key Differences.</a:t>
            </a:r>
            <a:br>
              <a:rPr lang="en-US" sz="1400" kern="0" spc="-80" dirty="0">
                <a:solidFill>
                  <a:schemeClr val="accent6"/>
                </a:solidFill>
              </a:rPr>
            </a:br>
            <a:r>
              <a:rPr lang="en-US" sz="1400" kern="0" spc="-80" dirty="0">
                <a:solidFill>
                  <a:schemeClr val="accent2"/>
                </a:solidFill>
              </a:rPr>
              <a:t>Focus:</a:t>
            </a:r>
            <a:r>
              <a:rPr lang="en-US" sz="1400" kern="0" spc="-80" dirty="0">
                <a:solidFill>
                  <a:schemeClr val="accent6"/>
                </a:solidFill>
              </a:rPr>
              <a:t> OPA is a policy engine for general authorization; </a:t>
            </a:r>
            <a:r>
              <a:rPr lang="en-US" sz="1400" kern="0" spc="-80" dirty="0" err="1">
                <a:solidFill>
                  <a:schemeClr val="accent6"/>
                </a:solidFill>
              </a:rPr>
              <a:t>OpenFGA</a:t>
            </a:r>
            <a:r>
              <a:rPr lang="en-US" sz="1400" kern="0" spc="-80" dirty="0">
                <a:solidFill>
                  <a:schemeClr val="accent6"/>
                </a:solidFill>
              </a:rPr>
              <a:t> is a specialized authorization platform for relationship modeling.</a:t>
            </a:r>
            <a:br>
              <a:rPr lang="en-US" sz="1400" kern="0" spc="-80" dirty="0">
                <a:solidFill>
                  <a:schemeClr val="accent6"/>
                </a:solidFill>
              </a:rPr>
            </a:br>
            <a:r>
              <a:rPr lang="en-US" sz="1400" kern="0" spc="-80" dirty="0">
                <a:solidFill>
                  <a:schemeClr val="accent2"/>
                </a:solidFill>
              </a:rPr>
              <a:t>Data Model:</a:t>
            </a:r>
            <a:r>
              <a:rPr lang="en-US" sz="1400" kern="0" spc="-80" dirty="0">
                <a:solidFill>
                  <a:schemeClr val="accent6"/>
                </a:solidFill>
              </a:rPr>
              <a:t> OPA is flexible, using input data with policies; </a:t>
            </a:r>
            <a:r>
              <a:rPr lang="en-US" sz="1400" kern="0" spc="-80" dirty="0" err="1">
                <a:solidFill>
                  <a:schemeClr val="accent6"/>
                </a:solidFill>
              </a:rPr>
              <a:t>OpenFGA</a:t>
            </a:r>
            <a:r>
              <a:rPr lang="en-US" sz="1400" kern="0" spc="-80" dirty="0">
                <a:solidFill>
                  <a:schemeClr val="accent6"/>
                </a:solidFill>
              </a:rPr>
              <a:t> uses a predefined data model designed for relationships.</a:t>
            </a:r>
            <a:br>
              <a:rPr lang="en-US" sz="1400" kern="0" spc="-80" dirty="0">
                <a:solidFill>
                  <a:schemeClr val="accent6"/>
                </a:solidFill>
              </a:rPr>
            </a:br>
            <a:r>
              <a:rPr lang="en-US" sz="1400" kern="0" spc="-80" dirty="0">
                <a:solidFill>
                  <a:schemeClr val="accent2"/>
                </a:solidFill>
              </a:rPr>
              <a:t>Use Case Suitability: </a:t>
            </a:r>
            <a:r>
              <a:rPr lang="en-US" sz="1400" kern="0" spc="-80" dirty="0">
                <a:solidFill>
                  <a:schemeClr val="accent6"/>
                </a:solidFill>
              </a:rPr>
              <a:t>OPA is better for context-aware, policy-driven decisions. </a:t>
            </a:r>
            <a:r>
              <a:rPr lang="en-US" sz="1400" kern="0" spc="-80" dirty="0" err="1">
                <a:solidFill>
                  <a:schemeClr val="accent6"/>
                </a:solidFill>
              </a:rPr>
              <a:t>OpenFGA</a:t>
            </a:r>
            <a:r>
              <a:rPr lang="en-US" sz="1400" kern="0" spc="-80" dirty="0">
                <a:solidFill>
                  <a:schemeClr val="accent6"/>
                </a:solidFill>
              </a:rPr>
              <a:t> is superior for complex, graph-like relationship data.</a:t>
            </a:r>
          </a:p>
          <a:p>
            <a:pPr marL="12700" marR="5080"/>
            <a:r>
              <a:rPr lang="en-US" sz="1400" kern="0" spc="-80" dirty="0">
                <a:solidFill>
                  <a:schemeClr val="accent2"/>
                </a:solidFill>
              </a:rPr>
              <a:t>For Further Exploration</a:t>
            </a:r>
          </a:p>
          <a:p>
            <a:pPr marL="12700" marR="5080"/>
            <a:r>
              <a:rPr lang="en-US" sz="1100" dirty="0">
                <a:hlinkClick r:id="rId7"/>
              </a:rPr>
              <a:t>RBAC, ABAC, and ReBAC - Differences and Scenarios</a:t>
            </a:r>
            <a:endParaRPr lang="en-US" sz="1100" kern="0" spc="-80" dirty="0">
              <a:solidFill>
                <a:schemeClr val="accent2"/>
              </a:solidFill>
            </a:endParaRPr>
          </a:p>
          <a:p>
            <a:pPr marL="12700" marR="5080"/>
            <a:r>
              <a:rPr lang="en-US" sz="1100" dirty="0">
                <a:hlinkClick r:id="rId8"/>
              </a:rPr>
              <a:t>Policy Language</a:t>
            </a:r>
            <a:endParaRPr lang="en-US" sz="1100" dirty="0"/>
          </a:p>
          <a:p>
            <a:pPr marL="12700" marR="5080"/>
            <a:r>
              <a:rPr lang="en-US" sz="1100" dirty="0">
                <a:hlinkClick r:id="rId9"/>
              </a:rPr>
              <a:t>OPA-</a:t>
            </a:r>
            <a:r>
              <a:rPr lang="en-US" sz="1100" dirty="0" err="1">
                <a:hlinkClick r:id="rId9"/>
              </a:rPr>
              <a:t>Csharp</a:t>
            </a:r>
            <a:endParaRPr lang="en-US" sz="1100" dirty="0"/>
          </a:p>
          <a:p>
            <a:pPr marL="12700" marR="5080"/>
            <a:r>
              <a:rPr lang="en-IN" sz="1100" dirty="0" err="1">
                <a:hlinkClick r:id="rId10"/>
              </a:rPr>
              <a:t>OpenFGA</a:t>
            </a:r>
            <a:r>
              <a:rPr lang="en-IN" sz="1100" dirty="0">
                <a:hlinkClick r:id="rId10"/>
              </a:rPr>
              <a:t> SDK for .NET</a:t>
            </a:r>
            <a:endParaRPr lang="en-US" sz="1100" dirty="0"/>
          </a:p>
          <a:p>
            <a:pPr marL="12700" marR="5080"/>
            <a:r>
              <a:rPr lang="en-US" sz="1100" dirty="0">
                <a:hlinkClick r:id="rId11"/>
              </a:rPr>
              <a:t>Bring your own OPA server | Solo.io documentation</a:t>
            </a:r>
            <a:endParaRPr lang="en-US" sz="1100" dirty="0"/>
          </a:p>
          <a:p>
            <a:pPr marL="12700" marR="5080"/>
            <a:r>
              <a:rPr lang="en-IN" sz="1100" dirty="0">
                <a:hlinkClick r:id="rId12"/>
              </a:rPr>
              <a:t>Dynamic Authorization - Phil Windley</a:t>
            </a:r>
            <a:endParaRPr lang="en-US" sz="1100" kern="0" spc="-80" dirty="0">
              <a:solidFill>
                <a:schemeClr val="accent2"/>
              </a:solidFill>
            </a:endParaRPr>
          </a:p>
        </p:txBody>
      </p:sp>
    </p:spTree>
    <p:extLst>
      <p:ext uri="{BB962C8B-B14F-4D97-AF65-F5344CB8AC3E}">
        <p14:creationId xmlns:p14="http://schemas.microsoft.com/office/powerpoint/2010/main" val="2956360593"/>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1895C-2A26-6D56-477C-F96C09FD1D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EF84C1-FBFF-604A-393C-647C0B64A5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F9A872-459A-DC5E-ED7F-65445831423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806F6A-5979-23B8-CB55-F1C991A6BE2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2FA086-D42A-8D1E-FD08-4A4960C62A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26AEABE-4142-4B6E-A724-E3EBCC121E6C}"/>
              </a:ext>
            </a:extLst>
          </p:cNvPr>
          <p:cNvSpPr txBox="1">
            <a:spLocks/>
          </p:cNvSpPr>
          <p:nvPr/>
        </p:nvSpPr>
        <p:spPr>
          <a:xfrm>
            <a:off x="235945" y="741802"/>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TOPAZ</a:t>
            </a:r>
          </a:p>
          <a:p>
            <a:r>
              <a:rPr lang="en-US" sz="1200" kern="0" spc="-80" dirty="0">
                <a:solidFill>
                  <a:schemeClr val="accent6"/>
                </a:solidFill>
              </a:rPr>
              <a:t>Topaz implements a hybrid authorization approach that combines elements of both Open Policy Agent (OPA) and the Google Zanzibar data model, which </a:t>
            </a:r>
            <a:r>
              <a:rPr lang="en-US" sz="1200" kern="0" spc="-80" dirty="0" err="1">
                <a:solidFill>
                  <a:schemeClr val="accent6"/>
                </a:solidFill>
              </a:rPr>
              <a:t>OpenFGA</a:t>
            </a:r>
            <a:r>
              <a:rPr lang="en-US" sz="1200" kern="0" spc="-80" dirty="0">
                <a:solidFill>
                  <a:schemeClr val="accent6"/>
                </a:solidFill>
              </a:rPr>
              <a:t> is also based on.</a:t>
            </a:r>
          </a:p>
          <a:p>
            <a:r>
              <a:rPr lang="en-US" sz="1200" kern="0" spc="-80" dirty="0">
                <a:solidFill>
                  <a:schemeClr val="accent6"/>
                </a:solidFill>
              </a:rPr>
              <a:t>OPA Integration:</a:t>
            </a:r>
            <a:br>
              <a:rPr lang="en-US" sz="1200" kern="0" spc="-80" dirty="0">
                <a:solidFill>
                  <a:schemeClr val="accent6"/>
                </a:solidFill>
              </a:rPr>
            </a:br>
            <a:r>
              <a:rPr lang="en-US" sz="1200" kern="0" spc="-80" dirty="0">
                <a:solidFill>
                  <a:schemeClr val="accent6"/>
                </a:solidFill>
              </a:rPr>
              <a:t>Topaz uses the OPA decision engine as an embedded library. This means it leverages OPA's core capabilities for policy evaluation, including full support for the Rego policy language.</a:t>
            </a:r>
            <a:br>
              <a:rPr lang="en-US" sz="1200" kern="0" spc="-80" dirty="0">
                <a:solidFill>
                  <a:schemeClr val="accent6"/>
                </a:solidFill>
              </a:rPr>
            </a:br>
            <a:r>
              <a:rPr lang="en-US" sz="1200" kern="0" spc="-80" dirty="0">
                <a:solidFill>
                  <a:schemeClr val="accent6"/>
                </a:solidFill>
              </a:rPr>
              <a:t>This allows Topaz to handle Attribute-Based Access Control (ABAC) scenarios and other policy-driven authorization logic defined in Rego.</a:t>
            </a:r>
            <a:br>
              <a:rPr lang="en-US" sz="1200" kern="0" spc="-80" dirty="0">
                <a:solidFill>
                  <a:schemeClr val="accent6"/>
                </a:solidFill>
              </a:rPr>
            </a:br>
            <a:r>
              <a:rPr lang="en-US" sz="1200" kern="0" spc="-80" dirty="0">
                <a:solidFill>
                  <a:schemeClr val="accent6"/>
                </a:solidFill>
              </a:rPr>
              <a:t>Topaz also benefits from OPA's standard query protocol, policy language, and decision log format.</a:t>
            </a:r>
          </a:p>
          <a:p>
            <a:r>
              <a:rPr lang="en-US" sz="1200" kern="0" spc="-80" dirty="0">
                <a:solidFill>
                  <a:schemeClr val="accent6"/>
                </a:solidFill>
              </a:rPr>
              <a:t>Zanzibar-Style Data Store (similar to </a:t>
            </a:r>
            <a:r>
              <a:rPr lang="en-US" sz="1200" kern="0" spc="-80" dirty="0" err="1">
                <a:solidFill>
                  <a:schemeClr val="accent6"/>
                </a:solidFill>
              </a:rPr>
              <a:t>OpenFGA</a:t>
            </a:r>
            <a:r>
              <a:rPr lang="en-US" sz="1200" kern="0" spc="-80" dirty="0">
                <a:solidFill>
                  <a:schemeClr val="accent6"/>
                </a:solidFill>
              </a:rPr>
              <a:t>):</a:t>
            </a:r>
            <a:br>
              <a:rPr lang="en-US" sz="1200" kern="0" spc="-80" dirty="0">
                <a:solidFill>
                  <a:schemeClr val="accent6"/>
                </a:solidFill>
              </a:rPr>
            </a:br>
            <a:r>
              <a:rPr lang="en-US" sz="1200" kern="0" spc="-80" dirty="0">
                <a:solidFill>
                  <a:schemeClr val="accent6"/>
                </a:solidFill>
              </a:rPr>
              <a:t>Topaz includes an embedded database that implements a Zanzibar-style directory. This directory stores subjects, relationships, and objects in a graph-like structure. This enables Topaz to handle Relationship-Based Access Control (ReBAC), where authorization decisions are based on the relationships between users, resources, and other entities.</a:t>
            </a:r>
            <a:br>
              <a:rPr lang="en-US" sz="1200" kern="0" spc="-80" dirty="0">
                <a:solidFill>
                  <a:schemeClr val="accent6"/>
                </a:solidFill>
              </a:rPr>
            </a:br>
            <a:r>
              <a:rPr lang="en-US" sz="1200" kern="0" spc="-80" dirty="0">
                <a:solidFill>
                  <a:schemeClr val="accent6"/>
                </a:solidFill>
              </a:rPr>
              <a:t>Topaz provides built-in functions, such as </a:t>
            </a:r>
            <a:r>
              <a:rPr lang="en-US" sz="1200" kern="0" spc="-80" dirty="0" err="1">
                <a:solidFill>
                  <a:schemeClr val="accent6"/>
                </a:solidFill>
              </a:rPr>
              <a:t>check_permission</a:t>
            </a:r>
            <a:r>
              <a:rPr lang="en-US" sz="1200" kern="0" spc="-80" dirty="0">
                <a:solidFill>
                  <a:schemeClr val="accent6"/>
                </a:solidFill>
              </a:rPr>
              <a:t> and </a:t>
            </a:r>
            <a:r>
              <a:rPr lang="en-US" sz="1200" kern="0" spc="-80" dirty="0" err="1">
                <a:solidFill>
                  <a:schemeClr val="accent6"/>
                </a:solidFill>
              </a:rPr>
              <a:t>check_relation</a:t>
            </a:r>
            <a:r>
              <a:rPr lang="en-US" sz="1200" kern="0" spc="-80" dirty="0">
                <a:solidFill>
                  <a:schemeClr val="accent6"/>
                </a:solidFill>
              </a:rPr>
              <a:t>, that facilitate graph traversal over this Zanzibar-style store, similar to how </a:t>
            </a:r>
            <a:r>
              <a:rPr lang="en-US" sz="1200" kern="0" spc="-80" dirty="0" err="1">
                <a:solidFill>
                  <a:schemeClr val="accent6"/>
                </a:solidFill>
              </a:rPr>
              <a:t>OpenFGA</a:t>
            </a:r>
            <a:r>
              <a:rPr lang="en-US" sz="1200" kern="0" spc="-80" dirty="0">
                <a:solidFill>
                  <a:schemeClr val="accent6"/>
                </a:solidFill>
              </a:rPr>
              <a:t> operates.</a:t>
            </a:r>
            <a:br>
              <a:rPr lang="en-US" sz="1200" kern="0" spc="-80" dirty="0">
                <a:solidFill>
                  <a:schemeClr val="accent6"/>
                </a:solidFill>
              </a:rPr>
            </a:br>
            <a:r>
              <a:rPr lang="en-US" sz="1200" kern="0" spc="-80" dirty="0">
                <a:solidFill>
                  <a:schemeClr val="accent2"/>
                </a:solidFill>
              </a:rPr>
              <a:t>In essence, Topaz provides:</a:t>
            </a:r>
            <a:br>
              <a:rPr lang="en-US" sz="1200" kern="0" spc="-80" dirty="0">
                <a:solidFill>
                  <a:schemeClr val="accent6"/>
                </a:solidFill>
              </a:rPr>
            </a:br>
            <a:r>
              <a:rPr lang="en-US" sz="1200" kern="0" spc="-80" dirty="0">
                <a:solidFill>
                  <a:schemeClr val="accent2"/>
                </a:solidFill>
              </a:rPr>
              <a:t>Policy-as-code capabilities:</a:t>
            </a:r>
            <a:r>
              <a:rPr lang="en-US" sz="1200" kern="0" spc="-80" dirty="0">
                <a:solidFill>
                  <a:schemeClr val="accent6"/>
                </a:solidFill>
              </a:rPr>
              <a:t> through its OPA integration and Rego policies.</a:t>
            </a:r>
            <a:br>
              <a:rPr lang="en-US" sz="1200" kern="0" spc="-80" dirty="0">
                <a:solidFill>
                  <a:schemeClr val="accent6"/>
                </a:solidFill>
              </a:rPr>
            </a:br>
            <a:r>
              <a:rPr lang="en-US" sz="1200" kern="0" spc="-80" dirty="0">
                <a:solidFill>
                  <a:schemeClr val="accent2"/>
                </a:solidFill>
              </a:rPr>
              <a:t>Policy-as-data capabilities:</a:t>
            </a:r>
            <a:r>
              <a:rPr lang="en-US" sz="1200" kern="0" spc="-80" dirty="0">
                <a:solidFill>
                  <a:schemeClr val="accent6"/>
                </a:solidFill>
              </a:rPr>
              <a:t> through its Zanzibar-style relationship store, allowing for fine-grained, relationship-based authorization.</a:t>
            </a:r>
            <a:br>
              <a:rPr lang="en-US" sz="1200" kern="0" spc="-80" dirty="0">
                <a:solidFill>
                  <a:schemeClr val="accent6"/>
                </a:solidFill>
              </a:rPr>
            </a:br>
            <a:r>
              <a:rPr lang="en-US" sz="1200" kern="0" spc="-80" dirty="0">
                <a:solidFill>
                  <a:schemeClr val="accent6"/>
                </a:solidFill>
              </a:rPr>
              <a:t>This combination allows Topaz to address a broad range of authorization use cases, including RBAC, ABAC, and ReBAC, within a single, self-contained solution.</a:t>
            </a:r>
          </a:p>
          <a:p>
            <a:pPr marL="12700" marR="5080"/>
            <a:r>
              <a:rPr lang="en-US" sz="1200" kern="0" spc="-80" dirty="0">
                <a:solidFill>
                  <a:schemeClr val="accent2"/>
                </a:solidFill>
              </a:rPr>
              <a:t>For Further Exploration</a:t>
            </a:r>
          </a:p>
          <a:p>
            <a:pPr marL="12700" marR="5080"/>
            <a:r>
              <a:rPr lang="en-US" sz="1200" dirty="0">
                <a:hlinkClick r:id="rId7"/>
              </a:rPr>
              <a:t>Unlocking fine-grained authorization with Topaz authorizer</a:t>
            </a:r>
            <a:endParaRPr lang="en-US" sz="1200" dirty="0"/>
          </a:p>
          <a:p>
            <a:pPr marL="12700" marR="5080"/>
            <a:r>
              <a:rPr lang="en-US" sz="1200" dirty="0">
                <a:hlinkClick r:id="rId8"/>
              </a:rPr>
              <a:t>Topaz: Cloud-native authorization for modern applications and APIs</a:t>
            </a:r>
            <a:endParaRPr lang="en-US" sz="1200" dirty="0"/>
          </a:p>
          <a:p>
            <a:pPr marL="12700" marR="5080"/>
            <a:r>
              <a:rPr lang="en-IN" sz="1200" dirty="0" err="1">
                <a:hlinkClick r:id="rId9"/>
              </a:rPr>
              <a:t>aserto</a:t>
            </a:r>
            <a:r>
              <a:rPr lang="en-IN" sz="1200" dirty="0">
                <a:hlinkClick r:id="rId9"/>
              </a:rPr>
              <a:t>-dev/</a:t>
            </a:r>
            <a:r>
              <a:rPr lang="en-IN" sz="1200" dirty="0" err="1">
                <a:hlinkClick r:id="rId9"/>
              </a:rPr>
              <a:t>aserto</a:t>
            </a:r>
            <a:r>
              <a:rPr lang="en-IN" sz="1200" dirty="0">
                <a:hlinkClick r:id="rId9"/>
              </a:rPr>
              <a:t>-dotnet: </a:t>
            </a:r>
            <a:r>
              <a:rPr lang="en-IN" sz="1200" dirty="0" err="1">
                <a:hlinkClick r:id="rId9"/>
              </a:rPr>
              <a:t>Aserto</a:t>
            </a:r>
            <a:r>
              <a:rPr lang="en-IN" sz="1200" dirty="0">
                <a:hlinkClick r:id="rId9"/>
              </a:rPr>
              <a:t> dotnet SDK</a:t>
            </a:r>
            <a:endParaRPr lang="en-US" sz="1200" kern="0" spc="-80" dirty="0">
              <a:solidFill>
                <a:schemeClr val="accent6"/>
              </a:solidFill>
            </a:endParaRPr>
          </a:p>
        </p:txBody>
      </p:sp>
    </p:spTree>
    <p:extLst>
      <p:ext uri="{BB962C8B-B14F-4D97-AF65-F5344CB8AC3E}">
        <p14:creationId xmlns:p14="http://schemas.microsoft.com/office/powerpoint/2010/main" val="2706666226"/>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75492" y="451692"/>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1100" kern="0" spc="-80" dirty="0">
                <a:solidFill>
                  <a:schemeClr val="accent2"/>
                </a:solidFill>
              </a:rPr>
              <a:t>  For Further Exploration – </a:t>
            </a:r>
          </a:p>
          <a:p>
            <a:pPr marL="12700" marR="5080"/>
            <a:r>
              <a:rPr lang="en-US" sz="1180" dirty="0">
                <a:hlinkClick r:id="rId8"/>
              </a:rPr>
              <a:t>The Nuts and Bolts of OAuth 2.0 | Udemy</a:t>
            </a:r>
            <a:r>
              <a:rPr lang="en-US" sz="1180" kern="0" spc="-80" dirty="0">
                <a:solidFill>
                  <a:schemeClr val="accent2"/>
                </a:solidFill>
              </a:rPr>
              <a:t> </a:t>
            </a:r>
          </a:p>
          <a:p>
            <a:pPr marL="12700" marR="5080"/>
            <a:r>
              <a:rPr lang="en-US" sz="1180" dirty="0">
                <a:hlinkClick r:id="rId9"/>
              </a:rPr>
              <a:t>Oauth2, scopes and user roles - Stack Overflow</a:t>
            </a:r>
            <a:r>
              <a:rPr lang="en-US" sz="1180" kern="0" spc="-80" dirty="0">
                <a:solidFill>
                  <a:schemeClr val="accent2"/>
                </a:solidFill>
              </a:rPr>
              <a:t> (Think in terms of User Roles, User Scopes &amp; API scopes mappings)</a:t>
            </a:r>
          </a:p>
          <a:p>
            <a:pPr marL="12700" marR="5080"/>
            <a:r>
              <a:rPr lang="en-US" sz="1180" dirty="0">
                <a:hlinkClick r:id="rId10"/>
              </a:rPr>
              <a:t>EP120: What do version numbers mean?</a:t>
            </a:r>
            <a:r>
              <a:rPr lang="en-US" sz="1180" kern="0" spc="-80" dirty="0">
                <a:solidFill>
                  <a:schemeClr val="accent2"/>
                </a:solidFill>
              </a:rPr>
              <a:t> </a:t>
            </a:r>
          </a:p>
          <a:p>
            <a:pPr marL="12700" marR="5080"/>
            <a:r>
              <a:rPr lang="en-US" sz="1180" dirty="0">
                <a:hlinkClick r:id="rId11"/>
              </a:rPr>
              <a:t>Creating your own Global Identity Provider — Part I | by Danny García Hernández | Medium</a:t>
            </a:r>
            <a:endParaRPr lang="en-US" sz="1180" dirty="0"/>
          </a:p>
          <a:p>
            <a:pPr marL="12700" marR="5080"/>
            <a:r>
              <a:rPr lang="en-US" sz="1180" dirty="0">
                <a:hlinkClick r:id="rId12"/>
              </a:rPr>
              <a:t>Implement authorization by grant type | Okta Developer</a:t>
            </a:r>
            <a:endParaRPr lang="en-US" sz="1180" dirty="0"/>
          </a:p>
          <a:p>
            <a:pPr marL="12700" marR="5080"/>
            <a:r>
              <a:rPr lang="en-US" sz="1180" dirty="0">
                <a:hlinkClick r:id="rId13"/>
              </a:rPr>
              <a:t>Impersonation Approaches with OAuth and OpenID Connect | </a:t>
            </a:r>
            <a:r>
              <a:rPr lang="en-US" sz="1180" dirty="0" err="1">
                <a:hlinkClick r:id="rId13"/>
              </a:rPr>
              <a:t>Curity</a:t>
            </a:r>
            <a:endParaRPr lang="en-US" sz="1180" dirty="0"/>
          </a:p>
          <a:p>
            <a:pPr marL="12700" marR="5080"/>
            <a:r>
              <a:rPr lang="en-US" sz="1180" dirty="0">
                <a:hlinkClick r:id="rId14"/>
              </a:rPr>
              <a:t>Software Design Challenge: How to implement Impersonation with AUTH0 - </a:t>
            </a:r>
            <a:r>
              <a:rPr lang="en-US" sz="1180" dirty="0" err="1">
                <a:hlinkClick r:id="rId14"/>
              </a:rPr>
              <a:t>Leverture</a:t>
            </a:r>
            <a:endParaRPr lang="en-US" sz="1180" dirty="0"/>
          </a:p>
          <a:p>
            <a:pPr marL="12700" marR="5080"/>
            <a:r>
              <a:rPr lang="en-US" sz="1180" dirty="0">
                <a:hlinkClick r:id="rId15"/>
              </a:rPr>
              <a:t>Complete-List-Oauth-Grants</a:t>
            </a:r>
            <a:endParaRPr lang="en-US" sz="1180" dirty="0"/>
          </a:p>
          <a:p>
            <a:pPr marL="12700" marR="5080"/>
            <a:r>
              <a:rPr lang="en-US" sz="1180" dirty="0">
                <a:hlinkClick r:id="rId16"/>
              </a:rPr>
              <a:t>Free Security </a:t>
            </a:r>
            <a:r>
              <a:rPr lang="en-US" sz="1180" dirty="0" err="1">
                <a:hlinkClick r:id="rId16"/>
              </a:rPr>
              <a:t>EBooks</a:t>
            </a:r>
            <a:r>
              <a:rPr lang="en-US" sz="1180" dirty="0">
                <a:hlinkClick r:id="rId16"/>
              </a:rPr>
              <a:t> | </a:t>
            </a:r>
            <a:r>
              <a:rPr lang="en-US" sz="1180" dirty="0" err="1">
                <a:hlinkClick r:id="rId16"/>
              </a:rPr>
              <a:t>Syncfusion</a:t>
            </a:r>
            <a:endParaRPr lang="en-US" sz="1180" dirty="0"/>
          </a:p>
          <a:p>
            <a:pPr marL="12700" marR="5080"/>
            <a:r>
              <a:rPr lang="en-IN" sz="1180" dirty="0">
                <a:hlinkClick r:id="rId17"/>
              </a:rPr>
              <a:t>Authorization Methods | Ping Identity</a:t>
            </a:r>
            <a:endParaRPr lang="en-IN" sz="1180" dirty="0"/>
          </a:p>
          <a:p>
            <a:pPr marL="12700" marR="5080"/>
            <a:r>
              <a:rPr lang="en-IN" sz="1180" dirty="0">
                <a:hlinkClick r:id="rId18"/>
              </a:rPr>
              <a:t>Microservices Security in Action</a:t>
            </a:r>
            <a:endParaRPr lang="en-IN" sz="1180" dirty="0"/>
          </a:p>
          <a:p>
            <a:pPr marL="12700" marR="5080"/>
            <a:r>
              <a:rPr lang="en-US" sz="1180" dirty="0">
                <a:hlinkClick r:id="rId19"/>
              </a:rPr>
              <a:t>Advanced API Security: OAuth 2.0 and Beyond | SpringerLink</a:t>
            </a:r>
            <a:endParaRPr lang="en-US" sz="1180" dirty="0"/>
          </a:p>
          <a:p>
            <a:pPr marL="12700" marR="5080"/>
            <a:r>
              <a:rPr lang="en-US" sz="1180" dirty="0">
                <a:hlinkClick r:id="rId20"/>
              </a:rPr>
              <a:t>OAuth Patterns and Anti-Patterns - </a:t>
            </a:r>
            <a:r>
              <a:rPr lang="en-US" sz="1180" dirty="0" err="1">
                <a:hlinkClick r:id="rId20"/>
              </a:rPr>
              <a:t>DZone</a:t>
            </a:r>
            <a:r>
              <a:rPr lang="en-US" sz="1180" dirty="0">
                <a:hlinkClick r:id="rId20"/>
              </a:rPr>
              <a:t> </a:t>
            </a:r>
            <a:r>
              <a:rPr lang="en-US" sz="1180" dirty="0" err="1">
                <a:hlinkClick r:id="rId20"/>
              </a:rPr>
              <a:t>Refcardz</a:t>
            </a:r>
            <a:endParaRPr lang="en-US" sz="1180" dirty="0"/>
          </a:p>
          <a:p>
            <a:pPr marL="12700" marR="5080"/>
            <a:r>
              <a:rPr lang="en-US" sz="1180" dirty="0">
                <a:hlinkClick r:id="rId21"/>
              </a:rPr>
              <a:t>A SAML Whitepaper: How to Study and Learn SAML</a:t>
            </a:r>
            <a:endParaRPr lang="en-US" sz="1180" dirty="0"/>
          </a:p>
          <a:p>
            <a:pPr marL="12700" marR="5080"/>
            <a:r>
              <a:rPr lang="en-US" sz="1180" dirty="0">
                <a:hlinkClick r:id="rId22"/>
              </a:rPr>
              <a:t>Data Masking vs. Data Encryption: How Do They Differ?</a:t>
            </a:r>
            <a:endParaRPr lang="en-US" sz="1180" dirty="0"/>
          </a:p>
          <a:p>
            <a:pPr marL="12700" marR="5080"/>
            <a:r>
              <a:rPr lang="en-US" sz="1180" dirty="0">
                <a:hlinkClick r:id="rId23"/>
              </a:rPr>
              <a:t>Data Masking vs Tokenization | Understand the Difference</a:t>
            </a:r>
            <a:endParaRPr lang="en-US" sz="1180" dirty="0"/>
          </a:p>
          <a:p>
            <a:pPr marL="12700" marR="5080"/>
            <a:r>
              <a:rPr lang="en-US" sz="1180" dirty="0">
                <a:hlinkClick r:id="rId24"/>
              </a:rPr>
              <a:t>Data Masking: 8 Techniques and How to Implement Them Successfully - Satori</a:t>
            </a:r>
            <a:endParaRPr lang="en-US" sz="1180" dirty="0"/>
          </a:p>
          <a:p>
            <a:pPr marL="12700" marR="5080"/>
            <a:r>
              <a:rPr lang="en-US" sz="1180" dirty="0" err="1">
                <a:hlinkClick r:id="rId25"/>
              </a:rPr>
              <a:t>Keycloak.ASPNet.Angular</a:t>
            </a:r>
            <a:r>
              <a:rPr lang="en-US" sz="1180" dirty="0">
                <a:hlinkClick r:id="rId25"/>
              </a:rPr>
              <a:t>: How to: ASP.NET Core with OAuth2 (</a:t>
            </a:r>
            <a:r>
              <a:rPr lang="en-US" sz="1180" dirty="0" err="1">
                <a:hlinkClick r:id="rId25"/>
              </a:rPr>
              <a:t>Keycloak</a:t>
            </a:r>
            <a:r>
              <a:rPr lang="en-US" sz="1180" dirty="0">
                <a:hlinkClick r:id="rId25"/>
              </a:rPr>
              <a:t>) and Angular</a:t>
            </a:r>
            <a:endParaRPr lang="en-US" sz="1180" dirty="0"/>
          </a:p>
          <a:p>
            <a:pPr marL="12700" marR="5080"/>
            <a:r>
              <a:rPr lang="en-US" sz="1180" dirty="0">
                <a:hlinkClick r:id="rId26"/>
              </a:rPr>
              <a:t>Implementing Multifactor Authentication | Security | Print</a:t>
            </a:r>
            <a:endParaRPr lang="en-US" sz="1180" dirty="0"/>
          </a:p>
          <a:p>
            <a:pPr marL="12700" marR="5080"/>
            <a:r>
              <a:rPr lang="en-US" sz="1180" dirty="0">
                <a:hlinkClick r:id="rId27"/>
              </a:rPr>
              <a:t>Identity Management with Biometrics | Security | Print</a:t>
            </a:r>
            <a:endParaRPr lang="en-US" sz="1180" dirty="0"/>
          </a:p>
          <a:p>
            <a:pPr marL="12700" marR="5080"/>
            <a:r>
              <a:rPr lang="en-US" sz="1180" dirty="0">
                <a:hlinkClick r:id="rId28"/>
              </a:rPr>
              <a:t>Difference between PII, PHI, and PCI – </a:t>
            </a:r>
            <a:r>
              <a:rPr lang="en-US" sz="1180" dirty="0" err="1">
                <a:hlinkClick r:id="rId28"/>
              </a:rPr>
              <a:t>Sprinto</a:t>
            </a:r>
            <a:endParaRPr lang="en-US" sz="1180" dirty="0"/>
          </a:p>
          <a:p>
            <a:pPr marL="12700" marR="5080"/>
            <a:r>
              <a:rPr lang="en-US" sz="1180" dirty="0">
                <a:hlinkClick r:id="rId29"/>
              </a:rPr>
              <a:t>A Guide to Types of Sensitive Information | </a:t>
            </a:r>
            <a:r>
              <a:rPr lang="en-US" sz="1180" dirty="0" err="1">
                <a:hlinkClick r:id="rId29"/>
              </a:rPr>
              <a:t>BigID</a:t>
            </a:r>
            <a:endParaRPr lang="en-US" sz="1180" dirty="0"/>
          </a:p>
          <a:p>
            <a:pPr marL="12700" marR="5080"/>
            <a:r>
              <a:rPr lang="en-US" sz="1180" dirty="0">
                <a:hlinkClick r:id="rId30"/>
              </a:rPr>
              <a:t>What is the difference between JOSE, JWA, JWE, JWK, JWS and JWT? - Stack Overflow</a:t>
            </a:r>
            <a:endParaRPr lang="en-US" sz="1180" dirty="0"/>
          </a:p>
          <a:p>
            <a:pPr marL="12700" marR="5080"/>
            <a:r>
              <a:rPr lang="en-IN" sz="1180" dirty="0">
                <a:hlinkClick r:id="rId31"/>
              </a:rPr>
              <a:t>Jose-</a:t>
            </a:r>
            <a:r>
              <a:rPr lang="en-IN" sz="1180" dirty="0" err="1">
                <a:hlinkClick r:id="rId31"/>
              </a:rPr>
              <a:t>Jwt</a:t>
            </a:r>
            <a:endParaRPr lang="en-IN" sz="1180" dirty="0"/>
          </a:p>
          <a:p>
            <a:pPr marL="12700" marR="5080"/>
            <a:r>
              <a:rPr lang="en-IN" sz="1180" dirty="0">
                <a:hlinkClick r:id="rId32"/>
              </a:rPr>
              <a:t>PCI DSS - Azure Compliance | Microsoft Learn</a:t>
            </a:r>
            <a:endParaRPr lang="en-IN" sz="1180" dirty="0"/>
          </a:p>
          <a:p>
            <a:pPr marL="12700" marR="5080"/>
            <a:r>
              <a:rPr lang="en-IN" sz="1180" dirty="0">
                <a:hlinkClick r:id="rId33"/>
              </a:rPr>
              <a:t>PCI 3D Secure (PCI 3DS) | </a:t>
            </a:r>
            <a:r>
              <a:rPr lang="en-IN" sz="1180" dirty="0" err="1">
                <a:hlinkClick r:id="rId33"/>
              </a:rPr>
              <a:t>CompliancePoint</a:t>
            </a:r>
            <a:endParaRPr lang="en-IN" sz="1180" dirty="0"/>
          </a:p>
          <a:p>
            <a:pPr marL="12700" marR="5080"/>
            <a:r>
              <a:rPr lang="en-US" sz="1180" dirty="0">
                <a:hlinkClick r:id="rId34"/>
              </a:rPr>
              <a:t>Architecture of an AKS regulated cluster for PCI-DSS 3.2.1 - Azure Architecture Center | Microsoft Learn</a:t>
            </a:r>
            <a:r>
              <a:rPr lang="en-US" sz="1180" kern="0" spc="-80" dirty="0">
                <a:solidFill>
                  <a:schemeClr val="accent2"/>
                </a:solidFill>
              </a:rPr>
              <a:t>   </a:t>
            </a:r>
          </a:p>
        </p:txBody>
      </p:sp>
    </p:spTree>
    <p:extLst>
      <p:ext uri="{BB962C8B-B14F-4D97-AF65-F5344CB8AC3E}">
        <p14:creationId xmlns:p14="http://schemas.microsoft.com/office/powerpoint/2010/main" val="3181104012"/>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DE467-D705-6F43-BD75-5D640F27694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9E37E27-E85A-E309-A5AB-AA925AD1AA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298397D-A216-2532-3B46-EA09BA7BDD1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D4D909-17FC-CC91-75FE-71A77428230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6094F5-4FB2-3DE7-31F5-C76E04CF64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3D60DB0-5663-BB8F-F774-4D1B75B932F2}"/>
              </a:ext>
            </a:extLst>
          </p:cNvPr>
          <p:cNvSpPr txBox="1">
            <a:spLocks/>
          </p:cNvSpPr>
          <p:nvPr/>
        </p:nvSpPr>
        <p:spPr>
          <a:xfrm>
            <a:off x="259531" y="4572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1100" kern="0" spc="-80" dirty="0">
                <a:solidFill>
                  <a:schemeClr val="accent2"/>
                </a:solidFill>
              </a:rPr>
              <a:t>For Further Exploration –</a:t>
            </a:r>
          </a:p>
          <a:p>
            <a:pPr marL="12700" marR="5080"/>
            <a:r>
              <a:rPr lang="en-IN" sz="1200" dirty="0">
                <a:hlinkClick r:id="rId8"/>
              </a:rPr>
              <a:t>Microsoft identity platform and OAuth 2.0 Resource Owner </a:t>
            </a:r>
            <a:r>
              <a:rPr lang="en-IN" sz="1200">
                <a:hlinkClick r:id="rId8"/>
              </a:rPr>
              <a:t>Password Credentials</a:t>
            </a:r>
            <a:endParaRPr lang="en-IN" sz="1200" dirty="0"/>
          </a:p>
          <a:p>
            <a:pPr marL="12700" marR="5080"/>
            <a:r>
              <a:rPr lang="en-US" sz="1200" dirty="0">
                <a:hlinkClick r:id="rId9"/>
              </a:rPr>
              <a:t>Azure AD vs Azure AD B2C vs Azure AD B2B - Stack Overflow</a:t>
            </a:r>
            <a:endParaRPr lang="en-US" sz="1200" dirty="0"/>
          </a:p>
          <a:p>
            <a:pPr marL="12700" marR="5080"/>
            <a:r>
              <a:rPr lang="en-IN" sz="1200" dirty="0">
                <a:hlinkClick r:id="rId10"/>
              </a:rPr>
              <a:t>Microsoft identity platform overview - Microsoft identity platform | Microsoft Learn</a:t>
            </a:r>
            <a:r>
              <a:rPr lang="en-US" sz="1200" kern="0" spc="-80" dirty="0">
                <a:solidFill>
                  <a:schemeClr val="accent2"/>
                </a:solidFill>
              </a:rPr>
              <a:t> </a:t>
            </a:r>
          </a:p>
          <a:p>
            <a:pPr marL="12700" marR="5080"/>
            <a:r>
              <a:rPr lang="en-IN" sz="1200" dirty="0">
                <a:hlinkClick r:id="rId11"/>
              </a:rPr>
              <a:t>Microsoft Security Development Lifecycle</a:t>
            </a:r>
            <a:r>
              <a:rPr lang="en-US" sz="1200" kern="0" spc="-80" dirty="0">
                <a:solidFill>
                  <a:schemeClr val="accent2"/>
                </a:solidFill>
              </a:rPr>
              <a:t> </a:t>
            </a:r>
          </a:p>
          <a:p>
            <a:pPr marL="12700" marR="5080"/>
            <a:r>
              <a:rPr lang="en-US" sz="1200" dirty="0">
                <a:hlinkClick r:id="rId12"/>
              </a:rPr>
              <a:t>New name for Azure Active Directory - Microsoft Entra | Microsoft Learn</a:t>
            </a:r>
            <a:endParaRPr lang="en-US" sz="1200" dirty="0"/>
          </a:p>
          <a:p>
            <a:pPr marL="12700" marR="5080"/>
            <a:r>
              <a:rPr lang="en-US" sz="1200" dirty="0">
                <a:hlinkClick r:id="rId13"/>
              </a:rPr>
              <a:t>Apps &amp; service principals in Microsoft Entra ID - Microsoft identity platform | Microsoft Learn</a:t>
            </a:r>
            <a:r>
              <a:rPr lang="en-US" sz="1200" kern="0" spc="-80" dirty="0">
                <a:solidFill>
                  <a:schemeClr val="accent2"/>
                </a:solidFill>
              </a:rPr>
              <a:t> </a:t>
            </a:r>
          </a:p>
          <a:p>
            <a:pPr marL="12700" marR="5080"/>
            <a:r>
              <a:rPr lang="en-US" sz="1200" dirty="0">
                <a:hlinkClick r:id="rId14"/>
              </a:rPr>
              <a:t>What's the Difference Between Azure Service Principal vs. Managed Identity? | </a:t>
            </a:r>
            <a:r>
              <a:rPr lang="en-US" sz="1200" dirty="0" err="1">
                <a:hlinkClick r:id="rId14"/>
              </a:rPr>
              <a:t>Atmosera</a:t>
            </a:r>
            <a:endParaRPr lang="en-US" sz="1200" dirty="0"/>
          </a:p>
          <a:p>
            <a:pPr marL="12700" marR="5080"/>
            <a:r>
              <a:rPr lang="en-US" sz="1200" dirty="0">
                <a:hlinkClick r:id="rId15"/>
              </a:rPr>
              <a:t>Creating Azure Service Principals or Managed Identities &amp; Granting them Access | by Cherie | Medium</a:t>
            </a:r>
            <a:endParaRPr lang="en-US" sz="1200" dirty="0"/>
          </a:p>
          <a:p>
            <a:pPr marL="12700" marR="5080"/>
            <a:r>
              <a:rPr lang="en-US" sz="1200" dirty="0">
                <a:hlinkClick r:id="rId16"/>
              </a:rPr>
              <a:t>Service to Service Auth with Azure AD, MSI &amp; OAuth 2.0 (Step by Step) | by Danny Shemesh | Medium</a:t>
            </a:r>
            <a:endParaRPr lang="en-US" sz="1200" dirty="0"/>
          </a:p>
          <a:p>
            <a:pPr marL="12700" marR="5080"/>
            <a:r>
              <a:rPr lang="en-US" sz="1200" dirty="0">
                <a:hlinkClick r:id="rId17"/>
              </a:rPr>
              <a:t>Configure an app's publisher domain - Microsoft identity platform | Microsoft Learn</a:t>
            </a:r>
            <a:r>
              <a:rPr lang="en-US" sz="1200" kern="0" spc="-80" dirty="0">
                <a:solidFill>
                  <a:schemeClr val="accent2"/>
                </a:solidFill>
              </a:rPr>
              <a:t> </a:t>
            </a:r>
          </a:p>
          <a:p>
            <a:pPr marL="12700" marR="5080"/>
            <a:r>
              <a:rPr lang="en-IN" sz="1200" dirty="0">
                <a:hlinkClick r:id="rId18"/>
              </a:rPr>
              <a:t>Password-based authentication with Microsoft Entra ID - Microsoft Entra | Microsoft Learn</a:t>
            </a:r>
            <a:r>
              <a:rPr lang="en-US" sz="1200" kern="0" spc="-80" dirty="0">
                <a:solidFill>
                  <a:schemeClr val="accent2"/>
                </a:solidFill>
              </a:rPr>
              <a:t> </a:t>
            </a:r>
          </a:p>
          <a:p>
            <a:pPr marL="12700" marR="5080"/>
            <a:r>
              <a:rPr lang="en-US" sz="1200" dirty="0">
                <a:hlinkClick r:id="rId19"/>
              </a:rPr>
              <a:t>Integrated Windows Authentication | Microsoft Learn</a:t>
            </a:r>
            <a:r>
              <a:rPr lang="en-US" sz="1200" kern="0" spc="-80" dirty="0">
                <a:solidFill>
                  <a:schemeClr val="accent2"/>
                </a:solidFill>
              </a:rPr>
              <a:t> </a:t>
            </a:r>
          </a:p>
          <a:p>
            <a:pPr marL="12700" marR="5080"/>
            <a:r>
              <a:rPr lang="en-US" sz="1200" dirty="0">
                <a:hlinkClick r:id="rId20"/>
              </a:rPr>
              <a:t>Download A Guide to Claims-Based Identity and Access Control, Second Edition</a:t>
            </a:r>
            <a:endParaRPr lang="en-US" sz="1200" kern="0" spc="-80" dirty="0">
              <a:solidFill>
                <a:schemeClr val="accent2"/>
              </a:solidFill>
            </a:endParaRPr>
          </a:p>
          <a:p>
            <a:pPr marL="12700" marR="5080"/>
            <a:r>
              <a:rPr lang="en-US" sz="1200" dirty="0">
                <a:hlinkClick r:id="rId21"/>
              </a:rPr>
              <a:t>OpenID Connect (OIDC) on the Microsoft identity platform - Microsoft identity platform | Microsoft Learn</a:t>
            </a:r>
            <a:r>
              <a:rPr lang="en-US" sz="1200" kern="0" spc="-80" dirty="0">
                <a:solidFill>
                  <a:schemeClr val="accent2"/>
                </a:solidFill>
              </a:rPr>
              <a:t> </a:t>
            </a:r>
          </a:p>
          <a:p>
            <a:pPr marL="12700" marR="5080"/>
            <a:r>
              <a:rPr lang="en-IN" sz="1200" dirty="0">
                <a:hlinkClick r:id="rId22"/>
              </a:rPr>
              <a:t>Graph Explorer | Try Microsoft Graph APIs - Microsoft Graph</a:t>
            </a:r>
            <a:r>
              <a:rPr lang="en-US" sz="1200" kern="0" spc="-80" dirty="0">
                <a:solidFill>
                  <a:schemeClr val="accent2"/>
                </a:solidFill>
              </a:rPr>
              <a:t>  </a:t>
            </a:r>
          </a:p>
          <a:p>
            <a:pPr marL="12700" marR="5080"/>
            <a:r>
              <a:rPr lang="en-IN" sz="1200" dirty="0">
                <a:hlinkClick r:id="rId23"/>
              </a:rPr>
              <a:t>MSGraph-</a:t>
            </a:r>
            <a:r>
              <a:rPr lang="en-IN" sz="1200" dirty="0" err="1">
                <a:hlinkClick r:id="rId23"/>
              </a:rPr>
              <a:t>sdk</a:t>
            </a:r>
            <a:r>
              <a:rPr lang="en-IN" sz="1200" dirty="0">
                <a:hlinkClick r:id="rId23"/>
              </a:rPr>
              <a:t>-design</a:t>
            </a:r>
            <a:endParaRPr lang="en-IN" sz="1200" dirty="0"/>
          </a:p>
          <a:p>
            <a:pPr marL="12700" marR="5080"/>
            <a:r>
              <a:rPr lang="en-US" sz="1200" dirty="0">
                <a:hlinkClick r:id="rId24"/>
              </a:rPr>
              <a:t>What is Azure Active Directory B2C? | Microsoft Learn</a:t>
            </a:r>
            <a:r>
              <a:rPr lang="en-US" sz="1200" kern="0" spc="-80" dirty="0">
                <a:solidFill>
                  <a:schemeClr val="accent2"/>
                </a:solidFill>
              </a:rPr>
              <a:t>    </a:t>
            </a:r>
          </a:p>
          <a:p>
            <a:pPr marL="12700" marR="5080"/>
            <a:r>
              <a:rPr lang="en-US" sz="1200" dirty="0">
                <a:hlinkClick r:id="rId25"/>
              </a:rPr>
              <a:t>Billing model for Azure Active Directory B2C | Microsoft Learn</a:t>
            </a:r>
            <a:r>
              <a:rPr lang="en-US" sz="1200" kern="0" spc="-80" dirty="0">
                <a:solidFill>
                  <a:schemeClr val="accent2"/>
                </a:solidFill>
              </a:rPr>
              <a:t>  </a:t>
            </a:r>
          </a:p>
          <a:p>
            <a:pPr marL="12700" marR="5080"/>
            <a:r>
              <a:rPr lang="en-US" sz="1200" dirty="0">
                <a:hlinkClick r:id="rId26"/>
              </a:rPr>
              <a:t>Manage resources with Microsoft Graph - Azure AD B2C | Microsoft Learn</a:t>
            </a:r>
            <a:r>
              <a:rPr lang="en-US" sz="1200" kern="0" spc="-80" dirty="0">
                <a:solidFill>
                  <a:schemeClr val="accent2"/>
                </a:solidFill>
              </a:rPr>
              <a:t>  </a:t>
            </a:r>
          </a:p>
          <a:p>
            <a:pPr marL="12700" marR="5080"/>
            <a:r>
              <a:rPr lang="en-US" sz="1200" dirty="0">
                <a:hlinkClick r:id="rId27"/>
              </a:rPr>
              <a:t>Enable custom domains in Azure Active Directory B2C - Azure AD B2C | Microsoft Learn</a:t>
            </a:r>
            <a:r>
              <a:rPr lang="en-US" sz="1200" kern="0" spc="-80" dirty="0">
                <a:solidFill>
                  <a:schemeClr val="accent2"/>
                </a:solidFill>
              </a:rPr>
              <a:t>  </a:t>
            </a:r>
          </a:p>
          <a:p>
            <a:pPr marL="12700" marR="5080"/>
            <a:r>
              <a:rPr lang="en-US" sz="1200" dirty="0">
                <a:hlinkClick r:id="rId28"/>
              </a:rPr>
              <a:t>Developer notes for user flows and custom policies - Azure AD B2C | Microsoft Learn</a:t>
            </a:r>
            <a:r>
              <a:rPr lang="en-US" sz="1200" kern="0" spc="-80" dirty="0">
                <a:solidFill>
                  <a:schemeClr val="accent2"/>
                </a:solidFill>
              </a:rPr>
              <a:t>   </a:t>
            </a:r>
          </a:p>
          <a:p>
            <a:pPr marL="12700" marR="5080"/>
            <a:r>
              <a:rPr lang="en-US" sz="1200" dirty="0" err="1">
                <a:hlinkClick r:id="rId29"/>
              </a:rPr>
              <a:t>TrustFrameworkPolicy</a:t>
            </a:r>
            <a:r>
              <a:rPr lang="en-US" sz="1200" dirty="0">
                <a:hlinkClick r:id="rId29"/>
              </a:rPr>
              <a:t> - Azure Active Directory B2C | Microsoft Learn</a:t>
            </a:r>
            <a:endParaRPr lang="en-US" sz="1200" dirty="0"/>
          </a:p>
          <a:p>
            <a:pPr marL="12700" marR="5080"/>
            <a:r>
              <a:rPr lang="en-US" sz="1200" dirty="0">
                <a:hlinkClick r:id="rId30"/>
              </a:rPr>
              <a:t>User migration approaches - Azure AD B2C | Microsoft Learn</a:t>
            </a:r>
            <a:endParaRPr lang="en-US" sz="1200" dirty="0"/>
          </a:p>
          <a:p>
            <a:pPr marL="12700" marR="5080"/>
            <a:r>
              <a:rPr lang="en-US" sz="1200" dirty="0">
                <a:hlinkClick r:id="rId31"/>
              </a:rPr>
              <a:t>Azure AD B2C custom policy solutions and samples.</a:t>
            </a:r>
            <a:r>
              <a:rPr lang="en-US" sz="1200" kern="0" spc="-80" dirty="0">
                <a:solidFill>
                  <a:schemeClr val="accent2"/>
                </a:solidFill>
              </a:rPr>
              <a:t>   </a:t>
            </a:r>
          </a:p>
          <a:p>
            <a:pPr marL="12700" marR="5080"/>
            <a:r>
              <a:rPr lang="en-IN" sz="1200" dirty="0">
                <a:hlinkClick r:id="rId32"/>
              </a:rPr>
              <a:t>Error code reference - Azure AD B2C | Microsoft Learn</a:t>
            </a:r>
            <a:r>
              <a:rPr lang="en-US" sz="1200" kern="0" spc="-80" dirty="0">
                <a:solidFill>
                  <a:schemeClr val="accent2"/>
                </a:solidFill>
              </a:rPr>
              <a:t>   </a:t>
            </a:r>
          </a:p>
          <a:p>
            <a:pPr marL="12700" marR="5080"/>
            <a:r>
              <a:rPr lang="en-US" sz="1200" dirty="0">
                <a:hlinkClick r:id="rId33"/>
              </a:rPr>
              <a:t>External Collaboration with Azure AD B2B Succinctly</a:t>
            </a:r>
            <a:r>
              <a:rPr lang="en-US" sz="1200" kern="0" spc="-80" dirty="0">
                <a:solidFill>
                  <a:schemeClr val="accent2"/>
                </a:solidFill>
              </a:rPr>
              <a:t> </a:t>
            </a:r>
          </a:p>
          <a:p>
            <a:pPr marL="12700" marR="5080"/>
            <a:endParaRPr lang="en-US" sz="1100" kern="0" spc="-80" dirty="0">
              <a:solidFill>
                <a:schemeClr val="accent2"/>
              </a:solidFill>
            </a:endParaRPr>
          </a:p>
        </p:txBody>
      </p:sp>
    </p:spTree>
    <p:extLst>
      <p:ext uri="{BB962C8B-B14F-4D97-AF65-F5344CB8AC3E}">
        <p14:creationId xmlns:p14="http://schemas.microsoft.com/office/powerpoint/2010/main" val="2224206721"/>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CSRF(Cross Site Request Forgery) - </a:t>
            </a:r>
          </a:p>
        </p:txBody>
      </p:sp>
      <p:pic>
        <p:nvPicPr>
          <p:cNvPr id="1026" name="Picture 2">
            <a:extLst>
              <a:ext uri="{FF2B5EF4-FFF2-40B4-BE49-F238E27FC236}">
                <a16:creationId xmlns:a16="http://schemas.microsoft.com/office/drawing/2014/main" id="{111A3B32-A6E6-30F9-6C46-7D184819DE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600200"/>
            <a:ext cx="8763000" cy="3581400"/>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081826"/>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Prevent Cross-Site Request Forgery (XSRF/CSRF) attacks in ASP.NET Core | Microsoft Learn</a:t>
            </a:r>
            <a:endParaRPr lang="en-US" sz="1500" kern="0" spc="-80" dirty="0">
              <a:solidFill>
                <a:schemeClr val="accent2"/>
              </a:solidFill>
            </a:endParaRPr>
          </a:p>
        </p:txBody>
      </p:sp>
    </p:spTree>
    <p:extLst>
      <p:ext uri="{BB962C8B-B14F-4D97-AF65-F5344CB8AC3E}">
        <p14:creationId xmlns:p14="http://schemas.microsoft.com/office/powerpoint/2010/main" val="44800464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2"/>
                </a:solidFill>
              </a:rPr>
              <a:t>     SSRF(</a:t>
            </a:r>
            <a:r>
              <a:rPr lang="en-IN" sz="2000" kern="0" spc="-80" dirty="0">
                <a:solidFill>
                  <a:schemeClr val="accent2"/>
                </a:solidFill>
              </a:rPr>
              <a:t>Server-Side Request Forgery</a:t>
            </a:r>
            <a:r>
              <a:rPr lang="en-US" sz="2000" kern="0" spc="-80" dirty="0">
                <a:solidFill>
                  <a:schemeClr val="accent2"/>
                </a:solidFill>
              </a:rPr>
              <a:t>)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2518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Server Side Request Forgery | OWASP Foundation</a:t>
            </a:r>
            <a:endParaRPr lang="en-US" sz="1500" kern="0" spc="-80" dirty="0">
              <a:solidFill>
                <a:schemeClr val="accent2"/>
              </a:solidFill>
            </a:endParaRPr>
          </a:p>
        </p:txBody>
      </p:sp>
      <p:pic>
        <p:nvPicPr>
          <p:cNvPr id="3074" name="Picture 2">
            <a:extLst>
              <a:ext uri="{FF2B5EF4-FFF2-40B4-BE49-F238E27FC236}">
                <a16:creationId xmlns:a16="http://schemas.microsoft.com/office/drawing/2014/main" id="{A7820F9C-576E-67AE-AA0E-63905CF1302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81754" y="1594485"/>
            <a:ext cx="8480552" cy="37395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27362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CORS(Cross Origin Resource Sharing)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2518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Enable Cross-Origin Requests (CORS) in ASP.NET Core | Microsoft Learn</a:t>
            </a:r>
            <a:endParaRPr lang="en-US" sz="1500" kern="0" spc="-80" dirty="0">
              <a:solidFill>
                <a:schemeClr val="accent2"/>
              </a:solidFill>
            </a:endParaRPr>
          </a:p>
        </p:txBody>
      </p:sp>
      <p:pic>
        <p:nvPicPr>
          <p:cNvPr id="2050" name="Picture 2" descr="Enable CORS In ASP.NET WebAPI 2">
            <a:extLst>
              <a:ext uri="{FF2B5EF4-FFF2-40B4-BE49-F238E27FC236}">
                <a16:creationId xmlns:a16="http://schemas.microsoft.com/office/drawing/2014/main" id="{9BBDD1BB-78C8-A7F8-ECA9-A35103F05F5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57200" y="1590675"/>
            <a:ext cx="8305106" cy="36611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602469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XSS(Cross Site Scripting)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09011"/>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Prevent Cross-Site Scripting (XSS) in ASP.NET Core | Microsoft Learn</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3185DC5C-F2CB-4E31-6D42-8774BF77F5D7}"/>
              </a:ext>
            </a:extLst>
          </p:cNvPr>
          <p:cNvPicPr>
            <a:picLocks noChangeAspect="1"/>
          </p:cNvPicPr>
          <p:nvPr/>
        </p:nvPicPr>
        <p:blipFill>
          <a:blip r:embed="rId8"/>
          <a:stretch>
            <a:fillRect/>
          </a:stretch>
        </p:blipFill>
        <p:spPr>
          <a:xfrm>
            <a:off x="457200" y="1600200"/>
            <a:ext cx="8449491" cy="3802632"/>
          </a:xfrm>
          <a:prstGeom prst="rect">
            <a:avLst/>
          </a:prstGeom>
        </p:spPr>
      </p:pic>
    </p:spTree>
    <p:extLst>
      <p:ext uri="{BB962C8B-B14F-4D97-AF65-F5344CB8AC3E}">
        <p14:creationId xmlns:p14="http://schemas.microsoft.com/office/powerpoint/2010/main" val="148747075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SQL Injection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SQL Injection | OWASP Foundation</a:t>
            </a:r>
            <a:endParaRPr lang="en-US" sz="1500" kern="0" spc="-80" dirty="0">
              <a:solidFill>
                <a:schemeClr val="accent2"/>
              </a:solidFill>
            </a:endParaRPr>
          </a:p>
        </p:txBody>
      </p:sp>
      <p:pic>
        <p:nvPicPr>
          <p:cNvPr id="5122" name="Picture 2" descr="Hack Proof Your ASP.NET Applications From SQL Injection - CodeProject">
            <a:extLst>
              <a:ext uri="{FF2B5EF4-FFF2-40B4-BE49-F238E27FC236}">
                <a16:creationId xmlns:a16="http://schemas.microsoft.com/office/drawing/2014/main" id="{BC78450E-50AC-92EC-3FEE-F402CBD451F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33399" y="1638299"/>
            <a:ext cx="8373291" cy="36897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050165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DDoS(Distributed Denial of Service)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What is a distributed denial-of-service (DDoS) attack? | Cloudflare</a:t>
            </a:r>
            <a:endParaRPr lang="en-US" sz="1500" kern="0" spc="-80" dirty="0">
              <a:solidFill>
                <a:schemeClr val="accent2"/>
              </a:solidFill>
            </a:endParaRPr>
          </a:p>
        </p:txBody>
      </p:sp>
      <p:pic>
        <p:nvPicPr>
          <p:cNvPr id="6148" name="Picture 4" descr="What is a DDoS Attack? - Distributed Denial of Service | Radware">
            <a:extLst>
              <a:ext uri="{FF2B5EF4-FFF2-40B4-BE49-F238E27FC236}">
                <a16:creationId xmlns:a16="http://schemas.microsoft.com/office/drawing/2014/main" id="{900CFD9A-EF27-E226-063B-98A058CFD9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0" y="1594485"/>
            <a:ext cx="9144000" cy="37335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926405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DDoS Types - </a:t>
            </a:r>
          </a:p>
        </p:txBody>
      </p:sp>
      <p:pic>
        <p:nvPicPr>
          <p:cNvPr id="11" name="Picture 10">
            <a:extLst>
              <a:ext uri="{FF2B5EF4-FFF2-40B4-BE49-F238E27FC236}">
                <a16:creationId xmlns:a16="http://schemas.microsoft.com/office/drawing/2014/main" id="{4A7D6978-BA81-902E-516E-77B17768BF7B}"/>
              </a:ext>
            </a:extLst>
          </p:cNvPr>
          <p:cNvPicPr>
            <a:picLocks noChangeAspect="1"/>
          </p:cNvPicPr>
          <p:nvPr/>
        </p:nvPicPr>
        <p:blipFill>
          <a:blip r:embed="rId7"/>
          <a:stretch>
            <a:fillRect/>
          </a:stretch>
        </p:blipFill>
        <p:spPr>
          <a:xfrm>
            <a:off x="281754" y="1600200"/>
            <a:ext cx="8405046" cy="3657600"/>
          </a:xfrm>
          <a:prstGeom prst="rect">
            <a:avLst/>
          </a:prstGeom>
        </p:spPr>
      </p:pic>
      <p:sp>
        <p:nvSpPr>
          <p:cNvPr id="12" name="object 2">
            <a:extLst>
              <a:ext uri="{FF2B5EF4-FFF2-40B4-BE49-F238E27FC236}">
                <a16:creationId xmlns:a16="http://schemas.microsoft.com/office/drawing/2014/main" id="{FCBB0E74-4876-2F32-F119-D7E981D4B94D}"/>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a State-Exhaustion DDoS Attack? | NETSCOUT</a:t>
            </a:r>
            <a:endParaRPr lang="en-US" sz="1500" kern="0" spc="-80" dirty="0">
              <a:solidFill>
                <a:schemeClr val="accent2"/>
              </a:solidFill>
            </a:endParaRPr>
          </a:p>
        </p:txBody>
      </p:sp>
    </p:spTree>
    <p:extLst>
      <p:ext uri="{BB962C8B-B14F-4D97-AF65-F5344CB8AC3E}">
        <p14:creationId xmlns:p14="http://schemas.microsoft.com/office/powerpoint/2010/main" val="2362939576"/>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Some Important OWASP Application issues–</a:t>
            </a:r>
          </a:p>
        </p:txBody>
      </p:sp>
      <p:sp>
        <p:nvSpPr>
          <p:cNvPr id="7" name="object 2">
            <a:extLst>
              <a:ext uri="{FF2B5EF4-FFF2-40B4-BE49-F238E27FC236}">
                <a16:creationId xmlns:a16="http://schemas.microsoft.com/office/drawing/2014/main" id="{23F72D99-5C7F-1281-CBA4-B2A848C22CED}"/>
              </a:ext>
            </a:extLst>
          </p:cNvPr>
          <p:cNvSpPr txBox="1">
            <a:spLocks/>
          </p:cNvSpPr>
          <p:nvPr/>
        </p:nvSpPr>
        <p:spPr>
          <a:xfrm>
            <a:off x="442863" y="1717119"/>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Further Exploration – </a:t>
            </a:r>
          </a:p>
          <a:p>
            <a:pPr marL="12700" marR="5080"/>
            <a:r>
              <a:rPr lang="en-US" sz="1500" dirty="0">
                <a:hlinkClick r:id="rId7"/>
              </a:rPr>
              <a:t>Unearthing Vulnerabilities in C# Source Code: A Pragmatic Approach</a:t>
            </a:r>
            <a:endParaRPr lang="en-US" sz="1500" dirty="0">
              <a:hlinkClick r:id="rId8"/>
            </a:endParaRPr>
          </a:p>
          <a:p>
            <a:pPr marL="12700" marR="5080"/>
            <a:r>
              <a:rPr lang="en-US" sz="1500" dirty="0">
                <a:hlinkClick r:id="rId8"/>
              </a:rPr>
              <a:t>Security topics | Microsoft Learn</a:t>
            </a:r>
            <a:endParaRPr lang="en-US" sz="1500" kern="0" spc="-80" dirty="0">
              <a:solidFill>
                <a:schemeClr val="accent2"/>
              </a:solidFill>
            </a:endParaRPr>
          </a:p>
          <a:p>
            <a:pPr marL="12700" marR="5080"/>
            <a:r>
              <a:rPr lang="en-IN" sz="1500" dirty="0">
                <a:hlinkClick r:id="rId9"/>
              </a:rPr>
              <a:t>Attacks | OWASP Foundation</a:t>
            </a:r>
            <a:endParaRPr lang="en-IN" sz="1500" dirty="0"/>
          </a:p>
          <a:p>
            <a:pPr marL="12700" marR="5080"/>
            <a:r>
              <a:rPr lang="en-US" sz="1500" dirty="0">
                <a:hlinkClick r:id="rId10"/>
              </a:rPr>
              <a:t>24 Deadly Sins of Software Security: Programming Flaws and How to Fix Them[Book]</a:t>
            </a:r>
            <a:endParaRPr lang="en-US" sz="1500" dirty="0"/>
          </a:p>
          <a:p>
            <a:pPr marL="12700" marR="5080"/>
            <a:r>
              <a:rPr lang="en-US" sz="1500" dirty="0">
                <a:hlinkClick r:id="rId11"/>
              </a:rPr>
              <a:t>CVE List | Application Security Cheat Sheet</a:t>
            </a:r>
            <a:r>
              <a:rPr lang="en-US" sz="1500" kern="0" spc="-80" dirty="0">
                <a:solidFill>
                  <a:schemeClr val="accent2"/>
                </a:solidFill>
              </a:rPr>
              <a:t> </a:t>
            </a:r>
          </a:p>
          <a:p>
            <a:pPr marL="12700" marR="5080"/>
            <a:r>
              <a:rPr lang="en-US" sz="1500" dirty="0">
                <a:hlinkClick r:id="rId12"/>
              </a:rPr>
              <a:t>Vulnerabilities detected by Burp Scanner – </a:t>
            </a:r>
            <a:r>
              <a:rPr lang="en-US" sz="1500" dirty="0" err="1">
                <a:hlinkClick r:id="rId12"/>
              </a:rPr>
              <a:t>PortSwigger</a:t>
            </a:r>
            <a:endParaRPr lang="en-US" sz="1500" dirty="0"/>
          </a:p>
          <a:p>
            <a:pPr marL="12700" marR="5080"/>
            <a:r>
              <a:rPr lang="en-US" sz="1500" dirty="0">
                <a:hlinkClick r:id="rId13"/>
              </a:rPr>
              <a:t>All learning materials - detailed | Web Security Academy</a:t>
            </a:r>
            <a:r>
              <a:rPr lang="en-US" sz="2400" kern="0" spc="-80" dirty="0">
                <a:solidFill>
                  <a:schemeClr val="accent2"/>
                </a:solidFill>
              </a:rPr>
              <a:t>  </a:t>
            </a:r>
          </a:p>
        </p:txBody>
      </p:sp>
    </p:spTree>
    <p:extLst>
      <p:ext uri="{BB962C8B-B14F-4D97-AF65-F5344CB8AC3E}">
        <p14:creationId xmlns:p14="http://schemas.microsoft.com/office/powerpoint/2010/main" val="2976512727"/>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26043"/>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a:t>
            </a:r>
          </a:p>
          <a:p>
            <a:pPr marL="12700" marR="5080"/>
            <a:r>
              <a:rPr lang="en-US" sz="1600" kern="0" spc="-80" dirty="0">
                <a:solidFill>
                  <a:schemeClr val="accent2"/>
                </a:solidFill>
              </a:rPr>
              <a:t>    Accesses – </a:t>
            </a:r>
            <a:r>
              <a:rPr lang="en-US" sz="1600" kern="0" spc="-80" dirty="0">
                <a:solidFill>
                  <a:schemeClr val="accent6"/>
                </a:solidFill>
              </a:rPr>
              <a:t>Mainly from Dev perspective, who has what access.</a:t>
            </a:r>
          </a:p>
          <a:p>
            <a:pPr marL="12700" marR="5080"/>
            <a:r>
              <a:rPr lang="en-US" sz="1600" kern="0" spc="-80" dirty="0">
                <a:solidFill>
                  <a:schemeClr val="accent6"/>
                </a:solidFill>
              </a:rPr>
              <a:t>    </a:t>
            </a:r>
            <a:r>
              <a:rPr lang="en-US" sz="1600" kern="0" spc="-80" dirty="0">
                <a:solidFill>
                  <a:schemeClr val="accent2"/>
                </a:solidFill>
              </a:rPr>
              <a:t>Processes – </a:t>
            </a:r>
            <a:r>
              <a:rPr lang="en-US" sz="1600" kern="0" spc="-80" dirty="0">
                <a:solidFill>
                  <a:schemeClr val="accent6"/>
                </a:solidFill>
              </a:rPr>
              <a:t>Again mainly from Dev perspective, the processes that needs to be followed.</a:t>
            </a:r>
          </a:p>
          <a:p>
            <a:pPr marL="12700" marR="5080"/>
            <a:r>
              <a:rPr lang="en-US" sz="1600" kern="0" spc="-80" dirty="0">
                <a:solidFill>
                  <a:schemeClr val="accent6"/>
                </a:solidFill>
              </a:rPr>
              <a:t>    </a:t>
            </a:r>
            <a:r>
              <a:rPr lang="en-US" sz="1600" kern="0" spc="-80" dirty="0">
                <a:solidFill>
                  <a:schemeClr val="accent2"/>
                </a:solidFill>
              </a:rPr>
              <a:t>Regulatory Compliance – </a:t>
            </a:r>
            <a:r>
              <a:rPr lang="en-US" sz="1600" kern="0" spc="-80" dirty="0">
                <a:solidFill>
                  <a:schemeClr val="accent6"/>
                </a:solidFill>
              </a:rPr>
              <a:t>Mainly from App perspective. Compliance that needs to be followed as part of some Regulatory Authority(e.g. consents[EULA, Allow Cookies </a:t>
            </a:r>
            <a:r>
              <a:rPr lang="en-US" sz="1600" kern="0" spc="-80" dirty="0" err="1">
                <a:solidFill>
                  <a:schemeClr val="accent6"/>
                </a:solidFill>
              </a:rPr>
              <a:t>PopUps</a:t>
            </a:r>
            <a:r>
              <a:rPr lang="en-US" sz="1600" kern="0" spc="-80" dirty="0">
                <a:solidFill>
                  <a:schemeClr val="accent6"/>
                </a:solidFill>
              </a:rPr>
              <a:t> </a:t>
            </a:r>
            <a:r>
              <a:rPr lang="en-US" sz="1600" kern="0" spc="-80" dirty="0" err="1">
                <a:solidFill>
                  <a:schemeClr val="accent6"/>
                </a:solidFill>
              </a:rPr>
              <a:t>etc</a:t>
            </a:r>
            <a:r>
              <a:rPr lang="en-US" sz="1600" kern="0" spc="-80" dirty="0">
                <a:solidFill>
                  <a:schemeClr val="accent6"/>
                </a:solidFill>
              </a:rPr>
              <a:t>] )</a:t>
            </a:r>
          </a:p>
          <a:p>
            <a:pPr marL="12700" marR="5080"/>
            <a:r>
              <a:rPr lang="en-US" sz="1600" kern="0" spc="-80" dirty="0">
                <a:solidFill>
                  <a:schemeClr val="accent6"/>
                </a:solidFill>
              </a:rPr>
              <a:t>    </a:t>
            </a:r>
            <a:r>
              <a:rPr lang="en-US" sz="1600" kern="0" spc="-80" dirty="0">
                <a:solidFill>
                  <a:schemeClr val="accent2"/>
                </a:solidFill>
              </a:rPr>
              <a:t>Auditing - </a:t>
            </a:r>
            <a:r>
              <a:rPr lang="en-US" sz="1600" kern="0" spc="-80" dirty="0">
                <a:solidFill>
                  <a:schemeClr val="accent6"/>
                </a:solidFill>
              </a:rPr>
              <a:t>Can be from both App &amp; Dev perspective. Who did what and When.</a:t>
            </a:r>
          </a:p>
          <a:p>
            <a:pPr marL="12700" marR="5080"/>
            <a:r>
              <a:rPr lang="en-US" sz="1600" kern="0" spc="-80" dirty="0">
                <a:solidFill>
                  <a:schemeClr val="accent6"/>
                </a:solidFill>
              </a:rPr>
              <a:t>   </a:t>
            </a:r>
            <a:r>
              <a:rPr lang="en-US" sz="1600" kern="0" spc="-80" dirty="0">
                <a:solidFill>
                  <a:schemeClr val="accent2"/>
                </a:solidFill>
              </a:rPr>
              <a:t>Archival &amp; Purging - </a:t>
            </a:r>
            <a:r>
              <a:rPr lang="en-US" sz="1600" kern="0" spc="-80" dirty="0">
                <a:solidFill>
                  <a:schemeClr val="accent6"/>
                </a:solidFill>
              </a:rPr>
              <a:t>Mainly from App perspective. How much data &amp; how often &amp; for how long the data should be archived. How frequently &amp; how much amount of data should be purged.</a:t>
            </a:r>
          </a:p>
          <a:p>
            <a:pPr marL="12700" marR="5080"/>
            <a:endParaRPr lang="en-US" sz="1800" kern="0" spc="-80" dirty="0">
              <a:solidFill>
                <a:schemeClr val="accent6"/>
              </a:solidFill>
            </a:endParaRPr>
          </a:p>
          <a:p>
            <a:pPr marL="12700" marR="5080"/>
            <a:r>
              <a:rPr lang="en-US" sz="1800" kern="0" spc="-80" dirty="0">
                <a:solidFill>
                  <a:schemeClr val="accent6"/>
                </a:solidFill>
              </a:rPr>
              <a:t> </a:t>
            </a:r>
            <a:r>
              <a:rPr lang="en-US" sz="2400" kern="0" spc="-80" dirty="0">
                <a:solidFill>
                  <a:schemeClr val="accent2"/>
                </a:solidFill>
              </a:rPr>
              <a:t>For Further Exploration – </a:t>
            </a:r>
          </a:p>
          <a:p>
            <a:pPr marL="12700" marR="5080"/>
            <a:r>
              <a:rPr lang="en-US" sz="1500" kern="0" spc="-80" dirty="0">
                <a:solidFill>
                  <a:schemeClr val="accent2"/>
                </a:solidFill>
              </a:rPr>
              <a:t> </a:t>
            </a:r>
            <a:r>
              <a:rPr lang="en-US" sz="1500" dirty="0">
                <a:hlinkClick r:id="rId7"/>
              </a:rPr>
              <a:t>Data Governance in a Digitally Intelligent World - a </a:t>
            </a:r>
            <a:r>
              <a:rPr lang="en-US" sz="1500" dirty="0" err="1">
                <a:hlinkClick r:id="rId7"/>
              </a:rPr>
              <a:t>PoV</a:t>
            </a:r>
            <a:r>
              <a:rPr lang="en-US" sz="1500" dirty="0">
                <a:hlinkClick r:id="rId7"/>
              </a:rPr>
              <a:t> | LinkedIn</a:t>
            </a:r>
            <a:endParaRPr lang="en-US" sz="1500" dirty="0"/>
          </a:p>
          <a:p>
            <a:pPr marL="12700" marR="5080"/>
            <a:r>
              <a:rPr lang="en-US" sz="1500" kern="0" spc="-80" dirty="0">
                <a:solidFill>
                  <a:schemeClr val="accent2"/>
                </a:solidFill>
              </a:rPr>
              <a:t> </a:t>
            </a:r>
            <a:r>
              <a:rPr lang="en-US" sz="1500" dirty="0">
                <a:hlinkClick r:id="rId8"/>
              </a:rPr>
              <a:t>Cross Industry </a:t>
            </a:r>
            <a:r>
              <a:rPr lang="en-US" sz="1500" dirty="0" err="1">
                <a:hlinkClick r:id="rId8"/>
              </a:rPr>
              <a:t>RegTech</a:t>
            </a:r>
            <a:r>
              <a:rPr lang="en-US" sz="1500" dirty="0">
                <a:hlinkClick r:id="rId8"/>
              </a:rPr>
              <a:t> Platform - a </a:t>
            </a:r>
            <a:r>
              <a:rPr lang="en-US" sz="1500" dirty="0" err="1">
                <a:hlinkClick r:id="rId8"/>
              </a:rPr>
              <a:t>PoV</a:t>
            </a:r>
            <a:r>
              <a:rPr lang="en-US" sz="1500" dirty="0">
                <a:hlinkClick r:id="rId8"/>
              </a:rPr>
              <a:t> | LinkedIn</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9"/>
              </a:rPr>
              <a:t>Cloud Compliance - Amazon Web Services (AWS)</a:t>
            </a:r>
            <a:r>
              <a:rPr lang="en-US" sz="1500" kern="0" spc="-80" dirty="0">
                <a:solidFill>
                  <a:schemeClr val="accent2"/>
                </a:solidFill>
              </a:rPr>
              <a:t>  </a:t>
            </a:r>
          </a:p>
          <a:p>
            <a:pPr marL="12700" marR="5080"/>
            <a:r>
              <a:rPr lang="en-US" sz="1500" kern="0" spc="-80" dirty="0">
                <a:solidFill>
                  <a:schemeClr val="accent2"/>
                </a:solidFill>
                <a:hlinkClick r:id="rId10"/>
              </a:rPr>
              <a:t> </a:t>
            </a:r>
            <a:r>
              <a:rPr lang="en-US" sz="1500" dirty="0">
                <a:hlinkClick r:id="rId10"/>
              </a:rPr>
              <a:t>Security best practices and patterns - Microsoft Azure | Microsoft Learn</a:t>
            </a:r>
            <a:endParaRPr lang="en-US" sz="1500" kern="0" spc="-80" dirty="0">
              <a:solidFill>
                <a:schemeClr val="accent2"/>
              </a:solidFill>
            </a:endParaRPr>
          </a:p>
        </p:txBody>
      </p:sp>
    </p:spTree>
    <p:extLst>
      <p:ext uri="{BB962C8B-B14F-4D97-AF65-F5344CB8AC3E}">
        <p14:creationId xmlns:p14="http://schemas.microsoft.com/office/powerpoint/2010/main" val="2945897265"/>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56784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Manageability – </a:t>
            </a:r>
          </a:p>
          <a:p>
            <a:pPr marL="12700" marR="5080"/>
            <a:r>
              <a:rPr lang="en-US" sz="1700" kern="0" spc="-80" dirty="0">
                <a:solidFill>
                  <a:schemeClr val="accent2"/>
                </a:solidFill>
              </a:rPr>
              <a:t>   </a:t>
            </a:r>
            <a:r>
              <a:rPr lang="en-US" sz="1700" kern="0" spc="-80" dirty="0">
                <a:solidFill>
                  <a:schemeClr val="accent6"/>
                </a:solidFill>
              </a:rPr>
              <a:t>Mostly write-once through some control panel(can be some </a:t>
            </a:r>
            <a:r>
              <a:rPr lang="en-US" sz="1700" kern="0" spc="-80" dirty="0" err="1">
                <a:solidFill>
                  <a:schemeClr val="accent6"/>
                </a:solidFill>
              </a:rPr>
              <a:t>DevSecOps</a:t>
            </a:r>
            <a:r>
              <a:rPr lang="en-US" sz="1700" kern="0" spc="-80" dirty="0">
                <a:solidFill>
                  <a:schemeClr val="accent6"/>
                </a:solidFill>
              </a:rPr>
              <a:t> script as well) &amp; read many times via the data plane.</a:t>
            </a:r>
          </a:p>
          <a:p>
            <a:pPr marL="12700" marR="5080"/>
            <a:endParaRPr lang="en-US" sz="1700" kern="0" spc="-80" dirty="0">
              <a:solidFill>
                <a:schemeClr val="accent6"/>
              </a:solidFill>
            </a:endParaRPr>
          </a:p>
          <a:p>
            <a:pPr marL="12700" marR="5080"/>
            <a:r>
              <a:rPr lang="en-US" sz="1700" kern="0" spc="-80" dirty="0">
                <a:solidFill>
                  <a:schemeClr val="accent2"/>
                </a:solidFill>
              </a:rPr>
              <a:t>   Vaults – </a:t>
            </a:r>
            <a:r>
              <a:rPr lang="en-US" sz="1700" kern="0" spc="-80" dirty="0">
                <a:solidFill>
                  <a:schemeClr val="accent6"/>
                </a:solidFill>
              </a:rPr>
              <a:t>Mainly used for storing secrets(e.g. API keys, Symmetric/Asymmetric keys)</a:t>
            </a:r>
          </a:p>
          <a:p>
            <a:pPr marL="12700" marR="5080"/>
            <a:endParaRPr lang="en-US" sz="1700" kern="0" spc="-80" dirty="0">
              <a:solidFill>
                <a:schemeClr val="accent6"/>
              </a:solidFill>
            </a:endParaRPr>
          </a:p>
          <a:p>
            <a:pPr marL="12700" marR="5080"/>
            <a:r>
              <a:rPr lang="en-US" sz="1700" kern="0" spc="-80" dirty="0">
                <a:solidFill>
                  <a:schemeClr val="accent2"/>
                </a:solidFill>
              </a:rPr>
              <a:t>   Configs – </a:t>
            </a:r>
            <a:r>
              <a:rPr lang="en-US" sz="1700" kern="0" spc="-80" dirty="0">
                <a:solidFill>
                  <a:schemeClr val="accent6"/>
                </a:solidFill>
              </a:rPr>
              <a:t>Mainly used for storing configuration settings. Can be used to store some desired state as well.</a:t>
            </a:r>
          </a:p>
          <a:p>
            <a:pPr marL="12700" marR="5080"/>
            <a:endParaRPr lang="en-US" sz="1700" kern="0" spc="-80" dirty="0">
              <a:solidFill>
                <a:schemeClr val="accent6"/>
              </a:solidFill>
            </a:endParaRPr>
          </a:p>
          <a:p>
            <a:pPr marL="12700" marR="5080"/>
            <a:r>
              <a:rPr lang="en-US" sz="1700" kern="0" spc="-80" dirty="0">
                <a:solidFill>
                  <a:schemeClr val="accent2"/>
                </a:solidFill>
              </a:rPr>
              <a:t>   Feature Toggling – </a:t>
            </a:r>
            <a:r>
              <a:rPr lang="en-US" sz="1700" kern="0" spc="-80" dirty="0">
                <a:solidFill>
                  <a:schemeClr val="accent6"/>
                </a:solidFill>
              </a:rPr>
              <a:t>Although can be done via configs as well but special tools like below have been developed for the same – </a:t>
            </a:r>
          </a:p>
          <a:p>
            <a:pPr marL="12700" marR="5080"/>
            <a:r>
              <a:rPr lang="en-US" sz="1700" kern="0" spc="-80" dirty="0">
                <a:solidFill>
                  <a:schemeClr val="accent6"/>
                </a:solidFill>
              </a:rPr>
              <a:t>  </a:t>
            </a:r>
            <a:r>
              <a:rPr lang="en-US" sz="1700" dirty="0" err="1">
                <a:hlinkClick r:id="rId7"/>
              </a:rPr>
              <a:t>LaunchDarkly</a:t>
            </a:r>
            <a:r>
              <a:rPr lang="en-US" sz="1700" dirty="0">
                <a:hlinkClick r:id="rId7"/>
              </a:rPr>
              <a:t>: Feature Flags, Feature Management, and Experimentation</a:t>
            </a:r>
            <a:r>
              <a:rPr lang="en-US" sz="1700" kern="0" spc="-80" dirty="0">
                <a:solidFill>
                  <a:schemeClr val="accent6"/>
                </a:solidFill>
              </a:rPr>
              <a:t> </a:t>
            </a:r>
          </a:p>
          <a:p>
            <a:pPr marL="12700" marR="5080"/>
            <a:r>
              <a:rPr lang="en-US" sz="1700" kern="0" spc="-80" dirty="0">
                <a:solidFill>
                  <a:schemeClr val="accent6"/>
                </a:solidFill>
              </a:rPr>
              <a:t>  </a:t>
            </a:r>
            <a:r>
              <a:rPr lang="en-US" sz="1700" dirty="0">
                <a:hlinkClick r:id="rId8"/>
              </a:rPr>
              <a:t>Feature Flags in .NET, from simple to more advanced</a:t>
            </a:r>
            <a:endParaRPr lang="en-US" sz="1700" dirty="0"/>
          </a:p>
          <a:p>
            <a:pPr marL="12700" marR="5080"/>
            <a:r>
              <a:rPr lang="en-US" sz="1700" dirty="0"/>
              <a:t>  </a:t>
            </a:r>
            <a:r>
              <a:rPr lang="en-US" sz="1700" dirty="0">
                <a:hlinkClick r:id="rId9"/>
              </a:rPr>
              <a:t>Test-Driven or Feature Flag-Driven Development: What’s Best for Your Team?</a:t>
            </a:r>
            <a:endParaRPr lang="en-US" sz="1700" dirty="0"/>
          </a:p>
          <a:p>
            <a:pPr marL="12700" marR="5080"/>
            <a:r>
              <a:rPr lang="en-US" sz="1700" kern="0" spc="-80" dirty="0">
                <a:solidFill>
                  <a:schemeClr val="accent2"/>
                </a:solidFill>
              </a:rPr>
              <a:t>  </a:t>
            </a:r>
            <a:r>
              <a:rPr lang="en-US" sz="1700" kern="0" spc="-80" dirty="0">
                <a:solidFill>
                  <a:schemeClr val="accent6"/>
                </a:solidFill>
              </a:rPr>
              <a:t>But in some sense, the Feature Flag tools are some sort of config only. Also, it might seem that such feature flag tools should not be needed in any Enterprise but when you have lots of (micro)services and you want complex centralized management of feature toggling then such tools turn out to be very useful.</a:t>
            </a:r>
          </a:p>
          <a:p>
            <a:pPr marL="12700" marR="5080"/>
            <a:endParaRPr lang="en-US" sz="2400" kern="0" spc="-80" dirty="0">
              <a:solidFill>
                <a:schemeClr val="accent2"/>
              </a:solidFill>
            </a:endParaRPr>
          </a:p>
          <a:p>
            <a:pPr marL="12700" marR="5080"/>
            <a:endParaRPr lang="en-US" sz="2200" kern="0" spc="-80" dirty="0">
              <a:solidFill>
                <a:schemeClr val="accent2"/>
              </a:solidFill>
            </a:endParaRPr>
          </a:p>
        </p:txBody>
      </p:sp>
    </p:spTree>
    <p:extLst>
      <p:ext uri="{BB962C8B-B14F-4D97-AF65-F5344CB8AC3E}">
        <p14:creationId xmlns:p14="http://schemas.microsoft.com/office/powerpoint/2010/main" val="3555348364"/>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1800" kern="0" spc="-80" dirty="0">
                <a:solidFill>
                  <a:schemeClr val="accent2"/>
                </a:solidFill>
              </a:rPr>
              <a:t>   </a:t>
            </a:r>
            <a:r>
              <a:rPr lang="en-US" sz="1800" kern="0" spc="-80" dirty="0">
                <a:solidFill>
                  <a:schemeClr val="accent6"/>
                </a:solidFill>
              </a:rPr>
              <a:t>Difference between Business Continuity &amp; DR is that Business Continuity is continuing the business on some parts of the system failure but DR is more of accommodating to situations after total system failure.</a:t>
            </a:r>
          </a:p>
          <a:p>
            <a:pPr marL="12700" marR="5080"/>
            <a:endParaRPr lang="en-US" sz="2000" kern="0" spc="-80" dirty="0">
              <a:solidFill>
                <a:schemeClr val="accent2"/>
              </a:solidFill>
            </a:endParaRPr>
          </a:p>
          <a:p>
            <a:pPr marL="12700" marR="5080"/>
            <a:r>
              <a:rPr lang="en-US" sz="1800" kern="0" spc="-80" dirty="0">
                <a:solidFill>
                  <a:schemeClr val="accent2"/>
                </a:solidFill>
              </a:rPr>
              <a:t>   </a:t>
            </a:r>
            <a:r>
              <a:rPr lang="en-US" sz="1800" kern="0" spc="-80" dirty="0">
                <a:solidFill>
                  <a:schemeClr val="accent6"/>
                </a:solidFill>
              </a:rPr>
              <a:t>DR should be done not only for data but also for code &amp; Infra.</a:t>
            </a:r>
          </a:p>
          <a:p>
            <a:pPr marL="12700" marR="5080"/>
            <a:r>
              <a:rPr lang="en-US" sz="1800" kern="0" spc="-80" dirty="0">
                <a:solidFill>
                  <a:schemeClr val="accent6"/>
                </a:solidFill>
              </a:rPr>
              <a:t>   </a:t>
            </a:r>
            <a:r>
              <a:rPr lang="en-US" sz="1800" kern="0" spc="-80" dirty="0">
                <a:solidFill>
                  <a:schemeClr val="accent2"/>
                </a:solidFill>
              </a:rPr>
              <a:t>Code</a:t>
            </a:r>
            <a:r>
              <a:rPr lang="en-US" sz="1800" kern="0" spc="-80" dirty="0">
                <a:solidFill>
                  <a:schemeClr val="accent6"/>
                </a:solidFill>
              </a:rPr>
              <a:t> – DR can be done using Distributed Version Control Systems.</a:t>
            </a:r>
          </a:p>
          <a:p>
            <a:pPr marL="12700" marR="5080"/>
            <a:r>
              <a:rPr lang="en-US" sz="1800" kern="0" spc="-80" dirty="0">
                <a:solidFill>
                  <a:schemeClr val="accent6"/>
                </a:solidFill>
              </a:rPr>
              <a:t>   </a:t>
            </a:r>
            <a:r>
              <a:rPr lang="en-US" sz="1800" kern="0" spc="-80" dirty="0">
                <a:solidFill>
                  <a:schemeClr val="accent2"/>
                </a:solidFill>
              </a:rPr>
              <a:t>Infra</a:t>
            </a:r>
            <a:r>
              <a:rPr lang="en-US" sz="1800" kern="0" spc="-80" dirty="0">
                <a:solidFill>
                  <a:schemeClr val="accent6"/>
                </a:solidFill>
              </a:rPr>
              <a:t> – Quick Recovery can be done using </a:t>
            </a:r>
            <a:r>
              <a:rPr lang="en-US" sz="1800" kern="0" spc="-80" dirty="0" err="1">
                <a:solidFill>
                  <a:schemeClr val="accent6"/>
                </a:solidFill>
              </a:rPr>
              <a:t>IaC</a:t>
            </a:r>
            <a:r>
              <a:rPr lang="en-US" sz="1800" kern="0" spc="-80" dirty="0">
                <a:solidFill>
                  <a:schemeClr val="accent6"/>
                </a:solidFill>
              </a:rPr>
              <a:t>.</a:t>
            </a:r>
          </a:p>
          <a:p>
            <a:pPr marL="12700" marR="5080"/>
            <a:endParaRPr lang="en-US" sz="2000" kern="0" spc="-80" dirty="0">
              <a:solidFill>
                <a:schemeClr val="accent6"/>
              </a:solidFill>
            </a:endParaRPr>
          </a:p>
          <a:p>
            <a:pPr marL="12700" marR="5080"/>
            <a:r>
              <a:rPr lang="en-US" sz="2000" kern="0" spc="-80" dirty="0">
                <a:solidFill>
                  <a:schemeClr val="accent6"/>
                </a:solidFill>
              </a:rPr>
              <a:t>   </a:t>
            </a:r>
            <a:r>
              <a:rPr lang="en-US" sz="2400" kern="0" spc="-80" dirty="0">
                <a:solidFill>
                  <a:schemeClr val="accent2"/>
                </a:solidFill>
              </a:rPr>
              <a:t>RTO &amp; RPO – </a:t>
            </a:r>
          </a:p>
          <a:p>
            <a:pPr marL="12700" marR="5080"/>
            <a:r>
              <a:rPr lang="en-US" sz="2400" kern="0" spc="-80" dirty="0">
                <a:solidFill>
                  <a:schemeClr val="accent2"/>
                </a:solidFill>
              </a:rPr>
              <a:t>   </a:t>
            </a:r>
            <a:r>
              <a:rPr lang="en-US" sz="2000" kern="0" spc="-80" dirty="0">
                <a:solidFill>
                  <a:schemeClr val="accent2"/>
                </a:solidFill>
              </a:rPr>
              <a:t>RTO(Recovery Time Objective) – </a:t>
            </a:r>
            <a:r>
              <a:rPr lang="en-US" sz="2000" kern="0" spc="-80" dirty="0">
                <a:solidFill>
                  <a:schemeClr val="accent6"/>
                </a:solidFill>
              </a:rPr>
              <a:t>How much time does it take to recover from a failure? DR techniques for code &amp; infra(</a:t>
            </a:r>
            <a:r>
              <a:rPr lang="en-US" sz="2000" kern="0" spc="-80" dirty="0" err="1">
                <a:solidFill>
                  <a:schemeClr val="accent6"/>
                </a:solidFill>
              </a:rPr>
              <a:t>alongwith</a:t>
            </a:r>
            <a:r>
              <a:rPr lang="en-US" sz="2000" kern="0" spc="-80" dirty="0">
                <a:solidFill>
                  <a:schemeClr val="accent6"/>
                </a:solidFill>
              </a:rPr>
              <a:t> Data) improves this.</a:t>
            </a:r>
          </a:p>
          <a:p>
            <a:pPr marL="12700" marR="5080"/>
            <a:r>
              <a:rPr lang="en-US" sz="2000" kern="0" spc="-80" dirty="0">
                <a:solidFill>
                  <a:schemeClr val="accent2"/>
                </a:solidFill>
              </a:rPr>
              <a:t>   </a:t>
            </a:r>
          </a:p>
          <a:p>
            <a:pPr marL="12700" marR="5080"/>
            <a:r>
              <a:rPr lang="en-US" sz="2000" kern="0" spc="-80" dirty="0">
                <a:solidFill>
                  <a:schemeClr val="accent2"/>
                </a:solidFill>
              </a:rPr>
              <a:t>   RPO(Recovery Point Objective) – </a:t>
            </a:r>
            <a:r>
              <a:rPr lang="en-US" sz="2000" kern="0" spc="-80" dirty="0">
                <a:solidFill>
                  <a:schemeClr val="accent6"/>
                </a:solidFill>
              </a:rPr>
              <a:t>How much &amp; how frequently data/code/infra should be backed up so that on failure we can </a:t>
            </a:r>
            <a:r>
              <a:rPr lang="en-US" sz="2000" kern="0" spc="-80" dirty="0" err="1">
                <a:solidFill>
                  <a:schemeClr val="accent6"/>
                </a:solidFill>
              </a:rPr>
              <a:t>atleast</a:t>
            </a:r>
            <a:r>
              <a:rPr lang="en-US" sz="2000" kern="0" spc="-80" dirty="0">
                <a:solidFill>
                  <a:schemeClr val="accent6"/>
                </a:solidFill>
              </a:rPr>
              <a:t> use the Backup?</a:t>
            </a:r>
          </a:p>
          <a:p>
            <a:pPr marL="12700" marR="5080"/>
            <a:endParaRPr lang="en-US" sz="2200" kern="0" spc="-80" dirty="0">
              <a:solidFill>
                <a:schemeClr val="accent2"/>
              </a:solidFill>
            </a:endParaRPr>
          </a:p>
        </p:txBody>
      </p:sp>
    </p:spTree>
    <p:extLst>
      <p:ext uri="{BB962C8B-B14F-4D97-AF65-F5344CB8AC3E}">
        <p14:creationId xmlns:p14="http://schemas.microsoft.com/office/powerpoint/2010/main" val="921806176"/>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28315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Age-Old On-Premise DR Techniques – </a:t>
            </a:r>
          </a:p>
          <a:p>
            <a:pPr marL="12700" marR="5080"/>
            <a:r>
              <a:rPr lang="en-US" sz="2000" kern="0" spc="-80" dirty="0">
                <a:solidFill>
                  <a:schemeClr val="accent2"/>
                </a:solidFill>
              </a:rPr>
              <a:t>     </a:t>
            </a:r>
          </a:p>
          <a:p>
            <a:pPr marL="12700" marR="5080"/>
            <a:endParaRPr lang="en-US" sz="2000" kern="0" spc="-80" dirty="0">
              <a:solidFill>
                <a:schemeClr val="accent2"/>
              </a:solidFill>
            </a:endParaRPr>
          </a:p>
          <a:p>
            <a:pPr marL="12700" marR="5080"/>
            <a:r>
              <a:rPr lang="en-US" sz="2000" kern="0" spc="-80" dirty="0">
                <a:solidFill>
                  <a:schemeClr val="accent2"/>
                </a:solidFill>
              </a:rPr>
              <a:t>   </a:t>
            </a: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p:txBody>
      </p:sp>
      <p:pic>
        <p:nvPicPr>
          <p:cNvPr id="1026" name="Picture 2" descr="Active-Active performs the quickest recovery">
            <a:extLst>
              <a:ext uri="{FF2B5EF4-FFF2-40B4-BE49-F238E27FC236}">
                <a16:creationId xmlns:a16="http://schemas.microsoft.com/office/drawing/2014/main" id="{1109D9ED-2646-DD64-10CA-4D322EB9EAA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3400" y="1447800"/>
            <a:ext cx="7010400" cy="20955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Chapter 3. Active-Passive Disaster Recovery Red Hat Virtualization 4.3 |  Red Hat Customer Portal">
            <a:extLst>
              <a:ext uri="{FF2B5EF4-FFF2-40B4-BE49-F238E27FC236}">
                <a16:creationId xmlns:a16="http://schemas.microsoft.com/office/drawing/2014/main" id="{67F5E920-E035-6A69-B12A-9E7F3D9C8C2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85800" y="3705225"/>
            <a:ext cx="7543800" cy="2085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8348341"/>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858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Cloud DR Techniques – </a:t>
            </a:r>
          </a:p>
        </p:txBody>
      </p:sp>
      <p:sp>
        <p:nvSpPr>
          <p:cNvPr id="7" name="object 2">
            <a:extLst>
              <a:ext uri="{FF2B5EF4-FFF2-40B4-BE49-F238E27FC236}">
                <a16:creationId xmlns:a16="http://schemas.microsoft.com/office/drawing/2014/main" id="{C6B66438-B4FF-57ED-633D-7C5876350C38}"/>
              </a:ext>
            </a:extLst>
          </p:cNvPr>
          <p:cNvSpPr txBox="1">
            <a:spLocks/>
          </p:cNvSpPr>
          <p:nvPr/>
        </p:nvSpPr>
        <p:spPr>
          <a:xfrm>
            <a:off x="290463" y="67512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Cloud DR Techniques – </a:t>
            </a:r>
          </a:p>
        </p:txBody>
      </p:sp>
      <p:sp>
        <p:nvSpPr>
          <p:cNvPr id="8" name="object 2">
            <a:extLst>
              <a:ext uri="{FF2B5EF4-FFF2-40B4-BE49-F238E27FC236}">
                <a16:creationId xmlns:a16="http://schemas.microsoft.com/office/drawing/2014/main" id="{DC5E15BA-0B9F-B3EA-3B8F-3E45692C2C7C}"/>
              </a:ext>
            </a:extLst>
          </p:cNvPr>
          <p:cNvSpPr txBox="1">
            <a:spLocks/>
          </p:cNvSpPr>
          <p:nvPr/>
        </p:nvSpPr>
        <p:spPr>
          <a:xfrm>
            <a:off x="380024" y="4806811"/>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1400" dirty="0">
                <a:hlinkClick r:id="rId7"/>
              </a:rPr>
              <a:t>Disaster recovery options in the cloud</a:t>
            </a:r>
            <a:endParaRPr lang="en-US" sz="1400" dirty="0"/>
          </a:p>
          <a:p>
            <a:pPr marL="12700" marR="5080"/>
            <a:r>
              <a:rPr lang="en-US" sz="1400" dirty="0">
                <a:hlinkClick r:id="rId8"/>
              </a:rPr>
              <a:t>Enterprise-scale disaster recovery</a:t>
            </a:r>
            <a:endParaRPr lang="en-US" sz="1400" dirty="0"/>
          </a:p>
          <a:p>
            <a:pPr marL="12700" marR="5080"/>
            <a:r>
              <a:rPr lang="en-US" sz="1400" dirty="0">
                <a:hlinkClick r:id="rId9"/>
              </a:rPr>
              <a:t>The ultimate guide to achieving RPO/RTO</a:t>
            </a:r>
            <a:endParaRPr lang="en-US" sz="1400" kern="0" spc="-80" dirty="0">
              <a:solidFill>
                <a:schemeClr val="accent2"/>
              </a:solidFill>
            </a:endParaRPr>
          </a:p>
        </p:txBody>
      </p:sp>
      <p:pic>
        <p:nvPicPr>
          <p:cNvPr id="1026" name="Picture 2" descr="Disaster Recovery (DR) Architecture on AWS, Part I: Strategies for Recovery  in the Cloud | AWS Architecture Blog">
            <a:extLst>
              <a:ext uri="{FF2B5EF4-FFF2-40B4-BE49-F238E27FC236}">
                <a16:creationId xmlns:a16="http://schemas.microsoft.com/office/drawing/2014/main" id="{E49B1EBC-D70F-8F71-33AA-73C057287BCA}"/>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0" y="1417755"/>
            <a:ext cx="9144000" cy="33783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7971246"/>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6F7CA-6182-6FEC-A1EB-239D071CBA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F4CF8B-1878-C56A-6FEC-C53E2FCA6C6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4E79C81-E2B5-5B58-5EB4-D8FBCE0B06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3E01C21-88D8-9350-80C1-BEF16DB0F1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A65217-8B47-6494-65C8-1237BA2403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4AC8737-F59E-7D77-05D6-D54E6651E1D4}"/>
              </a:ext>
            </a:extLst>
          </p:cNvPr>
          <p:cNvSpPr txBox="1">
            <a:spLocks/>
          </p:cNvSpPr>
          <p:nvPr/>
        </p:nvSpPr>
        <p:spPr>
          <a:xfrm>
            <a:off x="290463" y="762000"/>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750" kern="0" spc="-80" dirty="0">
                <a:solidFill>
                  <a:schemeClr val="accent6"/>
                </a:solidFill>
              </a:rPr>
              <a:t>Cloud cost optimization involves techniques like rightsizing instances, shutting down idle resources, and using commitment-based savings plans or reserved instances for predictable workloads. Other strategies include implementing auto-scaling, leveraging spot instances for fault-tolerant tasks, and optimizing storage and data transfer costs. </a:t>
            </a:r>
          </a:p>
          <a:p>
            <a:r>
              <a:rPr lang="en-US" sz="1750" kern="0" spc="-80" dirty="0">
                <a:solidFill>
                  <a:schemeClr val="accent2"/>
                </a:solidFill>
              </a:rPr>
              <a:t>Optimize resources and usage</a:t>
            </a:r>
          </a:p>
          <a:p>
            <a:r>
              <a:rPr lang="en-US" sz="1750" kern="0" spc="-80" dirty="0" err="1">
                <a:solidFill>
                  <a:schemeClr val="accent2"/>
                </a:solidFill>
              </a:rPr>
              <a:t>Rightsize</a:t>
            </a:r>
            <a:r>
              <a:rPr lang="en-US" sz="1750" kern="0" spc="-80" dirty="0">
                <a:solidFill>
                  <a:schemeClr val="accent2"/>
                </a:solidFill>
              </a:rPr>
              <a:t> instances: </a:t>
            </a:r>
          </a:p>
          <a:p>
            <a:r>
              <a:rPr lang="en-US" sz="1750" kern="0" spc="-80" dirty="0">
                <a:solidFill>
                  <a:schemeClr val="accent6"/>
                </a:solidFill>
              </a:rPr>
              <a:t>Match the size of your virtual machines and services to your actual workload requirements to avoid overspending on oversized instances. </a:t>
            </a:r>
          </a:p>
          <a:p>
            <a:r>
              <a:rPr lang="en-US" sz="1750" kern="0" spc="-80" dirty="0">
                <a:solidFill>
                  <a:schemeClr val="accent2"/>
                </a:solidFill>
              </a:rPr>
              <a:t>Eliminate idle resources: </a:t>
            </a:r>
          </a:p>
          <a:p>
            <a:r>
              <a:rPr lang="en-US" sz="1750" kern="0" spc="-80" dirty="0">
                <a:solidFill>
                  <a:schemeClr val="accent6"/>
                </a:solidFill>
              </a:rPr>
              <a:t>Identify and shut down unused or idle resources, such as virtual machines, storage, and other services. </a:t>
            </a:r>
          </a:p>
          <a:p>
            <a:r>
              <a:rPr lang="en-US" sz="1750" kern="0" spc="-80" dirty="0">
                <a:solidFill>
                  <a:schemeClr val="accent2"/>
                </a:solidFill>
              </a:rPr>
              <a:t>Use autoscaling: </a:t>
            </a:r>
          </a:p>
          <a:p>
            <a:r>
              <a:rPr lang="en-US" sz="1750" kern="0" spc="-80" dirty="0">
                <a:solidFill>
                  <a:schemeClr val="accent6"/>
                </a:solidFill>
              </a:rPr>
              <a:t>Automatically adjust the number of resources based on demand, scaling up during peak times and down during off-peak hours. </a:t>
            </a:r>
          </a:p>
          <a:p>
            <a:r>
              <a:rPr lang="en-US" sz="1750" kern="0" spc="-80" dirty="0">
                <a:solidFill>
                  <a:schemeClr val="accent2"/>
                </a:solidFill>
              </a:rPr>
              <a:t>Use reserved instances and savings plans: </a:t>
            </a:r>
          </a:p>
          <a:p>
            <a:r>
              <a:rPr lang="en-US" sz="1750" kern="0" spc="-80" dirty="0">
                <a:solidFill>
                  <a:schemeClr val="accent6"/>
                </a:solidFill>
              </a:rPr>
              <a:t>Commit to a one- or three-year term for stable workloads to get significant discounts compared to pay-as-you-go pricing. </a:t>
            </a:r>
          </a:p>
        </p:txBody>
      </p:sp>
    </p:spTree>
    <p:extLst>
      <p:ext uri="{BB962C8B-B14F-4D97-AF65-F5344CB8AC3E}">
        <p14:creationId xmlns:p14="http://schemas.microsoft.com/office/powerpoint/2010/main" val="3944437641"/>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51783-00D6-BA40-1378-48AA4B469D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B7EEEA-8066-FB56-C645-EE7F03586F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631A6A-2BC3-712E-878C-78BD1EAB77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D2F410-4A21-1136-F64F-67EA359010F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5B5A3DD-8C89-FA28-315F-41450271D32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F2F44D9-8CCA-5DE1-B415-9577EE991634}"/>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800" kern="0" spc="-80" dirty="0">
                <a:solidFill>
                  <a:schemeClr val="accent2"/>
                </a:solidFill>
              </a:rPr>
              <a:t>Leverage spot instances: </a:t>
            </a:r>
          </a:p>
          <a:p>
            <a:r>
              <a:rPr lang="en-US" sz="1800" kern="0" spc="-80" dirty="0">
                <a:solidFill>
                  <a:schemeClr val="accent6"/>
                </a:solidFill>
              </a:rPr>
              <a:t>Use these deeply discounted instances for non-critical, fault-tolerant workloads like big data processing or development and test environments, as they can be terminated by the provider. </a:t>
            </a:r>
          </a:p>
          <a:p>
            <a:r>
              <a:rPr lang="en-US" sz="1800" kern="0" spc="-80" dirty="0">
                <a:solidFill>
                  <a:schemeClr val="accent2"/>
                </a:solidFill>
              </a:rPr>
              <a:t>Optimize data and storage</a:t>
            </a:r>
          </a:p>
          <a:p>
            <a:r>
              <a:rPr lang="en-US" sz="1800" kern="0" spc="-80" dirty="0">
                <a:solidFill>
                  <a:schemeClr val="accent2"/>
                </a:solidFill>
              </a:rPr>
              <a:t>Choose the right storage: </a:t>
            </a:r>
          </a:p>
          <a:p>
            <a:r>
              <a:rPr lang="en-US" sz="1800" kern="0" spc="-80" dirty="0">
                <a:solidFill>
                  <a:schemeClr val="accent6"/>
                </a:solidFill>
              </a:rPr>
              <a:t>Select the most appropriate storage options for your data based on its access frequency and performance needs. </a:t>
            </a:r>
          </a:p>
          <a:p>
            <a:r>
              <a:rPr lang="en-US" sz="1800" kern="0" spc="-80" dirty="0">
                <a:solidFill>
                  <a:schemeClr val="accent2"/>
                </a:solidFill>
              </a:rPr>
              <a:t>Limit data transfer fees: </a:t>
            </a:r>
          </a:p>
          <a:p>
            <a:r>
              <a:rPr lang="en-US" sz="1800" kern="0" spc="-80" dirty="0">
                <a:solidFill>
                  <a:schemeClr val="accent6"/>
                </a:solidFill>
              </a:rPr>
              <a:t>Minimize unnecessary data transfers between cloud services or regions to reduce costs. </a:t>
            </a:r>
          </a:p>
          <a:p>
            <a:r>
              <a:rPr lang="en-US" sz="1800" kern="0" spc="-80" dirty="0">
                <a:solidFill>
                  <a:schemeClr val="accent2"/>
                </a:solidFill>
              </a:rPr>
              <a:t>Delete unused snapshots: </a:t>
            </a:r>
          </a:p>
          <a:p>
            <a:r>
              <a:rPr lang="en-US" sz="1800" kern="0" spc="-80" dirty="0">
                <a:solidFill>
                  <a:schemeClr val="accent6"/>
                </a:solidFill>
              </a:rPr>
              <a:t>Regularly clean up old or unnecessary snapshots to avoid incurring storage costs. </a:t>
            </a:r>
          </a:p>
          <a:p>
            <a:r>
              <a:rPr lang="en-US" sz="1800" kern="0" spc="-80" dirty="0">
                <a:solidFill>
                  <a:schemeClr val="accent2"/>
                </a:solidFill>
              </a:rPr>
              <a:t>Release unused IP addresses: </a:t>
            </a:r>
          </a:p>
          <a:p>
            <a:r>
              <a:rPr lang="en-US" sz="1800" kern="0" spc="-80" dirty="0">
                <a:solidFill>
                  <a:schemeClr val="accent6"/>
                </a:solidFill>
              </a:rPr>
              <a:t>Release idle or unused Elastic IP addresses, as they can incur costs when not attached to an instance. </a:t>
            </a:r>
          </a:p>
        </p:txBody>
      </p:sp>
    </p:spTree>
    <p:extLst>
      <p:ext uri="{BB962C8B-B14F-4D97-AF65-F5344CB8AC3E}">
        <p14:creationId xmlns:p14="http://schemas.microsoft.com/office/powerpoint/2010/main" val="264246923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C1465-195F-7847-43D5-7EC547BD7F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F6CE86-5C4F-A7C6-237A-678FC7AA82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BC39A9-E735-F715-5260-61AD8B314D9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6FC5CF4-03FA-59EC-48F5-4ED526792EA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C8E470-76E7-6B5F-50CC-9A33B451B3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DD0A4B3-EB1B-23DD-CF02-394E9F436009}"/>
              </a:ext>
            </a:extLst>
          </p:cNvPr>
          <p:cNvSpPr txBox="1">
            <a:spLocks/>
          </p:cNvSpPr>
          <p:nvPr/>
        </p:nvSpPr>
        <p:spPr>
          <a:xfrm>
            <a:off x="290463" y="76200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400" kern="0" spc="-80" dirty="0">
                <a:solidFill>
                  <a:schemeClr val="accent2"/>
                </a:solidFill>
              </a:rPr>
              <a:t>Implement better cost management practices</a:t>
            </a:r>
          </a:p>
          <a:p>
            <a:r>
              <a:rPr lang="en-US" sz="1400" kern="0" spc="-80" dirty="0">
                <a:solidFill>
                  <a:schemeClr val="accent2"/>
                </a:solidFill>
              </a:rPr>
              <a:t>Monitor and tag resources: </a:t>
            </a:r>
          </a:p>
          <a:p>
            <a:r>
              <a:rPr lang="en-US" sz="1400" kern="0" spc="-80" dirty="0">
                <a:solidFill>
                  <a:schemeClr val="accent6"/>
                </a:solidFill>
              </a:rPr>
              <a:t>Use tagging and cost allocation tools to tag resources and gain visibility into spending by department or project. </a:t>
            </a:r>
          </a:p>
          <a:p>
            <a:r>
              <a:rPr lang="en-US" sz="1400" kern="0" spc="-80" dirty="0">
                <a:solidFill>
                  <a:schemeClr val="accent2"/>
                </a:solidFill>
              </a:rPr>
              <a:t>Set budgets and alerts: </a:t>
            </a:r>
          </a:p>
          <a:p>
            <a:r>
              <a:rPr lang="en-US" sz="1400" kern="0" spc="-80" dirty="0">
                <a:solidFill>
                  <a:schemeClr val="accent6"/>
                </a:solidFill>
              </a:rPr>
              <a:t>Establish budgets and set up alerts to be notified when spending approaches or exceeds predefined limits. </a:t>
            </a:r>
          </a:p>
          <a:p>
            <a:r>
              <a:rPr lang="en-US" sz="1400" kern="0" spc="-80" dirty="0">
                <a:solidFill>
                  <a:schemeClr val="accent2"/>
                </a:solidFill>
              </a:rPr>
              <a:t>Automate cost optimization: </a:t>
            </a:r>
          </a:p>
          <a:p>
            <a:r>
              <a:rPr lang="en-US" sz="1400" kern="0" spc="-80" dirty="0">
                <a:solidFill>
                  <a:schemeClr val="accent6"/>
                </a:solidFill>
              </a:rPr>
              <a:t>Integrate cost optimization into your CI/CD pipelines and use automated tools to identify and remediate cost anomalies. </a:t>
            </a:r>
          </a:p>
          <a:p>
            <a:r>
              <a:rPr lang="en-US" sz="1400" kern="0" spc="-80" dirty="0">
                <a:solidFill>
                  <a:schemeClr val="accent2"/>
                </a:solidFill>
              </a:rPr>
              <a:t>Conduct regular audits: </a:t>
            </a:r>
          </a:p>
          <a:p>
            <a:r>
              <a:rPr lang="en-US" sz="1400" kern="0" spc="-80" dirty="0">
                <a:solidFill>
                  <a:schemeClr val="accent6"/>
                </a:solidFill>
              </a:rPr>
              <a:t>Perform periodic audits to review spending patterns, identify new optimization opportunities, and ensure policies are being followed. </a:t>
            </a:r>
          </a:p>
          <a:p>
            <a:r>
              <a:rPr lang="en-US" sz="1400" kern="0" spc="-80" dirty="0">
                <a:solidFill>
                  <a:schemeClr val="accent2"/>
                </a:solidFill>
              </a:rPr>
              <a:t>Build a cost-aware culture: </a:t>
            </a:r>
          </a:p>
          <a:p>
            <a:r>
              <a:rPr lang="en-US" sz="1400" kern="0" spc="-80" dirty="0">
                <a:solidFill>
                  <a:schemeClr val="accent6"/>
                </a:solidFill>
              </a:rPr>
              <a:t>Foster a culture where everyone on the team understands and is accountable for managing cloud costs. </a:t>
            </a:r>
          </a:p>
          <a:p>
            <a:endParaRPr lang="en-US" sz="1400" kern="0" spc="-80" dirty="0">
              <a:solidFill>
                <a:schemeClr val="accent6"/>
              </a:solidFill>
            </a:endParaRPr>
          </a:p>
          <a:p>
            <a:pPr marL="12700" marR="5080"/>
            <a:r>
              <a:rPr lang="en-US" sz="1400" kern="0" spc="-80" dirty="0">
                <a:solidFill>
                  <a:schemeClr val="accent2"/>
                </a:solidFill>
              </a:rPr>
              <a:t>For Further Exploration – </a:t>
            </a:r>
          </a:p>
          <a:p>
            <a:pPr marL="12700" marR="5080"/>
            <a:r>
              <a:rPr lang="en-US" sz="1400" dirty="0">
                <a:hlinkClick r:id="rId7"/>
              </a:rPr>
              <a:t>Awesome-</a:t>
            </a:r>
            <a:r>
              <a:rPr lang="en-US" sz="1400" dirty="0" err="1">
                <a:hlinkClick r:id="rId7"/>
              </a:rPr>
              <a:t>Finops</a:t>
            </a:r>
            <a:r>
              <a:rPr lang="en-US" sz="1400" dirty="0">
                <a:hlinkClick r:id="rId7"/>
              </a:rPr>
              <a:t>: Awesome FinOps Resources</a:t>
            </a:r>
            <a:r>
              <a:rPr lang="en-US" sz="1400" kern="0" spc="-80" dirty="0">
                <a:solidFill>
                  <a:schemeClr val="accent2"/>
                </a:solidFill>
              </a:rPr>
              <a:t> </a:t>
            </a:r>
          </a:p>
          <a:p>
            <a:pPr marL="12700" marR="5080"/>
            <a:r>
              <a:rPr lang="en-US" sz="1400" dirty="0">
                <a:hlinkClick r:id="rId8"/>
              </a:rPr>
              <a:t>Efficient Cloud FinOps | Cloud &amp; Networking | Print</a:t>
            </a:r>
            <a:endParaRPr lang="en-US" sz="1400" dirty="0"/>
          </a:p>
          <a:p>
            <a:pPr marL="12700" marR="5080"/>
            <a:r>
              <a:rPr lang="en-IN" sz="1400" dirty="0">
                <a:hlinkClick r:id="rId9"/>
              </a:rPr>
              <a:t>Cloud FinOps[Book]</a:t>
            </a:r>
            <a:r>
              <a:rPr lang="en-US" sz="1400" dirty="0"/>
              <a:t> </a:t>
            </a:r>
          </a:p>
          <a:p>
            <a:pPr marL="12700" marR="5080"/>
            <a:r>
              <a:rPr lang="en-US" sz="1400" dirty="0">
                <a:hlinkClick r:id="rId10"/>
              </a:rPr>
              <a:t>Azure-</a:t>
            </a:r>
            <a:r>
              <a:rPr lang="en-US" sz="1400" dirty="0" err="1">
                <a:hlinkClick r:id="rId10"/>
              </a:rPr>
              <a:t>Finops</a:t>
            </a:r>
            <a:r>
              <a:rPr lang="en-US" sz="1400" dirty="0">
                <a:hlinkClick r:id="rId10"/>
              </a:rPr>
              <a:t>-Guide</a:t>
            </a:r>
            <a:endParaRPr lang="en-US" sz="1400" dirty="0"/>
          </a:p>
          <a:p>
            <a:pPr marL="12700" marR="5080"/>
            <a:r>
              <a:rPr lang="en-IN" sz="1400" dirty="0">
                <a:hlinkClick r:id="rId11"/>
              </a:rPr>
              <a:t>FinOps-Handbook-for-Microsoft-Azure</a:t>
            </a:r>
            <a:endParaRPr lang="en-US" sz="1400" kern="0" spc="-80" dirty="0">
              <a:solidFill>
                <a:schemeClr val="accent2"/>
              </a:solidFill>
            </a:endParaRPr>
          </a:p>
          <a:p>
            <a:endParaRPr lang="en-US" sz="1400" kern="0" spc="-80" dirty="0">
              <a:solidFill>
                <a:schemeClr val="accent6"/>
              </a:solidFill>
            </a:endParaRPr>
          </a:p>
        </p:txBody>
      </p:sp>
    </p:spTree>
    <p:extLst>
      <p:ext uri="{BB962C8B-B14F-4D97-AF65-F5344CB8AC3E}">
        <p14:creationId xmlns:p14="http://schemas.microsoft.com/office/powerpoint/2010/main" val="116427418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ED187-34C2-7D8B-35EC-CE82757D10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0AE5EF-69AF-79B5-FFF0-3D4B2A75D6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6D7FD0-0D78-5182-0996-B26C5D6F15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AA2815C-3452-8581-B6DA-7322B419203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22CA180-6131-DF3C-1892-6E936AC7DF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B05AEB3-EF11-5398-E2CA-82005FEB0841}"/>
              </a:ext>
            </a:extLst>
          </p:cNvPr>
          <p:cNvSpPr txBox="1">
            <a:spLocks/>
          </p:cNvSpPr>
          <p:nvPr/>
        </p:nvSpPr>
        <p:spPr>
          <a:xfrm>
            <a:off x="290463" y="762000"/>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Operational Excellence (Techniques)</a:t>
            </a:r>
          </a:p>
          <a:p>
            <a:r>
              <a:rPr lang="en-US" sz="1400" kern="0" spc="-80" dirty="0">
                <a:solidFill>
                  <a:schemeClr val="accent6"/>
                </a:solidFill>
              </a:rPr>
              <a:t>Cloud operational excellence techniques include automation through infrastructure as code (</a:t>
            </a:r>
            <a:r>
              <a:rPr lang="en-US" sz="1400" kern="0" spc="-80" dirty="0" err="1">
                <a:solidFill>
                  <a:schemeClr val="accent6"/>
                </a:solidFill>
              </a:rPr>
              <a:t>IaC</a:t>
            </a:r>
            <a:r>
              <a:rPr lang="en-US" sz="1400" kern="0" spc="-80" dirty="0">
                <a:solidFill>
                  <a:schemeClr val="accent6"/>
                </a:solidFill>
              </a:rPr>
              <a:t>), continuous improvement of processes, and proactive monitoring and logging. Other key strategies are making frequent, small, and reversible changes to systems, anticipating failure, and learning from all operational failures. </a:t>
            </a:r>
          </a:p>
          <a:p>
            <a:r>
              <a:rPr lang="en-US" sz="1400" kern="0" spc="-80" dirty="0">
                <a:solidFill>
                  <a:schemeClr val="accent2"/>
                </a:solidFill>
              </a:rPr>
              <a:t>Automation and standardization</a:t>
            </a:r>
          </a:p>
          <a:p>
            <a:r>
              <a:rPr lang="en-US" sz="1400" kern="0" spc="-80" dirty="0">
                <a:solidFill>
                  <a:schemeClr val="accent2"/>
                </a:solidFill>
              </a:rPr>
              <a:t>Automate everything: </a:t>
            </a:r>
          </a:p>
          <a:p>
            <a:r>
              <a:rPr lang="en-US" sz="1400" kern="0" spc="-80" dirty="0">
                <a:solidFill>
                  <a:schemeClr val="accent6"/>
                </a:solidFill>
              </a:rPr>
              <a:t>Use tools and processes to automate deployments, maintenance, and workflows, including using </a:t>
            </a:r>
            <a:r>
              <a:rPr lang="en-US" sz="1400" kern="0" spc="-80" dirty="0" err="1">
                <a:solidFill>
                  <a:schemeClr val="accent6"/>
                </a:solidFill>
              </a:rPr>
              <a:t>IaC</a:t>
            </a:r>
            <a:r>
              <a:rPr lang="en-US" sz="1400" kern="0" spc="-80" dirty="0">
                <a:solidFill>
                  <a:schemeClr val="accent6"/>
                </a:solidFill>
              </a:rPr>
              <a:t> for infrastructure and standardizing build and release processes. </a:t>
            </a:r>
          </a:p>
          <a:p>
            <a:r>
              <a:rPr lang="en-US" sz="1400" kern="0" spc="-80" dirty="0">
                <a:solidFill>
                  <a:schemeClr val="accent2"/>
                </a:solidFill>
              </a:rPr>
              <a:t>Standardize processes: </a:t>
            </a:r>
          </a:p>
          <a:p>
            <a:r>
              <a:rPr lang="en-US" sz="1400" kern="0" spc="-80" dirty="0">
                <a:solidFill>
                  <a:schemeClr val="accent6"/>
                </a:solidFill>
              </a:rPr>
              <a:t>Create standardized approaches for deployments, code management, and monitoring to ensure consistency and reduce errors. </a:t>
            </a:r>
          </a:p>
          <a:p>
            <a:r>
              <a:rPr lang="en-US" sz="1400" kern="0" spc="-80" dirty="0">
                <a:solidFill>
                  <a:schemeClr val="accent2"/>
                </a:solidFill>
              </a:rPr>
              <a:t>Develop a "operations as code" mindset: </a:t>
            </a:r>
          </a:p>
          <a:p>
            <a:r>
              <a:rPr lang="en-US" sz="1400" kern="0" spc="-80" dirty="0">
                <a:solidFill>
                  <a:schemeClr val="accent6"/>
                </a:solidFill>
              </a:rPr>
              <a:t>Apply coding principles to operations by treating operational tasks and procedures like code, making them repeatable and version-controlled. </a:t>
            </a:r>
          </a:p>
          <a:p>
            <a:r>
              <a:rPr lang="en-US" sz="1400" kern="0" spc="-80" dirty="0">
                <a:solidFill>
                  <a:schemeClr val="accent6"/>
                </a:solidFill>
              </a:rPr>
              <a:t>Continuous improvement and learning</a:t>
            </a:r>
          </a:p>
          <a:p>
            <a:r>
              <a:rPr lang="en-US" sz="1400" kern="0" spc="-80" dirty="0">
                <a:solidFill>
                  <a:schemeClr val="accent2"/>
                </a:solidFill>
              </a:rPr>
              <a:t>Make frequent, small changes: </a:t>
            </a:r>
          </a:p>
          <a:p>
            <a:r>
              <a:rPr lang="en-US" sz="1400" kern="0" spc="-80" dirty="0">
                <a:solidFill>
                  <a:schemeClr val="accent6"/>
                </a:solidFill>
              </a:rPr>
              <a:t>Deploy updates in small, manageable batches to minimize the impact of any issues and make them easier to reverse if necessary.</a:t>
            </a:r>
          </a:p>
          <a:p>
            <a:r>
              <a:rPr lang="en-US" sz="1400" kern="0" spc="-80" dirty="0">
                <a:solidFill>
                  <a:schemeClr val="accent2"/>
                </a:solidFill>
              </a:rPr>
              <a:t>Anticipate and plan for failure: </a:t>
            </a:r>
          </a:p>
          <a:p>
            <a:r>
              <a:rPr lang="en-US" sz="1400" kern="0" spc="-80" dirty="0">
                <a:solidFill>
                  <a:schemeClr val="accent6"/>
                </a:solidFill>
              </a:rPr>
              <a:t>Identify potential points of failure and proactively test your ability to handle them through simulations or "game days".</a:t>
            </a:r>
          </a:p>
        </p:txBody>
      </p:sp>
    </p:spTree>
    <p:extLst>
      <p:ext uri="{BB962C8B-B14F-4D97-AF65-F5344CB8AC3E}">
        <p14:creationId xmlns:p14="http://schemas.microsoft.com/office/powerpoint/2010/main" val="399392825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A050-CAD2-792B-EBA7-2F581BE309E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A438B5-35B2-12E3-80F1-DFCB1125C0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14CB9D-AA57-9E6B-1181-AEAD8015DE9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87A21B5-7405-30EC-72C9-A16FA47FC09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44C90C-DBDC-7486-492F-9FC4046AEE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A0DC114-410D-2C19-8BEE-66939F40DF78}"/>
              </a:ext>
            </a:extLst>
          </p:cNvPr>
          <p:cNvSpPr txBox="1">
            <a:spLocks/>
          </p:cNvSpPr>
          <p:nvPr/>
        </p:nvSpPr>
        <p:spPr>
          <a:xfrm>
            <a:off x="290463" y="762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Operational Excellence (Techniques)</a:t>
            </a:r>
          </a:p>
          <a:p>
            <a:r>
              <a:rPr lang="en-US" sz="1400" kern="0" spc="-80" dirty="0">
                <a:solidFill>
                  <a:schemeClr val="accent2"/>
                </a:solidFill>
              </a:rPr>
              <a:t>Learn from failures: </a:t>
            </a:r>
          </a:p>
          <a:p>
            <a:r>
              <a:rPr lang="en-US" sz="1400" kern="0" spc="-80" dirty="0">
                <a:solidFill>
                  <a:schemeClr val="accent6"/>
                </a:solidFill>
              </a:rPr>
              <a:t>Establish a process to document all operational failures and share the lessons learned across the organization to prevent future occurrences.</a:t>
            </a:r>
          </a:p>
          <a:p>
            <a:r>
              <a:rPr lang="en-US" sz="1400" kern="0" spc="-80" dirty="0">
                <a:solidFill>
                  <a:schemeClr val="accent2"/>
                </a:solidFill>
              </a:rPr>
              <a:t>Refine processes: </a:t>
            </a:r>
          </a:p>
          <a:p>
            <a:r>
              <a:rPr lang="en-US" sz="1400" kern="0" spc="-80" dirty="0">
                <a:solidFill>
                  <a:schemeClr val="accent6"/>
                </a:solidFill>
              </a:rPr>
              <a:t>Continuously review and improve operational procedures, seeking out opportunities to make them more efficient. </a:t>
            </a:r>
          </a:p>
          <a:p>
            <a:r>
              <a:rPr lang="en-US" sz="1400" kern="0" spc="-80" dirty="0">
                <a:solidFill>
                  <a:schemeClr val="accent2"/>
                </a:solidFill>
              </a:rPr>
              <a:t>Monitoring and management</a:t>
            </a:r>
          </a:p>
          <a:p>
            <a:r>
              <a:rPr lang="en-US" sz="1400" kern="0" spc="-80" dirty="0">
                <a:solidFill>
                  <a:schemeClr val="accent6"/>
                </a:solidFill>
              </a:rPr>
              <a:t>Implement comprehensive monitoring: </a:t>
            </a:r>
          </a:p>
          <a:p>
            <a:r>
              <a:rPr lang="en-US" sz="1400" kern="0" spc="-80" dirty="0">
                <a:solidFill>
                  <a:schemeClr val="accent6"/>
                </a:solidFill>
              </a:rPr>
              <a:t>Set up detailed monitoring, alerting, and logging for both the platform and workloads to maintain visibility into system health. </a:t>
            </a:r>
          </a:p>
          <a:p>
            <a:r>
              <a:rPr lang="en-US" sz="1400" kern="0" spc="-80" dirty="0">
                <a:solidFill>
                  <a:schemeClr val="accent2"/>
                </a:solidFill>
              </a:rPr>
              <a:t>Manage capacity: </a:t>
            </a:r>
          </a:p>
          <a:p>
            <a:r>
              <a:rPr lang="en-US" sz="1400" kern="0" spc="-80" dirty="0">
                <a:solidFill>
                  <a:schemeClr val="accent6"/>
                </a:solidFill>
              </a:rPr>
              <a:t>Actively manage service quotas and perform capacity planning to ensure your cloud environment can handle current and future demand. </a:t>
            </a:r>
          </a:p>
          <a:p>
            <a:r>
              <a:rPr lang="en-US" sz="1400" kern="0" spc="-80" dirty="0">
                <a:solidFill>
                  <a:schemeClr val="accent2"/>
                </a:solidFill>
              </a:rPr>
              <a:t>Establish roles and responsibilities: </a:t>
            </a:r>
          </a:p>
          <a:p>
            <a:r>
              <a:rPr lang="en-US" sz="1400" kern="0" spc="-80" dirty="0">
                <a:solidFill>
                  <a:schemeClr val="accent6"/>
                </a:solidFill>
              </a:rPr>
              <a:t>Clearly define who is responsible for different operational tasks and decision-making to create accountability. </a:t>
            </a:r>
          </a:p>
          <a:p>
            <a:endParaRPr lang="en-US" sz="1400" kern="0" spc="-80" dirty="0">
              <a:solidFill>
                <a:schemeClr val="accent6"/>
              </a:solidFill>
            </a:endParaRPr>
          </a:p>
          <a:p>
            <a:r>
              <a:rPr lang="en-US" sz="1400" kern="0" spc="-80" dirty="0">
                <a:solidFill>
                  <a:schemeClr val="accent2"/>
                </a:solidFill>
              </a:rPr>
              <a:t>For Further Exploration</a:t>
            </a:r>
          </a:p>
          <a:p>
            <a:r>
              <a:rPr lang="en-IN" sz="1400" dirty="0">
                <a:hlinkClick r:id="rId7"/>
              </a:rPr>
              <a:t>Continuous Delivery</a:t>
            </a:r>
            <a:endParaRPr lang="en-IN" sz="1400" dirty="0"/>
          </a:p>
          <a:p>
            <a:r>
              <a:rPr lang="en-US" sz="1400" dirty="0">
                <a:hlinkClick r:id="rId8"/>
              </a:rPr>
              <a:t>Release It</a:t>
            </a:r>
            <a:r>
              <a:rPr lang="en-US" sz="1400">
                <a:hlinkClick r:id="rId8"/>
              </a:rPr>
              <a:t>! </a:t>
            </a:r>
            <a:endParaRPr lang="en-US" sz="1400" kern="0" spc="-80" dirty="0">
              <a:solidFill>
                <a:schemeClr val="accent2"/>
              </a:solidFill>
            </a:endParaRPr>
          </a:p>
        </p:txBody>
      </p:sp>
    </p:spTree>
    <p:extLst>
      <p:ext uri="{BB962C8B-B14F-4D97-AF65-F5344CB8AC3E}">
        <p14:creationId xmlns:p14="http://schemas.microsoft.com/office/powerpoint/2010/main" val="341529172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4FE03-492F-D1DC-7FF5-A13BCE2A0A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A67D6E-1B2B-74DD-86B1-F1F4AE7FC4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6578DB-38F7-7A86-0AFE-BAB5EA659A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A25CE9A-B363-F266-C47F-80317F5E817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213554F-CB2C-10EB-867B-3013868364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7AFD67E-5348-4340-CFAD-02AB358DABEA}"/>
              </a:ext>
            </a:extLst>
          </p:cNvPr>
          <p:cNvSpPr txBox="1">
            <a:spLocks/>
          </p:cNvSpPr>
          <p:nvPr/>
        </p:nvSpPr>
        <p:spPr>
          <a:xfrm>
            <a:off x="290463" y="7620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Sustainable cloud development combines green cloud practices with energy-efficient programming to minimize the environmental impact of technology. These techniques are crucial for reducing the energy consumption and carbon emissions generated by data centers, which are projected to double by 2030 due to increased demand for AI and other digital services. </a:t>
            </a:r>
          </a:p>
          <a:p>
            <a:pPr marL="12700" marR="5080"/>
            <a:r>
              <a:rPr lang="en-US" sz="1800" kern="0" spc="-80" dirty="0">
                <a:solidFill>
                  <a:schemeClr val="accent2"/>
                </a:solidFill>
              </a:rPr>
              <a:t>Green cloud development techniques</a:t>
            </a:r>
          </a:p>
          <a:p>
            <a:pPr marL="12700" marR="5080"/>
            <a:r>
              <a:rPr lang="en-US" sz="1800" kern="0" spc="-80" dirty="0">
                <a:solidFill>
                  <a:schemeClr val="accent6"/>
                </a:solidFill>
              </a:rPr>
              <a:t>These practices focus on optimizing the infrastructure side of cloud computing to reduce resource and energy use.</a:t>
            </a:r>
          </a:p>
          <a:p>
            <a:pPr marL="12700" marR="5080"/>
            <a:r>
              <a:rPr lang="en-US" sz="1800" kern="0" spc="-80" dirty="0">
                <a:solidFill>
                  <a:schemeClr val="accent2"/>
                </a:solidFill>
              </a:rPr>
              <a:t>Choose a green cloud provider: </a:t>
            </a:r>
            <a:r>
              <a:rPr lang="en-US" sz="1800" kern="0" spc="-80" dirty="0">
                <a:solidFill>
                  <a:schemeClr val="accent6"/>
                </a:solidFill>
              </a:rPr>
              <a:t>Select a cloud service provider (CSP) that prioritizes sustainability. Leading providers like Amazon Web Services, Google Cloud Platform, and Microsoft Azure have made public commitments to power their data centers with renewable energy sources.</a:t>
            </a:r>
          </a:p>
          <a:p>
            <a:pPr marL="12700" marR="5080"/>
            <a:r>
              <a:rPr lang="en-US" sz="1800" kern="0" spc="-80" dirty="0">
                <a:solidFill>
                  <a:schemeClr val="accent2"/>
                </a:solidFill>
              </a:rPr>
              <a:t>Optimize resource allocation: </a:t>
            </a:r>
            <a:r>
              <a:rPr lang="en-US" sz="1800" kern="0" spc="-80" dirty="0">
                <a:solidFill>
                  <a:schemeClr val="accent6"/>
                </a:solidFill>
              </a:rPr>
              <a:t>Use tools provided by your CSP to "right-size" your virtual machines, containers, and databases to match your workload needs. This prevents over-provisioning and reduces energy waste from idle resources.</a:t>
            </a:r>
          </a:p>
        </p:txBody>
      </p:sp>
    </p:spTree>
    <p:extLst>
      <p:ext uri="{BB962C8B-B14F-4D97-AF65-F5344CB8AC3E}">
        <p14:creationId xmlns:p14="http://schemas.microsoft.com/office/powerpoint/2010/main" val="385310330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D97E2-22ED-B927-5008-91005BDBA2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C71293-3403-60CF-51B2-7F21F12D8DA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848FC2-187D-7D53-8A22-64FA067A9C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BB41114-1975-00CC-6D9B-1CE918E2605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7802DC4-2856-EA37-3460-084228B84D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F71097C-B992-D158-E7C3-F84117884CD9}"/>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2"/>
                </a:solidFill>
              </a:rPr>
              <a:t>Leverage serverless architectures:</a:t>
            </a:r>
            <a:r>
              <a:rPr lang="en-US" sz="1800" kern="0" spc="-80" dirty="0">
                <a:solidFill>
                  <a:schemeClr val="accent6"/>
                </a:solidFill>
              </a:rPr>
              <a:t> Serverless computing, such as AWS Lambda or Azure Functions, automatically allocates resources only when your code is running. This minimizes idle server time and can significantly reduce your carbon footprint.</a:t>
            </a:r>
          </a:p>
          <a:p>
            <a:pPr marL="12700" marR="5080"/>
            <a:r>
              <a:rPr lang="en-US" sz="1800" kern="0" spc="-80" dirty="0">
                <a:solidFill>
                  <a:schemeClr val="accent2"/>
                </a:solidFill>
              </a:rPr>
              <a:t>Implement virtualization and containerization: </a:t>
            </a:r>
            <a:r>
              <a:rPr lang="en-US" sz="1800" kern="0" spc="-80" dirty="0">
                <a:solidFill>
                  <a:schemeClr val="accent6"/>
                </a:solidFill>
              </a:rPr>
              <a:t>Both virtualization and containerization allow multiple workloads to run on a single physical server, maximizing resource utilization and minimizing the number of servers required. Containers, like Docker, are especially lightweight and efficient.</a:t>
            </a:r>
          </a:p>
          <a:p>
            <a:pPr marL="12700" marR="5080"/>
            <a:r>
              <a:rPr lang="en-US" sz="1800" kern="0" spc="-80" dirty="0">
                <a:solidFill>
                  <a:schemeClr val="accent2"/>
                </a:solidFill>
              </a:rPr>
              <a:t>Adopt edge computing: </a:t>
            </a:r>
            <a:r>
              <a:rPr lang="en-US" sz="1800" kern="0" spc="-80" dirty="0">
                <a:solidFill>
                  <a:schemeClr val="accent6"/>
                </a:solidFill>
              </a:rPr>
              <a:t>Process data closer to the user to reduce the energy consumed by transferring data over long distances.</a:t>
            </a:r>
          </a:p>
          <a:p>
            <a:pPr marL="12700" marR="5080"/>
            <a:r>
              <a:rPr lang="en-US" sz="1800" kern="0" spc="-80" dirty="0">
                <a:solidFill>
                  <a:schemeClr val="accent2"/>
                </a:solidFill>
              </a:rPr>
              <a:t>Use sustainable data storage strategies: </a:t>
            </a:r>
            <a:r>
              <a:rPr lang="en-US" sz="1800" kern="0" spc="-80" dirty="0">
                <a:solidFill>
                  <a:schemeClr val="accent6"/>
                </a:solidFill>
              </a:rPr>
              <a:t>Efficient data management can reduce the need for excessive storage. Employ tiered storage to move infrequently accessed data to less energy-intensive archive tiers, and use compression and deduplication to reduce the volume of stored data.</a:t>
            </a:r>
          </a:p>
          <a:p>
            <a:pPr marL="12700" marR="5080"/>
            <a:r>
              <a:rPr lang="en-US" sz="1800" kern="0" spc="-80" dirty="0">
                <a:solidFill>
                  <a:schemeClr val="accent2"/>
                </a:solidFill>
              </a:rPr>
              <a:t>Optimize data center location: </a:t>
            </a:r>
            <a:r>
              <a:rPr lang="en-US" sz="1800" kern="0" spc="-80" dirty="0">
                <a:solidFill>
                  <a:schemeClr val="accent6"/>
                </a:solidFill>
              </a:rPr>
              <a:t>When possible, strategically place workloads in regions with lower carbon intensity, where data centers are more likely to be powered by renewable energy sources. </a:t>
            </a:r>
          </a:p>
        </p:txBody>
      </p:sp>
    </p:spTree>
    <p:extLst>
      <p:ext uri="{BB962C8B-B14F-4D97-AF65-F5344CB8AC3E}">
        <p14:creationId xmlns:p14="http://schemas.microsoft.com/office/powerpoint/2010/main" val="319361671"/>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A1552-2864-FAD0-6994-BEDC78C54A0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CB0AB17-367D-9739-0FA3-0F3F067AAB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87820-27BE-9711-C3CD-9941178337E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278CC07-FA6E-B6C2-9A7C-2F99A0225B5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775DB2-CF41-6734-3A2C-DE46E9E278E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62443B3-9C2F-A3AB-FE1B-29A500EFCAE0}"/>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2"/>
                </a:solidFill>
              </a:rPr>
              <a:t>Energy-efficient programming techniques</a:t>
            </a:r>
          </a:p>
          <a:p>
            <a:pPr marL="12700" marR="5080"/>
            <a:r>
              <a:rPr lang="en-US" sz="1800" kern="0" spc="-80" dirty="0">
                <a:solidFill>
                  <a:schemeClr val="accent6"/>
                </a:solidFill>
              </a:rPr>
              <a:t>Also known as "green coding," these techniques focus on writing and optimizing software to consume less energy during execution. </a:t>
            </a:r>
          </a:p>
          <a:p>
            <a:pPr marL="12700" marR="5080"/>
            <a:r>
              <a:rPr lang="en-US" sz="1800" kern="0" spc="-80" dirty="0">
                <a:solidFill>
                  <a:schemeClr val="accent2"/>
                </a:solidFill>
              </a:rPr>
              <a:t>Select energy-efficient algorithms and data structures:</a:t>
            </a:r>
            <a:r>
              <a:rPr lang="en-US" sz="1800" kern="0" spc="-80" dirty="0">
                <a:solidFill>
                  <a:schemeClr val="accent6"/>
                </a:solidFill>
              </a:rPr>
              <a:t> Choose algorithms that require fewer computational steps to complete a task. For example, a binary search is more efficient than a linear search for sorted data.</a:t>
            </a:r>
          </a:p>
          <a:p>
            <a:pPr marL="12700" marR="5080"/>
            <a:r>
              <a:rPr lang="en-US" sz="1800" kern="0" spc="-80" dirty="0">
                <a:solidFill>
                  <a:schemeClr val="accent2"/>
                </a:solidFill>
              </a:rPr>
              <a:t>Refactor for efficiency:</a:t>
            </a:r>
            <a:r>
              <a:rPr lang="en-US" sz="1800" kern="0" spc="-80" dirty="0">
                <a:solidFill>
                  <a:schemeClr val="accent6"/>
                </a:solidFill>
              </a:rPr>
              <a:t> Regularly review and optimize code to eliminate unnecessary operations, redundant loops, and inefficient queries. This reduces the processing power needed to run the application.</a:t>
            </a:r>
          </a:p>
          <a:p>
            <a:pPr marL="12700" marR="5080"/>
            <a:r>
              <a:rPr lang="en-US" sz="1800" kern="0" spc="-80" dirty="0">
                <a:solidFill>
                  <a:schemeClr val="accent2"/>
                </a:solidFill>
              </a:rPr>
              <a:t>Manage data transfer efficiently: </a:t>
            </a:r>
            <a:r>
              <a:rPr lang="en-US" sz="1800" kern="0" spc="-80" dirty="0">
                <a:solidFill>
                  <a:schemeClr val="accent6"/>
                </a:solidFill>
              </a:rPr>
              <a:t>Minimize the amount of data sent over networks by compressing files, reducing the size of media assets, and using efficient data serialization formats.</a:t>
            </a:r>
          </a:p>
          <a:p>
            <a:pPr marL="12700" marR="5080"/>
            <a:r>
              <a:rPr lang="en-US" sz="1800" kern="0" spc="-80" dirty="0">
                <a:solidFill>
                  <a:schemeClr val="accent2"/>
                </a:solidFill>
              </a:rPr>
              <a:t>Use effective caching: </a:t>
            </a:r>
            <a:r>
              <a:rPr lang="en-US" sz="1800" kern="0" spc="-80" dirty="0">
                <a:solidFill>
                  <a:schemeClr val="accent6"/>
                </a:solidFill>
              </a:rPr>
              <a:t>Store frequently accessed data in a temporary, high-speed cache to reduce the need for repeated, resource-intensive server and database calls.</a:t>
            </a:r>
          </a:p>
          <a:p>
            <a:pPr marL="12700" marR="5080"/>
            <a:r>
              <a:rPr lang="en-US" sz="1800" kern="0" spc="-80" dirty="0">
                <a:solidFill>
                  <a:schemeClr val="accent2"/>
                </a:solidFill>
              </a:rPr>
              <a:t>Optimize for different contexts: </a:t>
            </a:r>
            <a:r>
              <a:rPr lang="en-US" sz="1800" kern="0" spc="-80" dirty="0">
                <a:solidFill>
                  <a:schemeClr val="accent6"/>
                </a:solidFill>
              </a:rPr>
              <a:t>Adapt your application's behavior based on its operating conditions. For example, enable a "dark mode" for users with OLED</a:t>
            </a:r>
            <a:endParaRPr lang="en-US" sz="1150" kern="0" spc="-80" dirty="0">
              <a:solidFill>
                <a:schemeClr val="accent2"/>
              </a:solidFill>
            </a:endParaRPr>
          </a:p>
        </p:txBody>
      </p:sp>
    </p:spTree>
    <p:extLst>
      <p:ext uri="{BB962C8B-B14F-4D97-AF65-F5344CB8AC3E}">
        <p14:creationId xmlns:p14="http://schemas.microsoft.com/office/powerpoint/2010/main" val="2476843491"/>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491CA-1452-5346-60C4-5F79B3D9AA5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2DB624-0E82-2D7C-6067-A2248A158D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41AEAF-2746-1AC9-34A4-0FD064C129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C4D260-9460-4BCB-4947-C8C3B32E606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C96D6F-0D24-2B0B-AD32-FF1739D30A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DC6CEA7-E928-848D-8E3A-99CF0EA20BDD}"/>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screens, which can reduce battery consumption on their devices.</a:t>
            </a:r>
          </a:p>
          <a:p>
            <a:pPr marL="12700" marR="5080"/>
            <a:r>
              <a:rPr lang="en-US" sz="1800" kern="0" spc="-80" dirty="0">
                <a:solidFill>
                  <a:schemeClr val="accent2"/>
                </a:solidFill>
              </a:rPr>
              <a:t>Automate tasks wisely: </a:t>
            </a:r>
            <a:r>
              <a:rPr lang="en-US" sz="1800" kern="0" spc="-80" dirty="0">
                <a:solidFill>
                  <a:schemeClr val="accent6"/>
                </a:solidFill>
              </a:rPr>
              <a:t>Use automation to schedule resource-intensive tasks, such as batch processing or software updates, for off-peak hours when demand on the energy grid is lower.</a:t>
            </a:r>
          </a:p>
          <a:p>
            <a:pPr marL="12700" marR="5080"/>
            <a:r>
              <a:rPr lang="en-US" sz="1800" kern="0" spc="-80" dirty="0">
                <a:solidFill>
                  <a:schemeClr val="accent2"/>
                </a:solidFill>
              </a:rPr>
              <a:t>Monitor and measure:</a:t>
            </a:r>
            <a:r>
              <a:rPr lang="en-US" sz="1800" kern="0" spc="-80" dirty="0">
                <a:solidFill>
                  <a:schemeClr val="accent6"/>
                </a:solidFill>
              </a:rPr>
              <a:t> Use tools from your CSP (e.g., Google Cloud's Carbon Footprint tool) or third-party solutions (e.g., Cloud Carbon Footprint) to track and analyze your application's energy consumption. Use this data to inform and prioritize optimization efforts. </a:t>
            </a:r>
          </a:p>
          <a:p>
            <a:pPr marL="12700" marR="5080"/>
            <a:r>
              <a:rPr lang="en-US" sz="1800" kern="0" spc="-80" dirty="0">
                <a:solidFill>
                  <a:schemeClr val="accent2"/>
                </a:solidFill>
              </a:rPr>
              <a:t>Architectural principles for sustainability</a:t>
            </a:r>
          </a:p>
          <a:p>
            <a:pPr marL="12700" marR="5080"/>
            <a:r>
              <a:rPr lang="en-US" sz="1800" kern="0" spc="-80" dirty="0">
                <a:solidFill>
                  <a:schemeClr val="accent6"/>
                </a:solidFill>
              </a:rPr>
              <a:t>For comprehensive sustainability, integrate these techniques into your overall development lifecycle.</a:t>
            </a:r>
          </a:p>
          <a:p>
            <a:pPr marL="12700" marR="5080"/>
            <a:r>
              <a:rPr lang="en-US" sz="1800" kern="0" spc="-80" dirty="0">
                <a:solidFill>
                  <a:schemeClr val="accent2"/>
                </a:solidFill>
              </a:rPr>
              <a:t>Start with design:</a:t>
            </a:r>
            <a:r>
              <a:rPr lang="en-US" sz="1800" kern="0" spc="-80" dirty="0">
                <a:solidFill>
                  <a:schemeClr val="accent6"/>
                </a:solidFill>
              </a:rPr>
              <a:t> Incorporate sustainability goals into your software architecture and design patterns from the beginning. Consider resource efficiency, scalability, and modularity to build applications that are inherently greener.</a:t>
            </a:r>
          </a:p>
          <a:p>
            <a:pPr marL="12700" marR="5080"/>
            <a:r>
              <a:rPr lang="en-US" sz="1800" kern="0" spc="-80" dirty="0">
                <a:solidFill>
                  <a:schemeClr val="accent2"/>
                </a:solidFill>
              </a:rPr>
              <a:t>Embrace sustainable DevOps: </a:t>
            </a:r>
            <a:r>
              <a:rPr lang="en-US" sz="1800" kern="0" spc="-80" dirty="0">
                <a:solidFill>
                  <a:schemeClr val="accent6"/>
                </a:solidFill>
              </a:rPr>
              <a:t>Optimize your Continuous Integration/Continuous Deployment (CI/CD) pipelines to reduce resource</a:t>
            </a:r>
            <a:endParaRPr lang="en-US" sz="1150" kern="0" spc="-80" dirty="0">
              <a:solidFill>
                <a:schemeClr val="accent2"/>
              </a:solidFill>
            </a:endParaRPr>
          </a:p>
        </p:txBody>
      </p:sp>
    </p:spTree>
    <p:extLst>
      <p:ext uri="{BB962C8B-B14F-4D97-AF65-F5344CB8AC3E}">
        <p14:creationId xmlns:p14="http://schemas.microsoft.com/office/powerpoint/2010/main" val="2859857384"/>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A23FC-7DE2-0FF3-4327-49646BCB48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25CD10-D3E7-FDBF-A6C6-7DA7AC4A2E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F0C2170-FE20-85BD-8C62-1733AD843E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9736FD-6616-698F-9438-5ABBD14E623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2CF2A63-A1A0-63C3-7F8A-96897764AB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EAD2732-784E-8462-88B3-AAD654C0CDF5}"/>
              </a:ext>
            </a:extLst>
          </p:cNvPr>
          <p:cNvSpPr txBox="1">
            <a:spLocks/>
          </p:cNvSpPr>
          <p:nvPr/>
        </p:nvSpPr>
        <p:spPr>
          <a:xfrm>
            <a:off x="290463" y="762000"/>
            <a:ext cx="8624937" cy="41472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screens, which can reduce battery consumption on their devices.</a:t>
            </a:r>
          </a:p>
          <a:p>
            <a:pPr marL="12700" marR="5080"/>
            <a:r>
              <a:rPr lang="en-US" sz="1800" kern="0" spc="-80" dirty="0">
                <a:solidFill>
                  <a:schemeClr val="accent6"/>
                </a:solidFill>
              </a:rPr>
              <a:t>waste from unnecessary builds and inefficient testing. Use Infrastructure as Code (</a:t>
            </a:r>
            <a:r>
              <a:rPr lang="en-US" sz="1800" kern="0" spc="-80" dirty="0" err="1">
                <a:solidFill>
                  <a:schemeClr val="accent6"/>
                </a:solidFill>
              </a:rPr>
              <a:t>IaC</a:t>
            </a:r>
            <a:r>
              <a:rPr lang="en-US" sz="1800" kern="0" spc="-80" dirty="0">
                <a:solidFill>
                  <a:schemeClr val="accent6"/>
                </a:solidFill>
              </a:rPr>
              <a:t>) to automatically provision and decommission resources.</a:t>
            </a:r>
          </a:p>
          <a:p>
            <a:pPr marL="12700" marR="5080"/>
            <a:r>
              <a:rPr lang="en-US" sz="1800" kern="0" spc="-80" dirty="0">
                <a:solidFill>
                  <a:schemeClr val="accent2"/>
                </a:solidFill>
              </a:rPr>
              <a:t>Manage the full lifecycle: </a:t>
            </a:r>
            <a:r>
              <a:rPr lang="en-US" sz="1800" kern="0" spc="-80" dirty="0">
                <a:solidFill>
                  <a:schemeClr val="accent6"/>
                </a:solidFill>
              </a:rPr>
              <a:t>Ensure responsible e-waste management and consider hardware longevity. For hardware you manage, follow clear policies for maintenance, recycling, and disposal.</a:t>
            </a:r>
          </a:p>
          <a:p>
            <a:pPr marL="12700" marR="5080"/>
            <a:r>
              <a:rPr lang="en-US" sz="1800" kern="0" spc="-80" dirty="0">
                <a:solidFill>
                  <a:schemeClr val="accent2"/>
                </a:solidFill>
              </a:rPr>
              <a:t>Focus on continuous improvement:</a:t>
            </a:r>
            <a:r>
              <a:rPr lang="en-US" sz="1800" kern="0" spc="-80" dirty="0">
                <a:solidFill>
                  <a:schemeClr val="accent6"/>
                </a:solidFill>
              </a:rPr>
              <a:t> Track your metrics, educate your team, and continuously refactor to keep reducing your environmental footprint over time. A sustainable mindset should be a key part of your organization's culture. </a:t>
            </a:r>
          </a:p>
          <a:p>
            <a:pPr marL="12700" marR="5080"/>
            <a:endParaRPr lang="en-US" sz="1800" kern="0" spc="-80" dirty="0">
              <a:solidFill>
                <a:schemeClr val="accent6"/>
              </a:solidFill>
            </a:endParaRPr>
          </a:p>
          <a:p>
            <a:pPr marL="12700" marR="5080"/>
            <a:r>
              <a:rPr lang="en-US" sz="1800" kern="0" spc="-80" dirty="0">
                <a:solidFill>
                  <a:schemeClr val="accent2"/>
                </a:solidFill>
              </a:rPr>
              <a:t>For Further Exploration</a:t>
            </a:r>
          </a:p>
          <a:p>
            <a:pPr marL="12700" marR="5080"/>
            <a:r>
              <a:rPr lang="en-IN" sz="1800" dirty="0">
                <a:hlinkClick r:id="rId7"/>
              </a:rPr>
              <a:t>Sustainable software architecture</a:t>
            </a:r>
            <a:endParaRPr lang="en-IN" sz="1800" dirty="0"/>
          </a:p>
          <a:p>
            <a:pPr marL="12700" marR="5080"/>
            <a:r>
              <a:rPr lang="en-US" sz="1800" dirty="0">
                <a:hlinkClick r:id="rId8"/>
              </a:rPr>
              <a:t>Sustainable Cloud Development | Cloud &amp; Networking | eBook</a:t>
            </a:r>
            <a:endParaRPr lang="en-US" sz="1800" kern="0" spc="-80" dirty="0">
              <a:solidFill>
                <a:schemeClr val="accent2"/>
              </a:solidFill>
            </a:endParaRPr>
          </a:p>
          <a:p>
            <a:pPr marL="12700" marR="5080"/>
            <a:endParaRPr lang="en-US" sz="1150" kern="0" spc="-80" dirty="0">
              <a:solidFill>
                <a:schemeClr val="accent2"/>
              </a:solidFill>
            </a:endParaRPr>
          </a:p>
        </p:txBody>
      </p:sp>
    </p:spTree>
    <p:extLst>
      <p:ext uri="{BB962C8B-B14F-4D97-AF65-F5344CB8AC3E}">
        <p14:creationId xmlns:p14="http://schemas.microsoft.com/office/powerpoint/2010/main" val="3119240314"/>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370EC-89AD-0F62-A93C-08BB62E2E28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F52177-57A3-3EB3-42B9-0C0FC8FC3A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572EE4-5819-6824-4C7A-E12C38496FC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58F328-93B0-083C-50F1-F3FD8D70554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4B6B2A-D9C7-510E-77AA-D540E31B9F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5C5560-5ED5-64C6-0CE1-3575CF1B5275}"/>
              </a:ext>
            </a:extLst>
          </p:cNvPr>
          <p:cNvSpPr txBox="1">
            <a:spLocks/>
          </p:cNvSpPr>
          <p:nvPr/>
        </p:nvSpPr>
        <p:spPr>
          <a:xfrm>
            <a:off x="290463" y="762000"/>
            <a:ext cx="8624937" cy="35932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a:t>
            </a:r>
          </a:p>
          <a:p>
            <a:pPr marL="12700" marR="5080"/>
            <a:r>
              <a:rPr lang="en-US" sz="1800" kern="0" spc="-80" dirty="0">
                <a:solidFill>
                  <a:schemeClr val="accent2"/>
                </a:solidFill>
              </a:rPr>
              <a:t>For Further Exploration</a:t>
            </a:r>
          </a:p>
          <a:p>
            <a:pPr marL="12700" marR="5080"/>
            <a:r>
              <a:rPr lang="en-US" sz="1800" dirty="0">
                <a:hlinkClick r:id="rId7"/>
              </a:rPr>
              <a:t>Announcing updates to the AWS Well-Architected Framework guidance | AWS Architecture Blog</a:t>
            </a:r>
            <a:r>
              <a:rPr lang="en-US" sz="1800" kern="0" spc="-80" dirty="0">
                <a:solidFill>
                  <a:schemeClr val="accent2"/>
                </a:solidFill>
              </a:rPr>
              <a:t>   </a:t>
            </a:r>
          </a:p>
          <a:p>
            <a:pPr marL="12700" marR="5080"/>
            <a:r>
              <a:rPr lang="en-US" sz="1800" dirty="0">
                <a:hlinkClick r:id="rId8"/>
              </a:rPr>
              <a:t>How to use the Azure Well-Architected Framework documentation - Microsoft Azure Well-Architected Framework</a:t>
            </a:r>
            <a:endParaRPr lang="en-US" sz="1800" kern="0" spc="-80" dirty="0">
              <a:solidFill>
                <a:schemeClr val="accent2"/>
              </a:solidFill>
            </a:endParaRPr>
          </a:p>
          <a:p>
            <a:pPr marL="12700" marR="5080"/>
            <a:r>
              <a:rPr lang="en-US" sz="1800" dirty="0">
                <a:hlinkClick r:id="rId9"/>
              </a:rPr>
              <a:t>Optimizing Azure Kubernetes Service (AKS) with the Well-Architected Framework | Microsoft Community Hub</a:t>
            </a:r>
            <a:r>
              <a:rPr lang="en-US" sz="1800" kern="0" spc="-80" dirty="0">
                <a:solidFill>
                  <a:schemeClr val="accent2"/>
                </a:solidFill>
              </a:rPr>
              <a:t> </a:t>
            </a:r>
          </a:p>
          <a:p>
            <a:pPr marL="12700" marR="5080"/>
            <a:r>
              <a:rPr lang="en-US" sz="1800" dirty="0">
                <a:hlinkClick r:id="rId10"/>
              </a:rPr>
              <a:t>Business criticality in cloud management - Cloud Adoption Framework | Microsoft Learn</a:t>
            </a:r>
            <a:endParaRPr lang="en-US" sz="1800" dirty="0"/>
          </a:p>
          <a:p>
            <a:pPr marL="12700" marR="5080"/>
            <a:r>
              <a:rPr lang="en-US" sz="1800" dirty="0">
                <a:hlinkClick r:id="rId11"/>
              </a:rPr>
              <a:t>Design-Practice-Repository</a:t>
            </a:r>
            <a:endParaRPr lang="en-US" sz="1800" kern="0" spc="-80" dirty="0">
              <a:solidFill>
                <a:schemeClr val="accent2"/>
              </a:solidFill>
            </a:endParaRPr>
          </a:p>
          <a:p>
            <a:pPr marL="12700" marR="5080"/>
            <a:endParaRPr lang="en-US" sz="1800" kern="0" spc="-80" dirty="0">
              <a:solidFill>
                <a:schemeClr val="accent2"/>
              </a:solidFill>
            </a:endParaRPr>
          </a:p>
          <a:p>
            <a:pPr marL="12700" marR="5080"/>
            <a:endParaRPr lang="en-US" sz="1150" kern="0" spc="-80" dirty="0">
              <a:solidFill>
                <a:schemeClr val="accent2"/>
              </a:solidFill>
            </a:endParaRPr>
          </a:p>
        </p:txBody>
      </p:sp>
    </p:spTree>
    <p:extLst>
      <p:ext uri="{BB962C8B-B14F-4D97-AF65-F5344CB8AC3E}">
        <p14:creationId xmlns:p14="http://schemas.microsoft.com/office/powerpoint/2010/main" val="387850036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500" kern="0" spc="-80" dirty="0">
                <a:solidFill>
                  <a:schemeClr val="accent2"/>
                </a:solidFill>
              </a:rPr>
              <a:t>Selecting DBs(for Polyglot Persistence) based on DB Relationships[Discussion] – </a:t>
            </a:r>
          </a:p>
          <a:p>
            <a:pPr marL="12700" marR="5080"/>
            <a:r>
              <a:rPr lang="en-US" sz="1500" kern="0" spc="-80" dirty="0">
                <a:solidFill>
                  <a:schemeClr val="accent6"/>
                </a:solidFill>
              </a:rPr>
              <a:t>   One-to-One &amp; One-to-Many(&amp; Data Locality)</a:t>
            </a:r>
          </a:p>
          <a:p>
            <a:pPr marL="12700" marR="5080"/>
            <a:r>
              <a:rPr lang="en-US" sz="1500" kern="0" spc="-80" dirty="0">
                <a:solidFill>
                  <a:schemeClr val="accent6"/>
                </a:solidFill>
              </a:rPr>
              <a:t>   Many-to-Many</a:t>
            </a:r>
          </a:p>
          <a:p>
            <a:pPr marL="12700" marR="5080"/>
            <a:r>
              <a:rPr lang="en-US" sz="2400" kern="0" spc="-80" dirty="0">
                <a:solidFill>
                  <a:schemeClr val="accent2"/>
                </a:solidFill>
              </a:rPr>
              <a:t>  </a:t>
            </a:r>
            <a:r>
              <a:rPr lang="en-US" sz="1500" kern="0" spc="-80" dirty="0">
                <a:solidFill>
                  <a:schemeClr val="accent2"/>
                </a:solidFill>
              </a:rPr>
              <a:t>SQL vs </a:t>
            </a:r>
            <a:r>
              <a:rPr lang="en-US" sz="1500" kern="0" spc="-80" dirty="0" err="1">
                <a:solidFill>
                  <a:schemeClr val="accent2"/>
                </a:solidFill>
              </a:rPr>
              <a:t>NoSql</a:t>
            </a:r>
            <a:r>
              <a:rPr lang="en-US" sz="1500" kern="0" spc="-80" dirty="0">
                <a:solidFill>
                  <a:schemeClr val="accent2"/>
                </a:solidFill>
              </a:rPr>
              <a:t> vs </a:t>
            </a:r>
            <a:r>
              <a:rPr lang="en-US" sz="1500" kern="0" spc="-80" dirty="0" err="1">
                <a:solidFill>
                  <a:schemeClr val="accent2"/>
                </a:solidFill>
              </a:rPr>
              <a:t>NewSql</a:t>
            </a:r>
            <a:r>
              <a:rPr lang="en-US" sz="1500" kern="0" spc="-80" dirty="0">
                <a:solidFill>
                  <a:schemeClr val="accent2"/>
                </a:solidFill>
              </a:rPr>
              <a:t>(a new RDBMS type)</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 name="Picture 9">
            <a:extLst>
              <a:ext uri="{FF2B5EF4-FFF2-40B4-BE49-F238E27FC236}">
                <a16:creationId xmlns:a16="http://schemas.microsoft.com/office/drawing/2014/main" id="{537AB36C-0498-78E3-3921-D49808B5333D}"/>
              </a:ext>
            </a:extLst>
          </p:cNvPr>
          <p:cNvPicPr>
            <a:picLocks noChangeAspect="1"/>
          </p:cNvPicPr>
          <p:nvPr/>
        </p:nvPicPr>
        <p:blipFill>
          <a:blip r:embed="rId7"/>
          <a:stretch>
            <a:fillRect/>
          </a:stretch>
        </p:blipFill>
        <p:spPr>
          <a:xfrm>
            <a:off x="253543" y="1927192"/>
            <a:ext cx="8890457" cy="2523116"/>
          </a:xfrm>
          <a:prstGeom prst="rect">
            <a:avLst/>
          </a:prstGeom>
        </p:spPr>
      </p:pic>
      <p:sp>
        <p:nvSpPr>
          <p:cNvPr id="9" name="object 2">
            <a:extLst>
              <a:ext uri="{FF2B5EF4-FFF2-40B4-BE49-F238E27FC236}">
                <a16:creationId xmlns:a16="http://schemas.microsoft.com/office/drawing/2014/main" id="{7EBBC761-FE2B-C696-7F26-1AB061D43FD5}"/>
              </a:ext>
            </a:extLst>
          </p:cNvPr>
          <p:cNvSpPr txBox="1">
            <a:spLocks/>
          </p:cNvSpPr>
          <p:nvPr/>
        </p:nvSpPr>
        <p:spPr>
          <a:xfrm>
            <a:off x="265520" y="4316849"/>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600" kern="0" spc="-80" dirty="0">
                <a:solidFill>
                  <a:schemeClr val="accent2"/>
                </a:solidFill>
              </a:rPr>
              <a:t>Key Value </a:t>
            </a:r>
            <a:r>
              <a:rPr lang="en-US" sz="1600" kern="0" spc="-80" dirty="0">
                <a:solidFill>
                  <a:schemeClr val="accent6"/>
                </a:solidFill>
              </a:rPr>
              <a:t>– Mainly used for Application Cache or Session data</a:t>
            </a:r>
          </a:p>
          <a:p>
            <a:pPr marL="12700" marR="5080"/>
            <a:endParaRPr lang="en-US" sz="1600" kern="0" spc="-80" dirty="0">
              <a:solidFill>
                <a:schemeClr val="accent6"/>
              </a:solidFill>
            </a:endParaRPr>
          </a:p>
          <a:p>
            <a:pPr marL="12700" marR="5080"/>
            <a:r>
              <a:rPr lang="en-US" sz="1600" kern="0" spc="-80" dirty="0">
                <a:solidFill>
                  <a:schemeClr val="accent6"/>
                </a:solidFill>
              </a:rPr>
              <a:t>  </a:t>
            </a:r>
            <a:r>
              <a:rPr lang="en-US" sz="1600" kern="0" spc="-80" dirty="0">
                <a:solidFill>
                  <a:schemeClr val="accent2"/>
                </a:solidFill>
              </a:rPr>
              <a:t>Document DB </a:t>
            </a:r>
            <a:r>
              <a:rPr lang="en-US" sz="1600" kern="0" spc="-80" dirty="0">
                <a:solidFill>
                  <a:schemeClr val="accent6"/>
                </a:solidFill>
              </a:rPr>
              <a:t>–In DDD terms, it seems if the relation is between some entity &amp; value object(s) &amp; it’s 1-to-1 or 1-to-many, then we can go for using such DB but else better to go with RDBMS(else the docs may have repetitive/redundant data).Also mind it, each doc has size limitations &amp; the docs collection as well has size limitations.</a:t>
            </a:r>
          </a:p>
        </p:txBody>
      </p:sp>
    </p:spTree>
    <p:extLst>
      <p:ext uri="{BB962C8B-B14F-4D97-AF65-F5344CB8AC3E}">
        <p14:creationId xmlns:p14="http://schemas.microsoft.com/office/powerpoint/2010/main" val="385805967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609600"/>
            <a:ext cx="8624937" cy="58939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NoSql</a:t>
            </a:r>
            <a:r>
              <a:rPr lang="en-US" sz="2400" kern="0" spc="-80" dirty="0">
                <a:solidFill>
                  <a:schemeClr val="accent2"/>
                </a:solidFill>
              </a:rPr>
              <a:t> Types – </a:t>
            </a:r>
          </a:p>
          <a:p>
            <a:pPr marL="12700" marR="5080"/>
            <a:r>
              <a:rPr lang="en-US" sz="1300" kern="0" spc="-80" dirty="0">
                <a:solidFill>
                  <a:schemeClr val="accent2"/>
                </a:solidFill>
              </a:rPr>
              <a:t>  </a:t>
            </a:r>
            <a:r>
              <a:rPr lang="en-US" sz="1300" kern="0" spc="-80" dirty="0">
                <a:solidFill>
                  <a:schemeClr val="accent6"/>
                </a:solidFill>
              </a:rPr>
              <a:t> </a:t>
            </a:r>
            <a:r>
              <a:rPr lang="en-US" sz="1300" kern="0" spc="-80" dirty="0">
                <a:solidFill>
                  <a:schemeClr val="accent2"/>
                </a:solidFill>
              </a:rPr>
              <a:t>Columnar DBs </a:t>
            </a:r>
            <a:r>
              <a:rPr lang="en-US" sz="1300" kern="0" spc="-80" dirty="0">
                <a:solidFill>
                  <a:schemeClr val="accent6"/>
                </a:solidFill>
              </a:rPr>
              <a:t>–</a:t>
            </a:r>
          </a:p>
          <a:p>
            <a:pPr marL="12700" marR="5080"/>
            <a:r>
              <a:rPr lang="en-US" sz="1300" kern="0" spc="-80" dirty="0">
                <a:solidFill>
                  <a:schemeClr val="accent6"/>
                </a:solidFill>
              </a:rPr>
              <a:t>       DWs using Facts &amp; Dimensions[usually denormalized] [Discussion]</a:t>
            </a:r>
          </a:p>
          <a:p>
            <a:pPr marL="12700" marR="5080"/>
            <a:r>
              <a:rPr lang="en-US" sz="1300" kern="0" spc="-80" dirty="0">
                <a:solidFill>
                  <a:schemeClr val="accent6"/>
                </a:solidFill>
              </a:rPr>
              <a:t>       Relational &amp; Modern DWs based on Row and Column Oriented DBs[Discussion]</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err="1">
                <a:solidFill>
                  <a:schemeClr val="accent2"/>
                </a:solidFill>
              </a:rPr>
              <a:t>Spatio</a:t>
            </a:r>
            <a:r>
              <a:rPr lang="en-US" sz="1300" kern="0" spc="-80" dirty="0">
                <a:solidFill>
                  <a:schemeClr val="accent2"/>
                </a:solidFill>
              </a:rPr>
              <a:t>- Temporal DBs </a:t>
            </a:r>
            <a:r>
              <a:rPr lang="en-US" sz="1300" kern="0" spc="-80" dirty="0">
                <a:solidFill>
                  <a:schemeClr val="accent6"/>
                </a:solidFill>
              </a:rPr>
              <a:t>– For this, </a:t>
            </a:r>
            <a:r>
              <a:rPr lang="en-US" sz="1300" kern="0" spc="-80" dirty="0" err="1">
                <a:solidFill>
                  <a:schemeClr val="accent6"/>
                </a:solidFill>
              </a:rPr>
              <a:t>PostGresSQL</a:t>
            </a:r>
            <a:r>
              <a:rPr lang="en-US" sz="1300" kern="0" spc="-80" dirty="0">
                <a:solidFill>
                  <a:schemeClr val="accent6"/>
                </a:solidFill>
              </a:rPr>
              <a:t>/</a:t>
            </a:r>
            <a:r>
              <a:rPr lang="en-US" sz="1300" kern="0" spc="-80" dirty="0" err="1">
                <a:solidFill>
                  <a:schemeClr val="accent6"/>
                </a:solidFill>
              </a:rPr>
              <a:t>PostGIS</a:t>
            </a:r>
            <a:r>
              <a:rPr lang="en-US" sz="1300" kern="0" spc="-80" dirty="0">
                <a:solidFill>
                  <a:schemeClr val="accent6"/>
                </a:solidFill>
              </a:rPr>
              <a:t> is a good general purpose option while </a:t>
            </a:r>
            <a:r>
              <a:rPr lang="en-US" sz="1300" kern="0" spc="-80" dirty="0" err="1">
                <a:solidFill>
                  <a:schemeClr val="accent6"/>
                </a:solidFill>
              </a:rPr>
              <a:t>GeoMesa</a:t>
            </a:r>
            <a:r>
              <a:rPr lang="en-US" sz="1300" kern="0" spc="-80" dirty="0">
                <a:solidFill>
                  <a:schemeClr val="accent6"/>
                </a:solidFill>
              </a:rPr>
              <a:t> &amp; other specialized options(e.g. </a:t>
            </a:r>
            <a:r>
              <a:rPr lang="en-US" sz="1300" kern="0" spc="-80" dirty="0" err="1">
                <a:solidFill>
                  <a:schemeClr val="accent6"/>
                </a:solidFill>
              </a:rPr>
              <a:t>SpaceTime</a:t>
            </a:r>
            <a:r>
              <a:rPr lang="en-US" sz="1300" kern="0" spc="-80" dirty="0">
                <a:solidFill>
                  <a:schemeClr val="accent6"/>
                </a:solidFill>
              </a:rPr>
              <a:t>) offer advantages for very large datasets or specific analytical requirements.</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a:solidFill>
                  <a:schemeClr val="accent2"/>
                </a:solidFill>
              </a:rPr>
              <a:t>Graph DB </a:t>
            </a:r>
            <a:r>
              <a:rPr lang="en-US" sz="1300" kern="0" spc="-80" dirty="0">
                <a:solidFill>
                  <a:schemeClr val="accent6"/>
                </a:solidFill>
              </a:rPr>
              <a:t>– Can be mainly used for </a:t>
            </a:r>
            <a:r>
              <a:rPr lang="en-US" sz="1300" kern="0" spc="-80" dirty="0">
                <a:solidFill>
                  <a:schemeClr val="accent6"/>
                </a:solidFill>
                <a:highlight>
                  <a:srgbClr val="FFFF00"/>
                </a:highlight>
              </a:rPr>
              <a:t>Semantic Data Modelling</a:t>
            </a:r>
            <a:r>
              <a:rPr lang="en-US" sz="1300" kern="0" spc="-80" dirty="0">
                <a:solidFill>
                  <a:schemeClr val="accent6"/>
                </a:solidFill>
              </a:rPr>
              <a:t> i.e. modelling data not only to show the data but also its meaning via relationship between data e.g. sequential data(e.g. DNA sequences or to store the relationship between words/sentences </a:t>
            </a:r>
            <a:r>
              <a:rPr lang="en-US" sz="1300" kern="0" spc="-80" dirty="0" err="1">
                <a:solidFill>
                  <a:schemeClr val="accent6"/>
                </a:solidFill>
              </a:rPr>
              <a:t>etc</a:t>
            </a:r>
            <a:r>
              <a:rPr lang="en-US" sz="1300" kern="0" spc="-80" dirty="0">
                <a:solidFill>
                  <a:schemeClr val="accent6"/>
                </a:solidFill>
              </a:rPr>
              <a:t> in text[this technique is heavily used in Natural Language Processing]), hierarchical data or some other complex relational data as well</a:t>
            </a:r>
          </a:p>
          <a:p>
            <a:pPr marL="12700" marR="5080"/>
            <a:r>
              <a:rPr lang="en-US" sz="1300" kern="0" spc="-80" dirty="0">
                <a:solidFill>
                  <a:schemeClr val="accent6"/>
                </a:solidFill>
              </a:rPr>
              <a:t>      </a:t>
            </a:r>
          </a:p>
          <a:p>
            <a:pPr marL="12700" marR="5080"/>
            <a:r>
              <a:rPr lang="en-US" sz="1300" kern="0" spc="-80" dirty="0">
                <a:solidFill>
                  <a:schemeClr val="accent6"/>
                </a:solidFill>
              </a:rPr>
              <a:t>     </a:t>
            </a:r>
            <a:r>
              <a:rPr lang="en-US" sz="1200" kern="0" spc="-80" dirty="0">
                <a:solidFill>
                  <a:schemeClr val="accent2"/>
                </a:solidFill>
              </a:rPr>
              <a:t>(Multi-Modal) Search DB </a:t>
            </a:r>
            <a:r>
              <a:rPr lang="en-US" sz="1200" kern="0" spc="-80" dirty="0">
                <a:solidFill>
                  <a:schemeClr val="accent6"/>
                </a:solidFill>
              </a:rPr>
              <a:t>– Mainly used for (multi-modal[text/images/videos]) search. State-Of-The-Art technique is to use Embeddings based Vector </a:t>
            </a:r>
            <a:r>
              <a:rPr lang="en-US" sz="1200" kern="0" spc="-80" dirty="0" err="1">
                <a:solidFill>
                  <a:schemeClr val="accent6"/>
                </a:solidFill>
              </a:rPr>
              <a:t>DBs.</a:t>
            </a:r>
            <a:endParaRPr lang="en-US" sz="1200" kern="0" spc="-80" dirty="0">
              <a:solidFill>
                <a:schemeClr val="accent6"/>
              </a:solidFill>
            </a:endParaRPr>
          </a:p>
          <a:p>
            <a:pPr marL="12700" marR="5080"/>
            <a:r>
              <a:rPr lang="en-US" sz="1300" kern="0" spc="-80" dirty="0">
                <a:solidFill>
                  <a:schemeClr val="accent6"/>
                </a:solidFill>
              </a:rPr>
              <a:t>       </a:t>
            </a:r>
          </a:p>
          <a:p>
            <a:pPr marL="12700" marR="5080"/>
            <a:r>
              <a:rPr lang="en-US" sz="1300" kern="0" spc="-80" dirty="0">
                <a:solidFill>
                  <a:schemeClr val="tx2">
                    <a:lumMod val="60000"/>
                    <a:lumOff val="40000"/>
                  </a:schemeClr>
                </a:solidFill>
              </a:rPr>
              <a:t>  N.B.-&gt; For Many-to-Many DB relationships better to opt for an RDBMS(preferably </a:t>
            </a:r>
            <a:r>
              <a:rPr lang="en-US" sz="1300" kern="0" spc="-80" dirty="0" err="1">
                <a:solidFill>
                  <a:schemeClr val="tx2">
                    <a:lumMod val="60000"/>
                    <a:lumOff val="40000"/>
                  </a:schemeClr>
                </a:solidFill>
              </a:rPr>
              <a:t>NewSql</a:t>
            </a:r>
            <a:r>
              <a:rPr lang="en-US" sz="1300" kern="0" spc="-80" dirty="0">
                <a:solidFill>
                  <a:schemeClr val="tx2">
                    <a:lumMod val="60000"/>
                    <a:lumOff val="40000"/>
                  </a:schemeClr>
                </a:solidFill>
              </a:rPr>
              <a:t> based) since in this case no much point of having cross data locality using Document DB(in-fact that ultimately leads to worse performance &amp; worse maintainability).</a:t>
            </a:r>
          </a:p>
          <a:p>
            <a:pPr marL="12700" marR="5080"/>
            <a:endParaRPr lang="en-US" sz="1300" kern="0" spc="-80" dirty="0">
              <a:solidFill>
                <a:schemeClr val="tx2">
                  <a:lumMod val="60000"/>
                  <a:lumOff val="40000"/>
                </a:schemeClr>
              </a:solidFill>
            </a:endParaRPr>
          </a:p>
          <a:p>
            <a:pPr marL="12700" marR="5080"/>
            <a:r>
              <a:rPr lang="en-US" sz="1300" kern="0" spc="-80" dirty="0">
                <a:solidFill>
                  <a:schemeClr val="tx2">
                    <a:lumMod val="60000"/>
                    <a:lumOff val="40000"/>
                  </a:schemeClr>
                </a:solidFill>
              </a:rPr>
              <a:t> </a:t>
            </a:r>
            <a:r>
              <a:rPr lang="en-US" sz="1500" kern="0" spc="-80" dirty="0">
                <a:solidFill>
                  <a:schemeClr val="accent2"/>
                </a:solidFill>
              </a:rPr>
              <a:t>For Further Exploration – </a:t>
            </a:r>
          </a:p>
          <a:p>
            <a:pPr marL="12700" marR="5080"/>
            <a:r>
              <a:rPr lang="en-US" sz="1500" kern="0" spc="-80" dirty="0">
                <a:solidFill>
                  <a:schemeClr val="accent2"/>
                </a:solidFill>
              </a:rPr>
              <a:t> </a:t>
            </a:r>
            <a:r>
              <a:rPr lang="en-IN" sz="1050" dirty="0">
                <a:hlinkClick r:id="rId7"/>
              </a:rPr>
              <a:t>Which DB to use ?</a:t>
            </a:r>
            <a:endParaRPr lang="en-IN" sz="1050" dirty="0"/>
          </a:p>
          <a:p>
            <a:pPr marL="12700" marR="5080"/>
            <a:r>
              <a:rPr lang="en-IN" sz="1050" dirty="0"/>
              <a:t> </a:t>
            </a:r>
            <a:r>
              <a:rPr lang="en-US" sz="1050" dirty="0">
                <a:hlinkClick r:id="rId8"/>
              </a:rPr>
              <a:t>In Memory Data Structures Representations In DB</a:t>
            </a:r>
            <a:endParaRPr lang="en-IN" sz="1050" dirty="0"/>
          </a:p>
          <a:p>
            <a:pPr marL="12700" marR="5080"/>
            <a:r>
              <a:rPr lang="en-IN" sz="1050" dirty="0"/>
              <a:t> </a:t>
            </a:r>
            <a:r>
              <a:rPr lang="en-US" sz="1050" dirty="0">
                <a:hlinkClick r:id="rId9"/>
              </a:rPr>
              <a:t>Time Series Databases - everything you need to know</a:t>
            </a:r>
            <a:endParaRPr lang="en-US" sz="1050" dirty="0"/>
          </a:p>
          <a:p>
            <a:pPr marL="12700" marR="5080"/>
            <a:r>
              <a:rPr lang="en-US" sz="1000" kern="0" spc="-80" dirty="0">
                <a:solidFill>
                  <a:schemeClr val="accent2"/>
                </a:solidFill>
              </a:rPr>
              <a:t> </a:t>
            </a:r>
            <a:r>
              <a:rPr lang="en-US" sz="1000" dirty="0">
                <a:hlinkClick r:id="rId10"/>
              </a:rPr>
              <a:t>Time Series Database - Amazon Timestream – AWS</a:t>
            </a:r>
            <a:endParaRPr lang="en-US" sz="1000" dirty="0"/>
          </a:p>
          <a:p>
            <a:pPr marL="12700" marR="5080"/>
            <a:r>
              <a:rPr lang="en-US" sz="1000" dirty="0"/>
              <a:t> </a:t>
            </a:r>
            <a:r>
              <a:rPr lang="en-IN" sz="1000" dirty="0" err="1">
                <a:hlinkClick r:id="rId11"/>
              </a:rPr>
              <a:t>MetricsDB</a:t>
            </a:r>
            <a:r>
              <a:rPr lang="en-IN" sz="1000" dirty="0">
                <a:hlinkClick r:id="rId11"/>
              </a:rPr>
              <a:t>: </a:t>
            </a:r>
            <a:r>
              <a:rPr lang="en-IN" sz="1000" dirty="0" err="1">
                <a:hlinkClick r:id="rId11"/>
              </a:rPr>
              <a:t>TimeSeries</a:t>
            </a:r>
            <a:r>
              <a:rPr lang="en-IN" sz="1000" dirty="0">
                <a:hlinkClick r:id="rId11"/>
              </a:rPr>
              <a:t> Database for storing metrics at Twitter</a:t>
            </a:r>
            <a:endParaRPr lang="en-IN" sz="1000" dirty="0"/>
          </a:p>
          <a:p>
            <a:pPr marL="12700" marR="5080"/>
            <a:r>
              <a:rPr lang="en-IN" sz="1000" dirty="0"/>
              <a:t> </a:t>
            </a:r>
            <a:r>
              <a:rPr lang="en-IN" sz="1000" dirty="0">
                <a:hlinkClick r:id="rId12"/>
              </a:rPr>
              <a:t>CRUD Database - Amazon Quantum Ledger Database (QLDB) - AWS</a:t>
            </a:r>
            <a:r>
              <a:rPr lang="en-US" sz="1000" kern="0" spc="-80" dirty="0">
                <a:solidFill>
                  <a:schemeClr val="accent2"/>
                </a:solidFill>
              </a:rPr>
              <a:t>   </a:t>
            </a:r>
          </a:p>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276793388"/>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7EC9C-4DAF-F497-8DB3-5DA7476F8D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38C48C-AEDC-0935-7DCA-9C98999735E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746BE-C8F4-7E0F-52F6-3829ACD42D2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722AB3-0D47-7263-6CF4-0BAA3C63CFA3}"/>
              </a:ext>
            </a:extLst>
          </p:cNvPr>
          <p:cNvGraphicFramePr/>
          <p:nvPr/>
        </p:nvGraphicFramePr>
        <p:xfrm>
          <a:off x="138063" y="-57613"/>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F3C03E-2BD8-432B-254D-360CB69135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356120-B554-6E71-35AD-B67B6313C5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D37941-80AB-60A7-BFEC-00AE74CFBB00}"/>
              </a:ext>
            </a:extLst>
          </p:cNvPr>
          <p:cNvSpPr txBox="1">
            <a:spLocks/>
          </p:cNvSpPr>
          <p:nvPr/>
        </p:nvSpPr>
        <p:spPr>
          <a:xfrm>
            <a:off x="3673" y="674132"/>
            <a:ext cx="8915399"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355600" marR="5080" indent="-342900">
              <a:buAutoNum type="arabicParenR"/>
            </a:pPr>
            <a:r>
              <a:rPr lang="en-US" sz="1300" kern="0" spc="-80" dirty="0">
                <a:solidFill>
                  <a:schemeClr val="accent6"/>
                </a:solidFill>
              </a:rPr>
              <a:t>If the app is write heavy(i.e. having more inserts/updates compared to selects w.r.t DB) then go for Normalized DB design else if its read heavy then go for Denormalized DB design. Also, via CQRS pattern,, data can be written in normalized DB while can be read from denormalized DB.</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Audit Columns like </a:t>
            </a:r>
            <a:r>
              <a:rPr lang="en-US" sz="1300" kern="0" spc="-80" dirty="0" err="1">
                <a:solidFill>
                  <a:schemeClr val="accent6"/>
                </a:solidFill>
              </a:rPr>
              <a:t>CreatedBy</a:t>
            </a:r>
            <a:r>
              <a:rPr lang="en-US" sz="1300" kern="0" spc="-80" dirty="0">
                <a:solidFill>
                  <a:schemeClr val="accent6"/>
                </a:solidFill>
              </a:rPr>
              <a:t>, </a:t>
            </a:r>
            <a:r>
              <a:rPr lang="en-US" sz="1300" kern="0" spc="-80" dirty="0" err="1">
                <a:solidFill>
                  <a:schemeClr val="accent6"/>
                </a:solidFill>
              </a:rPr>
              <a:t>CreatedOn</a:t>
            </a:r>
            <a:r>
              <a:rPr lang="en-US" sz="1300" kern="0" spc="-80" dirty="0">
                <a:solidFill>
                  <a:schemeClr val="accent6"/>
                </a:solidFill>
              </a:rPr>
              <a:t>, </a:t>
            </a:r>
            <a:r>
              <a:rPr lang="en-US" sz="1300" kern="0" spc="-80" dirty="0" err="1">
                <a:solidFill>
                  <a:schemeClr val="accent6"/>
                </a:solidFill>
              </a:rPr>
              <a:t>LastUpdatedBy</a:t>
            </a:r>
            <a:r>
              <a:rPr lang="en-US" sz="1300" kern="0" spc="-80" dirty="0">
                <a:solidFill>
                  <a:schemeClr val="accent6"/>
                </a:solidFill>
              </a:rPr>
              <a:t> &amp; </a:t>
            </a:r>
            <a:r>
              <a:rPr lang="en-US" sz="1300" kern="0" spc="-80" dirty="0" err="1">
                <a:solidFill>
                  <a:schemeClr val="accent6"/>
                </a:solidFill>
              </a:rPr>
              <a:t>LastUpdatedOn</a:t>
            </a:r>
            <a:r>
              <a:rPr lang="en-US" sz="1300" kern="0" spc="-80" dirty="0">
                <a:solidFill>
                  <a:schemeClr val="accent6"/>
                </a:solidFill>
              </a:rPr>
              <a:t> if auditability is required.</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Outbox(&amp; Inbox) patterns for any integration(to external/internal APIs, MQs or DBs or File Servers)</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Check if Sync(Synchronous) Transactions needed to be handled &amp; Sync Transactions are in general needed for -   </a:t>
            </a:r>
          </a:p>
          <a:p>
            <a:pPr marL="12700" marR="5080"/>
            <a:r>
              <a:rPr lang="en-US" sz="1300" kern="0" spc="-80" dirty="0">
                <a:solidFill>
                  <a:schemeClr val="accent6"/>
                </a:solidFill>
              </a:rPr>
              <a:t>       a) Bulk(multiple) items of same record/row type[i.e. within same table] needs to be  </a:t>
            </a:r>
          </a:p>
          <a:p>
            <a:pPr marL="12700" marR="5080"/>
            <a:r>
              <a:rPr lang="en-US" sz="1300" kern="0" spc="-80" dirty="0">
                <a:solidFill>
                  <a:schemeClr val="accent6"/>
                </a:solidFill>
              </a:rPr>
              <a:t>           inserted/updated/deleted in an atomic way in “all or none” mode.</a:t>
            </a:r>
          </a:p>
          <a:p>
            <a:pPr marL="12700" marR="5080"/>
            <a:r>
              <a:rPr lang="en-US" sz="1300" kern="0" spc="-80" dirty="0">
                <a:solidFill>
                  <a:schemeClr val="accent6"/>
                </a:solidFill>
              </a:rPr>
              <a:t>       b) An object/record which needs to be </a:t>
            </a:r>
            <a:r>
              <a:rPr lang="en-US" sz="1300" kern="0" spc="-80" dirty="0" err="1">
                <a:solidFill>
                  <a:schemeClr val="accent6"/>
                </a:solidFill>
              </a:rPr>
              <a:t>splitted</a:t>
            </a:r>
            <a:r>
              <a:rPr lang="en-US" sz="1300" kern="0" spc="-80" dirty="0">
                <a:solidFill>
                  <a:schemeClr val="accent6"/>
                </a:solidFill>
              </a:rPr>
              <a:t> in parts &amp; each part needs to be inserted in different </a:t>
            </a:r>
          </a:p>
          <a:p>
            <a:pPr marL="12700" marR="5080"/>
            <a:r>
              <a:rPr lang="en-US" sz="1300" kern="0" spc="-80" dirty="0">
                <a:solidFill>
                  <a:schemeClr val="accent6"/>
                </a:solidFill>
              </a:rPr>
              <a:t>            DB tables</a:t>
            </a:r>
          </a:p>
          <a:p>
            <a:pPr marL="12700" marR="5080"/>
            <a:r>
              <a:rPr lang="en-US" sz="1300" kern="0" spc="-80" dirty="0">
                <a:solidFill>
                  <a:schemeClr val="accent6"/>
                </a:solidFill>
              </a:rPr>
              <a:t>       c) Multiple operations(e.g. insert &amp; some conditional update) needs to be done on the same record of </a:t>
            </a:r>
          </a:p>
          <a:p>
            <a:pPr marL="12700" marR="5080"/>
            <a:r>
              <a:rPr lang="en-US" sz="1300" kern="0" spc="-80" dirty="0">
                <a:solidFill>
                  <a:schemeClr val="accent6"/>
                </a:solidFill>
              </a:rPr>
              <a:t>           a table in an “all or none” mode.</a:t>
            </a:r>
          </a:p>
          <a:p>
            <a:pPr marL="12700" marR="5080"/>
            <a:r>
              <a:rPr lang="en-US" sz="1300" kern="0" spc="-80" dirty="0">
                <a:solidFill>
                  <a:schemeClr val="accent6"/>
                </a:solidFill>
              </a:rPr>
              <a:t>       d) A combination or all of a, b &amp; c above.</a:t>
            </a:r>
          </a:p>
          <a:p>
            <a:pPr marL="12700" marR="5080"/>
            <a:r>
              <a:rPr lang="en-US" sz="1300" kern="0" spc="-80" dirty="0">
                <a:solidFill>
                  <a:schemeClr val="accent6"/>
                </a:solidFill>
              </a:rPr>
              <a:t>       N.B. - Always wrap Synchronous Transactions using </a:t>
            </a:r>
            <a:r>
              <a:rPr lang="en-US" sz="1300" kern="0" spc="-80" dirty="0" err="1">
                <a:solidFill>
                  <a:schemeClr val="accent6"/>
                </a:solidFill>
              </a:rPr>
              <a:t>UnitOfWork</a:t>
            </a:r>
            <a:r>
              <a:rPr lang="en-US" sz="1300" kern="0" spc="-80" dirty="0">
                <a:solidFill>
                  <a:schemeClr val="accent6"/>
                </a:solidFill>
              </a:rPr>
              <a:t> Pattern.</a:t>
            </a:r>
          </a:p>
          <a:p>
            <a:pPr marL="12700" marR="5080"/>
            <a:endParaRPr lang="en-US" sz="1300" kern="0" spc="-80" dirty="0">
              <a:solidFill>
                <a:schemeClr val="accent6"/>
              </a:solidFill>
            </a:endParaRPr>
          </a:p>
          <a:p>
            <a:pPr marL="12700" marR="5080"/>
            <a:r>
              <a:rPr lang="en-US" sz="1300" kern="0" spc="-80" dirty="0">
                <a:solidFill>
                  <a:schemeClr val="accent6"/>
                </a:solidFill>
              </a:rPr>
              <a:t>5)    Check upfront if there is any </a:t>
            </a:r>
            <a:r>
              <a:rPr lang="en-US" sz="1300" kern="0" spc="-80" dirty="0" err="1">
                <a:solidFill>
                  <a:schemeClr val="accent6"/>
                </a:solidFill>
              </a:rPr>
              <a:t>usecase</a:t>
            </a:r>
            <a:r>
              <a:rPr lang="en-US" sz="1300" kern="0" spc="-80" dirty="0">
                <a:solidFill>
                  <a:schemeClr val="accent6"/>
                </a:solidFill>
              </a:rPr>
              <a:t> where the same record/row of a DB table can be (read +)     </a:t>
            </a:r>
          </a:p>
          <a:p>
            <a:pPr marL="12700" marR="5080"/>
            <a:r>
              <a:rPr lang="en-US" sz="1300" kern="0" spc="-80" dirty="0">
                <a:solidFill>
                  <a:schemeClr val="accent6"/>
                </a:solidFill>
              </a:rPr>
              <a:t>       written(updated/inserted) by multiple concurrent users/requests as depicted in  </a:t>
            </a:r>
            <a:r>
              <a:rPr lang="en-IN" sz="1000" dirty="0">
                <a:hlinkClick r:id="rId7"/>
              </a:rPr>
              <a:t>Concurrency Control in DBMS –   </a:t>
            </a:r>
          </a:p>
          <a:p>
            <a:pPr marL="12700" marR="5080"/>
            <a:r>
              <a:rPr lang="en-IN" sz="1000" dirty="0">
                <a:hlinkClick r:id="rId7"/>
              </a:rPr>
              <a:t>        </a:t>
            </a:r>
            <a:r>
              <a:rPr lang="en-IN" sz="1000" dirty="0" err="1">
                <a:hlinkClick r:id="rId7"/>
              </a:rPr>
              <a:t>GeeksforGeeks</a:t>
            </a:r>
            <a:r>
              <a:rPr lang="en-US" sz="1300" kern="0" spc="-80" dirty="0">
                <a:solidFill>
                  <a:schemeClr val="accent6"/>
                </a:solidFill>
              </a:rPr>
              <a:t>, then various concurrency issues can occur &amp; should be handled using Optimistic or Pessimistic</a:t>
            </a:r>
          </a:p>
          <a:p>
            <a:pPr marL="12700" marR="5080"/>
            <a:r>
              <a:rPr lang="en-US" sz="1300" kern="0" spc="-80" dirty="0">
                <a:solidFill>
                  <a:schemeClr val="accent6"/>
                </a:solidFill>
              </a:rPr>
              <a:t>       Concurrency checks. 2 common use-cases/scenarios related to this are – </a:t>
            </a:r>
          </a:p>
          <a:p>
            <a:pPr marL="12700" marR="5080"/>
            <a:r>
              <a:rPr lang="en-US" sz="1300" kern="0" spc="-80" dirty="0">
                <a:solidFill>
                  <a:schemeClr val="accent6"/>
                </a:solidFill>
              </a:rPr>
              <a:t>       a) Using integer IDs as PKs – say you read a max PK &amp; then do new to-be inserted PK = max PK + 1 &amp; then insert </a:t>
            </a:r>
          </a:p>
          <a:p>
            <a:pPr marL="12700" marR="5080"/>
            <a:r>
              <a:rPr lang="en-US" sz="1300" kern="0" spc="-80" dirty="0">
                <a:solidFill>
                  <a:schemeClr val="accent6"/>
                </a:solidFill>
              </a:rPr>
              <a:t>       the data with new PK. For multiple concurrent requests, concurrency issue(s) can happen here &amp; rather than    </a:t>
            </a:r>
          </a:p>
          <a:p>
            <a:pPr marL="12700" marR="5080"/>
            <a:r>
              <a:rPr lang="en-US" sz="1300" kern="0" spc="-80" dirty="0">
                <a:solidFill>
                  <a:schemeClr val="accent6"/>
                </a:solidFill>
              </a:rPr>
              <a:t>       explicitly using some optimistic or pessimistic concurrency control mechanism to handle the concurrency issue(s), </a:t>
            </a:r>
          </a:p>
          <a:p>
            <a:pPr marL="12700" marR="5080"/>
            <a:r>
              <a:rPr lang="en-US" sz="1300" kern="0" spc="-80" dirty="0">
                <a:solidFill>
                  <a:schemeClr val="accent6"/>
                </a:solidFill>
              </a:rPr>
              <a:t>       it’s better to change the DB design to use GUID based PKs instead of integer based PKs.</a:t>
            </a:r>
          </a:p>
        </p:txBody>
      </p:sp>
      <p:sp>
        <p:nvSpPr>
          <p:cNvPr id="8" name="AutoShape 2" descr="SQL vs NoSQL vs NewSQL. Adapting to the changing requirements… | by Gangani  Chamika | Medium">
            <a:extLst>
              <a:ext uri="{FF2B5EF4-FFF2-40B4-BE49-F238E27FC236}">
                <a16:creationId xmlns:a16="http://schemas.microsoft.com/office/drawing/2014/main" id="{15745741-B7A5-ED0C-52FF-A7EDF5D22F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163D6AA-1A6E-A22A-7455-0AEAF61AA5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707628646"/>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930A1-6C36-DDD2-ECAD-FAFA07C057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EE2F60-BF78-7A97-DFF7-F27A312719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49A63A0-599F-E3BE-37D0-74E5DE27414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8B1D2A-B1FA-FB57-42D8-A1CDB58632E9}"/>
              </a:ext>
            </a:extLst>
          </p:cNvPr>
          <p:cNvGraphicFramePr/>
          <p:nvPr/>
        </p:nvGraphicFramePr>
        <p:xfrm>
          <a:off x="7620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B6FCEF-A6DE-0CFC-1C30-A8E88FB443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769954E-49A1-6EF6-D402-446670653D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8CFB13-2594-7A9F-FE3E-CE02573522F1}"/>
              </a:ext>
            </a:extLst>
          </p:cNvPr>
          <p:cNvSpPr txBox="1">
            <a:spLocks/>
          </p:cNvSpPr>
          <p:nvPr/>
        </p:nvSpPr>
        <p:spPr>
          <a:xfrm>
            <a:off x="3673" y="674132"/>
            <a:ext cx="8915399" cy="42011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300" kern="0" spc="-80" dirty="0">
              <a:solidFill>
                <a:schemeClr val="accent6"/>
              </a:solidFill>
            </a:endParaRPr>
          </a:p>
          <a:p>
            <a:pPr marL="12700" marR="5080"/>
            <a:r>
              <a:rPr lang="en-US" sz="1300" kern="0" spc="-80" dirty="0">
                <a:solidFill>
                  <a:schemeClr val="accent6"/>
                </a:solidFill>
              </a:rPr>
              <a:t>       b) Any booking of something e.g. you want to book a hotel room A from today till next 3 days while there is</a:t>
            </a:r>
          </a:p>
          <a:p>
            <a:pPr marL="12700" marR="5080"/>
            <a:r>
              <a:rPr lang="en-US" sz="1300" kern="0" spc="-80" dirty="0">
                <a:solidFill>
                  <a:schemeClr val="accent6"/>
                </a:solidFill>
              </a:rPr>
              <a:t>       another user who wants to book the same hotel room A for tomorrow only &amp; both the requests have come at the </a:t>
            </a:r>
          </a:p>
          <a:p>
            <a:pPr marL="12700" marR="5080"/>
            <a:r>
              <a:rPr lang="en-US" sz="1300" kern="0" spc="-80" dirty="0">
                <a:solidFill>
                  <a:schemeClr val="accent6"/>
                </a:solidFill>
              </a:rPr>
              <a:t>       same time &amp; so concurrency is happening &amp; that needs to be controlled/handled. Distributed Locking(</a:t>
            </a:r>
            <a:r>
              <a:rPr lang="en-US" sz="1000" dirty="0">
                <a:hlinkClick r:id="rId7"/>
              </a:rPr>
              <a:t>How to do</a:t>
            </a:r>
          </a:p>
          <a:p>
            <a:pPr marL="12700" marR="5080"/>
            <a:r>
              <a:rPr lang="en-US" sz="1000" dirty="0">
                <a:hlinkClick r:id="rId7"/>
              </a:rPr>
              <a:t>       distributed locking — Martin </a:t>
            </a:r>
            <a:r>
              <a:rPr lang="en-US" sz="1000" dirty="0" err="1">
                <a:hlinkClick r:id="rId7"/>
              </a:rPr>
              <a:t>Kleppmann’s</a:t>
            </a:r>
            <a:r>
              <a:rPr lang="en-US" sz="1000" dirty="0">
                <a:hlinkClick r:id="rId7"/>
              </a:rPr>
              <a:t> blog</a:t>
            </a:r>
            <a:r>
              <a:rPr lang="en-US" sz="1300" kern="0" spc="-80" dirty="0">
                <a:solidFill>
                  <a:schemeClr val="accent6"/>
                </a:solidFill>
              </a:rPr>
              <a:t>) on impacted rows only using some attribute/column say </a:t>
            </a:r>
          </a:p>
          <a:p>
            <a:pPr marL="12700" marR="5080"/>
            <a:r>
              <a:rPr lang="en-US" sz="1300" kern="0" spc="-80" dirty="0">
                <a:solidFill>
                  <a:schemeClr val="accent6"/>
                </a:solidFill>
              </a:rPr>
              <a:t>       </a:t>
            </a:r>
            <a:r>
              <a:rPr lang="en-US" sz="1300" kern="0" spc="-80" dirty="0" err="1">
                <a:solidFill>
                  <a:schemeClr val="accent6"/>
                </a:solidFill>
              </a:rPr>
              <a:t>LockedByUserID</a:t>
            </a:r>
            <a:r>
              <a:rPr lang="en-US" sz="1300" kern="0" spc="-80" dirty="0">
                <a:solidFill>
                  <a:schemeClr val="accent6"/>
                </a:solidFill>
              </a:rPr>
              <a:t> seems to be the best way to handle such scenario(s). But then again in this case other client </a:t>
            </a:r>
          </a:p>
          <a:p>
            <a:pPr marL="12700" marR="5080"/>
            <a:r>
              <a:rPr lang="en-US" sz="1300" kern="0" spc="-80" dirty="0">
                <a:solidFill>
                  <a:schemeClr val="accent6"/>
                </a:solidFill>
              </a:rPr>
              <a:t>       requests may have to implement Retry +  Circuit Breaker Resiliency patterns or there needs to be MQ based async </a:t>
            </a:r>
          </a:p>
          <a:p>
            <a:pPr marL="12700" marR="5080"/>
            <a:r>
              <a:rPr lang="en-US" sz="1300" kern="0" spc="-80" dirty="0">
                <a:solidFill>
                  <a:schemeClr val="accent6"/>
                </a:solidFill>
              </a:rPr>
              <a:t>       layer to process requests one by one before the distributed locking comes into picture.</a:t>
            </a:r>
          </a:p>
          <a:p>
            <a:pPr marL="12700" marR="5080"/>
            <a:endParaRPr lang="en-US" sz="1300" kern="0" spc="-80" dirty="0">
              <a:solidFill>
                <a:schemeClr val="accent6"/>
              </a:solidFill>
            </a:endParaRPr>
          </a:p>
          <a:p>
            <a:pPr marL="355600" marR="5080" indent="-342900">
              <a:buAutoNum type="arabicParenR" startAt="6"/>
            </a:pPr>
            <a:r>
              <a:rPr lang="en-US" sz="1300" kern="0" spc="-80" dirty="0">
                <a:solidFill>
                  <a:schemeClr val="accent6"/>
                </a:solidFill>
              </a:rPr>
              <a:t>Have proper index being applied to fetch queries for join &amp; where clause columns. Also check volumetrics upfront </a:t>
            </a:r>
          </a:p>
          <a:p>
            <a:pPr marL="12700" marR="5080"/>
            <a:r>
              <a:rPr lang="en-US" sz="1300" kern="0" spc="-80" dirty="0">
                <a:solidFill>
                  <a:schemeClr val="accent6"/>
                </a:solidFill>
              </a:rPr>
              <a:t>        and see if partitioning is needed for some transactional tables/collections(e.g. Cosmos Mongo has a constraint </a:t>
            </a:r>
          </a:p>
          <a:p>
            <a:pPr marL="12700" marR="5080"/>
            <a:r>
              <a:rPr lang="en-US" sz="1300" kern="0" spc="-80" dirty="0">
                <a:solidFill>
                  <a:schemeClr val="accent6"/>
                </a:solidFill>
              </a:rPr>
              <a:t>        that single default partition size cannot be &gt; 20GB) which can grow (hugely) with time. If  yes, then have the </a:t>
            </a:r>
          </a:p>
          <a:p>
            <a:pPr marL="12700" marR="5080"/>
            <a:r>
              <a:rPr lang="en-US" sz="1300" kern="0" spc="-80" dirty="0">
                <a:solidFill>
                  <a:schemeClr val="accent6"/>
                </a:solidFill>
              </a:rPr>
              <a:t>        partition key in where clause of each update and select query for such transactional tables else performance can </a:t>
            </a:r>
          </a:p>
          <a:p>
            <a:pPr marL="12700" marR="5080"/>
            <a:r>
              <a:rPr lang="en-US" sz="1300" kern="0" spc="-80" dirty="0">
                <a:solidFill>
                  <a:schemeClr val="accent6"/>
                </a:solidFill>
              </a:rPr>
              <a:t>        degrade heavily with growth of data. Purging &amp; Archiving data based on some retention policy also can be a </a:t>
            </a:r>
          </a:p>
          <a:p>
            <a:pPr marL="12700" marR="5080"/>
            <a:r>
              <a:rPr lang="en-US" sz="1300" kern="0" spc="-80" dirty="0">
                <a:solidFill>
                  <a:schemeClr val="accent6"/>
                </a:solidFill>
              </a:rPr>
              <a:t>        solution but sometimes both Partitioning and Retention policy based implementation might be needed.</a:t>
            </a:r>
          </a:p>
          <a:p>
            <a:pPr marL="12700" marR="5080"/>
            <a:endParaRPr lang="en-US" sz="1300" kern="0" spc="-80" dirty="0">
              <a:solidFill>
                <a:schemeClr val="accent6"/>
              </a:solidFill>
            </a:endParaRPr>
          </a:p>
          <a:p>
            <a:pPr marL="355600" marR="5080" indent="-342900">
              <a:buAutoNum type="arabicParenR" startAt="7"/>
            </a:pPr>
            <a:r>
              <a:rPr lang="en-US" sz="1300" kern="0" spc="-80" dirty="0">
                <a:solidFill>
                  <a:schemeClr val="accent6"/>
                </a:solidFill>
              </a:rPr>
              <a:t>In any Data pipeline, decide upfront the data processing framework(s)/tool(s) &amp; kind of storage to be used i.e. use </a:t>
            </a:r>
          </a:p>
          <a:p>
            <a:pPr marL="12700" marR="5080"/>
            <a:r>
              <a:rPr lang="en-US" sz="1300" kern="0" spc="-80" dirty="0">
                <a:solidFill>
                  <a:schemeClr val="accent6"/>
                </a:solidFill>
              </a:rPr>
              <a:t>        the right tool for the right job(in the right way) e.g. there can be need to use persistent storage or in-memory </a:t>
            </a:r>
          </a:p>
          <a:p>
            <a:pPr marL="12700" marR="5080"/>
            <a:r>
              <a:rPr lang="en-US" sz="1300" kern="0" spc="-80" dirty="0">
                <a:solidFill>
                  <a:schemeClr val="accent6"/>
                </a:solidFill>
              </a:rPr>
              <a:t>        storage &amp; retention policy can be applied to both  &amp; retention period can be as low as deleting the records just </a:t>
            </a:r>
          </a:p>
          <a:p>
            <a:pPr marL="12700" marR="5080"/>
            <a:r>
              <a:rPr lang="en-US" sz="1300" kern="0" spc="-80" dirty="0">
                <a:solidFill>
                  <a:schemeClr val="accent6"/>
                </a:solidFill>
              </a:rPr>
              <a:t>        after processing or it can be very long periods of say 50 years or even more(</a:t>
            </a:r>
            <a:r>
              <a:rPr lang="en-US" sz="1300" kern="0" spc="-80" dirty="0" err="1">
                <a:solidFill>
                  <a:schemeClr val="accent6"/>
                </a:solidFill>
              </a:rPr>
              <a:t>atleast</a:t>
            </a:r>
            <a:r>
              <a:rPr lang="en-US" sz="1300" kern="0" spc="-80" dirty="0">
                <a:solidFill>
                  <a:schemeClr val="accent6"/>
                </a:solidFill>
              </a:rPr>
              <a:t> for persistent storage) as well </a:t>
            </a:r>
          </a:p>
          <a:p>
            <a:pPr marL="12700" marR="5080"/>
            <a:r>
              <a:rPr lang="en-US" sz="1300" kern="0" spc="-80" dirty="0">
                <a:solidFill>
                  <a:schemeClr val="accent6"/>
                </a:solidFill>
              </a:rPr>
              <a:t>        due to some compliance.</a:t>
            </a:r>
          </a:p>
        </p:txBody>
      </p:sp>
      <p:sp>
        <p:nvSpPr>
          <p:cNvPr id="8" name="AutoShape 2" descr="SQL vs NoSQL vs NewSQL. Adapting to the changing requirements… | by Gangani  Chamika | Medium">
            <a:extLst>
              <a:ext uri="{FF2B5EF4-FFF2-40B4-BE49-F238E27FC236}">
                <a16:creationId xmlns:a16="http://schemas.microsoft.com/office/drawing/2014/main" id="{A4A47E68-2D21-D06F-1B10-B6ED22EFD2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5174353-C854-2790-8027-176FAB0AA5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55374661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EFBE-8143-DB0E-30E0-C16F87788F0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971757-1F5F-8EA6-7FF4-C16372BAE1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B47161-82FD-B469-13BA-44E72AF2D9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89CF6E-51AC-1A7C-AA3A-980CA02C9EBC}"/>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0CC07E-8F72-4572-F847-90CA1E8B28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D13E83-D8C1-4ED4-0AA6-DEE998716E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2D210-B064-49A7-34F2-68D48EF0DB11}"/>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OLAP(Online Analytical Processing) is different from OLTP(Online Transaction Processing) in the sense that OLAP deals with large amount of data rows/records of table(s) within some DB(mainly reading thousands/millions or even billions/trillions, mainly in the form of some aggregate[s]) while OLTP deals with very few reads/writes(most of the times effecting only a single record in the DB) via normal </a:t>
            </a:r>
            <a:r>
              <a:rPr lang="en-US" sz="1350" kern="0" spc="-80" dirty="0" err="1">
                <a:solidFill>
                  <a:schemeClr val="accent6"/>
                </a:solidFill>
              </a:rPr>
              <a:t>sql</a:t>
            </a:r>
            <a:r>
              <a:rPr lang="en-US" sz="1350" kern="0" spc="-80" dirty="0">
                <a:solidFill>
                  <a:schemeClr val="accent6"/>
                </a:solidFill>
              </a:rPr>
              <a:t> selects/inserts/updates(or some equivalents e.g. in </a:t>
            </a:r>
            <a:r>
              <a:rPr lang="en-US" sz="1350" kern="0" spc="-80" dirty="0" err="1">
                <a:solidFill>
                  <a:schemeClr val="accent6"/>
                </a:solidFill>
              </a:rPr>
              <a:t>NoSql</a:t>
            </a:r>
            <a:r>
              <a:rPr lang="en-US" sz="1350" kern="0" spc="-80" dirty="0">
                <a:solidFill>
                  <a:schemeClr val="accent6"/>
                </a:solidFill>
              </a:rPr>
              <a:t>). Being read heavy, OLAP DBs are in general denormalized. To transfer the data from OLTP to OLAP, various (Real Time) ETL(Extract Transform Load)/ELT(Extract Load Transform) techniques &amp; strategies can be used e.g. doing nightly bulk/batch ETL to transfer data from a OLTP DB to a OLAP DB. This process is a type of Data Migration only ultimately.</a:t>
            </a:r>
          </a:p>
          <a:p>
            <a:pPr marL="12700" marR="5080"/>
            <a:r>
              <a:rPr lang="en-US" sz="1350" kern="0" spc="-80" dirty="0">
                <a:solidFill>
                  <a:schemeClr val="accent2"/>
                </a:solidFill>
              </a:rPr>
              <a:t>Dimensional data modeling</a:t>
            </a:r>
            <a:r>
              <a:rPr lang="en-US" sz="1350" kern="0" spc="-80" dirty="0">
                <a:solidFill>
                  <a:schemeClr val="accent6"/>
                </a:solidFill>
              </a:rPr>
              <a:t> organizes data into a star schema or snowflake schema for analytical purposes, using fact tables to store business process metrics and dimension tables for business context (who, what, when, where). Developed by </a:t>
            </a:r>
            <a:r>
              <a:rPr lang="en-US" sz="1350" kern="0" spc="-80" dirty="0">
                <a:solidFill>
                  <a:schemeClr val="accent6"/>
                </a:solidFill>
                <a:hlinkClick r:id="rId7">
                  <a:extLst>
                    <a:ext uri="{A12FA001-AC4F-418D-AE19-62706E023703}">
                      <ahyp:hlinkClr xmlns:ahyp="http://schemas.microsoft.com/office/drawing/2018/hyperlinkcolor" val="tx"/>
                    </a:ext>
                  </a:extLst>
                </a:hlinkClick>
              </a:rPr>
              <a:t>Ralph Kimball</a:t>
            </a:r>
            <a:r>
              <a:rPr lang="en-US" sz="1350" kern="0" spc="-80" dirty="0">
                <a:solidFill>
                  <a:schemeClr val="accent6"/>
                </a:solidFill>
              </a:rPr>
              <a:t>, this technique is optimized for fast data retrieval in data warehouses and business intelligence systems, making complex data understandable and usable for generating insights.</a:t>
            </a:r>
          </a:p>
          <a:p>
            <a:pPr lvl="0" eaLnBrk="0" fontAlgn="base" hangingPunct="0">
              <a:spcBef>
                <a:spcPct val="0"/>
              </a:spcBef>
              <a:spcAft>
                <a:spcPct val="0"/>
              </a:spcAft>
            </a:pPr>
            <a:r>
              <a:rPr lang="en-US" altLang="en-US" sz="1350" kern="0" spc="-80" dirty="0">
                <a:solidFill>
                  <a:schemeClr val="accent2"/>
                </a:solidFill>
              </a:rPr>
              <a:t>Key Concepts</a:t>
            </a:r>
          </a:p>
          <a:p>
            <a:pPr lvl="0" eaLnBrk="0" fontAlgn="base" hangingPunct="0">
              <a:spcBef>
                <a:spcPct val="0"/>
              </a:spcBef>
              <a:spcAft>
                <a:spcPct val="0"/>
              </a:spcAft>
              <a:buFontTx/>
              <a:buChar char="•"/>
            </a:pPr>
            <a:r>
              <a:rPr lang="en-US" altLang="en-US" sz="1350" kern="0" spc="-80" dirty="0">
                <a:solidFill>
                  <a:schemeClr val="accent2"/>
                </a:solidFill>
              </a:rPr>
              <a:t>Fact Table: </a:t>
            </a:r>
          </a:p>
          <a:p>
            <a:pPr lvl="0" eaLnBrk="0" fontAlgn="base" hangingPunct="0">
              <a:spcBef>
                <a:spcPct val="0"/>
              </a:spcBef>
              <a:spcAft>
                <a:spcPct val="0"/>
              </a:spcAft>
            </a:pPr>
            <a:r>
              <a:rPr lang="en-US" altLang="en-US" sz="1350" kern="0" spc="-80" dirty="0">
                <a:solidFill>
                  <a:schemeClr val="accent6"/>
                </a:solidFill>
              </a:rPr>
              <a:t>Contains quantitative measurements (facts) from a business process, such as sales, and connects to one or more dimension tables. </a:t>
            </a:r>
          </a:p>
          <a:p>
            <a:pPr lvl="0" eaLnBrk="0" fontAlgn="base" hangingPunct="0">
              <a:spcBef>
                <a:spcPct val="0"/>
              </a:spcBef>
              <a:spcAft>
                <a:spcPct val="0"/>
              </a:spcAft>
              <a:buFontTx/>
              <a:buChar char="•"/>
            </a:pPr>
            <a:r>
              <a:rPr lang="en-US" altLang="en-US" sz="1350" kern="0" spc="-80" dirty="0">
                <a:solidFill>
                  <a:schemeClr val="accent2"/>
                </a:solidFill>
              </a:rPr>
              <a:t>Dimension Table: </a:t>
            </a:r>
          </a:p>
          <a:p>
            <a:pPr lvl="0" eaLnBrk="0" fontAlgn="base" hangingPunct="0">
              <a:spcBef>
                <a:spcPct val="0"/>
              </a:spcBef>
              <a:spcAft>
                <a:spcPct val="0"/>
              </a:spcAft>
            </a:pPr>
            <a:r>
              <a:rPr lang="en-US" altLang="en-US" sz="1350" kern="0" spc="-80" dirty="0">
                <a:solidFill>
                  <a:schemeClr val="accent6"/>
                </a:solidFill>
              </a:rPr>
              <a:t>Stores descriptive attributes (dimensions) that provide context to the facts, like details about products, customers, or time. </a:t>
            </a:r>
          </a:p>
          <a:p>
            <a:pPr lvl="0" eaLnBrk="0" fontAlgn="base" hangingPunct="0">
              <a:spcBef>
                <a:spcPct val="0"/>
              </a:spcBef>
              <a:spcAft>
                <a:spcPct val="0"/>
              </a:spcAft>
              <a:buFontTx/>
              <a:buChar char="•"/>
            </a:pPr>
            <a:r>
              <a:rPr lang="en-US" altLang="en-US" sz="1350" kern="0" spc="-80" dirty="0">
                <a:solidFill>
                  <a:schemeClr val="accent2"/>
                </a:solidFill>
                <a:hlinkClick r:id="rId8">
                  <a:extLst>
                    <a:ext uri="{A12FA001-AC4F-418D-AE19-62706E023703}">
                      <ahyp:hlinkClr xmlns:ahyp="http://schemas.microsoft.com/office/drawing/2018/hyperlinkcolor" val="tx"/>
                    </a:ext>
                  </a:extLst>
                </a:hlinkClick>
              </a:rPr>
              <a:t>Star Schema</a:t>
            </a:r>
            <a:r>
              <a:rPr lang="en-US" altLang="en-US" sz="1350" kern="0" spc="-80" dirty="0">
                <a:solidFill>
                  <a:schemeClr val="accent2"/>
                </a:solidFill>
              </a:rPr>
              <a:t>: </a:t>
            </a:r>
          </a:p>
          <a:p>
            <a:pPr lvl="0" eaLnBrk="0" fontAlgn="base" hangingPunct="0">
              <a:spcBef>
                <a:spcPct val="0"/>
              </a:spcBef>
              <a:spcAft>
                <a:spcPct val="0"/>
              </a:spcAft>
            </a:pPr>
            <a:r>
              <a:rPr lang="en-US" altLang="en-US" sz="1350" kern="0" spc="-80" dirty="0">
                <a:solidFill>
                  <a:schemeClr val="accent6"/>
                </a:solidFill>
              </a:rPr>
              <a:t>A common structure where a central fact table is surrounded by multiple dimension tables, resembling a star's points. </a:t>
            </a:r>
          </a:p>
          <a:p>
            <a:pPr lvl="0" eaLnBrk="0" fontAlgn="base" hangingPunct="0">
              <a:spcBef>
                <a:spcPct val="0"/>
              </a:spcBef>
              <a:spcAft>
                <a:spcPct val="0"/>
              </a:spcAft>
              <a:buFontTx/>
              <a:buChar char="•"/>
            </a:pPr>
            <a:r>
              <a:rPr lang="en-US" altLang="en-US" sz="1350" kern="0" spc="-80" dirty="0">
                <a:solidFill>
                  <a:schemeClr val="accent2"/>
                </a:solidFill>
              </a:rPr>
              <a:t>Denormalization: </a:t>
            </a:r>
          </a:p>
          <a:p>
            <a:pPr lvl="0" eaLnBrk="0" fontAlgn="base" hangingPunct="0">
              <a:spcBef>
                <a:spcPct val="0"/>
              </a:spcBef>
              <a:spcAft>
                <a:spcPct val="0"/>
              </a:spcAft>
            </a:pPr>
            <a:r>
              <a:rPr lang="en-US" altLang="en-US" sz="1350" kern="0" spc="-80" dirty="0">
                <a:solidFill>
                  <a:schemeClr val="accent6"/>
                </a:solidFill>
              </a:rPr>
              <a:t>Dimensional models intentionally include redundancy to improve query performance and simplify data retrieval for analysis. </a:t>
            </a: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747F26F-6E09-F4B9-0366-C529237527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8558E2E-31C0-8A13-4661-FADA491C7AD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1" name="Rectangle 3">
            <a:extLst>
              <a:ext uri="{FF2B5EF4-FFF2-40B4-BE49-F238E27FC236}">
                <a16:creationId xmlns:a16="http://schemas.microsoft.com/office/drawing/2014/main" id="{0E746F5B-01FD-F3DD-14A7-B92C71D8B051}"/>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5428053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0C880-D4E9-545B-E4E1-CA8A6E76AB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5B9C96-2198-AD02-7B7D-FC95824178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DE2564-5698-19FF-E13D-AAC26AF6B5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92CCC2-0138-F691-4CCC-581A8CFB7B17}"/>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256CEE-36DA-04E8-B1A4-213B910A27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FEFF89-2781-51CE-3BAD-E4E0AC5742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E82BAF-0DEF-1211-1C4F-331836686CD0}"/>
              </a:ext>
            </a:extLst>
          </p:cNvPr>
          <p:cNvSpPr txBox="1">
            <a:spLocks/>
          </p:cNvSpPr>
          <p:nvPr/>
        </p:nvSpPr>
        <p:spPr>
          <a:xfrm>
            <a:off x="-7862" y="762000"/>
            <a:ext cx="8915399" cy="49782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lvl="0" eaLnBrk="0" fontAlgn="base" hangingPunct="0">
              <a:spcBef>
                <a:spcPct val="0"/>
              </a:spcBef>
              <a:spcAft>
                <a:spcPct val="0"/>
              </a:spcAft>
            </a:pPr>
            <a:r>
              <a:rPr lang="en-US" altLang="en-US" sz="1350" kern="0" spc="-80" dirty="0">
                <a:solidFill>
                  <a:schemeClr val="accent2"/>
                </a:solidFill>
              </a:rPr>
              <a:t>How It Works</a:t>
            </a:r>
          </a:p>
          <a:p>
            <a:pPr lvl="0" eaLnBrk="0" fontAlgn="base" hangingPunct="0">
              <a:spcBef>
                <a:spcPct val="0"/>
              </a:spcBef>
              <a:spcAft>
                <a:spcPct val="0"/>
              </a:spcAft>
              <a:buFontTx/>
              <a:buAutoNum type="arabicPeriod"/>
            </a:pPr>
            <a:r>
              <a:rPr lang="en-US" altLang="en-US" sz="1500" kern="0" spc="-80" dirty="0">
                <a:solidFill>
                  <a:schemeClr val="accent2"/>
                </a:solidFill>
              </a:rPr>
              <a:t>Identify the Business Process: </a:t>
            </a:r>
          </a:p>
          <a:p>
            <a:pPr lvl="0" eaLnBrk="0" fontAlgn="base" hangingPunct="0">
              <a:spcBef>
                <a:spcPct val="0"/>
              </a:spcBef>
              <a:spcAft>
                <a:spcPct val="0"/>
              </a:spcAft>
            </a:pPr>
            <a:r>
              <a:rPr lang="en-US" altLang="en-US" sz="1500" kern="0" spc="-80" dirty="0">
                <a:solidFill>
                  <a:schemeClr val="accent6"/>
                </a:solidFill>
              </a:rPr>
              <a:t>Focus on a specific area of business, like sales or customer orders. </a:t>
            </a:r>
          </a:p>
          <a:p>
            <a:pPr lvl="0" eaLnBrk="0" fontAlgn="base" hangingPunct="0">
              <a:spcBef>
                <a:spcPct val="0"/>
              </a:spcBef>
              <a:spcAft>
                <a:spcPct val="0"/>
              </a:spcAft>
              <a:buFontTx/>
              <a:buAutoNum type="arabicPeriod" startAt="2"/>
            </a:pPr>
            <a:r>
              <a:rPr lang="en-US" altLang="en-US" sz="1500" kern="0" spc="-80" dirty="0">
                <a:solidFill>
                  <a:schemeClr val="accent2"/>
                </a:solidFill>
              </a:rPr>
              <a:t>Declare the Grain: </a:t>
            </a:r>
          </a:p>
          <a:p>
            <a:pPr lvl="0" eaLnBrk="0" fontAlgn="base" hangingPunct="0">
              <a:spcBef>
                <a:spcPct val="0"/>
              </a:spcBef>
              <a:spcAft>
                <a:spcPct val="0"/>
              </a:spcAft>
            </a:pPr>
            <a:r>
              <a:rPr lang="en-US" altLang="en-US" sz="1500" kern="0" spc="-80" dirty="0">
                <a:solidFill>
                  <a:schemeClr val="accent6"/>
                </a:solidFill>
              </a:rPr>
              <a:t>Define the lowest level of detail for the business process (e.g., one row per sales order line). </a:t>
            </a:r>
          </a:p>
          <a:p>
            <a:pPr lvl="0" eaLnBrk="0" fontAlgn="base" hangingPunct="0">
              <a:spcBef>
                <a:spcPct val="0"/>
              </a:spcBef>
              <a:spcAft>
                <a:spcPct val="0"/>
              </a:spcAft>
              <a:buFontTx/>
              <a:buAutoNum type="arabicPeriod" startAt="3"/>
            </a:pPr>
            <a:r>
              <a:rPr lang="en-US" altLang="en-US" sz="1500" kern="0" spc="-80" dirty="0">
                <a:solidFill>
                  <a:schemeClr val="accent2"/>
                </a:solidFill>
              </a:rPr>
              <a:t>Identify </a:t>
            </a:r>
            <a:r>
              <a:rPr lang="en-US" altLang="en-US" sz="1600" kern="0" spc="-80" dirty="0">
                <a:solidFill>
                  <a:schemeClr val="accent2"/>
                </a:solidFill>
              </a:rPr>
              <a:t>Dimensions</a:t>
            </a:r>
            <a:r>
              <a:rPr lang="en-US" altLang="en-US" sz="1500" kern="0" spc="-80" dirty="0">
                <a:solidFill>
                  <a:schemeClr val="accent2"/>
                </a:solidFill>
              </a:rPr>
              <a:t>: </a:t>
            </a:r>
          </a:p>
          <a:p>
            <a:pPr lvl="0" eaLnBrk="0" fontAlgn="base" hangingPunct="0">
              <a:spcBef>
                <a:spcPct val="0"/>
              </a:spcBef>
              <a:spcAft>
                <a:spcPct val="0"/>
              </a:spcAft>
            </a:pPr>
            <a:r>
              <a:rPr lang="en-US" altLang="en-US" sz="1500" kern="0" spc="-80" dirty="0">
                <a:solidFill>
                  <a:schemeClr val="accent6"/>
                </a:solidFill>
              </a:rPr>
              <a:t>Determine the descriptive context for the facts (e.g., product, store, date). </a:t>
            </a:r>
          </a:p>
          <a:p>
            <a:pPr lvl="0" eaLnBrk="0" fontAlgn="base" hangingPunct="0">
              <a:spcBef>
                <a:spcPct val="0"/>
              </a:spcBef>
              <a:spcAft>
                <a:spcPct val="0"/>
              </a:spcAft>
              <a:buFontTx/>
              <a:buAutoNum type="arabicPeriod" startAt="4"/>
            </a:pPr>
            <a:r>
              <a:rPr lang="en-US" altLang="en-US" sz="1500" kern="0" spc="-80" dirty="0">
                <a:solidFill>
                  <a:schemeClr val="accent2"/>
                </a:solidFill>
              </a:rPr>
              <a:t>Identify Facts: </a:t>
            </a:r>
          </a:p>
          <a:p>
            <a:pPr lvl="0" eaLnBrk="0" fontAlgn="base" hangingPunct="0">
              <a:spcBef>
                <a:spcPct val="0"/>
              </a:spcBef>
              <a:spcAft>
                <a:spcPct val="0"/>
              </a:spcAft>
            </a:pPr>
            <a:r>
              <a:rPr lang="en-US" altLang="en-US" sz="1500" kern="0" spc="-80" dirty="0">
                <a:solidFill>
                  <a:schemeClr val="accent6"/>
                </a:solidFill>
              </a:rPr>
              <a:t>Pinpoint the measurable data points from the business process (e.g., quantity, price, sales amount). </a:t>
            </a:r>
          </a:p>
          <a:p>
            <a:pPr lvl="0" eaLnBrk="0" fontAlgn="base" hangingPunct="0">
              <a:spcBef>
                <a:spcPct val="0"/>
              </a:spcBef>
              <a:spcAft>
                <a:spcPct val="0"/>
              </a:spcAft>
              <a:buFontTx/>
              <a:buAutoNum type="arabicPeriod" startAt="5"/>
            </a:pPr>
            <a:r>
              <a:rPr lang="en-US" altLang="en-US" sz="1500" kern="0" spc="-80" dirty="0">
                <a:solidFill>
                  <a:schemeClr val="accent2"/>
                </a:solidFill>
              </a:rPr>
              <a:t>Build the Model: </a:t>
            </a:r>
          </a:p>
          <a:p>
            <a:pPr lvl="0" eaLnBrk="0" fontAlgn="base" hangingPunct="0">
              <a:spcBef>
                <a:spcPct val="0"/>
              </a:spcBef>
              <a:spcAft>
                <a:spcPct val="0"/>
              </a:spcAft>
            </a:pPr>
            <a:r>
              <a:rPr lang="en-US" altLang="en-US" sz="1500" kern="0" spc="-80" dirty="0">
                <a:solidFill>
                  <a:schemeClr val="accent6"/>
                </a:solidFill>
              </a:rPr>
              <a:t>Create fact and dimension tables, linking them with primary and foreign keys to create a structured, analytical database. </a:t>
            </a:r>
          </a:p>
          <a:p>
            <a:pPr lvl="0" eaLnBrk="0" fontAlgn="base" hangingPunct="0">
              <a:spcBef>
                <a:spcPct val="0"/>
              </a:spcBef>
              <a:spcAft>
                <a:spcPct val="0"/>
              </a:spcAft>
            </a:pPr>
            <a:r>
              <a:rPr lang="en-US" altLang="en-US" sz="1500" kern="0" spc="-80" dirty="0">
                <a:solidFill>
                  <a:schemeClr val="accent2"/>
                </a:solidFill>
              </a:rPr>
              <a:t>Benefits</a:t>
            </a:r>
          </a:p>
          <a:p>
            <a:pPr lvl="0" eaLnBrk="0" fontAlgn="base" hangingPunct="0">
              <a:spcBef>
                <a:spcPct val="0"/>
              </a:spcBef>
              <a:spcAft>
                <a:spcPct val="0"/>
              </a:spcAft>
              <a:buFontTx/>
              <a:buChar char="•"/>
            </a:pPr>
            <a:r>
              <a:rPr lang="en-US" altLang="en-US" sz="1500" kern="0" spc="-80" dirty="0">
                <a:solidFill>
                  <a:schemeClr val="accent2"/>
                </a:solidFill>
              </a:rPr>
              <a:t>Performance: </a:t>
            </a:r>
          </a:p>
          <a:p>
            <a:pPr lvl="0" eaLnBrk="0" fontAlgn="base" hangingPunct="0">
              <a:spcBef>
                <a:spcPct val="0"/>
              </a:spcBef>
              <a:spcAft>
                <a:spcPct val="0"/>
              </a:spcAft>
            </a:pPr>
            <a:r>
              <a:rPr lang="en-US" altLang="en-US" sz="1500" kern="0" spc="-80" dirty="0">
                <a:solidFill>
                  <a:schemeClr val="accent6"/>
                </a:solidFill>
              </a:rPr>
              <a:t>Optimized for fast querying and data retrieval, especially for reporting and analytics. </a:t>
            </a:r>
          </a:p>
          <a:p>
            <a:pPr lvl="0" eaLnBrk="0" fontAlgn="base" hangingPunct="0">
              <a:spcBef>
                <a:spcPct val="0"/>
              </a:spcBef>
              <a:spcAft>
                <a:spcPct val="0"/>
              </a:spcAft>
              <a:buFontTx/>
              <a:buChar char="•"/>
            </a:pPr>
            <a:r>
              <a:rPr lang="en-US" altLang="en-US" sz="1500" kern="0" spc="-80" dirty="0">
                <a:solidFill>
                  <a:schemeClr val="accent2"/>
                </a:solidFill>
              </a:rPr>
              <a:t>User-Friendly: </a:t>
            </a:r>
          </a:p>
          <a:p>
            <a:pPr lvl="0" eaLnBrk="0" fontAlgn="base" hangingPunct="0">
              <a:spcBef>
                <a:spcPct val="0"/>
              </a:spcBef>
              <a:spcAft>
                <a:spcPct val="0"/>
              </a:spcAft>
            </a:pPr>
            <a:r>
              <a:rPr lang="en-US" altLang="en-US" sz="1500" kern="0" spc="-80" dirty="0">
                <a:solidFill>
                  <a:schemeClr val="accent6"/>
                </a:solidFill>
              </a:rPr>
              <a:t>The structure is intuitive and easy for business users to understand and query. </a:t>
            </a:r>
          </a:p>
          <a:p>
            <a:pPr lvl="0" eaLnBrk="0" fontAlgn="base" hangingPunct="0">
              <a:spcBef>
                <a:spcPct val="0"/>
              </a:spcBef>
              <a:spcAft>
                <a:spcPct val="0"/>
              </a:spcAft>
              <a:buFontTx/>
              <a:buChar char="•"/>
            </a:pPr>
            <a:r>
              <a:rPr lang="en-US" altLang="en-US" sz="1500" kern="0" spc="-80" dirty="0">
                <a:solidFill>
                  <a:schemeClr val="accent2"/>
                </a:solidFill>
              </a:rPr>
              <a:t>Scalability: </a:t>
            </a:r>
          </a:p>
          <a:p>
            <a:pPr lvl="0" eaLnBrk="0" fontAlgn="base" hangingPunct="0">
              <a:spcBef>
                <a:spcPct val="0"/>
              </a:spcBef>
              <a:spcAft>
                <a:spcPct val="0"/>
              </a:spcAft>
            </a:pPr>
            <a:r>
              <a:rPr lang="en-US" altLang="en-US" sz="1500" kern="0" spc="-80" dirty="0">
                <a:solidFill>
                  <a:schemeClr val="accent6"/>
                </a:solidFill>
              </a:rPr>
              <a:t>Provides a framework for handling large datasets and complex business processes. </a:t>
            </a:r>
          </a:p>
          <a:p>
            <a:pPr lvl="0" eaLnBrk="0" fontAlgn="base" hangingPunct="0">
              <a:spcBef>
                <a:spcPct val="0"/>
              </a:spcBef>
              <a:spcAft>
                <a:spcPct val="0"/>
              </a:spcAft>
              <a:buFontTx/>
              <a:buChar char="•"/>
            </a:pPr>
            <a:r>
              <a:rPr lang="en-US" altLang="en-US" sz="1500" kern="0" spc="-80" dirty="0">
                <a:solidFill>
                  <a:schemeClr val="accent2"/>
                </a:solidFill>
              </a:rPr>
              <a:t>Business Insights: </a:t>
            </a:r>
          </a:p>
          <a:p>
            <a:pPr lvl="0" eaLnBrk="0" fontAlgn="base" hangingPunct="0">
              <a:spcBef>
                <a:spcPct val="0"/>
              </a:spcBef>
              <a:spcAft>
                <a:spcPct val="0"/>
              </a:spcAft>
            </a:pPr>
            <a:r>
              <a:rPr lang="en-US" altLang="en-US" sz="1500" kern="0" spc="-80" dirty="0">
                <a:solidFill>
                  <a:schemeClr val="accent6"/>
                </a:solidFill>
              </a:rPr>
              <a:t>Enables deeper analysis of trends, patterns, and performance across various business dimensions. </a:t>
            </a:r>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2C8DC7C-724F-E3F1-B296-088EC2847F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C024DB-8F66-2124-A979-602B2C60A4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FD2E7957-B335-183A-D514-7A1209C32B67}"/>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9315732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CB87B-73A1-5B7E-EFF6-DB2F091FD3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F119F7-1491-AF77-4F7E-896660797D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5A804F-62A6-0C27-1CF7-3D64C60C27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4A1A2A-FE19-ACED-D24C-9020B2B066D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62F59D3-1B43-BE3C-BFE2-16CFA743C1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FA0EB6-71A1-BF82-C478-251F6069437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8419E7-7FC8-71D3-0DDE-87B4238ECBF1}"/>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OLAP cubes are used to store large amounts of data in the form of facts and dimensions tables </a:t>
            </a:r>
            <a:r>
              <a:rPr lang="en-US" sz="1800" kern="0" spc="-80" dirty="0">
                <a:solidFill>
                  <a:schemeClr val="accent1"/>
                </a:solidFill>
              </a:rPr>
              <a:t>&amp; make them searchable in a easy &amp; fast manner. They allow quick retrieval of data by using nested arrays to store information across multiple dimensions</a:t>
            </a: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r>
              <a:rPr lang="en-US" sz="1600" kern="0" spc="-80" dirty="0">
                <a:solidFill>
                  <a:schemeClr val="accent2"/>
                </a:solidFill>
              </a:rPr>
              <a:t>For Further Exploration – </a:t>
            </a:r>
          </a:p>
          <a:p>
            <a:pPr marL="12700" marR="5080"/>
            <a:r>
              <a:rPr lang="en-US" sz="1500" dirty="0">
                <a:hlinkClick r:id="rId7"/>
              </a:rPr>
              <a:t>Why shift from ETL to ELT? - </a:t>
            </a:r>
            <a:r>
              <a:rPr lang="en-US" sz="1500" dirty="0" err="1">
                <a:hlinkClick r:id="rId7"/>
              </a:rPr>
              <a:t>Hexanika</a:t>
            </a:r>
            <a:r>
              <a:rPr lang="en-US" sz="1500" dirty="0">
                <a:hlinkClick r:id="rId7"/>
              </a:rPr>
              <a:t> (Think Beyond Data)</a:t>
            </a:r>
            <a:endParaRPr lang="en-US" sz="1500" dirty="0"/>
          </a:p>
          <a:p>
            <a:pPr marL="12700" marR="5080"/>
            <a:r>
              <a:rPr lang="en-US" sz="1500" dirty="0">
                <a:hlinkClick r:id="rId8"/>
              </a:rPr>
              <a:t>Data Warehouse Tutorial for Beginners: Learn Basic Concepts</a:t>
            </a:r>
            <a:endParaRPr lang="en-US" sz="1500" dirty="0"/>
          </a:p>
          <a:p>
            <a:pPr marL="12700" marR="5080"/>
            <a:r>
              <a:rPr lang="en-US" sz="1500" dirty="0">
                <a:hlinkClick r:id="rId9"/>
              </a:rPr>
              <a:t>Schemas used in data warehouses: Star, Galaxy, and Snowflake</a:t>
            </a:r>
            <a:endParaRPr lang="en-US" sz="1500" dirty="0"/>
          </a:p>
          <a:p>
            <a:pPr marL="12700" marR="5080"/>
            <a:r>
              <a:rPr lang="en-US" sz="1500" dirty="0">
                <a:hlinkClick r:id="rId10"/>
              </a:rPr>
              <a:t>Concepts for Data Engineers: Dimensional Data Modelling | by </a:t>
            </a:r>
            <a:r>
              <a:rPr lang="en-US" sz="1500" dirty="0" err="1">
                <a:hlinkClick r:id="rId10"/>
              </a:rPr>
              <a:t>Cássio</a:t>
            </a:r>
            <a:r>
              <a:rPr lang="en-US" sz="1500" dirty="0">
                <a:hlinkClick r:id="rId10"/>
              </a:rPr>
              <a:t> </a:t>
            </a:r>
            <a:r>
              <a:rPr lang="en-US" sz="1500" dirty="0" err="1">
                <a:hlinkClick r:id="rId10"/>
              </a:rPr>
              <a:t>Bolba</a:t>
            </a:r>
            <a:r>
              <a:rPr lang="en-US" sz="1500" dirty="0">
                <a:hlinkClick r:id="rId10"/>
              </a:rPr>
              <a:t> | Medium</a:t>
            </a:r>
            <a:endParaRPr lang="en-US" sz="1500" dirty="0"/>
          </a:p>
          <a:p>
            <a:pPr marL="12700" marR="5080"/>
            <a:r>
              <a:rPr lang="en-IN" sz="1500" dirty="0">
                <a:hlinkClick r:id="rId11"/>
              </a:rPr>
              <a:t>Concept Hierarchy in Data Mining </a:t>
            </a:r>
            <a:r>
              <a:rPr lang="en-IN" sz="1500" dirty="0">
                <a:hlinkClick r:id="rId12"/>
              </a:rPr>
              <a:t>–</a:t>
            </a:r>
            <a:r>
              <a:rPr lang="en-IN" sz="1500" dirty="0">
                <a:hlinkClick r:id="rId11"/>
              </a:rPr>
              <a:t> </a:t>
            </a:r>
            <a:r>
              <a:rPr lang="en-IN" sz="1500" dirty="0" err="1">
                <a:hlinkClick r:id="rId11"/>
              </a:rPr>
              <a:t>GeeksforGeeks</a:t>
            </a:r>
            <a:endParaRPr lang="en-IN" sz="1500" dirty="0"/>
          </a:p>
          <a:p>
            <a:pPr marL="12700" marR="5080"/>
            <a:r>
              <a:rPr lang="en-US" sz="1500" dirty="0">
                <a:hlinkClick r:id="rId12"/>
              </a:rPr>
              <a:t>Measures Their Categorization and Computation in Data Mining </a:t>
            </a:r>
            <a:r>
              <a:rPr lang="en-US" sz="1500" dirty="0">
                <a:hlinkClick r:id="rId13"/>
              </a:rPr>
              <a:t>–</a:t>
            </a:r>
            <a:r>
              <a:rPr lang="en-US" sz="1500" dirty="0">
                <a:hlinkClick r:id="rId12"/>
              </a:rPr>
              <a:t> </a:t>
            </a:r>
            <a:r>
              <a:rPr lang="en-US" sz="1500" dirty="0" err="1">
                <a:hlinkClick r:id="rId12"/>
              </a:rPr>
              <a:t>GeeksforGeeks</a:t>
            </a:r>
            <a:endParaRPr lang="en-US" sz="1500" dirty="0"/>
          </a:p>
          <a:p>
            <a:pPr marL="12700" marR="5080"/>
            <a:r>
              <a:rPr lang="en-US" sz="1500" dirty="0">
                <a:hlinkClick r:id="rId13"/>
              </a:rPr>
              <a:t>Data Warehouse vs. OLAP Cube? - Stack Overflow</a:t>
            </a:r>
            <a:endParaRPr lang="en-US" sz="1500" dirty="0"/>
          </a:p>
          <a:p>
            <a:pPr marL="12700" marR="5080"/>
            <a:r>
              <a:rPr lang="en-US" sz="1500" dirty="0">
                <a:hlinkClick r:id="rId14"/>
              </a:rPr>
              <a:t>What is OLAP? - Online Analytical Processing Explained </a:t>
            </a:r>
            <a:r>
              <a:rPr lang="en-US" sz="1500" dirty="0">
                <a:hlinkClick r:id="rId15"/>
              </a:rPr>
              <a:t>–</a:t>
            </a:r>
            <a:r>
              <a:rPr lang="en-US" sz="1500" dirty="0">
                <a:hlinkClick r:id="rId14"/>
              </a:rPr>
              <a:t> AWS</a:t>
            </a:r>
            <a:endParaRPr lang="en-US" sz="1500" dirty="0"/>
          </a:p>
          <a:p>
            <a:pPr marL="12700" marR="5080"/>
            <a:r>
              <a:rPr lang="en-US" sz="1500" dirty="0">
                <a:hlinkClick r:id="rId16"/>
              </a:rPr>
              <a:t>Data Cube or OLAP approach in Data Mining - </a:t>
            </a:r>
            <a:r>
              <a:rPr lang="en-US" sz="1500" dirty="0" err="1">
                <a:hlinkClick r:id="rId16"/>
              </a:rPr>
              <a:t>GeeksforGeeks</a:t>
            </a:r>
            <a:endParaRPr lang="en-US" sz="1500" dirty="0"/>
          </a:p>
          <a:p>
            <a:pPr marL="12700" marR="5080"/>
            <a:r>
              <a:rPr lang="en-US" sz="1500" dirty="0">
                <a:hlinkClick r:id="rId15"/>
              </a:rPr>
              <a:t>Types of OLAP Models for Databases &amp; Data Warehouses Simplified 101 - Learn | </a:t>
            </a:r>
            <a:r>
              <a:rPr lang="en-US" sz="1500" dirty="0" err="1">
                <a:hlinkClick r:id="rId15"/>
              </a:rPr>
              <a:t>Hevo</a:t>
            </a:r>
            <a:endParaRPr lang="en-US" sz="1500" dirty="0"/>
          </a:p>
          <a:p>
            <a:pPr marL="12700" marR="5080"/>
            <a:r>
              <a:rPr lang="en-IN" sz="1500" dirty="0">
                <a:hlinkClick r:id="rId17"/>
              </a:rPr>
              <a:t>OLAP Functions</a:t>
            </a:r>
            <a:endParaRPr lang="en-US" sz="1500" dirty="0"/>
          </a:p>
          <a:p>
            <a:pPr marL="12700" marR="5080"/>
            <a:r>
              <a:rPr lang="en-IN" sz="1500" dirty="0">
                <a:hlinkClick r:id="rId18"/>
              </a:rPr>
              <a:t>OLAP Operations - Scaler Topics</a:t>
            </a:r>
            <a:endParaRPr lang="en-IN" sz="1500" dirty="0"/>
          </a:p>
          <a:p>
            <a:pPr marL="12700" marR="5080"/>
            <a:r>
              <a:rPr lang="en-IN" sz="1500" dirty="0">
                <a:hlinkClick r:id="rId19"/>
              </a:rPr>
              <a:t>Understanding SSAS Multidimensional vs. Tabular Models - Saransh Inc.</a:t>
            </a:r>
            <a:endParaRPr lang="en-IN" sz="1500" dirty="0"/>
          </a:p>
          <a:p>
            <a:pPr marL="12700" marR="5080"/>
            <a:r>
              <a:rPr lang="en-IN" sz="1500" dirty="0">
                <a:hlinkClick r:id="rId20"/>
              </a:rPr>
              <a:t>Books - SQLBI</a:t>
            </a:r>
            <a:r>
              <a:rPr lang="en-US" sz="1500" kern="0" spc="-80" dirty="0">
                <a:solidFill>
                  <a:schemeClr val="accent6"/>
                </a:solidFill>
              </a:rPr>
              <a:t> </a:t>
            </a:r>
          </a:p>
          <a:p>
            <a:pPr marL="12700" marR="5080"/>
            <a:endParaRPr lang="en-US" sz="15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195098-2649-8A06-4D4B-26722CCE4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D1DB08C-3D87-A3B5-9289-7F1EE72F5B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65A3DAD8-E682-2225-A75D-E5984ACDC658}"/>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82911174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8DDAA-0021-9F04-07C1-4E38314858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9D422C-1EF4-2627-6B91-66CAC86F29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BF0AA6-5493-224E-2773-A465D99CE6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E1FFC5-95C8-A85F-73C2-0234BD3856E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C11AFD-D51A-86F7-839A-4FDE3756999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0BD5D5-CF15-F707-7D1A-9510816257B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FA057F6B-E2B2-B9B3-C392-C71D64ED74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4DA8DA0-630F-4DF1-52B7-5FB2502FB99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AAEDE67B-7D35-B4D8-C591-D78D9F657DBB}"/>
              </a:ext>
            </a:extLst>
          </p:cNvPr>
          <p:cNvSpPr txBox="1"/>
          <p:nvPr/>
        </p:nvSpPr>
        <p:spPr>
          <a:xfrm>
            <a:off x="138063" y="799464"/>
            <a:ext cx="8867874" cy="5078313"/>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6"/>
                </a:solidFill>
                <a:latin typeface="Lucida Sans"/>
                <a:ea typeface="+mj-ea"/>
              </a:rPr>
              <a:t>Semantic data modeling creates a business-focused, structured model of data that captures its meaning, relationships, and context, acting as a layer between raw data and users for analysis. It abstracts complex underlying data structures into easy-to-understand subject areas, enabling technical and non-technical users to analyze data intuitively, integrate disparate systems, and support advanced analytics without needing to understand the technical complexity.  </a:t>
            </a:r>
          </a:p>
          <a:p>
            <a:pPr lvl="0" eaLnBrk="0" fontAlgn="base" hangingPunct="0">
              <a:spcBef>
                <a:spcPct val="0"/>
              </a:spcBef>
              <a:spcAft>
                <a:spcPct val="0"/>
              </a:spcAft>
            </a:pPr>
            <a:r>
              <a:rPr lang="en-US" altLang="en-US" sz="1200" b="1" kern="0" spc="-80" dirty="0">
                <a:solidFill>
                  <a:schemeClr val="accent2"/>
                </a:solidFill>
                <a:latin typeface="Lucida Sans"/>
                <a:ea typeface="+mj-ea"/>
              </a:rPr>
              <a:t>How it works</a:t>
            </a:r>
          </a:p>
          <a:p>
            <a:pPr lvl="0" eaLnBrk="0" fontAlgn="base" hangingPunct="0">
              <a:spcBef>
                <a:spcPct val="0"/>
              </a:spcBef>
              <a:spcAft>
                <a:spcPct val="0"/>
              </a:spcAft>
            </a:pPr>
            <a:r>
              <a:rPr lang="en-US" altLang="en-US" sz="1200" b="1" kern="0" spc="-80" dirty="0">
                <a:solidFill>
                  <a:schemeClr val="accent2"/>
                </a:solidFill>
                <a:latin typeface="Lucida Sans"/>
                <a:ea typeface="+mj-ea"/>
              </a:rPr>
              <a:t>Capturing Meaning and Context:</a:t>
            </a:r>
            <a:r>
              <a:rPr lang="en-US" altLang="en-US" sz="1200" b="1" kern="0" spc="-80" dirty="0">
                <a:solidFill>
                  <a:schemeClr val="accent6"/>
                </a:solidFill>
                <a:latin typeface="Lucida Sans"/>
                <a:ea typeface="+mj-ea"/>
              </a:rPr>
              <a:t> Semantic models focus on the "meaning" of data and its relationships within a specific domain. </a:t>
            </a:r>
          </a:p>
          <a:p>
            <a:pPr lvl="0" eaLnBrk="0" fontAlgn="base" hangingPunct="0">
              <a:spcBef>
                <a:spcPct val="0"/>
              </a:spcBef>
              <a:spcAft>
                <a:spcPct val="0"/>
              </a:spcAft>
            </a:pPr>
            <a:r>
              <a:rPr lang="en-US" altLang="en-US" sz="1200" b="1" kern="0" spc="-80" dirty="0">
                <a:solidFill>
                  <a:schemeClr val="accent2"/>
                </a:solidFill>
                <a:latin typeface="Lucida Sans"/>
                <a:ea typeface="+mj-ea"/>
              </a:rPr>
              <a:t>Abstraction: </a:t>
            </a:r>
            <a:r>
              <a:rPr lang="en-US" altLang="en-US" sz="1200" b="1" kern="0" spc="-80" dirty="0">
                <a:solidFill>
                  <a:schemeClr val="accent6"/>
                </a:solidFill>
                <a:latin typeface="Lucida Sans"/>
                <a:ea typeface="+mj-ea"/>
              </a:rPr>
              <a:t>They abstract physical database objects into logical dimensions, presenting data in a way that aligns with business understanding. </a:t>
            </a:r>
          </a:p>
          <a:p>
            <a:pPr lvl="0" eaLnBrk="0" fontAlgn="base" hangingPunct="0">
              <a:spcBef>
                <a:spcPct val="0"/>
              </a:spcBef>
              <a:spcAft>
                <a:spcPct val="0"/>
              </a:spcAft>
            </a:pPr>
            <a:r>
              <a:rPr lang="en-US" altLang="en-US" sz="1200" b="1" kern="0" spc="-80" dirty="0">
                <a:solidFill>
                  <a:schemeClr val="accent2"/>
                </a:solidFill>
                <a:latin typeface="Lucida Sans"/>
                <a:ea typeface="+mj-ea"/>
              </a:rPr>
              <a:t>User-Friendly Layer: </a:t>
            </a:r>
            <a:r>
              <a:rPr lang="en-US" altLang="en-US" sz="1200" b="1" kern="0" spc="-80" dirty="0">
                <a:solidFill>
                  <a:schemeClr val="accent6"/>
                </a:solidFill>
                <a:latin typeface="Lucida Sans"/>
                <a:ea typeface="+mj-ea"/>
              </a:rPr>
              <a:t>This model serves as a "translation layer" between the underlying data and business users. </a:t>
            </a:r>
          </a:p>
          <a:p>
            <a:pPr lvl="0" eaLnBrk="0" fontAlgn="base" hangingPunct="0">
              <a:spcBef>
                <a:spcPct val="0"/>
              </a:spcBef>
              <a:spcAft>
                <a:spcPct val="0"/>
              </a:spcAft>
            </a:pPr>
            <a:r>
              <a:rPr lang="en-US" altLang="en-US" sz="1200" b="1" kern="0" spc="-80" dirty="0">
                <a:solidFill>
                  <a:schemeClr val="accent2"/>
                </a:solidFill>
                <a:latin typeface="Lucida Sans"/>
                <a:ea typeface="+mj-ea"/>
              </a:rPr>
              <a:t>Subject Areas and Hierarchies: </a:t>
            </a:r>
            <a:r>
              <a:rPr lang="en-US" altLang="en-US" sz="1200" b="1" kern="0" spc="-80" dirty="0">
                <a:solidFill>
                  <a:schemeClr val="accent6"/>
                </a:solidFill>
                <a:latin typeface="Lucida Sans"/>
                <a:ea typeface="+mj-ea"/>
              </a:rPr>
              <a:t>Data is organized into intuitive subject areas, tables, columns, and hierarchies that reflect business structures. </a:t>
            </a:r>
          </a:p>
          <a:p>
            <a:pPr lvl="0" eaLnBrk="0" fontAlgn="base" hangingPunct="0">
              <a:spcBef>
                <a:spcPct val="0"/>
              </a:spcBef>
              <a:spcAft>
                <a:spcPct val="0"/>
              </a:spcAft>
            </a:pPr>
            <a:r>
              <a:rPr lang="en-US" altLang="en-US" sz="1200" b="1" kern="0" spc="-80" dirty="0">
                <a:solidFill>
                  <a:schemeClr val="accent2"/>
                </a:solidFill>
                <a:latin typeface="Lucida Sans"/>
                <a:ea typeface="+mj-ea"/>
              </a:rPr>
              <a:t>Formal Knowledge Representation:</a:t>
            </a:r>
            <a:r>
              <a:rPr lang="en-US" altLang="en-US" sz="1200" b="1" kern="0" spc="-80" dirty="0">
                <a:solidFill>
                  <a:schemeClr val="accent6"/>
                </a:solidFill>
                <a:latin typeface="Lucida Sans"/>
                <a:ea typeface="+mj-ea"/>
              </a:rPr>
              <a:t> Techniques like ontologies and formal knowledge representation are used to define concepts, relationships, and rules precisely. </a:t>
            </a:r>
          </a:p>
          <a:p>
            <a:pPr lvl="0" eaLnBrk="0" fontAlgn="base" hangingPunct="0">
              <a:spcBef>
                <a:spcPct val="0"/>
              </a:spcBef>
              <a:spcAft>
                <a:spcPct val="0"/>
              </a:spcAft>
            </a:pPr>
            <a:r>
              <a:rPr lang="en-US" altLang="en-US" sz="1200" b="1" kern="0" spc="-80" dirty="0">
                <a:solidFill>
                  <a:schemeClr val="accent2"/>
                </a:solidFill>
                <a:latin typeface="Lucida Sans"/>
                <a:ea typeface="+mj-ea"/>
              </a:rPr>
              <a:t>Benefits</a:t>
            </a:r>
          </a:p>
          <a:p>
            <a:pPr lvl="0" eaLnBrk="0" fontAlgn="base" hangingPunct="0">
              <a:spcBef>
                <a:spcPct val="0"/>
              </a:spcBef>
              <a:spcAft>
                <a:spcPct val="0"/>
              </a:spcAft>
            </a:pPr>
            <a:r>
              <a:rPr lang="en-US" altLang="en-US" sz="1200" b="1" kern="0" spc="-80" dirty="0">
                <a:solidFill>
                  <a:schemeClr val="accent2"/>
                </a:solidFill>
                <a:latin typeface="Lucida Sans"/>
                <a:ea typeface="+mj-ea"/>
              </a:rPr>
              <a:t>Improved Understanding:</a:t>
            </a:r>
            <a:r>
              <a:rPr lang="en-US" altLang="en-US" sz="1200" b="1" kern="0" spc="-80" dirty="0">
                <a:solidFill>
                  <a:schemeClr val="accent6"/>
                </a:solidFill>
                <a:latin typeface="Lucida Sans"/>
                <a:ea typeface="+mj-ea"/>
              </a:rPr>
              <a:t> Makes data understandable for both technical and non-technical stakeholders. </a:t>
            </a:r>
          </a:p>
          <a:p>
            <a:pPr lvl="0" eaLnBrk="0" fontAlgn="base" hangingPunct="0">
              <a:spcBef>
                <a:spcPct val="0"/>
              </a:spcBef>
              <a:spcAft>
                <a:spcPct val="0"/>
              </a:spcAft>
            </a:pPr>
            <a:r>
              <a:rPr lang="en-US" altLang="en-US" sz="1200" b="1" kern="0" spc="-80" dirty="0">
                <a:solidFill>
                  <a:schemeClr val="accent2"/>
                </a:solidFill>
                <a:latin typeface="Lucida Sans"/>
                <a:ea typeface="+mj-ea"/>
              </a:rPr>
              <a:t>Enhanced Analytics:</a:t>
            </a:r>
            <a:r>
              <a:rPr lang="en-US" altLang="en-US" sz="1200" b="1" kern="0" spc="-80" dirty="0">
                <a:solidFill>
                  <a:schemeClr val="accent6"/>
                </a:solidFill>
                <a:latin typeface="Lucida Sans"/>
                <a:ea typeface="+mj-ea"/>
              </a:rPr>
              <a:t> Supports advanced analytical applications by exposing a metrics-oriented data layer.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a:t>
            </a:r>
            <a:r>
              <a:rPr lang="en-US" altLang="en-US" sz="1200" b="1" kern="0" spc="-80" dirty="0">
                <a:solidFill>
                  <a:schemeClr val="accent6"/>
                </a:solidFill>
                <a:latin typeface="Lucida Sans"/>
                <a:ea typeface="+mj-ea"/>
              </a:rPr>
              <a:t> Facilitates data integration and interoperability across different systems. </a:t>
            </a:r>
          </a:p>
          <a:p>
            <a:pPr lvl="0" eaLnBrk="0" fontAlgn="base" hangingPunct="0">
              <a:spcBef>
                <a:spcPct val="0"/>
              </a:spcBef>
              <a:spcAft>
                <a:spcPct val="0"/>
              </a:spcAft>
            </a:pPr>
            <a:r>
              <a:rPr lang="en-US" altLang="en-US" sz="1200" b="1" kern="0" spc="-80" dirty="0">
                <a:solidFill>
                  <a:schemeClr val="accent2"/>
                </a:solidFill>
                <a:latin typeface="Lucida Sans"/>
                <a:ea typeface="+mj-ea"/>
              </a:rPr>
              <a:t>Reduced Redundancy: </a:t>
            </a:r>
            <a:r>
              <a:rPr lang="en-US" altLang="en-US" sz="1200" b="1" kern="0" spc="-80" dirty="0">
                <a:solidFill>
                  <a:schemeClr val="accent6"/>
                </a:solidFill>
                <a:latin typeface="Lucida Sans"/>
                <a:ea typeface="+mj-ea"/>
              </a:rPr>
              <a:t>Helps identify and eliminate data redundancies before physical implementation.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Informed Decision-Making: </a:t>
            </a:r>
            <a:r>
              <a:rPr lang="en-US" altLang="en-US" sz="1200" b="1" kern="0" spc="-80" dirty="0">
                <a:solidFill>
                  <a:schemeClr val="accent6"/>
                </a:solidFill>
                <a:latin typeface="Lucida Sans"/>
                <a:ea typeface="+mj-ea"/>
              </a:rPr>
              <a:t>Allows users to query data in an intuitive way to answer business questions and make better decisions. </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Use Cases</a:t>
            </a:r>
          </a:p>
          <a:p>
            <a:pPr lvl="0" eaLnBrk="0" fontAlgn="base" hangingPunct="0">
              <a:spcBef>
                <a:spcPct val="0"/>
              </a:spcBef>
              <a:spcAft>
                <a:spcPct val="0"/>
              </a:spcAft>
            </a:pPr>
            <a:r>
              <a:rPr lang="en-US" altLang="en-US" sz="1200" b="1" kern="0" spc="-80" dirty="0">
                <a:solidFill>
                  <a:schemeClr val="accent2"/>
                </a:solidFill>
                <a:latin typeface="Lucida Sans"/>
                <a:ea typeface="+mj-ea"/>
              </a:rPr>
              <a:t>Business Intelligence and Reporting: </a:t>
            </a:r>
            <a:r>
              <a:rPr lang="en-US" altLang="en-US" sz="1200" b="1" kern="0" spc="-80" dirty="0">
                <a:solidFill>
                  <a:schemeClr val="accent6"/>
                </a:solidFill>
                <a:latin typeface="Lucida Sans"/>
                <a:ea typeface="+mj-ea"/>
              </a:rPr>
              <a:t>Powers dashboards, analyses, and reports by providing a structured, understandable data source.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 and Data Warehousing: </a:t>
            </a:r>
            <a:r>
              <a:rPr lang="en-US" altLang="en-US" sz="1200" b="1" kern="0" spc="-80" dirty="0">
                <a:solidFill>
                  <a:schemeClr val="accent6"/>
                </a:solidFill>
                <a:latin typeface="Lucida Sans"/>
                <a:ea typeface="+mj-ea"/>
              </a:rPr>
              <a:t>Helps integrate data from various sources and supports data resource planning.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Science:</a:t>
            </a:r>
            <a:r>
              <a:rPr lang="en-US" altLang="en-US" sz="1200" b="1" kern="0" spc="-80" dirty="0">
                <a:solidFill>
                  <a:schemeClr val="accent6"/>
                </a:solidFill>
                <a:latin typeface="Lucida Sans"/>
                <a:ea typeface="+mj-ea"/>
              </a:rPr>
              <a:t> Provides structured business logic that can be leveraged in data science applications.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Knowledge Management: </a:t>
            </a:r>
            <a:r>
              <a:rPr lang="en-US" altLang="en-US" sz="1200" b="1" kern="0" spc="-80" dirty="0">
                <a:solidFill>
                  <a:schemeClr val="accent6"/>
                </a:solidFill>
                <a:latin typeface="Lucida Sans"/>
                <a:ea typeface="+mj-ea"/>
              </a:rPr>
              <a:t>Organizes knowledge explicitly and makes it </a:t>
            </a:r>
            <a:r>
              <a:rPr lang="en-US" altLang="en-US" sz="1200" b="1" kern="0" spc="-80" dirty="0" err="1">
                <a:solidFill>
                  <a:schemeClr val="accent6"/>
                </a:solidFill>
                <a:latin typeface="Lucida Sans"/>
                <a:ea typeface="+mj-ea"/>
              </a:rPr>
              <a:t>queryable</a:t>
            </a:r>
            <a:r>
              <a:rPr lang="en-US" altLang="en-US" sz="1200" b="1" kern="0" spc="-80" dirty="0">
                <a:solidFill>
                  <a:schemeClr val="accent6"/>
                </a:solidFill>
                <a:latin typeface="Lucida Sans"/>
                <a:ea typeface="+mj-ea"/>
              </a:rPr>
              <a:t> for multiple decision-making tasks</a:t>
            </a:r>
          </a:p>
        </p:txBody>
      </p:sp>
      <p:sp>
        <p:nvSpPr>
          <p:cNvPr id="9" name="Rectangle 2">
            <a:extLst>
              <a:ext uri="{FF2B5EF4-FFF2-40B4-BE49-F238E27FC236}">
                <a16:creationId xmlns:a16="http://schemas.microsoft.com/office/drawing/2014/main" id="{846111E3-653C-17D4-39D1-5AF71736265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79037498"/>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86237-B899-7195-BFBA-DFCA4EB623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ABA310-8446-3B08-327C-68B6F24911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C565608-D2EB-DC12-31EF-A7A3B111786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4DF4DD-9FA5-55EC-18AE-A430A20D0D90}"/>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C474C-7ECF-8634-DC72-B21B02AEA4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2874FF-7741-BA83-72CD-20222A39152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61B5AF4-35C8-CE3B-2990-0CE7FDAF7F7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DCE637-8A8D-12AC-184E-4050BDBEC9C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59E300A8-BED7-92A7-984D-1B43257F8EAD}"/>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data integrates both location (spatial) and time (temporal) information for objects or phenomena, allowing us to track their evolution and patterns over time and space. Common examples include GPS trajectories of moving vehicles, weather patterns, or the spread of diseases, and analyzing this data requires specialized methods to account for its unique properties like self-correlation and heterogeneity.  </a:t>
            </a:r>
          </a:p>
          <a:p>
            <a:pPr lvl="0" eaLnBrk="0" fontAlgn="base" hangingPunct="0">
              <a:spcBef>
                <a:spcPct val="0"/>
              </a:spcBef>
              <a:spcAft>
                <a:spcPct val="0"/>
              </a:spcAft>
            </a:pPr>
            <a:r>
              <a:rPr lang="en-US" altLang="en-US" sz="1200" b="1" kern="0" spc="-80" dirty="0">
                <a:solidFill>
                  <a:schemeClr val="accent2"/>
                </a:solidFill>
                <a:latin typeface="Lucida Sans"/>
                <a:ea typeface="+mj-ea"/>
              </a:rPr>
              <a:t>Key Characteristics</a:t>
            </a:r>
          </a:p>
          <a:p>
            <a:pPr lvl="0" eaLnBrk="0" fontAlgn="base" hangingPunct="0">
              <a:spcBef>
                <a:spcPct val="0"/>
              </a:spcBef>
              <a:spcAft>
                <a:spcPct val="0"/>
              </a:spcAft>
            </a:pPr>
            <a:r>
              <a:rPr lang="en-US" altLang="en-US" sz="1200" b="1" kern="0" spc="-80" dirty="0">
                <a:solidFill>
                  <a:schemeClr val="accent2"/>
                </a:solidFill>
                <a:latin typeface="Lucida Sans"/>
                <a:ea typeface="+mj-ea"/>
              </a:rPr>
              <a:t>Dual Properties: </a:t>
            </a:r>
            <a:r>
              <a:rPr lang="en-US" altLang="en-US" sz="1200" b="1" kern="0" spc="-80" dirty="0">
                <a:solidFill>
                  <a:schemeClr val="accent6"/>
                </a:solidFill>
                <a:latin typeface="Lucida Sans"/>
                <a:ea typeface="+mj-ea"/>
              </a:rPr>
              <a:t>The data explicitly captures both a geographic location (e.g., coordinates, grid cell) and a time stamp. </a:t>
            </a:r>
          </a:p>
          <a:p>
            <a:pPr lvl="0" eaLnBrk="0" fontAlgn="base" hangingPunct="0">
              <a:spcBef>
                <a:spcPct val="0"/>
              </a:spcBef>
              <a:spcAft>
                <a:spcPct val="0"/>
              </a:spcAft>
            </a:pPr>
            <a:r>
              <a:rPr lang="en-US" altLang="en-US" sz="1200" b="1" kern="0" spc="-80" dirty="0">
                <a:solidFill>
                  <a:schemeClr val="accent2"/>
                </a:solidFill>
                <a:latin typeface="Lucida Sans"/>
                <a:ea typeface="+mj-ea"/>
              </a:rPr>
              <a:t>Dynamic Nature: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objects can dynamically change their location or extent over time, like a moving car or a shifting weather front. </a:t>
            </a:r>
          </a:p>
          <a:p>
            <a:pPr lvl="0" eaLnBrk="0" fontAlgn="base" hangingPunct="0">
              <a:spcBef>
                <a:spcPct val="0"/>
              </a:spcBef>
              <a:spcAft>
                <a:spcPct val="0"/>
              </a:spcAft>
            </a:pPr>
            <a:r>
              <a:rPr lang="en-US" altLang="en-US" sz="1200" b="1" kern="0" spc="-80" dirty="0">
                <a:solidFill>
                  <a:schemeClr val="accent2"/>
                </a:solidFill>
                <a:latin typeface="Lucida Sans"/>
                <a:ea typeface="+mj-ea"/>
              </a:rPr>
              <a:t>Autocorrelation: </a:t>
            </a:r>
            <a:r>
              <a:rPr lang="en-US" altLang="en-US" sz="1200" b="1" kern="0" spc="-80" dirty="0">
                <a:solidFill>
                  <a:schemeClr val="accent6"/>
                </a:solidFill>
                <a:latin typeface="Lucida Sans"/>
                <a:ea typeface="+mj-ea"/>
              </a:rPr>
              <a:t>Nearby locations and nearby times often exhibit similar characteristics (e.g., a cluster of high temperatures in adjacent regions, according to ScienceDirect), which deviates from the independent samples assumption of traditional data mining. </a:t>
            </a:r>
          </a:p>
          <a:p>
            <a:pPr lvl="0" eaLnBrk="0" fontAlgn="base" hangingPunct="0">
              <a:spcBef>
                <a:spcPct val="0"/>
              </a:spcBef>
              <a:spcAft>
                <a:spcPct val="0"/>
              </a:spcAft>
            </a:pPr>
            <a:r>
              <a:rPr lang="en-US" altLang="en-US" sz="1200" b="1" kern="0" spc="-80" dirty="0">
                <a:solidFill>
                  <a:schemeClr val="accent2"/>
                </a:solidFill>
                <a:latin typeface="Lucida Sans"/>
                <a:ea typeface="+mj-ea"/>
              </a:rPr>
              <a:t>Heterogeneity: </a:t>
            </a:r>
            <a:r>
              <a:rPr lang="en-US" altLang="en-US" sz="1200" b="1" kern="0" spc="-80" dirty="0">
                <a:solidFill>
                  <a:schemeClr val="accent6"/>
                </a:solidFill>
                <a:latin typeface="Lucida Sans"/>
                <a:ea typeface="+mj-ea"/>
              </a:rPr>
              <a:t>The data can be diverse, with different types of spatial and temporal granularity, reflecting patterns at various levels of detail. </a:t>
            </a:r>
          </a:p>
          <a:p>
            <a:pPr lvl="0" eaLnBrk="0" fontAlgn="base" hangingPunct="0">
              <a:spcBef>
                <a:spcPct val="0"/>
              </a:spcBef>
              <a:spcAft>
                <a:spcPct val="0"/>
              </a:spcAft>
            </a:pPr>
            <a:r>
              <a:rPr lang="en-US" altLang="en-US" sz="1200" b="1" kern="0" spc="-80" dirty="0">
                <a:solidFill>
                  <a:schemeClr val="accent2"/>
                </a:solidFill>
                <a:latin typeface="Lucida Sans"/>
                <a:ea typeface="+mj-ea"/>
              </a:rPr>
              <a:t>Types of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Trajectory Data: </a:t>
            </a:r>
            <a:r>
              <a:rPr lang="en-US" altLang="en-US" sz="1200" b="1" kern="0" spc="-80" dirty="0">
                <a:solidFill>
                  <a:schemeClr val="accent6"/>
                </a:solidFill>
                <a:latin typeface="Lucida Sans"/>
                <a:ea typeface="+mj-ea"/>
              </a:rPr>
              <a:t>Captures the path of a moving object, such as the route of a flight or a person's movement tracked by a mobile device.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 Data: </a:t>
            </a:r>
            <a:r>
              <a:rPr lang="en-US" altLang="en-US" sz="1200" b="1" kern="0" spc="-80" dirty="0">
                <a:solidFill>
                  <a:schemeClr val="accent6"/>
                </a:solidFill>
                <a:latin typeface="Lucida Sans"/>
                <a:ea typeface="+mj-ea"/>
              </a:rPr>
              <a:t>Records specific events that occur at a particular time and place, like a traffic accident or the outbreak of a disease. </a:t>
            </a:r>
          </a:p>
          <a:p>
            <a:pPr lvl="0" eaLnBrk="0" fontAlgn="base" hangingPunct="0">
              <a:spcBef>
                <a:spcPct val="0"/>
              </a:spcBef>
              <a:spcAft>
                <a:spcPct val="0"/>
              </a:spcAft>
            </a:pPr>
            <a:r>
              <a:rPr lang="en-US" altLang="en-US" sz="1200" b="1" kern="0" spc="-80" dirty="0">
                <a:solidFill>
                  <a:schemeClr val="accent2"/>
                </a:solidFill>
                <a:latin typeface="Lucida Sans"/>
                <a:ea typeface="+mj-ea"/>
              </a:rPr>
              <a:t>Raster Data: </a:t>
            </a:r>
            <a:r>
              <a:rPr lang="en-US" altLang="en-US" sz="1200" b="1" kern="0" spc="-80" dirty="0">
                <a:solidFill>
                  <a:schemeClr val="accent6"/>
                </a:solidFill>
                <a:latin typeface="Lucida Sans"/>
                <a:ea typeface="+mj-ea"/>
              </a:rPr>
              <a:t>Represents data as a grid, where each cell (pixel) has a value that changes over time (e.g., satellite imagery showing evolving weather conditions).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Traffic and Transportation: </a:t>
            </a:r>
            <a:r>
              <a:rPr lang="en-US" altLang="en-US" sz="1200" b="1" kern="0" spc="-80" dirty="0">
                <a:solidFill>
                  <a:schemeClr val="accent6"/>
                </a:solidFill>
                <a:latin typeface="Lucida Sans"/>
                <a:ea typeface="+mj-ea"/>
              </a:rPr>
              <a:t>Analyzing traffic congestion and optimizing delivery routes. </a:t>
            </a:r>
          </a:p>
          <a:p>
            <a:pPr lvl="0" eaLnBrk="0" fontAlgn="base" hangingPunct="0">
              <a:spcBef>
                <a:spcPct val="0"/>
              </a:spcBef>
              <a:spcAft>
                <a:spcPct val="0"/>
              </a:spcAft>
            </a:pPr>
            <a:r>
              <a:rPr lang="en-US" altLang="en-US" sz="1200" b="1" kern="0" spc="-80" dirty="0">
                <a:solidFill>
                  <a:schemeClr val="accent2"/>
                </a:solidFill>
                <a:latin typeface="Lucida Sans"/>
                <a:ea typeface="+mj-ea"/>
              </a:rPr>
              <a:t>Environmental Monitoring: </a:t>
            </a:r>
            <a:r>
              <a:rPr lang="en-US" altLang="en-US" sz="1200" b="1" kern="0" spc="-80" dirty="0">
                <a:solidFill>
                  <a:schemeClr val="accent6"/>
                </a:solidFill>
                <a:latin typeface="Lucida Sans"/>
                <a:ea typeface="+mj-ea"/>
              </a:rPr>
              <a:t>Tracking climate variables and changes in natural disasters. </a:t>
            </a:r>
          </a:p>
          <a:p>
            <a:pPr lvl="0" eaLnBrk="0" fontAlgn="base" hangingPunct="0">
              <a:spcBef>
                <a:spcPct val="0"/>
              </a:spcBef>
              <a:spcAft>
                <a:spcPct val="0"/>
              </a:spcAft>
            </a:pPr>
            <a:r>
              <a:rPr lang="en-US" altLang="en-US" sz="1200" b="1" kern="0" spc="-80" dirty="0">
                <a:solidFill>
                  <a:schemeClr val="accent2"/>
                </a:solidFill>
                <a:latin typeface="Lucida Sans"/>
                <a:ea typeface="+mj-ea"/>
              </a:rPr>
              <a:t>Public Health: </a:t>
            </a:r>
            <a:r>
              <a:rPr lang="en-US" altLang="en-US" sz="1200" b="1" kern="0" spc="-80" dirty="0">
                <a:solidFill>
                  <a:schemeClr val="accent6"/>
                </a:solidFill>
                <a:latin typeface="Lucida Sans"/>
                <a:ea typeface="+mj-ea"/>
              </a:rPr>
              <a:t>Studying the spread of epidemics and their spatial correlation.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Planning: </a:t>
            </a:r>
            <a:r>
              <a:rPr lang="en-US" altLang="en-US" sz="1200" b="1" kern="0" spc="-80" dirty="0">
                <a:solidFill>
                  <a:schemeClr val="accent6"/>
                </a:solidFill>
                <a:latin typeface="Lucida Sans"/>
                <a:ea typeface="+mj-ea"/>
              </a:rPr>
              <a:t>Understanding population density changes and resource distribution. </a:t>
            </a:r>
          </a:p>
          <a:p>
            <a:pPr lvl="0" eaLnBrk="0" fontAlgn="base" hangingPunct="0">
              <a:spcBef>
                <a:spcPct val="0"/>
              </a:spcBef>
              <a:spcAft>
                <a:spcPct val="0"/>
              </a:spcAft>
            </a:pPr>
            <a:r>
              <a:rPr lang="en-US" altLang="en-US" sz="1200" b="1" kern="0" spc="-80" dirty="0">
                <a:solidFill>
                  <a:schemeClr val="accent2"/>
                </a:solidFill>
                <a:latin typeface="Lucida Sans"/>
                <a:ea typeface="+mj-ea"/>
              </a:rPr>
              <a:t>Analysis Challenges </a:t>
            </a:r>
          </a:p>
          <a:p>
            <a:pPr lvl="0" eaLnBrk="0" fontAlgn="base" hangingPunct="0">
              <a:spcBef>
                <a:spcPct val="0"/>
              </a:spcBef>
              <a:spcAft>
                <a:spcPct val="0"/>
              </a:spcAft>
            </a:pPr>
            <a:r>
              <a:rPr lang="en-US" altLang="en-US" sz="1200" b="1" kern="0" spc="-80" dirty="0">
                <a:solidFill>
                  <a:schemeClr val="accent6"/>
                </a:solidFill>
                <a:latin typeface="Lucida Sans"/>
                <a:ea typeface="+mj-ea"/>
              </a:rPr>
              <a:t>Traditional statistical and machine learning methods may not perform well on spatiotemporal data due to its complex, dynamic, and spatially dependent nature.</a:t>
            </a:r>
          </a:p>
          <a:p>
            <a:pPr lvl="0" eaLnBrk="0" fontAlgn="base" hangingPunct="0">
              <a:spcBef>
                <a:spcPct val="0"/>
              </a:spcBef>
              <a:spcAft>
                <a:spcPct val="0"/>
              </a:spcAft>
            </a:pPr>
            <a:r>
              <a:rPr lang="en-US" altLang="en-US" sz="1200" b="1" kern="0" spc="-80" dirty="0">
                <a:solidFill>
                  <a:schemeClr val="accent6"/>
                </a:solidFill>
                <a:latin typeface="Lucida Sans"/>
                <a:ea typeface="+mj-ea"/>
              </a:rPr>
              <a:t>Analyzing these datasets requires specialized models and techniques, often involving chronological networks or deep learning and physics-guided AI, to effectively identify trends and make predictions.</a:t>
            </a:r>
          </a:p>
        </p:txBody>
      </p:sp>
      <p:sp>
        <p:nvSpPr>
          <p:cNvPr id="9" name="Rectangle 2">
            <a:extLst>
              <a:ext uri="{FF2B5EF4-FFF2-40B4-BE49-F238E27FC236}">
                <a16:creationId xmlns:a16="http://schemas.microsoft.com/office/drawing/2014/main" id="{FE4A854D-C0E4-0C38-C3E5-6F0579200D3A}"/>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84886122"/>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098CD-BF05-7733-700E-D9AD9D0BB0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DC3FDC-CDFA-BD27-9026-9E0FA2755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A064A1-4CCB-423D-5057-1FE8FABF83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FE073C-8F84-8404-3AB2-C653498B3AA5}"/>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C02FA3-5D7B-298B-5003-9DEB23E49C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7495D28-1BAF-66C0-CC9A-3AADB03209A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10219022-1779-86B9-595F-BC837659341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6908A41-0188-EBDF-A79B-3D1C49D547D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D086026E-900F-C094-31DC-236EA873CB4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1. Data Representation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Grid-Based (Raster) Models[Continuous]</a:t>
            </a:r>
          </a:p>
          <a:p>
            <a:pPr lvl="0" eaLnBrk="0" fontAlgn="base" hangingPunct="0">
              <a:spcBef>
                <a:spcPct val="0"/>
              </a:spcBef>
              <a:spcAft>
                <a:spcPct val="0"/>
              </a:spcAft>
            </a:pPr>
            <a:r>
              <a:rPr lang="en-US" altLang="en-US" sz="1200" b="1" kern="0" spc="-80" dirty="0">
                <a:solidFill>
                  <a:schemeClr val="accent6"/>
                </a:solidFill>
                <a:latin typeface="Lucida Sans"/>
                <a:ea typeface="+mj-ea"/>
              </a:rPr>
              <a:t>The space is divided into cells (regular grids), and each cell stores attribute values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Common in remote sensing, climate modeling, and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modeling: </a:t>
            </a:r>
            <a:r>
              <a:rPr lang="en-US" altLang="en-US" sz="1200" b="1" kern="0" spc="-80" dirty="0">
                <a:solidFill>
                  <a:schemeClr val="accent6"/>
                </a:solidFill>
                <a:latin typeface="Lucida Sans"/>
                <a:ea typeface="+mj-ea"/>
              </a:rPr>
              <a:t>Time can be handled as discrete snapshots (time series per cell) or as continuous functions.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Simple, easy to visualize and compute.</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Can be memory-intensive for high-resolution grids; loses geometric detail.</a:t>
            </a:r>
          </a:p>
          <a:p>
            <a:pPr lvl="0" eaLnBrk="0" fontAlgn="base" hangingPunct="0">
              <a:spcBef>
                <a:spcPct val="0"/>
              </a:spcBef>
              <a:spcAft>
                <a:spcPct val="0"/>
              </a:spcAft>
            </a:pPr>
            <a:r>
              <a:rPr lang="en-US" altLang="en-US" sz="1200" b="1" kern="0" spc="-80" dirty="0">
                <a:solidFill>
                  <a:schemeClr val="accent2"/>
                </a:solidFill>
                <a:latin typeface="Lucida Sans"/>
                <a:ea typeface="+mj-ea"/>
              </a:rPr>
              <a:t>B. Vector-Based Models[Discrete]</a:t>
            </a:r>
          </a:p>
          <a:p>
            <a:pPr lvl="0" eaLnBrk="0" fontAlgn="base" hangingPunct="0">
              <a:spcBef>
                <a:spcPct val="0"/>
              </a:spcBef>
              <a:spcAft>
                <a:spcPct val="0"/>
              </a:spcAft>
            </a:pPr>
            <a:r>
              <a:rPr lang="en-US" altLang="en-US" sz="1200" b="1" kern="0" spc="-80" dirty="0">
                <a:solidFill>
                  <a:schemeClr val="accent6"/>
                </a:solidFill>
                <a:latin typeface="Lucida Sans"/>
                <a:ea typeface="+mj-ea"/>
              </a:rPr>
              <a:t>Space is represented as points, lines, or polygons, each with temporal attributes.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a:t>
            </a:r>
            <a:r>
              <a:rPr lang="en-US" altLang="en-US" sz="1200" b="1" kern="0" spc="-80" dirty="0">
                <a:solidFill>
                  <a:schemeClr val="accent6"/>
                </a:solidFill>
                <a:latin typeface="Lucida Sans"/>
                <a:ea typeface="+mj-ea"/>
              </a:rPr>
              <a:t> A moving vehicle can be represented as a point with (x, y, t).</a:t>
            </a:r>
          </a:p>
          <a:p>
            <a:pPr lvl="0" eaLnBrk="0" fontAlgn="base" hangingPunct="0">
              <a:spcBef>
                <a:spcPct val="0"/>
              </a:spcBef>
              <a:spcAft>
                <a:spcPct val="0"/>
              </a:spcAft>
            </a:pPr>
            <a:r>
              <a:rPr lang="en-US" altLang="en-US" sz="1200" b="1" kern="0" spc="-80" dirty="0">
                <a:solidFill>
                  <a:schemeClr val="accent6"/>
                </a:solidFill>
                <a:latin typeface="Lucida Sans"/>
                <a:ea typeface="+mj-ea"/>
              </a:rPr>
              <a:t>Temporal dimension can be discrete timestamps or intervals.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High geometric accuracy; good for tracking moving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Complex for large datasets; harder to query efficiently.</a:t>
            </a:r>
          </a:p>
          <a:p>
            <a:pPr lvl="0" eaLnBrk="0" fontAlgn="base" hangingPunct="0">
              <a:spcBef>
                <a:spcPct val="0"/>
              </a:spcBef>
              <a:spcAft>
                <a:spcPct val="0"/>
              </a:spcAft>
            </a:pPr>
            <a:r>
              <a:rPr lang="en-US" altLang="en-US" sz="1200" b="1" kern="0" spc="-80" dirty="0">
                <a:solidFill>
                  <a:schemeClr val="accent2"/>
                </a:solidFill>
                <a:latin typeface="Lucida Sans"/>
                <a:ea typeface="+mj-ea"/>
              </a:rPr>
              <a:t>C. Object-Oriented / Moving Object Models</a:t>
            </a:r>
          </a:p>
          <a:p>
            <a:pPr lvl="0" eaLnBrk="0" fontAlgn="base" hangingPunct="0">
              <a:spcBef>
                <a:spcPct val="0"/>
              </a:spcBef>
              <a:spcAft>
                <a:spcPct val="0"/>
              </a:spcAft>
            </a:pPr>
            <a:r>
              <a:rPr lang="en-US" altLang="en-US" sz="1200" b="1" kern="0" spc="-80" dirty="0">
                <a:solidFill>
                  <a:schemeClr val="accent2"/>
                </a:solidFill>
                <a:latin typeface="Lucida Sans"/>
                <a:ea typeface="+mj-ea"/>
              </a:rPr>
              <a:t>Treat moving entities as first-class objects with attributes:</a:t>
            </a:r>
            <a:r>
              <a:rPr lang="en-US" altLang="en-US" sz="1200" b="1" kern="0" spc="-80" dirty="0">
                <a:solidFill>
                  <a:schemeClr val="accent6"/>
                </a:solidFill>
                <a:latin typeface="Lucida Sans"/>
                <a:ea typeface="+mj-ea"/>
              </a:rPr>
              <a:t> position, velocity, and state.</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Trajectories: trajectory = { (x1, y1, t1), (x2, y2, t2), ...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updates:</a:t>
            </a:r>
            <a:r>
              <a:rPr lang="en-US" altLang="en-US" sz="1200" b="1" kern="0" spc="-80" dirty="0">
                <a:solidFill>
                  <a:schemeClr val="accent6"/>
                </a:solidFill>
                <a:latin typeface="Lucida Sans"/>
                <a:ea typeface="+mj-ea"/>
              </a:rPr>
              <a:t> Changes in object state at discrete times.</a:t>
            </a:r>
          </a:p>
          <a:p>
            <a:pPr lvl="0" eaLnBrk="0" fontAlgn="base" hangingPunct="0">
              <a:spcBef>
                <a:spcPct val="0"/>
              </a:spcBef>
              <a:spcAft>
                <a:spcPct val="0"/>
              </a:spcAft>
            </a:pPr>
            <a:r>
              <a:rPr lang="en-US" altLang="en-US" sz="1200" b="1" kern="0" spc="-80" dirty="0">
                <a:solidFill>
                  <a:schemeClr val="accent6"/>
                </a:solidFill>
                <a:latin typeface="Lucida Sans"/>
                <a:ea typeface="+mj-ea"/>
              </a:rPr>
              <a:t>Good for tracking vehicles, animals, people, satellites.</a:t>
            </a:r>
          </a:p>
          <a:p>
            <a:pPr lvl="0" eaLnBrk="0" fontAlgn="base" hangingPunct="0">
              <a:spcBef>
                <a:spcPct val="0"/>
              </a:spcBef>
              <a:spcAft>
                <a:spcPct val="0"/>
              </a:spcAft>
            </a:pPr>
            <a:r>
              <a:rPr lang="en-US" altLang="en-US" sz="1200" b="1" kern="0" spc="-80" dirty="0">
                <a:solidFill>
                  <a:schemeClr val="accent2"/>
                </a:solidFill>
                <a:latin typeface="Lucida Sans"/>
                <a:ea typeface="+mj-ea"/>
              </a:rPr>
              <a:t>D. Graph-Based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Nodes represent spatial locations, edges represent connections, and attributes evolve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in transport networks, social networks, disease spread.</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graphs:</a:t>
            </a:r>
            <a:r>
              <a:rPr lang="en-US" altLang="en-US" sz="1200" b="1" kern="0" spc="-80" dirty="0">
                <a:solidFill>
                  <a:schemeClr val="accent6"/>
                </a:solidFill>
                <a:latin typeface="Lucida Sans"/>
                <a:ea typeface="+mj-ea"/>
              </a:rPr>
              <a:t> G(t) = (V(t), E(t)) where both nodes and edges can change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Enables graph analytics and path prediction.</a:t>
            </a:r>
          </a:p>
          <a:p>
            <a:pPr lvl="0" eaLnBrk="0" fontAlgn="base" hangingPunct="0">
              <a:spcBef>
                <a:spcPct val="0"/>
              </a:spcBef>
              <a:spcAft>
                <a:spcPct val="0"/>
              </a:spcAft>
            </a:pPr>
            <a:r>
              <a:rPr lang="en-US" altLang="en-US" sz="1200" b="1" kern="0" spc="-80" dirty="0">
                <a:solidFill>
                  <a:schemeClr val="accent2"/>
                </a:solidFill>
                <a:latin typeface="Lucida Sans"/>
                <a:ea typeface="+mj-ea"/>
              </a:rPr>
              <a:t>E. Hybrid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Combine raster/vector, grid/graph, or object-based approaches for complex 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mobility:</a:t>
            </a:r>
          </a:p>
          <a:p>
            <a:pPr lvl="0" eaLnBrk="0" fontAlgn="base" hangingPunct="0">
              <a:spcBef>
                <a:spcPct val="0"/>
              </a:spcBef>
              <a:spcAft>
                <a:spcPct val="0"/>
              </a:spcAft>
            </a:pPr>
            <a:r>
              <a:rPr lang="en-US" altLang="en-US" sz="1200" b="1" kern="0" spc="-80" dirty="0">
                <a:solidFill>
                  <a:schemeClr val="accent6"/>
                </a:solidFill>
                <a:latin typeface="Lucida Sans"/>
                <a:ea typeface="+mj-ea"/>
              </a:rPr>
              <a:t>Roads → graph</a:t>
            </a:r>
          </a:p>
        </p:txBody>
      </p:sp>
      <p:sp>
        <p:nvSpPr>
          <p:cNvPr id="9" name="Rectangle 2">
            <a:extLst>
              <a:ext uri="{FF2B5EF4-FFF2-40B4-BE49-F238E27FC236}">
                <a16:creationId xmlns:a16="http://schemas.microsoft.com/office/drawing/2014/main" id="{A7A9DDF5-CF3B-D142-1589-6E8D865D86BB}"/>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3860951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2C907-3BC1-D87F-68D7-1E2B94D638C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E174E1-66A0-954C-FE13-D8F2B66E0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8CB5DC2-224A-829D-E3E1-F625222D71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1E5D7-599B-605B-F050-67B6E515955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7D48A69-92B1-9D2B-E5A5-FDB3BC29571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A3AB92-B9BB-DE62-74DA-DDF4BEB47D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3D6EA4D4-716F-44E1-1C5C-0B1FBC36462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11AF847-12EF-CAF6-73B6-EAEEEE69BB46}"/>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41294D7C-177C-0E2C-2803-D2DEBC72F59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2. Temporal Modeling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Discrete time steps:</a:t>
            </a:r>
            <a:r>
              <a:rPr lang="en-US" altLang="en-US" sz="1200" b="1" kern="0" spc="-80" dirty="0">
                <a:solidFill>
                  <a:schemeClr val="accent6"/>
                </a:solidFill>
                <a:latin typeface="Lucida Sans"/>
                <a:ea typeface="+mj-ea"/>
              </a:rPr>
              <a:t> Data is captured at fixed intervals (hourly traffic, daily temperature).</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 asynchronous:</a:t>
            </a:r>
            <a:r>
              <a:rPr lang="en-US" altLang="en-US" sz="1200" b="1" kern="0" spc="-80" dirty="0">
                <a:solidFill>
                  <a:schemeClr val="accent6"/>
                </a:solidFill>
                <a:latin typeface="Lucida Sans"/>
                <a:ea typeface="+mj-ea"/>
              </a:rPr>
              <a:t> Only record when changes occur (sensor triggers, transactions).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Continuous functions: </a:t>
            </a:r>
            <a:r>
              <a:rPr lang="en-US" altLang="en-US" sz="1200" b="1" kern="0" spc="-80" dirty="0">
                <a:solidFill>
                  <a:schemeClr val="accent6"/>
                </a:solidFill>
                <a:latin typeface="Lucida Sans"/>
                <a:ea typeface="+mj-ea"/>
              </a:rPr>
              <a:t>Represent time as continuous variable; often used in physics simulations or interpolation.</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temporal representations: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Time-stamped snapshots:</a:t>
            </a:r>
            <a:r>
              <a:rPr lang="en-US" altLang="en-US" sz="1200" b="1" kern="0" spc="-80" dirty="0">
                <a:solidFill>
                  <a:schemeClr val="accent6"/>
                </a:solidFill>
                <a:latin typeface="Lucida Sans"/>
                <a:ea typeface="+mj-ea"/>
              </a:rPr>
              <a:t> Multiple static states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Intervals: </a:t>
            </a:r>
            <a:r>
              <a:rPr lang="en-US" altLang="en-US" sz="1200" b="1" kern="0" spc="-80" dirty="0">
                <a:solidFill>
                  <a:schemeClr val="accent6"/>
                </a:solidFill>
                <a:latin typeface="Lucida Sans"/>
                <a:ea typeface="+mj-ea"/>
              </a:rPr>
              <a:t>Start and end times for events.</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Trajectories / time series: </a:t>
            </a:r>
            <a:r>
              <a:rPr lang="en-US" altLang="en-US" sz="1200" b="1" kern="0" spc="-80" dirty="0">
                <a:solidFill>
                  <a:schemeClr val="accent6"/>
                </a:solidFill>
                <a:latin typeface="Lucida Sans"/>
                <a:ea typeface="+mj-ea"/>
              </a:rPr>
              <a:t>Continuous tracking of attributes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3. Data Storage and Query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Relational +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Extensions</a:t>
            </a:r>
          </a:p>
          <a:p>
            <a:pPr lvl="0" eaLnBrk="0" fontAlgn="base" hangingPunct="0">
              <a:spcBef>
                <a:spcPct val="0"/>
              </a:spcBef>
              <a:spcAft>
                <a:spcPct val="0"/>
              </a:spcAft>
            </a:pPr>
            <a:r>
              <a:rPr lang="en-US" altLang="en-US" sz="1200" b="1" kern="0" spc="-80" dirty="0">
                <a:solidFill>
                  <a:schemeClr val="accent2"/>
                </a:solidFill>
                <a:latin typeface="Lucida Sans"/>
                <a:ea typeface="+mj-ea"/>
              </a:rPr>
              <a:t>Spatial databases: </a:t>
            </a:r>
            <a:r>
              <a:rPr lang="en-US" altLang="en-US" sz="1200" b="1" kern="0" spc="-80" dirty="0" err="1">
                <a:solidFill>
                  <a:schemeClr val="accent6"/>
                </a:solidFill>
                <a:latin typeface="Lucida Sans"/>
                <a:ea typeface="+mj-ea"/>
              </a:rPr>
              <a:t>PostGIS</a:t>
            </a:r>
            <a:r>
              <a:rPr lang="en-US" altLang="en-US" sz="1200" b="1" kern="0" spc="-80" dirty="0">
                <a:solidFill>
                  <a:schemeClr val="accent6"/>
                </a:solidFill>
                <a:latin typeface="Lucida Sans"/>
                <a:ea typeface="+mj-ea"/>
              </a:rPr>
              <a:t>, Oracle Spatial.</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tables: </a:t>
            </a:r>
            <a:r>
              <a:rPr lang="en-US" altLang="en-US" sz="1200" b="1" kern="0" spc="-80" dirty="0">
                <a:solidFill>
                  <a:schemeClr val="accent6"/>
                </a:solidFill>
                <a:latin typeface="Lucida Sans"/>
                <a:ea typeface="+mj-ea"/>
              </a:rPr>
              <a:t>Store validity periods with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Query example: </a:t>
            </a:r>
            <a:r>
              <a:rPr lang="en-US" altLang="en-US" sz="1200" b="1" kern="0" spc="-80" dirty="0">
                <a:solidFill>
                  <a:schemeClr val="accent6"/>
                </a:solidFill>
                <a:latin typeface="Lucida Sans"/>
                <a:ea typeface="+mj-ea"/>
              </a:rPr>
              <a:t>Find regions where temperature &gt; 30°C during the last week.</a:t>
            </a:r>
          </a:p>
          <a:p>
            <a:pPr lvl="0" eaLnBrk="0" fontAlgn="base" hangingPunct="0">
              <a:spcBef>
                <a:spcPct val="0"/>
              </a:spcBef>
              <a:spcAft>
                <a:spcPct val="0"/>
              </a:spcAft>
            </a:pPr>
            <a:r>
              <a:rPr lang="en-US" altLang="en-US" sz="1200" b="1" kern="0" spc="-80" dirty="0">
                <a:solidFill>
                  <a:schemeClr val="accent2"/>
                </a:solidFill>
                <a:latin typeface="Lucida Sans"/>
                <a:ea typeface="+mj-ea"/>
              </a:rPr>
              <a:t>B. NoSQL / Graph Databases</a:t>
            </a:r>
          </a:p>
          <a:p>
            <a:pPr lvl="0" eaLnBrk="0" fontAlgn="base" hangingPunct="0">
              <a:spcBef>
                <a:spcPct val="0"/>
              </a:spcBef>
              <a:spcAft>
                <a:spcPct val="0"/>
              </a:spcAft>
            </a:pPr>
            <a:r>
              <a:rPr lang="en-US" altLang="en-US" sz="1200" b="1" kern="0" spc="-80" dirty="0">
                <a:solidFill>
                  <a:schemeClr val="accent6"/>
                </a:solidFill>
                <a:latin typeface="Lucida Sans"/>
                <a:ea typeface="+mj-ea"/>
              </a:rPr>
              <a:t>Neo4j, </a:t>
            </a:r>
            <a:r>
              <a:rPr lang="en-US" altLang="en-US" sz="1200" b="1" kern="0" spc="-80" dirty="0" err="1">
                <a:solidFill>
                  <a:schemeClr val="accent6"/>
                </a:solidFill>
                <a:latin typeface="Lucida Sans"/>
                <a:ea typeface="+mj-ea"/>
              </a:rPr>
              <a:t>ArangoDB</a:t>
            </a:r>
            <a:r>
              <a:rPr lang="en-US" altLang="en-US" sz="1200" b="1" kern="0" spc="-80" dirty="0">
                <a:solidFill>
                  <a:schemeClr val="accent6"/>
                </a:solidFill>
                <a:latin typeface="Lucida Sans"/>
                <a:ea typeface="+mj-ea"/>
              </a:rPr>
              <a:t>, </a:t>
            </a:r>
            <a:r>
              <a:rPr lang="en-US" altLang="en-US" sz="1200" b="1" kern="0" spc="-80" dirty="0" err="1">
                <a:solidFill>
                  <a:schemeClr val="accent6"/>
                </a:solidFill>
                <a:latin typeface="Lucida Sans"/>
                <a:ea typeface="+mj-ea"/>
              </a:rPr>
              <a:t>TigerGraph</a:t>
            </a:r>
            <a:r>
              <a:rPr lang="en-US" altLang="en-US" sz="1200" b="1" kern="0" spc="-80" dirty="0">
                <a:solidFill>
                  <a:schemeClr val="accent6"/>
                </a:solidFill>
                <a:latin typeface="Lucida Sans"/>
                <a:ea typeface="+mj-ea"/>
              </a:rPr>
              <a:t> for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a:t>
            </a:r>
          </a:p>
          <a:p>
            <a:pPr lvl="0" eaLnBrk="0" fontAlgn="base" hangingPunct="0">
              <a:spcBef>
                <a:spcPct val="0"/>
              </a:spcBef>
              <a:spcAft>
                <a:spcPct val="0"/>
              </a:spcAft>
            </a:pPr>
            <a:r>
              <a:rPr lang="en-US" altLang="en-US" sz="1200" b="1" kern="0" spc="-80" dirty="0">
                <a:solidFill>
                  <a:schemeClr val="accent6"/>
                </a:solidFill>
                <a:latin typeface="Lucida Sans"/>
                <a:ea typeface="+mj-ea"/>
              </a:rPr>
              <a:t>MongoDB or Cassandra for storing trajectories or time-series linked with geospatial info.</a:t>
            </a:r>
          </a:p>
          <a:p>
            <a:pPr lvl="0" eaLnBrk="0" fontAlgn="base" hangingPunct="0">
              <a:spcBef>
                <a:spcPct val="0"/>
              </a:spcBef>
              <a:spcAft>
                <a:spcPct val="0"/>
              </a:spcAft>
            </a:pPr>
            <a:r>
              <a:rPr lang="en-US" altLang="en-US" sz="1200" b="1" kern="0" spc="-80" dirty="0">
                <a:solidFill>
                  <a:schemeClr val="accent2"/>
                </a:solidFill>
                <a:latin typeface="Lucida Sans"/>
                <a:ea typeface="+mj-ea"/>
              </a:rPr>
              <a:t>C. Specialized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Indexing</a:t>
            </a:r>
          </a:p>
          <a:p>
            <a:pPr lvl="0" eaLnBrk="0" fontAlgn="base" hangingPunct="0">
              <a:spcBef>
                <a:spcPct val="0"/>
              </a:spcBef>
              <a:spcAft>
                <a:spcPct val="0"/>
              </a:spcAft>
            </a:pPr>
            <a:r>
              <a:rPr lang="en-US" altLang="en-US" sz="1200" b="1" kern="0" spc="-80" dirty="0">
                <a:solidFill>
                  <a:schemeClr val="accent2"/>
                </a:solidFill>
                <a:latin typeface="Lucida Sans"/>
                <a:ea typeface="+mj-ea"/>
              </a:rPr>
              <a:t>R-Trees / Quadtrees: </a:t>
            </a:r>
            <a:r>
              <a:rPr lang="en-US" altLang="en-US" sz="1200" b="1" kern="0" spc="-80" dirty="0">
                <a:solidFill>
                  <a:schemeClr val="accent6"/>
                </a:solidFill>
                <a:latin typeface="Lucida Sans"/>
                <a:ea typeface="+mj-ea"/>
              </a:rPr>
              <a:t>Index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3D R-Trees / Time-Parameterized R-Trees (TPR-Trees): </a:t>
            </a:r>
            <a:r>
              <a:rPr lang="en-US" altLang="en-US" sz="1200" b="1" kern="0" spc="-80" dirty="0">
                <a:solidFill>
                  <a:schemeClr val="accent6"/>
                </a:solidFill>
                <a:latin typeface="Lucida Sans"/>
                <a:ea typeface="+mj-ea"/>
              </a:rPr>
              <a:t>Index moving objects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Space-filling curves (Z-order, Hilbert): </a:t>
            </a:r>
            <a:r>
              <a:rPr lang="en-US" altLang="en-US" sz="1200" b="1" kern="0" spc="-80" dirty="0">
                <a:solidFill>
                  <a:schemeClr val="accent6"/>
                </a:solidFill>
                <a:latin typeface="Lucida Sans"/>
                <a:ea typeface="+mj-ea"/>
              </a:rPr>
              <a:t>Efficient storage and retrieval of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4. Modeling Approaches for Analysis</a:t>
            </a:r>
          </a:p>
          <a:p>
            <a:pPr lvl="0" eaLnBrk="0" fontAlgn="base" hangingPunct="0">
              <a:spcBef>
                <a:spcPct val="0"/>
              </a:spcBef>
              <a:spcAft>
                <a:spcPct val="0"/>
              </a:spcAft>
            </a:pPr>
            <a:r>
              <a:rPr lang="en-US" altLang="en-US" sz="1200" b="1" kern="0" spc="-80" dirty="0">
                <a:solidFill>
                  <a:schemeClr val="accent2"/>
                </a:solidFill>
                <a:latin typeface="Lucida Sans"/>
                <a:ea typeface="+mj-ea"/>
              </a:rPr>
              <a:t>A. Statistical / Probabilistic Models</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autoregressive models (STAR): </a:t>
            </a:r>
            <a:r>
              <a:rPr lang="en-US" altLang="en-US" sz="1200" b="1" kern="0" spc="-80" dirty="0">
                <a:solidFill>
                  <a:schemeClr val="accent6"/>
                </a:solidFill>
                <a:latin typeface="Lucida Sans"/>
                <a:ea typeface="+mj-ea"/>
              </a:rPr>
              <a:t>Predict value at location based on neighboring locations and previous time steps.</a:t>
            </a:r>
          </a:p>
          <a:p>
            <a:pPr lvl="0" eaLnBrk="0" fontAlgn="base" hangingPunct="0">
              <a:spcBef>
                <a:spcPct val="0"/>
              </a:spcBef>
              <a:spcAft>
                <a:spcPct val="0"/>
              </a:spcAft>
            </a:pPr>
            <a:r>
              <a:rPr lang="en-US" altLang="en-US" sz="1200" b="1" kern="0" spc="-80" dirty="0">
                <a:solidFill>
                  <a:schemeClr val="accent2"/>
                </a:solidFill>
                <a:latin typeface="Lucida Sans"/>
                <a:ea typeface="+mj-ea"/>
              </a:rPr>
              <a:t>Gaussian Processes for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 </a:t>
            </a:r>
            <a:r>
              <a:rPr lang="en-US" altLang="en-US" sz="1200" b="1" kern="0" spc="-80" dirty="0">
                <a:solidFill>
                  <a:schemeClr val="accent6"/>
                </a:solidFill>
                <a:latin typeface="Lucida Sans"/>
                <a:ea typeface="+mj-ea"/>
              </a:rPr>
              <a:t>Continuous modeling for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B. Machine Learning / Deep Learning</a:t>
            </a:r>
          </a:p>
          <a:p>
            <a:pPr lvl="0" eaLnBrk="0" fontAlgn="base" hangingPunct="0">
              <a:spcBef>
                <a:spcPct val="0"/>
              </a:spcBef>
              <a:spcAft>
                <a:spcPct val="0"/>
              </a:spcAft>
            </a:pPr>
            <a:r>
              <a:rPr lang="en-US" altLang="en-US" sz="1200" b="1" kern="0" spc="-80" dirty="0">
                <a:solidFill>
                  <a:schemeClr val="accent6"/>
                </a:solidFill>
                <a:latin typeface="Lucida Sans"/>
                <a:ea typeface="+mj-ea"/>
              </a:rPr>
              <a:t>RNNs / LSTMs / Transformers for time series of spatial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Graph Neural Networks (GNNs): </a:t>
            </a:r>
            <a:r>
              <a:rPr lang="en-US" altLang="en-US" sz="1200" b="1" kern="0" spc="-80" dirty="0">
                <a:solidFill>
                  <a:schemeClr val="accent6"/>
                </a:solidFill>
                <a:latin typeface="Lucida Sans"/>
                <a:ea typeface="+mj-ea"/>
              </a:rPr>
              <a:t>On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 (e.g., traffic flow prediction).</a:t>
            </a:r>
          </a:p>
          <a:p>
            <a:pPr lvl="0" eaLnBrk="0" fontAlgn="base" hangingPunct="0">
              <a:spcBef>
                <a:spcPct val="0"/>
              </a:spcBef>
              <a:spcAft>
                <a:spcPct val="0"/>
              </a:spcAft>
            </a:pPr>
            <a:r>
              <a:rPr lang="en-US" altLang="en-US" sz="1200" b="1" kern="0" spc="-80" dirty="0" err="1">
                <a:solidFill>
                  <a:schemeClr val="accent2"/>
                </a:solidFill>
                <a:latin typeface="Lucida Sans"/>
                <a:ea typeface="+mj-ea"/>
              </a:rPr>
              <a:t>ConvLSTM</a:t>
            </a:r>
            <a:r>
              <a:rPr lang="en-US" altLang="en-US" sz="1200" b="1" kern="0" spc="-80" dirty="0">
                <a:solidFill>
                  <a:schemeClr val="accent2"/>
                </a:solidFill>
                <a:latin typeface="Lucida Sans"/>
                <a:ea typeface="+mj-ea"/>
              </a:rPr>
              <a:t> / ST-</a:t>
            </a:r>
            <a:r>
              <a:rPr lang="en-US" altLang="en-US" sz="1200" b="1" kern="0" spc="-80" dirty="0" err="1">
                <a:solidFill>
                  <a:schemeClr val="accent2"/>
                </a:solidFill>
                <a:latin typeface="Lucida Sans"/>
                <a:ea typeface="+mj-ea"/>
              </a:rPr>
              <a:t>ConvNet</a:t>
            </a:r>
            <a:r>
              <a:rPr lang="en-US" altLang="en-US" sz="1200" b="1" kern="0" spc="-80" dirty="0">
                <a:solidFill>
                  <a:schemeClr val="accent2"/>
                </a:solidFill>
                <a:latin typeface="Lucida Sans"/>
                <a:ea typeface="+mj-ea"/>
              </a:rPr>
              <a:t>: </a:t>
            </a:r>
            <a:r>
              <a:rPr lang="en-US" altLang="en-US" sz="1200" b="1" kern="0" spc="-80" dirty="0">
                <a:solidFill>
                  <a:schemeClr val="accent6"/>
                </a:solidFill>
                <a:latin typeface="Lucida Sans"/>
                <a:ea typeface="+mj-ea"/>
              </a:rPr>
              <a:t>Convolutional + temporal modeling for grids or images over time.</a:t>
            </a:r>
          </a:p>
        </p:txBody>
      </p:sp>
      <p:sp>
        <p:nvSpPr>
          <p:cNvPr id="9" name="Rectangle 2">
            <a:extLst>
              <a:ext uri="{FF2B5EF4-FFF2-40B4-BE49-F238E27FC236}">
                <a16:creationId xmlns:a16="http://schemas.microsoft.com/office/drawing/2014/main" id="{7A3040E5-E323-410D-CD5B-6AFA709C034D}"/>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74703962"/>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30E32-45B1-8E4D-0F26-F910CE4FA8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E38DEF-1473-134A-68C5-24218A698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191032-83E2-500F-02D0-96B035D7E76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970021-3B0D-FF7D-3636-0ED61A74A71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17A0AB3-584E-EE49-F23A-E1F7FDFCB77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698D4C-7ADF-A73F-B491-D963C565EF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AC09196-37FB-4942-13C4-9D7DB059120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D5EB3E-F564-C06F-B583-727A850C6C1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211DCFD4-001F-7435-4157-73B63D673F62}"/>
              </a:ext>
            </a:extLst>
          </p:cNvPr>
          <p:cNvSpPr txBox="1"/>
          <p:nvPr/>
        </p:nvSpPr>
        <p:spPr>
          <a:xfrm>
            <a:off x="-14337" y="635424"/>
            <a:ext cx="8867874" cy="4755148"/>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C. Simulation / Agent-Based Modeling</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for urban mobility, crowd movement, epidemics.</a:t>
            </a:r>
          </a:p>
          <a:p>
            <a:pPr lvl="0" eaLnBrk="0" fontAlgn="base" hangingPunct="0">
              <a:spcBef>
                <a:spcPct val="0"/>
              </a:spcBef>
              <a:spcAft>
                <a:spcPct val="0"/>
              </a:spcAft>
            </a:pPr>
            <a:r>
              <a:rPr lang="en-US" altLang="en-US" sz="1200" b="1" kern="0" spc="-80" dirty="0">
                <a:solidFill>
                  <a:schemeClr val="accent6"/>
                </a:solidFill>
                <a:latin typeface="Lucida Sans"/>
                <a:ea typeface="+mj-ea"/>
              </a:rPr>
              <a:t>Each agent has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rules governing motion or interaction.</a:t>
            </a:r>
          </a:p>
          <a:p>
            <a:pPr lvl="0" eaLnBrk="0" fontAlgn="base" hangingPunct="0">
              <a:spcBef>
                <a:spcPct val="0"/>
              </a:spcBef>
              <a:spcAft>
                <a:spcPct val="0"/>
              </a:spcAft>
            </a:pPr>
            <a:r>
              <a:rPr lang="en-US" altLang="en-US" sz="1200" b="1" kern="0" spc="-80" dirty="0">
                <a:solidFill>
                  <a:schemeClr val="accent2"/>
                </a:solidFill>
                <a:latin typeface="Lucida Sans"/>
                <a:ea typeface="+mj-ea"/>
              </a:rPr>
              <a:t>5. Visualization and Analysis</a:t>
            </a:r>
          </a:p>
          <a:p>
            <a:pPr lvl="0" eaLnBrk="0" fontAlgn="base" hangingPunct="0">
              <a:spcBef>
                <a:spcPct val="0"/>
              </a:spcBef>
              <a:spcAft>
                <a:spcPct val="0"/>
              </a:spcAft>
            </a:pPr>
            <a:r>
              <a:rPr lang="en-US" altLang="en-US" sz="1200" b="1" kern="0" spc="-80" dirty="0">
                <a:solidFill>
                  <a:schemeClr val="accent6"/>
                </a:solidFill>
                <a:latin typeface="Lucida Sans"/>
                <a:ea typeface="+mj-ea"/>
              </a:rPr>
              <a:t>Animation over time on maps.</a:t>
            </a:r>
          </a:p>
          <a:p>
            <a:pPr lvl="0" eaLnBrk="0" fontAlgn="base" hangingPunct="0">
              <a:spcBef>
                <a:spcPct val="0"/>
              </a:spcBef>
              <a:spcAft>
                <a:spcPct val="0"/>
              </a:spcAft>
            </a:pPr>
            <a:r>
              <a:rPr lang="en-US" altLang="en-US" sz="1200" b="1" kern="0" spc="-80" dirty="0">
                <a:solidFill>
                  <a:schemeClr val="accent6"/>
                </a:solidFill>
                <a:latin typeface="Lucida Sans"/>
                <a:ea typeface="+mj-ea"/>
              </a:rPr>
              <a:t>Heatmaps / density maps for changing spatial distributions.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Trajectory plots for moving objects.</a:t>
            </a:r>
          </a:p>
          <a:p>
            <a:pPr lvl="0" eaLnBrk="0" fontAlgn="base" hangingPunct="0">
              <a:spcBef>
                <a:spcPct val="0"/>
              </a:spcBef>
              <a:spcAft>
                <a:spcPct val="0"/>
              </a:spcAft>
            </a:pPr>
            <a:r>
              <a:rPr lang="en-US" altLang="en-US" sz="1200" b="1" kern="0" spc="-80" dirty="0">
                <a:solidFill>
                  <a:schemeClr val="accent6"/>
                </a:solidFill>
                <a:latin typeface="Lucida Sans"/>
                <a:ea typeface="+mj-ea"/>
              </a:rPr>
              <a:t>Interactive dashboards with time sliders.</a:t>
            </a:r>
          </a:p>
          <a:p>
            <a:pPr lvl="0" eaLnBrk="0" fontAlgn="base" hangingPunct="0">
              <a:spcBef>
                <a:spcPct val="0"/>
              </a:spcBef>
              <a:spcAft>
                <a:spcPct val="0"/>
              </a:spcAft>
            </a:pPr>
            <a:endParaRPr lang="en-US" altLang="en-US" sz="1200" b="1" kern="0" spc="-80" dirty="0">
              <a:solidFill>
                <a:schemeClr val="accent6"/>
              </a:solidFill>
              <a:latin typeface="Lucida Sans"/>
              <a:ea typeface="+mj-ea"/>
            </a:endParaRPr>
          </a:p>
          <a:p>
            <a:pPr eaLnBrk="0" fontAlgn="base" hangingPunct="0">
              <a:spcBef>
                <a:spcPct val="0"/>
              </a:spcBef>
              <a:spcAft>
                <a:spcPct val="0"/>
              </a:spcAft>
            </a:pPr>
            <a:r>
              <a:rPr lang="en-US" altLang="en-US" sz="1500" b="1" kern="0" spc="-80" dirty="0">
                <a:solidFill>
                  <a:schemeClr val="accent2"/>
                </a:solidFill>
                <a:latin typeface="Lucida Sans"/>
              </a:rPr>
              <a:t>Summary Table</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r>
              <a:rPr lang="en-US" altLang="en-US" sz="1200" b="1" kern="0" spc="-80" dirty="0">
                <a:solidFill>
                  <a:schemeClr val="accent2"/>
                </a:solidFill>
                <a:latin typeface="Lucida Sans"/>
                <a:ea typeface="+mj-ea"/>
              </a:rPr>
              <a:t>	                  	               	</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p:txBody>
      </p:sp>
      <p:sp>
        <p:nvSpPr>
          <p:cNvPr id="9" name="Rectangle 2">
            <a:extLst>
              <a:ext uri="{FF2B5EF4-FFF2-40B4-BE49-F238E27FC236}">
                <a16:creationId xmlns:a16="http://schemas.microsoft.com/office/drawing/2014/main" id="{627FF6A2-6B78-3A89-3B04-12B9A04C97A5}"/>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aphicFrame>
        <p:nvGraphicFramePr>
          <p:cNvPr id="3" name="Table 2">
            <a:extLst>
              <a:ext uri="{FF2B5EF4-FFF2-40B4-BE49-F238E27FC236}">
                <a16:creationId xmlns:a16="http://schemas.microsoft.com/office/drawing/2014/main" id="{24FC001A-A06C-FB16-F4D9-8606D41D683B}"/>
              </a:ext>
            </a:extLst>
          </p:cNvPr>
          <p:cNvGraphicFramePr>
            <a:graphicFrameLocks noGrp="1"/>
          </p:cNvGraphicFramePr>
          <p:nvPr/>
        </p:nvGraphicFramePr>
        <p:xfrm>
          <a:off x="76200" y="2606040"/>
          <a:ext cx="8929740" cy="2880360"/>
        </p:xfrm>
        <a:graphic>
          <a:graphicData uri="http://schemas.openxmlformats.org/drawingml/2006/table">
            <a:tbl>
              <a:tblPr firstRow="1" bandRow="1">
                <a:tableStyleId>{5C22544A-7EE6-4342-B048-85BDC9FD1C3A}</a:tableStyleId>
              </a:tblPr>
              <a:tblGrid>
                <a:gridCol w="2232435">
                  <a:extLst>
                    <a:ext uri="{9D8B030D-6E8A-4147-A177-3AD203B41FA5}">
                      <a16:colId xmlns:a16="http://schemas.microsoft.com/office/drawing/2014/main" val="695951805"/>
                    </a:ext>
                  </a:extLst>
                </a:gridCol>
                <a:gridCol w="2232435">
                  <a:extLst>
                    <a:ext uri="{9D8B030D-6E8A-4147-A177-3AD203B41FA5}">
                      <a16:colId xmlns:a16="http://schemas.microsoft.com/office/drawing/2014/main" val="1120731500"/>
                    </a:ext>
                  </a:extLst>
                </a:gridCol>
                <a:gridCol w="2232435">
                  <a:extLst>
                    <a:ext uri="{9D8B030D-6E8A-4147-A177-3AD203B41FA5}">
                      <a16:colId xmlns:a16="http://schemas.microsoft.com/office/drawing/2014/main" val="4141145718"/>
                    </a:ext>
                  </a:extLst>
                </a:gridCol>
                <a:gridCol w="2232435">
                  <a:extLst>
                    <a:ext uri="{9D8B030D-6E8A-4147-A177-3AD203B41FA5}">
                      <a16:colId xmlns:a16="http://schemas.microsoft.com/office/drawing/2014/main" val="966010471"/>
                    </a:ext>
                  </a:extLst>
                </a:gridCol>
              </a:tblGrid>
              <a:tr h="370840">
                <a:tc>
                  <a:txBody>
                    <a:bodyPr/>
                    <a:lstStyle/>
                    <a:p>
                      <a:r>
                        <a:rPr lang="en-US" altLang="en-US" sz="1800" b="1" kern="0" spc="-80" dirty="0">
                          <a:solidFill>
                            <a:srgbClr val="FFFFFF"/>
                          </a:solidFill>
                          <a:latin typeface="Lucida Sans"/>
                          <a:ea typeface="+mn-ea"/>
                          <a:cs typeface="+mn-cs"/>
                        </a:rPr>
                        <a:t>Technique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 Spatial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Temporal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Use Case</a:t>
                      </a:r>
                      <a:endParaRPr lang="en-IN" dirty="0">
                        <a:solidFill>
                          <a:srgbClr val="FFFFFF"/>
                        </a:solidFill>
                      </a:endParaRPr>
                    </a:p>
                  </a:txBody>
                  <a:tcPr/>
                </a:tc>
                <a:extLst>
                  <a:ext uri="{0D108BD9-81ED-4DB2-BD59-A6C34878D82A}">
                    <a16:rowId xmlns:a16="http://schemas.microsoft.com/office/drawing/2014/main" val="3297879578"/>
                  </a:ext>
                </a:extLst>
              </a:tr>
              <a:tr h="370840">
                <a:tc>
                  <a:txBody>
                    <a:bodyPr/>
                    <a:lstStyle/>
                    <a:p>
                      <a:r>
                        <a:rPr lang="en-IN" sz="1400" dirty="0"/>
                        <a:t>Raster grids</a:t>
                      </a:r>
                    </a:p>
                  </a:txBody>
                  <a:tcPr/>
                </a:tc>
                <a:tc>
                  <a:txBody>
                    <a:bodyPr/>
                    <a:lstStyle/>
                    <a:p>
                      <a:r>
                        <a:rPr lang="en-IN" sz="1400" dirty="0"/>
                        <a:t>Continuous</a:t>
                      </a:r>
                    </a:p>
                  </a:txBody>
                  <a:tcPr/>
                </a:tc>
                <a:tc>
                  <a:txBody>
                    <a:bodyPr/>
                    <a:lstStyle/>
                    <a:p>
                      <a:r>
                        <a:rPr lang="en-IN" sz="1400" dirty="0"/>
                        <a:t>Snapshots</a:t>
                      </a:r>
                    </a:p>
                  </a:txBody>
                  <a:tcPr/>
                </a:tc>
                <a:tc>
                  <a:txBody>
                    <a:bodyPr/>
                    <a:lstStyle/>
                    <a:p>
                      <a:r>
                        <a:rPr lang="en-IN" sz="1400" dirty="0"/>
                        <a:t>Climate, land use</a:t>
                      </a:r>
                    </a:p>
                  </a:txBody>
                  <a:tcPr/>
                </a:tc>
                <a:extLst>
                  <a:ext uri="{0D108BD9-81ED-4DB2-BD59-A6C34878D82A}">
                    <a16:rowId xmlns:a16="http://schemas.microsoft.com/office/drawing/2014/main" val="1082411027"/>
                  </a:ext>
                </a:extLst>
              </a:tr>
              <a:tr h="370840">
                <a:tc>
                  <a:txBody>
                    <a:bodyPr/>
                    <a:lstStyle/>
                    <a:p>
                      <a:r>
                        <a:rPr lang="en-IN" sz="1400" dirty="0"/>
                        <a:t>Vector object</a:t>
                      </a:r>
                    </a:p>
                  </a:txBody>
                  <a:tcPr/>
                </a:tc>
                <a:tc>
                  <a:txBody>
                    <a:bodyPr/>
                    <a:lstStyle/>
                    <a:p>
                      <a:r>
                        <a:rPr lang="en-IN" sz="1400" dirty="0"/>
                        <a:t>Points/lines/polygon</a:t>
                      </a:r>
                    </a:p>
                  </a:txBody>
                  <a:tcPr/>
                </a:tc>
                <a:tc>
                  <a:txBody>
                    <a:bodyPr/>
                    <a:lstStyle/>
                    <a:p>
                      <a:r>
                        <a:rPr lang="en-IN" sz="1400" dirty="0"/>
                        <a:t>Timestamps / intervals</a:t>
                      </a:r>
                    </a:p>
                  </a:txBody>
                  <a:tcPr/>
                </a:tc>
                <a:tc>
                  <a:txBody>
                    <a:bodyPr/>
                    <a:lstStyle/>
                    <a:p>
                      <a:r>
                        <a:rPr lang="en-IN" sz="1400" dirty="0"/>
                        <a:t>GIS, vehicles</a:t>
                      </a:r>
                    </a:p>
                    <a:p>
                      <a:endParaRPr lang="en-IN" sz="1400" dirty="0"/>
                    </a:p>
                  </a:txBody>
                  <a:tcPr/>
                </a:tc>
                <a:extLst>
                  <a:ext uri="{0D108BD9-81ED-4DB2-BD59-A6C34878D82A}">
                    <a16:rowId xmlns:a16="http://schemas.microsoft.com/office/drawing/2014/main" val="454205139"/>
                  </a:ext>
                </a:extLst>
              </a:tr>
              <a:tr h="131162">
                <a:tc>
                  <a:txBody>
                    <a:bodyPr/>
                    <a:lstStyle/>
                    <a:p>
                      <a:r>
                        <a:rPr lang="en-IN" sz="1400" dirty="0"/>
                        <a:t>Moving object</a:t>
                      </a:r>
                    </a:p>
                  </a:txBody>
                  <a:tcPr/>
                </a:tc>
                <a:tc>
                  <a:txBody>
                    <a:bodyPr/>
                    <a:lstStyle/>
                    <a:p>
                      <a:r>
                        <a:rPr lang="en-IN" sz="1400" dirty="0"/>
                        <a:t>Entities</a:t>
                      </a:r>
                    </a:p>
                  </a:txBody>
                  <a:tcPr/>
                </a:tc>
                <a:tc>
                  <a:txBody>
                    <a:bodyPr/>
                    <a:lstStyle/>
                    <a:p>
                      <a:r>
                        <a:rPr lang="en-IN" sz="1400" dirty="0"/>
                        <a:t>Trajectories</a:t>
                      </a:r>
                    </a:p>
                  </a:txBody>
                  <a:tcPr/>
                </a:tc>
                <a:tc>
                  <a:txBody>
                    <a:bodyPr/>
                    <a:lstStyle/>
                    <a:p>
                      <a:r>
                        <a:rPr lang="en-IN" sz="1400" dirty="0"/>
                        <a:t>Transportation, logistics</a:t>
                      </a:r>
                    </a:p>
                    <a:p>
                      <a:endParaRPr lang="en-IN" sz="1400" dirty="0"/>
                    </a:p>
                  </a:txBody>
                  <a:tcPr/>
                </a:tc>
                <a:extLst>
                  <a:ext uri="{0D108BD9-81ED-4DB2-BD59-A6C34878D82A}">
                    <a16:rowId xmlns:a16="http://schemas.microsoft.com/office/drawing/2014/main" val="230972806"/>
                  </a:ext>
                </a:extLst>
              </a:tr>
              <a:tr h="131162">
                <a:tc>
                  <a:txBody>
                    <a:bodyPr/>
                    <a:lstStyle/>
                    <a:p>
                      <a:r>
                        <a:rPr lang="en-IN" sz="1400" dirty="0"/>
                        <a:t>Graphs Nodes/Edges</a:t>
                      </a:r>
                    </a:p>
                  </a:txBody>
                  <a:tcPr/>
                </a:tc>
                <a:tc>
                  <a:txBody>
                    <a:bodyPr/>
                    <a:lstStyle/>
                    <a:p>
                      <a:r>
                        <a:rPr lang="en-IN" sz="1400" dirty="0"/>
                        <a:t>Dynamic</a:t>
                      </a:r>
                    </a:p>
                  </a:txBody>
                  <a:tcPr/>
                </a:tc>
                <a:tc>
                  <a:txBody>
                    <a:bodyPr/>
                    <a:lstStyle/>
                    <a:p>
                      <a:r>
                        <a:rPr lang="en-IN" sz="1400" dirty="0"/>
                        <a:t>Edges/Nodes</a:t>
                      </a:r>
                    </a:p>
                  </a:txBody>
                  <a:tcPr/>
                </a:tc>
                <a:tc>
                  <a:txBody>
                    <a:bodyPr/>
                    <a:lstStyle/>
                    <a:p>
                      <a:r>
                        <a:rPr lang="en-IN" sz="1400" dirty="0"/>
                        <a:t>Road networks, social networks</a:t>
                      </a:r>
                    </a:p>
                    <a:p>
                      <a:endParaRPr lang="en-IN" sz="1400" dirty="0"/>
                    </a:p>
                  </a:txBody>
                  <a:tcPr/>
                </a:tc>
                <a:extLst>
                  <a:ext uri="{0D108BD9-81ED-4DB2-BD59-A6C34878D82A}">
                    <a16:rowId xmlns:a16="http://schemas.microsoft.com/office/drawing/2014/main" val="1990113569"/>
                  </a:ext>
                </a:extLst>
              </a:tr>
              <a:tr h="370840">
                <a:tc>
                  <a:txBody>
                    <a:bodyPr/>
                    <a:lstStyle/>
                    <a:p>
                      <a:r>
                        <a:rPr lang="en-IN" sz="1400" dirty="0"/>
                        <a:t>Hybrid</a:t>
                      </a:r>
                    </a:p>
                  </a:txBody>
                  <a:tcPr/>
                </a:tc>
                <a:tc>
                  <a:txBody>
                    <a:bodyPr/>
                    <a:lstStyle/>
                    <a:p>
                      <a:r>
                        <a:rPr lang="en-IN" sz="1400" dirty="0"/>
                        <a:t>Mixed</a:t>
                      </a:r>
                    </a:p>
                  </a:txBody>
                  <a:tcPr/>
                </a:tc>
                <a:tc>
                  <a:txBody>
                    <a:bodyPr/>
                    <a:lstStyle/>
                    <a:p>
                      <a:r>
                        <a:rPr lang="en-IN" sz="1400" dirty="0"/>
                        <a:t>Mixed</a:t>
                      </a:r>
                    </a:p>
                  </a:txBody>
                  <a:tcPr/>
                </a:tc>
                <a:tc>
                  <a:txBody>
                    <a:bodyPr/>
                    <a:lstStyle/>
                    <a:p>
                      <a:r>
                        <a:rPr lang="en-IN" sz="1400" dirty="0"/>
                        <a:t>Complex urban modelling</a:t>
                      </a:r>
                    </a:p>
                  </a:txBody>
                  <a:tcPr/>
                </a:tc>
                <a:extLst>
                  <a:ext uri="{0D108BD9-81ED-4DB2-BD59-A6C34878D82A}">
                    <a16:rowId xmlns:a16="http://schemas.microsoft.com/office/drawing/2014/main" val="891333958"/>
                  </a:ext>
                </a:extLst>
              </a:tr>
            </a:tbl>
          </a:graphicData>
        </a:graphic>
      </p:graphicFrame>
    </p:spTree>
    <p:extLst>
      <p:ext uri="{BB962C8B-B14F-4D97-AF65-F5344CB8AC3E}">
        <p14:creationId xmlns:p14="http://schemas.microsoft.com/office/powerpoint/2010/main" val="764655354"/>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A1198-0DD7-CC5F-8B00-E99ADD7F5C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F0A8BA-5252-5410-FFDD-C35FEB3919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924BFD-B815-4411-632D-71195CA504F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43CFF7D-90B2-9A07-9E3B-EE64B71EC3A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D856E91-B7C3-9CC5-40A7-8C82FBCEB0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23377-A7BB-DA86-3844-922D4F771C2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049B468-9D9D-2AB1-2D46-B0FF1402B7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D8D4A93-B18D-9DA8-2C4D-B4F766FDFAB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3B6DD23A-036F-21A7-5007-88BAEBEA3BED}"/>
              </a:ext>
            </a:extLst>
          </p:cNvPr>
          <p:cNvSpPr txBox="1"/>
          <p:nvPr/>
        </p:nvSpPr>
        <p:spPr>
          <a:xfrm>
            <a:off x="138063" y="799464"/>
            <a:ext cx="8867874" cy="5016758"/>
          </a:xfrm>
          <a:prstGeom prst="rect">
            <a:avLst/>
          </a:prstGeom>
          <a:noFill/>
        </p:spPr>
        <p:txBody>
          <a:bodyPr wrap="square">
            <a:spAutoFit/>
          </a:bodyPr>
          <a:lstStyle/>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modeling refers to the processes and techniques used to analyze and convert raw, undefined data (like text, images, and videos) into a usable format for extracting meaningful insights, often by leveraging Machine Learning (ML) and Natural Language Processing (NLP) to transform it into a structured representation that can be analyzed. This involves preprocessing the data, applying algorithms to identify patterns, and storing the transformed data in systems like </a:t>
            </a:r>
            <a:r>
              <a:rPr lang="en-US" altLang="en-US" sz="16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NoSQL databases</a:t>
            </a:r>
            <a:r>
              <a:rPr lang="en-US" altLang="en-US" sz="1600" b="1" kern="0" spc="-80" dirty="0">
                <a:solidFill>
                  <a:schemeClr val="accent6"/>
                </a:solidFill>
                <a:latin typeface="Lucida Sans"/>
                <a:ea typeface="+mj-ea"/>
              </a:rPr>
              <a:t> or </a:t>
            </a:r>
            <a:r>
              <a:rPr lang="en-US" altLang="en-US" sz="16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data lakes</a:t>
            </a:r>
            <a:r>
              <a:rPr lang="en-US" altLang="en-US" sz="1600" b="1" kern="0" spc="-80" dirty="0">
                <a:solidFill>
                  <a:schemeClr val="accent6"/>
                </a:solidFill>
                <a:latin typeface="Lucida Sans"/>
                <a:ea typeface="+mj-ea"/>
              </a:rPr>
              <a:t> to support applications like sentiment analysis, image recognition, and knowledge discovery.  </a:t>
            </a:r>
          </a:p>
          <a:p>
            <a:pPr lvl="0" eaLnBrk="0" fontAlgn="base" hangingPunct="0">
              <a:spcBef>
                <a:spcPct val="0"/>
              </a:spcBef>
              <a:spcAft>
                <a:spcPct val="0"/>
              </a:spcAft>
            </a:pPr>
            <a:r>
              <a:rPr lang="en-US" altLang="en-US" sz="1600" b="1" kern="0" spc="-80" dirty="0">
                <a:solidFill>
                  <a:schemeClr val="accent2"/>
                </a:solidFill>
                <a:latin typeface="Lucida Sans"/>
                <a:ea typeface="+mj-ea"/>
              </a:rPr>
              <a:t>Key Aspects of Unstructured Data Modeling</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Types: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includes text documents, emails, social media posts, images, audio files, videos, and sensor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Lack of Schema:</a:t>
            </a:r>
            <a:r>
              <a:rPr lang="en-US" altLang="en-US" sz="1600" b="1" kern="0" spc="-80" dirty="0">
                <a:solidFill>
                  <a:schemeClr val="accent6"/>
                </a:solidFill>
                <a:latin typeface="Lucida Sans"/>
                <a:ea typeface="+mj-ea"/>
              </a:rPr>
              <a:t> </a:t>
            </a:r>
          </a:p>
          <a:p>
            <a:pPr lvl="0" eaLnBrk="0" fontAlgn="base" hangingPunct="0">
              <a:spcBef>
                <a:spcPct val="0"/>
              </a:spcBef>
              <a:spcAft>
                <a:spcPct val="0"/>
              </a:spcAft>
            </a:pPr>
            <a:r>
              <a:rPr lang="en-US" altLang="en-US" sz="1600" b="1" kern="0" spc="-80" dirty="0">
                <a:solidFill>
                  <a:schemeClr val="accent6"/>
                </a:solidFill>
                <a:latin typeface="Lucida Sans"/>
                <a:ea typeface="+mj-ea"/>
              </a:rPr>
              <a:t>Unlike structured data (like that in traditional relational databases), unstructured data does not adhere to a predefined data model or fixed schema.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Sophisticated Tools: </a:t>
            </a:r>
          </a:p>
          <a:p>
            <a:pPr lvl="0" eaLnBrk="0" fontAlgn="base" hangingPunct="0">
              <a:spcBef>
                <a:spcPct val="0"/>
              </a:spcBef>
              <a:spcAft>
                <a:spcPct val="0"/>
              </a:spcAft>
            </a:pPr>
            <a:r>
              <a:rPr lang="en-US" altLang="en-US" sz="1600" b="1" kern="0" spc="-80" dirty="0">
                <a:solidFill>
                  <a:schemeClr val="accent6"/>
                </a:solidFill>
                <a:latin typeface="Lucida Sans"/>
                <a:ea typeface="+mj-ea"/>
              </a:rPr>
              <a:t>Extracting insights from unstructured data requires advanced technologies, including ML and NLP, to process the raw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Storage: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is often stored in file systems, NoSQL databases, or data lakes, which are designed to handle massive amounts of raw, varied data. </a:t>
            </a:r>
          </a:p>
        </p:txBody>
      </p:sp>
      <p:sp>
        <p:nvSpPr>
          <p:cNvPr id="9" name="Rectangle 2">
            <a:extLst>
              <a:ext uri="{FF2B5EF4-FFF2-40B4-BE49-F238E27FC236}">
                <a16:creationId xmlns:a16="http://schemas.microsoft.com/office/drawing/2014/main" id="{B83A2F51-3757-D934-80BF-9A9231343228}"/>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8841246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C6984-7909-9EE1-FB27-EA35828F439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FD7590-E42C-032E-B848-A03CD4FAC4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727B09-DFCC-B8DC-4D4A-98CECA9921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A7CE9B4-CE48-5D91-EB17-7205FFF9C4BB}"/>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45CE8DC-2C48-047A-4677-B0D88B96C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90F181-44FA-6BB2-47AF-CC83BDD0C9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2A6E3ED0-A31D-2DB1-6E0B-742411C5ADC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1063054-27ED-E8CC-B554-B68924B58B9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19CE0450-E778-87F3-58A8-8383631F9711}"/>
              </a:ext>
            </a:extLst>
          </p:cNvPr>
          <p:cNvSpPr txBox="1"/>
          <p:nvPr/>
        </p:nvSpPr>
        <p:spPr>
          <a:xfrm>
            <a:off x="138063" y="799464"/>
            <a:ext cx="8867874" cy="4893647"/>
          </a:xfrm>
          <a:prstGeom prst="rect">
            <a:avLst/>
          </a:prstGeom>
          <a:noFill/>
        </p:spPr>
        <p:txBody>
          <a:bodyPr wrap="square">
            <a:spAutoFit/>
          </a:bodyPr>
          <a:lstStyle/>
          <a:p>
            <a:pPr lvl="0" eaLnBrk="0" fontAlgn="base" hangingPunct="0">
              <a:spcBef>
                <a:spcPct val="0"/>
              </a:spcBef>
              <a:spcAft>
                <a:spcPct val="0"/>
              </a:spcAft>
            </a:pPr>
            <a:r>
              <a:rPr lang="en-US" altLang="en-US" sz="1300" b="1" kern="0" spc="-80" dirty="0">
                <a:solidFill>
                  <a:schemeClr val="accent2"/>
                </a:solidFill>
                <a:latin typeface="Lucida Sans"/>
                <a:ea typeface="+mj-ea"/>
              </a:rPr>
              <a:t>Common Use Cases </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Text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Using NLP to analyze text data from customer reviews, social media, and documents to understand sentiment and categorize information.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Image and Video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Applying computer vision techniques for tasks like facial recognition, object detection, and content classification.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Speech and Audio Processing:</a:t>
            </a:r>
            <a:r>
              <a:rPr lang="en-US" altLang="en-US" sz="1300" b="1" kern="0" spc="-80" dirty="0">
                <a:solidFill>
                  <a:schemeClr val="accent6"/>
                </a:solidFill>
                <a:latin typeface="Lucida Sans"/>
                <a:ea typeface="+mj-ea"/>
              </a:rPr>
              <a:t> </a:t>
            </a:r>
          </a:p>
          <a:p>
            <a:pPr lvl="0" eaLnBrk="0" fontAlgn="base" hangingPunct="0">
              <a:spcBef>
                <a:spcPct val="0"/>
              </a:spcBef>
              <a:spcAft>
                <a:spcPct val="0"/>
              </a:spcAft>
            </a:pPr>
            <a:r>
              <a:rPr lang="en-US" altLang="en-US" sz="1300" b="1" kern="0" spc="-80" dirty="0">
                <a:solidFill>
                  <a:schemeClr val="accent6"/>
                </a:solidFill>
                <a:latin typeface="Lucida Sans"/>
                <a:ea typeface="+mj-ea"/>
              </a:rPr>
              <a:t>Analyzing audio data for speech recognition and to gauge voice sentiment.</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Knowledge Discovery: </a:t>
            </a:r>
          </a:p>
          <a:p>
            <a:pPr lvl="0" eaLnBrk="0" fontAlgn="base" hangingPunct="0">
              <a:spcBef>
                <a:spcPct val="0"/>
              </a:spcBef>
              <a:spcAft>
                <a:spcPct val="0"/>
              </a:spcAft>
            </a:pPr>
            <a:r>
              <a:rPr lang="en-US" altLang="en-US" sz="1300" b="1" kern="0" spc="-80" dirty="0">
                <a:solidFill>
                  <a:schemeClr val="accent6"/>
                </a:solidFill>
                <a:latin typeface="Lucida Sans"/>
                <a:ea typeface="+mj-ea"/>
              </a:rPr>
              <a:t>Uncovering patterns and relationships in unstructured data, such as common issues in customer support tickets.</a:t>
            </a:r>
          </a:p>
          <a:p>
            <a:pPr lvl="0" eaLnBrk="0" fontAlgn="base" hangingPunct="0">
              <a:spcBef>
                <a:spcPct val="0"/>
              </a:spcBef>
              <a:spcAft>
                <a:spcPct val="0"/>
              </a:spcAft>
            </a:pPr>
            <a:endParaRPr lang="en-US" altLang="en-US" sz="1300" b="1" kern="0" spc="-80" dirty="0">
              <a:solidFill>
                <a:schemeClr val="accent2"/>
              </a:solidFill>
              <a:latin typeface="Lucida Sans"/>
              <a:ea typeface="+mj-ea"/>
            </a:endParaRPr>
          </a:p>
          <a:p>
            <a:pPr lvl="0" eaLnBrk="0" fontAlgn="base" hangingPunct="0">
              <a:spcBef>
                <a:spcPct val="0"/>
              </a:spcBef>
              <a:spcAft>
                <a:spcPct val="0"/>
              </a:spcAft>
            </a:pPr>
            <a:r>
              <a:rPr lang="en-US" altLang="en-US" sz="1300" b="1" kern="0" spc="-80" dirty="0">
                <a:solidFill>
                  <a:schemeClr val="accent2"/>
                </a:solidFill>
                <a:latin typeface="Lucida Sans"/>
                <a:ea typeface="+mj-ea"/>
              </a:rPr>
              <a:t>Process of Unstructured Data Modeling(</a:t>
            </a:r>
            <a:r>
              <a:rPr lang="en-US" altLang="en-US" sz="1300" b="1" kern="0" spc="-80" dirty="0">
                <a:solidFill>
                  <a:schemeClr val="accent1"/>
                </a:solidFill>
                <a:latin typeface="Lucida Sans"/>
                <a:ea typeface="+mj-ea"/>
              </a:rPr>
              <a:t>check the “AI, ML, DL and Related Topics” deck slides for more info)</a:t>
            </a:r>
          </a:p>
          <a:p>
            <a:pPr lvl="0" eaLnBrk="0" fontAlgn="base" hangingPunct="0">
              <a:spcBef>
                <a:spcPct val="0"/>
              </a:spcBef>
              <a:spcAft>
                <a:spcPct val="0"/>
              </a:spcAft>
              <a:buFontTx/>
              <a:buAutoNum type="arabicPeriod"/>
            </a:pPr>
            <a:r>
              <a:rPr lang="en-US" altLang="en-US" sz="1300" b="1" kern="0" spc="-80" dirty="0">
                <a:solidFill>
                  <a:schemeClr val="accent2"/>
                </a:solidFill>
                <a:latin typeface="Lucida Sans"/>
                <a:ea typeface="+mj-ea"/>
              </a:rPr>
              <a:t>Data Collection: </a:t>
            </a:r>
          </a:p>
          <a:p>
            <a:pPr lvl="0" eaLnBrk="0" fontAlgn="base" hangingPunct="0">
              <a:spcBef>
                <a:spcPct val="0"/>
              </a:spcBef>
              <a:spcAft>
                <a:spcPct val="0"/>
              </a:spcAft>
            </a:pPr>
            <a:r>
              <a:rPr lang="en-US" altLang="en-US" sz="1300" b="1" kern="0" spc="-80" dirty="0">
                <a:solidFill>
                  <a:schemeClr val="accent6"/>
                </a:solidFill>
                <a:latin typeface="Lucida Sans"/>
                <a:ea typeface="+mj-ea"/>
              </a:rPr>
              <a:t>Gather large volumes of raw, unstructured data from various sources. </a:t>
            </a:r>
          </a:p>
          <a:p>
            <a:pPr lvl="0" eaLnBrk="0" fontAlgn="base" hangingPunct="0">
              <a:spcBef>
                <a:spcPct val="0"/>
              </a:spcBef>
              <a:spcAft>
                <a:spcPct val="0"/>
              </a:spcAft>
              <a:buFontTx/>
              <a:buAutoNum type="arabicPeriod" startAt="2"/>
            </a:pPr>
            <a:r>
              <a:rPr lang="en-US" altLang="en-US" sz="1300" b="1" kern="0" spc="-80" dirty="0">
                <a:solidFill>
                  <a:schemeClr val="accent2"/>
                </a:solidFill>
                <a:latin typeface="Lucida Sans"/>
                <a:ea typeface="+mj-ea"/>
              </a:rPr>
              <a:t>Preprocessing: </a:t>
            </a:r>
          </a:p>
          <a:p>
            <a:pPr lvl="0" eaLnBrk="0" fontAlgn="base" hangingPunct="0">
              <a:spcBef>
                <a:spcPct val="0"/>
              </a:spcBef>
              <a:spcAft>
                <a:spcPct val="0"/>
              </a:spcAft>
            </a:pPr>
            <a:r>
              <a:rPr lang="en-US" altLang="en-US" sz="1300" b="1" kern="0" spc="-80" dirty="0">
                <a:solidFill>
                  <a:schemeClr val="accent6"/>
                </a:solidFill>
                <a:latin typeface="Lucida Sans"/>
                <a:ea typeface="+mj-ea"/>
              </a:rPr>
              <a:t>Clean and prepare the data, which might involve steps like tokenization for text or feature extraction for images. </a:t>
            </a:r>
          </a:p>
          <a:p>
            <a:pPr lvl="0" eaLnBrk="0" fontAlgn="base" hangingPunct="0">
              <a:spcBef>
                <a:spcPct val="0"/>
              </a:spcBef>
              <a:spcAft>
                <a:spcPct val="0"/>
              </a:spcAft>
              <a:buFontTx/>
              <a:buAutoNum type="arabicPeriod" startAt="3"/>
            </a:pPr>
            <a:r>
              <a:rPr lang="en-US" altLang="en-US" sz="1300" b="1" kern="0" spc="-80" dirty="0">
                <a:solidFill>
                  <a:schemeClr val="accent2"/>
                </a:solidFill>
                <a:latin typeface="Lucida Sans"/>
                <a:ea typeface="+mj-ea"/>
              </a:rPr>
              <a:t>Feature Extraction/Representation: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Convert the unstructured data into a structured format suitable for ML models, such as using techniques like </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Bag of Words (</a:t>
            </a:r>
            <a:r>
              <a:rPr lang="en-US" altLang="en-US" sz="1300" b="1" kern="0" spc="-80" dirty="0" err="1">
                <a:solidFill>
                  <a:schemeClr val="accent6"/>
                </a:solidFill>
                <a:latin typeface="Lucida Sans"/>
                <a:ea typeface="+mj-ea"/>
                <a:hlinkClick r:id="rId7">
                  <a:extLst>
                    <a:ext uri="{A12FA001-AC4F-418D-AE19-62706E023703}">
                      <ahyp:hlinkClr xmlns:ahyp="http://schemas.microsoft.com/office/drawing/2018/hyperlinkcolor" val="tx"/>
                    </a:ext>
                  </a:extLst>
                </a:hlinkClick>
              </a:rPr>
              <a:t>BoW</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a:t>
            </a:r>
            <a:r>
              <a:rPr lang="en-US" altLang="en-US" sz="1300" b="1" kern="0" spc="-80" dirty="0">
                <a:solidFill>
                  <a:schemeClr val="accent6"/>
                </a:solidFill>
                <a:latin typeface="Lucida Sans"/>
                <a:ea typeface="+mj-ea"/>
              </a:rPr>
              <a:t> or </a:t>
            </a:r>
            <a:r>
              <a:rPr lang="en-US" altLang="en-US" sz="13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TF-IDF</a:t>
            </a:r>
            <a:r>
              <a:rPr lang="en-US" altLang="en-US" sz="1300" b="1" kern="0" spc="-80" dirty="0">
                <a:solidFill>
                  <a:schemeClr val="accent6"/>
                </a:solidFill>
                <a:latin typeface="Lucida Sans"/>
                <a:ea typeface="+mj-ea"/>
              </a:rPr>
              <a:t> for text data. </a:t>
            </a:r>
          </a:p>
          <a:p>
            <a:pPr lvl="0" eaLnBrk="0" fontAlgn="base" hangingPunct="0">
              <a:spcBef>
                <a:spcPct val="0"/>
              </a:spcBef>
              <a:spcAft>
                <a:spcPct val="0"/>
              </a:spcAft>
              <a:buFontTx/>
              <a:buAutoNum type="arabicPeriod" startAt="4"/>
            </a:pPr>
            <a:r>
              <a:rPr lang="en-US" altLang="en-US" sz="1300" b="1" kern="0" spc="-80" dirty="0">
                <a:solidFill>
                  <a:schemeClr val="accent2"/>
                </a:solidFill>
                <a:latin typeface="Lucida Sans"/>
                <a:ea typeface="+mj-ea"/>
              </a:rPr>
              <a:t>Modeling and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 ML algorithms to the structured representation to perform tasks like classification, clustering, and sentiment analysis. </a:t>
            </a:r>
          </a:p>
          <a:p>
            <a:pPr lvl="0" eaLnBrk="0" fontAlgn="base" hangingPunct="0">
              <a:spcBef>
                <a:spcPct val="0"/>
              </a:spcBef>
              <a:spcAft>
                <a:spcPct val="0"/>
              </a:spcAft>
              <a:buFontTx/>
              <a:buAutoNum type="arabicPeriod" startAt="5"/>
            </a:pPr>
            <a:r>
              <a:rPr lang="en-US" altLang="en-US" sz="1300" b="1" kern="0" spc="-80" dirty="0">
                <a:solidFill>
                  <a:schemeClr val="accent2"/>
                </a:solidFill>
                <a:latin typeface="Lucida Sans"/>
                <a:ea typeface="+mj-ea"/>
              </a:rPr>
              <a:t>Insight Generation: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Leverage the results from the modeling process to gain actionable business insights. </a:t>
            </a:r>
          </a:p>
        </p:txBody>
      </p:sp>
      <p:sp>
        <p:nvSpPr>
          <p:cNvPr id="9" name="Rectangle 2">
            <a:extLst>
              <a:ext uri="{FF2B5EF4-FFF2-40B4-BE49-F238E27FC236}">
                <a16:creationId xmlns:a16="http://schemas.microsoft.com/office/drawing/2014/main" id="{B68A0F40-88F1-2964-2E64-FA32AC5AC49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8462125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6556-B56B-73A4-2EAF-D6A5961511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EA7901-2D69-3F52-3E6D-B8C4CF61D1C6}"/>
              </a:ext>
            </a:extLst>
          </p:cNvPr>
          <p:cNvSpPr/>
          <p:nvPr/>
        </p:nvSpPr>
        <p:spPr>
          <a:xfrm>
            <a:off x="1756803" y="72565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718F33D-09FD-73CC-178B-125AA1C4B0D4}"/>
              </a:ext>
            </a:extLst>
          </p:cNvPr>
          <p:cNvSpPr/>
          <p:nvPr/>
        </p:nvSpPr>
        <p:spPr>
          <a:xfrm>
            <a:off x="1756803" y="5714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F2869A-BB89-0A6B-FBA0-1EEC938438A8}"/>
              </a:ext>
            </a:extLst>
          </p:cNvPr>
          <p:cNvGraphicFramePr/>
          <p:nvPr/>
        </p:nvGraphicFramePr>
        <p:xfrm>
          <a:off x="138981" y="32026"/>
          <a:ext cx="871455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A47BEC7-3728-B908-BBE0-E9700E374774}"/>
              </a:ext>
            </a:extLst>
          </p:cNvPr>
          <p:cNvSpPr txBox="1">
            <a:spLocks/>
          </p:cNvSpPr>
          <p:nvPr/>
        </p:nvSpPr>
        <p:spPr>
          <a:xfrm>
            <a:off x="228599" y="838759"/>
            <a:ext cx="8624937"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150" dirty="0">
                <a:hlinkClick r:id="rId7"/>
              </a:rPr>
              <a:t>Master Data vs Reference Data: Data Type Comparison – Reltio</a:t>
            </a:r>
            <a:endParaRPr lang="en-IN" sz="1150" dirty="0"/>
          </a:p>
          <a:p>
            <a:pPr marL="12700" marR="5080"/>
            <a:r>
              <a:rPr lang="en-US" sz="1150" dirty="0">
                <a:hlinkClick r:id="rId8"/>
              </a:rPr>
              <a:t>Data Modeling Explained: Conceptual, Logical, &amp; Physical</a:t>
            </a:r>
            <a:r>
              <a:rPr lang="en-US" sz="1150" dirty="0"/>
              <a:t> </a:t>
            </a:r>
          </a:p>
          <a:p>
            <a:pPr marL="12700" marR="5080"/>
            <a:r>
              <a:rPr lang="en-US" sz="1150" dirty="0">
                <a:hlinkClick r:id="rId9"/>
              </a:rPr>
              <a:t>Introduction to relationships - EF Core | Microsoft Learn</a:t>
            </a:r>
            <a:endParaRPr lang="en-US" sz="1150" kern="0" spc="-80" dirty="0">
              <a:solidFill>
                <a:schemeClr val="accent2"/>
              </a:solidFill>
              <a:hlinkClick r:id="rId10"/>
            </a:endParaRPr>
          </a:p>
          <a:p>
            <a:pPr marL="12700" marR="5080"/>
            <a:r>
              <a:rPr lang="en-US" sz="1150" dirty="0">
                <a:hlinkClick r:id="rId11"/>
              </a:rPr>
              <a:t>Books, an immutable double-entry accounting database service</a:t>
            </a:r>
            <a:endParaRPr lang="en-US" sz="1150" dirty="0"/>
          </a:p>
          <a:p>
            <a:pPr marL="12700" marR="5080"/>
            <a:r>
              <a:rPr lang="en-IN" sz="1150" dirty="0">
                <a:hlinkClick r:id="rId12"/>
              </a:rPr>
              <a:t>Database Model </a:t>
            </a:r>
            <a:r>
              <a:rPr lang="en-IN" sz="1150" dirty="0">
                <a:hlinkClick r:id="rId13"/>
              </a:rPr>
              <a:t>–</a:t>
            </a:r>
            <a:r>
              <a:rPr lang="en-IN" sz="1150" dirty="0">
                <a:hlinkClick r:id="rId12"/>
              </a:rPr>
              <a:t> </a:t>
            </a:r>
            <a:r>
              <a:rPr lang="en-IN" sz="1150" dirty="0" err="1">
                <a:hlinkClick r:id="rId12"/>
              </a:rPr>
              <a:t>jBilling</a:t>
            </a:r>
            <a:endParaRPr lang="en-IN" sz="1150" dirty="0"/>
          </a:p>
          <a:p>
            <a:pPr marL="12700" marR="5080"/>
            <a:r>
              <a:rPr lang="en-IN" sz="1150" dirty="0">
                <a:hlinkClick r:id="rId13"/>
              </a:rPr>
              <a:t>Microsoft SQL samples - SQL Server | Microsoft Learn</a:t>
            </a:r>
            <a:endParaRPr lang="en-IN" sz="1150" dirty="0"/>
          </a:p>
          <a:p>
            <a:pPr marL="12700" marR="5080"/>
            <a:r>
              <a:rPr lang="en-IN" sz="1150" dirty="0" err="1">
                <a:hlinkClick r:id="rId14"/>
              </a:rPr>
              <a:t>AdventureWorks</a:t>
            </a:r>
            <a:r>
              <a:rPr lang="en-IN" sz="1150" dirty="0">
                <a:hlinkClick r:id="rId14"/>
              </a:rPr>
              <a:t> - ER Diagram at dbdiagrams.com | HTML report</a:t>
            </a:r>
            <a:endParaRPr lang="en-IN" sz="1150" dirty="0"/>
          </a:p>
          <a:p>
            <a:pPr marL="12700" marR="5080"/>
            <a:r>
              <a:rPr lang="en-IN" sz="1150" dirty="0" err="1">
                <a:hlinkClick r:id="rId15"/>
              </a:rPr>
              <a:t>Adventureworks</a:t>
            </a:r>
            <a:r>
              <a:rPr lang="en-IN" sz="1150" dirty="0">
                <a:hlinkClick r:id="rId15"/>
              </a:rPr>
              <a:t> Database - Exercises, Practice, Solution</a:t>
            </a:r>
            <a:endParaRPr lang="en-IN" sz="1150" dirty="0"/>
          </a:p>
          <a:p>
            <a:pPr marL="12700" marR="5080"/>
            <a:r>
              <a:rPr lang="en-IN" sz="1150" dirty="0" err="1">
                <a:hlinkClick r:id="rId16"/>
              </a:rPr>
              <a:t>AdventureWorksDW</a:t>
            </a:r>
            <a:endParaRPr lang="en-IN" sz="1150" dirty="0"/>
          </a:p>
          <a:p>
            <a:pPr marL="12700" marR="5080"/>
            <a:r>
              <a:rPr lang="en-IN" sz="1150" dirty="0">
                <a:hlinkClick r:id="rId17"/>
              </a:rPr>
              <a:t>Uber-Database-Design-System</a:t>
            </a:r>
            <a:endParaRPr lang="en-IN" sz="1150" dirty="0"/>
          </a:p>
          <a:p>
            <a:pPr marL="12700" marR="5080"/>
            <a:r>
              <a:rPr lang="en-IN" sz="1150" dirty="0">
                <a:hlinkClick r:id="rId18"/>
              </a:rPr>
              <a:t>Yelp-Dataset/06_report/report.pdf at master · </a:t>
            </a:r>
            <a:r>
              <a:rPr lang="en-IN" sz="1150" dirty="0" err="1">
                <a:hlinkClick r:id="rId18"/>
              </a:rPr>
              <a:t>Tiankai</a:t>
            </a:r>
            <a:r>
              <a:rPr lang="en-IN" sz="1150" dirty="0">
                <a:hlinkClick r:id="rId18"/>
              </a:rPr>
              <a:t>-Jiang/Yelp-Dataset · GitHub</a:t>
            </a:r>
            <a:endParaRPr lang="en-IN" sz="1150" dirty="0"/>
          </a:p>
          <a:p>
            <a:pPr marL="12700" marR="5080"/>
            <a:r>
              <a:rPr lang="en-IN" sz="1150" dirty="0">
                <a:hlinkClick r:id="rId19"/>
              </a:rPr>
              <a:t>Airbnb Database Schema [classic] | </a:t>
            </a:r>
            <a:r>
              <a:rPr lang="en-IN" sz="1150" dirty="0" err="1">
                <a:hlinkClick r:id="rId19"/>
              </a:rPr>
              <a:t>Creately</a:t>
            </a:r>
            <a:endParaRPr lang="en-IN" sz="1150" dirty="0"/>
          </a:p>
          <a:p>
            <a:pPr marL="12700" marR="5080"/>
            <a:r>
              <a:rPr lang="en-IN" sz="1150" dirty="0">
                <a:hlinkClick r:id="rId20"/>
              </a:rPr>
              <a:t>Analytics Server Database Structure – Verizon Connect Enterprise Help</a:t>
            </a:r>
            <a:endParaRPr lang="en-IN" sz="1150" dirty="0"/>
          </a:p>
          <a:p>
            <a:pPr marL="12700" marR="5080"/>
            <a:r>
              <a:rPr lang="en-IN" sz="1150" dirty="0">
                <a:hlinkClick r:id="rId21"/>
              </a:rPr>
              <a:t>Dropbox DB Schema | System Design Primer</a:t>
            </a:r>
            <a:endParaRPr lang="en-IN" sz="1150" dirty="0"/>
          </a:p>
          <a:p>
            <a:pPr marL="12700" marR="5080"/>
            <a:r>
              <a:rPr lang="en-IN" sz="1150" dirty="0">
                <a:hlinkClick r:id="rId22"/>
              </a:rPr>
              <a:t>Netflix DB Schema | System Design Primer</a:t>
            </a:r>
            <a:endParaRPr lang="en-IN" sz="1150" dirty="0"/>
          </a:p>
          <a:p>
            <a:pPr marL="12700" marR="5080"/>
            <a:r>
              <a:rPr lang="en-IN" sz="1150" dirty="0">
                <a:hlinkClick r:id="rId23"/>
              </a:rPr>
              <a:t>Common data model </a:t>
            </a:r>
            <a:r>
              <a:rPr lang="en-IN" sz="1150" dirty="0">
                <a:hlinkClick r:id="rId24"/>
              </a:rPr>
              <a:t>–</a:t>
            </a:r>
            <a:r>
              <a:rPr lang="en-IN" sz="1150" dirty="0">
                <a:hlinkClick r:id="rId23"/>
              </a:rPr>
              <a:t> Wikipedia</a:t>
            </a:r>
            <a:endParaRPr lang="en-IN" sz="1150" dirty="0"/>
          </a:p>
          <a:p>
            <a:pPr marL="12700" marR="5080"/>
            <a:r>
              <a:rPr lang="en-IN" sz="1150" dirty="0">
                <a:hlinkClick r:id="rId24"/>
              </a:rPr>
              <a:t>Common Data Model - Common Data Model | Microsoft Learn</a:t>
            </a:r>
            <a:endParaRPr lang="en-IN" sz="1150" dirty="0"/>
          </a:p>
          <a:p>
            <a:pPr marL="12700" marR="5080"/>
            <a:r>
              <a:rPr lang="en-US" sz="1150" dirty="0">
                <a:hlinkClick r:id="rId25"/>
              </a:rPr>
              <a:t>Common Data Model - Cloud Adoption Framework | Microsoft Learn</a:t>
            </a:r>
            <a:r>
              <a:rPr lang="en-US" sz="1150" kern="0" spc="-80" dirty="0">
                <a:solidFill>
                  <a:schemeClr val="accent2"/>
                </a:solidFill>
              </a:rPr>
              <a:t> </a:t>
            </a:r>
          </a:p>
          <a:p>
            <a:pPr marL="12700" marR="5080"/>
            <a:r>
              <a:rPr lang="en-US" sz="1150" dirty="0">
                <a:hlinkClick r:id="rId26"/>
              </a:rPr>
              <a:t>CDM</a:t>
            </a:r>
            <a:endParaRPr lang="en-US" sz="1150" dirty="0"/>
          </a:p>
          <a:p>
            <a:pPr marL="12700" marR="5080"/>
            <a:r>
              <a:rPr lang="en-US" sz="1150" dirty="0">
                <a:hlinkClick r:id="rId27"/>
              </a:rPr>
              <a:t>Database schema templates by </a:t>
            </a:r>
            <a:r>
              <a:rPr lang="en-US" sz="1150" dirty="0" err="1">
                <a:hlinkClick r:id="rId27"/>
              </a:rPr>
              <a:t>DrawSQL</a:t>
            </a:r>
            <a:r>
              <a:rPr lang="en-US" sz="1150" kern="0" spc="-80" dirty="0">
                <a:solidFill>
                  <a:schemeClr val="accent2"/>
                </a:solidFill>
              </a:rPr>
              <a:t> </a:t>
            </a:r>
          </a:p>
          <a:p>
            <a:pPr marL="12700" marR="5080"/>
            <a:r>
              <a:rPr lang="en-IN" sz="1150" dirty="0" err="1">
                <a:hlinkClick r:id="rId28"/>
              </a:rPr>
              <a:t>Vertabelo</a:t>
            </a:r>
            <a:r>
              <a:rPr lang="en-IN" sz="1150" dirty="0">
                <a:hlinkClick r:id="rId28"/>
              </a:rPr>
              <a:t> Database Modeler</a:t>
            </a:r>
            <a:endParaRPr lang="en-IN" sz="1150" dirty="0"/>
          </a:p>
          <a:p>
            <a:pPr marL="12700" marR="5080"/>
            <a:r>
              <a:rPr lang="en-US" sz="1150" dirty="0">
                <a:hlinkClick r:id="rId29"/>
              </a:rPr>
              <a:t>What is NoSQL Data Modeling? Definition &amp; FAQs | </a:t>
            </a:r>
            <a:r>
              <a:rPr lang="en-US" sz="1150" dirty="0" err="1">
                <a:hlinkClick r:id="rId29"/>
              </a:rPr>
              <a:t>ScyllaDB</a:t>
            </a:r>
            <a:endParaRPr lang="en-US" sz="1150" dirty="0"/>
          </a:p>
          <a:p>
            <a:pPr marL="12700" marR="5080"/>
            <a:r>
              <a:rPr lang="en-US" sz="1150" dirty="0">
                <a:hlinkClick r:id="rId30"/>
              </a:rPr>
              <a:t>How To Design Schema For NoSQL Data Models | MongoDB</a:t>
            </a:r>
            <a:endParaRPr lang="en-US" sz="1150" dirty="0"/>
          </a:p>
          <a:p>
            <a:pPr marL="12700" marR="5080"/>
            <a:r>
              <a:rPr lang="en-US" sz="1150" dirty="0">
                <a:hlinkClick r:id="rId31"/>
              </a:rPr>
              <a:t>NoSQL Data Modeling Techniques – Highly Scalable Blog</a:t>
            </a:r>
            <a:endParaRPr lang="en-US" sz="1150" dirty="0"/>
          </a:p>
          <a:p>
            <a:pPr marL="12700" marR="5080"/>
            <a:r>
              <a:rPr lang="en-IN" sz="1150" dirty="0">
                <a:hlinkClick r:id="rId32"/>
              </a:rPr>
              <a:t>Schema design for time series data  |  Bigtable Documentation  |  Google Cloud</a:t>
            </a:r>
            <a:endParaRPr lang="en-US" sz="1150" dirty="0"/>
          </a:p>
          <a:p>
            <a:pPr marL="12700" marR="5080"/>
            <a:r>
              <a:rPr lang="en-US" sz="1150" dirty="0">
                <a:hlinkClick r:id="rId33"/>
              </a:rPr>
              <a:t>The DynamoDB Book -- The most comprehensive book on data modeling with Amazon DynamoDB</a:t>
            </a:r>
            <a:endParaRPr lang="en-US" sz="1150" dirty="0"/>
          </a:p>
          <a:p>
            <a:pPr marL="12700" marR="5080"/>
            <a:r>
              <a:rPr lang="en-US" sz="1150" dirty="0">
                <a:hlinkClick r:id="rId34"/>
              </a:rPr>
              <a:t>Data Modeling with NoSQL Database: 3rd Edition</a:t>
            </a:r>
            <a:endParaRPr lang="en-US" sz="1150" kern="0" spc="-80" dirty="0">
              <a:solidFill>
                <a:schemeClr val="accent2"/>
              </a:solidFill>
            </a:endParaRPr>
          </a:p>
          <a:p>
            <a:pPr marL="12700" marR="5080"/>
            <a:r>
              <a:rPr lang="en-IN" sz="1150" dirty="0">
                <a:hlinkClick r:id="rId35"/>
              </a:rPr>
              <a:t>Steve </a:t>
            </a:r>
            <a:r>
              <a:rPr lang="en-IN" sz="1150" dirty="0" err="1">
                <a:hlinkClick r:id="rId35"/>
              </a:rPr>
              <a:t>Hobberman</a:t>
            </a:r>
            <a:r>
              <a:rPr lang="en-IN" sz="1150" dirty="0">
                <a:hlinkClick r:id="rId35"/>
              </a:rPr>
              <a:t> Books | Amazon.com</a:t>
            </a:r>
            <a:endParaRPr lang="en-IN" sz="1150" dirty="0"/>
          </a:p>
          <a:p>
            <a:pPr marL="12700" marR="5080"/>
            <a:r>
              <a:rPr lang="en-IN" sz="1150" dirty="0">
                <a:hlinkClick r:id="rId36"/>
              </a:rPr>
              <a:t>Temporal and </a:t>
            </a:r>
            <a:r>
              <a:rPr lang="en-IN" sz="1150" dirty="0" err="1">
                <a:hlinkClick r:id="rId36"/>
              </a:rPr>
              <a:t>Spatio</a:t>
            </a:r>
            <a:r>
              <a:rPr lang="en-IN" sz="1150" dirty="0">
                <a:hlinkClick r:id="rId36"/>
              </a:rPr>
              <a:t>-temporal Graphs in Neo4j</a:t>
            </a:r>
            <a:endParaRPr lang="en-IN" sz="1150" dirty="0"/>
          </a:p>
          <a:p>
            <a:pPr marL="12700" marR="5080"/>
            <a:endParaRPr lang="en-IN" sz="1500" dirty="0"/>
          </a:p>
          <a:p>
            <a:pPr marL="12700" marR="5080"/>
            <a:r>
              <a:rPr lang="en-US" sz="1500" kern="0" spc="-80" dirty="0">
                <a:solidFill>
                  <a:schemeClr val="accent2"/>
                </a:solidFill>
              </a:rPr>
              <a:t> </a:t>
            </a:r>
          </a:p>
        </p:txBody>
      </p:sp>
      <p:sp>
        <p:nvSpPr>
          <p:cNvPr id="7" name="object 2">
            <a:extLst>
              <a:ext uri="{FF2B5EF4-FFF2-40B4-BE49-F238E27FC236}">
                <a16:creationId xmlns:a16="http://schemas.microsoft.com/office/drawing/2014/main" id="{927344CB-9CB3-37C9-46FE-99DDB875B2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03097CCD-7D2C-26B0-736B-A44D1E075A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94CDD3-713C-F8FC-2B5D-E7F133B12E2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648373617"/>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D9928-A7DD-AEB0-B06D-17C9755C0A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1F096C-382F-0584-8CCA-6354B472C238}"/>
              </a:ext>
            </a:extLst>
          </p:cNvPr>
          <p:cNvSpPr/>
          <p:nvPr/>
        </p:nvSpPr>
        <p:spPr>
          <a:xfrm>
            <a:off x="1724671" y="78686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444EA2-08D0-A078-5C5F-F9DD44387DF4}"/>
              </a:ext>
            </a:extLst>
          </p:cNvPr>
          <p:cNvSpPr/>
          <p:nvPr/>
        </p:nvSpPr>
        <p:spPr>
          <a:xfrm>
            <a:off x="1727200" y="92645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4D6C8E-1BD6-AE9F-F45C-1E830712122B}"/>
              </a:ext>
            </a:extLst>
          </p:cNvPr>
          <p:cNvGraphicFramePr/>
          <p:nvPr/>
        </p:nvGraphicFramePr>
        <p:xfrm>
          <a:off x="0" y="23336"/>
          <a:ext cx="8662363" cy="7386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9E9333-D488-0143-1AE1-8C31C414DA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FB13BD8-252F-557E-9815-35A3C43AEA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5FDD3BBC-E145-C461-45FD-6AEF7901E619}"/>
              </a:ext>
            </a:extLst>
          </p:cNvPr>
          <p:cNvSpPr txBox="1">
            <a:spLocks/>
          </p:cNvSpPr>
          <p:nvPr/>
        </p:nvSpPr>
        <p:spPr>
          <a:xfrm>
            <a:off x="83368" y="1040114"/>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080" dirty="0">
                <a:hlinkClick r:id="rId7"/>
              </a:rPr>
              <a:t>Difference between Relational Algebra and Relational Calculus - </a:t>
            </a:r>
            <a:r>
              <a:rPr lang="en-US" sz="1080" dirty="0" err="1">
                <a:hlinkClick r:id="rId7"/>
              </a:rPr>
              <a:t>GeeksforGeeks</a:t>
            </a:r>
            <a:r>
              <a:rPr lang="en-US" sz="1080" kern="0" spc="-80" dirty="0">
                <a:solidFill>
                  <a:schemeClr val="accent6"/>
                </a:solidFill>
              </a:rPr>
              <a:t> </a:t>
            </a:r>
          </a:p>
          <a:p>
            <a:r>
              <a:rPr lang="en-US" sz="1080" dirty="0">
                <a:hlinkClick r:id="rId8"/>
              </a:rPr>
              <a:t>Practical-sql-2</a:t>
            </a:r>
          </a:p>
          <a:p>
            <a:r>
              <a:rPr lang="en-IN" sz="1080" dirty="0">
                <a:hlinkClick r:id="rId9"/>
              </a:rPr>
              <a:t>SQL-for-Data-Analytics</a:t>
            </a:r>
            <a:endParaRPr lang="en-IN" sz="1080" dirty="0"/>
          </a:p>
          <a:p>
            <a:r>
              <a:rPr lang="en-US" sz="1080" dirty="0">
                <a:hlinkClick r:id="rId10"/>
              </a:rPr>
              <a:t>SQL for Data Analysis </a:t>
            </a:r>
            <a:endParaRPr lang="en-US" sz="1080" dirty="0"/>
          </a:p>
          <a:p>
            <a:r>
              <a:rPr lang="en-US" sz="1080" dirty="0">
                <a:hlinkClick r:id="rId11"/>
              </a:rPr>
              <a:t>SQL Cookbook, 2nd Edition[Book]</a:t>
            </a:r>
            <a:endParaRPr lang="en-US" sz="1080" dirty="0"/>
          </a:p>
          <a:p>
            <a:r>
              <a:rPr lang="en-US" sz="1080" dirty="0">
                <a:hlinkClick r:id="rId12"/>
              </a:rPr>
              <a:t>SQL-Query-Design-Best-Practices: SQL Query Design Best Practices</a:t>
            </a:r>
            <a:endParaRPr lang="en-US" sz="1080" dirty="0"/>
          </a:p>
          <a:p>
            <a:r>
              <a:rPr lang="en-US" sz="1080" dirty="0">
                <a:hlinkClick r:id="rId13"/>
              </a:rPr>
              <a:t>Order of Execution in SQL - Shiksha Online</a:t>
            </a:r>
            <a:endParaRPr lang="en-US" sz="1080" dirty="0"/>
          </a:p>
          <a:p>
            <a:r>
              <a:rPr lang="en-US" sz="1080" dirty="0">
                <a:hlinkClick r:id="rId14"/>
              </a:rPr>
              <a:t>What every developer should know about </a:t>
            </a:r>
            <a:r>
              <a:rPr lang="en-US" sz="1080" dirty="0" err="1">
                <a:hlinkClick r:id="rId14"/>
              </a:rPr>
              <a:t>Sql</a:t>
            </a:r>
            <a:r>
              <a:rPr lang="en-US" sz="1080" dirty="0">
                <a:hlinkClick r:id="rId14"/>
              </a:rPr>
              <a:t> Performance</a:t>
            </a:r>
            <a:endParaRPr lang="en-US" sz="1080" dirty="0"/>
          </a:p>
          <a:p>
            <a:r>
              <a:rPr lang="en-IN" sz="1080" dirty="0">
                <a:hlinkClick r:id="rId15"/>
              </a:rPr>
              <a:t>Mastering Tricky SQL Interview Questions: Part 3</a:t>
            </a:r>
            <a:endParaRPr lang="en-IN" sz="1080" dirty="0"/>
          </a:p>
          <a:p>
            <a:r>
              <a:rPr lang="en-IN" sz="1080" dirty="0">
                <a:hlinkClick r:id="rId16"/>
              </a:rPr>
              <a:t>Data Engineer SQL Questions</a:t>
            </a:r>
            <a:endParaRPr lang="en-IN" sz="1080" dirty="0"/>
          </a:p>
          <a:p>
            <a:r>
              <a:rPr lang="en-IN" sz="1080" dirty="0">
                <a:hlinkClick r:id="rId17"/>
              </a:rPr>
              <a:t>Free SQL questions – </a:t>
            </a:r>
            <a:r>
              <a:rPr lang="en-IN" sz="1080" dirty="0" err="1">
                <a:hlinkClick r:id="rId17"/>
              </a:rPr>
              <a:t>LeetCode</a:t>
            </a:r>
            <a:endParaRPr lang="en-IN" sz="1080" dirty="0"/>
          </a:p>
          <a:p>
            <a:r>
              <a:rPr lang="en-US" sz="1080" dirty="0">
                <a:hlinkClick r:id="rId18"/>
              </a:rPr>
              <a:t>Joe </a:t>
            </a:r>
            <a:r>
              <a:rPr lang="en-US" sz="1080" dirty="0" err="1">
                <a:hlinkClick r:id="rId18"/>
              </a:rPr>
              <a:t>Celko</a:t>
            </a:r>
            <a:r>
              <a:rPr lang="en-US" sz="1080" dirty="0">
                <a:hlinkClick r:id="rId18"/>
              </a:rPr>
              <a:t>: books, biography, latest update</a:t>
            </a:r>
            <a:endParaRPr lang="en-US" sz="1080" dirty="0"/>
          </a:p>
          <a:p>
            <a:r>
              <a:rPr lang="en-IN" sz="1080" dirty="0">
                <a:hlinkClick r:id="rId19"/>
              </a:rPr>
              <a:t>SQL Roadmap - roadmap.sh</a:t>
            </a:r>
            <a:endParaRPr lang="en-IN" sz="1080" dirty="0"/>
          </a:p>
          <a:p>
            <a:r>
              <a:rPr lang="en-US" sz="1080" dirty="0">
                <a:hlinkClick r:id="rId20"/>
              </a:rPr>
              <a:t>Data-Analytics-Made-Easy</a:t>
            </a:r>
            <a:endParaRPr lang="en-US" sz="1080" dirty="0"/>
          </a:p>
          <a:p>
            <a:r>
              <a:rPr lang="en-IN" sz="1080" dirty="0">
                <a:hlinkClick r:id="rId21"/>
              </a:rPr>
              <a:t>Fundamentals of Data Visualization</a:t>
            </a:r>
            <a:r>
              <a:rPr lang="en-US" sz="1080" kern="0" spc="-80" dirty="0">
                <a:solidFill>
                  <a:schemeClr val="accent2"/>
                </a:solidFill>
              </a:rPr>
              <a:t> </a:t>
            </a:r>
          </a:p>
          <a:p>
            <a:pPr marL="12700" marR="5080"/>
            <a:r>
              <a:rPr lang="en-US" sz="1080" dirty="0">
                <a:hlinkClick r:id="rId22"/>
              </a:rPr>
              <a:t>Guide to Data Chart Mastery | Atlassian</a:t>
            </a:r>
            <a:endParaRPr lang="en-US" sz="1080" dirty="0">
              <a:hlinkClick r:id="rId23"/>
            </a:endParaRPr>
          </a:p>
          <a:p>
            <a:pPr marL="12700" marR="5080"/>
            <a:r>
              <a:rPr lang="en-US" sz="1080" dirty="0">
                <a:hlinkClick r:id="rId23"/>
              </a:rPr>
              <a:t>80 types of charts &amp; graphs for data visualization (with examples)</a:t>
            </a:r>
            <a:endParaRPr lang="en-US" sz="1080" dirty="0"/>
          </a:p>
          <a:p>
            <a:pPr marL="12700" marR="5080"/>
            <a:r>
              <a:rPr lang="en-IN" sz="1080" dirty="0">
                <a:hlinkClick r:id="rId24"/>
              </a:rPr>
              <a:t>The Data Visualisation Catalogue</a:t>
            </a:r>
            <a:endParaRPr lang="en-IN" sz="1080" dirty="0"/>
          </a:p>
          <a:p>
            <a:pPr marL="12700" marR="5080"/>
            <a:r>
              <a:rPr lang="en-US" sz="1080" dirty="0">
                <a:hlinkClick r:id="rId25"/>
              </a:rPr>
              <a:t>Graph Analysis and Visualization | Wiley Online Books</a:t>
            </a:r>
            <a:endParaRPr lang="en-US" sz="1080" dirty="0"/>
          </a:p>
          <a:p>
            <a:pPr marL="12700" marR="5080"/>
            <a:r>
              <a:rPr lang="en-US" sz="1080" dirty="0">
                <a:hlinkClick r:id="rId26"/>
              </a:rPr>
              <a:t>Truthful Art, The: Data, Charts, and Maps for Communication</a:t>
            </a:r>
            <a:endParaRPr lang="en-US" sz="1080" dirty="0"/>
          </a:p>
          <a:p>
            <a:pPr marL="12700" marR="5080"/>
            <a:r>
              <a:rPr lang="en-IN" sz="1080" dirty="0">
                <a:hlinkClick r:id="rId27"/>
              </a:rPr>
              <a:t>Visualizing Graph Data</a:t>
            </a:r>
            <a:endParaRPr lang="en-IN" sz="1080" dirty="0"/>
          </a:p>
          <a:p>
            <a:pPr marL="12700" marR="5080"/>
            <a:r>
              <a:rPr lang="en-US" sz="1080" dirty="0">
                <a:hlinkClick r:id="rId28"/>
              </a:rPr>
              <a:t>Geospatial Analysis - spatial and GIS analysis techniques and GIS software.</a:t>
            </a:r>
            <a:endParaRPr lang="en-US" sz="1080" dirty="0"/>
          </a:p>
          <a:p>
            <a:pPr marL="12700" marR="5080"/>
            <a:r>
              <a:rPr lang="en-IN" sz="1080" dirty="0">
                <a:hlinkClick r:id="rId29"/>
              </a:rPr>
              <a:t>Geospatial-Analysis-with-SQL</a:t>
            </a:r>
            <a:endParaRPr lang="en-US" sz="1080" dirty="0"/>
          </a:p>
          <a:p>
            <a:pPr marL="12700" marR="5080"/>
            <a:r>
              <a:rPr lang="en-US" sz="1080" dirty="0">
                <a:hlinkClick r:id="rId30"/>
              </a:rPr>
              <a:t>Learning-Geospatial-Analysis-with-Python</a:t>
            </a:r>
            <a:endParaRPr lang="en-IN" sz="1080" dirty="0"/>
          </a:p>
          <a:p>
            <a:pPr marL="12700" marR="5080"/>
            <a:r>
              <a:rPr lang="en-US" sz="1080" dirty="0">
                <a:hlinkClick r:id="rId31"/>
              </a:rPr>
              <a:t>12 Methods for Visualizing Geospatial Data on a Map | </a:t>
            </a:r>
            <a:r>
              <a:rPr lang="en-US" sz="1080" dirty="0" err="1">
                <a:hlinkClick r:id="rId31"/>
              </a:rPr>
              <a:t>SafeGraph</a:t>
            </a:r>
            <a:endParaRPr lang="en-IN" sz="1080" dirty="0"/>
          </a:p>
          <a:p>
            <a:pPr marL="12700" marR="5080"/>
            <a:r>
              <a:rPr lang="en-IN" sz="1080" dirty="0">
                <a:hlinkClick r:id="rId32"/>
              </a:rPr>
              <a:t>SQL-Data-Analysis-and-Visualization-Projects</a:t>
            </a:r>
            <a:endParaRPr lang="en-IN" sz="1080" dirty="0"/>
          </a:p>
          <a:p>
            <a:pPr marL="12700" marR="5080"/>
            <a:r>
              <a:rPr lang="en-IN" sz="1080" dirty="0">
                <a:hlinkClick r:id="rId33"/>
              </a:rPr>
              <a:t>Data Analyst Roadmap</a:t>
            </a:r>
            <a:endParaRPr lang="en-IN" sz="1080" dirty="0"/>
          </a:p>
          <a:p>
            <a:pPr marL="12700" marR="5080"/>
            <a:r>
              <a:rPr lang="en-IN" sz="1080" dirty="0" err="1">
                <a:hlinkClick r:id="rId34"/>
              </a:rPr>
              <a:t>Spatio</a:t>
            </a:r>
            <a:r>
              <a:rPr lang="en-IN" sz="1080" dirty="0">
                <a:hlinkClick r:id="rId34"/>
              </a:rPr>
              <a:t>-Temporal Graph Data Analytics</a:t>
            </a:r>
            <a:endParaRPr lang="en-IN" sz="1080" dirty="0"/>
          </a:p>
          <a:p>
            <a:pPr marL="12700" marR="5080"/>
            <a:r>
              <a:rPr lang="en-US" sz="1080" kern="0" spc="-80" dirty="0">
                <a:solidFill>
                  <a:schemeClr val="accent6"/>
                </a:solidFill>
              </a:rPr>
              <a:t>N.B – For the various Chart and Graph types in above Data Visualization resources, one can google/</a:t>
            </a:r>
            <a:r>
              <a:rPr lang="en-US" sz="1080" kern="0" spc="-80" dirty="0" err="1">
                <a:solidFill>
                  <a:schemeClr val="accent6"/>
                </a:solidFill>
              </a:rPr>
              <a:t>chatgpt</a:t>
            </a:r>
            <a:r>
              <a:rPr lang="en-US" sz="1080" kern="0" spc="-80" dirty="0">
                <a:solidFill>
                  <a:schemeClr val="accent6"/>
                </a:solidFill>
              </a:rPr>
              <a:t> for sample </a:t>
            </a:r>
            <a:r>
              <a:rPr lang="en-US" sz="1080" kern="0" spc="-80" dirty="0" err="1">
                <a:solidFill>
                  <a:schemeClr val="accent6"/>
                </a:solidFill>
              </a:rPr>
              <a:t>sql</a:t>
            </a:r>
            <a:r>
              <a:rPr lang="en-US" sz="1080" kern="0" spc="-80" dirty="0">
                <a:solidFill>
                  <a:schemeClr val="accent6"/>
                </a:solidFill>
              </a:rPr>
              <a:t> queries and understand the chart/graph.</a:t>
            </a:r>
          </a:p>
          <a:p>
            <a:pPr marL="12700" marR="5080"/>
            <a:endParaRPr lang="en-IN" sz="1600" dirty="0"/>
          </a:p>
        </p:txBody>
      </p:sp>
    </p:spTree>
    <p:extLst>
      <p:ext uri="{BB962C8B-B14F-4D97-AF65-F5344CB8AC3E}">
        <p14:creationId xmlns:p14="http://schemas.microsoft.com/office/powerpoint/2010/main" val="745461297"/>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E51DB-E210-C14F-FE56-5470EB515B6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9F49A0-52DC-5DAB-76B1-DB8C68A7B7B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BB973A-C23E-9B1E-1B10-C37CD7626B7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CF6870-94F9-C14C-39CE-97F183B057FE}"/>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9F3219-5749-418B-F1D5-6D9E0E38DC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F6B593-7FA2-3350-CD45-0FB822B048B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844FD5CF-314A-C425-4DC7-4F2A47A091B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7700222-EA3C-A472-F245-E88ED36A81F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C020C9B3-02F9-057F-A68E-C761406672D4}"/>
              </a:ext>
            </a:extLst>
          </p:cNvPr>
          <p:cNvSpPr txBox="1"/>
          <p:nvPr/>
        </p:nvSpPr>
        <p:spPr>
          <a:xfrm>
            <a:off x="138063" y="799464"/>
            <a:ext cx="8867874" cy="5221942"/>
          </a:xfrm>
          <a:prstGeom prst="rect">
            <a:avLst/>
          </a:prstGeom>
          <a:noFill/>
        </p:spPr>
        <p:txBody>
          <a:bodyPr wrap="square">
            <a:spAutoFit/>
          </a:bodyPr>
          <a:lstStyle/>
          <a:p>
            <a:pPr>
              <a:spcAft>
                <a:spcPts val="750"/>
              </a:spcAft>
            </a:pPr>
            <a:r>
              <a:rPr lang="en-US" sz="1200" b="1" kern="0" spc="-80" dirty="0">
                <a:solidFill>
                  <a:schemeClr val="accent6"/>
                </a:solidFill>
                <a:latin typeface="Lucida Sans"/>
                <a:ea typeface="+mj-ea"/>
              </a:rPr>
              <a:t>A Data Warehouse stores structured, curated data for BI and reporting, while a Data Lake holds vast amounts of raw, unstructured, semi-structured, and structured data. A Data Lakehouse combines the best of both by bringing data warehousing capabilities (like ACID transactions) to data lakes. A Data Vault is a specific modeling technique for data warehouses, while a Data Fabric is an architectural approach that provides seamless data access and management across a distributed data environment. Finally, a Data Mesh is a decentralized organizational and architectural model where data is treated as a product, owned by various domain teams. </a:t>
            </a:r>
          </a:p>
          <a:p>
            <a:pPr>
              <a:spcAft>
                <a:spcPts val="750"/>
              </a:spcAft>
            </a:pPr>
            <a:r>
              <a:rPr lang="en-US" sz="1200" b="1" kern="0" spc="-80" dirty="0">
                <a:solidFill>
                  <a:schemeClr val="accent2"/>
                </a:solidFill>
                <a:latin typeface="Lucida Sans"/>
                <a:ea typeface="+mj-ea"/>
              </a:rPr>
              <a:t>1. Data Warehouse</a:t>
            </a:r>
          </a:p>
          <a:p>
            <a:pPr>
              <a:spcAft>
                <a:spcPts val="750"/>
              </a:spcAft>
            </a:pPr>
            <a:r>
              <a:rPr lang="en-US" sz="1200" b="1" kern="0" spc="-80" dirty="0">
                <a:solidFill>
                  <a:schemeClr val="accent6"/>
                </a:solidFill>
                <a:latin typeface="Lucida Sans"/>
                <a:ea typeface="+mj-ea"/>
              </a:rPr>
              <a:t>Purpose: Optimized for BI, reporting, and analytical queries on structured, historical data. </a:t>
            </a:r>
          </a:p>
          <a:p>
            <a:pPr>
              <a:spcAft>
                <a:spcPts val="750"/>
              </a:spcAft>
            </a:pPr>
            <a:r>
              <a:rPr lang="en-US" sz="1200" b="1" kern="0" spc="-80" dirty="0">
                <a:solidFill>
                  <a:schemeClr val="accent6"/>
                </a:solidFill>
                <a:latin typeface="Lucida Sans"/>
                <a:ea typeface="+mj-ea"/>
              </a:rPr>
              <a:t>Data Type: Highly structured and curated data. </a:t>
            </a:r>
          </a:p>
          <a:p>
            <a:pPr>
              <a:spcAft>
                <a:spcPts val="750"/>
              </a:spcAft>
            </a:pPr>
            <a:r>
              <a:rPr lang="en-US" sz="1200" b="1" kern="0" spc="-80" dirty="0">
                <a:solidFill>
                  <a:schemeClr val="accent6"/>
                </a:solidFill>
                <a:latin typeface="Lucida Sans"/>
                <a:ea typeface="+mj-ea"/>
              </a:rPr>
              <a:t>Schema: Schema-on-write, meaning the structure is defined before data is loaded. </a:t>
            </a:r>
          </a:p>
          <a:p>
            <a:pPr>
              <a:spcAft>
                <a:spcPts val="750"/>
              </a:spcAft>
            </a:pPr>
            <a:r>
              <a:rPr lang="en-US" sz="1200" b="1" kern="0" spc="-80" dirty="0">
                <a:solidFill>
                  <a:schemeClr val="accent6"/>
                </a:solidFill>
                <a:latin typeface="Lucida Sans"/>
                <a:ea typeface="+mj-ea"/>
              </a:rPr>
              <a:t>Pros: Fast query performance and high data quality for specific business use cases. </a:t>
            </a:r>
          </a:p>
          <a:p>
            <a:pPr>
              <a:spcAft>
                <a:spcPts val="750"/>
              </a:spcAft>
            </a:pPr>
            <a:r>
              <a:rPr lang="en-US" sz="1200" b="1" kern="0" spc="-80" dirty="0">
                <a:solidFill>
                  <a:schemeClr val="accent2"/>
                </a:solidFill>
                <a:latin typeface="Lucida Sans"/>
                <a:ea typeface="+mj-ea"/>
              </a:rPr>
              <a:t>2. Data Lake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Stores all types of data in its raw format for exploration, data science, and future, undefined uses.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Raw, unprocessed data, including structured, semi-structured,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Schema-on-read, allowing for flexible data analysis later.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High storage volume at a lower cost, ideal for big data and AI/ML workloads. </a:t>
            </a:r>
          </a:p>
        </p:txBody>
      </p:sp>
    </p:spTree>
    <p:extLst>
      <p:ext uri="{BB962C8B-B14F-4D97-AF65-F5344CB8AC3E}">
        <p14:creationId xmlns:p14="http://schemas.microsoft.com/office/powerpoint/2010/main" val="241008366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5A72A-9AF2-9E07-9138-8CAC128CC7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D3D4D6-5FAF-C114-CB6A-1365AF91B3B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EAD323-C124-886F-AB31-1787314D9D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98309C-4977-F7E3-1391-3903678C0ACD}"/>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97E4B2D-C16A-B628-C6AF-09332292CD3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BA3FA75-287B-B157-79F0-ACB125C6DB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1DC1EB6-3C4E-F6E1-BD3A-36A18F193E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4F3CF7C-487E-F539-7DBC-0E9DF9C18BA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86B755C1-0B8E-724A-5E83-28AEC1EEB4E6}"/>
              </a:ext>
            </a:extLst>
          </p:cNvPr>
          <p:cNvSpPr txBox="1"/>
          <p:nvPr/>
        </p:nvSpPr>
        <p:spPr>
          <a:xfrm>
            <a:off x="138063" y="799464"/>
            <a:ext cx="8867874" cy="5345053"/>
          </a:xfrm>
          <a:prstGeom prst="rect">
            <a:avLst/>
          </a:prstGeom>
          <a:noFill/>
        </p:spPr>
        <p:txBody>
          <a:bodyPr wrap="square">
            <a:spAutoFit/>
          </a:bodyPr>
          <a:lstStyle/>
          <a:p>
            <a:pPr>
              <a:spcAft>
                <a:spcPts val="750"/>
              </a:spcAft>
            </a:pPr>
            <a:r>
              <a:rPr lang="en-US" sz="1200" b="1" kern="0" spc="-80" dirty="0">
                <a:solidFill>
                  <a:schemeClr val="accent2"/>
                </a:solidFill>
                <a:latin typeface="Lucida Sans"/>
                <a:ea typeface="+mj-ea"/>
              </a:rPr>
              <a:t>3. Data Lakehouse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Unifies data warehousing and data lake capabilities into a single platform.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both 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Combines schema-on-write (for structured data) and schema-on-read (for raw data).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Offers the flexibility of a data lake with the structure and advanced analytics of a data warehouse. </a:t>
            </a:r>
          </a:p>
          <a:p>
            <a:pPr>
              <a:spcAft>
                <a:spcPts val="750"/>
              </a:spcAft>
            </a:pPr>
            <a:r>
              <a:rPr lang="en-US" sz="1200" b="1" kern="0" spc="-80" dirty="0">
                <a:solidFill>
                  <a:schemeClr val="accent2"/>
                </a:solidFill>
                <a:latin typeface="Lucida Sans"/>
                <a:ea typeface="+mj-ea"/>
              </a:rPr>
              <a:t>4. Data Vault </a:t>
            </a:r>
          </a:p>
          <a:p>
            <a:pPr>
              <a:spcAft>
                <a:spcPts val="750"/>
              </a:spcAft>
            </a:pPr>
            <a:r>
              <a:rPr lang="en-US" sz="1200" b="1" kern="0" spc="-80" dirty="0">
                <a:solidFill>
                  <a:schemeClr val="accent6"/>
                </a:solidFill>
                <a:latin typeface="Lucida Sans"/>
                <a:ea typeface="+mj-ea"/>
              </a:rPr>
              <a:t>Purpose: A modeling technique to build a scalable and flexible data warehouse that captures historical data.</a:t>
            </a:r>
          </a:p>
          <a:p>
            <a:pPr>
              <a:spcAft>
                <a:spcPts val="750"/>
              </a:spcAft>
            </a:pPr>
            <a:r>
              <a:rPr lang="en-US" sz="1200" b="1" kern="0" spc="-80" dirty="0">
                <a:solidFill>
                  <a:schemeClr val="accent6"/>
                </a:solidFill>
                <a:latin typeface="Lucida Sans"/>
                <a:ea typeface="+mj-ea"/>
              </a:rPr>
              <a:t>Data Type: Primarily for structured data within a data warehousing context.</a:t>
            </a:r>
          </a:p>
          <a:p>
            <a:pPr>
              <a:spcAft>
                <a:spcPts val="750"/>
              </a:spcAft>
            </a:pPr>
            <a:r>
              <a:rPr lang="en-US" sz="1200" b="1" kern="0" spc="-80" dirty="0">
                <a:solidFill>
                  <a:schemeClr val="accent6"/>
                </a:solidFill>
                <a:latin typeface="Lucida Sans"/>
                <a:ea typeface="+mj-ea"/>
              </a:rPr>
              <a:t>Schema: Relational, but designed to handle historical changes efficiently.</a:t>
            </a:r>
          </a:p>
          <a:p>
            <a:pPr>
              <a:spcAft>
                <a:spcPts val="750"/>
              </a:spcAft>
            </a:pPr>
            <a:r>
              <a:rPr lang="en-US" sz="1200" b="1" kern="0" spc="-80" dirty="0">
                <a:solidFill>
                  <a:schemeClr val="accent6"/>
                </a:solidFill>
                <a:latin typeface="Lucida Sans"/>
                <a:ea typeface="+mj-ea"/>
              </a:rPr>
              <a:t>Pros: Provides a robust and audit-ready solution for historical data in a data warehouse.</a:t>
            </a:r>
          </a:p>
          <a:p>
            <a:pPr>
              <a:spcAft>
                <a:spcPts val="750"/>
              </a:spcAft>
            </a:pPr>
            <a:r>
              <a:rPr lang="en-US" sz="1200" b="1" kern="0" spc="-80" dirty="0">
                <a:solidFill>
                  <a:schemeClr val="accent2"/>
                </a:solidFill>
                <a:latin typeface="Lucida Sans"/>
              </a:rPr>
              <a:t>5. Data Fabric </a:t>
            </a:r>
          </a:p>
          <a:p>
            <a:pPr>
              <a:spcAft>
                <a:spcPts val="750"/>
              </a:spcAft>
            </a:pPr>
            <a:r>
              <a:rPr lang="en-US" sz="1200" b="1" kern="0" spc="-80" dirty="0">
                <a:solidFill>
                  <a:schemeClr val="accent6"/>
                </a:solidFill>
                <a:latin typeface="Lucida Sans"/>
              </a:rPr>
              <a:t>Purpose: A distributed architectural approach that provides seamless data access and management across various applications, platforms, and locations.</a:t>
            </a:r>
          </a:p>
          <a:p>
            <a:pPr>
              <a:spcAft>
                <a:spcPts val="750"/>
              </a:spcAft>
            </a:pPr>
            <a:endParaRPr lang="en-US" sz="1200" b="1" kern="0" spc="-80" dirty="0">
              <a:solidFill>
                <a:schemeClr val="accent6"/>
              </a:solidFill>
              <a:latin typeface="Lucida Sans"/>
              <a:ea typeface="+mj-ea"/>
            </a:endParaRPr>
          </a:p>
          <a:p>
            <a:pPr>
              <a:spcAft>
                <a:spcPts val="750"/>
              </a:spcAft>
            </a:pP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427620245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F6AFA-BCAA-D918-3C51-B014B25853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41920A-C22C-5188-E1C3-4B5C827CC4C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385BEF-B895-1926-9DC5-AF8FAD590B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6ED391-0A07-F75B-FF28-D930DFA98961}"/>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6D4F835-DDE8-BDBE-0443-8B77E05F18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F7D8C23-493E-A120-F0BD-86F61E6785A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E14E03E1-2A11-37FD-2D68-8B4E17B958A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D49B971-6FD9-CC49-3950-5C6460EFAEB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7202B197-1C55-BF4E-88A7-CB75289CDD8C}"/>
              </a:ext>
            </a:extLst>
          </p:cNvPr>
          <p:cNvSpPr txBox="1"/>
          <p:nvPr/>
        </p:nvSpPr>
        <p:spPr>
          <a:xfrm>
            <a:off x="138063" y="799464"/>
            <a:ext cx="8867874" cy="5032147"/>
          </a:xfrm>
          <a:prstGeom prst="rect">
            <a:avLst/>
          </a:prstGeom>
          <a:noFill/>
        </p:spPr>
        <p:txBody>
          <a:bodyPr wrap="square">
            <a:spAutoFit/>
          </a:bodyPr>
          <a:lstStyle/>
          <a:p>
            <a:pPr>
              <a:spcAft>
                <a:spcPts val="750"/>
              </a:spcAft>
            </a:pPr>
            <a:r>
              <a:rPr lang="en-US" sz="1200" b="1" kern="0" spc="-80" dirty="0">
                <a:solidFill>
                  <a:schemeClr val="accent6"/>
                </a:solidFill>
                <a:latin typeface="Lucida Sans"/>
              </a:rPr>
              <a:t>Data Type: Manages data regardless of its type or storage location.</a:t>
            </a:r>
          </a:p>
          <a:p>
            <a:pPr>
              <a:spcAft>
                <a:spcPts val="750"/>
              </a:spcAft>
            </a:pPr>
            <a:r>
              <a:rPr lang="en-US" sz="1200" b="1" kern="0" spc="-80" dirty="0">
                <a:solidFill>
                  <a:schemeClr val="accent6"/>
                </a:solidFill>
                <a:latin typeface="Lucida Sans"/>
              </a:rPr>
              <a:t>Schema: Operates across diverse data environments, enabling unified governance.</a:t>
            </a:r>
          </a:p>
          <a:p>
            <a:pPr>
              <a:spcAft>
                <a:spcPts val="750"/>
              </a:spcAft>
            </a:pPr>
            <a:r>
              <a:rPr lang="en-US" sz="1200" b="1" kern="0" spc="-80" dirty="0">
                <a:solidFill>
                  <a:schemeClr val="accent6"/>
                </a:solidFill>
                <a:latin typeface="Lucida Sans"/>
              </a:rPr>
              <a:t>Pros: Facilitates data discovery, access, and sharing in a heterogeneous data ecosystem.</a:t>
            </a:r>
          </a:p>
          <a:p>
            <a:pPr>
              <a:spcAft>
                <a:spcPts val="750"/>
              </a:spcAft>
            </a:pPr>
            <a:r>
              <a:rPr lang="en-US" sz="1200" b="1" kern="0" spc="-80" dirty="0">
                <a:solidFill>
                  <a:schemeClr val="accent2"/>
                </a:solidFill>
                <a:latin typeface="Lucida Sans"/>
                <a:ea typeface="+mj-ea"/>
              </a:rPr>
              <a:t>6. Data Mesh </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A decentralized organizational and architectural paradigm where data is treated as a product, managed by domain-specific teams.</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various data types within its decentralized data products.</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Each data product team is responsible for its data's quality and governance.</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Addresses the limitations of centralized architectures by distributing data ownership, improving accountability, and fostering agility.</a:t>
            </a:r>
          </a:p>
          <a:p>
            <a:pPr>
              <a:spcAft>
                <a:spcPts val="750"/>
              </a:spcAft>
            </a:pPr>
            <a:r>
              <a:rPr lang="en-US" sz="1700" kern="0" spc="-80" dirty="0">
                <a:solidFill>
                  <a:schemeClr val="accent2"/>
                </a:solidFill>
              </a:rPr>
              <a:t>For Further Exploration – </a:t>
            </a:r>
          </a:p>
          <a:p>
            <a:pPr>
              <a:spcAft>
                <a:spcPts val="750"/>
              </a:spcAft>
            </a:pPr>
            <a:r>
              <a:rPr lang="en-US" sz="1200" dirty="0">
                <a:hlinkClick r:id="rId7"/>
              </a:rPr>
              <a:t>Data </a:t>
            </a:r>
            <a:r>
              <a:rPr lang="en-US" sz="1200" dirty="0" err="1">
                <a:hlinkClick r:id="rId7"/>
              </a:rPr>
              <a:t>Warehouse,Data</a:t>
            </a:r>
            <a:r>
              <a:rPr lang="en-US" sz="1200" dirty="0">
                <a:hlinkClick r:id="rId7"/>
              </a:rPr>
              <a:t> </a:t>
            </a:r>
            <a:r>
              <a:rPr lang="en-US" sz="1200" dirty="0" err="1">
                <a:hlinkClick r:id="rId7"/>
              </a:rPr>
              <a:t>Lake,Lake</a:t>
            </a:r>
            <a:r>
              <a:rPr lang="en-US" sz="1200" dirty="0">
                <a:hlinkClick r:id="rId7"/>
              </a:rPr>
              <a:t> House, Data </a:t>
            </a:r>
            <a:r>
              <a:rPr lang="en-US" sz="1200" dirty="0" err="1">
                <a:hlinkClick r:id="rId7"/>
              </a:rPr>
              <a:t>Vault,Data</a:t>
            </a:r>
            <a:r>
              <a:rPr lang="en-US" sz="1200" dirty="0">
                <a:hlinkClick r:id="rId7"/>
              </a:rPr>
              <a:t> </a:t>
            </a:r>
            <a:r>
              <a:rPr lang="en-US" sz="1200" dirty="0" err="1">
                <a:hlinkClick r:id="rId7"/>
              </a:rPr>
              <a:t>Fabric,Data</a:t>
            </a:r>
            <a:r>
              <a:rPr lang="en-US" sz="1200" dirty="0">
                <a:hlinkClick r:id="rId7"/>
              </a:rPr>
              <a:t> Mesh – YouTube</a:t>
            </a:r>
            <a:endParaRPr lang="en-US" sz="1200" dirty="0"/>
          </a:p>
          <a:p>
            <a:pPr>
              <a:spcAft>
                <a:spcPts val="750"/>
              </a:spcAft>
            </a:pPr>
            <a:r>
              <a:rPr lang="en-IN" sz="1200" dirty="0">
                <a:hlinkClick r:id="rId8"/>
              </a:rPr>
              <a:t>Data Lakehouse, Data Mesh, and Data Fabric - James Serra - Data Toboggan - March 2023 – YouTube</a:t>
            </a:r>
            <a:endParaRPr lang="en-IN" sz="1200" dirty="0"/>
          </a:p>
          <a:p>
            <a:pPr>
              <a:spcAft>
                <a:spcPts val="750"/>
              </a:spcAft>
            </a:pPr>
            <a:r>
              <a:rPr lang="en-IN" sz="1200" dirty="0">
                <a:hlinkClick r:id="rId9"/>
              </a:rPr>
              <a:t>Medallion Architecture</a:t>
            </a: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36702163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25A64-0E94-A9FD-60C5-ACDDE1C6C5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9CA1C5-AD0C-04EA-5BCF-B3361FEECB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776E66-F53A-6E03-2E71-50036B6792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25099F-9B55-B4CD-8121-B9CA7C8883A5}"/>
              </a:ext>
            </a:extLst>
          </p:cNvPr>
          <p:cNvGraphicFramePr/>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85EE7E-651D-EC73-9E4D-7A2168BF508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09E15C-0405-ED04-B2F1-5B631C05EC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78957FB-2FB9-4F47-6C8B-BE460FCB596E}"/>
              </a:ext>
            </a:extLst>
          </p:cNvPr>
          <p:cNvSpPr txBox="1">
            <a:spLocks/>
          </p:cNvSpPr>
          <p:nvPr/>
        </p:nvSpPr>
        <p:spPr>
          <a:xfrm>
            <a:off x="-61862" y="666432"/>
            <a:ext cx="8915399"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Basically, for any type of (huge) Data Migration, should use E(T)L/EL(T) tools(custom-built or OSS/Free or COTS) with capabilities like -</a:t>
            </a:r>
          </a:p>
          <a:p>
            <a:pPr marL="12700" marR="5080"/>
            <a:r>
              <a:rPr lang="en-US" sz="1350" kern="0" spc="-80" dirty="0">
                <a:solidFill>
                  <a:schemeClr val="accent6"/>
                </a:solidFill>
              </a:rPr>
              <a:t>a) Good Observability</a:t>
            </a:r>
          </a:p>
          <a:p>
            <a:pPr marL="12700" marR="5080"/>
            <a:r>
              <a:rPr lang="en-US" sz="1350" kern="0" spc="-80" dirty="0">
                <a:solidFill>
                  <a:schemeClr val="accent6"/>
                </a:solidFill>
              </a:rPr>
              <a:t>b) Good Resiliency</a:t>
            </a:r>
          </a:p>
          <a:p>
            <a:pPr marL="12700" marR="5080"/>
            <a:r>
              <a:rPr lang="en-US" sz="1350" kern="0" spc="-80" dirty="0">
                <a:solidFill>
                  <a:schemeClr val="accent6"/>
                </a:solidFill>
              </a:rPr>
              <a:t>c) Good Performance</a:t>
            </a:r>
          </a:p>
          <a:p>
            <a:pPr marL="12700" marR="5080"/>
            <a:r>
              <a:rPr lang="en-US" sz="1350" kern="0" spc="-80" dirty="0">
                <a:solidFill>
                  <a:schemeClr val="accent6"/>
                </a:solidFill>
              </a:rPr>
              <a:t>d) Good (Horizontal) Scalability</a:t>
            </a:r>
          </a:p>
          <a:p>
            <a:pPr marL="12700" marR="5080"/>
            <a:r>
              <a:rPr lang="en-US" sz="1350" kern="0" spc="-80" dirty="0">
                <a:solidFill>
                  <a:schemeClr val="accent6"/>
                </a:solidFill>
              </a:rPr>
              <a:t>e) Validating correctness of source &amp; destination data(after migration), maybe using counts, hashes </a:t>
            </a:r>
            <a:r>
              <a:rPr lang="en-US" sz="1350" kern="0" spc="-80" dirty="0" err="1">
                <a:solidFill>
                  <a:schemeClr val="accent6"/>
                </a:solidFill>
              </a:rPr>
              <a:t>etc</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Although other NFRs(e.g. Security, Config driven </a:t>
            </a:r>
            <a:r>
              <a:rPr lang="en-US" sz="1350" kern="0" spc="-80" dirty="0" err="1">
                <a:solidFill>
                  <a:schemeClr val="accent6"/>
                </a:solidFill>
              </a:rPr>
              <a:t>etc</a:t>
            </a:r>
            <a:r>
              <a:rPr lang="en-US" sz="1350" kern="0" spc="-80" dirty="0">
                <a:solidFill>
                  <a:schemeClr val="accent6"/>
                </a:solidFill>
              </a:rPr>
              <a:t>) can also be important based on contextual requirements, but the above 5 NFRs are kind of bare minimum needed to be addressed in most Data Migration projects(especially, if the Data volume is huge).For Autoscaling, can take a API based approach </a:t>
            </a:r>
            <a:r>
              <a:rPr lang="en-US" sz="1350" kern="0" spc="-80" dirty="0" err="1">
                <a:solidFill>
                  <a:schemeClr val="accent6"/>
                </a:solidFill>
              </a:rPr>
              <a:t>alongwith</a:t>
            </a:r>
            <a:r>
              <a:rPr lang="en-US" sz="1350" kern="0" spc="-80" dirty="0">
                <a:solidFill>
                  <a:schemeClr val="accent6"/>
                </a:solidFill>
              </a:rPr>
              <a:t> some Background Service in the front.</a:t>
            </a:r>
          </a:p>
          <a:p>
            <a:pPr marL="12700" marR="5080"/>
            <a:endParaRPr lang="en-US" sz="1350" kern="0" spc="-80" dirty="0">
              <a:solidFill>
                <a:schemeClr val="accent6"/>
              </a:solidFill>
            </a:endParaRPr>
          </a:p>
          <a:p>
            <a:pPr marL="12700" marR="5080"/>
            <a:r>
              <a:rPr lang="en-US" sz="1350" kern="0" spc="-80" dirty="0">
                <a:solidFill>
                  <a:srgbClr val="00B050"/>
                </a:solidFill>
              </a:rPr>
              <a:t>If you want to address all the 5 NFRs above efficiently, use ADF(Azure Data Factory)[or Apache Airflow or something similar] as a start even if you start with just 10 records because in reality that turns to 10 million records sometimes. And use ADF even for data validation as well. And anyways, ADF is serverless &amp; so you need to pay only for the time you use that &amp; the data volume getting processed. Bulk Inserts(in batches if needed) approach also can be used since they are really fast but only problem is granular record level failure handling with Bulk Inserts is not possible since Bulk Inserts work in “all or none” mode. Also, sometimes you may need to use concepts like stream programming, multi-threaded/concurrent programming, multi-core/parallel programming, distributed computing/programming(mainly via [multiple] Master- Slave Architecture), </a:t>
            </a:r>
            <a:r>
              <a:rPr lang="en-US" sz="1350" kern="0" spc="-80" dirty="0" err="1">
                <a:solidFill>
                  <a:srgbClr val="00B050"/>
                </a:solidFill>
              </a:rPr>
              <a:t>alongwith</a:t>
            </a:r>
            <a:r>
              <a:rPr lang="en-US" sz="1350" kern="0" spc="-80" dirty="0">
                <a:solidFill>
                  <a:srgbClr val="00B050"/>
                </a:solidFill>
              </a:rPr>
              <a:t> Batching in some specific use cases. For Concurrency scenarios, wherein you need to execute read &amp; write operations together in an atomic way[say multiple threads read some max value &amp; then increment that value &amp; then save in DB], you can use Sequential Batch Processing(which is the simplest) or use Optimistic </a:t>
            </a:r>
            <a:r>
              <a:rPr lang="en-US" sz="1350" kern="0" spc="-80" dirty="0" err="1">
                <a:solidFill>
                  <a:srgbClr val="00B050"/>
                </a:solidFill>
              </a:rPr>
              <a:t>Concurreny</a:t>
            </a:r>
            <a:r>
              <a:rPr lang="en-US" sz="1350" kern="0" spc="-80" dirty="0">
                <a:solidFill>
                  <a:srgbClr val="00B050"/>
                </a:solidFill>
              </a:rPr>
              <a:t>[but that needs DB to be designed to have a version number or something similar] or use Pessimistic Concurrency[but that turns out to be the least performant in general].</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967AC44-8656-9F2D-4979-26561221BE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2741549-7AF6-9C25-A85B-FC4E6BBABD4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51194507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3E52F-5711-E0BF-B21B-35D3F158B1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FF76B52-9E86-68B8-178C-7E9294B8A8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DC5D4A-6362-FF04-7C41-0FA4DDF599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066828-82BE-8F6C-7118-C75C53C2112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F695630-FAD8-097C-DDFF-6848F6D8CE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4BB5713-540A-FB72-93F1-F2CF03BF73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91BA74-5FFB-CEB1-BD06-E687C486B89E}"/>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By the way, there are high chances that the source &amp; destination primary key doesn’t have any direct mapping &amp; so you may need to use some Business Functionality Specifying Column(s) of the tables based uniqueness (logic) to identify a record to migrate(insert/update) from source to destination. Schema versioning also can become important for certain Data Migrations. </a:t>
            </a:r>
          </a:p>
          <a:p>
            <a:pPr marL="12700" marR="5080"/>
            <a:r>
              <a:rPr lang="en-US" sz="1300" kern="0" spc="-80" dirty="0">
                <a:solidFill>
                  <a:schemeClr val="accent6"/>
                </a:solidFill>
              </a:rPr>
              <a:t>Also, if you have a </a:t>
            </a:r>
            <a:r>
              <a:rPr lang="en-US" sz="1300" kern="0" spc="-80" dirty="0" err="1">
                <a:solidFill>
                  <a:schemeClr val="accent6"/>
                </a:solidFill>
              </a:rPr>
              <a:t>CreatedBy</a:t>
            </a:r>
            <a:r>
              <a:rPr lang="en-US" sz="1300" kern="0" spc="-80" dirty="0">
                <a:solidFill>
                  <a:schemeClr val="accent6"/>
                </a:solidFill>
              </a:rPr>
              <a:t> Audit column in the destination table then that can turn out to be very useful w.r.t data migration since say for normal process you can set </a:t>
            </a:r>
            <a:r>
              <a:rPr lang="en-US" sz="1300" kern="0" spc="-80" dirty="0" err="1">
                <a:solidFill>
                  <a:schemeClr val="accent6"/>
                </a:solidFill>
              </a:rPr>
              <a:t>CreatedBy</a:t>
            </a:r>
            <a:r>
              <a:rPr lang="en-US" sz="1300" kern="0" spc="-80" dirty="0">
                <a:solidFill>
                  <a:schemeClr val="accent6"/>
                </a:solidFill>
              </a:rPr>
              <a:t> to “system” &amp; for data migration tasks can be set to “data migration system”(or something else that identifies the data migration task) &amp; that can ultimately help in testing.</a:t>
            </a:r>
          </a:p>
          <a:p>
            <a:pPr marL="12700" marR="5080"/>
            <a:r>
              <a:rPr lang="en-US" sz="1300" kern="0" spc="-80" dirty="0">
                <a:solidFill>
                  <a:schemeClr val="accent6"/>
                </a:solidFill>
              </a:rPr>
              <a:t>Also, deletion of source data might be needed after migration(if applicable) &amp; as part of prod release rollback plan, if something goes wrong then the whole migrated data may need deletion &amp; for that its better to check upfront that how much time </a:t>
            </a:r>
            <a:r>
              <a:rPr lang="en-US" sz="1300" kern="0" spc="-80" dirty="0" err="1">
                <a:solidFill>
                  <a:schemeClr val="accent6"/>
                </a:solidFill>
              </a:rPr>
              <a:t>atleast</a:t>
            </a:r>
            <a:r>
              <a:rPr lang="en-US" sz="1300" kern="0" spc="-80" dirty="0">
                <a:solidFill>
                  <a:schemeClr val="accent6"/>
                </a:solidFill>
              </a:rPr>
              <a:t> a small sample of the actual data size takes &amp; then extrapolate if needed.</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 – </a:t>
            </a:r>
          </a:p>
          <a:p>
            <a:pPr marL="12700" marR="5080"/>
            <a:r>
              <a:rPr lang="en-US" sz="1150" dirty="0">
                <a:hlinkClick r:id="rId7"/>
              </a:rPr>
              <a:t>The Secret Sauce of the Document Migration Process - OpenText Blogs</a:t>
            </a:r>
            <a:endParaRPr lang="en-US" sz="1150" dirty="0"/>
          </a:p>
          <a:p>
            <a:pPr marL="12700" marR="5080"/>
            <a:r>
              <a:rPr lang="en-IN" sz="1150" dirty="0">
                <a:hlinkClick r:id="rId8"/>
              </a:rPr>
              <a:t>Fluent migrations framework for .NET | </a:t>
            </a:r>
            <a:r>
              <a:rPr lang="en-IN" sz="1150" dirty="0" err="1">
                <a:hlinkClick r:id="rId8"/>
              </a:rPr>
              <a:t>FluentMigrator</a:t>
            </a:r>
            <a:r>
              <a:rPr lang="en-IN" sz="1150" dirty="0">
                <a:hlinkClick r:id="rId8"/>
              </a:rPr>
              <a:t> documentation</a:t>
            </a:r>
            <a:endParaRPr lang="en-IN" sz="1150" dirty="0"/>
          </a:p>
          <a:p>
            <a:pPr marL="12700" marR="5080"/>
            <a:r>
              <a:rPr lang="en-US" sz="1150" dirty="0">
                <a:hlinkClick r:id="rId9"/>
              </a:rPr>
              <a:t>How to Build ETL Processes Using Azure Data Factory</a:t>
            </a:r>
            <a:endParaRPr lang="en-US" sz="1150" dirty="0"/>
          </a:p>
          <a:p>
            <a:pPr marL="12700" marR="5080"/>
            <a:r>
              <a:rPr lang="en-US" sz="1150" dirty="0">
                <a:hlinkClick r:id="rId10"/>
              </a:rPr>
              <a:t>Azure-Data-Factory-Cookbook-Second-Edition: Azure Data Factory </a:t>
            </a:r>
            <a:r>
              <a:rPr lang="en-US" sz="1150" dirty="0" err="1">
                <a:hlinkClick r:id="rId10"/>
              </a:rPr>
              <a:t>Cookbook_Second</a:t>
            </a:r>
            <a:r>
              <a:rPr lang="en-US" sz="1150" dirty="0">
                <a:hlinkClick r:id="rId10"/>
              </a:rPr>
              <a:t> Edition, published by </a:t>
            </a:r>
            <a:r>
              <a:rPr lang="en-US" sz="1150" dirty="0" err="1">
                <a:hlinkClick r:id="rId10"/>
              </a:rPr>
              <a:t>Packt</a:t>
            </a:r>
            <a:endParaRPr lang="en-US" sz="1150" dirty="0"/>
          </a:p>
          <a:p>
            <a:pPr marL="12700" marR="5080"/>
            <a:r>
              <a:rPr lang="en-US" sz="1150" dirty="0">
                <a:hlinkClick r:id="rId11"/>
              </a:rPr>
              <a:t>Azure-Data-Factory-by-Example: Source Code for 'Azure Data Factory' by Example by Richard </a:t>
            </a:r>
            <a:r>
              <a:rPr lang="en-US" sz="1150" dirty="0" err="1">
                <a:hlinkClick r:id="rId11"/>
              </a:rPr>
              <a:t>Swinbank</a:t>
            </a:r>
            <a:endParaRPr lang="en-US" sz="1150" dirty="0"/>
          </a:p>
          <a:p>
            <a:pPr marL="12700" marR="5080"/>
            <a:r>
              <a:rPr lang="en-IN" sz="1150" dirty="0">
                <a:hlinkClick r:id="rId12"/>
              </a:rPr>
              <a:t>Understanding-Azure-Data-Factory</a:t>
            </a:r>
            <a:endParaRPr lang="en-IN" sz="1150" dirty="0"/>
          </a:p>
          <a:p>
            <a:pPr marL="12700" marR="5080"/>
            <a:r>
              <a:rPr lang="en-US" sz="1150" dirty="0">
                <a:hlinkClick r:id="rId13"/>
              </a:rPr>
              <a:t>Map-Data-Flows-in-Azure-Data-Factory</a:t>
            </a:r>
            <a:endParaRPr lang="en-US" sz="1150" dirty="0"/>
          </a:p>
          <a:p>
            <a:pPr marL="12700" marR="5080"/>
            <a:r>
              <a:rPr lang="en-IN" sz="1150" dirty="0">
                <a:hlinkClick r:id="rId14"/>
              </a:rPr>
              <a:t>Azure Data Factory Documentation - Azure Data Factory | Microsoft Learn</a:t>
            </a:r>
            <a:r>
              <a:rPr lang="en-US" sz="1150" kern="0" spc="-80" dirty="0">
                <a:solidFill>
                  <a:schemeClr val="accent6"/>
                </a:solidFill>
              </a:rPr>
              <a:t> (mainly check Copy, Web Activity &amp; Triggers)</a:t>
            </a:r>
          </a:p>
          <a:p>
            <a:pPr marL="12700" marR="5080"/>
            <a:r>
              <a:rPr lang="en-US" sz="1150" dirty="0">
                <a:hlinkClick r:id="rId15"/>
              </a:rPr>
              <a:t>Copy activity performance and scalability guide - Azure Data Factory &amp; Azure Synapse | Microsoft Learn</a:t>
            </a:r>
            <a:endParaRPr lang="en-US" sz="1150" dirty="0"/>
          </a:p>
          <a:p>
            <a:pPr marL="12700" marR="5080"/>
            <a:r>
              <a:rPr lang="en-US" sz="1150" dirty="0">
                <a:hlinkClick r:id="rId16"/>
              </a:rPr>
              <a:t>Azure data transfer options for large datasets, moderate to high network bandwidth | Microsoft Learn</a:t>
            </a:r>
            <a:endParaRPr lang="en-US" sz="1150" dirty="0"/>
          </a:p>
          <a:p>
            <a:pPr marL="12700" marR="5080"/>
            <a:r>
              <a:rPr lang="en-IN" sz="1150" dirty="0">
                <a:hlinkClick r:id="rId17"/>
              </a:rPr>
              <a:t>Azure Storage migration guide | Microsoft Learn</a:t>
            </a:r>
            <a:endParaRPr lang="en-IN" sz="1150" dirty="0"/>
          </a:p>
          <a:p>
            <a:pPr marL="12700" marR="5080"/>
            <a:r>
              <a:rPr lang="en-US" sz="1150" dirty="0">
                <a:hlinkClick r:id="rId18"/>
              </a:rPr>
              <a:t>Secure File Transfer Service - AWS Transfer Family </a:t>
            </a:r>
            <a:r>
              <a:rPr lang="en-US" sz="1150" dirty="0">
                <a:hlinkClick r:id="rId19"/>
              </a:rPr>
              <a:t>–</a:t>
            </a:r>
            <a:r>
              <a:rPr lang="en-US" sz="1150" dirty="0">
                <a:hlinkClick r:id="rId18"/>
              </a:rPr>
              <a:t> AWS</a:t>
            </a:r>
            <a:endParaRPr lang="en-US" sz="1150" dirty="0"/>
          </a:p>
          <a:p>
            <a:pPr marL="12700" marR="5080"/>
            <a:r>
              <a:rPr lang="en-US" sz="1150" dirty="0">
                <a:hlinkClick r:id="rId19"/>
              </a:rPr>
              <a:t>The Essential Guide to Database Backup: Tips &amp; Strategies | Metis</a:t>
            </a:r>
            <a:endParaRPr lang="en-US" sz="1150" dirty="0"/>
          </a:p>
          <a:p>
            <a:pPr marL="12700" marR="5080"/>
            <a:r>
              <a:rPr lang="en-US" sz="1150" dirty="0">
                <a:hlinkClick r:id="rId20"/>
              </a:rPr>
              <a:t>Back Up and Restore of SQL Server Databases - SQL Server | Microsoft Learn</a:t>
            </a:r>
            <a:endParaRPr lang="en-US" sz="1150" dirty="0"/>
          </a:p>
          <a:p>
            <a:pPr marL="12700" marR="5080"/>
            <a:r>
              <a:rPr lang="en-US" sz="1150" dirty="0">
                <a:hlinkClick r:id="rId21"/>
              </a:rPr>
              <a:t>Practical Data Migration</a:t>
            </a:r>
            <a:endParaRPr lang="en-US" sz="1150" kern="0" spc="-80" dirty="0">
              <a:solidFill>
                <a:schemeClr val="accent6"/>
              </a:solidFill>
              <a:hlinkClick r:id="rId22"/>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92A1B6F-CB68-3C2B-0955-40A2ECF9AC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810B110-B28D-406D-A5CC-8DA1F8578FE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92601485"/>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EC81E-8A7C-D4D1-2398-526E739164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324EDF-D33D-6D71-52EA-90BB5697179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413AC68-2B2D-BF1B-2DC7-2BBF8D39C9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99CF28-219A-9505-FC07-FBCE2E9E88B9}"/>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03A36-CB42-1558-9F7D-DBFC45905D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E3634A-D384-5F14-E130-1FC3B3162E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C77223-9D7F-2061-4C96-C800F8EB9975}"/>
              </a:ext>
            </a:extLst>
          </p:cNvPr>
          <p:cNvSpPr txBox="1">
            <a:spLocks/>
          </p:cNvSpPr>
          <p:nvPr/>
        </p:nvSpPr>
        <p:spPr>
          <a:xfrm>
            <a:off x="-7862" y="762000"/>
            <a:ext cx="8915399"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Data consolidation is the process of gathering data from multiple sources and combining it into a single(or less number of DBs/Tables/Schemas </a:t>
            </a:r>
            <a:r>
              <a:rPr lang="en-US" sz="1300" kern="0" spc="-80" dirty="0" err="1">
                <a:solidFill>
                  <a:schemeClr val="accent6"/>
                </a:solidFill>
              </a:rPr>
              <a:t>etc</a:t>
            </a:r>
            <a:r>
              <a:rPr lang="en-US" sz="1300" kern="0" spc="-80" dirty="0">
                <a:solidFill>
                  <a:schemeClr val="accent6"/>
                </a:solidFill>
              </a:rPr>
              <a:t> compared to earlier state), unified location, such as a data warehouse or data lake. This unified view helps break down data silos, improves data consistency, and provides a single source of truth for reporting, analytics, and decision-making.  </a:t>
            </a:r>
          </a:p>
          <a:p>
            <a:pPr marL="12700" marR="5080"/>
            <a:r>
              <a:rPr lang="en-US" sz="1300" kern="0" spc="-80" dirty="0">
                <a:solidFill>
                  <a:schemeClr val="accent2"/>
                </a:solidFill>
              </a:rPr>
              <a:t>Key aspects of data consolidation</a:t>
            </a:r>
          </a:p>
          <a:p>
            <a:pPr marL="12700" marR="5080"/>
            <a:r>
              <a:rPr lang="en-US" sz="1300" kern="0" spc="-80" dirty="0">
                <a:solidFill>
                  <a:schemeClr val="accent2"/>
                </a:solidFill>
              </a:rPr>
              <a:t>Combines disparate sources: </a:t>
            </a:r>
            <a:r>
              <a:rPr lang="en-US" sz="1300" kern="0" spc="-80" dirty="0">
                <a:solidFill>
                  <a:schemeClr val="accent6"/>
                </a:solidFill>
              </a:rPr>
              <a:t>It integrates data from various systems like applications, databases, and online platforms into one central repository. </a:t>
            </a:r>
          </a:p>
          <a:p>
            <a:pPr marL="12700" marR="5080"/>
            <a:r>
              <a:rPr lang="en-US" sz="1300" kern="0" spc="-80" dirty="0">
                <a:solidFill>
                  <a:schemeClr val="accent2"/>
                </a:solidFill>
              </a:rPr>
              <a:t>Creates a unified view:</a:t>
            </a:r>
            <a:r>
              <a:rPr lang="en-US" sz="1300" kern="0" spc="-80" dirty="0">
                <a:solidFill>
                  <a:schemeClr val="accent6"/>
                </a:solidFill>
              </a:rPr>
              <a:t> By combining and standardizing the data, it provides a comprehensive overview of information, such as a retailer combining sales data from physical stores and its online platform. </a:t>
            </a:r>
          </a:p>
          <a:p>
            <a:pPr marL="12700" marR="5080"/>
            <a:r>
              <a:rPr lang="en-US" sz="1300" kern="0" spc="-80" dirty="0">
                <a:solidFill>
                  <a:schemeClr val="accent2"/>
                </a:solidFill>
              </a:rPr>
              <a:t>Supports analytics and reporting: </a:t>
            </a:r>
            <a:r>
              <a:rPr lang="en-US" sz="1300" kern="0" spc="-80" dirty="0">
                <a:solidFill>
                  <a:schemeClr val="accent6"/>
                </a:solidFill>
              </a:rPr>
              <a:t>Consolidated data is easier to analyze, enabling better business intelligence, forecasting, and strategic decision-making. </a:t>
            </a:r>
          </a:p>
          <a:p>
            <a:pPr marL="12700" marR="5080"/>
            <a:r>
              <a:rPr lang="en-US" sz="1300" kern="0" spc="-80" dirty="0">
                <a:solidFill>
                  <a:schemeClr val="accent2"/>
                </a:solidFill>
              </a:rPr>
              <a:t>Uses various techniques: </a:t>
            </a:r>
            <a:r>
              <a:rPr lang="en-US" sz="1300" kern="0" spc="-80" dirty="0">
                <a:solidFill>
                  <a:schemeClr val="accent6"/>
                </a:solidFill>
              </a:rPr>
              <a:t>Common methods include ETL (Extract, Transform, Load) or ELT processes to ingest, clean, and store the data. </a:t>
            </a:r>
          </a:p>
          <a:p>
            <a:pPr marL="12700" marR="5080"/>
            <a:r>
              <a:rPr lang="en-US" sz="1300" kern="0" spc="-80" dirty="0">
                <a:solidFill>
                  <a:schemeClr val="accent2"/>
                </a:solidFill>
              </a:rPr>
              <a:t>Improves data governance:</a:t>
            </a:r>
            <a:r>
              <a:rPr lang="en-US" sz="1300" kern="0" spc="-80" dirty="0">
                <a:solidFill>
                  <a:schemeClr val="accent6"/>
                </a:solidFill>
              </a:rPr>
              <a:t> By centralizing data, organizations can better manage its security, integrity, and consistency. </a:t>
            </a:r>
          </a:p>
          <a:p>
            <a:pPr marL="12700" marR="5080"/>
            <a:r>
              <a:rPr lang="en-US" sz="1300" kern="0" spc="-80" dirty="0">
                <a:solidFill>
                  <a:schemeClr val="accent2"/>
                </a:solidFill>
              </a:rPr>
              <a:t>Benefits of data consolidation</a:t>
            </a:r>
          </a:p>
          <a:p>
            <a:pPr marL="12700" marR="5080"/>
            <a:r>
              <a:rPr lang="en-US" sz="1300" kern="0" spc="-80" dirty="0">
                <a:solidFill>
                  <a:schemeClr val="accent2"/>
                </a:solidFill>
              </a:rPr>
              <a:t>Better decision-making: </a:t>
            </a:r>
            <a:r>
              <a:rPr lang="en-US" sz="1300" kern="0" spc="-80" dirty="0">
                <a:solidFill>
                  <a:schemeClr val="accent6"/>
                </a:solidFill>
              </a:rPr>
              <a:t>A single source of truth leads to more informed and strategic choices. </a:t>
            </a:r>
          </a:p>
          <a:p>
            <a:pPr marL="12700" marR="5080"/>
            <a:r>
              <a:rPr lang="en-US" sz="1300" kern="0" spc="-80" dirty="0">
                <a:solidFill>
                  <a:schemeClr val="accent2"/>
                </a:solidFill>
              </a:rPr>
              <a:t>Increased operational efficiency:</a:t>
            </a:r>
            <a:r>
              <a:rPr lang="en-US" sz="1300" kern="0" spc="-80" dirty="0">
                <a:solidFill>
                  <a:schemeClr val="accent6"/>
                </a:solidFill>
              </a:rPr>
              <a:t> Streamlines data management and reduces the time spent on reconciling inconsistent data from different sources. </a:t>
            </a:r>
          </a:p>
          <a:p>
            <a:pPr marL="12700" marR="5080"/>
            <a:r>
              <a:rPr lang="en-US" sz="1300" kern="0" spc="-80" dirty="0">
                <a:solidFill>
                  <a:schemeClr val="accent2"/>
                </a:solidFill>
              </a:rPr>
              <a:t>Enhanced data accuracy and consistency: </a:t>
            </a:r>
            <a:r>
              <a:rPr lang="en-US" sz="1300" kern="0" spc="-80" dirty="0">
                <a:solidFill>
                  <a:schemeClr val="accent6"/>
                </a:solidFill>
              </a:rPr>
              <a:t>Centralizing data helps minimize redundancy and ensures information is standardized. </a:t>
            </a:r>
          </a:p>
          <a:p>
            <a:pPr marL="12700" marR="5080"/>
            <a:r>
              <a:rPr lang="en-US" sz="1300" kern="0" spc="-80" dirty="0">
                <a:solidFill>
                  <a:schemeClr val="accent2"/>
                </a:solidFill>
              </a:rPr>
              <a:t>Improved data accessibility:</a:t>
            </a:r>
            <a:r>
              <a:rPr lang="en-US" sz="1300" kern="0" spc="-80" dirty="0">
                <a:solidFill>
                  <a:schemeClr val="accent6"/>
                </a:solidFill>
              </a:rPr>
              <a:t> Provides a single point of access for users across different departments. </a:t>
            </a:r>
          </a:p>
          <a:p>
            <a:pPr marL="12700" marR="5080"/>
            <a:endParaRPr lang="en-US" sz="1300" kern="0" spc="-80" dirty="0">
              <a:solidFill>
                <a:schemeClr val="accent6"/>
              </a:solidFill>
            </a:endParaRPr>
          </a:p>
          <a:p>
            <a:pPr marL="12700" marR="5080"/>
            <a:r>
              <a:rPr lang="en-US" sz="1300" kern="0" spc="-80" dirty="0">
                <a:solidFill>
                  <a:schemeClr val="accent2"/>
                </a:solidFill>
              </a:rPr>
              <a:t>Techniques</a:t>
            </a:r>
          </a:p>
          <a:p>
            <a:pPr marL="12700" marR="5080"/>
            <a:r>
              <a:rPr lang="en-US" sz="1300" kern="0" spc="-80" dirty="0">
                <a:solidFill>
                  <a:schemeClr val="accent6"/>
                </a:solidFill>
              </a:rPr>
              <a:t>You can consolidate data by position or category, especially using spreadsheet tools like Microsoft Excel. Other methods include using ETL tools for complex processes or hand-coding for highly customized solutions. </a:t>
            </a:r>
          </a:p>
        </p:txBody>
      </p:sp>
      <p:sp>
        <p:nvSpPr>
          <p:cNvPr id="8" name="AutoShape 2" descr="SQL vs NoSQL vs NewSQL. Adapting to the changing requirements… | by Gangani  Chamika | Medium">
            <a:extLst>
              <a:ext uri="{FF2B5EF4-FFF2-40B4-BE49-F238E27FC236}">
                <a16:creationId xmlns:a16="http://schemas.microsoft.com/office/drawing/2014/main" id="{074EA2C2-9505-23CF-6BAA-0C837F1382C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17A42F-B269-167B-6CAF-A997921D74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768127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C9AC1-BDE6-782C-CB1C-45C0C838EF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2C9089-0EBE-556E-8515-9E5888BE9F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C76BDA-D981-BEEA-FAD1-3380981AFC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88E01C-F3D3-09DC-BEDB-CDB24D0A436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0E5D8D-E2AD-2709-FD02-D36214AF1A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AD931D-5B96-0503-CF76-D8336B2BBD7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A3D120-6376-8140-19FD-8AF8AA3FAEBD}"/>
              </a:ext>
            </a:extLst>
          </p:cNvPr>
          <p:cNvSpPr txBox="1">
            <a:spLocks/>
          </p:cNvSpPr>
          <p:nvPr/>
        </p:nvSpPr>
        <p:spPr>
          <a:xfrm>
            <a:off x="-7862" y="762000"/>
            <a:ext cx="8915399" cy="30315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Spreadsheet software consolidation (like Excel) </a:t>
            </a:r>
          </a:p>
          <a:p>
            <a:pPr marL="12700" marR="5080"/>
            <a:r>
              <a:rPr lang="en-US" sz="1300" kern="0" spc="-80" dirty="0">
                <a:solidFill>
                  <a:schemeClr val="accent2"/>
                </a:solidFill>
              </a:rPr>
              <a:t>By position: </a:t>
            </a:r>
            <a:r>
              <a:rPr lang="en-US" sz="1300" kern="0" spc="-80" dirty="0">
                <a:solidFill>
                  <a:schemeClr val="accent6"/>
                </a:solidFill>
              </a:rPr>
              <a:t>Combine data from multiple worksheets that have the same layout and labels in the same order.</a:t>
            </a:r>
          </a:p>
          <a:p>
            <a:pPr marL="12700" marR="5080"/>
            <a:r>
              <a:rPr lang="en-US" sz="1300" kern="0" spc="-80" dirty="0">
                <a:solidFill>
                  <a:schemeClr val="accent2"/>
                </a:solidFill>
              </a:rPr>
              <a:t>By category:</a:t>
            </a:r>
            <a:r>
              <a:rPr lang="en-US" sz="1300" kern="0" spc="-80" dirty="0">
                <a:solidFill>
                  <a:schemeClr val="accent6"/>
                </a:solidFill>
              </a:rPr>
              <a:t> Combine data from worksheets that may have different layouts but share the same labels (e.g., "Sales" or "Revenue"). This is similar to a PivotTable, as shown in this Microsoft Support article. </a:t>
            </a:r>
          </a:p>
          <a:p>
            <a:pPr marL="12700" marR="5080"/>
            <a:r>
              <a:rPr lang="en-US" sz="1300" kern="0" spc="-80" dirty="0">
                <a:solidFill>
                  <a:schemeClr val="accent2"/>
                </a:solidFill>
              </a:rPr>
              <a:t>Data warehousing and business intelligence </a:t>
            </a:r>
          </a:p>
          <a:p>
            <a:pPr marL="12700" marR="5080"/>
            <a:r>
              <a:rPr lang="en-US" sz="1300" kern="0" spc="-80" dirty="0">
                <a:solidFill>
                  <a:schemeClr val="accent6"/>
                </a:solidFill>
              </a:rPr>
              <a:t>ETL (Extract, Transform, Load) tools: Use specialized tools to extract data from various sources, transform it into a standardized format, and then load it into a central repository like a data warehouse for analysis. This is best for batch processing and historical data. </a:t>
            </a:r>
          </a:p>
          <a:p>
            <a:pPr marL="12700" marR="5080"/>
            <a:r>
              <a:rPr lang="en-US" sz="1300" kern="0" spc="-80" dirty="0">
                <a:solidFill>
                  <a:schemeClr val="accent2"/>
                </a:solidFill>
              </a:rPr>
              <a:t>Custom solutions</a:t>
            </a:r>
          </a:p>
          <a:p>
            <a:pPr marL="12700" marR="5080"/>
            <a:r>
              <a:rPr lang="en-US" sz="1300" kern="0" spc="-80" dirty="0">
                <a:solidFill>
                  <a:schemeClr val="accent2"/>
                </a:solidFill>
              </a:rPr>
              <a:t>Hand-coding: </a:t>
            </a:r>
            <a:r>
              <a:rPr lang="en-US" sz="1300" kern="0" spc="-80" dirty="0">
                <a:solidFill>
                  <a:schemeClr val="accent6"/>
                </a:solidFill>
              </a:rPr>
              <a:t>Write custom scripts to extract, transform, and load data. This method offers high customization but requires technical expertise. </a:t>
            </a:r>
          </a:p>
          <a:p>
            <a:pPr marL="12700" marR="5080"/>
            <a:endParaRPr lang="en-US" sz="1300" kern="0" spc="-80" dirty="0">
              <a:solidFill>
                <a:schemeClr val="accent6"/>
              </a:solidFill>
            </a:endParaRPr>
          </a:p>
          <a:p>
            <a:pPr marL="12700" marR="5080"/>
            <a:r>
              <a:rPr lang="en-US" sz="1300" kern="0" spc="-80" dirty="0">
                <a:solidFill>
                  <a:schemeClr val="accent2"/>
                </a:solidFill>
              </a:rPr>
              <a:t>For Further Exploration</a:t>
            </a:r>
          </a:p>
          <a:p>
            <a:pPr marL="12700" marR="5080"/>
            <a:r>
              <a:rPr lang="en-IN" sz="1400" dirty="0">
                <a:hlinkClick r:id="rId7"/>
              </a:rPr>
              <a:t>What Is Data Consolidation? Process, Techniques &amp; Types | </a:t>
            </a:r>
            <a:r>
              <a:rPr lang="en-IN" sz="1400" dirty="0" err="1">
                <a:hlinkClick r:id="rId7"/>
              </a:rPr>
              <a:t>Rivery</a:t>
            </a:r>
            <a:r>
              <a:rPr lang="en-IN" sz="1400" dirty="0"/>
              <a:t>  </a:t>
            </a:r>
          </a:p>
          <a:p>
            <a:pPr marL="12700" marR="5080"/>
            <a:r>
              <a:rPr lang="en-IN" sz="1400" dirty="0">
                <a:hlinkClick r:id="rId8"/>
              </a:rPr>
              <a:t>Data Consolidation Techniques | LinkedIn</a:t>
            </a:r>
            <a:endParaRPr lang="en-US" sz="13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2D7916F-E40E-BC0A-61BF-4158066A5F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4FC5324-DBA1-BE30-EA40-805F85B7E02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9109206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3D63E-58A8-F06A-8DBD-2C70981258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899F5B-E40C-DA28-D060-A166B52B00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680335A-D790-B9C9-01D6-F6472D6867B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78CEA9-EA70-4D09-CBF2-E8ECA68B8B21}"/>
              </a:ext>
            </a:extLst>
          </p:cNvPr>
          <p:cNvGraphicFramePr/>
          <p:nvPr/>
        </p:nvGraphicFramePr>
        <p:xfrm>
          <a:off x="0" y="34425"/>
          <a:ext cx="89916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CFB177-FEF5-6D34-858F-F1A48A5EC66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4F3AEA-316A-12FB-EE91-95D7555AB33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13D4AA8-29BB-A41B-8749-1DCEBE8B61C6}"/>
              </a:ext>
            </a:extLst>
          </p:cNvPr>
          <p:cNvSpPr txBox="1">
            <a:spLocks/>
          </p:cNvSpPr>
          <p:nvPr/>
        </p:nvSpPr>
        <p:spPr>
          <a:xfrm>
            <a:off x="-7862" y="762000"/>
            <a:ext cx="8915399" cy="64556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600" kern="0" spc="-80" dirty="0">
                <a:solidFill>
                  <a:schemeClr val="accent6"/>
                </a:solidFill>
              </a:rPr>
              <a:t>a) </a:t>
            </a:r>
            <a:r>
              <a:rPr lang="en-US" sz="1600" kern="0" spc="-80" dirty="0">
                <a:solidFill>
                  <a:schemeClr val="accent2"/>
                </a:solidFill>
              </a:rPr>
              <a:t>Value</a:t>
            </a:r>
            <a:r>
              <a:rPr lang="en-US" sz="1600" kern="0" spc="-80" dirty="0">
                <a:solidFill>
                  <a:schemeClr val="accent6"/>
                </a:solidFill>
              </a:rPr>
              <a:t> - Doing all the below 5 Vs of Big Data(&amp; all the relevant processes of Big Data), what value does that contribute to the </a:t>
            </a:r>
            <a:r>
              <a:rPr lang="en-US" sz="1600" kern="0" spc="-80" dirty="0" err="1">
                <a:solidFill>
                  <a:schemeClr val="accent6"/>
                </a:solidFill>
              </a:rPr>
              <a:t>Organisation</a:t>
            </a:r>
            <a:r>
              <a:rPr lang="en-US" sz="1600" kern="0" spc="-80" dirty="0">
                <a:solidFill>
                  <a:schemeClr val="accent6"/>
                </a:solidFill>
              </a:rPr>
              <a:t>? Why we are doing all these &amp; why now? </a:t>
            </a:r>
          </a:p>
          <a:p>
            <a:pPr marL="12700" marR="5080"/>
            <a:r>
              <a:rPr lang="en-US" sz="1600" kern="0" spc="-80" dirty="0">
                <a:solidFill>
                  <a:schemeClr val="accent6"/>
                </a:solidFill>
              </a:rPr>
              <a:t>b) </a:t>
            </a:r>
            <a:r>
              <a:rPr lang="en-US" sz="1600" kern="0" spc="-80" dirty="0">
                <a:solidFill>
                  <a:schemeClr val="accent2"/>
                </a:solidFill>
              </a:rPr>
              <a:t>Volume</a:t>
            </a:r>
            <a:r>
              <a:rPr lang="en-US" sz="1600" kern="0" spc="-80" dirty="0">
                <a:solidFill>
                  <a:schemeClr val="accent6"/>
                </a:solidFill>
              </a:rPr>
              <a:t> - Based on existing(&amp; YoY growth) volume, may need to decide the storage, compute infra e.g. to use single-machine/(Multi) Cluster of CPU or GPU or some Quantum Compute machine or some device(s). </a:t>
            </a:r>
          </a:p>
          <a:p>
            <a:pPr marL="12700" marR="5080"/>
            <a:r>
              <a:rPr lang="en-US" sz="1600" kern="0" spc="-80" dirty="0">
                <a:solidFill>
                  <a:schemeClr val="accent6"/>
                </a:solidFill>
              </a:rPr>
              <a:t>c) </a:t>
            </a:r>
            <a:r>
              <a:rPr lang="en-US" sz="1600" kern="0" spc="-80" dirty="0">
                <a:solidFill>
                  <a:schemeClr val="accent2"/>
                </a:solidFill>
              </a:rPr>
              <a:t>Velocity</a:t>
            </a:r>
            <a:r>
              <a:rPr lang="en-US" sz="1600" kern="0" spc="-80" dirty="0">
                <a:solidFill>
                  <a:schemeClr val="accent6"/>
                </a:solidFill>
              </a:rPr>
              <a:t> - how fast do you need to process the data at each step? What if multiple streaming sources are there? How do you handle delivery time mis-match between multiple sources? Need to implement some Backfilling strategy? Do you need a CEP(Complex Events Processing) solution? </a:t>
            </a:r>
          </a:p>
          <a:p>
            <a:pPr marL="12700" marR="5080"/>
            <a:r>
              <a:rPr lang="en-US" sz="1600" kern="0" spc="-80" dirty="0">
                <a:solidFill>
                  <a:schemeClr val="accent6"/>
                </a:solidFill>
              </a:rPr>
              <a:t>d) </a:t>
            </a:r>
            <a:r>
              <a:rPr lang="en-US" sz="1600" kern="0" spc="-80" dirty="0">
                <a:solidFill>
                  <a:schemeClr val="accent2"/>
                </a:solidFill>
              </a:rPr>
              <a:t>Variety</a:t>
            </a:r>
            <a:r>
              <a:rPr lang="en-US" sz="1600" kern="0" spc="-80" dirty="0">
                <a:solidFill>
                  <a:schemeClr val="accent6"/>
                </a:solidFill>
              </a:rPr>
              <a:t> - what various types of data(row or column oriented data formats) needs to be supported? </a:t>
            </a:r>
            <a:r>
              <a:rPr lang="en-US" sz="1600" kern="0" spc="-80" dirty="0" err="1">
                <a:solidFill>
                  <a:schemeClr val="accent6"/>
                </a:solidFill>
              </a:rPr>
              <a:t>e.g</a:t>
            </a:r>
            <a:r>
              <a:rPr lang="en-US" sz="1600" kern="0" spc="-80" dirty="0">
                <a:solidFill>
                  <a:schemeClr val="accent6"/>
                </a:solidFill>
              </a:rPr>
              <a:t> Json, CSV, Parquet, ORC or Aveo or Thrift </a:t>
            </a:r>
            <a:r>
              <a:rPr lang="en-US" sz="1600" kern="0" spc="-80" dirty="0" err="1">
                <a:solidFill>
                  <a:schemeClr val="accent6"/>
                </a:solidFill>
              </a:rPr>
              <a:t>etc.Consider</a:t>
            </a:r>
            <a:r>
              <a:rPr lang="en-US" sz="1600" kern="0" spc="-80" dirty="0">
                <a:solidFill>
                  <a:schemeClr val="accent6"/>
                </a:solidFill>
              </a:rPr>
              <a:t> both input &amp; output data types. </a:t>
            </a:r>
          </a:p>
          <a:p>
            <a:pPr marL="12700" marR="5080"/>
            <a:r>
              <a:rPr lang="en-US" sz="1600" kern="0" spc="-80" dirty="0">
                <a:solidFill>
                  <a:schemeClr val="accent6"/>
                </a:solidFill>
              </a:rPr>
              <a:t>e) </a:t>
            </a:r>
            <a:r>
              <a:rPr lang="en-US" sz="1600" kern="0" spc="-80" dirty="0">
                <a:solidFill>
                  <a:schemeClr val="accent2"/>
                </a:solidFill>
              </a:rPr>
              <a:t>Variability-</a:t>
            </a:r>
            <a:r>
              <a:rPr lang="en-US" sz="1600" kern="0" spc="-80" dirty="0">
                <a:solidFill>
                  <a:schemeClr val="accent6"/>
                </a:solidFill>
              </a:rPr>
              <a:t> How often does the schema of each Data Type change? What’s the plan of action if the schema changes? </a:t>
            </a:r>
          </a:p>
          <a:p>
            <a:pPr marL="12700" marR="5080"/>
            <a:r>
              <a:rPr lang="en-US" sz="1600" kern="0" spc="-80" dirty="0">
                <a:solidFill>
                  <a:schemeClr val="accent6"/>
                </a:solidFill>
              </a:rPr>
              <a:t>f) </a:t>
            </a:r>
            <a:r>
              <a:rPr lang="en-US" sz="1600" kern="0" spc="-80" dirty="0">
                <a:solidFill>
                  <a:schemeClr val="accent2"/>
                </a:solidFill>
              </a:rPr>
              <a:t>Veracity</a:t>
            </a:r>
            <a:r>
              <a:rPr lang="en-US" sz="1600" kern="0" spc="-80" dirty="0">
                <a:solidFill>
                  <a:schemeClr val="accent6"/>
                </a:solidFill>
              </a:rPr>
              <a:t> - That’s the data quality aspect. If the data doesn’t meet all the data quality standards, discard(or somehow correct) the data.</a:t>
            </a:r>
          </a:p>
          <a:p>
            <a:pPr marL="12700" marR="5080"/>
            <a:endParaRPr lang="en-US" sz="1600" kern="0" spc="-80" dirty="0">
              <a:solidFill>
                <a:schemeClr val="accent6"/>
              </a:solidFill>
            </a:endParaRPr>
          </a:p>
          <a:p>
            <a:pPr marL="12700" marR="5080"/>
            <a:r>
              <a:rPr lang="en-US" sz="1600" kern="0" spc="-80" dirty="0">
                <a:solidFill>
                  <a:schemeClr val="accent2"/>
                </a:solidFill>
              </a:rPr>
              <a:t>For Further Exploration – </a:t>
            </a:r>
          </a:p>
          <a:p>
            <a:pPr marL="12700" marR="5080"/>
            <a:r>
              <a:rPr lang="en-US" sz="1600" dirty="0">
                <a:hlinkClick r:id="rId7"/>
              </a:rPr>
              <a:t>Fifty-Six Big Data V’s Characteristics and Proposed Strategies to Overcome Security and Privacy</a:t>
            </a:r>
            <a:endParaRPr lang="en-US" sz="1500" kern="0" spc="-80" dirty="0">
              <a:solidFill>
                <a:schemeClr val="accent6"/>
              </a:solidFill>
            </a:endParaRPr>
          </a:p>
          <a:p>
            <a:pPr marL="12700" marR="5080"/>
            <a:endParaRPr lang="en-US" sz="1600" kern="0" spc="-80" dirty="0">
              <a:solidFill>
                <a:schemeClr val="accent6"/>
              </a:solidFill>
            </a:endParaRPr>
          </a:p>
          <a:p>
            <a:pPr marL="12700" marR="5080"/>
            <a:endParaRPr lang="en-IN" sz="1600" kern="0" spc="-80" dirty="0">
              <a:solidFill>
                <a:schemeClr val="accent6"/>
              </a:solidFill>
            </a:endParaRPr>
          </a:p>
          <a:p>
            <a:pPr marL="12700" marR="5080"/>
            <a:endParaRPr lang="en-US" sz="17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CDA110-759D-DAF8-CBE5-DA16FD31F2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D145DA0-7401-8BEE-2246-D6DA865EE55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134365079"/>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7E179-5557-182F-0F7C-71B37C66B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1E57BB-5CA7-5E95-82A6-B3D66FB7B4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C916CB-C68B-3615-0661-57285B9B5C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BD2BC6-0EA2-ED66-7F51-7D76440C4486}"/>
              </a:ext>
            </a:extLst>
          </p:cNvPr>
          <p:cNvGraphicFramePr/>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624E074-C383-2B52-40D5-538C2E98E4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801C9F2-6DFC-6EA0-8A56-9D9911EDC45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9A6FBBB-126E-DABE-7754-ACB924A27619}"/>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500" kern="0" spc="-80" dirty="0">
                <a:solidFill>
                  <a:schemeClr val="accent6"/>
                </a:solidFill>
              </a:rPr>
              <a:t>Although once upon a time Hadoop ruled the Big Data Landscape(</a:t>
            </a:r>
            <a:r>
              <a:rPr lang="en-US" sz="1500" kern="0" spc="-80" dirty="0" err="1">
                <a:solidFill>
                  <a:schemeClr val="accent6"/>
                </a:solidFill>
              </a:rPr>
              <a:t>atleast</a:t>
            </a:r>
            <a:r>
              <a:rPr lang="en-US" sz="1500" kern="0" spc="-80" dirty="0">
                <a:solidFill>
                  <a:schemeClr val="accent6"/>
                </a:solidFill>
              </a:rPr>
              <a:t> for Batch Processing &amp; Stream processing also could be done via some laborious workarounds) but now enterprises are mainly using Apache Spark for Batch Processing while Apache Flink for Stream Processing. Hadoop used to store the data in distributed file system (e.g.  HDFS[Hadoop Distributed File System]) hard disk but Spark &amp; Flink stores data across servers in-memory(RAM) &amp; since accessing data from in-memory is way faster than doing the same from hard disks, Spark &amp; Flink are way more faster than Hadoop.</a:t>
            </a:r>
          </a:p>
          <a:p>
            <a:pPr marL="12700" marR="5080"/>
            <a:r>
              <a:rPr lang="en-US" sz="1600" kern="0" spc="-80" dirty="0">
                <a:solidFill>
                  <a:schemeClr val="accent2"/>
                </a:solidFill>
              </a:rPr>
              <a:t>Apache Flink vs Apache Spark</a:t>
            </a:r>
          </a:p>
          <a:p>
            <a:pPr marL="12700" marR="5080"/>
            <a:r>
              <a:rPr lang="en-IN" sz="1600" kern="0" spc="-80" dirty="0">
                <a:solidFill>
                  <a:schemeClr val="accent2"/>
                </a:solidFill>
              </a:rPr>
              <a:t>Data processing model: </a:t>
            </a:r>
            <a:r>
              <a:rPr lang="en-IN" sz="1500" kern="0" spc="-80" dirty="0">
                <a:solidFill>
                  <a:schemeClr val="accent6"/>
                </a:solidFill>
              </a:rPr>
              <a:t>Flink is designed for real-time data processing, while Spark was originally designed for batch processing</a:t>
            </a:r>
          </a:p>
          <a:p>
            <a:pPr marL="12700" marR="5080"/>
            <a:r>
              <a:rPr lang="en-IN" sz="1600" kern="0" spc="-80" dirty="0">
                <a:solidFill>
                  <a:schemeClr val="accent2"/>
                </a:solidFill>
              </a:rPr>
              <a:t>Processing approach: </a:t>
            </a:r>
            <a:r>
              <a:rPr lang="en-IN" sz="1500" kern="0" spc="-80" dirty="0">
                <a:solidFill>
                  <a:schemeClr val="accent6"/>
                </a:solidFill>
              </a:rPr>
              <a:t>Flink handles data as a continuous flow, while Spark uses a micro-batch approach to process streaming data</a:t>
            </a:r>
          </a:p>
          <a:p>
            <a:pPr marL="12700" marR="5080"/>
            <a:r>
              <a:rPr lang="en-IN" sz="1600" kern="0" spc="-80" dirty="0">
                <a:solidFill>
                  <a:schemeClr val="accent2"/>
                </a:solidFill>
              </a:rPr>
              <a:t>Performance: </a:t>
            </a:r>
            <a:r>
              <a:rPr lang="en-IN" sz="1500" kern="0" spc="-80" dirty="0">
                <a:solidFill>
                  <a:schemeClr val="accent6"/>
                </a:solidFill>
              </a:rPr>
              <a:t>Flink is generally considered faster than Spark, particularly for real-time stream processing applications, because of its native support for continuous streaming, which eliminates the need for micro-batching, leading to significantly lower latency and higher throughput compared to Spark's micro-batching approach; this makes Flink ideal for scenarios requiring immediate data processing with minimal delay.</a:t>
            </a:r>
          </a:p>
          <a:p>
            <a:pPr marL="12700" marR="5080"/>
            <a:r>
              <a:rPr lang="en-IN" sz="1600" kern="0" spc="-80" dirty="0">
                <a:solidFill>
                  <a:schemeClr val="accent2"/>
                </a:solidFill>
              </a:rPr>
              <a:t>Operator Chaining: </a:t>
            </a:r>
            <a:r>
              <a:rPr lang="en-IN" sz="1500" kern="0" spc="-80" dirty="0">
                <a:solidFill>
                  <a:schemeClr val="accent6"/>
                </a:solidFill>
              </a:rPr>
              <a:t>Flink efficiently chains operations together, optimizing data flow and reducing processing overhead</a:t>
            </a:r>
          </a:p>
          <a:p>
            <a:pPr marL="12700" marR="5080"/>
            <a:r>
              <a:rPr lang="en-IN" sz="1600" kern="0" spc="-80" dirty="0">
                <a:solidFill>
                  <a:schemeClr val="accent2"/>
                </a:solidFill>
              </a:rPr>
              <a:t>State management: </a:t>
            </a:r>
            <a:r>
              <a:rPr lang="en-IN" sz="1500" kern="0" spc="-80" dirty="0">
                <a:solidFill>
                  <a:schemeClr val="accent6"/>
                </a:solidFill>
              </a:rPr>
              <a:t>Flink prioritizes state and offers flexible state management. Spark only supports HDFS-based state management</a:t>
            </a:r>
          </a:p>
          <a:p>
            <a:pPr marL="12700" marR="5080"/>
            <a:endParaRPr lang="en-IN" sz="1500" kern="0" spc="-80" dirty="0">
              <a:solidFill>
                <a:schemeClr val="accent6"/>
              </a:solidFill>
            </a:endParaRPr>
          </a:p>
          <a:p>
            <a:pPr marL="12700" marR="5080"/>
            <a:endParaRPr lang="en-US" sz="16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178DD5-FBA6-0AA0-D1A0-8B3B753DA1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B20067-E7D1-6500-8AFE-ABC313B662A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4728300"/>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A2FBD-6698-3017-F9E2-82D0F1EEC3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869C60-8E0F-795E-1937-95AB3E05C1C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7C0EF3-2523-1B22-FFA0-808E0D0FF8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1DB958-E4C0-3673-3AEA-A1482E66801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61D14A-74F0-E726-B970-3DBDFAC818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4919A3-B373-5161-A2FD-7C68753A1B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859BF46-8A4B-BC60-492D-0BB717954F30}"/>
              </a:ext>
            </a:extLst>
          </p:cNvPr>
          <p:cNvSpPr txBox="1">
            <a:spLocks/>
          </p:cNvSpPr>
          <p:nvPr/>
        </p:nvSpPr>
        <p:spPr>
          <a:xfrm>
            <a:off x="-7862" y="762000"/>
            <a:ext cx="8915399"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Apache Flink vs Apache Spark</a:t>
            </a:r>
          </a:p>
          <a:p>
            <a:r>
              <a:rPr lang="en-IN" sz="1800" kern="0" spc="-80" dirty="0">
                <a:solidFill>
                  <a:schemeClr val="accent2"/>
                </a:solidFill>
              </a:rPr>
              <a:t>Watermark generation: </a:t>
            </a:r>
            <a:r>
              <a:rPr lang="en-IN" sz="1800" kern="0" spc="-80" dirty="0">
                <a:solidFill>
                  <a:schemeClr val="accent6"/>
                </a:solidFill>
              </a:rPr>
              <a:t>Flink allows custom watermark generation, while Spark calculates the watermark based on the latest event seen per stream</a:t>
            </a:r>
            <a:endParaRPr lang="en-US" sz="1800" kern="0" spc="-80" dirty="0">
              <a:solidFill>
                <a:schemeClr val="accent6"/>
              </a:solidFill>
            </a:endParaRPr>
          </a:p>
          <a:p>
            <a:pPr marL="12700" marR="5080"/>
            <a:r>
              <a:rPr lang="en-IN" sz="1800" kern="0" spc="-80" dirty="0">
                <a:solidFill>
                  <a:schemeClr val="accent2"/>
                </a:solidFill>
              </a:rPr>
              <a:t>Ecosystem: </a:t>
            </a:r>
            <a:r>
              <a:rPr lang="en-IN" sz="1800" kern="0" spc="-80" dirty="0">
                <a:solidFill>
                  <a:schemeClr val="accent6"/>
                </a:solidFill>
              </a:rPr>
              <a:t>Spark has a larger and more mature ecosystem than Flink. </a:t>
            </a:r>
            <a:br>
              <a:rPr lang="en-IN" sz="1800" kern="0" spc="-80" dirty="0">
                <a:solidFill>
                  <a:schemeClr val="accent6"/>
                </a:solidFill>
              </a:rPr>
            </a:br>
            <a:r>
              <a:rPr lang="en-IN" sz="1800" kern="0" spc="-80" dirty="0">
                <a:solidFill>
                  <a:schemeClr val="accent2"/>
                </a:solidFill>
              </a:rPr>
              <a:t>Ease of use: </a:t>
            </a:r>
            <a:r>
              <a:rPr lang="en-IN" sz="1800" kern="0" spc="-80" dirty="0">
                <a:solidFill>
                  <a:schemeClr val="accent6"/>
                </a:solidFill>
              </a:rPr>
              <a:t>Flink's APIs are often considered to be more intuitive and easier to use</a:t>
            </a:r>
          </a:p>
          <a:p>
            <a:pPr marL="12700" marR="5080"/>
            <a:endParaRPr lang="en-IN" sz="1800" kern="0" spc="-80" dirty="0">
              <a:solidFill>
                <a:schemeClr val="accent6"/>
              </a:solidFill>
            </a:endParaRPr>
          </a:p>
          <a:p>
            <a:pPr marL="12700" marR="5080"/>
            <a:r>
              <a:rPr lang="en-IN" sz="1800" kern="0" spc="-80" dirty="0">
                <a:solidFill>
                  <a:schemeClr val="accent6"/>
                </a:solidFill>
              </a:rPr>
              <a:t>Also in general for (Real Time) ETL/ELT, Batch Processing suffices but for ML(Machine Learning) jobs, iterative processing is needed in general since most ML algos are iterative &amp; both Flink &amp; Spark supports both batch &amp; iterative processing.</a:t>
            </a:r>
          </a:p>
          <a:p>
            <a:pPr marL="12700" marR="5080"/>
            <a:endParaRPr lang="en-IN" sz="1800" kern="0" spc="-80" dirty="0">
              <a:solidFill>
                <a:schemeClr val="accent6"/>
              </a:solidFill>
            </a:endParaRPr>
          </a:p>
          <a:p>
            <a:pPr marL="12700" marR="5080"/>
            <a:r>
              <a:rPr lang="en-IN" sz="1800" kern="0" spc="-80" dirty="0">
                <a:solidFill>
                  <a:schemeClr val="accent2"/>
                </a:solidFill>
              </a:rPr>
              <a:t>Why Kafka is used before and after a Apache Spark or Apache Flink pipeline</a:t>
            </a:r>
          </a:p>
          <a:p>
            <a:pPr marL="12700" marR="5080"/>
            <a:r>
              <a:rPr lang="en-US" sz="1800" kern="0" spc="-80" dirty="0">
                <a:solidFill>
                  <a:schemeClr val="accent6"/>
                </a:solidFill>
              </a:rPr>
              <a:t>Kafka is used before a Spark/Flink pipeline as a high-throughput, real-time data ingestion layer and after as a durable storage/message delivery system for processed data. This pattern decouples data producers from consumers, allowing Spark or Flink to process data in micro-batches or streams without being directly tied to the data sources, while ensuring data is not lost. </a:t>
            </a:r>
            <a:endParaRPr lang="en-IN" sz="1800" kern="0" spc="-80" dirty="0">
              <a:solidFill>
                <a:schemeClr val="accent6"/>
              </a:solidFill>
            </a:endParaRPr>
          </a:p>
          <a:p>
            <a:pPr marL="12700" marR="5080"/>
            <a:endParaRPr lang="en-US" sz="18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B7A7C9-B068-5719-78D8-D0BB6C1AA8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D5039B-18D1-1F99-F530-FA1370D214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314872614"/>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557D-34CA-1559-D4CC-79A5A83919B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2CCDDCF-4638-6777-3515-FD2DCA0202A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A8F6612-533A-B0C3-7D0E-EF0B479099A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9F135C-2508-AF74-89CE-B216F39DA2EF}"/>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CB4B102-42CB-9C49-1658-C5357131FF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6B93900-E1B4-FECB-EA9B-0C067B5A27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B7BE402-C389-0926-A7BB-B7C1B39D1282}"/>
              </a:ext>
            </a:extLst>
          </p:cNvPr>
          <p:cNvSpPr txBox="1">
            <a:spLocks/>
          </p:cNvSpPr>
          <p:nvPr/>
        </p:nvSpPr>
        <p:spPr>
          <a:xfrm>
            <a:off x="-7862"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Why Kafka is used before Spark or Flink</a:t>
            </a:r>
          </a:p>
          <a:p>
            <a:r>
              <a:rPr lang="en-US" sz="1400" kern="0" spc="-80" dirty="0">
                <a:solidFill>
                  <a:schemeClr val="accent2"/>
                </a:solidFill>
              </a:rPr>
              <a:t>Data ingestion: </a:t>
            </a:r>
          </a:p>
          <a:p>
            <a:r>
              <a:rPr lang="en-US" sz="1400" kern="0" spc="-80" dirty="0">
                <a:solidFill>
                  <a:schemeClr val="accent6"/>
                </a:solidFill>
              </a:rPr>
              <a:t>Kafka acts as a central hub to collect data from various sources in real time.</a:t>
            </a:r>
          </a:p>
          <a:p>
            <a:r>
              <a:rPr lang="en-US" sz="1400" kern="0" spc="-80" dirty="0">
                <a:solidFill>
                  <a:schemeClr val="accent2"/>
                </a:solidFill>
              </a:rPr>
              <a:t>Decoupling: </a:t>
            </a:r>
          </a:p>
          <a:p>
            <a:r>
              <a:rPr lang="en-US" sz="1400" kern="0" spc="-80" dirty="0">
                <a:solidFill>
                  <a:schemeClr val="accent6"/>
                </a:solidFill>
              </a:rPr>
              <a:t>It decouples data producers from the processing pipeline, so sources don't need to wait for the processing job to be ready.</a:t>
            </a:r>
          </a:p>
          <a:p>
            <a:r>
              <a:rPr lang="en-US" sz="1400" kern="0" spc="-80" dirty="0">
                <a:solidFill>
                  <a:schemeClr val="accent2"/>
                </a:solidFill>
              </a:rPr>
              <a:t>Buffering: </a:t>
            </a:r>
          </a:p>
          <a:p>
            <a:r>
              <a:rPr lang="en-US" sz="1400" kern="0" spc="-80" dirty="0">
                <a:solidFill>
                  <a:schemeClr val="accent6"/>
                </a:solidFill>
              </a:rPr>
              <a:t>It acts as a buffer, absorbing sudden spikes in data volume and smoothing out the flow of data to the processing engines like Spark or Flink.</a:t>
            </a:r>
          </a:p>
          <a:p>
            <a:r>
              <a:rPr lang="en-US" sz="1400" kern="0" spc="-80" dirty="0">
                <a:solidFill>
                  <a:schemeClr val="accent2"/>
                </a:solidFill>
              </a:rPr>
              <a:t>Reliability: </a:t>
            </a:r>
          </a:p>
          <a:p>
            <a:r>
              <a:rPr lang="en-US" sz="1400" kern="0" spc="-80" dirty="0">
                <a:solidFill>
                  <a:schemeClr val="accent6"/>
                </a:solidFill>
              </a:rPr>
              <a:t>It provides a durable and fault-tolerant system for message delivery, ensuring data isn't lost if the processing pipeline temporarily fails. </a:t>
            </a:r>
          </a:p>
          <a:p>
            <a:r>
              <a:rPr lang="en-US" sz="1400" kern="0" spc="-80" dirty="0">
                <a:solidFill>
                  <a:schemeClr val="accent2"/>
                </a:solidFill>
              </a:rPr>
              <a:t>Why Kafka is used after Spark or Flink</a:t>
            </a:r>
          </a:p>
          <a:p>
            <a:r>
              <a:rPr lang="en-US" sz="1400" kern="0" spc="-80" dirty="0">
                <a:solidFill>
                  <a:schemeClr val="accent2"/>
                </a:solidFill>
              </a:rPr>
              <a:t>Data storage: </a:t>
            </a:r>
          </a:p>
          <a:p>
            <a:r>
              <a:rPr lang="en-US" sz="1400" kern="0" spc="-80" dirty="0">
                <a:solidFill>
                  <a:schemeClr val="accent6"/>
                </a:solidFill>
              </a:rPr>
              <a:t>Kafka stores the processed data, making it available for multiple downstream applications to consume. </a:t>
            </a:r>
          </a:p>
          <a:p>
            <a:r>
              <a:rPr lang="en-US" sz="1400" kern="0" spc="-80" dirty="0">
                <a:solidFill>
                  <a:schemeClr val="accent2"/>
                </a:solidFill>
              </a:rPr>
              <a:t>Decoupling: </a:t>
            </a:r>
          </a:p>
          <a:p>
            <a:r>
              <a:rPr lang="en-US" sz="1400" kern="0" spc="-80" dirty="0">
                <a:solidFill>
                  <a:schemeClr val="accent6"/>
                </a:solidFill>
              </a:rPr>
              <a:t>It decouples the processing pipeline from the consuming applications. The processing job can finish its work, and consumers can read the data at their own pace, from the Kafka topic. </a:t>
            </a:r>
          </a:p>
          <a:p>
            <a:r>
              <a:rPr lang="en-US" sz="1400" kern="0" spc="-80" dirty="0" err="1">
                <a:solidFill>
                  <a:schemeClr val="accent2"/>
                </a:solidFill>
              </a:rPr>
              <a:t>Replayability</a:t>
            </a:r>
            <a:r>
              <a:rPr lang="en-US" sz="1400" kern="0" spc="-80" dirty="0">
                <a:solidFill>
                  <a:schemeClr val="accent2"/>
                </a:solidFill>
              </a:rPr>
              <a:t>: </a:t>
            </a:r>
          </a:p>
          <a:p>
            <a:r>
              <a:rPr lang="en-US" sz="1400" kern="0" spc="-80" dirty="0">
                <a:solidFill>
                  <a:schemeClr val="accent6"/>
                </a:solidFill>
              </a:rPr>
              <a:t>It provides a log of processed events that can be replayed for debugging or for different consumers who might need to process the data again. </a:t>
            </a:r>
          </a:p>
          <a:p>
            <a:r>
              <a:rPr lang="en-US" sz="1400" kern="0" spc="-80" dirty="0">
                <a:solidFill>
                  <a:schemeClr val="accent2"/>
                </a:solidFill>
              </a:rPr>
              <a:t>Message delivery: </a:t>
            </a:r>
          </a:p>
          <a:p>
            <a:r>
              <a:rPr lang="en-US" sz="1400" kern="0" spc="-80" dirty="0">
                <a:solidFill>
                  <a:schemeClr val="accent6"/>
                </a:solidFill>
              </a:rPr>
              <a:t>It ensures the final results are reliably delivered to any number of downstream systems, such as dashboards, alerting systems, or other microservices. </a:t>
            </a:r>
          </a:p>
          <a:p>
            <a:pPr marL="12700" marR="5080"/>
            <a:endParaRPr lang="en-US" sz="14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52ED87-2A66-9CBF-EF80-3ADDF4EE89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68CA10-166F-C932-B187-54FC9F737BA5}"/>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848973859"/>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30BD4-D139-FBEE-3FFC-8E316E3946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47698A-B56D-CFEF-B268-6C80988D67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1F2B85F-8588-F992-DAF8-70414FF07C5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8372AF-7BCF-308B-2D53-7B609D87C8FE}"/>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BDA4B60-A516-E4B9-3E12-4A1A2861A6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F73580-47BB-C833-926E-5B1CDDBE2C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9F28B37-471C-9B4B-CF52-1D481BAD96FB}"/>
              </a:ext>
            </a:extLst>
          </p:cNvPr>
          <p:cNvSpPr txBox="1">
            <a:spLocks/>
          </p:cNvSpPr>
          <p:nvPr/>
        </p:nvSpPr>
        <p:spPr>
          <a:xfrm>
            <a:off x="-7862" y="762000"/>
            <a:ext cx="8915399"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Complex Events Processing</a:t>
            </a:r>
          </a:p>
          <a:p>
            <a:r>
              <a:rPr lang="en-US" sz="1400" kern="0" spc="-80" dirty="0">
                <a:solidFill>
                  <a:schemeClr val="accent2"/>
                </a:solidFill>
              </a:rPr>
              <a:t>What CEP is — short definition</a:t>
            </a:r>
          </a:p>
          <a:p>
            <a:r>
              <a:rPr lang="en-US" sz="1400" kern="0" spc="-80" dirty="0">
                <a:solidFill>
                  <a:schemeClr val="accent6"/>
                </a:solidFill>
              </a:rPr>
              <a:t>Complex Event Processing (CEP) is the real-time detection, correlation and processing of patterns of events (often high-volume streams) to produce higher-level events, alerts, or materialized state. CEP systems continuously evaluate incoming events against temporal, logical and statistical patterns to detect meaningful situations (e.g., fraud, SLA violations, anomalies, business opportunities).</a:t>
            </a:r>
          </a:p>
          <a:p>
            <a:endParaRPr lang="en-US" sz="1400" kern="0" spc="-80" dirty="0">
              <a:solidFill>
                <a:schemeClr val="accent6"/>
              </a:solidFill>
            </a:endParaRPr>
          </a:p>
          <a:p>
            <a:r>
              <a:rPr lang="en-US" sz="1400" kern="0" spc="-80" dirty="0">
                <a:solidFill>
                  <a:schemeClr val="accent2"/>
                </a:solidFill>
              </a:rPr>
              <a:t>Core concepts &amp; vocabulary</a:t>
            </a:r>
          </a:p>
          <a:p>
            <a:r>
              <a:rPr lang="en-US" sz="1400" kern="0" spc="-80" dirty="0">
                <a:solidFill>
                  <a:schemeClr val="accent2"/>
                </a:solidFill>
              </a:rPr>
              <a:t>Event: </a:t>
            </a:r>
            <a:r>
              <a:rPr lang="en-US" sz="1400" kern="0" spc="-80" dirty="0">
                <a:solidFill>
                  <a:schemeClr val="accent6"/>
                </a:solidFill>
              </a:rPr>
              <a:t>an immutable record of something that happened. Contains at least a timestamp, type, id, and payload.</a:t>
            </a:r>
          </a:p>
          <a:p>
            <a:r>
              <a:rPr lang="en-US" sz="1400" kern="0" spc="-80" dirty="0">
                <a:solidFill>
                  <a:schemeClr val="accent2"/>
                </a:solidFill>
              </a:rPr>
              <a:t>Event stream: </a:t>
            </a:r>
            <a:r>
              <a:rPr lang="en-US" sz="1400" kern="0" spc="-80" dirty="0">
                <a:solidFill>
                  <a:schemeClr val="accent6"/>
                </a:solidFill>
              </a:rPr>
              <a:t>ordered sequence of events (possibly partitioned by key).</a:t>
            </a:r>
          </a:p>
          <a:p>
            <a:r>
              <a:rPr lang="en-US" sz="1400" kern="0" spc="-80" dirty="0">
                <a:solidFill>
                  <a:schemeClr val="accent2"/>
                </a:solidFill>
              </a:rPr>
              <a:t>Atomic event vs Complex event: </a:t>
            </a:r>
            <a:r>
              <a:rPr lang="en-US" sz="1400" kern="0" spc="-80" dirty="0">
                <a:solidFill>
                  <a:schemeClr val="accent6"/>
                </a:solidFill>
              </a:rPr>
              <a:t>atomic = single raw event; complex = composed outcome representing pattern or aggregation.</a:t>
            </a:r>
          </a:p>
          <a:p>
            <a:r>
              <a:rPr lang="en-US" sz="1400" kern="0" spc="-80" dirty="0">
                <a:solidFill>
                  <a:schemeClr val="accent2"/>
                </a:solidFill>
              </a:rPr>
              <a:t>Event model / schema: </a:t>
            </a:r>
            <a:r>
              <a:rPr lang="en-US" sz="1400" kern="0" spc="-80" dirty="0">
                <a:solidFill>
                  <a:schemeClr val="accent6"/>
                </a:solidFill>
              </a:rPr>
              <a:t>fields, types, optional metadata (producer id, ingestion time).</a:t>
            </a:r>
          </a:p>
          <a:p>
            <a:endParaRPr lang="en-US" sz="1400" kern="0" spc="-80" dirty="0">
              <a:solidFill>
                <a:schemeClr val="accent6"/>
              </a:solidFill>
            </a:endParaRPr>
          </a:p>
          <a:p>
            <a:r>
              <a:rPr lang="en-US" sz="1400" kern="0" spc="-80" dirty="0">
                <a:solidFill>
                  <a:schemeClr val="accent2"/>
                </a:solidFill>
              </a:rPr>
              <a:t>Time semantics:</a:t>
            </a:r>
          </a:p>
          <a:p>
            <a:r>
              <a:rPr lang="en-US" sz="1400" kern="0" spc="-80" dirty="0">
                <a:solidFill>
                  <a:schemeClr val="accent6"/>
                </a:solidFill>
              </a:rPr>
              <a:t>Event time — timestamp assigned when the event occurred (preferred for correctness).</a:t>
            </a:r>
          </a:p>
          <a:p>
            <a:r>
              <a:rPr lang="en-US" sz="1400" kern="0" spc="-80" dirty="0">
                <a:solidFill>
                  <a:schemeClr val="accent6"/>
                </a:solidFill>
              </a:rPr>
              <a:t>Processing time — system clock when event is processed (fast, but can be incorrect for late events).</a:t>
            </a:r>
          </a:p>
          <a:p>
            <a:r>
              <a:rPr lang="en-US" sz="1400" kern="0" spc="-80" dirty="0">
                <a:solidFill>
                  <a:schemeClr val="accent6"/>
                </a:solidFill>
              </a:rPr>
              <a:t>Ingestion time — when event entered the ingest layer.</a:t>
            </a:r>
          </a:p>
          <a:p>
            <a:endParaRPr lang="en-US" sz="1400" kern="0" spc="-80" dirty="0">
              <a:solidFill>
                <a:schemeClr val="accent6"/>
              </a:solidFill>
            </a:endParaRPr>
          </a:p>
          <a:p>
            <a:r>
              <a:rPr lang="en-US" sz="1400" kern="0" spc="-80" dirty="0">
                <a:solidFill>
                  <a:schemeClr val="accent2"/>
                </a:solidFill>
              </a:rPr>
              <a:t>Windowing:</a:t>
            </a:r>
            <a:r>
              <a:rPr lang="en-US" sz="1400" kern="0" spc="-80" dirty="0">
                <a:solidFill>
                  <a:schemeClr val="accent6"/>
                </a:solidFill>
              </a:rPr>
              <a:t> grouping events across a time range or event count for aggregation/pattern detection.</a:t>
            </a:r>
          </a:p>
          <a:p>
            <a:r>
              <a:rPr lang="en-US" sz="1400" kern="0" spc="-80" dirty="0">
                <a:solidFill>
                  <a:schemeClr val="accent2"/>
                </a:solidFill>
              </a:rPr>
              <a:t>State: </a:t>
            </a:r>
            <a:r>
              <a:rPr lang="en-US" sz="1400" kern="0" spc="-80" dirty="0">
                <a:solidFill>
                  <a:schemeClr val="accent6"/>
                </a:solidFill>
              </a:rPr>
              <a:t>retained information about past events (per-key) used for correlation and alerting.</a:t>
            </a:r>
          </a:p>
          <a:p>
            <a:r>
              <a:rPr lang="en-US" sz="1400" kern="0" spc="-80" dirty="0">
                <a:solidFill>
                  <a:schemeClr val="accent2"/>
                </a:solidFill>
              </a:rPr>
              <a:t>Pattern language: </a:t>
            </a:r>
            <a:r>
              <a:rPr lang="en-US" sz="1400" kern="0" spc="-80" dirty="0">
                <a:solidFill>
                  <a:schemeClr val="accent6"/>
                </a:solidFill>
              </a:rPr>
              <a:t>query language to express sequences/conditions (e.g., EPL, Flink SQL, Siddhi).</a:t>
            </a:r>
          </a:p>
          <a:p>
            <a:r>
              <a:rPr lang="en-US" sz="1400" kern="0" spc="-80" dirty="0">
                <a:solidFill>
                  <a:schemeClr val="accent2"/>
                </a:solidFill>
              </a:rPr>
              <a:t>Watermarks: </a:t>
            </a:r>
            <a:r>
              <a:rPr lang="en-US" sz="1400" kern="0" spc="-80" dirty="0">
                <a:solidFill>
                  <a:schemeClr val="accent6"/>
                </a:solidFill>
              </a:rPr>
              <a:t>mechanism to advance event-time progress and handle out-of-order arrivals.</a:t>
            </a:r>
          </a:p>
        </p:txBody>
      </p:sp>
      <p:sp>
        <p:nvSpPr>
          <p:cNvPr id="8" name="AutoShape 2" descr="SQL vs NoSQL vs NewSQL. Adapting to the changing requirements… | by Gangani  Chamika | Medium">
            <a:extLst>
              <a:ext uri="{FF2B5EF4-FFF2-40B4-BE49-F238E27FC236}">
                <a16:creationId xmlns:a16="http://schemas.microsoft.com/office/drawing/2014/main" id="{AF089345-0AAC-B8D1-7467-AB77484C04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1D0058-F7D0-9043-8C50-0530E737085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155134475"/>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426C3-B649-85A4-7F10-1BD77B8D75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DF572E-F2A1-EF81-B735-B2002D197F8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994BDC9-659A-6529-8DE8-33BADAF6A21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520503-7780-BEC9-C6A1-4C5F2E7E4EBE}"/>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216F6F5-9175-341D-E665-B4080598D3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CEAC3E-678A-C914-D15C-AD7DF8F9D6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52964B2-3DC3-D404-A41A-E707F9BD0872}"/>
              </a:ext>
            </a:extLst>
          </p:cNvPr>
          <p:cNvSpPr txBox="1">
            <a:spLocks/>
          </p:cNvSpPr>
          <p:nvPr/>
        </p:nvSpPr>
        <p:spPr>
          <a:xfrm>
            <a:off x="-7862" y="762000"/>
            <a:ext cx="8915399"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Complex Events Processing</a:t>
            </a:r>
          </a:p>
          <a:p>
            <a:r>
              <a:rPr lang="en-US" sz="1400" kern="0" spc="-80" dirty="0">
                <a:solidFill>
                  <a:schemeClr val="accent2"/>
                </a:solidFill>
              </a:rPr>
              <a:t>Lateness:</a:t>
            </a:r>
            <a:r>
              <a:rPr lang="en-US" sz="1400" kern="0" spc="-80" dirty="0">
                <a:solidFill>
                  <a:schemeClr val="accent6"/>
                </a:solidFill>
              </a:rPr>
              <a:t> how much extra time you allow for late events before finalizing results.</a:t>
            </a:r>
          </a:p>
          <a:p>
            <a:r>
              <a:rPr lang="en-US" sz="1400" kern="0" spc="-80" dirty="0">
                <a:solidFill>
                  <a:schemeClr val="accent6"/>
                </a:solidFill>
              </a:rPr>
              <a:t>Exactly-once / at-least-once semantics: delivery guarantees.</a:t>
            </a:r>
          </a:p>
          <a:p>
            <a:endParaRPr lang="en-US" sz="1400" kern="0" spc="-80" dirty="0">
              <a:solidFill>
                <a:schemeClr val="accent6"/>
              </a:solidFill>
            </a:endParaRPr>
          </a:p>
          <a:p>
            <a:r>
              <a:rPr lang="en-US" sz="1400" kern="0" spc="-80" dirty="0">
                <a:solidFill>
                  <a:schemeClr val="accent2"/>
                </a:solidFill>
              </a:rPr>
              <a:t>Event types and modeling</a:t>
            </a:r>
          </a:p>
          <a:p>
            <a:r>
              <a:rPr lang="en-US" sz="1400" kern="0" spc="-80" dirty="0">
                <a:solidFill>
                  <a:schemeClr val="accent2"/>
                </a:solidFill>
              </a:rPr>
              <a:t>Simple event: </a:t>
            </a:r>
            <a:r>
              <a:rPr lang="en-US" sz="1400" kern="0" spc="-80" dirty="0">
                <a:solidFill>
                  <a:schemeClr val="accent6"/>
                </a:solidFill>
              </a:rPr>
              <a:t>single occurrence (e.g., click, payment).</a:t>
            </a:r>
          </a:p>
          <a:p>
            <a:r>
              <a:rPr lang="en-US" sz="1400" kern="0" spc="-80" dirty="0">
                <a:solidFill>
                  <a:schemeClr val="accent2"/>
                </a:solidFill>
              </a:rPr>
              <a:t>Enriched event:</a:t>
            </a:r>
            <a:r>
              <a:rPr lang="en-US" sz="1400" kern="0" spc="-80" dirty="0">
                <a:solidFill>
                  <a:schemeClr val="accent6"/>
                </a:solidFill>
              </a:rPr>
              <a:t> simple event plus lookups (user profile, geo).</a:t>
            </a:r>
          </a:p>
          <a:p>
            <a:r>
              <a:rPr lang="en-US" sz="1400" kern="0" spc="-80" dirty="0">
                <a:solidFill>
                  <a:schemeClr val="accent2"/>
                </a:solidFill>
              </a:rPr>
              <a:t>Composite/Complex event: </a:t>
            </a:r>
            <a:r>
              <a:rPr lang="en-US" sz="1400" kern="0" spc="-80" dirty="0">
                <a:solidFill>
                  <a:schemeClr val="accent6"/>
                </a:solidFill>
              </a:rPr>
              <a:t>derived from multiple events (e.g., </a:t>
            </a:r>
            <a:r>
              <a:rPr lang="en-US" sz="1400" kern="0" spc="-80" dirty="0" err="1">
                <a:solidFill>
                  <a:schemeClr val="accent6"/>
                </a:solidFill>
              </a:rPr>
              <a:t>potentialFraud</a:t>
            </a:r>
            <a:r>
              <a:rPr lang="en-US" sz="1400" kern="0" spc="-80" dirty="0">
                <a:solidFill>
                  <a:schemeClr val="accent6"/>
                </a:solidFill>
              </a:rPr>
              <a:t>).</a:t>
            </a:r>
          </a:p>
          <a:p>
            <a:r>
              <a:rPr lang="en-US" sz="1400" kern="0" spc="-80" dirty="0">
                <a:solidFill>
                  <a:schemeClr val="accent2"/>
                </a:solidFill>
              </a:rPr>
              <a:t>Event taxonomy: </a:t>
            </a:r>
            <a:r>
              <a:rPr lang="en-US" sz="1400" kern="0" spc="-80" dirty="0">
                <a:solidFill>
                  <a:schemeClr val="accent6"/>
                </a:solidFill>
              </a:rPr>
              <a:t>classify events by domain (telecom, finance, ops).</a:t>
            </a:r>
          </a:p>
          <a:p>
            <a:r>
              <a:rPr lang="en-US" sz="1400" kern="0" spc="-80" dirty="0">
                <a:solidFill>
                  <a:schemeClr val="accent2"/>
                </a:solidFill>
              </a:rPr>
              <a:t>Schema versioning:</a:t>
            </a:r>
            <a:r>
              <a:rPr lang="en-US" sz="1400" kern="0" spc="-80" dirty="0">
                <a:solidFill>
                  <a:schemeClr val="accent6"/>
                </a:solidFill>
              </a:rPr>
              <a:t> plan for backward/forward compatibility (additive fields, schema registry).</a:t>
            </a:r>
          </a:p>
          <a:p>
            <a:endParaRPr lang="en-US" sz="1400" kern="0" spc="-80" dirty="0">
              <a:solidFill>
                <a:schemeClr val="accent6"/>
              </a:solidFill>
            </a:endParaRPr>
          </a:p>
          <a:p>
            <a:r>
              <a:rPr lang="en-US" sz="1400" kern="0" spc="-80" dirty="0">
                <a:solidFill>
                  <a:schemeClr val="accent2"/>
                </a:solidFill>
              </a:rPr>
              <a:t>Time &amp; ordering — fundamentals</a:t>
            </a:r>
          </a:p>
          <a:p>
            <a:r>
              <a:rPr lang="en-US" sz="1400" kern="0" spc="-80" dirty="0">
                <a:solidFill>
                  <a:schemeClr val="accent6"/>
                </a:solidFill>
              </a:rPr>
              <a:t>Use event time for correctness in analytics and CEP.</a:t>
            </a:r>
          </a:p>
          <a:p>
            <a:r>
              <a:rPr lang="en-US" sz="1400" kern="0" spc="-80" dirty="0">
                <a:solidFill>
                  <a:schemeClr val="accent2"/>
                </a:solidFill>
              </a:rPr>
              <a:t>Out-of-order events: </a:t>
            </a:r>
            <a:r>
              <a:rPr lang="en-US" sz="1400" kern="0" spc="-80" dirty="0">
                <a:solidFill>
                  <a:schemeClr val="accent6"/>
                </a:solidFill>
              </a:rPr>
              <a:t>support by buffering (watermarks + allowed lateness).</a:t>
            </a:r>
          </a:p>
          <a:p>
            <a:r>
              <a:rPr lang="en-US" sz="1400" kern="0" spc="-80" dirty="0">
                <a:solidFill>
                  <a:schemeClr val="accent6"/>
                </a:solidFill>
              </a:rPr>
              <a:t>Watermarks represent a time such that you assume no earlier events will arrive. Choose watermarking strategy based on observed delays (fixed delay, periodic, adaptive).</a:t>
            </a:r>
          </a:p>
          <a:p>
            <a:r>
              <a:rPr lang="en-US" sz="1400" kern="0" spc="-80" dirty="0">
                <a:solidFill>
                  <a:schemeClr val="accent2"/>
                </a:solidFill>
              </a:rPr>
              <a:t>Session windows: g</a:t>
            </a:r>
            <a:r>
              <a:rPr lang="en-US" sz="1400" kern="0" spc="-80" dirty="0">
                <a:solidFill>
                  <a:schemeClr val="accent6"/>
                </a:solidFill>
              </a:rPr>
              <a:t>roup based on inactivity gaps; good for user sessions.</a:t>
            </a:r>
          </a:p>
          <a:p>
            <a:r>
              <a:rPr lang="en-US" sz="1400" kern="0" spc="-80" dirty="0">
                <a:solidFill>
                  <a:schemeClr val="accent2"/>
                </a:solidFill>
              </a:rPr>
              <a:t>Tumbling/hopping/sliding windows: </a:t>
            </a:r>
            <a:r>
              <a:rPr lang="en-US" sz="1400" kern="0" spc="-80" dirty="0">
                <a:solidFill>
                  <a:schemeClr val="accent6"/>
                </a:solidFill>
              </a:rPr>
              <a:t>for periodic aggregation.</a:t>
            </a:r>
          </a:p>
          <a:p>
            <a:r>
              <a:rPr lang="en-US" sz="1400" kern="0" spc="-80" dirty="0">
                <a:solidFill>
                  <a:schemeClr val="accent2"/>
                </a:solidFill>
              </a:rPr>
              <a:t>Event punctuations: </a:t>
            </a:r>
            <a:r>
              <a:rPr lang="en-US" sz="1400" kern="0" spc="-80" dirty="0">
                <a:solidFill>
                  <a:schemeClr val="accent6"/>
                </a:solidFill>
              </a:rPr>
              <a:t>explicit signals that allow state flushes.</a:t>
            </a:r>
          </a:p>
          <a:p>
            <a:endParaRPr lang="en-US" sz="1400" kern="0" spc="-80" dirty="0">
              <a:solidFill>
                <a:schemeClr val="accent6"/>
              </a:solidFill>
            </a:endParaRPr>
          </a:p>
          <a:p>
            <a:r>
              <a:rPr lang="en-US" sz="1400" kern="0" spc="-80" dirty="0">
                <a:solidFill>
                  <a:schemeClr val="accent2"/>
                </a:solidFill>
              </a:rPr>
              <a:t>Window types &amp; behaviors</a:t>
            </a:r>
          </a:p>
          <a:p>
            <a:r>
              <a:rPr lang="en-US" sz="1400" kern="0" spc="-80" dirty="0">
                <a:solidFill>
                  <a:schemeClr val="accent2"/>
                </a:solidFill>
              </a:rPr>
              <a:t>Tumbling (fixed): </a:t>
            </a:r>
            <a:r>
              <a:rPr lang="en-US" sz="1400" kern="0" spc="-80" dirty="0">
                <a:solidFill>
                  <a:schemeClr val="accent6"/>
                </a:solidFill>
              </a:rPr>
              <a:t>non-overlapping fixed duration windows.</a:t>
            </a:r>
          </a:p>
          <a:p>
            <a:r>
              <a:rPr lang="en-US" sz="1400" kern="0" spc="-80" dirty="0">
                <a:solidFill>
                  <a:schemeClr val="accent2"/>
                </a:solidFill>
              </a:rPr>
              <a:t>Hopping (sliding with fixed step): </a:t>
            </a:r>
            <a:r>
              <a:rPr lang="en-US" sz="1400" kern="0" spc="-80" dirty="0">
                <a:solidFill>
                  <a:schemeClr val="accent6"/>
                </a:solidFill>
              </a:rPr>
              <a:t>overlapping windows (useful for moving averages).</a:t>
            </a:r>
          </a:p>
          <a:p>
            <a:r>
              <a:rPr lang="en-US" sz="1400" kern="0" spc="-80" dirty="0">
                <a:solidFill>
                  <a:schemeClr val="accent2"/>
                </a:solidFill>
              </a:rPr>
              <a:t>Sliding windows by count:</a:t>
            </a:r>
            <a:r>
              <a:rPr lang="en-US" sz="1400" kern="0" spc="-80" dirty="0">
                <a:solidFill>
                  <a:schemeClr val="accent6"/>
                </a:solidFill>
              </a:rPr>
              <a:t> last N events.</a:t>
            </a:r>
          </a:p>
        </p:txBody>
      </p:sp>
      <p:sp>
        <p:nvSpPr>
          <p:cNvPr id="8" name="AutoShape 2" descr="SQL vs NoSQL vs NewSQL. Adapting to the changing requirements… | by Gangani  Chamika | Medium">
            <a:extLst>
              <a:ext uri="{FF2B5EF4-FFF2-40B4-BE49-F238E27FC236}">
                <a16:creationId xmlns:a16="http://schemas.microsoft.com/office/drawing/2014/main" id="{1CB6E381-3ACE-F256-6F60-1DD78EBDD6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175E35F-ED3B-EC2D-F059-2C4F453F427B}"/>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059079305"/>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73731-1B6F-CAD4-FAB5-90811375A1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471B86-D1C3-CFBB-AF98-1A93DD11504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F5B8259-BB49-1327-E921-07A0C60BDF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38B218-F793-4844-88CF-85340C66402C}"/>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7261ED-1999-1FA4-DBBA-2635A27399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445D4B2-CD3C-650A-74E9-1896E3CC662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7434520-B825-FA28-91E6-FF43305D8DF9}"/>
              </a:ext>
            </a:extLst>
          </p:cNvPr>
          <p:cNvSpPr txBox="1">
            <a:spLocks/>
          </p:cNvSpPr>
          <p:nvPr/>
        </p:nvSpPr>
        <p:spPr>
          <a:xfrm>
            <a:off x="-7862" y="762000"/>
            <a:ext cx="8915399"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Complex Events Processing</a:t>
            </a:r>
          </a:p>
          <a:p>
            <a:r>
              <a:rPr lang="en-US" sz="1400" kern="0" spc="-80" dirty="0">
                <a:solidFill>
                  <a:schemeClr val="accent2"/>
                </a:solidFill>
              </a:rPr>
              <a:t>Session windows: </a:t>
            </a:r>
            <a:r>
              <a:rPr lang="en-US" sz="1400" kern="0" spc="-80" dirty="0">
                <a:solidFill>
                  <a:schemeClr val="accent6"/>
                </a:solidFill>
              </a:rPr>
              <a:t>close when no events for a key for a gap duration.</a:t>
            </a:r>
          </a:p>
          <a:p>
            <a:r>
              <a:rPr lang="en-US" sz="1400" kern="0" spc="-80" dirty="0">
                <a:solidFill>
                  <a:schemeClr val="accent2"/>
                </a:solidFill>
              </a:rPr>
              <a:t>Keyed windows: </a:t>
            </a:r>
            <a:r>
              <a:rPr lang="en-US" sz="1400" kern="0" spc="-80" dirty="0">
                <a:solidFill>
                  <a:schemeClr val="accent6"/>
                </a:solidFill>
              </a:rPr>
              <a:t>window per partition key (e.g., </a:t>
            </a:r>
            <a:r>
              <a:rPr lang="en-US" sz="1400" kern="0" spc="-80" dirty="0" err="1">
                <a:solidFill>
                  <a:schemeClr val="accent6"/>
                </a:solidFill>
              </a:rPr>
              <a:t>userID</a:t>
            </a:r>
            <a:r>
              <a:rPr lang="en-US" sz="1400" kern="0" spc="-80" dirty="0">
                <a:solidFill>
                  <a:schemeClr val="accent6"/>
                </a:solidFill>
              </a:rPr>
              <a:t>).</a:t>
            </a:r>
          </a:p>
          <a:p>
            <a:r>
              <a:rPr lang="en-US" sz="1400" kern="0" spc="-80" dirty="0">
                <a:solidFill>
                  <a:schemeClr val="accent2"/>
                </a:solidFill>
              </a:rPr>
              <a:t>Eviction policies:</a:t>
            </a:r>
            <a:r>
              <a:rPr lang="en-US" sz="1400" kern="0" spc="-80" dirty="0">
                <a:solidFill>
                  <a:schemeClr val="accent6"/>
                </a:solidFill>
              </a:rPr>
              <a:t> how to purge old state (time-based or count-based).</a:t>
            </a:r>
          </a:p>
          <a:p>
            <a:endParaRPr lang="en-US" sz="1400" kern="0" spc="-80" dirty="0">
              <a:solidFill>
                <a:schemeClr val="accent6"/>
              </a:solidFill>
            </a:endParaRPr>
          </a:p>
          <a:p>
            <a:r>
              <a:rPr lang="en-US" sz="1400" kern="0" spc="-80" dirty="0">
                <a:solidFill>
                  <a:schemeClr val="accent2"/>
                </a:solidFill>
              </a:rPr>
              <a:t>Pattern detection &amp; languages</a:t>
            </a:r>
          </a:p>
          <a:p>
            <a:r>
              <a:rPr lang="en-US" sz="1400" kern="0" spc="-80" dirty="0">
                <a:solidFill>
                  <a:schemeClr val="accent6"/>
                </a:solidFill>
              </a:rPr>
              <a:t>Sequence detection — detect ordered patterns (A then B then C) with optional gaps.</a:t>
            </a:r>
          </a:p>
          <a:p>
            <a:r>
              <a:rPr lang="en-US" sz="1400" kern="0" spc="-80" dirty="0">
                <a:solidFill>
                  <a:schemeClr val="accent6"/>
                </a:solidFill>
              </a:rPr>
              <a:t>Kleene / repetition — detect one-or-more, zero-or-more patterns.</a:t>
            </a:r>
          </a:p>
          <a:p>
            <a:r>
              <a:rPr lang="en-US" sz="1400" kern="0" spc="-80" dirty="0">
                <a:solidFill>
                  <a:schemeClr val="accent6"/>
                </a:solidFill>
              </a:rPr>
              <a:t>Negation/absent events — detect when an expected event doesn’t happen (harder — usually done with timers).</a:t>
            </a:r>
          </a:p>
          <a:p>
            <a:r>
              <a:rPr lang="en-US" sz="1400" kern="0" spc="-80" dirty="0">
                <a:solidFill>
                  <a:schemeClr val="accent6"/>
                </a:solidFill>
              </a:rPr>
              <a:t>Temporal constraints — e.g., A then B within 5 minutes.</a:t>
            </a:r>
          </a:p>
          <a:p>
            <a:r>
              <a:rPr lang="en-US" sz="1400" kern="0" spc="-80" dirty="0">
                <a:solidFill>
                  <a:schemeClr val="accent6"/>
                </a:solidFill>
              </a:rPr>
              <a:t>Correlation — join events by key or by matching attributes.</a:t>
            </a:r>
          </a:p>
          <a:p>
            <a:endParaRPr lang="en-US" sz="1400" kern="0" spc="-80" dirty="0">
              <a:solidFill>
                <a:schemeClr val="accent6"/>
              </a:solidFill>
            </a:endParaRPr>
          </a:p>
          <a:p>
            <a:r>
              <a:rPr lang="en-US" sz="1400" kern="0" spc="-80" dirty="0">
                <a:solidFill>
                  <a:schemeClr val="accent2"/>
                </a:solidFill>
              </a:rPr>
              <a:t>Common CEP languages / styles:</a:t>
            </a:r>
          </a:p>
          <a:p>
            <a:r>
              <a:rPr lang="en-US" sz="1400" kern="0" spc="-80" dirty="0">
                <a:solidFill>
                  <a:schemeClr val="accent2"/>
                </a:solidFill>
              </a:rPr>
              <a:t>EPL (Esper): </a:t>
            </a:r>
            <a:r>
              <a:rPr lang="en-US" sz="1400" kern="0" spc="-80" dirty="0">
                <a:solidFill>
                  <a:schemeClr val="accent6"/>
                </a:solidFill>
              </a:rPr>
              <a:t>event pattern language (classic CEP).</a:t>
            </a:r>
          </a:p>
          <a:p>
            <a:r>
              <a:rPr lang="en-US" sz="1400" kern="0" spc="-80" dirty="0">
                <a:solidFill>
                  <a:schemeClr val="accent2"/>
                </a:solidFill>
              </a:rPr>
              <a:t>SQL-like streaming (Flink SQL, KSQL/</a:t>
            </a:r>
            <a:r>
              <a:rPr lang="en-US" sz="1400" kern="0" spc="-80" dirty="0" err="1">
                <a:solidFill>
                  <a:schemeClr val="accent2"/>
                </a:solidFill>
              </a:rPr>
              <a:t>ksqlDB</a:t>
            </a:r>
            <a:r>
              <a:rPr lang="en-US" sz="1400" kern="0" spc="-80" dirty="0">
                <a:solidFill>
                  <a:schemeClr val="accent2"/>
                </a:solidFill>
              </a:rPr>
              <a:t>):</a:t>
            </a:r>
            <a:r>
              <a:rPr lang="en-US" sz="1400" kern="0" spc="-80" dirty="0">
                <a:solidFill>
                  <a:schemeClr val="accent6"/>
                </a:solidFill>
              </a:rPr>
              <a:t> windows and MATCH_RECOGNIZE for sequences.</a:t>
            </a:r>
          </a:p>
          <a:p>
            <a:r>
              <a:rPr lang="en-US" sz="1400" kern="0" spc="-80" dirty="0">
                <a:solidFill>
                  <a:schemeClr val="accent2"/>
                </a:solidFill>
              </a:rPr>
              <a:t>DSLs: </a:t>
            </a:r>
            <a:r>
              <a:rPr lang="en-US" sz="1400" kern="0" spc="-80" dirty="0">
                <a:solidFill>
                  <a:schemeClr val="accent6"/>
                </a:solidFill>
              </a:rPr>
              <a:t>Kafka Streams DSL, Flink DataStream API (Java/Scala/Python).</a:t>
            </a:r>
          </a:p>
          <a:p>
            <a:r>
              <a:rPr lang="en-US" sz="1400" kern="0" spc="-80" dirty="0">
                <a:solidFill>
                  <a:schemeClr val="accent2"/>
                </a:solidFill>
              </a:rPr>
              <a:t>Siddhi: </a:t>
            </a:r>
            <a:r>
              <a:rPr lang="en-US" sz="1400" kern="0" spc="-80" dirty="0">
                <a:solidFill>
                  <a:schemeClr val="accent6"/>
                </a:solidFill>
              </a:rPr>
              <a:t>streaming SQL/CEP engine.</a:t>
            </a:r>
          </a:p>
          <a:p>
            <a:endParaRPr lang="en-US" sz="1400" kern="0" spc="-80" dirty="0">
              <a:solidFill>
                <a:schemeClr val="accent6"/>
              </a:solidFill>
            </a:endParaRPr>
          </a:p>
          <a:p>
            <a:r>
              <a:rPr lang="en-US" sz="1400" kern="0" spc="-80" dirty="0">
                <a:solidFill>
                  <a:schemeClr val="accent2"/>
                </a:solidFill>
              </a:rPr>
              <a:t>Example (conceptual EPL):</a:t>
            </a:r>
          </a:p>
          <a:p>
            <a:r>
              <a:rPr lang="en-US" sz="1400" kern="0" spc="-80" dirty="0">
                <a:solidFill>
                  <a:schemeClr val="accent6"/>
                </a:solidFill>
              </a:rPr>
              <a:t>SELECT * FROM PATTERN [</a:t>
            </a:r>
          </a:p>
          <a:p>
            <a:r>
              <a:rPr lang="en-US" sz="1400" kern="0" spc="-80" dirty="0">
                <a:solidFill>
                  <a:schemeClr val="accent6"/>
                </a:solidFill>
              </a:rPr>
              <a:t>  every a=</a:t>
            </a:r>
            <a:r>
              <a:rPr lang="en-US" sz="1400" kern="0" spc="-80" dirty="0" err="1">
                <a:solidFill>
                  <a:schemeClr val="accent6"/>
                </a:solidFill>
              </a:rPr>
              <a:t>LoginEvent</a:t>
            </a:r>
            <a:r>
              <a:rPr lang="en-US" sz="1400" kern="0" spc="-80" dirty="0">
                <a:solidFill>
                  <a:schemeClr val="accent6"/>
                </a:solidFill>
              </a:rPr>
              <a:t> -&gt; b=</a:t>
            </a:r>
            <a:r>
              <a:rPr lang="en-US" sz="1400" kern="0" spc="-80" dirty="0" err="1">
                <a:solidFill>
                  <a:schemeClr val="accent6"/>
                </a:solidFill>
              </a:rPr>
              <a:t>FailedPaymentEvent</a:t>
            </a:r>
            <a:r>
              <a:rPr lang="en-US" sz="1400" kern="0" spc="-80" dirty="0">
                <a:solidFill>
                  <a:schemeClr val="accent6"/>
                </a:solidFill>
              </a:rPr>
              <a:t>(</a:t>
            </a:r>
            <a:r>
              <a:rPr lang="en-US" sz="1400" kern="0" spc="-80" dirty="0" err="1">
                <a:solidFill>
                  <a:schemeClr val="accent6"/>
                </a:solidFill>
              </a:rPr>
              <a:t>a.userId</a:t>
            </a:r>
            <a:r>
              <a:rPr lang="en-US" sz="1400" kern="0" spc="-80" dirty="0">
                <a:solidFill>
                  <a:schemeClr val="accent6"/>
                </a:solidFill>
              </a:rPr>
              <a:t> = </a:t>
            </a:r>
            <a:r>
              <a:rPr lang="en-US" sz="1400" kern="0" spc="-80" dirty="0" err="1">
                <a:solidFill>
                  <a:schemeClr val="accent6"/>
                </a:solidFill>
              </a:rPr>
              <a:t>b.userId</a:t>
            </a:r>
            <a:r>
              <a:rPr lang="en-US" sz="1400" kern="0" spc="-80" dirty="0">
                <a:solidFill>
                  <a:schemeClr val="accent6"/>
                </a:solidFill>
              </a:rPr>
              <a:t>)</a:t>
            </a:r>
          </a:p>
          <a:p>
            <a:r>
              <a:rPr lang="en-US" sz="1400" kern="0" spc="-80" dirty="0">
                <a:solidFill>
                  <a:schemeClr val="accent6"/>
                </a:solidFill>
              </a:rPr>
              <a:t>  WHERE </a:t>
            </a:r>
            <a:r>
              <a:rPr lang="en-US" sz="1400" kern="0" spc="-80" dirty="0" err="1">
                <a:solidFill>
                  <a:schemeClr val="accent6"/>
                </a:solidFill>
              </a:rPr>
              <a:t>timer:within</a:t>
            </a:r>
            <a:r>
              <a:rPr lang="en-US" sz="1400" kern="0" spc="-80" dirty="0">
                <a:solidFill>
                  <a:schemeClr val="accent6"/>
                </a:solidFill>
              </a:rPr>
              <a:t>(10 minutes)</a:t>
            </a:r>
          </a:p>
          <a:p>
            <a:r>
              <a:rPr lang="en-US" sz="1400" kern="0" spc="-80" dirty="0">
                <a:solidFill>
                  <a:schemeClr val="accent6"/>
                </a:solidFill>
              </a:rPr>
              <a:t>]</a:t>
            </a:r>
          </a:p>
        </p:txBody>
      </p:sp>
      <p:sp>
        <p:nvSpPr>
          <p:cNvPr id="8" name="AutoShape 2" descr="SQL vs NoSQL vs NewSQL. Adapting to the changing requirements… | by Gangani  Chamika | Medium">
            <a:extLst>
              <a:ext uri="{FF2B5EF4-FFF2-40B4-BE49-F238E27FC236}">
                <a16:creationId xmlns:a16="http://schemas.microsoft.com/office/drawing/2014/main" id="{4FD6B9E3-0443-95F5-2860-91540E3422E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78AECD-3877-18F3-252A-F2FE40E4F7C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356335770"/>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CE144-8117-6E25-BAC7-57D905DF06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A5D2BCD-F23E-FD32-479C-05D8A2D068F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CF1534-BA1A-B51D-FE93-F9044C81D3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1DF1C40-992C-4307-F7E8-011793810BD3}"/>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AFC3FD9-DE60-5677-C615-14F9B2CCB47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9DDE859-6D38-FDC8-6158-56EAC2287A0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EBB3398-FACB-796A-C34A-48EE904E250E}"/>
              </a:ext>
            </a:extLst>
          </p:cNvPr>
          <p:cNvSpPr txBox="1">
            <a:spLocks/>
          </p:cNvSpPr>
          <p:nvPr/>
        </p:nvSpPr>
        <p:spPr>
          <a:xfrm>
            <a:off x="-7862" y="762000"/>
            <a:ext cx="8915399"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Complex Events Processing</a:t>
            </a:r>
          </a:p>
          <a:p>
            <a:r>
              <a:rPr lang="en-US" sz="1400" kern="0" spc="-80" dirty="0">
                <a:solidFill>
                  <a:schemeClr val="accent2"/>
                </a:solidFill>
              </a:rPr>
              <a:t>Example (conceptual Flink SQL MATCH_RECOGNIZE):</a:t>
            </a:r>
          </a:p>
          <a:p>
            <a:r>
              <a:rPr lang="en-US" sz="1400" kern="0" spc="-80" dirty="0">
                <a:solidFill>
                  <a:schemeClr val="accent6"/>
                </a:solidFill>
              </a:rPr>
              <a:t>SELECT *</a:t>
            </a:r>
          </a:p>
          <a:p>
            <a:r>
              <a:rPr lang="en-US" sz="1400" kern="0" spc="-80" dirty="0">
                <a:solidFill>
                  <a:schemeClr val="accent6"/>
                </a:solidFill>
              </a:rPr>
              <a:t>FROM orders</a:t>
            </a:r>
          </a:p>
          <a:p>
            <a:r>
              <a:rPr lang="en-US" sz="1400" kern="0" spc="-80" dirty="0">
                <a:solidFill>
                  <a:schemeClr val="accent6"/>
                </a:solidFill>
              </a:rPr>
              <a:t>MATCH_RECOGNIZE (</a:t>
            </a:r>
          </a:p>
          <a:p>
            <a:r>
              <a:rPr lang="en-US" sz="1400" kern="0" spc="-80" dirty="0">
                <a:solidFill>
                  <a:schemeClr val="accent6"/>
                </a:solidFill>
              </a:rPr>
              <a:t>  PARTITION BY </a:t>
            </a:r>
            <a:r>
              <a:rPr lang="en-US" sz="1400" kern="0" spc="-80" dirty="0" err="1">
                <a:solidFill>
                  <a:schemeClr val="accent6"/>
                </a:solidFill>
              </a:rPr>
              <a:t>userId</a:t>
            </a:r>
            <a:endParaRPr lang="en-US" sz="1400" kern="0" spc="-80" dirty="0">
              <a:solidFill>
                <a:schemeClr val="accent6"/>
              </a:solidFill>
            </a:endParaRPr>
          </a:p>
          <a:p>
            <a:r>
              <a:rPr lang="en-US" sz="1400" kern="0" spc="-80" dirty="0">
                <a:solidFill>
                  <a:schemeClr val="accent6"/>
                </a:solidFill>
              </a:rPr>
              <a:t>  ORDER BY </a:t>
            </a:r>
            <a:r>
              <a:rPr lang="en-US" sz="1400" kern="0" spc="-80" dirty="0" err="1">
                <a:solidFill>
                  <a:schemeClr val="accent6"/>
                </a:solidFill>
              </a:rPr>
              <a:t>event_time</a:t>
            </a:r>
            <a:endParaRPr lang="en-US" sz="1400" kern="0" spc="-80" dirty="0">
              <a:solidFill>
                <a:schemeClr val="accent6"/>
              </a:solidFill>
            </a:endParaRPr>
          </a:p>
          <a:p>
            <a:r>
              <a:rPr lang="en-US" sz="1400" kern="0" spc="-80" dirty="0">
                <a:solidFill>
                  <a:schemeClr val="accent6"/>
                </a:solidFill>
              </a:rPr>
              <a:t>  MEASURES </a:t>
            </a:r>
            <a:r>
              <a:rPr lang="en-US" sz="1400" kern="0" spc="-80" dirty="0" err="1">
                <a:solidFill>
                  <a:schemeClr val="accent6"/>
                </a:solidFill>
              </a:rPr>
              <a:t>A.event_time</a:t>
            </a:r>
            <a:r>
              <a:rPr lang="en-US" sz="1400" kern="0" spc="-80" dirty="0">
                <a:solidFill>
                  <a:schemeClr val="accent6"/>
                </a:solidFill>
              </a:rPr>
              <a:t> AS </a:t>
            </a:r>
            <a:r>
              <a:rPr lang="en-US" sz="1400" kern="0" spc="-80" dirty="0" err="1">
                <a:solidFill>
                  <a:schemeClr val="accent6"/>
                </a:solidFill>
              </a:rPr>
              <a:t>first_time</a:t>
            </a:r>
            <a:r>
              <a:rPr lang="en-US" sz="1400" kern="0" spc="-80" dirty="0">
                <a:solidFill>
                  <a:schemeClr val="accent6"/>
                </a:solidFill>
              </a:rPr>
              <a:t>, </a:t>
            </a:r>
            <a:r>
              <a:rPr lang="en-US" sz="1400" kern="0" spc="-80" dirty="0" err="1">
                <a:solidFill>
                  <a:schemeClr val="accent6"/>
                </a:solidFill>
              </a:rPr>
              <a:t>B.event_time</a:t>
            </a:r>
            <a:r>
              <a:rPr lang="en-US" sz="1400" kern="0" spc="-80" dirty="0">
                <a:solidFill>
                  <a:schemeClr val="accent6"/>
                </a:solidFill>
              </a:rPr>
              <a:t> AS </a:t>
            </a:r>
            <a:r>
              <a:rPr lang="en-US" sz="1400" kern="0" spc="-80" dirty="0" err="1">
                <a:solidFill>
                  <a:schemeClr val="accent6"/>
                </a:solidFill>
              </a:rPr>
              <a:t>second_time</a:t>
            </a:r>
            <a:endParaRPr lang="en-US" sz="1400" kern="0" spc="-80" dirty="0">
              <a:solidFill>
                <a:schemeClr val="accent6"/>
              </a:solidFill>
            </a:endParaRPr>
          </a:p>
          <a:p>
            <a:r>
              <a:rPr lang="en-US" sz="1400" kern="0" spc="-80" dirty="0">
                <a:solidFill>
                  <a:schemeClr val="accent6"/>
                </a:solidFill>
              </a:rPr>
              <a:t>  PATTERN (A B)</a:t>
            </a:r>
          </a:p>
          <a:p>
            <a:r>
              <a:rPr lang="en-US" sz="1400" kern="0" spc="-80" dirty="0">
                <a:solidFill>
                  <a:schemeClr val="accent6"/>
                </a:solidFill>
              </a:rPr>
              <a:t>  DEFINE</a:t>
            </a:r>
          </a:p>
          <a:p>
            <a:r>
              <a:rPr lang="en-US" sz="1400" kern="0" spc="-80" dirty="0">
                <a:solidFill>
                  <a:schemeClr val="accent6"/>
                </a:solidFill>
              </a:rPr>
              <a:t>    A AS </a:t>
            </a:r>
            <a:r>
              <a:rPr lang="en-US" sz="1400" kern="0" spc="-80" dirty="0" err="1">
                <a:solidFill>
                  <a:schemeClr val="accent6"/>
                </a:solidFill>
              </a:rPr>
              <a:t>event_type</a:t>
            </a:r>
            <a:r>
              <a:rPr lang="en-US" sz="1400" kern="0" spc="-80" dirty="0">
                <a:solidFill>
                  <a:schemeClr val="accent6"/>
                </a:solidFill>
              </a:rPr>
              <a:t> = 'login',</a:t>
            </a:r>
          </a:p>
          <a:p>
            <a:r>
              <a:rPr lang="en-US" sz="1400" kern="0" spc="-80" dirty="0">
                <a:solidFill>
                  <a:schemeClr val="accent6"/>
                </a:solidFill>
              </a:rPr>
              <a:t>    B AS </a:t>
            </a:r>
            <a:r>
              <a:rPr lang="en-US" sz="1400" kern="0" spc="-80" dirty="0" err="1">
                <a:solidFill>
                  <a:schemeClr val="accent6"/>
                </a:solidFill>
              </a:rPr>
              <a:t>event_type</a:t>
            </a:r>
            <a:r>
              <a:rPr lang="en-US" sz="1400" kern="0" spc="-80" dirty="0">
                <a:solidFill>
                  <a:schemeClr val="accent6"/>
                </a:solidFill>
              </a:rPr>
              <a:t> = 'purchase' AND </a:t>
            </a:r>
            <a:r>
              <a:rPr lang="en-US" sz="1400" kern="0" spc="-80" dirty="0" err="1">
                <a:solidFill>
                  <a:schemeClr val="accent6"/>
                </a:solidFill>
              </a:rPr>
              <a:t>B.amount</a:t>
            </a:r>
            <a:r>
              <a:rPr lang="en-US" sz="1400" kern="0" spc="-80" dirty="0">
                <a:solidFill>
                  <a:schemeClr val="accent6"/>
                </a:solidFill>
              </a:rPr>
              <a:t> &gt; 100</a:t>
            </a:r>
          </a:p>
          <a:p>
            <a:r>
              <a:rPr lang="en-US" sz="1400" kern="0" spc="-80" dirty="0">
                <a:solidFill>
                  <a:schemeClr val="accent6"/>
                </a:solidFill>
              </a:rPr>
              <a:t>) AS T</a:t>
            </a:r>
          </a:p>
          <a:p>
            <a:endParaRPr lang="en-US" sz="1400" kern="0" spc="-80" dirty="0">
              <a:solidFill>
                <a:schemeClr val="accent6"/>
              </a:solidFill>
            </a:endParaRPr>
          </a:p>
          <a:p>
            <a:r>
              <a:rPr lang="en-US" sz="1400" kern="0" spc="-80" dirty="0">
                <a:solidFill>
                  <a:schemeClr val="accent2"/>
                </a:solidFill>
              </a:rPr>
              <a:t>Important CEP techniques &amp; algorithms</a:t>
            </a:r>
          </a:p>
          <a:p>
            <a:r>
              <a:rPr lang="en-US" sz="1400" kern="0" spc="-80" dirty="0">
                <a:solidFill>
                  <a:schemeClr val="accent6"/>
                </a:solidFill>
              </a:rPr>
              <a:t>Stateful streaming: keep keyed state (counts, last event, window aggregates). Use </a:t>
            </a:r>
            <a:r>
              <a:rPr lang="en-US" sz="1400" kern="0" spc="-80" dirty="0" err="1">
                <a:solidFill>
                  <a:schemeClr val="accent6"/>
                </a:solidFill>
              </a:rPr>
              <a:t>RocksDB</a:t>
            </a:r>
            <a:r>
              <a:rPr lang="en-US" sz="1400" kern="0" spc="-80" dirty="0">
                <a:solidFill>
                  <a:schemeClr val="accent6"/>
                </a:solidFill>
              </a:rPr>
              <a:t> or in-memory state backends.</a:t>
            </a:r>
          </a:p>
          <a:p>
            <a:r>
              <a:rPr lang="en-US" sz="1400" kern="0" spc="-80" dirty="0">
                <a:solidFill>
                  <a:schemeClr val="accent2"/>
                </a:solidFill>
              </a:rPr>
              <a:t>Event correlation: </a:t>
            </a:r>
            <a:r>
              <a:rPr lang="en-US" sz="1400" kern="0" spc="-80" dirty="0">
                <a:solidFill>
                  <a:schemeClr val="accent6"/>
                </a:solidFill>
              </a:rPr>
              <a:t>join streams (stream-stream join; stream-table join) with time windows.</a:t>
            </a:r>
          </a:p>
          <a:p>
            <a:r>
              <a:rPr lang="en-US" sz="1400" kern="0" spc="-80" dirty="0">
                <a:solidFill>
                  <a:schemeClr val="accent2"/>
                </a:solidFill>
              </a:rPr>
              <a:t>Temporal joins:</a:t>
            </a:r>
            <a:r>
              <a:rPr lang="en-US" sz="1400" kern="0" spc="-80" dirty="0">
                <a:solidFill>
                  <a:schemeClr val="accent6"/>
                </a:solidFill>
              </a:rPr>
              <a:t> join an event with a reference dataset as of event time (requires versioned reference or changelog stream).</a:t>
            </a:r>
          </a:p>
          <a:p>
            <a:r>
              <a:rPr lang="en-US" sz="1400" kern="0" spc="-80" dirty="0">
                <a:solidFill>
                  <a:schemeClr val="accent2"/>
                </a:solidFill>
              </a:rPr>
              <a:t>Complex pattern matching: </a:t>
            </a:r>
            <a:r>
              <a:rPr lang="en-US" sz="1400" kern="0" spc="-80" dirty="0">
                <a:solidFill>
                  <a:schemeClr val="accent6"/>
                </a:solidFill>
              </a:rPr>
              <a:t>deterministic finite automata (DFA) or non-deterministic with backtracking to match regex-like patterns.</a:t>
            </a:r>
          </a:p>
          <a:p>
            <a:r>
              <a:rPr lang="en-US" sz="1400" kern="0" spc="-80" dirty="0">
                <a:solidFill>
                  <a:schemeClr val="accent2"/>
                </a:solidFill>
              </a:rPr>
              <a:t>Sliding-window aggregation:</a:t>
            </a:r>
            <a:r>
              <a:rPr lang="en-US" sz="1400" kern="0" spc="-80" dirty="0">
                <a:solidFill>
                  <a:schemeClr val="accent6"/>
                </a:solidFill>
              </a:rPr>
              <a:t> incremental aggregation to avoid recomputing entire windows.</a:t>
            </a:r>
          </a:p>
        </p:txBody>
      </p:sp>
      <p:sp>
        <p:nvSpPr>
          <p:cNvPr id="8" name="AutoShape 2" descr="SQL vs NoSQL vs NewSQL. Adapting to the changing requirements… | by Gangani  Chamika | Medium">
            <a:extLst>
              <a:ext uri="{FF2B5EF4-FFF2-40B4-BE49-F238E27FC236}">
                <a16:creationId xmlns:a16="http://schemas.microsoft.com/office/drawing/2014/main" id="{EDB4A483-473A-8AD3-C5BA-E95680A3B56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999F8EE-4F2E-9F56-1123-A84F66D8F2D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854207335"/>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1F88B-FE54-501C-B599-F329CB82E6A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B8D2FF-AB07-18EC-B621-8039772D5E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B2AF5C-BEA6-1110-F55F-240704CDFE4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95B624-683C-A5F9-D5EA-ED8373E2C861}"/>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87D4D83-B1CF-6E2A-9527-872047927E2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C05857-47AA-D808-870E-C501B87B0C1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BFC6A53-1071-C26F-B356-4B297C9A7E6B}"/>
              </a:ext>
            </a:extLst>
          </p:cNvPr>
          <p:cNvSpPr txBox="1">
            <a:spLocks/>
          </p:cNvSpPr>
          <p:nvPr/>
        </p:nvSpPr>
        <p:spPr>
          <a:xfrm>
            <a:off x="-7862" y="762000"/>
            <a:ext cx="8915399"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Complex Events Processing</a:t>
            </a:r>
          </a:p>
          <a:p>
            <a:r>
              <a:rPr lang="en-US" sz="1400" kern="0" spc="-80" dirty="0">
                <a:solidFill>
                  <a:schemeClr val="accent2"/>
                </a:solidFill>
              </a:rPr>
              <a:t>Approximate algorithms:</a:t>
            </a:r>
            <a:r>
              <a:rPr lang="en-US" sz="1400" kern="0" spc="-80" dirty="0">
                <a:solidFill>
                  <a:schemeClr val="accent6"/>
                </a:solidFill>
              </a:rPr>
              <a:t> </a:t>
            </a:r>
            <a:r>
              <a:rPr lang="en-US" sz="1400" kern="0" spc="-80" dirty="0" err="1">
                <a:solidFill>
                  <a:schemeClr val="accent6"/>
                </a:solidFill>
              </a:rPr>
              <a:t>HyperLogLog</a:t>
            </a:r>
            <a:r>
              <a:rPr lang="en-US" sz="1400" kern="0" spc="-80" dirty="0">
                <a:solidFill>
                  <a:schemeClr val="accent6"/>
                </a:solidFill>
              </a:rPr>
              <a:t> (distinct counts), Count-Min Sketch (heavy hitters), Bloom filters (membership).</a:t>
            </a:r>
          </a:p>
          <a:p>
            <a:r>
              <a:rPr lang="en-US" sz="1400" kern="0" spc="-80" dirty="0">
                <a:solidFill>
                  <a:schemeClr val="accent2"/>
                </a:solidFill>
              </a:rPr>
              <a:t>Anomaly detection: </a:t>
            </a:r>
            <a:r>
              <a:rPr lang="en-US" sz="1400" kern="0" spc="-80" dirty="0">
                <a:solidFill>
                  <a:schemeClr val="accent6"/>
                </a:solidFill>
              </a:rPr>
              <a:t>statistical (z-score), EWMA, or ML models (isolation forest, online learning).</a:t>
            </a:r>
          </a:p>
          <a:p>
            <a:r>
              <a:rPr lang="en-US" sz="1400" kern="0" spc="-80" dirty="0">
                <a:solidFill>
                  <a:schemeClr val="accent2"/>
                </a:solidFill>
              </a:rPr>
              <a:t>Decay / time-weighted aggregates:</a:t>
            </a:r>
            <a:r>
              <a:rPr lang="en-US" sz="1400" kern="0" spc="-80" dirty="0">
                <a:solidFill>
                  <a:schemeClr val="accent6"/>
                </a:solidFill>
              </a:rPr>
              <a:t> Exponential moving averages for recency bias.</a:t>
            </a:r>
          </a:p>
          <a:p>
            <a:endParaRPr lang="en-US" sz="1400" kern="0" spc="-80" dirty="0">
              <a:solidFill>
                <a:schemeClr val="accent6"/>
              </a:solidFill>
            </a:endParaRPr>
          </a:p>
          <a:p>
            <a:r>
              <a:rPr lang="en-US" sz="1400" kern="0" spc="-80" dirty="0">
                <a:solidFill>
                  <a:schemeClr val="accent2"/>
                </a:solidFill>
              </a:rPr>
              <a:t>Patterns &amp; anti-patterns (practical)</a:t>
            </a:r>
          </a:p>
          <a:p>
            <a:r>
              <a:rPr lang="en-US" sz="1400" kern="0" spc="-80" dirty="0">
                <a:solidFill>
                  <a:schemeClr val="accent2"/>
                </a:solidFill>
              </a:rPr>
              <a:t>Useful patterns:</a:t>
            </a:r>
          </a:p>
          <a:p>
            <a:r>
              <a:rPr lang="en-US" sz="1400" kern="0" spc="-80" dirty="0">
                <a:solidFill>
                  <a:schemeClr val="accent2"/>
                </a:solidFill>
              </a:rPr>
              <a:t>Event enrichment: </a:t>
            </a:r>
            <a:r>
              <a:rPr lang="en-US" sz="1400" kern="0" spc="-80" dirty="0">
                <a:solidFill>
                  <a:schemeClr val="accent6"/>
                </a:solidFill>
              </a:rPr>
              <a:t>join raw events with reference data to add context before detection.</a:t>
            </a:r>
          </a:p>
          <a:p>
            <a:r>
              <a:rPr lang="en-US" sz="1400" kern="0" spc="-80" dirty="0">
                <a:solidFill>
                  <a:schemeClr val="accent2"/>
                </a:solidFill>
              </a:rPr>
              <a:t>Temporal correlation: </a:t>
            </a:r>
            <a:r>
              <a:rPr lang="en-US" sz="1400" kern="0" spc="-80" dirty="0">
                <a:solidFill>
                  <a:schemeClr val="accent6"/>
                </a:solidFill>
              </a:rPr>
              <a:t>match events across streams using join or pattern language.</a:t>
            </a:r>
          </a:p>
          <a:p>
            <a:r>
              <a:rPr lang="en-US" sz="1400" kern="0" spc="-80" dirty="0">
                <a:solidFill>
                  <a:schemeClr val="accent2"/>
                </a:solidFill>
              </a:rPr>
              <a:t>Stateful alerting: </a:t>
            </a:r>
            <a:r>
              <a:rPr lang="en-US" sz="1400" kern="0" spc="-80" dirty="0">
                <a:solidFill>
                  <a:schemeClr val="accent6"/>
                </a:solidFill>
              </a:rPr>
              <a:t>keep rolling aggregates and emit alerts when thresholds crossed.</a:t>
            </a:r>
          </a:p>
          <a:p>
            <a:r>
              <a:rPr lang="en-US" sz="1400" kern="0" spc="-80" dirty="0">
                <a:solidFill>
                  <a:schemeClr val="accent2"/>
                </a:solidFill>
              </a:rPr>
              <a:t>Materialized views: </a:t>
            </a:r>
            <a:r>
              <a:rPr lang="en-US" sz="1400" kern="0" spc="-80" dirty="0">
                <a:solidFill>
                  <a:schemeClr val="accent6"/>
                </a:solidFill>
              </a:rPr>
              <a:t>keep computed tables (</a:t>
            </a:r>
            <a:r>
              <a:rPr lang="en-US" sz="1400" kern="0" spc="-80" dirty="0" err="1">
                <a:solidFill>
                  <a:schemeClr val="accent6"/>
                </a:solidFill>
              </a:rPr>
              <a:t>KTables</a:t>
            </a:r>
            <a:r>
              <a:rPr lang="en-US" sz="1400" kern="0" spc="-80" dirty="0">
                <a:solidFill>
                  <a:schemeClr val="accent6"/>
                </a:solidFill>
              </a:rPr>
              <a:t>, Flink state snapshots) for fast queries.</a:t>
            </a:r>
          </a:p>
          <a:p>
            <a:r>
              <a:rPr lang="en-US" sz="1400" kern="0" spc="-80" dirty="0">
                <a:solidFill>
                  <a:schemeClr val="accent2"/>
                </a:solidFill>
              </a:rPr>
              <a:t>Event sourcing + CEP:</a:t>
            </a:r>
            <a:r>
              <a:rPr lang="en-US" sz="1400" kern="0" spc="-80" dirty="0">
                <a:solidFill>
                  <a:schemeClr val="accent6"/>
                </a:solidFill>
              </a:rPr>
              <a:t> use event store as history plus CEP stream for real-time detection.</a:t>
            </a:r>
          </a:p>
          <a:p>
            <a:r>
              <a:rPr lang="en-US" sz="1400" kern="0" spc="-80" dirty="0">
                <a:solidFill>
                  <a:schemeClr val="accent2"/>
                </a:solidFill>
              </a:rPr>
              <a:t>Saga / compensating action: </a:t>
            </a:r>
            <a:r>
              <a:rPr lang="en-US" sz="1400" kern="0" spc="-80" dirty="0">
                <a:solidFill>
                  <a:schemeClr val="accent6"/>
                </a:solidFill>
              </a:rPr>
              <a:t>execute workflows driven by detected complex events.</a:t>
            </a:r>
          </a:p>
          <a:p>
            <a:r>
              <a:rPr lang="en-US" sz="1400" kern="0" spc="-80" dirty="0">
                <a:solidFill>
                  <a:schemeClr val="accent2"/>
                </a:solidFill>
              </a:rPr>
              <a:t>Anti-patterns:</a:t>
            </a:r>
          </a:p>
          <a:p>
            <a:r>
              <a:rPr lang="en-US" sz="1400" kern="0" spc="-80" dirty="0">
                <a:solidFill>
                  <a:schemeClr val="accent6"/>
                </a:solidFill>
              </a:rPr>
              <a:t>Storing large blobs in events — makes state heavy.</a:t>
            </a:r>
          </a:p>
          <a:p>
            <a:r>
              <a:rPr lang="en-US" sz="1400" kern="0" spc="-80" dirty="0">
                <a:solidFill>
                  <a:schemeClr val="accent6"/>
                </a:solidFill>
              </a:rPr>
              <a:t>Using processing time for correctness-sensitive detection.</a:t>
            </a:r>
          </a:p>
          <a:p>
            <a:r>
              <a:rPr lang="en-US" sz="1400" kern="0" spc="-80" dirty="0">
                <a:solidFill>
                  <a:schemeClr val="accent6"/>
                </a:solidFill>
              </a:rPr>
              <a:t>Not keying streams properly and causing hot partitions.</a:t>
            </a:r>
          </a:p>
          <a:p>
            <a:r>
              <a:rPr lang="en-US" sz="1400" kern="0" spc="-80" dirty="0">
                <a:solidFill>
                  <a:schemeClr val="accent6"/>
                </a:solidFill>
              </a:rPr>
              <a:t>Long-running per-key state without TTL — memory exhaustion.</a:t>
            </a:r>
          </a:p>
          <a:p>
            <a:endParaRPr lang="en-US" sz="1400" kern="0" spc="-80" dirty="0">
              <a:solidFill>
                <a:schemeClr val="accent6"/>
              </a:solidFill>
            </a:endParaRPr>
          </a:p>
          <a:p>
            <a:r>
              <a:rPr lang="en-US" sz="1400" kern="0" spc="-80" dirty="0">
                <a:solidFill>
                  <a:schemeClr val="accent2"/>
                </a:solidFill>
              </a:rPr>
              <a:t>Architecture &amp; components</a:t>
            </a:r>
          </a:p>
          <a:p>
            <a:r>
              <a:rPr lang="en-US" sz="1400" kern="0" spc="-80" dirty="0">
                <a:solidFill>
                  <a:schemeClr val="accent2"/>
                </a:solidFill>
              </a:rPr>
              <a:t>Typical stack:</a:t>
            </a:r>
          </a:p>
          <a:p>
            <a:r>
              <a:rPr lang="en-US" sz="1400" kern="0" spc="-80" dirty="0">
                <a:solidFill>
                  <a:schemeClr val="accent6"/>
                </a:solidFill>
              </a:rPr>
              <a:t>Producers — sensors, apps, logs -&gt; push events.</a:t>
            </a:r>
          </a:p>
          <a:p>
            <a:r>
              <a:rPr lang="en-US" sz="1400" kern="0" spc="-80" dirty="0">
                <a:solidFill>
                  <a:schemeClr val="accent6"/>
                </a:solidFill>
              </a:rPr>
              <a:t>Ingestion / Message Bus — Kafka, Pulsar, Kinesis — durable ordering &amp; replay.</a:t>
            </a:r>
          </a:p>
        </p:txBody>
      </p:sp>
      <p:sp>
        <p:nvSpPr>
          <p:cNvPr id="8" name="AutoShape 2" descr="SQL vs NoSQL vs NewSQL. Adapting to the changing requirements… | by Gangani  Chamika | Medium">
            <a:extLst>
              <a:ext uri="{FF2B5EF4-FFF2-40B4-BE49-F238E27FC236}">
                <a16:creationId xmlns:a16="http://schemas.microsoft.com/office/drawing/2014/main" id="{AEB51A48-CC0D-F022-EE04-EB2BFC6002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3713E24-2FBC-CD1C-3B27-C764EA07022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40301532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56B777-92B5-7F22-4121-35F40B715AE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AAE6B70-8B3B-E146-205F-C63D2E38AF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E7FE2CD-3EA8-8109-F1F9-AACBF1990D2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D6DE4A-7E41-7EBB-2625-F3222C2ABA42}"/>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B508A4E-6EE0-5BC5-3A3C-8FE8B8DCA8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A2CEA75-02F9-6976-5D9C-A6CE3804DE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E62642E-9CC5-C64E-5D7D-13589B41B712}"/>
              </a:ext>
            </a:extLst>
          </p:cNvPr>
          <p:cNvSpPr txBox="1">
            <a:spLocks/>
          </p:cNvSpPr>
          <p:nvPr/>
        </p:nvSpPr>
        <p:spPr>
          <a:xfrm>
            <a:off x="-7862" y="762000"/>
            <a:ext cx="8915399"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Complex Events Processing</a:t>
            </a:r>
          </a:p>
          <a:p>
            <a:r>
              <a:rPr lang="en-US" sz="1400" kern="0" spc="-80" dirty="0">
                <a:solidFill>
                  <a:schemeClr val="accent2"/>
                </a:solidFill>
              </a:rPr>
              <a:t>Architecture &amp; components</a:t>
            </a:r>
          </a:p>
          <a:p>
            <a:r>
              <a:rPr lang="en-US" sz="1400" kern="0" spc="-80" dirty="0">
                <a:solidFill>
                  <a:schemeClr val="accent2"/>
                </a:solidFill>
              </a:rPr>
              <a:t>Typical stack:</a:t>
            </a:r>
          </a:p>
          <a:p>
            <a:r>
              <a:rPr lang="en-US" sz="1400" kern="0" spc="-80" dirty="0">
                <a:solidFill>
                  <a:schemeClr val="accent6"/>
                </a:solidFill>
              </a:rPr>
              <a:t>Stream processing / CEP engine — Flink, Kafka Streams/</a:t>
            </a:r>
            <a:r>
              <a:rPr lang="en-US" sz="1400" kern="0" spc="-80" dirty="0" err="1">
                <a:solidFill>
                  <a:schemeClr val="accent6"/>
                </a:solidFill>
              </a:rPr>
              <a:t>ksqlDB</a:t>
            </a:r>
            <a:r>
              <a:rPr lang="en-US" sz="1400" kern="0" spc="-80" dirty="0">
                <a:solidFill>
                  <a:schemeClr val="accent6"/>
                </a:solidFill>
              </a:rPr>
              <a:t>, Apache Beam, Esper, Siddhi.</a:t>
            </a:r>
          </a:p>
          <a:p>
            <a:r>
              <a:rPr lang="en-US" sz="1400" kern="0" spc="-80" dirty="0">
                <a:solidFill>
                  <a:schemeClr val="accent6"/>
                </a:solidFill>
              </a:rPr>
              <a:t>State store — embedded </a:t>
            </a:r>
            <a:r>
              <a:rPr lang="en-US" sz="1400" kern="0" spc="-80" dirty="0" err="1">
                <a:solidFill>
                  <a:schemeClr val="accent6"/>
                </a:solidFill>
              </a:rPr>
              <a:t>RocksDB</a:t>
            </a:r>
            <a:r>
              <a:rPr lang="en-US" sz="1400" kern="0" spc="-80" dirty="0">
                <a:solidFill>
                  <a:schemeClr val="accent6"/>
                </a:solidFill>
              </a:rPr>
              <a:t>, external KV (Redis/Cassandra) for lookups if needed.</a:t>
            </a:r>
          </a:p>
          <a:p>
            <a:r>
              <a:rPr lang="en-US" sz="1400" kern="0" spc="-80" dirty="0">
                <a:solidFill>
                  <a:schemeClr val="accent6"/>
                </a:solidFill>
              </a:rPr>
              <a:t>Sinks — OLAP DB, key-value, alerting (PagerDuty), dashboards, downstream events.</a:t>
            </a:r>
          </a:p>
          <a:p>
            <a:r>
              <a:rPr lang="en-US" sz="1400" kern="0" spc="-80" dirty="0">
                <a:solidFill>
                  <a:schemeClr val="accent6"/>
                </a:solidFill>
              </a:rPr>
              <a:t>Monitoring &amp; Tracing — metrics, logs, distributed traces.</a:t>
            </a:r>
          </a:p>
          <a:p>
            <a:r>
              <a:rPr lang="en-US" sz="1400" kern="0" spc="-80" dirty="0">
                <a:solidFill>
                  <a:schemeClr val="accent6"/>
                </a:solidFill>
              </a:rPr>
              <a:t>Schema registry &amp; governance — Avro/</a:t>
            </a:r>
            <a:r>
              <a:rPr lang="en-US" sz="1400" kern="0" spc="-80" dirty="0" err="1">
                <a:solidFill>
                  <a:schemeClr val="accent6"/>
                </a:solidFill>
              </a:rPr>
              <a:t>Protobuf</a:t>
            </a:r>
            <a:r>
              <a:rPr lang="en-US" sz="1400" kern="0" spc="-80" dirty="0">
                <a:solidFill>
                  <a:schemeClr val="accent6"/>
                </a:solidFill>
              </a:rPr>
              <a:t>/JSON Schema.</a:t>
            </a:r>
          </a:p>
          <a:p>
            <a:endParaRPr lang="en-US" sz="1400" kern="0" spc="-80" dirty="0">
              <a:solidFill>
                <a:schemeClr val="accent6"/>
              </a:solidFill>
            </a:endParaRPr>
          </a:p>
          <a:p>
            <a:r>
              <a:rPr lang="en-US" sz="1400" kern="0" spc="-80" dirty="0">
                <a:solidFill>
                  <a:schemeClr val="accent2"/>
                </a:solidFill>
              </a:rPr>
              <a:t>Design decisions:</a:t>
            </a:r>
          </a:p>
          <a:p>
            <a:r>
              <a:rPr lang="en-US" sz="1400" kern="0" spc="-80" dirty="0">
                <a:solidFill>
                  <a:schemeClr val="accent6"/>
                </a:solidFill>
              </a:rPr>
              <a:t>Use partition key to limit state per operator and enable parallelism.</a:t>
            </a:r>
          </a:p>
          <a:p>
            <a:r>
              <a:rPr lang="en-US" sz="1400" kern="0" spc="-80" dirty="0">
                <a:solidFill>
                  <a:schemeClr val="accent6"/>
                </a:solidFill>
              </a:rPr>
              <a:t>Use durable queue with partitioning to allow replay.</a:t>
            </a:r>
          </a:p>
          <a:p>
            <a:r>
              <a:rPr lang="en-US" sz="1400" kern="0" spc="-80" dirty="0">
                <a:solidFill>
                  <a:schemeClr val="accent6"/>
                </a:solidFill>
              </a:rPr>
              <a:t>Choose engine by need: low latency + complex SQL -&gt; Flink; lightweight -&gt; Kafka Streams; pattern-specific -&gt; Esper/Siddhi.</a:t>
            </a:r>
          </a:p>
          <a:p>
            <a:endParaRPr lang="en-US" sz="1400" kern="0" spc="-80" dirty="0">
              <a:solidFill>
                <a:schemeClr val="accent6"/>
              </a:solidFill>
            </a:endParaRPr>
          </a:p>
          <a:p>
            <a:r>
              <a:rPr lang="en-US" sz="1400" kern="0" spc="-80" dirty="0">
                <a:solidFill>
                  <a:schemeClr val="accent2"/>
                </a:solidFill>
              </a:rPr>
              <a:t>Consistency, semantics &amp; fault tolerance</a:t>
            </a:r>
          </a:p>
          <a:p>
            <a:r>
              <a:rPr lang="en-US" sz="1400" u="sng" kern="0" spc="-80" dirty="0">
                <a:solidFill>
                  <a:schemeClr val="accent2"/>
                </a:solidFill>
              </a:rPr>
              <a:t>At-least-once:</a:t>
            </a:r>
            <a:r>
              <a:rPr lang="en-US" sz="1400" kern="0" spc="-80" dirty="0">
                <a:solidFill>
                  <a:schemeClr val="accent6"/>
                </a:solidFill>
              </a:rPr>
              <a:t> may produce duplicates; need idempotency or </a:t>
            </a:r>
            <a:r>
              <a:rPr lang="en-US" sz="1400" kern="0" spc="-80" dirty="0" err="1">
                <a:solidFill>
                  <a:schemeClr val="accent6"/>
                </a:solidFill>
              </a:rPr>
              <a:t>dedup</a:t>
            </a:r>
            <a:r>
              <a:rPr lang="en-US" sz="1400" kern="0" spc="-80" dirty="0">
                <a:solidFill>
                  <a:schemeClr val="accent6"/>
                </a:solidFill>
              </a:rPr>
              <a:t> logic.</a:t>
            </a:r>
          </a:p>
          <a:p>
            <a:r>
              <a:rPr lang="en-US" sz="1400" kern="0" spc="-80" dirty="0">
                <a:solidFill>
                  <a:schemeClr val="accent2"/>
                </a:solidFill>
              </a:rPr>
              <a:t>Exactly-once: </a:t>
            </a:r>
            <a:r>
              <a:rPr lang="en-US" sz="1400" kern="0" spc="-80" dirty="0">
                <a:solidFill>
                  <a:schemeClr val="accent6"/>
                </a:solidFill>
              </a:rPr>
              <a:t>snapshot/checkpoint + transactional sinks (two-phase commit). Implementations: Flink checkpoints + Kafka transactions.</a:t>
            </a:r>
          </a:p>
          <a:p>
            <a:r>
              <a:rPr lang="en-US" sz="1400" kern="0" spc="-80" dirty="0">
                <a:solidFill>
                  <a:schemeClr val="accent2"/>
                </a:solidFill>
              </a:rPr>
              <a:t>Checkpointing: </a:t>
            </a:r>
            <a:r>
              <a:rPr lang="en-US" sz="1400" kern="0" spc="-80" dirty="0">
                <a:solidFill>
                  <a:schemeClr val="accent6"/>
                </a:solidFill>
              </a:rPr>
              <a:t>periodically persist state for recovery.</a:t>
            </a:r>
          </a:p>
          <a:p>
            <a:r>
              <a:rPr lang="en-US" sz="1400" kern="0" spc="-80" dirty="0">
                <a:solidFill>
                  <a:schemeClr val="accent2"/>
                </a:solidFill>
              </a:rPr>
              <a:t>Backpressure: </a:t>
            </a:r>
            <a:r>
              <a:rPr lang="en-US" sz="1400" kern="0" spc="-80" dirty="0">
                <a:solidFill>
                  <a:schemeClr val="accent6"/>
                </a:solidFill>
              </a:rPr>
              <a:t>streaming systems must handle slow </a:t>
            </a:r>
            <a:r>
              <a:rPr lang="en-US" sz="1400" kern="0" spc="-80" dirty="0" err="1">
                <a:solidFill>
                  <a:schemeClr val="accent6"/>
                </a:solidFill>
              </a:rPr>
              <a:t>downstreams</a:t>
            </a:r>
            <a:r>
              <a:rPr lang="en-US" sz="1400" kern="0" spc="-80" dirty="0">
                <a:solidFill>
                  <a:schemeClr val="accent6"/>
                </a:solidFill>
              </a:rPr>
              <a:t>; operator chaining and buffer sizing matter.</a:t>
            </a:r>
          </a:p>
          <a:p>
            <a:endParaRPr lang="en-US" sz="14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C411AEA-D54B-7EB9-4059-F2AFC98E426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F0BBDB-8FA3-0CB4-8E43-E0003C1A7BF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06420154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0427A-79A3-2AE2-250F-51FD2FBBB31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05EBB56-E155-5D7D-C562-68A8924A7E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934609D-B943-2498-2224-0E8F9DAA1DB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AB3E95B-218A-2D2A-DD4E-A710BC9CF672}"/>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BF6E854-514F-DFB7-F05E-9C9028A2A24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62125FB-CC88-971C-6FC4-F1BBFA0132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F2C111A-99E3-E343-72F0-82BEC33865B2}"/>
              </a:ext>
            </a:extLst>
          </p:cNvPr>
          <p:cNvSpPr txBox="1">
            <a:spLocks/>
          </p:cNvSpPr>
          <p:nvPr/>
        </p:nvSpPr>
        <p:spPr>
          <a:xfrm>
            <a:off x="-7862" y="762000"/>
            <a:ext cx="8915399"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Complex Events Processing</a:t>
            </a:r>
          </a:p>
          <a:p>
            <a:r>
              <a:rPr lang="en-US" sz="1400" kern="0" spc="-80" dirty="0">
                <a:solidFill>
                  <a:schemeClr val="accent2"/>
                </a:solidFill>
              </a:rPr>
              <a:t>Deduplication strategies:</a:t>
            </a:r>
          </a:p>
          <a:p>
            <a:r>
              <a:rPr lang="en-US" sz="1400" kern="0" spc="-80" dirty="0">
                <a:solidFill>
                  <a:schemeClr val="accent6"/>
                </a:solidFill>
              </a:rPr>
              <a:t>Event ids with TTL stored in state to detect duplicates.</a:t>
            </a:r>
          </a:p>
          <a:p>
            <a:r>
              <a:rPr lang="en-US" sz="1400" kern="0" spc="-80" dirty="0">
                <a:solidFill>
                  <a:schemeClr val="accent2"/>
                </a:solidFill>
              </a:rPr>
              <a:t>Idempotent sinks: </a:t>
            </a:r>
            <a:r>
              <a:rPr lang="en-US" sz="1400" kern="0" spc="-80" dirty="0">
                <a:solidFill>
                  <a:schemeClr val="accent6"/>
                </a:solidFill>
              </a:rPr>
              <a:t>coalesce writes by key/version.</a:t>
            </a:r>
          </a:p>
          <a:p>
            <a:endParaRPr lang="en-US" sz="1400" kern="0" spc="-80" dirty="0">
              <a:solidFill>
                <a:schemeClr val="accent6"/>
              </a:solidFill>
            </a:endParaRPr>
          </a:p>
          <a:p>
            <a:r>
              <a:rPr lang="en-US" sz="1400" kern="0" spc="-80" dirty="0">
                <a:solidFill>
                  <a:schemeClr val="accent2"/>
                </a:solidFill>
              </a:rPr>
              <a:t>Handling out-of-order &amp; late data</a:t>
            </a:r>
          </a:p>
          <a:p>
            <a:r>
              <a:rPr lang="en-US" sz="1400" kern="0" spc="-80" dirty="0">
                <a:solidFill>
                  <a:schemeClr val="accent6"/>
                </a:solidFill>
              </a:rPr>
              <a:t>Watermarks combined with allowed lateness: buffer until watermark passes, then finalize results.</a:t>
            </a:r>
          </a:p>
          <a:p>
            <a:r>
              <a:rPr lang="en-US" sz="1400" kern="0" spc="-80" dirty="0">
                <a:solidFill>
                  <a:schemeClr val="accent2"/>
                </a:solidFill>
              </a:rPr>
              <a:t>Late-arrival handling strategies:</a:t>
            </a:r>
          </a:p>
          <a:p>
            <a:r>
              <a:rPr lang="en-US" sz="1400" kern="0" spc="-80" dirty="0">
                <a:solidFill>
                  <a:schemeClr val="accent6"/>
                </a:solidFill>
              </a:rPr>
              <a:t>Late events are dropped (fast but lossy).</a:t>
            </a:r>
          </a:p>
          <a:p>
            <a:r>
              <a:rPr lang="en-US" sz="1400" kern="0" spc="-80" dirty="0">
                <a:solidFill>
                  <a:schemeClr val="accent6"/>
                </a:solidFill>
              </a:rPr>
              <a:t>Late events update previously emitted results and emit correction events.</a:t>
            </a:r>
          </a:p>
          <a:p>
            <a:r>
              <a:rPr lang="en-US" sz="1400" kern="0" spc="-80" dirty="0">
                <a:solidFill>
                  <a:schemeClr val="accent6"/>
                </a:solidFill>
              </a:rPr>
              <a:t>Keep longer windows and re-compute (cost vs correctness tradeoff).</a:t>
            </a:r>
          </a:p>
          <a:p>
            <a:endParaRPr lang="en-US" sz="1400" kern="0" spc="-80" dirty="0">
              <a:solidFill>
                <a:schemeClr val="accent6"/>
              </a:solidFill>
            </a:endParaRPr>
          </a:p>
          <a:p>
            <a:r>
              <a:rPr lang="en-US" sz="1400" kern="0" spc="-80" dirty="0">
                <a:solidFill>
                  <a:schemeClr val="accent2"/>
                </a:solidFill>
              </a:rPr>
              <a:t>Scaling &amp; performance</a:t>
            </a:r>
          </a:p>
          <a:p>
            <a:r>
              <a:rPr lang="en-US" sz="1400" kern="0" spc="-80" dirty="0">
                <a:solidFill>
                  <a:schemeClr val="accent2"/>
                </a:solidFill>
              </a:rPr>
              <a:t>Partitioning key selection: </a:t>
            </a:r>
            <a:r>
              <a:rPr lang="en-US" sz="1400" kern="0" spc="-80" dirty="0">
                <a:solidFill>
                  <a:schemeClr val="accent6"/>
                </a:solidFill>
              </a:rPr>
              <a:t>choose key to distribute load evenly. Avoid single “global” key.</a:t>
            </a:r>
          </a:p>
          <a:p>
            <a:r>
              <a:rPr lang="en-US" sz="1400" kern="0" spc="-80" dirty="0">
                <a:solidFill>
                  <a:schemeClr val="accent2"/>
                </a:solidFill>
              </a:rPr>
              <a:t>Parallelism: </a:t>
            </a:r>
            <a:r>
              <a:rPr lang="en-US" sz="1400" kern="0" spc="-80" dirty="0">
                <a:solidFill>
                  <a:schemeClr val="accent6"/>
                </a:solidFill>
              </a:rPr>
              <a:t>operator parallelism matches ingest partitions. Scale the message bus + processors together.</a:t>
            </a:r>
          </a:p>
          <a:p>
            <a:r>
              <a:rPr lang="en-US" sz="1400" kern="0" spc="-80" dirty="0">
                <a:solidFill>
                  <a:schemeClr val="accent2"/>
                </a:solidFill>
              </a:rPr>
              <a:t>State sharding:</a:t>
            </a:r>
            <a:r>
              <a:rPr lang="en-US" sz="1400" kern="0" spc="-80" dirty="0">
                <a:solidFill>
                  <a:schemeClr val="accent6"/>
                </a:solidFill>
              </a:rPr>
              <a:t> per-key state reduces contention.</a:t>
            </a:r>
          </a:p>
          <a:p>
            <a:r>
              <a:rPr lang="en-US" sz="1400" kern="0" spc="-80" dirty="0">
                <a:solidFill>
                  <a:schemeClr val="accent6"/>
                </a:solidFill>
              </a:rPr>
              <a:t>Operator chaining minimizes serialization overhead.</a:t>
            </a:r>
          </a:p>
          <a:p>
            <a:r>
              <a:rPr lang="en-US" sz="1400" kern="0" spc="-80" dirty="0" err="1">
                <a:solidFill>
                  <a:schemeClr val="accent2"/>
                </a:solidFill>
              </a:rPr>
              <a:t>RocksDB</a:t>
            </a:r>
            <a:r>
              <a:rPr lang="en-US" sz="1400" kern="0" spc="-80" dirty="0">
                <a:solidFill>
                  <a:schemeClr val="accent2"/>
                </a:solidFill>
              </a:rPr>
              <a:t> tuning: </a:t>
            </a:r>
            <a:r>
              <a:rPr lang="en-US" sz="1400" kern="0" spc="-80" dirty="0">
                <a:solidFill>
                  <a:schemeClr val="accent6"/>
                </a:solidFill>
              </a:rPr>
              <a:t>compaction, memory, bloom filters.</a:t>
            </a:r>
          </a:p>
          <a:p>
            <a:r>
              <a:rPr lang="en-US" sz="1400" kern="0" spc="-80" dirty="0">
                <a:solidFill>
                  <a:schemeClr val="accent2"/>
                </a:solidFill>
              </a:rPr>
              <a:t>Hot key mitigation</a:t>
            </a:r>
            <a:r>
              <a:rPr lang="en-US" sz="1400" kern="0" spc="-80" dirty="0">
                <a:solidFill>
                  <a:schemeClr val="accent6"/>
                </a:solidFill>
              </a:rPr>
              <a:t>: sampling, pre-aggregation, or explicit throttling.</a:t>
            </a:r>
          </a:p>
          <a:p>
            <a:r>
              <a:rPr lang="en-US" sz="1400" kern="0" spc="-80" dirty="0">
                <a:solidFill>
                  <a:schemeClr val="accent2"/>
                </a:solidFill>
              </a:rPr>
              <a:t>Throughput vs latency trade-offs:</a:t>
            </a:r>
            <a:r>
              <a:rPr lang="en-US" sz="1400" kern="0" spc="-80" dirty="0">
                <a:solidFill>
                  <a:schemeClr val="accent6"/>
                </a:solidFill>
              </a:rPr>
              <a:t> batching increases throughput, hurts latency.</a:t>
            </a:r>
          </a:p>
          <a:p>
            <a:endParaRPr lang="en-US" sz="1400" kern="0" spc="-80" dirty="0">
              <a:solidFill>
                <a:schemeClr val="accent6"/>
              </a:solidFill>
            </a:endParaRPr>
          </a:p>
          <a:p>
            <a:r>
              <a:rPr lang="en-US" sz="1400" kern="0" spc="-80" dirty="0">
                <a:solidFill>
                  <a:schemeClr val="accent2"/>
                </a:solidFill>
              </a:rPr>
              <a:t>Storage &amp; state management</a:t>
            </a:r>
          </a:p>
          <a:p>
            <a:r>
              <a:rPr lang="en-US" sz="1400" kern="0" spc="-80" dirty="0">
                <a:solidFill>
                  <a:schemeClr val="accent2"/>
                </a:solidFill>
              </a:rPr>
              <a:t>Keyed state: </a:t>
            </a:r>
            <a:r>
              <a:rPr lang="en-US" sz="1400" kern="0" spc="-80" dirty="0">
                <a:solidFill>
                  <a:schemeClr val="accent6"/>
                </a:solidFill>
              </a:rPr>
              <a:t>per-key stored in state backend (fast read/write).</a:t>
            </a:r>
          </a:p>
          <a:p>
            <a:r>
              <a:rPr lang="en-US" sz="1400" kern="0" spc="-80" dirty="0">
                <a:solidFill>
                  <a:schemeClr val="accent2"/>
                </a:solidFill>
              </a:rPr>
              <a:t>Window state:</a:t>
            </a:r>
            <a:r>
              <a:rPr lang="en-US" sz="1400" kern="0" spc="-80" dirty="0">
                <a:solidFill>
                  <a:schemeClr val="accent6"/>
                </a:solidFill>
              </a:rPr>
              <a:t> aggregates keyed by window and key.</a:t>
            </a:r>
          </a:p>
        </p:txBody>
      </p:sp>
      <p:sp>
        <p:nvSpPr>
          <p:cNvPr id="8" name="AutoShape 2" descr="SQL vs NoSQL vs NewSQL. Adapting to the changing requirements… | by Gangani  Chamika | Medium">
            <a:extLst>
              <a:ext uri="{FF2B5EF4-FFF2-40B4-BE49-F238E27FC236}">
                <a16:creationId xmlns:a16="http://schemas.microsoft.com/office/drawing/2014/main" id="{E9CE3490-BAB6-C677-F410-38C88FE9A4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DA2C408-BAE8-5CFC-FBA6-8C14D2A70338}"/>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073387787"/>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7109D-4CA8-38A8-6786-9C9DE0CACA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E8840C6-7CD6-BB0F-0EAB-44C3CFAA36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1F5AA68-138C-FDEB-76DD-EAE4E20114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C8B7A8-EDE7-E6C5-4000-576588603FF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BFF83F9-2E02-5592-4446-787833B349E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AE935BD-10E7-7307-BDBA-7DF2326270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838FFCF-F727-1D80-B823-DADBF5EF5B08}"/>
              </a:ext>
            </a:extLst>
          </p:cNvPr>
          <p:cNvSpPr txBox="1">
            <a:spLocks/>
          </p:cNvSpPr>
          <p:nvPr/>
        </p:nvSpPr>
        <p:spPr>
          <a:xfrm>
            <a:off x="-7862" y="762000"/>
            <a:ext cx="8915399"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Complex Events Processing</a:t>
            </a:r>
          </a:p>
          <a:p>
            <a:r>
              <a:rPr lang="en-US" sz="1400" kern="0" spc="-80" dirty="0">
                <a:solidFill>
                  <a:schemeClr val="accent2"/>
                </a:solidFill>
              </a:rPr>
              <a:t>State TTL: </a:t>
            </a:r>
            <a:r>
              <a:rPr lang="en-US" sz="1400" kern="0" spc="-80" dirty="0">
                <a:solidFill>
                  <a:schemeClr val="accent6"/>
                </a:solidFill>
              </a:rPr>
              <a:t>evict old state to control storage.</a:t>
            </a:r>
          </a:p>
          <a:p>
            <a:r>
              <a:rPr lang="en-US" sz="1400" kern="0" spc="-80" dirty="0">
                <a:solidFill>
                  <a:schemeClr val="accent2"/>
                </a:solidFill>
              </a:rPr>
              <a:t>Snapshots &amp; backups: </a:t>
            </a:r>
            <a:r>
              <a:rPr lang="en-US" sz="1400" kern="0" spc="-80" dirty="0">
                <a:solidFill>
                  <a:schemeClr val="accent6"/>
                </a:solidFill>
              </a:rPr>
              <a:t>persistent checkpoints for recovery.</a:t>
            </a:r>
          </a:p>
          <a:p>
            <a:endParaRPr lang="en-US" sz="1400" kern="0" spc="-80" dirty="0">
              <a:solidFill>
                <a:schemeClr val="accent6"/>
              </a:solidFill>
            </a:endParaRPr>
          </a:p>
          <a:p>
            <a:r>
              <a:rPr lang="en-US" sz="1400" kern="0" spc="-80" dirty="0">
                <a:solidFill>
                  <a:schemeClr val="accent2"/>
                </a:solidFill>
              </a:rPr>
              <a:t>Integration with ML &amp; analytics</a:t>
            </a:r>
          </a:p>
          <a:p>
            <a:r>
              <a:rPr lang="en-US" sz="1400" kern="0" spc="-80" dirty="0">
                <a:solidFill>
                  <a:schemeClr val="accent2"/>
                </a:solidFill>
              </a:rPr>
              <a:t>Feature extraction pipeline: </a:t>
            </a:r>
            <a:r>
              <a:rPr lang="en-US" sz="1400" kern="0" spc="-80" dirty="0">
                <a:solidFill>
                  <a:schemeClr val="accent6"/>
                </a:solidFill>
              </a:rPr>
              <a:t>CEP extracts features (counts, patterns) which are fed into a real-time model.</a:t>
            </a:r>
          </a:p>
          <a:p>
            <a:r>
              <a:rPr lang="en-US" sz="1400" kern="0" spc="-80" dirty="0">
                <a:solidFill>
                  <a:schemeClr val="accent2"/>
                </a:solidFill>
              </a:rPr>
              <a:t>Online learning: </a:t>
            </a:r>
            <a:r>
              <a:rPr lang="en-US" sz="1400" kern="0" spc="-80" dirty="0">
                <a:solidFill>
                  <a:schemeClr val="accent6"/>
                </a:solidFill>
              </a:rPr>
              <a:t>incremental model updates or streaming model scoring via model-serving endpoints.</a:t>
            </a:r>
          </a:p>
          <a:p>
            <a:r>
              <a:rPr lang="en-US" sz="1400" kern="0" spc="-80" dirty="0">
                <a:solidFill>
                  <a:schemeClr val="accent2"/>
                </a:solidFill>
              </a:rPr>
              <a:t>Feedback loops: </a:t>
            </a:r>
            <a:r>
              <a:rPr lang="en-US" sz="1400" kern="0" spc="-80" dirty="0">
                <a:solidFill>
                  <a:schemeClr val="accent6"/>
                </a:solidFill>
              </a:rPr>
              <a:t>use labels from downstream systems to retrain and improve detection.</a:t>
            </a:r>
          </a:p>
          <a:p>
            <a:endParaRPr lang="en-US" sz="1400" kern="0" spc="-80" dirty="0">
              <a:solidFill>
                <a:schemeClr val="accent6"/>
              </a:solidFill>
            </a:endParaRPr>
          </a:p>
          <a:p>
            <a:r>
              <a:rPr lang="en-US" sz="1400" kern="0" spc="-80" dirty="0">
                <a:solidFill>
                  <a:schemeClr val="accent2"/>
                </a:solidFill>
              </a:rPr>
              <a:t>Testing &amp; validation</a:t>
            </a:r>
          </a:p>
          <a:p>
            <a:r>
              <a:rPr lang="en-US" sz="1400" kern="0" spc="-80" dirty="0">
                <a:solidFill>
                  <a:schemeClr val="accent2"/>
                </a:solidFill>
              </a:rPr>
              <a:t>Unit tests:</a:t>
            </a:r>
            <a:r>
              <a:rPr lang="en-US" sz="1400" kern="0" spc="-80" dirty="0">
                <a:solidFill>
                  <a:schemeClr val="accent6"/>
                </a:solidFill>
              </a:rPr>
              <a:t> feed synthetic events and assert expected outputs for each operator.</a:t>
            </a:r>
          </a:p>
          <a:p>
            <a:r>
              <a:rPr lang="en-US" sz="1400" kern="0" spc="-80" dirty="0">
                <a:solidFill>
                  <a:schemeClr val="accent2"/>
                </a:solidFill>
              </a:rPr>
              <a:t>Integration tests: </a:t>
            </a:r>
            <a:r>
              <a:rPr lang="en-US" sz="1400" kern="0" spc="-80" dirty="0">
                <a:solidFill>
                  <a:schemeClr val="accent6"/>
                </a:solidFill>
              </a:rPr>
              <a:t>end-to-end with message bus and state backend.</a:t>
            </a:r>
          </a:p>
          <a:p>
            <a:r>
              <a:rPr lang="en-US" sz="1400" kern="0" spc="-80" dirty="0">
                <a:solidFill>
                  <a:schemeClr val="accent2"/>
                </a:solidFill>
              </a:rPr>
              <a:t>Property-based testing: </a:t>
            </a:r>
            <a:r>
              <a:rPr lang="en-US" sz="1400" kern="0" spc="-80" dirty="0">
                <a:solidFill>
                  <a:schemeClr val="accent6"/>
                </a:solidFill>
              </a:rPr>
              <a:t>random inputs, verify invariants (e.g., monotonicity).</a:t>
            </a:r>
          </a:p>
          <a:p>
            <a:r>
              <a:rPr lang="en-US" sz="1400" kern="0" spc="-80" dirty="0">
                <a:solidFill>
                  <a:schemeClr val="accent2"/>
                </a:solidFill>
              </a:rPr>
              <a:t>Replay testing: </a:t>
            </a:r>
            <a:r>
              <a:rPr lang="en-US" sz="1400" kern="0" spc="-80" dirty="0">
                <a:solidFill>
                  <a:schemeClr val="accent6"/>
                </a:solidFill>
              </a:rPr>
              <a:t>replay production partitions to test behavior and performance.</a:t>
            </a:r>
          </a:p>
          <a:p>
            <a:r>
              <a:rPr lang="en-US" sz="1400" kern="0" spc="-80" dirty="0">
                <a:solidFill>
                  <a:schemeClr val="accent2"/>
                </a:solidFill>
              </a:rPr>
              <a:t>Chaos testing: </a:t>
            </a:r>
            <a:r>
              <a:rPr lang="en-US" sz="1400" kern="0" spc="-80" dirty="0">
                <a:solidFill>
                  <a:schemeClr val="accent6"/>
                </a:solidFill>
              </a:rPr>
              <a:t>node failures, partition rebalances, checkpoint failures.</a:t>
            </a:r>
          </a:p>
          <a:p>
            <a:r>
              <a:rPr lang="en-US" sz="1400" kern="0" spc="-80" dirty="0" err="1">
                <a:solidFill>
                  <a:schemeClr val="accent6"/>
                </a:solidFill>
              </a:rPr>
              <a:t>Backtest</a:t>
            </a:r>
            <a:r>
              <a:rPr lang="en-US" sz="1400" kern="0" spc="-80" dirty="0">
                <a:solidFill>
                  <a:schemeClr val="accent6"/>
                </a:solidFill>
              </a:rPr>
              <a:t> historical data to compare CEP outputs with ground truth.</a:t>
            </a:r>
          </a:p>
          <a:p>
            <a:endParaRPr lang="en-US" sz="1400" kern="0" spc="-80" dirty="0">
              <a:solidFill>
                <a:schemeClr val="accent6"/>
              </a:solidFill>
            </a:endParaRPr>
          </a:p>
          <a:p>
            <a:r>
              <a:rPr lang="en-US" sz="1400" kern="0" spc="-80" dirty="0">
                <a:solidFill>
                  <a:schemeClr val="accent2"/>
                </a:solidFill>
              </a:rPr>
              <a:t>Observability &amp; operations</a:t>
            </a:r>
          </a:p>
          <a:p>
            <a:r>
              <a:rPr lang="en-US" sz="1400" kern="0" spc="-80" dirty="0">
                <a:solidFill>
                  <a:schemeClr val="accent2"/>
                </a:solidFill>
              </a:rPr>
              <a:t>Metrics: </a:t>
            </a:r>
            <a:r>
              <a:rPr lang="en-US" sz="1400" kern="0" spc="-80" dirty="0">
                <a:solidFill>
                  <a:schemeClr val="accent6"/>
                </a:solidFill>
              </a:rPr>
              <a:t>event throughput, processing latency, watermark lag, checkpoint duration, state size, backpressure.</a:t>
            </a:r>
          </a:p>
          <a:p>
            <a:r>
              <a:rPr lang="en-US" sz="1400" kern="0" spc="-80" dirty="0">
                <a:solidFill>
                  <a:schemeClr val="accent2"/>
                </a:solidFill>
              </a:rPr>
              <a:t>Logging: </a:t>
            </a:r>
            <a:r>
              <a:rPr lang="en-US" sz="1400" kern="0" spc="-80" dirty="0">
                <a:solidFill>
                  <a:schemeClr val="accent6"/>
                </a:solidFill>
              </a:rPr>
              <a:t>correlated logs with event ids and trace ids.</a:t>
            </a:r>
          </a:p>
          <a:p>
            <a:r>
              <a:rPr lang="en-US" sz="1400" kern="0" spc="-80" dirty="0">
                <a:solidFill>
                  <a:schemeClr val="accent2"/>
                </a:solidFill>
              </a:rPr>
              <a:t>Tracing: </a:t>
            </a:r>
            <a:r>
              <a:rPr lang="en-US" sz="1400" kern="0" spc="-80" dirty="0">
                <a:solidFill>
                  <a:schemeClr val="accent6"/>
                </a:solidFill>
              </a:rPr>
              <a:t>distributed traces to follow event flows.</a:t>
            </a:r>
          </a:p>
          <a:p>
            <a:r>
              <a:rPr lang="en-US" sz="1400" kern="0" spc="-80" dirty="0">
                <a:solidFill>
                  <a:schemeClr val="accent2"/>
                </a:solidFill>
              </a:rPr>
              <a:t>Alerting: </a:t>
            </a:r>
            <a:r>
              <a:rPr lang="en-US" sz="1400" kern="0" spc="-80" dirty="0">
                <a:solidFill>
                  <a:schemeClr val="accent6"/>
                </a:solidFill>
              </a:rPr>
              <a:t>set SLO-based alerts (e.g., watermark delay &gt; threshold).</a:t>
            </a:r>
          </a:p>
          <a:p>
            <a:r>
              <a:rPr lang="en-US" sz="1400" kern="0" spc="-80" dirty="0">
                <a:solidFill>
                  <a:schemeClr val="accent2"/>
                </a:solidFill>
              </a:rPr>
              <a:t>Runbooks: </a:t>
            </a:r>
            <a:r>
              <a:rPr lang="en-US" sz="1400" kern="0" spc="-80" dirty="0">
                <a:solidFill>
                  <a:schemeClr val="accent6"/>
                </a:solidFill>
              </a:rPr>
              <a:t>procedures for recovery from stuck watermarks, checkpoint failures, hot keys.</a:t>
            </a:r>
          </a:p>
        </p:txBody>
      </p:sp>
      <p:sp>
        <p:nvSpPr>
          <p:cNvPr id="8" name="AutoShape 2" descr="SQL vs NoSQL vs NewSQL. Adapting to the changing requirements… | by Gangani  Chamika | Medium">
            <a:extLst>
              <a:ext uri="{FF2B5EF4-FFF2-40B4-BE49-F238E27FC236}">
                <a16:creationId xmlns:a16="http://schemas.microsoft.com/office/drawing/2014/main" id="{C15BE7A5-0B72-257A-8FDD-C1380CEA04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F38870C-A0E3-E3D8-7ED0-BD8CC7C5C4C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836958463"/>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A12EF-37E8-BFB3-9D36-88502998FCA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2222D4E-F8B9-6FA8-2537-39959779EE9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F5F422-44E0-934E-2E63-13D844332F9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9C9946F-7533-4E6E-8BEB-89F1A6A2D98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B5097EC-70B3-3492-2CE3-1E0C1D47F9B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67ABF0-ACA8-6625-B5A2-4DA82901E3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FD1373D-04C6-B548-0E6F-CD16427E1C08}"/>
              </a:ext>
            </a:extLst>
          </p:cNvPr>
          <p:cNvSpPr txBox="1">
            <a:spLocks/>
          </p:cNvSpPr>
          <p:nvPr/>
        </p:nvSpPr>
        <p:spPr>
          <a:xfrm>
            <a:off x="-7862" y="762000"/>
            <a:ext cx="8915399"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Complex Events Processing</a:t>
            </a:r>
          </a:p>
          <a:p>
            <a:r>
              <a:rPr lang="en-US" sz="1400" kern="0" spc="-80" dirty="0">
                <a:solidFill>
                  <a:schemeClr val="accent2"/>
                </a:solidFill>
              </a:rPr>
              <a:t>Security &amp; governance</a:t>
            </a:r>
          </a:p>
          <a:p>
            <a:r>
              <a:rPr lang="en-US" sz="1400" kern="0" spc="-80" dirty="0">
                <a:solidFill>
                  <a:schemeClr val="accent6"/>
                </a:solidFill>
              </a:rPr>
              <a:t>Encryption in transit &amp; at rest for events and state.</a:t>
            </a:r>
          </a:p>
          <a:p>
            <a:r>
              <a:rPr lang="en-US" sz="1400" kern="0" spc="-80" dirty="0">
                <a:solidFill>
                  <a:schemeClr val="accent6"/>
                </a:solidFill>
              </a:rPr>
              <a:t>Authentication &amp; RBAC on brokers and processors.</a:t>
            </a:r>
          </a:p>
          <a:p>
            <a:r>
              <a:rPr lang="en-US" sz="1400" kern="0" spc="-80" dirty="0">
                <a:solidFill>
                  <a:schemeClr val="accent2"/>
                </a:solidFill>
              </a:rPr>
              <a:t>PII handling: </a:t>
            </a:r>
            <a:r>
              <a:rPr lang="en-US" sz="1400" kern="0" spc="-80" dirty="0">
                <a:solidFill>
                  <a:schemeClr val="accent6"/>
                </a:solidFill>
              </a:rPr>
              <a:t>redact or tokenize sensitive event fields.</a:t>
            </a:r>
          </a:p>
          <a:p>
            <a:r>
              <a:rPr lang="en-US" sz="1400" kern="0" spc="-80" dirty="0">
                <a:solidFill>
                  <a:schemeClr val="accent2"/>
                </a:solidFill>
              </a:rPr>
              <a:t>Audit trails:</a:t>
            </a:r>
            <a:r>
              <a:rPr lang="en-US" sz="1400" kern="0" spc="-80" dirty="0">
                <a:solidFill>
                  <a:schemeClr val="accent6"/>
                </a:solidFill>
              </a:rPr>
              <a:t> immutable logs for compliance.</a:t>
            </a:r>
          </a:p>
          <a:p>
            <a:r>
              <a:rPr lang="en-US" sz="1400" kern="0" spc="-80" dirty="0">
                <a:solidFill>
                  <a:schemeClr val="accent6"/>
                </a:solidFill>
              </a:rPr>
              <a:t>Schema registry &amp; governance: enforce compatibility rules.</a:t>
            </a:r>
          </a:p>
          <a:p>
            <a:endParaRPr lang="en-US" sz="1400" kern="0" spc="-80" dirty="0">
              <a:solidFill>
                <a:schemeClr val="accent6"/>
              </a:solidFill>
            </a:endParaRPr>
          </a:p>
          <a:p>
            <a:r>
              <a:rPr lang="en-US" sz="1400" kern="0" spc="-80" dirty="0">
                <a:solidFill>
                  <a:schemeClr val="accent2"/>
                </a:solidFill>
              </a:rPr>
              <a:t>Common CEP use cases</a:t>
            </a:r>
          </a:p>
          <a:p>
            <a:r>
              <a:rPr lang="en-US" sz="1400" kern="0" spc="-80" dirty="0">
                <a:solidFill>
                  <a:schemeClr val="accent6"/>
                </a:solidFill>
              </a:rPr>
              <a:t>Fraud detection (sequence of suspicious transactions)</a:t>
            </a:r>
          </a:p>
          <a:p>
            <a:r>
              <a:rPr lang="en-US" sz="1400" kern="0" spc="-80" dirty="0">
                <a:solidFill>
                  <a:schemeClr val="accent6"/>
                </a:solidFill>
              </a:rPr>
              <a:t>Real-time monitoring and alerting (SRE/ops: SLA breaches)</a:t>
            </a:r>
          </a:p>
          <a:p>
            <a:r>
              <a:rPr lang="en-US" sz="1400" kern="0" spc="-80" dirty="0">
                <a:solidFill>
                  <a:schemeClr val="accent6"/>
                </a:solidFill>
              </a:rPr>
              <a:t>Clickstream analytics and personalization</a:t>
            </a:r>
          </a:p>
          <a:p>
            <a:r>
              <a:rPr lang="en-US" sz="1400" kern="0" spc="-80" dirty="0">
                <a:solidFill>
                  <a:schemeClr val="accent6"/>
                </a:solidFill>
              </a:rPr>
              <a:t>Trading &amp; market surveillance (pattern detection, arbitrage)</a:t>
            </a:r>
          </a:p>
          <a:p>
            <a:r>
              <a:rPr lang="en-US" sz="1400" kern="0" spc="-80" dirty="0">
                <a:solidFill>
                  <a:schemeClr val="accent6"/>
                </a:solidFill>
              </a:rPr>
              <a:t>IoT anomaly detection (sensor fusion, predictive maintenance)</a:t>
            </a:r>
          </a:p>
          <a:p>
            <a:r>
              <a:rPr lang="en-US" sz="1400" kern="0" spc="-80" dirty="0">
                <a:solidFill>
                  <a:schemeClr val="accent6"/>
                </a:solidFill>
              </a:rPr>
              <a:t>Telecom (call patterns, churn prediction)</a:t>
            </a:r>
          </a:p>
          <a:p>
            <a:r>
              <a:rPr lang="en-US" sz="1400" kern="0" spc="-80" dirty="0">
                <a:solidFill>
                  <a:schemeClr val="accent6"/>
                </a:solidFill>
              </a:rPr>
              <a:t>Workflow orchestration and complex business event correlation</a:t>
            </a:r>
          </a:p>
          <a:p>
            <a:endParaRPr lang="en-US" sz="1400" kern="0" spc="-80" dirty="0">
              <a:solidFill>
                <a:schemeClr val="accent6"/>
              </a:solidFill>
            </a:endParaRPr>
          </a:p>
          <a:p>
            <a:r>
              <a:rPr lang="en-US" sz="1400" kern="0" spc="-80" dirty="0">
                <a:solidFill>
                  <a:schemeClr val="accent2"/>
                </a:solidFill>
              </a:rPr>
              <a:t>Design patterns (practical recipes)</a:t>
            </a:r>
          </a:p>
          <a:p>
            <a:r>
              <a:rPr lang="en-US" sz="1400" kern="0" spc="-80" dirty="0">
                <a:solidFill>
                  <a:schemeClr val="accent2"/>
                </a:solidFill>
              </a:rPr>
              <a:t>Enrichment + Correlate: </a:t>
            </a:r>
            <a:r>
              <a:rPr lang="en-US" sz="1400" kern="0" spc="-80" dirty="0">
                <a:solidFill>
                  <a:schemeClr val="accent6"/>
                </a:solidFill>
              </a:rPr>
              <a:t>enrich stream with user profile via stream-table join -&gt; correlate events for user.</a:t>
            </a:r>
          </a:p>
          <a:p>
            <a:r>
              <a:rPr lang="en-US" sz="1400" kern="0" spc="-80" dirty="0">
                <a:solidFill>
                  <a:schemeClr val="accent2"/>
                </a:solidFill>
              </a:rPr>
              <a:t>Detect-and-Replay: </a:t>
            </a:r>
            <a:r>
              <a:rPr lang="en-US" sz="1400" kern="0" spc="-80" dirty="0">
                <a:solidFill>
                  <a:schemeClr val="accent6"/>
                </a:solidFill>
              </a:rPr>
              <a:t>detect suspicious events -&gt; write to separate topic -&gt; replay with enriched context for investigation.</a:t>
            </a:r>
          </a:p>
          <a:p>
            <a:r>
              <a:rPr lang="en-US" sz="1400" kern="0" spc="-80" dirty="0">
                <a:solidFill>
                  <a:schemeClr val="accent2"/>
                </a:solidFill>
              </a:rPr>
              <a:t>Sliding-window top-k:</a:t>
            </a:r>
            <a:r>
              <a:rPr lang="en-US" sz="1400" kern="0" spc="-80" dirty="0">
                <a:solidFill>
                  <a:schemeClr val="accent6"/>
                </a:solidFill>
              </a:rPr>
              <a:t> maintain approximate heavy hitters per window using Count-Min Sketch + periodic materialized view.</a:t>
            </a:r>
          </a:p>
          <a:p>
            <a:r>
              <a:rPr lang="en-US" sz="1400" kern="0" spc="-80" dirty="0" err="1">
                <a:solidFill>
                  <a:schemeClr val="accent2"/>
                </a:solidFill>
              </a:rPr>
              <a:t>Sessionization</a:t>
            </a:r>
            <a:r>
              <a:rPr lang="en-US" sz="1400" kern="0" spc="-80" dirty="0">
                <a:solidFill>
                  <a:schemeClr val="accent2"/>
                </a:solidFill>
              </a:rPr>
              <a:t>:</a:t>
            </a:r>
            <a:r>
              <a:rPr lang="en-US" sz="1400" kern="0" spc="-80" dirty="0">
                <a:solidFill>
                  <a:schemeClr val="accent6"/>
                </a:solidFill>
              </a:rPr>
              <a:t> detect user session boundaries using inactivity gap and aggregate engagement.</a:t>
            </a:r>
          </a:p>
        </p:txBody>
      </p:sp>
      <p:sp>
        <p:nvSpPr>
          <p:cNvPr id="8" name="AutoShape 2" descr="SQL vs NoSQL vs NewSQL. Adapting to the changing requirements… | by Gangani  Chamika | Medium">
            <a:extLst>
              <a:ext uri="{FF2B5EF4-FFF2-40B4-BE49-F238E27FC236}">
                <a16:creationId xmlns:a16="http://schemas.microsoft.com/office/drawing/2014/main" id="{022E7110-936A-B0CF-B331-9D5057C553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1B12C8B-767F-444C-A278-CA74950859D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663257291"/>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A37E2-A43D-76AF-5063-47E49451D7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1A84CA-B36C-53D8-8BF4-D9106B6C1CC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EDB329-EA57-0549-F8D9-926D6A3FAC5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9173FA6-94B4-82F9-8E71-277F8DBEDAA7}"/>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FB8DF4-9ACD-4837-E326-811277B712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98BB2A-4840-29AD-F2CE-6F8C6A72450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DA9649-00F5-ED81-270C-BBB2652D36AA}"/>
              </a:ext>
            </a:extLst>
          </p:cNvPr>
          <p:cNvSpPr txBox="1">
            <a:spLocks/>
          </p:cNvSpPr>
          <p:nvPr/>
        </p:nvSpPr>
        <p:spPr>
          <a:xfrm>
            <a:off x="-7862" y="762000"/>
            <a:ext cx="8915399"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Complex Events Processing</a:t>
            </a:r>
          </a:p>
          <a:p>
            <a:r>
              <a:rPr lang="en-US" sz="1400" kern="0" spc="-80" dirty="0">
                <a:solidFill>
                  <a:schemeClr val="accent2"/>
                </a:solidFill>
              </a:rPr>
              <a:t>Absence detection: </a:t>
            </a:r>
            <a:r>
              <a:rPr lang="en-US" sz="1400" kern="0" spc="-80" dirty="0">
                <a:solidFill>
                  <a:schemeClr val="accent6"/>
                </a:solidFill>
              </a:rPr>
              <a:t>after event A, set timer; if event B doesn’t come by timer, emit absent alert.</a:t>
            </a:r>
          </a:p>
          <a:p>
            <a:r>
              <a:rPr lang="en-US" sz="1400" kern="0" spc="-80" dirty="0">
                <a:solidFill>
                  <a:schemeClr val="accent2"/>
                </a:solidFill>
              </a:rPr>
              <a:t>Escalation pipeline: </a:t>
            </a:r>
            <a:r>
              <a:rPr lang="en-US" sz="1400" kern="0" spc="-80" dirty="0">
                <a:solidFill>
                  <a:schemeClr val="accent6"/>
                </a:solidFill>
              </a:rPr>
              <a:t>pattern detected -&gt; create ticket -&gt; if not resolved within X -&gt; escalate (CEP tracks state).</a:t>
            </a:r>
          </a:p>
          <a:p>
            <a:r>
              <a:rPr lang="en-US" sz="1400" kern="0" spc="-80" dirty="0">
                <a:solidFill>
                  <a:schemeClr val="accent2"/>
                </a:solidFill>
              </a:rPr>
              <a:t>Stateful throttling: </a:t>
            </a:r>
            <a:r>
              <a:rPr lang="en-US" sz="1400" kern="0" spc="-80" dirty="0">
                <a:solidFill>
                  <a:schemeClr val="accent6"/>
                </a:solidFill>
              </a:rPr>
              <a:t>track counts per key and drop or queue events above rate limits.</a:t>
            </a:r>
          </a:p>
          <a:p>
            <a:endParaRPr lang="en-US" sz="1400" kern="0" spc="-80" dirty="0">
              <a:solidFill>
                <a:schemeClr val="accent6"/>
              </a:solidFill>
            </a:endParaRPr>
          </a:p>
          <a:p>
            <a:r>
              <a:rPr lang="en-US" sz="1400" kern="0" spc="-80" dirty="0">
                <a:solidFill>
                  <a:schemeClr val="accent2"/>
                </a:solidFill>
              </a:rPr>
              <a:t>Example CEP queries &amp; snippets</a:t>
            </a:r>
          </a:p>
          <a:p>
            <a:r>
              <a:rPr lang="en-US" sz="1400" kern="0" spc="-80" dirty="0">
                <a:solidFill>
                  <a:schemeClr val="accent2"/>
                </a:solidFill>
              </a:rPr>
              <a:t>Esper EPL (conceptual):</a:t>
            </a:r>
          </a:p>
          <a:p>
            <a:r>
              <a:rPr lang="en-US" sz="1400" kern="0" spc="-80" dirty="0">
                <a:solidFill>
                  <a:schemeClr val="accent6"/>
                </a:solidFill>
              </a:rPr>
              <a:t>SELECT </a:t>
            </a:r>
            <a:r>
              <a:rPr lang="en-US" sz="1400" kern="0" spc="-80" dirty="0" err="1">
                <a:solidFill>
                  <a:schemeClr val="accent6"/>
                </a:solidFill>
              </a:rPr>
              <a:t>userId</a:t>
            </a:r>
            <a:r>
              <a:rPr lang="en-US" sz="1400" kern="0" spc="-80" dirty="0">
                <a:solidFill>
                  <a:schemeClr val="accent6"/>
                </a:solidFill>
              </a:rPr>
              <a:t>, count(*) as </a:t>
            </a:r>
            <a:r>
              <a:rPr lang="en-US" sz="1400" kern="0" spc="-80" dirty="0" err="1">
                <a:solidFill>
                  <a:schemeClr val="accent6"/>
                </a:solidFill>
              </a:rPr>
              <a:t>cnt</a:t>
            </a:r>
            <a:endParaRPr lang="en-US" sz="1400" kern="0" spc="-80" dirty="0">
              <a:solidFill>
                <a:schemeClr val="accent6"/>
              </a:solidFill>
            </a:endParaRPr>
          </a:p>
          <a:p>
            <a:r>
              <a:rPr lang="en-US" sz="1400" kern="0" spc="-80" dirty="0">
                <a:solidFill>
                  <a:schemeClr val="accent6"/>
                </a:solidFill>
              </a:rPr>
              <a:t>FROM </a:t>
            </a:r>
            <a:r>
              <a:rPr lang="en-US" sz="1400" kern="0" spc="-80" dirty="0" err="1">
                <a:solidFill>
                  <a:schemeClr val="accent6"/>
                </a:solidFill>
              </a:rPr>
              <a:t>LoginEvent.win:time_batch</a:t>
            </a:r>
            <a:r>
              <a:rPr lang="en-US" sz="1400" kern="0" spc="-80" dirty="0">
                <a:solidFill>
                  <a:schemeClr val="accent6"/>
                </a:solidFill>
              </a:rPr>
              <a:t>(1 min)</a:t>
            </a:r>
          </a:p>
          <a:p>
            <a:r>
              <a:rPr lang="en-US" sz="1400" kern="0" spc="-80" dirty="0">
                <a:solidFill>
                  <a:schemeClr val="accent6"/>
                </a:solidFill>
              </a:rPr>
              <a:t>WHERE success = false</a:t>
            </a:r>
          </a:p>
          <a:p>
            <a:r>
              <a:rPr lang="en-US" sz="1400" kern="0" spc="-80" dirty="0">
                <a:solidFill>
                  <a:schemeClr val="accent6"/>
                </a:solidFill>
              </a:rPr>
              <a:t>GROUP BY </a:t>
            </a:r>
            <a:r>
              <a:rPr lang="en-US" sz="1400" kern="0" spc="-80" dirty="0" err="1">
                <a:solidFill>
                  <a:schemeClr val="accent6"/>
                </a:solidFill>
              </a:rPr>
              <a:t>userId</a:t>
            </a:r>
            <a:endParaRPr lang="en-US" sz="1400" kern="0" spc="-80" dirty="0">
              <a:solidFill>
                <a:schemeClr val="accent6"/>
              </a:solidFill>
            </a:endParaRPr>
          </a:p>
          <a:p>
            <a:r>
              <a:rPr lang="en-US" sz="1400" kern="0" spc="-80" dirty="0">
                <a:solidFill>
                  <a:schemeClr val="accent6"/>
                </a:solidFill>
              </a:rPr>
              <a:t>HAVING </a:t>
            </a:r>
            <a:r>
              <a:rPr lang="en-US" sz="1400" kern="0" spc="-80" dirty="0" err="1">
                <a:solidFill>
                  <a:schemeClr val="accent6"/>
                </a:solidFill>
              </a:rPr>
              <a:t>cnt</a:t>
            </a:r>
            <a:r>
              <a:rPr lang="en-US" sz="1400" kern="0" spc="-80" dirty="0">
                <a:solidFill>
                  <a:schemeClr val="accent6"/>
                </a:solidFill>
              </a:rPr>
              <a:t> &gt; 5</a:t>
            </a:r>
          </a:p>
          <a:p>
            <a:endParaRPr lang="en-US" sz="1400" kern="0" spc="-80" dirty="0">
              <a:solidFill>
                <a:schemeClr val="accent6"/>
              </a:solidFill>
            </a:endParaRPr>
          </a:p>
          <a:p>
            <a:r>
              <a:rPr lang="en-US" sz="1400" kern="0" spc="-80" dirty="0">
                <a:solidFill>
                  <a:schemeClr val="accent2"/>
                </a:solidFill>
              </a:rPr>
              <a:t>Kafka Streams (Java DSL) — detect 3 fails in 5 mins:</a:t>
            </a:r>
          </a:p>
          <a:p>
            <a:r>
              <a:rPr lang="en-US" sz="1400" kern="0" spc="-80" dirty="0" err="1">
                <a:solidFill>
                  <a:schemeClr val="accent6"/>
                </a:solidFill>
              </a:rPr>
              <a:t>KStream</a:t>
            </a:r>
            <a:r>
              <a:rPr lang="en-US" sz="1400" kern="0" spc="-80" dirty="0">
                <a:solidFill>
                  <a:schemeClr val="accent6"/>
                </a:solidFill>
              </a:rPr>
              <a:t>&lt;String, Event&gt; stream = </a:t>
            </a:r>
            <a:r>
              <a:rPr lang="en-US" sz="1400" kern="0" spc="-80" dirty="0" err="1">
                <a:solidFill>
                  <a:schemeClr val="accent6"/>
                </a:solidFill>
              </a:rPr>
              <a:t>builder.stream</a:t>
            </a:r>
            <a:r>
              <a:rPr lang="en-US" sz="1400" kern="0" spc="-80" dirty="0">
                <a:solidFill>
                  <a:schemeClr val="accent6"/>
                </a:solidFill>
              </a:rPr>
              <a:t>("events");</a:t>
            </a:r>
          </a:p>
          <a:p>
            <a:r>
              <a:rPr lang="en-US" sz="1400" kern="0" spc="-80" dirty="0" err="1">
                <a:solidFill>
                  <a:schemeClr val="accent6"/>
                </a:solidFill>
              </a:rPr>
              <a:t>stream.filter</a:t>
            </a:r>
            <a:r>
              <a:rPr lang="en-US" sz="1400" kern="0" spc="-80" dirty="0">
                <a:solidFill>
                  <a:schemeClr val="accent6"/>
                </a:solidFill>
              </a:rPr>
              <a:t>(e -&gt; </a:t>
            </a:r>
            <a:r>
              <a:rPr lang="en-US" sz="1400" kern="0" spc="-80" dirty="0" err="1">
                <a:solidFill>
                  <a:schemeClr val="accent6"/>
                </a:solidFill>
              </a:rPr>
              <a:t>e.type.equals</a:t>
            </a:r>
            <a:r>
              <a:rPr lang="en-US" sz="1400" kern="0" spc="-80" dirty="0">
                <a:solidFill>
                  <a:schemeClr val="accent6"/>
                </a:solidFill>
              </a:rPr>
              <a:t>("</a:t>
            </a:r>
            <a:r>
              <a:rPr lang="en-US" sz="1400" kern="0" spc="-80" dirty="0" err="1">
                <a:solidFill>
                  <a:schemeClr val="accent6"/>
                </a:solidFill>
              </a:rPr>
              <a:t>loginFail</a:t>
            </a:r>
            <a:r>
              <a:rPr lang="en-US" sz="1400" kern="0" spc="-80" dirty="0">
                <a:solidFill>
                  <a:schemeClr val="accent6"/>
                </a:solidFill>
              </a:rPr>
              <a:t>"))</a:t>
            </a:r>
          </a:p>
          <a:p>
            <a:r>
              <a:rPr lang="en-US" sz="1400" kern="0" spc="-80" dirty="0">
                <a:solidFill>
                  <a:schemeClr val="accent6"/>
                </a:solidFill>
              </a:rPr>
              <a:t>  .</a:t>
            </a:r>
            <a:r>
              <a:rPr lang="en-US" sz="1400" kern="0" spc="-80" dirty="0" err="1">
                <a:solidFill>
                  <a:schemeClr val="accent6"/>
                </a:solidFill>
              </a:rPr>
              <a:t>groupByKey</a:t>
            </a:r>
            <a:r>
              <a:rPr lang="en-US" sz="1400" kern="0" spc="-80" dirty="0">
                <a:solidFill>
                  <a:schemeClr val="accent6"/>
                </a:solidFill>
              </a:rPr>
              <a:t>()</a:t>
            </a:r>
          </a:p>
          <a:p>
            <a:r>
              <a:rPr lang="en-US" sz="1400" kern="0" spc="-80" dirty="0">
                <a:solidFill>
                  <a:schemeClr val="accent6"/>
                </a:solidFill>
              </a:rPr>
              <a:t>  .</a:t>
            </a:r>
            <a:r>
              <a:rPr lang="en-US" sz="1400" kern="0" spc="-80" dirty="0" err="1">
                <a:solidFill>
                  <a:schemeClr val="accent6"/>
                </a:solidFill>
              </a:rPr>
              <a:t>windowedBy</a:t>
            </a:r>
            <a:r>
              <a:rPr lang="en-US" sz="1400" kern="0" spc="-80" dirty="0">
                <a:solidFill>
                  <a:schemeClr val="accent6"/>
                </a:solidFill>
              </a:rPr>
              <a:t>(</a:t>
            </a:r>
            <a:r>
              <a:rPr lang="en-US" sz="1400" kern="0" spc="-80" dirty="0" err="1">
                <a:solidFill>
                  <a:schemeClr val="accent6"/>
                </a:solidFill>
              </a:rPr>
              <a:t>TimeWindows.of</a:t>
            </a:r>
            <a:r>
              <a:rPr lang="en-US" sz="1400" kern="0" spc="-80" dirty="0">
                <a:solidFill>
                  <a:schemeClr val="accent6"/>
                </a:solidFill>
              </a:rPr>
              <a:t>(</a:t>
            </a:r>
            <a:r>
              <a:rPr lang="en-US" sz="1400" kern="0" spc="-80" dirty="0" err="1">
                <a:solidFill>
                  <a:schemeClr val="accent6"/>
                </a:solidFill>
              </a:rPr>
              <a:t>Duration.ofMinutes</a:t>
            </a:r>
            <a:r>
              <a:rPr lang="en-US" sz="1400" kern="0" spc="-80" dirty="0">
                <a:solidFill>
                  <a:schemeClr val="accent6"/>
                </a:solidFill>
              </a:rPr>
              <a:t>(5)))</a:t>
            </a:r>
          </a:p>
          <a:p>
            <a:r>
              <a:rPr lang="en-US" sz="1400" kern="0" spc="-80" dirty="0">
                <a:solidFill>
                  <a:schemeClr val="accent6"/>
                </a:solidFill>
              </a:rPr>
              <a:t>  .count()</a:t>
            </a:r>
          </a:p>
          <a:p>
            <a:r>
              <a:rPr lang="en-US" sz="1400" kern="0" spc="-80" dirty="0">
                <a:solidFill>
                  <a:schemeClr val="accent6"/>
                </a:solidFill>
              </a:rPr>
              <a:t>  .</a:t>
            </a:r>
            <a:r>
              <a:rPr lang="en-US" sz="1400" kern="0" spc="-80" dirty="0" err="1">
                <a:solidFill>
                  <a:schemeClr val="accent6"/>
                </a:solidFill>
              </a:rPr>
              <a:t>toStream</a:t>
            </a:r>
            <a:r>
              <a:rPr lang="en-US" sz="1400" kern="0" spc="-80" dirty="0">
                <a:solidFill>
                  <a:schemeClr val="accent6"/>
                </a:solidFill>
              </a:rPr>
              <a:t>()</a:t>
            </a:r>
          </a:p>
          <a:p>
            <a:r>
              <a:rPr lang="en-US" sz="1400" kern="0" spc="-80" dirty="0">
                <a:solidFill>
                  <a:schemeClr val="accent6"/>
                </a:solidFill>
              </a:rPr>
              <a:t>  .filter((k, v) -&gt; v &gt;= 3)</a:t>
            </a:r>
          </a:p>
          <a:p>
            <a:r>
              <a:rPr lang="en-US" sz="1400" kern="0" spc="-80" dirty="0">
                <a:solidFill>
                  <a:schemeClr val="accent6"/>
                </a:solidFill>
              </a:rPr>
              <a:t>  .to("alerts");</a:t>
            </a:r>
          </a:p>
          <a:p>
            <a:r>
              <a:rPr lang="en-US" sz="1400" kern="0" spc="-80" dirty="0">
                <a:solidFill>
                  <a:schemeClr val="accent2"/>
                </a:solidFill>
              </a:rPr>
              <a:t>Flink DataStream (Java) — simple sequence detection using </a:t>
            </a:r>
            <a:r>
              <a:rPr lang="en-US" sz="1400" kern="0" spc="-80" dirty="0" err="1">
                <a:solidFill>
                  <a:schemeClr val="accent2"/>
                </a:solidFill>
              </a:rPr>
              <a:t>ProcessFunction</a:t>
            </a:r>
            <a:r>
              <a:rPr lang="en-US" sz="1400" kern="0" spc="-80" dirty="0">
                <a:solidFill>
                  <a:schemeClr val="accent2"/>
                </a:solidFill>
              </a:rPr>
              <a:t> and timers</a:t>
            </a:r>
          </a:p>
          <a:p>
            <a:r>
              <a:rPr lang="en-US" sz="1400" kern="0" spc="-80" dirty="0">
                <a:solidFill>
                  <a:schemeClr val="accent6"/>
                </a:solidFill>
              </a:rPr>
              <a:t>(keep last login time, set timer for window, etc.)</a:t>
            </a:r>
          </a:p>
          <a:p>
            <a:endParaRPr lang="en-US" sz="1400" kern="0" spc="-80" dirty="0">
              <a:solidFill>
                <a:schemeClr val="accent6"/>
              </a:solidFill>
            </a:endParaRPr>
          </a:p>
          <a:p>
            <a:endParaRPr lang="en-US" sz="14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688668-2188-E18D-1A3F-98A385B4635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929BA92-6513-F32B-93F4-BDB175EF38D5}"/>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518366295"/>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20E0D-4C5E-A49B-36C7-819CA8A676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2BBC4CD-A510-A20A-21F8-1CCF2879C0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B0091CC-1C7D-4296-FF1F-700FAB7082A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A6C72CD-1FE8-2079-0632-E71EADD1D569}"/>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7FE911A-8083-5CBE-717C-AF31FC18FA2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C630266-A282-E079-44BD-B2E64D31572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5F95AC5-183B-7286-1A3E-E2035CFDA35B}"/>
              </a:ext>
            </a:extLst>
          </p:cNvPr>
          <p:cNvSpPr txBox="1">
            <a:spLocks/>
          </p:cNvSpPr>
          <p:nvPr/>
        </p:nvSpPr>
        <p:spPr>
          <a:xfrm>
            <a:off x="-7862" y="762000"/>
            <a:ext cx="8915399"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Complex Events Processing</a:t>
            </a:r>
          </a:p>
          <a:p>
            <a:r>
              <a:rPr lang="en-US" sz="1400" kern="0" spc="-80" dirty="0">
                <a:solidFill>
                  <a:schemeClr val="accent2"/>
                </a:solidFill>
              </a:rPr>
              <a:t>Choosing a CEP engine — quick guide</a:t>
            </a:r>
          </a:p>
          <a:p>
            <a:r>
              <a:rPr lang="en-US" sz="1400" kern="0" spc="-80" dirty="0">
                <a:solidFill>
                  <a:schemeClr val="accent2"/>
                </a:solidFill>
              </a:rPr>
              <a:t>Esper / Siddhi: </a:t>
            </a:r>
            <a:r>
              <a:rPr lang="en-US" sz="1400" kern="0" spc="-80" dirty="0">
                <a:solidFill>
                  <a:schemeClr val="accent6"/>
                </a:solidFill>
              </a:rPr>
              <a:t>specialized CEP with powerful pattern languages; embedded use-cases.</a:t>
            </a:r>
          </a:p>
          <a:p>
            <a:r>
              <a:rPr lang="en-US" sz="1400" kern="0" spc="-80" dirty="0">
                <a:solidFill>
                  <a:schemeClr val="accent2"/>
                </a:solidFill>
              </a:rPr>
              <a:t>Apache Flink: </a:t>
            </a:r>
            <a:r>
              <a:rPr lang="en-US" sz="1400" kern="0" spc="-80" dirty="0">
                <a:solidFill>
                  <a:schemeClr val="accent6"/>
                </a:solidFill>
              </a:rPr>
              <a:t>strong for large-scale stateful stream processing, robust windowing, event-time semantics, exactly-once, and SQL support.</a:t>
            </a:r>
          </a:p>
          <a:p>
            <a:r>
              <a:rPr lang="en-US" sz="1400" kern="0" spc="-80" dirty="0">
                <a:solidFill>
                  <a:schemeClr val="accent2"/>
                </a:solidFill>
              </a:rPr>
              <a:t>Kafka Streams / </a:t>
            </a:r>
            <a:r>
              <a:rPr lang="en-US" sz="1400" kern="0" spc="-80" dirty="0" err="1">
                <a:solidFill>
                  <a:schemeClr val="accent2"/>
                </a:solidFill>
              </a:rPr>
              <a:t>ksqlDB</a:t>
            </a:r>
            <a:r>
              <a:rPr lang="en-US" sz="1400" kern="0" spc="-80" dirty="0">
                <a:solidFill>
                  <a:schemeClr val="accent2"/>
                </a:solidFill>
              </a:rPr>
              <a:t>:</a:t>
            </a:r>
            <a:r>
              <a:rPr lang="en-US" sz="1400" kern="0" spc="-80" dirty="0">
                <a:solidFill>
                  <a:schemeClr val="accent6"/>
                </a:solidFill>
              </a:rPr>
              <a:t> good for Kafka-native topology, easier ops for Kafka-centric architectures.</a:t>
            </a:r>
          </a:p>
          <a:p>
            <a:r>
              <a:rPr lang="en-US" sz="1400" kern="0" spc="-80" dirty="0">
                <a:solidFill>
                  <a:schemeClr val="accent2"/>
                </a:solidFill>
              </a:rPr>
              <a:t>Apache Beam: </a:t>
            </a:r>
            <a:r>
              <a:rPr lang="en-US" sz="1400" kern="0" spc="-80" dirty="0">
                <a:solidFill>
                  <a:schemeClr val="accent6"/>
                </a:solidFill>
              </a:rPr>
              <a:t>portable model across runners; good if you need pluggable execution.</a:t>
            </a:r>
          </a:p>
          <a:p>
            <a:r>
              <a:rPr lang="en-US" sz="1400" kern="0" spc="-80" dirty="0">
                <a:solidFill>
                  <a:schemeClr val="accent2"/>
                </a:solidFill>
              </a:rPr>
              <a:t>Commercial platforms:</a:t>
            </a:r>
            <a:r>
              <a:rPr lang="en-US" sz="1400" kern="0" spc="-80" dirty="0">
                <a:solidFill>
                  <a:schemeClr val="accent6"/>
                </a:solidFill>
              </a:rPr>
              <a:t> offer GUI-driven pattern builders, integrated alerting and management.</a:t>
            </a:r>
          </a:p>
          <a:p>
            <a:r>
              <a:rPr lang="en-US" sz="1400" kern="0" spc="-80" dirty="0">
                <a:solidFill>
                  <a:schemeClr val="accent2"/>
                </a:solidFill>
              </a:rPr>
              <a:t>Choose based on:</a:t>
            </a:r>
          </a:p>
          <a:p>
            <a:r>
              <a:rPr lang="en-US" sz="1400" kern="0" spc="-80" dirty="0">
                <a:solidFill>
                  <a:schemeClr val="accent6"/>
                </a:solidFill>
              </a:rPr>
              <a:t>Throughput &amp; latency needs</a:t>
            </a:r>
          </a:p>
          <a:p>
            <a:r>
              <a:rPr lang="en-US" sz="1400" kern="0" spc="-80" dirty="0">
                <a:solidFill>
                  <a:schemeClr val="accent6"/>
                </a:solidFill>
              </a:rPr>
              <a:t>State size and complexity of patterns</a:t>
            </a:r>
          </a:p>
          <a:p>
            <a:r>
              <a:rPr lang="en-US" sz="1400" kern="0" spc="-80" dirty="0">
                <a:solidFill>
                  <a:schemeClr val="accent6"/>
                </a:solidFill>
              </a:rPr>
              <a:t>Operational familiarity and ecosystem (Kafka, Kubernetes)</a:t>
            </a:r>
          </a:p>
          <a:p>
            <a:r>
              <a:rPr lang="en-US" sz="1400" kern="0" spc="-80" dirty="0">
                <a:solidFill>
                  <a:schemeClr val="accent6"/>
                </a:solidFill>
              </a:rPr>
              <a:t>Language preference and integration (Java, Python, SQL)</a:t>
            </a:r>
          </a:p>
          <a:p>
            <a:endParaRPr lang="en-US" sz="1400" kern="0" spc="-80" dirty="0">
              <a:solidFill>
                <a:schemeClr val="accent6"/>
              </a:solidFill>
            </a:endParaRPr>
          </a:p>
          <a:p>
            <a:r>
              <a:rPr lang="en-US" sz="1400" kern="0" spc="-80" dirty="0">
                <a:solidFill>
                  <a:schemeClr val="accent2"/>
                </a:solidFill>
              </a:rPr>
              <a:t>Performance tuning checklist</a:t>
            </a:r>
          </a:p>
          <a:p>
            <a:r>
              <a:rPr lang="en-US" sz="1400" kern="0" spc="-80" dirty="0">
                <a:solidFill>
                  <a:schemeClr val="accent6"/>
                </a:solidFill>
              </a:rPr>
              <a:t>Use keyed operations to parallelize state.</a:t>
            </a:r>
          </a:p>
          <a:p>
            <a:r>
              <a:rPr lang="en-US" sz="1400" kern="0" spc="-80" dirty="0">
                <a:solidFill>
                  <a:schemeClr val="accent6"/>
                </a:solidFill>
              </a:rPr>
              <a:t>Tune checkpoint interval vs impact on throughput.</a:t>
            </a:r>
          </a:p>
          <a:p>
            <a:r>
              <a:rPr lang="en-US" sz="1400" kern="0" spc="-80" dirty="0">
                <a:solidFill>
                  <a:schemeClr val="accent6"/>
                </a:solidFill>
              </a:rPr>
              <a:t>Optimize </a:t>
            </a:r>
            <a:r>
              <a:rPr lang="en-US" sz="1400" kern="0" spc="-80" dirty="0" err="1">
                <a:solidFill>
                  <a:schemeClr val="accent6"/>
                </a:solidFill>
              </a:rPr>
              <a:t>RocksDB</a:t>
            </a:r>
            <a:r>
              <a:rPr lang="en-US" sz="1400" kern="0" spc="-80" dirty="0">
                <a:solidFill>
                  <a:schemeClr val="accent6"/>
                </a:solidFill>
              </a:rPr>
              <a:t> options and </a:t>
            </a:r>
            <a:r>
              <a:rPr lang="en-US" sz="1400" kern="0" spc="-80" dirty="0" err="1">
                <a:solidFill>
                  <a:schemeClr val="accent6"/>
                </a:solidFill>
              </a:rPr>
              <a:t>memtables</a:t>
            </a:r>
            <a:r>
              <a:rPr lang="en-US" sz="1400" kern="0" spc="-80" dirty="0">
                <a:solidFill>
                  <a:schemeClr val="accent6"/>
                </a:solidFill>
              </a:rPr>
              <a:t>.</a:t>
            </a:r>
          </a:p>
          <a:p>
            <a:r>
              <a:rPr lang="en-US" sz="1400" kern="0" spc="-80" dirty="0">
                <a:solidFill>
                  <a:schemeClr val="accent6"/>
                </a:solidFill>
              </a:rPr>
              <a:t>Apply operator chaining when possible.</a:t>
            </a:r>
          </a:p>
          <a:p>
            <a:r>
              <a:rPr lang="en-US" sz="1400" kern="0" spc="-80" dirty="0">
                <a:solidFill>
                  <a:schemeClr val="accent6"/>
                </a:solidFill>
              </a:rPr>
              <a:t>Increase task slots / parallelism in the engine to meet throughput.</a:t>
            </a:r>
          </a:p>
          <a:p>
            <a:r>
              <a:rPr lang="en-US" sz="1400" kern="0" spc="-80" dirty="0">
                <a:solidFill>
                  <a:schemeClr val="accent6"/>
                </a:solidFill>
              </a:rPr>
              <a:t>Avoid frequent small timers per key (coalesce timers).</a:t>
            </a:r>
          </a:p>
          <a:p>
            <a:r>
              <a:rPr lang="en-US" sz="1400" kern="0" spc="-80" dirty="0">
                <a:solidFill>
                  <a:schemeClr val="accent6"/>
                </a:solidFill>
              </a:rPr>
              <a:t>Pre-aggregate where possible to reduce state churn.</a:t>
            </a:r>
          </a:p>
          <a:p>
            <a:endParaRPr lang="en-US" sz="14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3A7098-A592-42BB-0E63-00061613C4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3B41AA5-E5EE-34E8-2DBC-4EC4EACAA9B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502457107"/>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F70BF-6C1E-8228-ED39-A33E9327B4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CD408C-6FF5-E589-BB2F-E06547DE14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A3E3B8E-0417-36E5-59C5-60998F2BA8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72C597-62A5-9937-34BB-4BE2863BB2AA}"/>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ED07AF6-9C34-6799-899A-6D0B9E7062F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ABE881-CA81-3493-10F0-133184EC818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708F850-C62E-7956-7DE3-F7ABBAFF5042}"/>
              </a:ext>
            </a:extLst>
          </p:cNvPr>
          <p:cNvSpPr txBox="1">
            <a:spLocks/>
          </p:cNvSpPr>
          <p:nvPr/>
        </p:nvSpPr>
        <p:spPr>
          <a:xfrm>
            <a:off x="-7862" y="762000"/>
            <a:ext cx="8915399" cy="19697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Complex Events Processing</a:t>
            </a:r>
          </a:p>
          <a:p>
            <a:r>
              <a:rPr lang="en-US" sz="1400" kern="0" spc="-80" dirty="0">
                <a:solidFill>
                  <a:schemeClr val="accent2"/>
                </a:solidFill>
              </a:rPr>
              <a:t>Real-world caveats &amp; tradeoffs</a:t>
            </a:r>
          </a:p>
          <a:p>
            <a:r>
              <a:rPr lang="en-US" sz="1400" kern="0" spc="-80" dirty="0">
                <a:solidFill>
                  <a:schemeClr val="accent2"/>
                </a:solidFill>
              </a:rPr>
              <a:t>Correctness vs latency: </a:t>
            </a:r>
            <a:r>
              <a:rPr lang="en-US" sz="1400" kern="0" spc="-80" dirty="0">
                <a:solidFill>
                  <a:schemeClr val="accent6"/>
                </a:solidFill>
              </a:rPr>
              <a:t>waiting longer for late events improves correctness but increases detection latency.</a:t>
            </a:r>
          </a:p>
          <a:p>
            <a:r>
              <a:rPr lang="en-US" sz="1400" kern="0" spc="-80" dirty="0">
                <a:solidFill>
                  <a:schemeClr val="accent2"/>
                </a:solidFill>
              </a:rPr>
              <a:t>State explosion: </a:t>
            </a:r>
            <a:r>
              <a:rPr lang="en-US" sz="1400" kern="0" spc="-80" dirty="0">
                <a:solidFill>
                  <a:schemeClr val="accent6"/>
                </a:solidFill>
              </a:rPr>
              <a:t>long retention windows or many keys can exhaust storage — plan TTLs.</a:t>
            </a:r>
          </a:p>
          <a:p>
            <a:r>
              <a:rPr lang="en-US" sz="1400" kern="0" spc="-80" dirty="0">
                <a:solidFill>
                  <a:schemeClr val="accent6"/>
                </a:solidFill>
              </a:rPr>
              <a:t>Complex negation: patterns that require "absence" of events are complex and can be tricky to implement under reorders.</a:t>
            </a:r>
          </a:p>
          <a:p>
            <a:r>
              <a:rPr lang="en-US" sz="1400" kern="0" spc="-80" dirty="0">
                <a:solidFill>
                  <a:schemeClr val="accent2"/>
                </a:solidFill>
              </a:rPr>
              <a:t>Human-in-the-loop: </a:t>
            </a:r>
            <a:r>
              <a:rPr lang="en-US" sz="1400" kern="0" spc="-80" dirty="0">
                <a:solidFill>
                  <a:schemeClr val="accent6"/>
                </a:solidFill>
              </a:rPr>
              <a:t>sometimes you must allow analysts to review and adjust detection thresholds.</a:t>
            </a:r>
          </a:p>
          <a:p>
            <a:pPr marL="12700" marR="5080"/>
            <a:endParaRPr lang="en-US" sz="14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835E88C-3573-E888-FA35-21FF259DE86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19C040B-8578-E5D8-99F3-87F8E3AB7DDB}"/>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165045900"/>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E8F7A-882F-BFA8-8579-319B55B75D7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144A1A-8E85-FBDD-6067-031A64C929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D88671-C662-F439-7B19-231D198E407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69D51B-CE9A-214E-0C7E-2B5770D5945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A36647F-7E8C-EBA0-D6FD-4D3199A5BA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17BD65-1A6E-4465-130E-72E4BA4146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717EE84-B05E-9120-96F5-50077F72FBAD}"/>
              </a:ext>
            </a:extLst>
          </p:cNvPr>
          <p:cNvSpPr txBox="1">
            <a:spLocks/>
          </p:cNvSpPr>
          <p:nvPr/>
        </p:nvSpPr>
        <p:spPr>
          <a:xfrm>
            <a:off x="-7862" y="762000"/>
            <a:ext cx="8915399" cy="59246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600" dirty="0">
                <a:hlinkClick r:id="rId7"/>
              </a:rPr>
              <a:t>Resilient Distributed Dataset (RDD) - The Internals of Spark Core</a:t>
            </a:r>
            <a:r>
              <a:rPr lang="en-IN" sz="1600" u="sng" dirty="0">
                <a:solidFill>
                  <a:srgbClr val="000000"/>
                </a:solidFill>
                <a:latin typeface="UICTFontTextStyleBody"/>
                <a:ea typeface="Aptos" panose="020B0004020202020204" pitchFamily="34" charset="0"/>
                <a:cs typeface="Aptos" panose="020B0004020202020204" pitchFamily="34" charset="0"/>
              </a:rPr>
              <a:t> </a:t>
            </a:r>
            <a:r>
              <a:rPr lang="en-IN" sz="1600" kern="0" spc="-80" dirty="0">
                <a:solidFill>
                  <a:schemeClr val="accent6"/>
                </a:solidFill>
              </a:rPr>
              <a:t>(Resiliency &amp; better read throughput is achieved via in-memory Replication across servers while better write throughput is achieved via partitioning – refer earlier scalability slides)    </a:t>
            </a:r>
            <a:r>
              <a:rPr lang="en-IN" sz="1600" u="sng" dirty="0">
                <a:solidFill>
                  <a:srgbClr val="000000"/>
                </a:solidFill>
                <a:latin typeface="UICTFontTextStyleBody"/>
                <a:ea typeface="Aptos" panose="020B0004020202020204" pitchFamily="34" charset="0"/>
                <a:cs typeface="Aptos" panose="020B0004020202020204" pitchFamily="34" charset="0"/>
              </a:rPr>
              <a:t>   </a:t>
            </a:r>
          </a:p>
          <a:p>
            <a:pPr marL="12700" marR="5080"/>
            <a:r>
              <a:rPr lang="en-US" sz="1600" dirty="0">
                <a:hlinkClick r:id="rId8"/>
              </a:rPr>
              <a:t>Feature Deep Dive: Watermarking in Apache Spark Structured Streaming | Databricks Blog</a:t>
            </a:r>
            <a:endParaRPr lang="en-US" sz="1600" dirty="0"/>
          </a:p>
          <a:p>
            <a:pPr marL="12700" marR="5080"/>
            <a:r>
              <a:rPr lang="en-US" sz="1600" dirty="0">
                <a:hlinkClick r:id="rId9"/>
              </a:rPr>
              <a:t>At most once, at least once, exactly once - by Alex Xu</a:t>
            </a:r>
            <a:r>
              <a:rPr lang="en-US" sz="1600" dirty="0"/>
              <a:t> </a:t>
            </a:r>
            <a:r>
              <a:rPr lang="en-US" sz="1600" kern="0" spc="-80" dirty="0">
                <a:solidFill>
                  <a:schemeClr val="accent6"/>
                </a:solidFill>
              </a:rPr>
              <a:t>(mathematically, exactly-once = </a:t>
            </a:r>
            <a:r>
              <a:rPr lang="en-US" sz="1600" kern="0" spc="-80" dirty="0" err="1">
                <a:solidFill>
                  <a:schemeClr val="accent6"/>
                </a:solidFill>
              </a:rPr>
              <a:t>atleast</a:t>
            </a:r>
            <a:r>
              <a:rPr lang="en-US" sz="1600" kern="0" spc="-80" dirty="0">
                <a:solidFill>
                  <a:schemeClr val="accent6"/>
                </a:solidFill>
              </a:rPr>
              <a:t>-once + </a:t>
            </a:r>
            <a:r>
              <a:rPr lang="en-US" sz="1600" kern="0" spc="-80" dirty="0" err="1">
                <a:solidFill>
                  <a:schemeClr val="accent6"/>
                </a:solidFill>
              </a:rPr>
              <a:t>atmost</a:t>
            </a:r>
            <a:r>
              <a:rPr lang="en-US" sz="1600" kern="0" spc="-80" dirty="0">
                <a:solidFill>
                  <a:schemeClr val="accent6"/>
                </a:solidFill>
              </a:rPr>
              <a:t>-once &amp; </a:t>
            </a:r>
            <a:r>
              <a:rPr lang="en-US" sz="1600" kern="0" spc="-80" dirty="0" err="1">
                <a:solidFill>
                  <a:schemeClr val="accent6"/>
                </a:solidFill>
              </a:rPr>
              <a:t>atleast</a:t>
            </a:r>
            <a:r>
              <a:rPr lang="en-US" sz="1600" kern="0" spc="-80" dirty="0">
                <a:solidFill>
                  <a:schemeClr val="accent6"/>
                </a:solidFill>
              </a:rPr>
              <a:t> once at high level can be implemented using client side “retries” while </a:t>
            </a:r>
            <a:r>
              <a:rPr lang="en-US" sz="1600" kern="0" spc="-80" dirty="0" err="1">
                <a:solidFill>
                  <a:schemeClr val="accent6"/>
                </a:solidFill>
              </a:rPr>
              <a:t>atmost</a:t>
            </a:r>
            <a:r>
              <a:rPr lang="en-US" sz="1600" kern="0" spc="-80" dirty="0">
                <a:solidFill>
                  <a:schemeClr val="accent6"/>
                </a:solidFill>
              </a:rPr>
              <a:t>-once can be implemented at high level using server side idempotency handling)</a:t>
            </a:r>
          </a:p>
          <a:p>
            <a:pPr marL="12700" marR="5080"/>
            <a:r>
              <a:rPr lang="en-US" sz="1600" dirty="0">
                <a:hlinkClick r:id="rId10"/>
              </a:rPr>
              <a:t>What's the difference between Processing Time and Event Time in Apache Beam</a:t>
            </a:r>
            <a:endParaRPr lang="en-US" sz="1600" dirty="0"/>
          </a:p>
          <a:p>
            <a:pPr marL="12700" marR="5080"/>
            <a:r>
              <a:rPr lang="en-US" sz="1600" dirty="0">
                <a:hlinkClick r:id="rId11"/>
              </a:rPr>
              <a:t>Is there a difference between on-line learning, incremental learning and sequential learning</a:t>
            </a:r>
            <a:endParaRPr lang="en-IN" sz="16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IN" sz="1600" dirty="0">
                <a:hlinkClick r:id="rId12"/>
              </a:rPr>
              <a:t>Big Data File Formats</a:t>
            </a:r>
            <a:endParaRPr lang="en-IN" sz="1600" dirty="0"/>
          </a:p>
          <a:p>
            <a:pPr marL="12700" marR="5080"/>
            <a:r>
              <a:rPr lang="en-IN" sz="1600" dirty="0">
                <a:hlinkClick r:id="rId13"/>
              </a:rPr>
              <a:t>Data Processing Architecture On Microsoft Azure | by Karunakar Kotha | Medium</a:t>
            </a:r>
            <a:endParaRPr lang="en-US" sz="1600" kern="0" spc="-80" dirty="0">
              <a:solidFill>
                <a:schemeClr val="accent2"/>
              </a:solidFill>
            </a:endParaRPr>
          </a:p>
          <a:p>
            <a:pPr marL="12700" marR="5080"/>
            <a:r>
              <a:rPr lang="en-US" sz="1600" dirty="0">
                <a:hlinkClick r:id="rId14"/>
              </a:rPr>
              <a:t>Some aspects of parallel and distributed iterative algorithms—A survey – ScienceDirect</a:t>
            </a:r>
            <a:endParaRPr lang="en-US" sz="1600" dirty="0"/>
          </a:p>
          <a:p>
            <a:pPr marL="12700" marR="5080"/>
            <a:r>
              <a:rPr lang="en-US" sz="1600" dirty="0">
                <a:hlinkClick r:id="rId15"/>
              </a:rPr>
              <a:t>Bigdata-on-Kubernetes</a:t>
            </a:r>
            <a:endParaRPr lang="en-US" sz="1600" dirty="0"/>
          </a:p>
          <a:p>
            <a:pPr marL="12700" marR="5080"/>
            <a:r>
              <a:rPr lang="en-US" sz="1600" dirty="0">
                <a:hlinkClick r:id="rId16"/>
              </a:rPr>
              <a:t>Challenges (BD2)</a:t>
            </a:r>
            <a:r>
              <a:rPr lang="en-US" sz="1600" dirty="0"/>
              <a:t> </a:t>
            </a:r>
          </a:p>
          <a:p>
            <a:pPr marL="12700" marR="5080"/>
            <a:r>
              <a:rPr lang="en-IN" sz="1600" dirty="0">
                <a:hlinkClick r:id="rId17"/>
              </a:rPr>
              <a:t>The Hadoop Ecosystem Table</a:t>
            </a:r>
            <a:endParaRPr lang="en-IN" sz="1600" dirty="0"/>
          </a:p>
          <a:p>
            <a:pPr marL="12700" marR="5080"/>
            <a:r>
              <a:rPr lang="en-IN" sz="1600" dirty="0">
                <a:hlinkClick r:id="rId18"/>
              </a:rPr>
              <a:t>Hadoop – Apache Hadoop 3.4.1</a:t>
            </a:r>
            <a:endParaRPr lang="en-IN" sz="1600" dirty="0"/>
          </a:p>
          <a:p>
            <a:pPr marL="12700" marR="5080"/>
            <a:endParaRPr lang="en-IN" sz="1400" dirty="0"/>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FB1223-97A9-A469-489D-EDB420D17C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0385A0F-C5A6-AB78-8DEC-1D98E9DF1B0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251808419"/>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8AB522-460C-76CC-3CA9-C88AEB6394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3FAA440-C02E-50AA-9378-06496D5B18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37F857-57FB-B8AE-88BB-E8A4C65A481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D4613CC-1EA8-2F6B-9635-85540540BAA2}"/>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97A85-E161-C2C4-FEC2-5FD608E611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97BA74C-01BF-9FD9-A410-AFFC3B62DB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87BB0B-AF84-FE29-37BE-82DF1175A0EB}"/>
              </a:ext>
            </a:extLst>
          </p:cNvPr>
          <p:cNvSpPr txBox="1">
            <a:spLocks/>
          </p:cNvSpPr>
          <p:nvPr/>
        </p:nvSpPr>
        <p:spPr>
          <a:xfrm>
            <a:off x="-7862" y="698653"/>
            <a:ext cx="8915399" cy="71711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IN" sz="1600" dirty="0">
                <a:hlinkClick r:id="rId7"/>
              </a:rPr>
              <a:t>Hadoop Internals</a:t>
            </a:r>
            <a:endParaRPr lang="en-IN" sz="1600" dirty="0"/>
          </a:p>
          <a:p>
            <a:pPr marL="12700" marR="5080"/>
            <a:r>
              <a:rPr lang="en-IN" sz="1600" dirty="0">
                <a:hlinkClick r:id="rId8"/>
              </a:rPr>
              <a:t>Data-Algorithms-with-Spark</a:t>
            </a:r>
            <a:endParaRPr lang="en-US" sz="1600" kern="0" spc="-80" dirty="0">
              <a:solidFill>
                <a:schemeClr val="accent2"/>
              </a:solidFill>
            </a:endParaRPr>
          </a:p>
          <a:p>
            <a:pPr marL="12700" marR="5080"/>
            <a:r>
              <a:rPr lang="en-IN" sz="1600" dirty="0">
                <a:hlinkClick r:id="rId9"/>
              </a:rPr>
              <a:t>Why </a:t>
            </a:r>
            <a:r>
              <a:rPr lang="en-IN" sz="1600" dirty="0" err="1">
                <a:hlinkClick r:id="rId9"/>
              </a:rPr>
              <a:t>PySpark</a:t>
            </a:r>
            <a:r>
              <a:rPr lang="en-IN" sz="1600" dirty="0">
                <a:hlinkClick r:id="rId9"/>
              </a:rPr>
              <a:t>| LinkedIn</a:t>
            </a:r>
            <a:endParaRPr lang="en-IN" sz="1600" dirty="0"/>
          </a:p>
          <a:p>
            <a:pPr marL="12700" marR="5080"/>
            <a:r>
              <a:rPr lang="en-IN" sz="1600" dirty="0">
                <a:hlinkClick r:id="rId10"/>
              </a:rPr>
              <a:t>Overview - Spark 3.5.3 Documentation</a:t>
            </a:r>
            <a:endParaRPr lang="en-IN" sz="1600" dirty="0"/>
          </a:p>
          <a:p>
            <a:pPr marL="12700" marR="5080"/>
            <a:r>
              <a:rPr lang="en-US" sz="1600" dirty="0">
                <a:hlinkClick r:id="rId11"/>
              </a:rPr>
              <a:t>Spark Core - The Internals of Spark Core</a:t>
            </a:r>
            <a:endParaRPr lang="en-US" sz="1600" dirty="0"/>
          </a:p>
          <a:p>
            <a:pPr marL="12700" marR="5080"/>
            <a:r>
              <a:rPr lang="en-US" sz="1600" dirty="0" err="1">
                <a:hlinkClick r:id="rId12"/>
              </a:rPr>
              <a:t>SparkInternals</a:t>
            </a:r>
            <a:endParaRPr lang="en-US" sz="1600" dirty="0"/>
          </a:p>
          <a:p>
            <a:pPr marL="12700" marR="5080"/>
            <a:r>
              <a:rPr lang="en-US" sz="1600" dirty="0">
                <a:hlinkClick r:id="rId13"/>
              </a:rPr>
              <a:t>Free E-Book - The ultimate data streaming guide - Kai </a:t>
            </a:r>
            <a:r>
              <a:rPr lang="en-US" sz="1600" dirty="0" err="1">
                <a:hlinkClick r:id="rId13"/>
              </a:rPr>
              <a:t>Waehner</a:t>
            </a:r>
            <a:endParaRPr lang="en-US" sz="1600" dirty="0"/>
          </a:p>
          <a:p>
            <a:pPr marL="12700" marR="5080"/>
            <a:r>
              <a:rPr lang="nl-NL" sz="1600" dirty="0">
                <a:hlinkClick r:id="rId14"/>
              </a:rPr>
              <a:t>Apache Flink Documentation | Apache Flink</a:t>
            </a:r>
            <a:endParaRPr lang="nl-NL" sz="1600" dirty="0"/>
          </a:p>
          <a:p>
            <a:pPr marL="12700" marR="5080"/>
            <a:r>
              <a:rPr lang="en-US" sz="1600" dirty="0">
                <a:hlinkClick r:id="rId15"/>
              </a:rPr>
              <a:t>Apache </a:t>
            </a:r>
            <a:r>
              <a:rPr lang="en-US" sz="1600" dirty="0" err="1">
                <a:hlinkClick r:id="rId15"/>
              </a:rPr>
              <a:t>flink</a:t>
            </a:r>
            <a:r>
              <a:rPr lang="en-US" sz="1600" dirty="0">
                <a:hlinkClick r:id="rId15"/>
              </a:rPr>
              <a:t> - Internal architecture of </a:t>
            </a:r>
            <a:r>
              <a:rPr lang="en-US" sz="1600" dirty="0" err="1">
                <a:hlinkClick r:id="rId15"/>
              </a:rPr>
              <a:t>pyflink</a:t>
            </a:r>
            <a:r>
              <a:rPr lang="en-US" sz="1600" dirty="0">
                <a:hlinkClick r:id="rId15"/>
              </a:rPr>
              <a:t> - Stack Overflow</a:t>
            </a:r>
            <a:endParaRPr lang="en-US" sz="1600" dirty="0"/>
          </a:p>
          <a:p>
            <a:pPr marL="12700" marR="5080"/>
            <a:r>
              <a:rPr lang="en-US" sz="1600" dirty="0">
                <a:hlinkClick r:id="rId16"/>
              </a:rPr>
              <a:t>Kafka for Architects - Katya Gorshkova</a:t>
            </a:r>
            <a:endParaRPr lang="en-US" sz="1600" dirty="0"/>
          </a:p>
          <a:p>
            <a:pPr marL="12700" marR="5080"/>
            <a:r>
              <a:rPr lang="en-US" sz="1600" dirty="0">
                <a:hlinkClick r:id="rId17"/>
              </a:rPr>
              <a:t>Resources for Apache Kafka, Data Streaming, Apache Flink, and More</a:t>
            </a:r>
            <a:endParaRPr lang="en-US" sz="1600" dirty="0"/>
          </a:p>
          <a:p>
            <a:pPr marL="12700" marR="5080"/>
            <a:r>
              <a:rPr lang="en-US" sz="1600" dirty="0">
                <a:hlinkClick r:id="rId18"/>
              </a:rPr>
              <a:t>Awesome-Flink</a:t>
            </a:r>
            <a:endParaRPr lang="en-US" sz="1600" dirty="0"/>
          </a:p>
          <a:p>
            <a:pPr marL="12700" marR="5080"/>
            <a:r>
              <a:rPr lang="en-US" sz="1600" dirty="0" err="1">
                <a:hlinkClick r:id="rId19"/>
              </a:rPr>
              <a:t>Streamdb</a:t>
            </a:r>
            <a:r>
              <a:rPr lang="en-US" sz="1600" dirty="0">
                <a:hlinkClick r:id="rId19"/>
              </a:rPr>
              <a:t>-Readings</a:t>
            </a:r>
            <a:endParaRPr lang="en-US" sz="1600" dirty="0"/>
          </a:p>
          <a:p>
            <a:pPr marL="12700" marR="5080"/>
            <a:r>
              <a:rPr lang="en-US" sz="1600" dirty="0">
                <a:hlinkClick r:id="rId20"/>
              </a:rPr>
              <a:t>Exploring Flow Architectures | Microsoft Learn</a:t>
            </a:r>
            <a:endParaRPr lang="en-US" sz="1600" dirty="0"/>
          </a:p>
          <a:p>
            <a:pPr marL="12700" marR="5080"/>
            <a:r>
              <a:rPr lang="en-IN" sz="1600" dirty="0">
                <a:hlinkClick r:id="rId21"/>
              </a:rPr>
              <a:t>Flow Architectures[Book]</a:t>
            </a:r>
            <a:endParaRPr lang="en-IN" sz="1600" dirty="0"/>
          </a:p>
          <a:p>
            <a:pPr marL="12700" marR="5080"/>
            <a:r>
              <a:rPr lang="en-IN" sz="1600" dirty="0">
                <a:hlinkClick r:id="rId22"/>
              </a:rPr>
              <a:t>Streaming Systems[Book]</a:t>
            </a:r>
            <a:endParaRPr lang="en-IN" sz="1600" dirty="0"/>
          </a:p>
          <a:p>
            <a:pPr marL="12700" marR="5080"/>
            <a:r>
              <a:rPr lang="en-IN" sz="1600" dirty="0">
                <a:hlinkClick r:id="rId23"/>
              </a:rPr>
              <a:t>Grokking Streaming Systems</a:t>
            </a:r>
            <a:endParaRPr lang="en-IN" sz="1600" dirty="0"/>
          </a:p>
          <a:p>
            <a:pPr marL="12700" marR="5080"/>
            <a:r>
              <a:rPr lang="en-IN" sz="1600" dirty="0">
                <a:hlinkClick r:id="rId24"/>
              </a:rPr>
              <a:t>Messages vs Stream</a:t>
            </a:r>
            <a:endParaRPr lang="en-US" sz="1600" dirty="0"/>
          </a:p>
          <a:p>
            <a:pPr marL="12700" marR="5080"/>
            <a:r>
              <a:rPr lang="en-US" sz="1600" dirty="0">
                <a:hlinkClick r:id="rId25"/>
              </a:rPr>
              <a:t>Azure Stream Analytics documentation - Azure Stream Analytics | Microsoft Learn</a:t>
            </a:r>
            <a:endParaRPr lang="en-IN" sz="1600" dirty="0"/>
          </a:p>
          <a:p>
            <a:pPr marL="12700" marR="5080"/>
            <a:endParaRPr lang="en-US" sz="1600" dirty="0"/>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r>
              <a:rPr lang="en-IN" sz="1800" u="sng" dirty="0">
                <a:solidFill>
                  <a:srgbClr val="000000"/>
                </a:solidFill>
                <a:latin typeface="UICTFontTextStyleBody"/>
                <a:ea typeface="Aptos" panose="020B0004020202020204" pitchFamily="34" charset="0"/>
                <a:cs typeface="Aptos" panose="020B0004020202020204" pitchFamily="34" charset="0"/>
              </a:rPr>
              <a:t> </a:t>
            </a:r>
            <a:endParaRPr lang="en-IN" sz="18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US" sz="1400" kern="0" spc="-80" dirty="0">
                <a:solidFill>
                  <a:schemeClr val="accent2"/>
                </a:solidFill>
              </a:rPr>
              <a:t> </a:t>
            </a:r>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84BFD3-29A2-43FB-39DA-5AE2999ABBF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1DA076-BAD4-5F94-15EF-382FC081FA13}"/>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156363995"/>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1DF87-E152-BBDD-C325-08EDB5D124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5AC0CF7-962F-3FE7-586E-0F7766079D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9115CF-6B69-B5E3-80FD-2C7CB00559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DC21BF-E1CC-EF38-C8E4-0599263F2C03}"/>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A644F-5EDE-331C-D869-2E079F64607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FE6730-6181-48CC-4FC3-EA5EBEF71B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BC8DB0-125C-1712-4564-EFFEE1A4E863}"/>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A47A018-C780-6C81-8E13-3EB14AC1DEF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DD4DA79-1966-ECEB-624E-4B900B9EED6C}"/>
              </a:ext>
            </a:extLst>
          </p:cNvPr>
          <p:cNvSpPr txBox="1"/>
          <p:nvPr/>
        </p:nvSpPr>
        <p:spPr>
          <a:xfrm>
            <a:off x="195550" y="745712"/>
            <a:ext cx="8915399" cy="5601533"/>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400" b="1" kern="0" spc="-80" dirty="0">
                <a:solidFill>
                  <a:schemeClr val="accent6"/>
                </a:solidFill>
                <a:latin typeface="Lucida Sans"/>
                <a:ea typeface="+mj-ea"/>
              </a:rPr>
              <a:t>Apache Airflow serves as an orchestration tool that can manage and schedule workflows involving Apache Kafka, Spark, and Flink. It is particularly useful for building complex data pipelines that integrate these different technologies.</a:t>
            </a:r>
          </a:p>
          <a:p>
            <a:r>
              <a:rPr lang="en-US" sz="1400" b="1" kern="0" spc="-80" dirty="0">
                <a:solidFill>
                  <a:schemeClr val="accent2"/>
                </a:solidFill>
                <a:latin typeface="Lucida Sans"/>
                <a:ea typeface="+mj-ea"/>
              </a:rPr>
              <a:t>1. Integrating with Apache Kafka:</a:t>
            </a:r>
          </a:p>
          <a:p>
            <a:r>
              <a:rPr lang="en-US" sz="1400" b="1" kern="0" spc="-80" dirty="0">
                <a:solidFill>
                  <a:schemeClr val="accent2"/>
                </a:solidFill>
                <a:latin typeface="Lucida Sans"/>
                <a:ea typeface="+mj-ea"/>
              </a:rPr>
              <a:t>Kafka Operators: </a:t>
            </a:r>
          </a:p>
          <a:p>
            <a:r>
              <a:rPr lang="en-US" sz="1400" b="1" kern="0" spc="-80" dirty="0">
                <a:solidFill>
                  <a:schemeClr val="accent6"/>
                </a:solidFill>
                <a:latin typeface="Lucida Sans"/>
                <a:ea typeface="+mj-ea"/>
              </a:rPr>
              <a:t>Airflow provides the Apache Kafka provider package, which includes operators for interacting with </a:t>
            </a:r>
            <a:r>
              <a:rPr lang="en-US" sz="1400" b="1" kern="0" spc="-80" dirty="0" err="1">
                <a:solidFill>
                  <a:schemeClr val="accent2"/>
                </a:solidFill>
                <a:latin typeface="Lucida Sans"/>
                <a:ea typeface="+mj-ea"/>
              </a:rPr>
              <a:t>Kafka.KafkaOperator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producing messages to a Kafka topic.</a:t>
            </a:r>
          </a:p>
          <a:p>
            <a:r>
              <a:rPr lang="en-US" sz="1400" b="1" kern="0" spc="-80" dirty="0" err="1">
                <a:solidFill>
                  <a:schemeClr val="accent2"/>
                </a:solidFill>
                <a:latin typeface="Lucida Sans"/>
                <a:ea typeface="+mj-ea"/>
              </a:rPr>
              <a:t>KafkaSensor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detecting the presence of new messages in a Kafka topic, allowing for event-driven DAGs.</a:t>
            </a:r>
          </a:p>
          <a:p>
            <a:r>
              <a:rPr lang="en-US" sz="1400" b="1" kern="0" spc="-80" dirty="0">
                <a:solidFill>
                  <a:schemeClr val="accent2"/>
                </a:solidFill>
                <a:latin typeface="Lucida Sans"/>
                <a:ea typeface="+mj-ea"/>
              </a:rPr>
              <a:t>Connection Management: </a:t>
            </a:r>
          </a:p>
          <a:p>
            <a:r>
              <a:rPr lang="en-US" sz="1400" b="1" kern="0" spc="-80" dirty="0">
                <a:solidFill>
                  <a:schemeClr val="accent6"/>
                </a:solidFill>
                <a:latin typeface="Lucida Sans"/>
                <a:ea typeface="+mj-ea"/>
              </a:rPr>
              <a:t>Airflow's connection management system can store Kafka connection details, including bootstrap servers and consumer group IDs, for easy access by operators.</a:t>
            </a:r>
          </a:p>
          <a:p>
            <a:r>
              <a:rPr lang="en-US" sz="1400" b="1" kern="0" spc="-80" dirty="0">
                <a:solidFill>
                  <a:schemeClr val="accent2"/>
                </a:solidFill>
                <a:latin typeface="Lucida Sans"/>
                <a:ea typeface="+mj-ea"/>
              </a:rPr>
              <a:t>Use Cases:</a:t>
            </a:r>
          </a:p>
          <a:p>
            <a:r>
              <a:rPr lang="en-US" sz="1400" b="1" kern="0" spc="-80" dirty="0">
                <a:solidFill>
                  <a:schemeClr val="accent6"/>
                </a:solidFill>
                <a:latin typeface="Lucida Sans"/>
                <a:ea typeface="+mj-ea"/>
              </a:rPr>
              <a:t>Triggering data processing tasks when new data arrives in a Kafka topic.</a:t>
            </a:r>
          </a:p>
          <a:p>
            <a:r>
              <a:rPr lang="en-US" sz="1400" b="1" kern="0" spc="-80" dirty="0">
                <a:solidFill>
                  <a:schemeClr val="accent6"/>
                </a:solidFill>
                <a:latin typeface="Lucida Sans"/>
                <a:ea typeface="+mj-ea"/>
              </a:rPr>
              <a:t>Publishing processed results from Spark or Flink jobs back to Kafka for downstream consumption.</a:t>
            </a:r>
          </a:p>
          <a:p>
            <a:r>
              <a:rPr lang="en-US" sz="1400" b="1" kern="0" spc="-80" dirty="0">
                <a:solidFill>
                  <a:schemeClr val="accent6"/>
                </a:solidFill>
                <a:latin typeface="Lucida Sans"/>
                <a:ea typeface="+mj-ea"/>
              </a:rPr>
              <a:t>Monitoring Kafka topics for specific events or message counts.</a:t>
            </a:r>
          </a:p>
          <a:p>
            <a:r>
              <a:rPr lang="en-US" sz="1400" b="1" kern="0" spc="-80" dirty="0">
                <a:solidFill>
                  <a:schemeClr val="accent2"/>
                </a:solidFill>
                <a:latin typeface="Lucida Sans"/>
                <a:ea typeface="+mj-ea"/>
              </a:rPr>
              <a:t>2. Integrating with Apache Spark:</a:t>
            </a:r>
          </a:p>
          <a:p>
            <a:r>
              <a:rPr lang="en-US" sz="1400" b="1" kern="0" spc="-80" dirty="0">
                <a:solidFill>
                  <a:schemeClr val="accent2"/>
                </a:solidFill>
                <a:latin typeface="Lucida Sans"/>
                <a:ea typeface="+mj-ea"/>
              </a:rPr>
              <a:t>Spark Operators: </a:t>
            </a:r>
          </a:p>
          <a:p>
            <a:r>
              <a:rPr lang="en-US" sz="1400" b="1" kern="0" spc="-80" dirty="0">
                <a:solidFill>
                  <a:schemeClr val="accent6"/>
                </a:solidFill>
                <a:latin typeface="Lucida Sans"/>
                <a:ea typeface="+mj-ea"/>
              </a:rPr>
              <a:t>Airflow's Apache Spark provider offers operators to submit and manage Spark jobs.</a:t>
            </a:r>
          </a:p>
          <a:p>
            <a:r>
              <a:rPr lang="en-US" sz="1400" b="1" kern="0" spc="-80" dirty="0" err="1">
                <a:solidFill>
                  <a:schemeClr val="accent2"/>
                </a:solidFill>
                <a:latin typeface="Lucida Sans"/>
                <a:ea typeface="+mj-ea"/>
              </a:rPr>
              <a:t>SparkSubmitOperator</a:t>
            </a:r>
            <a:r>
              <a:rPr lang="en-US" sz="1400" b="1" kern="0" spc="-80" dirty="0">
                <a:solidFill>
                  <a:schemeClr val="accent2"/>
                </a:solidFill>
                <a:latin typeface="Lucida Sans"/>
                <a:ea typeface="+mj-ea"/>
              </a:rPr>
              <a:t>:</a:t>
            </a:r>
            <a:r>
              <a:rPr lang="en-US" sz="1400" b="1" kern="0" spc="-80" dirty="0">
                <a:solidFill>
                  <a:schemeClr val="accent6"/>
                </a:solidFill>
                <a:latin typeface="Lucida Sans"/>
                <a:ea typeface="+mj-ea"/>
              </a:rPr>
              <a:t> For submitting Spark applications (e.g., </a:t>
            </a:r>
            <a:r>
              <a:rPr lang="en-US" sz="1400" b="1" kern="0" spc="-80" dirty="0" err="1">
                <a:solidFill>
                  <a:schemeClr val="accent6"/>
                </a:solidFill>
                <a:latin typeface="Lucida Sans"/>
                <a:ea typeface="+mj-ea"/>
              </a:rPr>
              <a:t>PySpark</a:t>
            </a:r>
            <a:r>
              <a:rPr lang="en-US" sz="1400" b="1" kern="0" spc="-80" dirty="0">
                <a:solidFill>
                  <a:schemeClr val="accent6"/>
                </a:solidFill>
                <a:latin typeface="Lucida Sans"/>
                <a:ea typeface="+mj-ea"/>
              </a:rPr>
              <a:t> scripts, Spark JARs) to a Spark cluster.</a:t>
            </a:r>
          </a:p>
          <a:p>
            <a:r>
              <a:rPr lang="en-US" sz="1400" b="1" kern="0" spc="-80" dirty="0" err="1">
                <a:solidFill>
                  <a:schemeClr val="accent2"/>
                </a:solidFill>
                <a:latin typeface="Lucida Sans"/>
                <a:ea typeface="+mj-ea"/>
              </a:rPr>
              <a:t>DatabricksSubmitRunOperator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interacting with Databricks-managed Spark clusters.</a:t>
            </a:r>
          </a:p>
          <a:p>
            <a:r>
              <a:rPr lang="en-US" sz="1400" b="1" kern="0" spc="-80" dirty="0">
                <a:solidFill>
                  <a:schemeClr val="accent6"/>
                </a:solidFill>
                <a:latin typeface="Lucida Sans"/>
                <a:ea typeface="+mj-ea"/>
              </a:rPr>
              <a:t>Operators for specific cloud-managed Spark services like Amazon EMR.</a:t>
            </a:r>
          </a:p>
          <a:p>
            <a:pPr marL="12700" marR="5080"/>
            <a:endParaRPr lang="en-US" kern="0" spc="-80" dirty="0">
              <a:solidFill>
                <a:schemeClr val="accent2"/>
              </a:solidFill>
            </a:endParaRPr>
          </a:p>
        </p:txBody>
      </p:sp>
    </p:spTree>
    <p:extLst>
      <p:ext uri="{BB962C8B-B14F-4D97-AF65-F5344CB8AC3E}">
        <p14:creationId xmlns:p14="http://schemas.microsoft.com/office/powerpoint/2010/main" val="4098129408"/>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BB9F1-18DC-A35F-70A8-7E4FFA1A50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A03708-574F-E545-976B-C6311C8D78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C96025-1A57-6C6C-0333-EA932BB3C4C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A8C62E-063E-50B4-5807-091630300BAC}"/>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8DE8A7-4551-99D8-2C2B-D9C7A374EB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342B6B-1F73-DC08-0D74-534CC7FA29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C694339-48E2-588D-341B-4477A98A88CF}"/>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9B3C4AC-6B26-A8B7-EAD4-0A504B8B1D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28BAD6B-90BB-FEE8-5E06-85B5DCBE33AF}"/>
              </a:ext>
            </a:extLst>
          </p:cNvPr>
          <p:cNvSpPr txBox="1"/>
          <p:nvPr/>
        </p:nvSpPr>
        <p:spPr>
          <a:xfrm>
            <a:off x="195550" y="745712"/>
            <a:ext cx="8915399" cy="5447645"/>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300" b="1" kern="0" spc="-80" dirty="0">
                <a:solidFill>
                  <a:schemeClr val="accent2"/>
                </a:solidFill>
                <a:latin typeface="Lucida Sans"/>
                <a:ea typeface="+mj-ea"/>
              </a:rPr>
              <a:t>Workflow Orchestration: </a:t>
            </a:r>
          </a:p>
          <a:p>
            <a:r>
              <a:rPr lang="en-US" sz="1300" b="1" kern="0" spc="-80" dirty="0">
                <a:solidFill>
                  <a:schemeClr val="accent6"/>
                </a:solidFill>
                <a:latin typeface="Lucida Sans"/>
                <a:ea typeface="+mj-ea"/>
              </a:rPr>
              <a:t>Airflow can orchestrate multi-step ETL pipelines where Spark performs data transformations, aggregations, or machine learning tasks.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Scheduling daily or hourly batch Spark jobs for data processing.</a:t>
            </a:r>
          </a:p>
          <a:p>
            <a:r>
              <a:rPr lang="en-US" sz="1300" b="1" kern="0" spc="-80" dirty="0">
                <a:solidFill>
                  <a:schemeClr val="accent6"/>
                </a:solidFill>
                <a:latin typeface="Lucida Sans"/>
                <a:ea typeface="+mj-ea"/>
              </a:rPr>
              <a:t>Triggering Spark Structured Streaming jobs to process data from Kafka.</a:t>
            </a:r>
          </a:p>
          <a:p>
            <a:r>
              <a:rPr lang="en-US" sz="1300" b="1" kern="0" spc="-80" dirty="0">
                <a:solidFill>
                  <a:schemeClr val="accent6"/>
                </a:solidFill>
                <a:latin typeface="Lucida Sans"/>
                <a:ea typeface="+mj-ea"/>
              </a:rPr>
              <a:t>Managing dependencies between Spark jobs and other tasks in the data pipeline.</a:t>
            </a:r>
          </a:p>
          <a:p>
            <a:r>
              <a:rPr lang="en-US" sz="1300" b="1" kern="0" spc="-80" dirty="0">
                <a:solidFill>
                  <a:schemeClr val="accent2"/>
                </a:solidFill>
                <a:latin typeface="Lucida Sans"/>
                <a:ea typeface="+mj-ea"/>
              </a:rPr>
              <a:t>3. Integrating with Apache Flink:</a:t>
            </a:r>
          </a:p>
          <a:p>
            <a:r>
              <a:rPr lang="en-US" sz="1300" b="1" kern="0" spc="-80" dirty="0">
                <a:solidFill>
                  <a:schemeClr val="accent2"/>
                </a:solidFill>
                <a:latin typeface="Lucida Sans"/>
                <a:ea typeface="+mj-ea"/>
              </a:rPr>
              <a:t>Custom Operators: </a:t>
            </a:r>
          </a:p>
          <a:p>
            <a:r>
              <a:rPr lang="en-US" sz="1300" b="1" kern="0" spc="-80" dirty="0">
                <a:solidFill>
                  <a:schemeClr val="accent6"/>
                </a:solidFill>
                <a:latin typeface="Lucida Sans"/>
                <a:ea typeface="+mj-ea"/>
              </a:rPr>
              <a:t>While a dedicated Flink provider might not be as extensive as Spark or Kafka, custom Airflow operators can be created to interact with Flink. These operators can use Flink's REST API or command-line tools to submit, monitor, or cancel Flink jobs.</a:t>
            </a:r>
          </a:p>
          <a:p>
            <a:r>
              <a:rPr lang="en-US" sz="1300" b="1" kern="0" spc="-80" dirty="0">
                <a:solidFill>
                  <a:schemeClr val="accent2"/>
                </a:solidFill>
                <a:latin typeface="Lucida Sans"/>
                <a:ea typeface="+mj-ea"/>
              </a:rPr>
              <a:t>Orchestrating Streaming Workflows: </a:t>
            </a:r>
          </a:p>
          <a:p>
            <a:r>
              <a:rPr lang="en-US" sz="1300" b="1" kern="0" spc="-80" dirty="0">
                <a:solidFill>
                  <a:schemeClr val="accent6"/>
                </a:solidFill>
                <a:latin typeface="Lucida Sans"/>
                <a:ea typeface="+mj-ea"/>
              </a:rPr>
              <a:t>Airflow can be used to manage the lifecycle of Flink streaming applications.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Triggering Flink streaming jobs to start or stop based on external events or schedules.</a:t>
            </a:r>
          </a:p>
          <a:p>
            <a:r>
              <a:rPr lang="en-US" sz="1300" b="1" kern="0" spc="-80" dirty="0">
                <a:solidFill>
                  <a:schemeClr val="accent6"/>
                </a:solidFill>
                <a:latin typeface="Lucida Sans"/>
                <a:ea typeface="+mj-ea"/>
              </a:rPr>
              <a:t>Deploying Flink applications to a cluster.</a:t>
            </a:r>
          </a:p>
          <a:p>
            <a:r>
              <a:rPr lang="en-US" sz="1300" b="1" kern="0" spc="-80" dirty="0">
                <a:solidFill>
                  <a:schemeClr val="accent6"/>
                </a:solidFill>
                <a:latin typeface="Lucida Sans"/>
                <a:ea typeface="+mj-ea"/>
              </a:rPr>
              <a:t>Monitoring the health and status of running Flink jobs and triggering alerts if issues arise.</a:t>
            </a:r>
          </a:p>
          <a:p>
            <a:r>
              <a:rPr lang="en-US" sz="1300" b="1" kern="0" spc="-80" dirty="0">
                <a:solidFill>
                  <a:schemeClr val="accent2"/>
                </a:solidFill>
                <a:latin typeface="Lucida Sans"/>
                <a:ea typeface="+mj-ea"/>
              </a:rPr>
              <a:t>Overall Synergy:</a:t>
            </a:r>
          </a:p>
          <a:p>
            <a:r>
              <a:rPr lang="en-US" sz="1300" b="1" kern="0" spc="-80" dirty="0">
                <a:solidFill>
                  <a:schemeClr val="accent6"/>
                </a:solidFill>
                <a:latin typeface="Lucida Sans"/>
                <a:ea typeface="+mj-ea"/>
              </a:rPr>
              <a:t>Airflow provides the overarching orchestration layer, allowing you to define complex data pipelines as Directed Acyclic Graphs (DAGs). Within these DAGs, Kafka acts as a message bus for data ingestion and real-time communication, Spark handles batch or micro-batch data processing and analytics, and Flink excels at continuous, low-latency stream processing. Airflow ensures that these components work together seamlessly, handling scheduling, dependencies, error handling, and monitoring across the entire data flow.</a:t>
            </a:r>
          </a:p>
          <a:p>
            <a:pPr marL="12700" marR="5080"/>
            <a:endParaRPr lang="en-US" kern="0" spc="-80" dirty="0">
              <a:solidFill>
                <a:schemeClr val="accent2"/>
              </a:solidFill>
            </a:endParaRPr>
          </a:p>
        </p:txBody>
      </p:sp>
    </p:spTree>
    <p:extLst>
      <p:ext uri="{BB962C8B-B14F-4D97-AF65-F5344CB8AC3E}">
        <p14:creationId xmlns:p14="http://schemas.microsoft.com/office/powerpoint/2010/main" val="862665131"/>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8BDF-E443-961D-4820-52FFCBAE6D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D2F884-BDAC-A8C8-3048-B7B72F66DE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5C8CBCE-8F2F-2DC3-F1F4-06BDA4F7C4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23D7EA-90FC-D115-7E77-05C78718D378}"/>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0E1833-C40E-C9E8-8454-C0D76689021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B485AD6-8717-9D1A-4732-A954A39DFA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5DF6473-0119-EB9F-8B66-8B2C40F9F43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2560D8-30C4-7683-A56B-41F70FCF90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9C68E294-C431-9526-2663-D5E1C9739282}"/>
              </a:ext>
            </a:extLst>
          </p:cNvPr>
          <p:cNvSpPr txBox="1"/>
          <p:nvPr/>
        </p:nvSpPr>
        <p:spPr>
          <a:xfrm>
            <a:off x="195550" y="745712"/>
            <a:ext cx="8915399" cy="5262979"/>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pPr marL="12700" marR="5080"/>
            <a:r>
              <a:rPr lang="en-US" sz="1400" b="1" kern="0" spc="-80" dirty="0">
                <a:solidFill>
                  <a:schemeClr val="accent2"/>
                </a:solidFill>
                <a:latin typeface="Lucida Sans"/>
                <a:ea typeface="+mj-ea"/>
              </a:rPr>
              <a:t>N.B. -</a:t>
            </a:r>
            <a:r>
              <a:rPr lang="en-US" sz="1400" b="1" kern="0" spc="-80" dirty="0">
                <a:solidFill>
                  <a:schemeClr val="accent6"/>
                </a:solidFill>
                <a:latin typeface="Lucida Sans"/>
                <a:ea typeface="+mj-ea"/>
              </a:rPr>
              <a:t> For simple Use Cases, which doesn’t need large scale processing, tasks calling executors which will execute APIs/Microservices should suffice. </a:t>
            </a:r>
          </a:p>
          <a:p>
            <a:pPr marL="12700" marR="5080"/>
            <a:endParaRPr lang="en-US" kern="0" spc="-80" dirty="0">
              <a:solidFill>
                <a:schemeClr val="accent2"/>
              </a:solidFill>
            </a:endParaRPr>
          </a:p>
          <a:p>
            <a:pPr marL="12700" marR="5080"/>
            <a:r>
              <a:rPr lang="en-US" kern="0" spc="-80" dirty="0">
                <a:solidFill>
                  <a:schemeClr val="accent2"/>
                </a:solidFill>
              </a:rPr>
              <a:t>For Further  Exploration -   </a:t>
            </a:r>
          </a:p>
          <a:p>
            <a:pPr marL="12700" marR="5080"/>
            <a:r>
              <a:rPr lang="en-US" dirty="0">
                <a:hlinkClick r:id="rId7"/>
              </a:rPr>
              <a:t>Exploring Airflow: First Impression from a Seasoned SSIS &amp; ODI User</a:t>
            </a:r>
            <a:endParaRPr lang="en-US" dirty="0"/>
          </a:p>
          <a:p>
            <a:pPr marL="12700" marR="5080"/>
            <a:r>
              <a:rPr lang="en-IN" dirty="0">
                <a:hlinkClick r:id="rId8"/>
              </a:rPr>
              <a:t>Apache Spark vs. Apache Airflow</a:t>
            </a:r>
            <a:endParaRPr lang="en-IN" dirty="0"/>
          </a:p>
          <a:p>
            <a:pPr marL="12700" marR="5080"/>
            <a:r>
              <a:rPr lang="en-US" dirty="0">
                <a:hlinkClick r:id="rId9"/>
              </a:rPr>
              <a:t>Airflow vs Apache Flink</a:t>
            </a:r>
            <a:endParaRPr lang="en-US" dirty="0"/>
          </a:p>
          <a:p>
            <a:pPr marL="12700" marR="5080"/>
            <a:r>
              <a:rPr lang="en-US" dirty="0">
                <a:hlinkClick r:id="rId10"/>
              </a:rPr>
              <a:t>Data Orchestration Tools: A Comprehensive Look at Apache Airflow, AWS Glue, and ADF</a:t>
            </a:r>
            <a:endParaRPr lang="en-US" dirty="0"/>
          </a:p>
          <a:p>
            <a:pPr marL="12700" marR="5080"/>
            <a:r>
              <a:rPr lang="en-IN" dirty="0">
                <a:hlinkClick r:id="rId11"/>
              </a:rPr>
              <a:t>Apache Airflow Resource I</a:t>
            </a:r>
            <a:endParaRPr lang="en-IN" dirty="0"/>
          </a:p>
          <a:p>
            <a:pPr marL="12700" marR="5080"/>
            <a:r>
              <a:rPr lang="en-IN" dirty="0">
                <a:hlinkClick r:id="rId12"/>
              </a:rPr>
              <a:t>Apache Airflow Resource II</a:t>
            </a:r>
            <a:endParaRPr lang="en-IN" dirty="0"/>
          </a:p>
          <a:p>
            <a:pPr marL="12700" marR="5080"/>
            <a:r>
              <a:rPr lang="en-US" dirty="0">
                <a:hlinkClick r:id="rId13"/>
              </a:rPr>
              <a:t>Executors in Apache-Airflow</a:t>
            </a:r>
            <a:endParaRPr lang="en-US" dirty="0"/>
          </a:p>
          <a:p>
            <a:pPr marL="12700" marR="5080"/>
            <a:r>
              <a:rPr lang="en-US" dirty="0">
                <a:hlinkClick r:id="rId14"/>
              </a:rPr>
              <a:t>The Complete Hands-On Introduction to Apache Airflow 3 | Udemy</a:t>
            </a:r>
            <a:endParaRPr lang="en-US" dirty="0"/>
          </a:p>
          <a:p>
            <a:pPr marL="12700" marR="5080"/>
            <a:r>
              <a:rPr lang="en-US" dirty="0">
                <a:hlinkClick r:id="rId15"/>
              </a:rPr>
              <a:t>Apache Airflow | A Real-Time &amp; Hands-On Course on Airflow | Udemy</a:t>
            </a:r>
            <a:endParaRPr lang="en-US" dirty="0"/>
          </a:p>
          <a:p>
            <a:pPr marL="12700" marR="5080"/>
            <a:r>
              <a:rPr lang="en-US" dirty="0">
                <a:hlinkClick r:id="rId16"/>
              </a:rPr>
              <a:t>Apache Airflow: The Operators Guide | Udemy</a:t>
            </a:r>
            <a:endParaRPr lang="en-US" dirty="0"/>
          </a:p>
          <a:p>
            <a:pPr marL="12700" marR="5080"/>
            <a:r>
              <a:rPr lang="en-US" dirty="0">
                <a:hlinkClick r:id="rId17"/>
              </a:rPr>
              <a:t>Data Pipelines with Apache Airflow®</a:t>
            </a:r>
            <a:endParaRPr lang="en-US" dirty="0"/>
          </a:p>
          <a:p>
            <a:pPr marL="12700" marR="5080"/>
            <a:r>
              <a:rPr lang="en-IN" dirty="0">
                <a:hlinkClick r:id="rId18"/>
              </a:rPr>
              <a:t>Mastering Workflow Management with Apache Airflow</a:t>
            </a:r>
            <a:endParaRPr lang="en-IN" dirty="0"/>
          </a:p>
          <a:p>
            <a:pPr marL="12700" marR="5080"/>
            <a:r>
              <a:rPr lang="en-US" dirty="0">
                <a:hlinkClick r:id="rId19"/>
              </a:rPr>
              <a:t>Apache Airflow Demystified: Build, Schedule, and Monitor Data Pipelines</a:t>
            </a:r>
            <a:endParaRPr lang="en-US" dirty="0"/>
          </a:p>
          <a:p>
            <a:pPr marL="12700" marR="5080"/>
            <a:r>
              <a:rPr lang="en-US" dirty="0">
                <a:hlinkClick r:id="rId20"/>
              </a:rPr>
              <a:t>Apache-Airflow-Best-Practices</a:t>
            </a:r>
            <a:endParaRPr lang="en-US" kern="0" spc="-80" dirty="0">
              <a:solidFill>
                <a:schemeClr val="accent2"/>
              </a:solidFill>
            </a:endParaRPr>
          </a:p>
        </p:txBody>
      </p:sp>
    </p:spTree>
    <p:extLst>
      <p:ext uri="{BB962C8B-B14F-4D97-AF65-F5344CB8AC3E}">
        <p14:creationId xmlns:p14="http://schemas.microsoft.com/office/powerpoint/2010/main" val="75588403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0844E-CCF5-C5E5-4E09-16618B75E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5BD73A-7FA1-7503-4FD1-6025C26992F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39BFF0-8B41-C526-D4D6-32E4A12446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1128E6A-5BB4-9FA3-D7D9-9E8205F52102}"/>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9F7F58-3802-731D-D8D0-A212226F8D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477409-8284-7980-6BCD-1EFA98D514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34D7DF9-6696-3686-742A-93D7F85ED684}"/>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404A4B-ADA0-2D21-BE0F-A68C8BCA57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72F3C216-E721-9DA4-C818-FF9CD2DBE43F}"/>
              </a:ext>
            </a:extLst>
          </p:cNvPr>
          <p:cNvSpPr txBox="1"/>
          <p:nvPr/>
        </p:nvSpPr>
        <p:spPr>
          <a:xfrm>
            <a:off x="195550" y="745712"/>
            <a:ext cx="8915399" cy="5047536"/>
          </a:xfrm>
          <a:prstGeom prst="rect">
            <a:avLst/>
          </a:prstGeom>
          <a:noFill/>
        </p:spPr>
        <p:txBody>
          <a:bodyPr wrap="square">
            <a:spAutoFit/>
          </a:bodyPr>
          <a:lstStyle/>
          <a:p>
            <a:r>
              <a:rPr lang="en-US" sz="1400" b="1" kern="0" spc="-80" dirty="0">
                <a:solidFill>
                  <a:schemeClr val="accent6"/>
                </a:solidFill>
                <a:latin typeface="Lucida Sans"/>
                <a:ea typeface="+mj-ea"/>
              </a:rPr>
              <a:t>Automated data reconciliation uses a combination of software, algorithms, and AI to systematically compare data from different sources, identify discrepancies, and enable quick resolution. Comparison can be based on counts, actual values or both and should consider “as of date” ideally.    </a:t>
            </a:r>
          </a:p>
          <a:p>
            <a:r>
              <a:rPr lang="en-US" sz="1400" b="1" kern="0" spc="-80" dirty="0">
                <a:solidFill>
                  <a:schemeClr val="accent2"/>
                </a:solidFill>
                <a:latin typeface="Lucida Sans"/>
                <a:ea typeface="+mj-ea"/>
              </a:rPr>
              <a:t>Key techniques include: </a:t>
            </a:r>
          </a:p>
          <a:p>
            <a:r>
              <a:rPr lang="en-US" sz="1400" b="1" kern="0" spc="-80" dirty="0">
                <a:solidFill>
                  <a:schemeClr val="accent2"/>
                </a:solidFill>
                <a:latin typeface="Lucida Sans"/>
                <a:ea typeface="+mj-ea"/>
              </a:rPr>
              <a:t>Core Techniques</a:t>
            </a:r>
          </a:p>
          <a:p>
            <a:r>
              <a:rPr lang="en-US" sz="1400" b="1" kern="0" spc="-80" dirty="0">
                <a:solidFill>
                  <a:schemeClr val="accent2"/>
                </a:solidFill>
                <a:latin typeface="Lucida Sans"/>
                <a:ea typeface="+mj-ea"/>
              </a:rPr>
              <a:t>Automated Data Extraction &amp; Normalization:</a:t>
            </a:r>
            <a:r>
              <a:rPr lang="en-US" sz="1400" b="1" kern="0" spc="-80" dirty="0">
                <a:solidFill>
                  <a:schemeClr val="accent6"/>
                </a:solidFill>
                <a:latin typeface="Lucida Sans"/>
                <a:ea typeface="+mj-ea"/>
              </a:rPr>
              <a:t> </a:t>
            </a:r>
          </a:p>
          <a:p>
            <a:r>
              <a:rPr lang="en-US" sz="1400" b="1" kern="0" spc="-80" dirty="0">
                <a:solidFill>
                  <a:schemeClr val="accent6"/>
                </a:solidFill>
                <a:latin typeface="Lucida Sans"/>
                <a:ea typeface="+mj-ea"/>
              </a:rPr>
              <a:t>Data is automatically pulled from various sources (databases, APIs, spreadsheets) and converted into a standardized format for reliable comparison.</a:t>
            </a:r>
          </a:p>
          <a:p>
            <a:r>
              <a:rPr lang="en-US" sz="1400" b="1" kern="0" spc="-80" dirty="0">
                <a:solidFill>
                  <a:schemeClr val="accent2"/>
                </a:solidFill>
                <a:latin typeface="Lucida Sans"/>
                <a:ea typeface="+mj-ea"/>
              </a:rPr>
              <a:t>Automated Matching Algorithms: </a:t>
            </a:r>
            <a:r>
              <a:rPr lang="en-US" sz="1400" b="1" kern="0" spc="-80" dirty="0">
                <a:solidFill>
                  <a:schemeClr val="accent6"/>
                </a:solidFill>
                <a:latin typeface="Lucida Sans"/>
                <a:ea typeface="+mj-ea"/>
              </a:rPr>
              <a:t>Software uses predefined criteria to match transactions or records across systems. </a:t>
            </a:r>
          </a:p>
          <a:p>
            <a:r>
              <a:rPr lang="en-US" sz="1400" b="1" kern="0" spc="-80" dirty="0">
                <a:solidFill>
                  <a:schemeClr val="accent6"/>
                </a:solidFill>
                <a:latin typeface="Lucida Sans"/>
                <a:ea typeface="+mj-ea"/>
              </a:rPr>
              <a:t>This includes:</a:t>
            </a:r>
          </a:p>
          <a:p>
            <a:r>
              <a:rPr lang="en-US" sz="1400" b="1" kern="0" spc="-80" dirty="0">
                <a:solidFill>
                  <a:schemeClr val="accent2"/>
                </a:solidFill>
                <a:latin typeface="Lucida Sans"/>
                <a:ea typeface="+mj-ea"/>
              </a:rPr>
              <a:t>Deterministic Matching:</a:t>
            </a:r>
            <a:r>
              <a:rPr lang="en-US" sz="1400" b="1" kern="0" spc="-80" dirty="0">
                <a:solidFill>
                  <a:schemeClr val="accent6"/>
                </a:solidFill>
                <a:latin typeface="Lucida Sans"/>
                <a:ea typeface="+mj-ea"/>
              </a:rPr>
              <a:t> Requires exact matches on key fields (e.g., a specific transaction ID and amount).</a:t>
            </a:r>
          </a:p>
          <a:p>
            <a:r>
              <a:rPr lang="en-US" sz="1400" b="1" kern="0" spc="-80" dirty="0">
                <a:solidFill>
                  <a:schemeClr val="accent2"/>
                </a:solidFill>
                <a:latin typeface="Lucida Sans"/>
                <a:ea typeface="+mj-ea"/>
              </a:rPr>
              <a:t>Fuzzy Matching:</a:t>
            </a:r>
            <a:r>
              <a:rPr lang="en-US" sz="1400" b="1" kern="0" spc="-80" dirty="0">
                <a:solidFill>
                  <a:schemeClr val="accent6"/>
                </a:solidFill>
                <a:latin typeface="Lucida Sans"/>
                <a:ea typeface="+mj-ea"/>
              </a:rPr>
              <a:t> Identifies similar, but not identical, entries (e.g., "Robert Smith" and "Bob Smith," or "McDonald's" and "McDonalds") by allowing for minor variations, typos, or different aliases.</a:t>
            </a:r>
          </a:p>
          <a:p>
            <a:r>
              <a:rPr lang="en-US" sz="1400" b="1" kern="0" spc="-80" dirty="0">
                <a:solidFill>
                  <a:schemeClr val="accent2"/>
                </a:solidFill>
                <a:latin typeface="Lucida Sans"/>
                <a:ea typeface="+mj-ea"/>
              </a:rPr>
              <a:t>Probabilistic Matching: </a:t>
            </a:r>
            <a:r>
              <a:rPr lang="en-US" sz="1400" b="1" kern="0" spc="-80" dirty="0">
                <a:solidFill>
                  <a:schemeClr val="accent6"/>
                </a:solidFill>
                <a:latin typeface="Lucida Sans"/>
                <a:ea typeface="+mj-ea"/>
              </a:rPr>
              <a:t>Uses statistical methods to calculate the likelihood that records represent the same entity based on multiple factors, assigning a confidence score to potential matches.</a:t>
            </a:r>
          </a:p>
          <a:p>
            <a:r>
              <a:rPr lang="en-US" sz="1400" b="1" kern="0" spc="-80" dirty="0">
                <a:solidFill>
                  <a:schemeClr val="accent2"/>
                </a:solidFill>
                <a:latin typeface="Lucida Sans"/>
                <a:ea typeface="+mj-ea"/>
              </a:rPr>
              <a:t>One-to-many and Many-to-many Matching: </a:t>
            </a:r>
            <a:r>
              <a:rPr lang="en-US" sz="1400" b="1" kern="0" spc="-80" dirty="0">
                <a:solidFill>
                  <a:schemeClr val="accent6"/>
                </a:solidFill>
                <a:latin typeface="Lucida Sans"/>
                <a:ea typeface="+mj-ea"/>
              </a:rPr>
              <a:t>Handles complex scenarios where a single transaction in one system corresponds to multiple entries in another.</a:t>
            </a:r>
          </a:p>
          <a:p>
            <a:r>
              <a:rPr lang="en-US" sz="1400" b="1" kern="0" spc="-80" dirty="0">
                <a:solidFill>
                  <a:schemeClr val="accent2"/>
                </a:solidFill>
                <a:latin typeface="Lucida Sans"/>
                <a:ea typeface="+mj-ea"/>
              </a:rPr>
              <a:t>Exception Management Workflows: </a:t>
            </a:r>
            <a:r>
              <a:rPr lang="en-US" sz="1400" b="1" kern="0" spc="-80" dirty="0">
                <a:solidFill>
                  <a:schemeClr val="accent6"/>
                </a:solidFill>
                <a:latin typeface="Lucida Sans"/>
                <a:ea typeface="+mj-ea"/>
              </a:rPr>
              <a:t>Discrepancies or low-confidence matches are automatically flagged, categorized, and routed to the appropriate human teams for review and resolution.</a:t>
            </a:r>
          </a:p>
          <a:p>
            <a:r>
              <a:rPr lang="en-US" sz="1400" b="1" kern="0" spc="-80" dirty="0">
                <a:solidFill>
                  <a:schemeClr val="accent2"/>
                </a:solidFill>
                <a:latin typeface="Lucida Sans"/>
                <a:ea typeface="+mj-ea"/>
              </a:rPr>
              <a:t>Continuous Monitoring: </a:t>
            </a:r>
            <a:r>
              <a:rPr lang="en-US" sz="1400" b="1" kern="0" spc="-80" dirty="0">
                <a:solidFill>
                  <a:schemeClr val="accent6"/>
                </a:solidFill>
                <a:latin typeface="Lucida Sans"/>
                <a:ea typeface="+mj-ea"/>
              </a:rPr>
              <a:t>Instead of period-end batch processes, modern techniques involve real-time or near-real-time monitoring to detect issues as they occur, preventing them from cascading into larger problems. </a:t>
            </a:r>
          </a:p>
        </p:txBody>
      </p:sp>
    </p:spTree>
    <p:extLst>
      <p:ext uri="{BB962C8B-B14F-4D97-AF65-F5344CB8AC3E}">
        <p14:creationId xmlns:p14="http://schemas.microsoft.com/office/powerpoint/2010/main" val="192378344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124B-8240-12B0-1C3F-6A08FB900B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70CDBE-6327-AD83-9655-D1BB587CEB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AF4674-3459-9B68-0FAF-1071F234B5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1A5D4D-F6CB-245A-609B-3EE8B0BA06EF}"/>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BB90EFD-2E3B-D964-B17C-9DF9C6D79B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774174F-3E38-0034-1D70-3D16E27C0B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490F63-7A65-6AFE-C7E1-9C3611CDB4A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E347E6-2E86-18F0-200A-CAF56F7CDE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522AE87B-2360-F50D-C987-575AD82A89C8}"/>
              </a:ext>
            </a:extLst>
          </p:cNvPr>
          <p:cNvSpPr txBox="1"/>
          <p:nvPr/>
        </p:nvSpPr>
        <p:spPr>
          <a:xfrm>
            <a:off x="195550" y="745712"/>
            <a:ext cx="8915399" cy="7848302"/>
          </a:xfrm>
          <a:prstGeom prst="rect">
            <a:avLst/>
          </a:prstGeom>
          <a:noFill/>
        </p:spPr>
        <p:txBody>
          <a:bodyPr wrap="square">
            <a:spAutoFit/>
          </a:bodyPr>
          <a:lstStyle/>
          <a:p>
            <a:r>
              <a:rPr lang="en-US" sz="1400" b="1" kern="0" spc="-80" dirty="0">
                <a:solidFill>
                  <a:schemeClr val="accent2"/>
                </a:solidFill>
                <a:latin typeface="Lucida Sans"/>
              </a:rPr>
              <a:t>Advanced Techniques with AI/ML</a:t>
            </a:r>
          </a:p>
          <a:p>
            <a:r>
              <a:rPr lang="en-US" sz="1400" b="1" kern="0" spc="-80" dirty="0">
                <a:solidFill>
                  <a:schemeClr val="accent2"/>
                </a:solidFill>
                <a:latin typeface="Lucida Sans"/>
              </a:rPr>
              <a:t>AI-Powered Anomaly Detection:</a:t>
            </a:r>
            <a:r>
              <a:rPr lang="en-US" sz="1400" b="1" kern="0" spc="-80" dirty="0">
                <a:solidFill>
                  <a:schemeClr val="accent6"/>
                </a:solidFill>
                <a:latin typeface="Lucida Sans"/>
              </a:rPr>
              <a:t> Machine learning models learn from historical patterns to identify unusual transactions or data entries that deviate from expected behavior, which might indicate errors or fraud.</a:t>
            </a:r>
          </a:p>
          <a:p>
            <a:r>
              <a:rPr lang="en-US" sz="1400" b="1" kern="0" spc="-80" dirty="0">
                <a:solidFill>
                  <a:schemeClr val="accent2"/>
                </a:solidFill>
                <a:latin typeface="Lucida Sans"/>
              </a:rPr>
              <a:t>Intelligent Rule Suggestions: </a:t>
            </a:r>
            <a:r>
              <a:rPr lang="en-US" sz="1400" b="1" kern="0" spc="-80" dirty="0">
                <a:solidFill>
                  <a:schemeClr val="accent6"/>
                </a:solidFill>
                <a:latin typeface="Lucida Sans"/>
              </a:rPr>
              <a:t>AI analyzes past reconciliation outcomes and user input to suggest new or refined matching rules, continuously improving the automation rate over time.</a:t>
            </a:r>
          </a:p>
          <a:p>
            <a:r>
              <a:rPr lang="en-US" sz="1400" b="1" kern="0" spc="-80" dirty="0">
                <a:solidFill>
                  <a:schemeClr val="accent2"/>
                </a:solidFill>
                <a:latin typeface="Lucida Sans"/>
              </a:rPr>
              <a:t>Natural Language Processing (NLP):</a:t>
            </a:r>
            <a:r>
              <a:rPr lang="en-US" sz="1400" b="1" kern="0" spc="-80" dirty="0">
                <a:solidFill>
                  <a:schemeClr val="accent6"/>
                </a:solidFill>
                <a:latin typeface="Lucida Sans"/>
              </a:rPr>
              <a:t> LLMs can interpret unstructured data from free-text descriptions or email attachments (like invoice details in a memo field) to extract relevant information and facilitate matching. </a:t>
            </a:r>
          </a:p>
          <a:p>
            <a:r>
              <a:rPr lang="en-US" sz="1400" b="1" kern="0" spc="-80" dirty="0">
                <a:solidFill>
                  <a:schemeClr val="accent2"/>
                </a:solidFill>
                <a:latin typeface="Lucida Sans"/>
              </a:rPr>
              <a:t>Implementation Best Practices</a:t>
            </a:r>
          </a:p>
          <a:p>
            <a:r>
              <a:rPr lang="en-US" sz="1400" b="1" kern="0" spc="-80" dirty="0">
                <a:solidFill>
                  <a:schemeClr val="accent2"/>
                </a:solidFill>
                <a:latin typeface="Lucida Sans"/>
              </a:rPr>
              <a:t>Standardize Data: </a:t>
            </a:r>
            <a:r>
              <a:rPr lang="en-US" sz="1400" b="1" kern="0" spc="-80" dirty="0">
                <a:solidFill>
                  <a:schemeClr val="accent6"/>
                </a:solidFill>
                <a:latin typeface="Lucida Sans"/>
              </a:rPr>
              <a:t>Ensure consistent data formats and definitions across all source systems to minimize errors during comparison.</a:t>
            </a:r>
          </a:p>
          <a:p>
            <a:r>
              <a:rPr lang="en-US" sz="1400" b="1" kern="0" spc="-80" dirty="0">
                <a:solidFill>
                  <a:schemeClr val="accent2"/>
                </a:solidFill>
                <a:latin typeface="Lucida Sans"/>
              </a:rPr>
              <a:t>Implement Data Quality Checks: </a:t>
            </a:r>
            <a:r>
              <a:rPr lang="en-US" sz="1400" b="1" kern="0" spc="-80" dirty="0">
                <a:solidFill>
                  <a:schemeClr val="accent6"/>
                </a:solidFill>
                <a:latin typeface="Lucida Sans"/>
              </a:rPr>
              <a:t>Validate data completeness, accuracy, and format before reconciliation to prevent bad data from entering the process.</a:t>
            </a:r>
          </a:p>
          <a:p>
            <a:r>
              <a:rPr lang="en-US" sz="1400" b="1" kern="0" spc="-80" dirty="0">
                <a:solidFill>
                  <a:schemeClr val="accent2"/>
                </a:solidFill>
                <a:latin typeface="Lucida Sans"/>
              </a:rPr>
              <a:t>Maintain Detailed Audit Trails:</a:t>
            </a:r>
            <a:r>
              <a:rPr lang="en-US" sz="1400" b="1" kern="0" spc="-80" dirty="0">
                <a:solidFill>
                  <a:schemeClr val="accent6"/>
                </a:solidFill>
                <a:latin typeface="Lucida Sans"/>
              </a:rPr>
              <a:t> The system should log every action, discrepancy, and resolution step for transparency, compliance (e.g., SOX, GDPR), and auditing purposes.</a:t>
            </a:r>
          </a:p>
          <a:p>
            <a:r>
              <a:rPr lang="en-US" sz="1400" b="1" kern="0" spc="-80" dirty="0">
                <a:solidFill>
                  <a:schemeClr val="accent2"/>
                </a:solidFill>
                <a:latin typeface="Lucida Sans"/>
              </a:rPr>
              <a:t>Integrate Systems:</a:t>
            </a:r>
            <a:r>
              <a:rPr lang="en-US" sz="1400" b="1" kern="0" spc="-80" dirty="0">
                <a:solidFill>
                  <a:schemeClr val="accent6"/>
                </a:solidFill>
                <a:latin typeface="Lucida Sans"/>
              </a:rPr>
              <a:t> Seamlessly connect the reconciliation platform with existing ERP, accounting, and banking systems to ensure real-time data flow and consistency across platforms.</a:t>
            </a:r>
          </a:p>
          <a:p>
            <a:r>
              <a:rPr lang="en-US" sz="1400" b="1" kern="0" spc="-80" dirty="0">
                <a:solidFill>
                  <a:schemeClr val="accent2"/>
                </a:solidFill>
                <a:latin typeface="Lucida Sans"/>
              </a:rPr>
              <a:t>Define Clear Governance:</a:t>
            </a:r>
            <a:r>
              <a:rPr lang="en-US" sz="1400" b="1" kern="0" spc="-80" dirty="0">
                <a:solidFill>
                  <a:schemeClr val="accent6"/>
                </a:solidFill>
                <a:latin typeface="Lucida Sans"/>
              </a:rPr>
              <a:t> Establish clear policies and assign roles and responsibilities for data quality, review, and approval of exceptions. </a:t>
            </a:r>
          </a:p>
          <a:p>
            <a:endParaRPr lang="en-US" sz="1400" b="1" kern="0" spc="-80" dirty="0">
              <a:solidFill>
                <a:schemeClr val="accent6"/>
              </a:solidFill>
              <a:latin typeface="Lucida Sans"/>
            </a:endParaRPr>
          </a:p>
          <a:p>
            <a:r>
              <a:rPr lang="en-US" sz="1400" b="1" kern="0" spc="-80" dirty="0">
                <a:solidFill>
                  <a:schemeClr val="accent2"/>
                </a:solidFill>
                <a:latin typeface="Lucida Sans"/>
              </a:rPr>
              <a:t>N.B. </a:t>
            </a:r>
            <a:r>
              <a:rPr lang="en-US" sz="1400" b="1" kern="0" spc="-80" dirty="0">
                <a:solidFill>
                  <a:schemeClr val="accent6"/>
                </a:solidFill>
                <a:latin typeface="Lucida Sans"/>
              </a:rPr>
              <a:t>After Reconciliation, various cleanups of various resources(DBs, DLQs </a:t>
            </a:r>
            <a:r>
              <a:rPr lang="en-US" sz="1400" b="1" kern="0" spc="-80" dirty="0" err="1">
                <a:solidFill>
                  <a:schemeClr val="accent6"/>
                </a:solidFill>
                <a:latin typeface="Lucida Sans"/>
              </a:rPr>
              <a:t>etc</a:t>
            </a:r>
            <a:r>
              <a:rPr lang="en-US" sz="1400" b="1" kern="0" spc="-80" dirty="0">
                <a:solidFill>
                  <a:schemeClr val="accent6"/>
                </a:solidFill>
                <a:latin typeface="Lucida Sans"/>
              </a:rPr>
              <a:t>) may be needed and after cleanup ,  replay also might be needed.</a:t>
            </a: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286003386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21110-C100-9297-21E2-79D22AF188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223A4-6EE0-E7D8-1045-17F8C3DC47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FE055A-C2E5-67AA-2962-8A1DAB149A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5DCDA82-8E44-4790-4246-43F54F50F644}"/>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250795-64A4-7F91-50A8-0AA0B0DFA2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0C19F5-6CE2-4834-0B04-4FF00B7BBD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4FD1E8-E019-F7AE-B53D-063D8699363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A7BE18-D58A-7FD3-EB4D-DB2E959AC69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A3FA4292-C168-5771-CE6B-4DDA6561905B}"/>
              </a:ext>
            </a:extLst>
          </p:cNvPr>
          <p:cNvSpPr txBox="1"/>
          <p:nvPr/>
        </p:nvSpPr>
        <p:spPr>
          <a:xfrm>
            <a:off x="195550" y="745712"/>
            <a:ext cx="8915399" cy="1815882"/>
          </a:xfrm>
          <a:prstGeom prst="rect">
            <a:avLst/>
          </a:prstGeom>
          <a:noFill/>
        </p:spPr>
        <p:txBody>
          <a:bodyPr wrap="square">
            <a:spAutoFit/>
          </a:bodyPr>
          <a:lstStyle/>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4244878234"/>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AC2A-C2B8-2844-9DD9-08A45ED53F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95455C-A4B3-6D9C-5A42-F5FBC4AC77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DE93AF-5099-096C-4CBE-B5206BE5B73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835B987-71DC-C0A8-3D39-1E45B3253A3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DB094E0-9B13-9D74-725B-F00A45182D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516C9C-D13A-A990-9E52-6089DCE9F51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68576A0-6ECD-BFB9-AFF9-19C1A6A062BA}"/>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D84BC3A-1008-B257-EA8A-CB49F19C767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EB8A1E-DFCC-CB82-71C0-76FEF6D0E3EB}"/>
              </a:ext>
            </a:extLst>
          </p:cNvPr>
          <p:cNvSpPr txBox="1">
            <a:spLocks/>
          </p:cNvSpPr>
          <p:nvPr/>
        </p:nvSpPr>
        <p:spPr>
          <a:xfrm>
            <a:off x="107131" y="636032"/>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600" dirty="0">
                <a:hlinkClick r:id="rId7"/>
              </a:rPr>
              <a:t>Data Engineer Roadmap</a:t>
            </a:r>
            <a:endParaRPr lang="en-IN" sz="1600" dirty="0">
              <a:hlinkClick r:id="rId8"/>
            </a:endParaRPr>
          </a:p>
          <a:p>
            <a:r>
              <a:rPr lang="en-IN" sz="1600" dirty="0">
                <a:hlinkClick r:id="rId8"/>
              </a:rPr>
              <a:t>Comprehensive Data Engineering Diagram| LinkedIn</a:t>
            </a:r>
            <a:endParaRPr lang="en-IN" sz="1600" dirty="0"/>
          </a:p>
          <a:p>
            <a:r>
              <a:rPr lang="en-IN" sz="1600" dirty="0">
                <a:hlinkClick r:id="rId9"/>
              </a:rPr>
              <a:t>Mastering Data Layers in data platform | Medium</a:t>
            </a:r>
            <a:endParaRPr lang="en-IN" sz="1600" dirty="0"/>
          </a:p>
          <a:p>
            <a:r>
              <a:rPr lang="en-US" sz="1600" dirty="0">
                <a:hlinkClick r:id="rId10"/>
              </a:rPr>
              <a:t>Awesome Data Engineering Learning Path - Best resources, books, courses</a:t>
            </a:r>
            <a:endParaRPr lang="en-US" sz="1600" dirty="0"/>
          </a:p>
          <a:p>
            <a:r>
              <a:rPr lang="en-US" sz="1600" dirty="0">
                <a:hlinkClick r:id="rId11"/>
              </a:rPr>
              <a:t>Data-Engineer-Handbook</a:t>
            </a:r>
            <a:endParaRPr lang="en-US" sz="1600" dirty="0"/>
          </a:p>
          <a:p>
            <a:r>
              <a:rPr lang="en-IN" sz="1600" dirty="0">
                <a:hlinkClick r:id="rId12"/>
              </a:rPr>
              <a:t>Lakehouse vs Data Warehouse vs Real-Time Analytics/KQL Database</a:t>
            </a:r>
            <a:endParaRPr lang="en-IN" sz="1600" dirty="0"/>
          </a:p>
          <a:p>
            <a:r>
              <a:rPr lang="en-IN" sz="1600" dirty="0">
                <a:hlinkClick r:id="rId13"/>
              </a:rPr>
              <a:t>Azure Data Lake Storage Introduction - Azure Storage | Microsoft Learn</a:t>
            </a:r>
            <a:endParaRPr lang="en-US" sz="1600" dirty="0"/>
          </a:p>
          <a:p>
            <a:r>
              <a:rPr lang="en-IN" sz="1600" dirty="0">
                <a:hlinkClick r:id="rId14"/>
              </a:rPr>
              <a:t>Architecting Data-Intensive Applications</a:t>
            </a:r>
            <a:endParaRPr lang="en-US" sz="1600" kern="0" spc="-80" dirty="0">
              <a:solidFill>
                <a:schemeClr val="accent2"/>
              </a:solidFill>
            </a:endParaRPr>
          </a:p>
          <a:p>
            <a:pPr marL="12700" marR="5080"/>
            <a:r>
              <a:rPr lang="en-US" sz="1600" dirty="0">
                <a:hlinkClick r:id="rId15"/>
              </a:rPr>
              <a:t>Data Engineering Design Patterns (DEDP)</a:t>
            </a:r>
            <a:endParaRPr lang="en-US" sz="1600" dirty="0"/>
          </a:p>
          <a:p>
            <a:pPr marL="12700" marR="5080"/>
            <a:r>
              <a:rPr lang="en-US" sz="1600" dirty="0">
                <a:hlinkClick r:id="rId16"/>
              </a:rPr>
              <a:t>Data Engineering Design Patterns[Book]</a:t>
            </a:r>
            <a:endParaRPr lang="en-US" sz="1600" dirty="0"/>
          </a:p>
          <a:p>
            <a:pPr marL="12700" marR="5080"/>
            <a:r>
              <a:rPr lang="en-IN" sz="1600" dirty="0">
                <a:hlinkClick r:id="rId17"/>
              </a:rPr>
              <a:t>Data Pipeline Design Patterns - #1. Data flow patterns · Start Data Engineering</a:t>
            </a:r>
            <a:r>
              <a:rPr lang="en-US" sz="1600" kern="0" spc="-80" dirty="0">
                <a:solidFill>
                  <a:schemeClr val="accent6"/>
                </a:solidFill>
              </a:rPr>
              <a:t> </a:t>
            </a:r>
          </a:p>
          <a:p>
            <a:pPr marL="12700" marR="5080"/>
            <a:r>
              <a:rPr lang="en-US" sz="1600" dirty="0">
                <a:hlinkClick r:id="rId18"/>
              </a:rPr>
              <a:t>Azure - Data Factory, Synapse Analytics and </a:t>
            </a:r>
            <a:r>
              <a:rPr lang="en-US" sz="1600" dirty="0" err="1">
                <a:hlinkClick r:id="rId18"/>
              </a:rPr>
              <a:t>DataBricks</a:t>
            </a:r>
            <a:r>
              <a:rPr lang="en-US" sz="1600" dirty="0">
                <a:hlinkClick r:id="rId18"/>
              </a:rPr>
              <a:t> Comparison - Stack Overflow</a:t>
            </a:r>
            <a:endParaRPr lang="en-US" sz="1600" dirty="0"/>
          </a:p>
          <a:p>
            <a:pPr marL="12700" marR="5080"/>
            <a:r>
              <a:rPr lang="en-US" sz="1600" dirty="0">
                <a:hlinkClick r:id="rId19"/>
              </a:rPr>
              <a:t>Difference between synapse and </a:t>
            </a:r>
            <a:r>
              <a:rPr lang="en-US" sz="1600" dirty="0" err="1">
                <a:hlinkClick r:id="rId19"/>
              </a:rPr>
              <a:t>databricks</a:t>
            </a:r>
            <a:r>
              <a:rPr lang="en-US" sz="1600" dirty="0">
                <a:hlinkClick r:id="rId19"/>
              </a:rPr>
              <a:t> - Microsoft Q&amp;A</a:t>
            </a:r>
            <a:endParaRPr lang="en-US" sz="1600" dirty="0"/>
          </a:p>
          <a:p>
            <a:pPr marL="12700" marR="5080"/>
            <a:r>
              <a:rPr lang="en-US" sz="1600" dirty="0">
                <a:hlinkClick r:id="rId20"/>
              </a:rPr>
              <a:t>Azure Data Engineer </a:t>
            </a:r>
            <a:r>
              <a:rPr lang="en-US" sz="1600" dirty="0" err="1">
                <a:hlinkClick r:id="rId20"/>
              </a:rPr>
              <a:t>MasterClass</a:t>
            </a:r>
            <a:r>
              <a:rPr lang="en-US" sz="1600" dirty="0">
                <a:hlinkClick r:id="rId20"/>
              </a:rPr>
              <a:t> | DP-203 | DP-600 | DP-700 | Udemy</a:t>
            </a:r>
            <a:endParaRPr lang="en-US" sz="1600" dirty="0"/>
          </a:p>
          <a:p>
            <a:pPr marL="12700" marR="5080"/>
            <a:r>
              <a:rPr lang="en-US" sz="1600" dirty="0">
                <a:hlinkClick r:id="rId21"/>
              </a:rPr>
              <a:t>Azure-Data-Engineering-Cookbook</a:t>
            </a:r>
            <a:endParaRPr lang="en-US" sz="1600" dirty="0"/>
          </a:p>
          <a:p>
            <a:pPr marL="12700" marR="5080"/>
            <a:r>
              <a:rPr lang="en-US" sz="1600" dirty="0">
                <a:hlinkClick r:id="rId22"/>
              </a:rPr>
              <a:t>Azure-Data-Engineering-Cookbook-2nd-edition</a:t>
            </a:r>
            <a:endParaRPr lang="en-US" sz="1600" dirty="0"/>
          </a:p>
          <a:p>
            <a:pPr marL="12700" marR="5080"/>
            <a:r>
              <a:rPr lang="en-US" sz="1600" dirty="0">
                <a:hlinkClick r:id="rId23"/>
              </a:rPr>
              <a:t>Azure Data Factory +Synapse Analytics End to End ETL project | Udemy</a:t>
            </a:r>
            <a:endParaRPr lang="en-US" sz="1600" dirty="0"/>
          </a:p>
          <a:p>
            <a:pPr marL="12700" marR="5080"/>
            <a:r>
              <a:rPr lang="en-US" sz="1600" dirty="0">
                <a:hlinkClick r:id="rId24"/>
              </a:rPr>
              <a:t>Azure Data Engineer Masterclass - The Complete Guide | Udemy</a:t>
            </a:r>
            <a:endParaRPr lang="en-IN" sz="1600" dirty="0"/>
          </a:p>
          <a:p>
            <a:pPr marL="12700" marR="5080"/>
            <a:r>
              <a:rPr lang="en-IN" sz="1600" dirty="0">
                <a:hlinkClick r:id="rId25"/>
              </a:rPr>
              <a:t>Azure Synapse Analytics E-book | Microsoft Azure</a:t>
            </a:r>
            <a:endParaRPr lang="en-IN" sz="1600" dirty="0"/>
          </a:p>
          <a:p>
            <a:pPr marL="12700" marR="5080"/>
            <a:r>
              <a:rPr lang="en-US" sz="1600" dirty="0">
                <a:hlinkClick r:id="rId26"/>
              </a:rPr>
              <a:t>Limitless-Analytics-with-Azure-Synapse</a:t>
            </a:r>
            <a:endParaRPr lang="en-US" sz="1600" dirty="0"/>
          </a:p>
          <a:p>
            <a:pPr marL="12700" marR="5080"/>
            <a:r>
              <a:rPr lang="en-IN" sz="1600" dirty="0">
                <a:hlinkClick r:id="rId27"/>
              </a:rPr>
              <a:t>Ultimate-Azure-Synapse-Analytics</a:t>
            </a:r>
            <a:endParaRPr lang="en-IN" sz="1600" dirty="0"/>
          </a:p>
        </p:txBody>
      </p:sp>
    </p:spTree>
    <p:extLst>
      <p:ext uri="{BB962C8B-B14F-4D97-AF65-F5344CB8AC3E}">
        <p14:creationId xmlns:p14="http://schemas.microsoft.com/office/powerpoint/2010/main" val="1387777904"/>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C9C0D-E55C-6E06-DF55-06ABE14575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1BDBDC-83DA-5902-042B-56C5EB9722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DCF283-DFA7-FC2D-F467-734B8DD4CB8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4671C7-6674-C9B9-A92E-23C95121075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C42E6B-3887-7A64-FCC9-87A5BE0800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78D190-FD2C-E445-A06C-229B9C8F27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F19E3F-E7FB-C65E-5C77-3F426A243B7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945489-E10B-60AF-4B61-7F45678AB44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14A2D9-12C0-531E-9E76-E1C20A817372}"/>
              </a:ext>
            </a:extLst>
          </p:cNvPr>
          <p:cNvSpPr txBox="1">
            <a:spLocks/>
          </p:cNvSpPr>
          <p:nvPr/>
        </p:nvSpPr>
        <p:spPr>
          <a:xfrm>
            <a:off x="228600" y="685800"/>
            <a:ext cx="8624937" cy="56092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350" dirty="0">
                <a:hlinkClick r:id="rId7"/>
              </a:rPr>
              <a:t>Databricks - Master Azure Databricks for Data Engineers | Udemy</a:t>
            </a:r>
            <a:endParaRPr lang="en-IN" sz="1350" dirty="0"/>
          </a:p>
          <a:p>
            <a:pPr marL="12700" marR="5080"/>
            <a:r>
              <a:rPr lang="en-US" sz="1350" dirty="0">
                <a:hlinkClick r:id="rId8"/>
              </a:rPr>
              <a:t>Databricks Certified Data Engineer Associate - Preparation | Udemy</a:t>
            </a:r>
            <a:endParaRPr lang="en-IN" sz="1350" dirty="0"/>
          </a:p>
          <a:p>
            <a:pPr marL="12700" marR="5080"/>
            <a:r>
              <a:rPr lang="en-US" sz="1350" dirty="0">
                <a:hlinkClick r:id="rId9"/>
              </a:rPr>
              <a:t>Azure-Databricks-Cookbook</a:t>
            </a:r>
            <a:endParaRPr lang="en-US" sz="1350" dirty="0"/>
          </a:p>
          <a:p>
            <a:pPr marL="12700" marR="5080"/>
            <a:r>
              <a:rPr lang="en-IN" sz="1350" dirty="0">
                <a:hlinkClick r:id="rId10"/>
              </a:rPr>
              <a:t>Azure-Databricks-Cookbook-Second-</a:t>
            </a:r>
            <a:r>
              <a:rPr lang="en-IN" sz="1350" dirty="0" err="1">
                <a:hlinkClick r:id="rId10"/>
              </a:rPr>
              <a:t>EdOld</a:t>
            </a:r>
            <a:endParaRPr lang="en-IN" sz="1350" dirty="0"/>
          </a:p>
          <a:p>
            <a:pPr marL="12700" marR="5080"/>
            <a:r>
              <a:rPr lang="en-US" sz="1350" dirty="0">
                <a:hlinkClick r:id="rId11"/>
              </a:rPr>
              <a:t>Distributed Data Systems with Azure Databricks | Data | eBook</a:t>
            </a:r>
            <a:endParaRPr lang="en-US" sz="1350" dirty="0"/>
          </a:p>
          <a:p>
            <a:pPr marL="12700" marR="5080"/>
            <a:r>
              <a:rPr lang="en-US" sz="1350" dirty="0">
                <a:hlinkClick r:id="rId12"/>
              </a:rPr>
              <a:t>Delta Lake: The Definitive Guide by O’Reilly | Databricks</a:t>
            </a:r>
            <a:endParaRPr lang="en-US" sz="1350" dirty="0"/>
          </a:p>
          <a:p>
            <a:pPr marL="12700" marR="5080"/>
            <a:r>
              <a:rPr lang="en-US" sz="1350" dirty="0">
                <a:hlinkClick r:id="rId13"/>
              </a:rPr>
              <a:t>Master Microsoft Fabric: A Complete End-to-End Project- CICD | Udemy</a:t>
            </a:r>
            <a:endParaRPr lang="en-IN" sz="1350" dirty="0"/>
          </a:p>
          <a:p>
            <a:pPr marL="12700" marR="5080"/>
            <a:r>
              <a:rPr lang="en-US" sz="1350" dirty="0">
                <a:hlinkClick r:id="rId14"/>
              </a:rPr>
              <a:t>Azure Data Factory | Data Engineering on Azure and Fabric | Udemy</a:t>
            </a:r>
            <a:endParaRPr lang="en-US" sz="1350" dirty="0"/>
          </a:p>
          <a:p>
            <a:pPr marL="12700" marR="5080"/>
            <a:r>
              <a:rPr lang="en-US" sz="1350" dirty="0">
                <a:hlinkClick r:id="rId15"/>
              </a:rPr>
              <a:t>[2025] Mastering Azure Data Factory :From Basics to Advanced | Udemy</a:t>
            </a:r>
            <a:endParaRPr lang="en-IN" sz="1350" kern="0" spc="-80" dirty="0">
              <a:solidFill>
                <a:schemeClr val="accent6"/>
              </a:solidFill>
            </a:endParaRPr>
          </a:p>
          <a:p>
            <a:pPr marL="12700" marR="5080"/>
            <a:r>
              <a:rPr lang="en-IN" sz="1350" dirty="0" err="1">
                <a:hlinkClick r:id="rId16"/>
              </a:rPr>
              <a:t>LearningJournal</a:t>
            </a:r>
            <a:r>
              <a:rPr lang="en-IN" sz="1350" dirty="0">
                <a:hlinkClick r:id="rId16"/>
              </a:rPr>
              <a:t> (Prashant Kumar Pandey)</a:t>
            </a:r>
            <a:endParaRPr lang="en-IN" sz="1350" dirty="0"/>
          </a:p>
          <a:p>
            <a:pPr marL="12700" marR="5080"/>
            <a:r>
              <a:rPr lang="en-IN" sz="1350" dirty="0">
                <a:hlinkClick r:id="rId17"/>
              </a:rPr>
              <a:t>Ramesh </a:t>
            </a:r>
            <a:r>
              <a:rPr lang="en-IN" sz="1350" dirty="0" err="1">
                <a:hlinkClick r:id="rId17"/>
              </a:rPr>
              <a:t>Retnasamy</a:t>
            </a:r>
            <a:r>
              <a:rPr lang="en-IN" sz="1350" dirty="0">
                <a:hlinkClick r:id="rId17"/>
              </a:rPr>
              <a:t> . 200,000+ Learners | Best Selling Data &amp; AI Engineering Instructor | Udemy</a:t>
            </a:r>
            <a:endParaRPr lang="en-US" sz="1350" kern="0" spc="-80" dirty="0">
              <a:solidFill>
                <a:schemeClr val="accent2"/>
              </a:solidFill>
            </a:endParaRPr>
          </a:p>
          <a:p>
            <a:pPr marL="12700" marR="5080"/>
            <a:r>
              <a:rPr lang="en-IN" sz="1350" dirty="0">
                <a:hlinkClick r:id="rId18"/>
              </a:rPr>
              <a:t>Batch integration with Azure Data Factory for Azure Digital Twins - Azure Example Scenarios</a:t>
            </a:r>
            <a:endParaRPr lang="en-IN" sz="1350" dirty="0"/>
          </a:p>
          <a:p>
            <a:pPr marL="12700" marR="5080"/>
            <a:r>
              <a:rPr lang="en-US" sz="1350" dirty="0">
                <a:hlinkClick r:id="rId19"/>
              </a:rPr>
              <a:t>Big Book of Data Warehousing and BI | Databricks</a:t>
            </a:r>
            <a:endParaRPr lang="en-US" sz="1350" kern="0" spc="-80" dirty="0">
              <a:solidFill>
                <a:schemeClr val="accent2"/>
              </a:solidFill>
            </a:endParaRPr>
          </a:p>
          <a:p>
            <a:pPr marL="12700" marR="5080"/>
            <a:r>
              <a:rPr lang="en-US" sz="1350" dirty="0">
                <a:hlinkClick r:id="rId20"/>
              </a:rPr>
              <a:t>Preferred file format and why? (CSV, JSON, Parquet, ORC, AVRO) : r/</a:t>
            </a:r>
            <a:r>
              <a:rPr lang="en-US" sz="1350" dirty="0" err="1">
                <a:hlinkClick r:id="rId20"/>
              </a:rPr>
              <a:t>dataengineering</a:t>
            </a:r>
            <a:endParaRPr lang="en-US" sz="1350" dirty="0"/>
          </a:p>
          <a:p>
            <a:pPr marL="12700" marR="5080"/>
            <a:r>
              <a:rPr lang="en-IN" sz="1350" dirty="0">
                <a:hlinkClick r:id="rId21"/>
              </a:rPr>
              <a:t>FAIR data </a:t>
            </a:r>
            <a:r>
              <a:rPr lang="en-IN" sz="1350" dirty="0">
                <a:hlinkClick r:id="rId22"/>
              </a:rPr>
              <a:t>–</a:t>
            </a:r>
            <a:r>
              <a:rPr lang="en-IN" sz="1350" dirty="0">
                <a:hlinkClick r:id="rId21"/>
              </a:rPr>
              <a:t> Wikipedia</a:t>
            </a:r>
            <a:r>
              <a:rPr lang="en-IN" sz="1350" dirty="0"/>
              <a:t> </a:t>
            </a:r>
            <a:r>
              <a:rPr lang="en-IN" sz="1350" kern="0" spc="-80" dirty="0">
                <a:solidFill>
                  <a:schemeClr val="accent6"/>
                </a:solidFill>
              </a:rPr>
              <a:t>(another you can add here is [Data] Lineage)</a:t>
            </a:r>
          </a:p>
          <a:p>
            <a:pPr marL="12700" marR="5080"/>
            <a:r>
              <a:rPr lang="en-IN" sz="1350" dirty="0">
                <a:hlinkClick r:id="rId22"/>
              </a:rPr>
              <a:t>Data Quality Fundamentals[Book]</a:t>
            </a:r>
            <a:endParaRPr lang="en-IN" sz="1350" dirty="0"/>
          </a:p>
          <a:p>
            <a:pPr marL="12700" marR="5080"/>
            <a:r>
              <a:rPr lang="en-IN" sz="1350" dirty="0">
                <a:hlinkClick r:id="rId23"/>
              </a:rPr>
              <a:t>Data Governance Handbook | Data | Print</a:t>
            </a:r>
            <a:endParaRPr lang="en-IN" sz="1350" dirty="0"/>
          </a:p>
          <a:p>
            <a:pPr marL="12700" marR="5080"/>
            <a:r>
              <a:rPr lang="en-IN" sz="1350" dirty="0">
                <a:hlinkClick r:id="rId24"/>
              </a:rPr>
              <a:t>Data Contracts[Book]</a:t>
            </a:r>
            <a:endParaRPr lang="en-IN" sz="1350" dirty="0"/>
          </a:p>
          <a:p>
            <a:pPr marL="12700" marR="5080"/>
            <a:r>
              <a:rPr lang="en-IN" sz="1350" dirty="0">
                <a:hlinkClick r:id="rId25"/>
              </a:rPr>
              <a:t>The data contracts book</a:t>
            </a:r>
            <a:endParaRPr lang="en-IN" sz="1350" dirty="0"/>
          </a:p>
          <a:p>
            <a:pPr marL="12700" marR="5080"/>
            <a:r>
              <a:rPr lang="en-IN" sz="1350" dirty="0">
                <a:hlinkClick r:id="rId26"/>
              </a:rPr>
              <a:t>Apache Hudi vs Delta Lake vs Apache Iceberg - Data Lakehouse Feature Comparison</a:t>
            </a:r>
            <a:endParaRPr lang="en-IN" sz="1350" dirty="0"/>
          </a:p>
          <a:p>
            <a:pPr marL="12700" marR="5080"/>
            <a:r>
              <a:rPr lang="en-US" sz="1350" dirty="0">
                <a:hlinkClick r:id="rId27"/>
              </a:rPr>
              <a:t>Druid vs Pinot: Choosing the best database for Real-Time Analytics </a:t>
            </a:r>
            <a:r>
              <a:rPr lang="en-US" sz="1350" dirty="0">
                <a:hlinkClick r:id="rId28"/>
              </a:rPr>
              <a:t>–</a:t>
            </a:r>
            <a:r>
              <a:rPr lang="en-US" sz="1350" dirty="0">
                <a:hlinkClick r:id="rId27"/>
              </a:rPr>
              <a:t> Imply</a:t>
            </a:r>
            <a:endParaRPr lang="en-US" sz="1350" dirty="0"/>
          </a:p>
          <a:p>
            <a:pPr marL="12700" marR="5080"/>
            <a:r>
              <a:rPr lang="en-US" sz="1350" dirty="0">
                <a:hlinkClick r:id="rId28"/>
              </a:rPr>
              <a:t>Featured | Isha Rani | LinkedIn</a:t>
            </a:r>
            <a:endParaRPr lang="en-US" sz="1350" dirty="0"/>
          </a:p>
          <a:p>
            <a:pPr marL="12700" marR="5080"/>
            <a:r>
              <a:rPr lang="en-US" sz="1350" dirty="0">
                <a:hlinkClick r:id="rId29"/>
              </a:rPr>
              <a:t>Learn Data Engineering From These GitHub Repositories </a:t>
            </a:r>
            <a:r>
              <a:rPr lang="en-US" sz="1350" dirty="0">
                <a:hlinkClick r:id="rId30"/>
              </a:rPr>
              <a:t>–</a:t>
            </a:r>
            <a:r>
              <a:rPr lang="en-US" sz="1350" dirty="0">
                <a:hlinkClick r:id="rId29"/>
              </a:rPr>
              <a:t> </a:t>
            </a:r>
            <a:r>
              <a:rPr lang="en-US" sz="1350" dirty="0" err="1">
                <a:hlinkClick r:id="rId29"/>
              </a:rPr>
              <a:t>K</a:t>
            </a:r>
            <a:r>
              <a:rPr lang="en-US" sz="1350" dirty="0" err="1">
                <a:hlinkClick r:id="rId30"/>
              </a:rPr>
              <a:t>d</a:t>
            </a:r>
            <a:r>
              <a:rPr lang="en-US" sz="1350" dirty="0" err="1">
                <a:hlinkClick r:id="rId29"/>
              </a:rPr>
              <a:t>nuggets</a:t>
            </a:r>
            <a:endParaRPr lang="en-US" sz="1350" dirty="0"/>
          </a:p>
          <a:p>
            <a:pPr marL="12700" marR="5080"/>
            <a:r>
              <a:rPr lang="en-US" sz="1350" dirty="0">
                <a:hlinkClick r:id="rId31"/>
              </a:rPr>
              <a:t>Awesome-Stream-Processing</a:t>
            </a:r>
            <a:endParaRPr lang="en-US" sz="1350" dirty="0"/>
          </a:p>
          <a:p>
            <a:pPr marL="12700" marR="5080"/>
            <a:r>
              <a:rPr lang="en-US" sz="1350" dirty="0">
                <a:hlinkClick r:id="rId32"/>
              </a:rPr>
              <a:t>Awesome-Streaming</a:t>
            </a:r>
            <a:endParaRPr lang="en-US" sz="1350" dirty="0"/>
          </a:p>
          <a:p>
            <a:pPr marL="12700" marR="5080"/>
            <a:endParaRPr lang="en-IN" sz="1350" kern="0" spc="-80" dirty="0">
              <a:solidFill>
                <a:schemeClr val="accent6"/>
              </a:solidFill>
            </a:endParaRPr>
          </a:p>
          <a:p>
            <a:pPr marL="12700" marR="5080"/>
            <a:r>
              <a:rPr lang="en-IN" sz="1350" dirty="0">
                <a:hlinkClick r:id="rId22"/>
              </a:rPr>
              <a:t>  </a:t>
            </a:r>
            <a:endParaRPr lang="en-US" sz="1350" kern="0" spc="-80" dirty="0">
              <a:solidFill>
                <a:schemeClr val="accent2"/>
              </a:solidFill>
            </a:endParaRPr>
          </a:p>
        </p:txBody>
      </p:sp>
    </p:spTree>
    <p:extLst>
      <p:ext uri="{BB962C8B-B14F-4D97-AF65-F5344CB8AC3E}">
        <p14:creationId xmlns:p14="http://schemas.microsoft.com/office/powerpoint/2010/main" val="306625608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CA7D1-5743-5862-14B4-F26DA880C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611F49-994D-DB13-0DB2-42938591C2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2C716E-FC4F-E548-1C53-585D5D58CE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457EC2-1D12-B4F4-18C8-9DD85D4E9156}"/>
              </a:ext>
            </a:extLst>
          </p:cNvPr>
          <p:cNvGraphicFramePr/>
          <p:nvPr/>
        </p:nvGraphicFramePr>
        <p:xfrm>
          <a:off x="-76200" y="34425"/>
          <a:ext cx="92202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D30A27D-744E-6BBE-739E-CCB2DFF00D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495133-7918-3071-7756-51A1DE95D1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006B03-2DD6-CCAD-9181-8B3915FC6517}"/>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9AB28F-EC5B-2521-1455-9D71C05AE5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FB55C7B-738F-823F-EC2C-68B832B28772}"/>
              </a:ext>
            </a:extLst>
          </p:cNvPr>
          <p:cNvSpPr txBox="1"/>
          <p:nvPr/>
        </p:nvSpPr>
        <p:spPr>
          <a:xfrm>
            <a:off x="195550" y="745712"/>
            <a:ext cx="8915399" cy="5047536"/>
          </a:xfrm>
          <a:prstGeom prst="rect">
            <a:avLst/>
          </a:prstGeom>
          <a:noFill/>
        </p:spPr>
        <p:txBody>
          <a:bodyPr wrap="square">
            <a:spAutoFit/>
          </a:bodyPr>
          <a:lstStyle/>
          <a:p>
            <a:r>
              <a:rPr lang="en-US" kern="0" spc="-80" dirty="0">
                <a:solidFill>
                  <a:schemeClr val="accent2"/>
                </a:solidFill>
              </a:rPr>
              <a:t>Some Probabilistic Data &amp; Niche Scenarios Resources – </a:t>
            </a:r>
          </a:p>
          <a:p>
            <a:r>
              <a:rPr lang="en-US" sz="1900" b="1" dirty="0">
                <a:hlinkClick r:id="rId7"/>
              </a:rPr>
              <a:t>Introduction to the Probabilistic Data Structure </a:t>
            </a:r>
            <a:r>
              <a:rPr lang="en-US" sz="1900" b="1" dirty="0">
                <a:hlinkClick r:id="rId8"/>
              </a:rPr>
              <a:t>–</a:t>
            </a:r>
            <a:r>
              <a:rPr lang="en-US" sz="1900" b="1" dirty="0">
                <a:hlinkClick r:id="rId7"/>
              </a:rPr>
              <a:t> </a:t>
            </a:r>
            <a:r>
              <a:rPr lang="en-US" sz="1900" b="1" dirty="0" err="1">
                <a:hlinkClick r:id="rId7"/>
              </a:rPr>
              <a:t>GeeksforGeeks</a:t>
            </a:r>
            <a:endParaRPr lang="en-US" sz="1900" b="1" dirty="0"/>
          </a:p>
          <a:p>
            <a:r>
              <a:rPr lang="en-US" sz="1900" b="1" dirty="0">
                <a:hlinkClick r:id="rId9"/>
              </a:rPr>
              <a:t>Probabilistic Data Structures Decoded: Enhancing Performance in Modern Computing</a:t>
            </a:r>
            <a:endParaRPr lang="en-US" sz="1900" b="1" dirty="0">
              <a:hlinkClick r:id="rId8"/>
            </a:endParaRPr>
          </a:p>
          <a:p>
            <a:r>
              <a:rPr lang="en-US" sz="1900" b="1" dirty="0">
                <a:hlinkClick r:id="rId8"/>
              </a:rPr>
              <a:t>What are probabilistic data structures? - Stack Overflow</a:t>
            </a:r>
            <a:endParaRPr lang="en-US" sz="1900" b="1" dirty="0"/>
          </a:p>
          <a:p>
            <a:r>
              <a:rPr lang="en-US" sz="1900" b="1" dirty="0">
                <a:hlinkClick r:id="rId10"/>
              </a:rPr>
              <a:t>Probabilistic Data Structures Simplified | by Anik | Medium</a:t>
            </a:r>
            <a:endParaRPr lang="en-US" sz="1900" b="1" dirty="0"/>
          </a:p>
          <a:p>
            <a:r>
              <a:rPr lang="en-US" sz="1900" b="1" dirty="0">
                <a:hlinkClick r:id="rId11"/>
              </a:rPr>
              <a:t>Advance Data Structures for Data Engineering — Part II</a:t>
            </a:r>
            <a:endParaRPr lang="en-US" sz="1900" b="1" dirty="0"/>
          </a:p>
          <a:p>
            <a:r>
              <a:rPr lang="en-IN" sz="1900" b="1" dirty="0">
                <a:hlinkClick r:id="rId12"/>
              </a:rPr>
              <a:t>Probabilistic | Docs</a:t>
            </a:r>
            <a:endParaRPr lang="en-IN" sz="1900" b="1" dirty="0"/>
          </a:p>
          <a:p>
            <a:r>
              <a:rPr lang="en-IN" sz="1900" b="1" dirty="0">
                <a:hlinkClick r:id="rId13"/>
              </a:rPr>
              <a:t>Algorithms and Data Structures for Massive Datasets eBook</a:t>
            </a:r>
            <a:endParaRPr lang="en-IN" sz="1900" b="1" dirty="0"/>
          </a:p>
          <a:p>
            <a:r>
              <a:rPr lang="en-US" sz="1900" b="1" dirty="0">
                <a:hlinkClick r:id="rId14"/>
              </a:rPr>
              <a:t>Probabilistic Data Structures and Algorithms for Big Data Applications eBook</a:t>
            </a:r>
            <a:endParaRPr lang="en-IN" sz="1900" b="1" dirty="0"/>
          </a:p>
          <a:p>
            <a:r>
              <a:rPr lang="en-US" sz="1900" b="1" dirty="0">
                <a:hlinkClick r:id="rId15"/>
              </a:rPr>
              <a:t>Probabilistic Data Structures for Blockchain-Based Internet of Things Applications</a:t>
            </a:r>
            <a:endParaRPr lang="en-US" sz="1900" b="1" dirty="0"/>
          </a:p>
          <a:p>
            <a:r>
              <a:rPr lang="en-US" sz="1900" b="1" dirty="0" err="1">
                <a:hlinkClick r:id="rId16"/>
              </a:rPr>
              <a:t>Category:Probabilistic</a:t>
            </a:r>
            <a:r>
              <a:rPr lang="en-US" sz="1900" b="1" dirty="0">
                <a:hlinkClick r:id="rId16"/>
              </a:rPr>
              <a:t> data structures – Wikipedia</a:t>
            </a:r>
            <a:endParaRPr lang="en-US" sz="1900" b="1" dirty="0"/>
          </a:p>
          <a:p>
            <a:r>
              <a:rPr lang="en-IN" sz="1900" b="1" dirty="0" err="1">
                <a:hlinkClick r:id="rId17"/>
              </a:rPr>
              <a:t>IO_Efficient_Computation</a:t>
            </a:r>
            <a:endParaRPr lang="en-IN" sz="1900" b="1" dirty="0"/>
          </a:p>
          <a:p>
            <a:r>
              <a:rPr lang="en-US" sz="1900" b="1" dirty="0">
                <a:hlinkClick r:id="rId18"/>
              </a:rPr>
              <a:t>CPS 296 Advanced Topics in CS</a:t>
            </a:r>
            <a:endParaRPr lang="en-US" sz="1900" b="1" dirty="0"/>
          </a:p>
          <a:p>
            <a:r>
              <a:rPr lang="en-IN" sz="1900" b="1" dirty="0">
                <a:hlinkClick r:id="rId19"/>
              </a:rPr>
              <a:t>External memory algorithm – Wikipedia</a:t>
            </a:r>
            <a:endParaRPr lang="en-US" sz="1900" b="1" dirty="0"/>
          </a:p>
          <a:p>
            <a:r>
              <a:rPr lang="en-IN" sz="1900" b="1" dirty="0">
                <a:hlinkClick r:id="rId20"/>
              </a:rPr>
              <a:t>External_Memory_Algos.pdf</a:t>
            </a:r>
            <a:endParaRPr lang="en-IN" sz="1900" b="1" dirty="0"/>
          </a:p>
          <a:p>
            <a:r>
              <a:rPr lang="en-IN" sz="1900" b="1" dirty="0">
                <a:hlinkClick r:id="rId21"/>
              </a:rPr>
              <a:t>External.pdf</a:t>
            </a:r>
            <a:endParaRPr lang="en-IN" sz="1900" b="1" dirty="0"/>
          </a:p>
          <a:p>
            <a:r>
              <a:rPr lang="en-IN" sz="1900" b="1" dirty="0">
                <a:hlinkClick r:id="rId22"/>
              </a:rPr>
              <a:t>Vit.IO_survey.pdf</a:t>
            </a:r>
            <a:endParaRPr lang="en-US" sz="1900" b="1" dirty="0"/>
          </a:p>
        </p:txBody>
      </p:sp>
    </p:spTree>
    <p:extLst>
      <p:ext uri="{BB962C8B-B14F-4D97-AF65-F5344CB8AC3E}">
        <p14:creationId xmlns:p14="http://schemas.microsoft.com/office/powerpoint/2010/main" val="530072815"/>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9196799"/>
              </p:ext>
            </p:extLst>
          </p:nvPr>
        </p:nvGraphicFramePr>
        <p:xfrm>
          <a:off x="138063" y="46672"/>
          <a:ext cx="8915399" cy="486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1" name="Picture 10">
            <a:extLst>
              <a:ext uri="{FF2B5EF4-FFF2-40B4-BE49-F238E27FC236}">
                <a16:creationId xmlns:a16="http://schemas.microsoft.com/office/drawing/2014/main" id="{89A0DA90-CE2A-FA18-4546-94813D0C4501}"/>
              </a:ext>
            </a:extLst>
          </p:cNvPr>
          <p:cNvPicPr>
            <a:picLocks noChangeAspect="1"/>
          </p:cNvPicPr>
          <p:nvPr/>
        </p:nvPicPr>
        <p:blipFill>
          <a:blip r:embed="rId8"/>
          <a:stretch>
            <a:fillRect/>
          </a:stretch>
        </p:blipFill>
        <p:spPr>
          <a:xfrm>
            <a:off x="138063" y="762001"/>
            <a:ext cx="8777336" cy="4050267"/>
          </a:xfrm>
          <a:prstGeom prst="rect">
            <a:avLst/>
          </a:prstGeom>
        </p:spPr>
      </p:pic>
      <p:sp>
        <p:nvSpPr>
          <p:cNvPr id="13" name="object 2">
            <a:extLst>
              <a:ext uri="{FF2B5EF4-FFF2-40B4-BE49-F238E27FC236}">
                <a16:creationId xmlns:a16="http://schemas.microsoft.com/office/drawing/2014/main" id="{B64DDF9C-38FD-716F-D0A2-2C6A7713D461}"/>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9" name="object 2">
            <a:extLst>
              <a:ext uri="{FF2B5EF4-FFF2-40B4-BE49-F238E27FC236}">
                <a16:creationId xmlns:a16="http://schemas.microsoft.com/office/drawing/2014/main" id="{0B878DD9-7168-B042-012C-B905D7458895}"/>
              </a:ext>
            </a:extLst>
          </p:cNvPr>
          <p:cNvSpPr txBox="1">
            <a:spLocks/>
          </p:cNvSpPr>
          <p:nvPr/>
        </p:nvSpPr>
        <p:spPr>
          <a:xfrm>
            <a:off x="8263" y="4866382"/>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Some Terminologies – </a:t>
            </a:r>
          </a:p>
          <a:p>
            <a:pPr marL="12700" marR="5080"/>
            <a:r>
              <a:rPr lang="en-US" sz="1400" kern="0" spc="-80" dirty="0">
                <a:solidFill>
                  <a:schemeClr val="accent2"/>
                </a:solidFill>
              </a:rPr>
              <a:t>   </a:t>
            </a:r>
            <a:r>
              <a:rPr lang="en-US" sz="1400" kern="0" spc="-80" dirty="0">
                <a:solidFill>
                  <a:schemeClr val="accent6"/>
                </a:solidFill>
              </a:rPr>
              <a:t>STP(Straight Through Processing) &amp; Non-STP</a:t>
            </a:r>
          </a:p>
          <a:p>
            <a:pPr marL="12700" marR="5080"/>
            <a:r>
              <a:rPr lang="en-US" sz="1400" kern="0" spc="-80" dirty="0">
                <a:solidFill>
                  <a:schemeClr val="accent6"/>
                </a:solidFill>
              </a:rPr>
              <a:t>   Hydration, De-Hydration &amp; Re-Hydration</a:t>
            </a:r>
          </a:p>
          <a:p>
            <a:pPr marL="12700" marR="5080"/>
            <a:r>
              <a:rPr lang="en-US" sz="1400" kern="0" spc="-80" dirty="0">
                <a:solidFill>
                  <a:schemeClr val="accent6"/>
                </a:solidFill>
              </a:rPr>
              <a:t>   (Re-)Hosting</a:t>
            </a:r>
          </a:p>
          <a:p>
            <a:pPr marL="12700" marR="5080"/>
            <a:r>
              <a:rPr lang="en-US" sz="1400" kern="0" spc="-80" dirty="0">
                <a:solidFill>
                  <a:schemeClr val="accent6"/>
                </a:solidFill>
              </a:rPr>
              <a:t>   State Machine &amp; </a:t>
            </a:r>
            <a:r>
              <a:rPr lang="en-US" sz="1400" kern="0" spc="-80" dirty="0" err="1">
                <a:solidFill>
                  <a:schemeClr val="accent6"/>
                </a:solidFill>
              </a:rPr>
              <a:t>FlowCharts</a:t>
            </a:r>
            <a:endParaRPr lang="en-US" sz="1400" kern="0" spc="-80" dirty="0">
              <a:solidFill>
                <a:schemeClr val="accent6"/>
              </a:solidFill>
            </a:endParaRPr>
          </a:p>
        </p:txBody>
      </p:sp>
    </p:spTree>
    <p:extLst>
      <p:ext uri="{BB962C8B-B14F-4D97-AF65-F5344CB8AC3E}">
        <p14:creationId xmlns:p14="http://schemas.microsoft.com/office/powerpoint/2010/main" val="3498130339"/>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494453"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WORKFLOWS</a:t>
            </a:r>
          </a:p>
        </p:txBody>
      </p:sp>
      <p:sp>
        <p:nvSpPr>
          <p:cNvPr id="8" name="Rounded Rectangle 7"/>
          <p:cNvSpPr/>
          <p:nvPr/>
        </p:nvSpPr>
        <p:spPr>
          <a:xfrm>
            <a:off x="494453" y="3166810"/>
            <a:ext cx="1645920" cy="548640"/>
          </a:xfrm>
          <a:prstGeom prst="round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1"/>
                </a:solidFill>
                <a:latin typeface="Calibri" panose="020F0502020204030204" pitchFamily="34" charset="0"/>
              </a:rPr>
              <a:t>ORCHESTRATION SERVER</a:t>
            </a:r>
          </a:p>
        </p:txBody>
      </p:sp>
      <p:cxnSp>
        <p:nvCxnSpPr>
          <p:cNvPr id="4" name="Straight Arrow Connector 3"/>
          <p:cNvCxnSpPr>
            <a:cxnSpLocks/>
            <a:stCxn id="2" idx="2"/>
            <a:endCxn id="8" idx="0"/>
          </p:cNvCxnSpPr>
          <p:nvPr/>
        </p:nvCxnSpPr>
        <p:spPr>
          <a:xfrm>
            <a:off x="1317413" y="1863097"/>
            <a:ext cx="0" cy="13037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rot="16200000">
            <a:off x="766301" y="2391844"/>
            <a:ext cx="848309" cy="246221"/>
          </a:xfrm>
          <a:prstGeom prst="rect">
            <a:avLst/>
          </a:prstGeom>
          <a:noFill/>
        </p:spPr>
        <p:txBody>
          <a:bodyPr wrap="none" rtlCol="0">
            <a:spAutoFit/>
          </a:bodyPr>
          <a:lstStyle/>
          <a:p>
            <a:r>
              <a:rPr lang="en-US" sz="1000" b="1" dirty="0"/>
              <a:t>deployed on</a:t>
            </a:r>
          </a:p>
        </p:txBody>
      </p:sp>
      <p:sp>
        <p:nvSpPr>
          <p:cNvPr id="11" name="Rounded Rectangle 10"/>
          <p:cNvSpPr/>
          <p:nvPr/>
        </p:nvSpPr>
        <p:spPr>
          <a:xfrm>
            <a:off x="3047129"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TASKS</a:t>
            </a:r>
          </a:p>
        </p:txBody>
      </p:sp>
      <p:cxnSp>
        <p:nvCxnSpPr>
          <p:cNvPr id="10" name="Straight Arrow Connector 9"/>
          <p:cNvCxnSpPr>
            <a:cxnSpLocks/>
            <a:stCxn id="2" idx="3"/>
            <a:endCxn id="11" idx="1"/>
          </p:cNvCxnSpPr>
          <p:nvPr/>
        </p:nvCxnSpPr>
        <p:spPr>
          <a:xfrm>
            <a:off x="2140373" y="1599234"/>
            <a:ext cx="9067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182621" y="1353494"/>
            <a:ext cx="692818" cy="246221"/>
          </a:xfrm>
          <a:prstGeom prst="rect">
            <a:avLst/>
          </a:prstGeom>
          <a:noFill/>
        </p:spPr>
        <p:txBody>
          <a:bodyPr wrap="none" rtlCol="0">
            <a:spAutoFit/>
          </a:bodyPr>
          <a:lstStyle/>
          <a:p>
            <a:r>
              <a:rPr lang="en-US" sz="1000" b="1" dirty="0"/>
              <a:t>consist of</a:t>
            </a:r>
          </a:p>
        </p:txBody>
      </p:sp>
      <p:sp>
        <p:nvSpPr>
          <p:cNvPr id="17" name="Rounded Rectangle 16"/>
          <p:cNvSpPr/>
          <p:nvPr/>
        </p:nvSpPr>
        <p:spPr>
          <a:xfrm>
            <a:off x="5421066" y="1335370"/>
            <a:ext cx="1645920" cy="527727"/>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SYSTEM TASKS</a:t>
            </a:r>
          </a:p>
        </p:txBody>
      </p:sp>
      <p:sp>
        <p:nvSpPr>
          <p:cNvPr id="18" name="Rounded Rectangle 17"/>
          <p:cNvSpPr/>
          <p:nvPr/>
        </p:nvSpPr>
        <p:spPr>
          <a:xfrm>
            <a:off x="5421066" y="1929066"/>
            <a:ext cx="1645920" cy="548640"/>
          </a:xfrm>
          <a:prstGeom prst="roundRect">
            <a:avLst/>
          </a:prstGeom>
          <a:solidFill>
            <a:schemeClr val="bg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SIMPLE TASKS</a:t>
            </a:r>
          </a:p>
        </p:txBody>
      </p:sp>
      <p:sp>
        <p:nvSpPr>
          <p:cNvPr id="20" name="Rounded Rectangle 19"/>
          <p:cNvSpPr/>
          <p:nvPr/>
        </p:nvSpPr>
        <p:spPr>
          <a:xfrm>
            <a:off x="5421066" y="3397097"/>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WORKERS</a:t>
            </a:r>
          </a:p>
        </p:txBody>
      </p:sp>
      <p:cxnSp>
        <p:nvCxnSpPr>
          <p:cNvPr id="22" name="Straight Arrow Connector 21"/>
          <p:cNvCxnSpPr>
            <a:stCxn id="20" idx="0"/>
            <a:endCxn id="18" idx="2"/>
          </p:cNvCxnSpPr>
          <p:nvPr/>
        </p:nvCxnSpPr>
        <p:spPr>
          <a:xfrm flipV="1">
            <a:off x="6244026" y="2477707"/>
            <a:ext cx="0" cy="91939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p:cNvCxnSpPr/>
          <p:nvPr/>
        </p:nvCxnSpPr>
        <p:spPr>
          <a:xfrm flipH="1">
            <a:off x="2140374" y="3522406"/>
            <a:ext cx="32806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a:cxnSpLocks/>
            <a:stCxn id="11" idx="3"/>
            <a:endCxn id="17" idx="1"/>
          </p:cNvCxnSpPr>
          <p:nvPr/>
        </p:nvCxnSpPr>
        <p:spPr>
          <a:xfrm>
            <a:off x="4693049" y="1599234"/>
            <a:ext cx="72801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Elbow Connector 29"/>
          <p:cNvCxnSpPr>
            <a:stCxn id="11" idx="3"/>
            <a:endCxn id="18" idx="1"/>
          </p:cNvCxnSpPr>
          <p:nvPr/>
        </p:nvCxnSpPr>
        <p:spPr>
          <a:xfrm>
            <a:off x="4693049" y="1599234"/>
            <a:ext cx="728017" cy="60415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428604" y="1378774"/>
            <a:ext cx="1280160" cy="439773"/>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FORK</a:t>
            </a:r>
          </a:p>
        </p:txBody>
      </p:sp>
      <p:sp>
        <p:nvSpPr>
          <p:cNvPr id="37" name="Rounded Rectangle 36"/>
          <p:cNvSpPr/>
          <p:nvPr/>
        </p:nvSpPr>
        <p:spPr>
          <a:xfrm>
            <a:off x="7428604" y="1891292"/>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JOIN</a:t>
            </a:r>
          </a:p>
        </p:txBody>
      </p:sp>
      <p:sp>
        <p:nvSpPr>
          <p:cNvPr id="38" name="Rounded Rectangle 37"/>
          <p:cNvSpPr/>
          <p:nvPr/>
        </p:nvSpPr>
        <p:spPr>
          <a:xfrm>
            <a:off x="7428604" y="2421236"/>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DECISION</a:t>
            </a:r>
          </a:p>
        </p:txBody>
      </p:sp>
      <p:sp>
        <p:nvSpPr>
          <p:cNvPr id="39" name="Rounded Rectangle 38"/>
          <p:cNvSpPr/>
          <p:nvPr/>
        </p:nvSpPr>
        <p:spPr>
          <a:xfrm>
            <a:off x="7428604" y="2951180"/>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WAIT</a:t>
            </a:r>
          </a:p>
        </p:txBody>
      </p:sp>
      <p:sp>
        <p:nvSpPr>
          <p:cNvPr id="40" name="Rounded Rectangle 39"/>
          <p:cNvSpPr/>
          <p:nvPr/>
        </p:nvSpPr>
        <p:spPr>
          <a:xfrm>
            <a:off x="7428604" y="3481124"/>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HTTP</a:t>
            </a:r>
          </a:p>
        </p:txBody>
      </p:sp>
      <p:sp>
        <p:nvSpPr>
          <p:cNvPr id="41" name="Rounded Rectangle 40"/>
          <p:cNvSpPr/>
          <p:nvPr/>
        </p:nvSpPr>
        <p:spPr>
          <a:xfrm>
            <a:off x="7428604" y="4011068"/>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EVENT</a:t>
            </a:r>
          </a:p>
        </p:txBody>
      </p:sp>
      <p:sp>
        <p:nvSpPr>
          <p:cNvPr id="42" name="TextBox 41"/>
          <p:cNvSpPr txBox="1"/>
          <p:nvPr/>
        </p:nvSpPr>
        <p:spPr>
          <a:xfrm rot="16200000">
            <a:off x="5752504" y="2830764"/>
            <a:ext cx="768159" cy="246221"/>
          </a:xfrm>
          <a:prstGeom prst="rect">
            <a:avLst/>
          </a:prstGeom>
          <a:noFill/>
        </p:spPr>
        <p:txBody>
          <a:bodyPr wrap="none" rtlCol="0">
            <a:spAutoFit/>
          </a:bodyPr>
          <a:lstStyle/>
          <a:p>
            <a:r>
              <a:rPr lang="en-US" sz="1000" b="1" dirty="0"/>
              <a:t>implement</a:t>
            </a:r>
          </a:p>
        </p:txBody>
      </p:sp>
      <p:cxnSp>
        <p:nvCxnSpPr>
          <p:cNvPr id="44" name="Straight Arrow Connector 43"/>
          <p:cNvCxnSpPr>
            <a:cxnSpLocks/>
            <a:stCxn id="17" idx="3"/>
            <a:endCxn id="36" idx="1"/>
          </p:cNvCxnSpPr>
          <p:nvPr/>
        </p:nvCxnSpPr>
        <p:spPr>
          <a:xfrm flipV="1">
            <a:off x="7066986" y="1598661"/>
            <a:ext cx="361618" cy="5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Elbow Connector 45"/>
          <p:cNvCxnSpPr>
            <a:cxnSpLocks/>
            <a:stCxn id="17" idx="3"/>
            <a:endCxn id="37" idx="1"/>
          </p:cNvCxnSpPr>
          <p:nvPr/>
        </p:nvCxnSpPr>
        <p:spPr>
          <a:xfrm>
            <a:off x="7066986" y="1599234"/>
            <a:ext cx="361618" cy="52065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Elbow Connector 47"/>
          <p:cNvCxnSpPr>
            <a:cxnSpLocks/>
            <a:stCxn id="17" idx="3"/>
            <a:endCxn id="38" idx="1"/>
          </p:cNvCxnSpPr>
          <p:nvPr/>
        </p:nvCxnSpPr>
        <p:spPr>
          <a:xfrm>
            <a:off x="7066986" y="1599234"/>
            <a:ext cx="361618" cy="105060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Elbow Connector 49"/>
          <p:cNvCxnSpPr>
            <a:cxnSpLocks/>
            <a:stCxn id="17" idx="3"/>
            <a:endCxn id="39" idx="1"/>
          </p:cNvCxnSpPr>
          <p:nvPr/>
        </p:nvCxnSpPr>
        <p:spPr>
          <a:xfrm>
            <a:off x="7066986" y="1599234"/>
            <a:ext cx="361618" cy="158054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Elbow Connector 51"/>
          <p:cNvCxnSpPr>
            <a:cxnSpLocks/>
            <a:stCxn id="17" idx="3"/>
            <a:endCxn id="40" idx="1"/>
          </p:cNvCxnSpPr>
          <p:nvPr/>
        </p:nvCxnSpPr>
        <p:spPr>
          <a:xfrm>
            <a:off x="7066986" y="1599234"/>
            <a:ext cx="361618" cy="211049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Elbow Connector 53"/>
          <p:cNvCxnSpPr>
            <a:cxnSpLocks/>
            <a:stCxn id="17" idx="3"/>
            <a:endCxn id="41" idx="1"/>
          </p:cNvCxnSpPr>
          <p:nvPr/>
        </p:nvCxnSpPr>
        <p:spPr>
          <a:xfrm>
            <a:off x="7066986" y="1599234"/>
            <a:ext cx="361618" cy="264043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316527" y="3284004"/>
            <a:ext cx="1023037" cy="246221"/>
          </a:xfrm>
          <a:prstGeom prst="rect">
            <a:avLst/>
          </a:prstGeom>
          <a:noFill/>
        </p:spPr>
        <p:txBody>
          <a:bodyPr wrap="none" rtlCol="0">
            <a:spAutoFit/>
          </a:bodyPr>
          <a:lstStyle/>
          <a:p>
            <a:r>
              <a:rPr lang="en-US" sz="1000" b="1" dirty="0"/>
              <a:t>poll and update</a:t>
            </a:r>
          </a:p>
        </p:txBody>
      </p:sp>
      <p:sp>
        <p:nvSpPr>
          <p:cNvPr id="62" name="Rounded Rectangle 61"/>
          <p:cNvSpPr/>
          <p:nvPr/>
        </p:nvSpPr>
        <p:spPr>
          <a:xfrm>
            <a:off x="494453" y="4453031"/>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EVENT HANDRS</a:t>
            </a:r>
          </a:p>
        </p:txBody>
      </p:sp>
      <p:cxnSp>
        <p:nvCxnSpPr>
          <p:cNvPr id="64" name="Straight Arrow Connector 63"/>
          <p:cNvCxnSpPr>
            <a:stCxn id="62" idx="0"/>
            <a:endCxn id="8" idx="2"/>
          </p:cNvCxnSpPr>
          <p:nvPr/>
        </p:nvCxnSpPr>
        <p:spPr>
          <a:xfrm flipV="1">
            <a:off x="1317413" y="3715451"/>
            <a:ext cx="0" cy="7375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Elbow Connector 6"/>
          <p:cNvCxnSpPr>
            <a:cxnSpLocks/>
            <a:stCxn id="11" idx="2"/>
          </p:cNvCxnSpPr>
          <p:nvPr/>
        </p:nvCxnSpPr>
        <p:spPr>
          <a:xfrm rot="5400000">
            <a:off x="2297424" y="1706050"/>
            <a:ext cx="1415618" cy="172971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rot="16200000">
            <a:off x="3255738" y="2391190"/>
            <a:ext cx="995785" cy="246221"/>
          </a:xfrm>
          <a:prstGeom prst="rect">
            <a:avLst/>
          </a:prstGeom>
          <a:noFill/>
        </p:spPr>
        <p:txBody>
          <a:bodyPr wrap="none" rtlCol="0">
            <a:spAutoFit/>
          </a:bodyPr>
          <a:lstStyle/>
          <a:p>
            <a:r>
              <a:rPr lang="en-US" sz="1000" b="1" dirty="0"/>
              <a:t>registered with</a:t>
            </a:r>
          </a:p>
        </p:txBody>
      </p:sp>
      <p:sp>
        <p:nvSpPr>
          <p:cNvPr id="45" name="Rounded Rectangle 44"/>
          <p:cNvSpPr/>
          <p:nvPr/>
        </p:nvSpPr>
        <p:spPr>
          <a:xfrm>
            <a:off x="3047129" y="4446099"/>
            <a:ext cx="3196897" cy="548640"/>
          </a:xfrm>
          <a:prstGeom prst="round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solidFill>
                <a:latin typeface="Calibri" panose="020F0502020204030204" pitchFamily="34" charset="0"/>
              </a:rPr>
              <a:t>MESSAGING INFRASTRUCTURE</a:t>
            </a:r>
          </a:p>
        </p:txBody>
      </p:sp>
      <p:cxnSp>
        <p:nvCxnSpPr>
          <p:cNvPr id="16" name="Straight Arrow Connector 15"/>
          <p:cNvCxnSpPr>
            <a:stCxn id="62" idx="3"/>
            <a:endCxn id="45" idx="1"/>
          </p:cNvCxnSpPr>
          <p:nvPr/>
        </p:nvCxnSpPr>
        <p:spPr>
          <a:xfrm flipV="1">
            <a:off x="2140374" y="4720419"/>
            <a:ext cx="906755" cy="6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Elbow Connector 22"/>
          <p:cNvCxnSpPr>
            <a:stCxn id="41" idx="2"/>
            <a:endCxn id="45" idx="3"/>
          </p:cNvCxnSpPr>
          <p:nvPr/>
        </p:nvCxnSpPr>
        <p:spPr>
          <a:xfrm rot="5400000">
            <a:off x="7030281" y="3682015"/>
            <a:ext cx="252151" cy="182465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rot="16200000">
            <a:off x="916886" y="3869095"/>
            <a:ext cx="753732" cy="400110"/>
          </a:xfrm>
          <a:prstGeom prst="rect">
            <a:avLst/>
          </a:prstGeom>
          <a:noFill/>
        </p:spPr>
        <p:txBody>
          <a:bodyPr wrap="none" rtlCol="0">
            <a:spAutoFit/>
          </a:bodyPr>
          <a:lstStyle/>
          <a:p>
            <a:r>
              <a:rPr lang="en-US" sz="1000" b="1" dirty="0"/>
              <a:t>registered </a:t>
            </a:r>
          </a:p>
          <a:p>
            <a:pPr algn="ctr"/>
            <a:r>
              <a:rPr lang="en-US" sz="1000" b="1" dirty="0"/>
              <a:t>with</a:t>
            </a:r>
          </a:p>
        </p:txBody>
      </p:sp>
      <p:sp>
        <p:nvSpPr>
          <p:cNvPr id="51" name="TextBox 50"/>
          <p:cNvSpPr txBox="1"/>
          <p:nvPr/>
        </p:nvSpPr>
        <p:spPr>
          <a:xfrm>
            <a:off x="2182622" y="4529860"/>
            <a:ext cx="671979" cy="246221"/>
          </a:xfrm>
          <a:prstGeom prst="rect">
            <a:avLst/>
          </a:prstGeom>
          <a:noFill/>
        </p:spPr>
        <p:txBody>
          <a:bodyPr wrap="none" rtlCol="0">
            <a:spAutoFit/>
          </a:bodyPr>
          <a:lstStyle/>
          <a:p>
            <a:r>
              <a:rPr lang="en-US" sz="1000" b="1" dirty="0"/>
              <a:t>listens to</a:t>
            </a:r>
          </a:p>
        </p:txBody>
      </p:sp>
      <p:sp>
        <p:nvSpPr>
          <p:cNvPr id="53" name="TextBox 52"/>
          <p:cNvSpPr txBox="1"/>
          <p:nvPr/>
        </p:nvSpPr>
        <p:spPr>
          <a:xfrm>
            <a:off x="6777922" y="4496368"/>
            <a:ext cx="833883" cy="246221"/>
          </a:xfrm>
          <a:prstGeom prst="rect">
            <a:avLst/>
          </a:prstGeom>
          <a:noFill/>
        </p:spPr>
        <p:txBody>
          <a:bodyPr wrap="none" rtlCol="0">
            <a:spAutoFit/>
          </a:bodyPr>
          <a:lstStyle/>
          <a:p>
            <a:r>
              <a:rPr lang="en-US" sz="1000" b="1" dirty="0"/>
              <a:t>publishes to</a:t>
            </a:r>
          </a:p>
        </p:txBody>
      </p:sp>
      <p:cxnSp>
        <p:nvCxnSpPr>
          <p:cNvPr id="26" name="Elbow Connector 25"/>
          <p:cNvCxnSpPr>
            <a:cxnSpLocks/>
            <a:stCxn id="62" idx="1"/>
            <a:endCxn id="2" idx="1"/>
          </p:cNvCxnSpPr>
          <p:nvPr/>
        </p:nvCxnSpPr>
        <p:spPr>
          <a:xfrm rot="10800000">
            <a:off x="494453" y="1599235"/>
            <a:ext cx="12700" cy="3128117"/>
          </a:xfrm>
          <a:prstGeom prst="bentConnector3">
            <a:avLst>
              <a:gd name="adj1" fmla="val 180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Elbow Connector 28"/>
          <p:cNvCxnSpPr/>
          <p:nvPr/>
        </p:nvCxnSpPr>
        <p:spPr>
          <a:xfrm rot="5400000" flipH="1" flipV="1">
            <a:off x="1620696" y="1932104"/>
            <a:ext cx="2573091" cy="2454900"/>
          </a:xfrm>
          <a:prstGeom prst="bentConnector3">
            <a:avLst>
              <a:gd name="adj1" fmla="val 8408"/>
            </a:avLst>
          </a:prstGeom>
          <a:ln>
            <a:tailEnd type="triangl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2211871" y="4004509"/>
            <a:ext cx="1386918" cy="246221"/>
          </a:xfrm>
          <a:prstGeom prst="rect">
            <a:avLst/>
          </a:prstGeom>
          <a:noFill/>
        </p:spPr>
        <p:txBody>
          <a:bodyPr wrap="none" rtlCol="0">
            <a:spAutoFit/>
          </a:bodyPr>
          <a:lstStyle/>
          <a:p>
            <a:r>
              <a:rPr lang="en-US" sz="1000" b="1" dirty="0"/>
              <a:t>complete or terminate</a:t>
            </a:r>
          </a:p>
        </p:txBody>
      </p:sp>
      <p:sp>
        <p:nvSpPr>
          <p:cNvPr id="65" name="TextBox 64"/>
          <p:cNvSpPr txBox="1"/>
          <p:nvPr/>
        </p:nvSpPr>
        <p:spPr>
          <a:xfrm rot="16200000">
            <a:off x="15886" y="2978162"/>
            <a:ext cx="433132" cy="246221"/>
          </a:xfrm>
          <a:prstGeom prst="rect">
            <a:avLst/>
          </a:prstGeom>
          <a:noFill/>
        </p:spPr>
        <p:txBody>
          <a:bodyPr wrap="none" rtlCol="0">
            <a:spAutoFit/>
          </a:bodyPr>
          <a:lstStyle/>
          <a:p>
            <a:r>
              <a:rPr lang="en-US" sz="1000" b="1" dirty="0"/>
              <a:t>start</a:t>
            </a:r>
          </a:p>
        </p:txBody>
      </p:sp>
      <p:sp>
        <p:nvSpPr>
          <p:cNvPr id="12" name="object 4">
            <a:extLst>
              <a:ext uri="{FF2B5EF4-FFF2-40B4-BE49-F238E27FC236}">
                <a16:creationId xmlns:a16="http://schemas.microsoft.com/office/drawing/2014/main" id="{7467AE0C-FF3E-28E1-AB1F-C15B86A6B99D}"/>
              </a:ext>
            </a:extLst>
          </p:cNvPr>
          <p:cNvSpPr/>
          <p:nvPr/>
        </p:nvSpPr>
        <p:spPr>
          <a:xfrm>
            <a:off x="2590800" y="4580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13" name="Diagram 12">
            <a:extLst>
              <a:ext uri="{FF2B5EF4-FFF2-40B4-BE49-F238E27FC236}">
                <a16:creationId xmlns:a16="http://schemas.microsoft.com/office/drawing/2014/main" id="{AEDF460B-BC41-C9AC-CB6A-E0B651B69C71}"/>
              </a:ext>
            </a:extLst>
          </p:cNvPr>
          <p:cNvGraphicFramePr/>
          <p:nvPr>
            <p:extLst>
              <p:ext uri="{D42A27DB-BD31-4B8C-83A1-F6EECF244321}">
                <p14:modId xmlns:p14="http://schemas.microsoft.com/office/powerpoint/2010/main" val="101113294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object 4">
            <a:extLst>
              <a:ext uri="{FF2B5EF4-FFF2-40B4-BE49-F238E27FC236}">
                <a16:creationId xmlns:a16="http://schemas.microsoft.com/office/drawing/2014/main" id="{556FC87C-FC3B-DC00-8707-6210090E06BA}"/>
              </a:ext>
            </a:extLst>
          </p:cNvPr>
          <p:cNvSpPr/>
          <p:nvPr/>
        </p:nvSpPr>
        <p:spPr>
          <a:xfrm>
            <a:off x="2590800" y="6104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5" name="object 2">
            <a:extLst>
              <a:ext uri="{FF2B5EF4-FFF2-40B4-BE49-F238E27FC236}">
                <a16:creationId xmlns:a16="http://schemas.microsoft.com/office/drawing/2014/main" id="{05378E3D-CB41-CFC0-F96C-980CA43E4A21}"/>
              </a:ext>
            </a:extLst>
          </p:cNvPr>
          <p:cNvSpPr txBox="1">
            <a:spLocks/>
          </p:cNvSpPr>
          <p:nvPr/>
        </p:nvSpPr>
        <p:spPr>
          <a:xfrm>
            <a:off x="16622" y="707706"/>
            <a:ext cx="8915399"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Microservices Orchestration – Building Blocks</a:t>
            </a:r>
            <a:endParaRPr lang="en-US" sz="1400" kern="0" spc="-80" dirty="0">
              <a:solidFill>
                <a:schemeClr val="accent2"/>
              </a:solidFill>
            </a:endParaRPr>
          </a:p>
          <a:p>
            <a:pPr marL="12700" marR="5080"/>
            <a:r>
              <a:rPr lang="en-US" sz="1800" kern="0" spc="-80" dirty="0">
                <a:solidFill>
                  <a:schemeClr val="accent2"/>
                </a:solidFill>
              </a:rPr>
              <a:t>   </a:t>
            </a:r>
          </a:p>
        </p:txBody>
      </p:sp>
      <p:sp>
        <p:nvSpPr>
          <p:cNvPr id="3" name="object 2">
            <a:extLst>
              <a:ext uri="{FF2B5EF4-FFF2-40B4-BE49-F238E27FC236}">
                <a16:creationId xmlns:a16="http://schemas.microsoft.com/office/drawing/2014/main" id="{65D478AD-9528-8913-52D5-B17EAE9D407E}"/>
              </a:ext>
            </a:extLst>
          </p:cNvPr>
          <p:cNvSpPr txBox="1">
            <a:spLocks/>
          </p:cNvSpPr>
          <p:nvPr/>
        </p:nvSpPr>
        <p:spPr>
          <a:xfrm>
            <a:off x="0" y="5015254"/>
            <a:ext cx="8915399" cy="10156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Typically use an FSM(Finite State Machine) based approach to implement orchestration. FSM can be implemented using various techniques including “DSL(Domain Specific Language) + Template Method Design Pattern(for workflows/operations/actions) + Chain Of Responsibility Design Pattern(for tasks/jobs/steps)”.Refer </a:t>
            </a:r>
            <a:r>
              <a:rPr lang="en-IN" sz="1400" dirty="0">
                <a:hlinkClick r:id="rId8"/>
              </a:rPr>
              <a:t>What is Netflix Conductor?</a:t>
            </a:r>
            <a:r>
              <a:rPr lang="en-IN" sz="1400" dirty="0"/>
              <a:t>, </a:t>
            </a:r>
            <a:r>
              <a:rPr lang="en-IN" sz="1400" dirty="0">
                <a:hlinkClick r:id="rId9"/>
              </a:rPr>
              <a:t>Conductor OSS Foundation</a:t>
            </a:r>
            <a:r>
              <a:rPr lang="en-IN" sz="1400" dirty="0"/>
              <a:t> </a:t>
            </a:r>
            <a:r>
              <a:rPr lang="en-IN" sz="1350" kern="0" spc="-80" dirty="0">
                <a:solidFill>
                  <a:schemeClr val="accent6"/>
                </a:solidFill>
              </a:rPr>
              <a:t>and </a:t>
            </a:r>
            <a:r>
              <a:rPr lang="en-IN" sz="1400" dirty="0">
                <a:hlinkClick r:id="rId10"/>
              </a:rPr>
              <a:t>Conductor Documentation</a:t>
            </a:r>
            <a:r>
              <a:rPr lang="en-IN" sz="1400" dirty="0"/>
              <a:t> </a:t>
            </a:r>
            <a:r>
              <a:rPr lang="en-IN" sz="1350" kern="0" spc="-80" dirty="0">
                <a:solidFill>
                  <a:schemeClr val="accent6"/>
                </a:solidFill>
              </a:rPr>
              <a:t>for further exploration</a:t>
            </a:r>
            <a:endParaRPr lang="en-US" sz="1350" kern="0" spc="-80" dirty="0">
              <a:solidFill>
                <a:schemeClr val="accent6"/>
              </a:solidFill>
            </a:endParaRPr>
          </a:p>
          <a:p>
            <a:pPr marL="12700" marR="5080"/>
            <a:r>
              <a:rPr lang="en-US" sz="1100" kern="0" spc="-80" dirty="0">
                <a:solidFill>
                  <a:schemeClr val="accent2"/>
                </a:solidFill>
              </a:rPr>
              <a:t> </a:t>
            </a:r>
          </a:p>
        </p:txBody>
      </p:sp>
    </p:spTree>
    <p:extLst>
      <p:ext uri="{BB962C8B-B14F-4D97-AF65-F5344CB8AC3E}">
        <p14:creationId xmlns:p14="http://schemas.microsoft.com/office/powerpoint/2010/main" val="3590021009"/>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840838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3" name="Picture 12">
            <a:extLst>
              <a:ext uri="{FF2B5EF4-FFF2-40B4-BE49-F238E27FC236}">
                <a16:creationId xmlns:a16="http://schemas.microsoft.com/office/drawing/2014/main" id="{B1031BF9-5A2D-53C1-FCC5-C32C3F7C9B59}"/>
              </a:ext>
            </a:extLst>
          </p:cNvPr>
          <p:cNvPicPr>
            <a:picLocks noChangeAspect="1"/>
          </p:cNvPicPr>
          <p:nvPr/>
        </p:nvPicPr>
        <p:blipFill>
          <a:blip r:embed="rId7"/>
          <a:stretch>
            <a:fillRect/>
          </a:stretch>
        </p:blipFill>
        <p:spPr>
          <a:xfrm>
            <a:off x="290463" y="761999"/>
            <a:ext cx="8472537" cy="3886201"/>
          </a:xfrm>
          <a:prstGeom prst="rect">
            <a:avLst/>
          </a:prstGeom>
        </p:spPr>
      </p:pic>
      <p:sp>
        <p:nvSpPr>
          <p:cNvPr id="14" name="object 2">
            <a:extLst>
              <a:ext uri="{FF2B5EF4-FFF2-40B4-BE49-F238E27FC236}">
                <a16:creationId xmlns:a16="http://schemas.microsoft.com/office/drawing/2014/main" id="{6C93D645-E722-7EBB-FA22-2C0B09EEDFAC}"/>
              </a:ext>
            </a:extLst>
          </p:cNvPr>
          <p:cNvSpPr txBox="1">
            <a:spLocks/>
          </p:cNvSpPr>
          <p:nvPr/>
        </p:nvSpPr>
        <p:spPr>
          <a:xfrm>
            <a:off x="0" y="4724400"/>
            <a:ext cx="8915399"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US" sz="1400" kern="0" spc="-80" dirty="0">
                <a:solidFill>
                  <a:schemeClr val="accent2"/>
                </a:solidFill>
              </a:rPr>
              <a:t>  </a:t>
            </a:r>
            <a:r>
              <a:rPr lang="en-US" sz="1000" dirty="0">
                <a:hlinkClick r:id="rId8"/>
              </a:rPr>
              <a:t>8 Best Open Source Rule Engines in 2024 | </a:t>
            </a:r>
            <a:r>
              <a:rPr lang="en-US" sz="1000" dirty="0" err="1">
                <a:hlinkClick r:id="rId8"/>
              </a:rPr>
              <a:t>Nected</a:t>
            </a:r>
            <a:r>
              <a:rPr lang="en-US" sz="1000" dirty="0">
                <a:hlinkClick r:id="rId8"/>
              </a:rPr>
              <a:t> Blogs</a:t>
            </a:r>
            <a:endParaRPr lang="en-US" sz="1000" dirty="0"/>
          </a:p>
          <a:p>
            <a:pPr marL="12700" marR="5080"/>
            <a:r>
              <a:rPr lang="en-US" sz="1400" kern="0" spc="-80" dirty="0">
                <a:solidFill>
                  <a:schemeClr val="accent2"/>
                </a:solidFill>
              </a:rPr>
              <a:t>  </a:t>
            </a:r>
            <a:r>
              <a:rPr lang="en-US" sz="1000" dirty="0" err="1">
                <a:hlinkClick r:id="rId9"/>
              </a:rPr>
              <a:t>RulesEngine</a:t>
            </a:r>
            <a:r>
              <a:rPr lang="en-US" sz="1000" dirty="0">
                <a:hlinkClick r:id="rId9"/>
              </a:rPr>
              <a:t> | A Json based Rules Engine with extensive Dynamic expression support</a:t>
            </a:r>
            <a:endParaRPr lang="en-US" sz="1000" dirty="0"/>
          </a:p>
          <a:p>
            <a:pPr marL="12700" marR="5080"/>
            <a:r>
              <a:rPr lang="en-US" sz="1400" kern="0" spc="-80" dirty="0">
                <a:solidFill>
                  <a:schemeClr val="accent2"/>
                </a:solidFill>
              </a:rPr>
              <a:t>  </a:t>
            </a:r>
            <a:r>
              <a:rPr lang="en-US" sz="1000" dirty="0">
                <a:hlinkClick r:id="rId10"/>
              </a:rPr>
              <a:t>Getting Started with Drools.NET- </a:t>
            </a:r>
            <a:r>
              <a:rPr lang="en-US" sz="1000" dirty="0" err="1">
                <a:hlinkClick r:id="rId10"/>
              </a:rPr>
              <a:t>CodeProject</a:t>
            </a:r>
            <a:endParaRPr lang="en-US" sz="1000" dirty="0"/>
          </a:p>
          <a:p>
            <a:pPr marL="12700" marR="5080"/>
            <a:r>
              <a:rPr lang="en-US" sz="1400" kern="0" spc="-80" dirty="0">
                <a:solidFill>
                  <a:schemeClr val="accent2"/>
                </a:solidFill>
              </a:rPr>
              <a:t>  Check For Distributed BPM &amp; Rules Engines as well for better Scalability &amp; Availability</a:t>
            </a:r>
          </a:p>
          <a:p>
            <a:pPr marL="12700" marR="5080"/>
            <a:r>
              <a:rPr lang="en-US" sz="1800" kern="0" spc="-80" dirty="0">
                <a:solidFill>
                  <a:schemeClr val="accent2"/>
                </a:solidFill>
              </a:rPr>
              <a:t>   </a:t>
            </a:r>
          </a:p>
        </p:txBody>
      </p:sp>
    </p:spTree>
    <p:extLst>
      <p:ext uri="{BB962C8B-B14F-4D97-AF65-F5344CB8AC3E}">
        <p14:creationId xmlns:p14="http://schemas.microsoft.com/office/powerpoint/2010/main" val="2243482050"/>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C5A01-C9FE-E431-7B7B-A6D15B819E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32874E-A809-1BAB-31C4-5602ABD6CB4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9662E7-078E-5812-4744-5599D391E7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D99AE2-9D86-0621-A465-61584B66620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7008AFD-A705-4C85-1104-1DACBCC144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21BE0D-5D60-AA2B-9F92-2B20129DE7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C9FB83-B356-E2D8-9D9C-B195FE6B87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18F8F23-5B09-3D76-27EA-3C3B333C0B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8B9444-CC9E-47C4-7A3C-DC093EBA256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4" name="object 2">
            <a:extLst>
              <a:ext uri="{FF2B5EF4-FFF2-40B4-BE49-F238E27FC236}">
                <a16:creationId xmlns:a16="http://schemas.microsoft.com/office/drawing/2014/main" id="{8BFFA387-8682-F11F-C65B-3FC34BC56235}"/>
              </a:ext>
            </a:extLst>
          </p:cNvPr>
          <p:cNvSpPr txBox="1">
            <a:spLocks/>
          </p:cNvSpPr>
          <p:nvPr/>
        </p:nvSpPr>
        <p:spPr>
          <a:xfrm>
            <a:off x="185179" y="773668"/>
            <a:ext cx="8915399"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a:t>
            </a:r>
          </a:p>
          <a:p>
            <a:pPr marL="12700" marR="5080"/>
            <a:r>
              <a:rPr lang="en-IN" sz="1800" dirty="0">
                <a:hlinkClick r:id="rId7"/>
              </a:rPr>
              <a:t>Workflow Patterns Home Page</a:t>
            </a:r>
            <a:endParaRPr lang="en-IN" sz="1800" dirty="0"/>
          </a:p>
          <a:p>
            <a:pPr marL="12700" marR="5080"/>
            <a:r>
              <a:rPr lang="en-US" sz="1800" dirty="0">
                <a:hlinkClick r:id="rId8"/>
              </a:rPr>
              <a:t>Awesome-Workflow-Engines:</a:t>
            </a:r>
            <a:endParaRPr lang="en-US" sz="1800" dirty="0"/>
          </a:p>
          <a:p>
            <a:pPr marL="12700" marR="5080"/>
            <a:r>
              <a:rPr lang="en-IN" sz="1800" dirty="0">
                <a:hlinkClick r:id="rId9"/>
              </a:rPr>
              <a:t>GeneratingRestAPIsWithProcessAndDataModel.pdf</a:t>
            </a:r>
            <a:endParaRPr lang="en-IN" sz="1800" dirty="0"/>
          </a:p>
          <a:p>
            <a:pPr marL="12700" marR="5080"/>
            <a:r>
              <a:rPr lang="en-IN" sz="1800" dirty="0">
                <a:hlinkClick r:id="rId10"/>
              </a:rPr>
              <a:t>Bernd Ruecker Books</a:t>
            </a:r>
            <a:endParaRPr lang="en-IN" sz="1800" dirty="0"/>
          </a:p>
          <a:p>
            <a:pPr marL="12700" marR="5080"/>
            <a:r>
              <a:rPr lang="en-US" sz="1800" dirty="0">
                <a:hlinkClick r:id="rId11"/>
              </a:rPr>
              <a:t>Windows Workflow Foundation for </a:t>
            </a:r>
            <a:r>
              <a:rPr lang="en-US" sz="1800" dirty="0" err="1">
                <a:hlinkClick r:id="rId11"/>
              </a:rPr>
              <a:t>.net</a:t>
            </a:r>
            <a:r>
              <a:rPr lang="en-US" sz="1800" dirty="0">
                <a:hlinkClick r:id="rId11"/>
              </a:rPr>
              <a:t> Core - Stack Overflow</a:t>
            </a:r>
            <a:endParaRPr lang="en-US" sz="1800" dirty="0"/>
          </a:p>
          <a:p>
            <a:pPr marL="12700" marR="5080"/>
            <a:r>
              <a:rPr lang="en-US" sz="1800" dirty="0">
                <a:hlinkClick r:id="rId12"/>
              </a:rPr>
              <a:t>Rehosted-Workflow-</a:t>
            </a:r>
            <a:r>
              <a:rPr lang="en-US" sz="1800" dirty="0" err="1">
                <a:hlinkClick r:id="rId12"/>
              </a:rPr>
              <a:t>Designe</a:t>
            </a:r>
            <a:endParaRPr lang="en-US" sz="1800" dirty="0"/>
          </a:p>
          <a:p>
            <a:pPr marL="12700" marR="5080"/>
            <a:r>
              <a:rPr lang="en-US" sz="1800" dirty="0">
                <a:hlinkClick r:id="rId13"/>
              </a:rPr>
              <a:t>.NET &amp; .NET Core Workflow Engine, Workflow Server</a:t>
            </a:r>
            <a:r>
              <a:rPr lang="en-US" sz="1800" kern="0" spc="-80" dirty="0">
                <a:solidFill>
                  <a:schemeClr val="accent2"/>
                </a:solidFill>
              </a:rPr>
              <a:t> &amp; </a:t>
            </a:r>
            <a:r>
              <a:rPr lang="en-US" sz="1800" dirty="0">
                <a:hlinkClick r:id="rId14"/>
              </a:rPr>
              <a:t>Elsa-workflows</a:t>
            </a:r>
            <a:endParaRPr lang="en-US" sz="1800" dirty="0"/>
          </a:p>
          <a:p>
            <a:pPr marL="12700" marR="5080"/>
            <a:r>
              <a:rPr lang="en-IN" sz="1800" dirty="0">
                <a:hlinkClick r:id="rId15"/>
              </a:rPr>
              <a:t>Orchestration vs Choreography</a:t>
            </a:r>
            <a:endParaRPr lang="en-IN" sz="1800" dirty="0"/>
          </a:p>
          <a:p>
            <a:pPr marL="12700" marR="5080"/>
            <a:r>
              <a:rPr lang="en-US" sz="1800" dirty="0">
                <a:hlinkClick r:id="rId16"/>
              </a:rPr>
              <a:t>ASP.NETMVC - Using Workflow Foundation in MVC3 to handle Page Flow (as in a Wizard) - Stack Overflow</a:t>
            </a:r>
            <a:endParaRPr lang="en-US" sz="1800" dirty="0"/>
          </a:p>
          <a:p>
            <a:pPr marL="12700" marR="5080"/>
            <a:r>
              <a:rPr lang="en-IN" sz="1800" dirty="0">
                <a:hlinkClick r:id="rId17"/>
              </a:rPr>
              <a:t>Orchestration Graphs</a:t>
            </a:r>
            <a:endParaRPr lang="en-IN" sz="1800" dirty="0"/>
          </a:p>
          <a:p>
            <a:pPr marL="12700" marR="5080"/>
            <a:r>
              <a:rPr lang="en-US" sz="1800" dirty="0">
                <a:hlinkClick r:id="rId18"/>
              </a:rPr>
              <a:t>Orchestrating ELT in Airflow: Scheduling vs. Orchestrating</a:t>
            </a:r>
            <a:endParaRPr lang="en-US" sz="1800" dirty="0"/>
          </a:p>
          <a:p>
            <a:pPr marL="12700" marR="5080"/>
            <a:r>
              <a:rPr lang="en-US" sz="1800" dirty="0">
                <a:hlinkClick r:id="rId19"/>
              </a:rPr>
              <a:t>Workflow Engines Comparisons - </a:t>
            </a:r>
            <a:r>
              <a:rPr lang="en-US" sz="1800" dirty="0" err="1">
                <a:hlinkClick r:id="rId19"/>
              </a:rPr>
              <a:t>Whats</a:t>
            </a:r>
            <a:r>
              <a:rPr lang="en-US" sz="1800" dirty="0">
                <a:hlinkClick r:id="rId19"/>
              </a:rPr>
              <a:t> the best workflow Orchestration</a:t>
            </a:r>
            <a:endParaRPr lang="en-US" sz="1800" kern="0" spc="-80" dirty="0">
              <a:solidFill>
                <a:schemeClr val="accent2"/>
              </a:solidFill>
            </a:endParaRPr>
          </a:p>
          <a:p>
            <a:pPr marL="12700" marR="5080"/>
            <a:r>
              <a:rPr lang="en-US" sz="1800" kern="0" spc="-80" dirty="0">
                <a:solidFill>
                  <a:schemeClr val="accent2"/>
                </a:solidFill>
              </a:rPr>
              <a:t>   </a:t>
            </a:r>
          </a:p>
        </p:txBody>
      </p:sp>
    </p:spTree>
    <p:extLst>
      <p:ext uri="{BB962C8B-B14F-4D97-AF65-F5344CB8AC3E}">
        <p14:creationId xmlns:p14="http://schemas.microsoft.com/office/powerpoint/2010/main" val="575233339"/>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4EB0A-9C1D-5FE6-2D6B-0EC5BBEB90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CCCE56-96F5-25C6-1BD0-5E9CE83BD1A8}"/>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A7AD35-E31D-51B2-9211-68849996147B}"/>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C632EF7-EEE2-C9D4-848C-AA10DA6019A0}"/>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598653-D3C7-72E1-AAB5-2E26A024F3A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BC784F-B056-53B6-F677-67264F990F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D894017-D2AD-987A-7327-8B5E290D03C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47BEFE-5464-B6C5-BA33-85CBD17B550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4B8180-EFBC-EAC4-23E9-A2F308473DA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38EBF919-215D-CF71-408E-A71BD5EA687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90D37A5-F772-8092-FBF5-99D3EF3D3659}"/>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11" name="Picture 10" descr="A screenshot of a computer screen&#10;&#10;AI-generated content may be incorrect.">
            <a:extLst>
              <a:ext uri="{FF2B5EF4-FFF2-40B4-BE49-F238E27FC236}">
                <a16:creationId xmlns:a16="http://schemas.microsoft.com/office/drawing/2014/main" id="{04401F58-3B18-B61B-8AD2-2E746C09B8B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7" y="1017419"/>
            <a:ext cx="8915399" cy="4854292"/>
          </a:xfrm>
          <a:prstGeom prst="rect">
            <a:avLst/>
          </a:prstGeom>
        </p:spPr>
      </p:pic>
    </p:spTree>
    <p:extLst>
      <p:ext uri="{BB962C8B-B14F-4D97-AF65-F5344CB8AC3E}">
        <p14:creationId xmlns:p14="http://schemas.microsoft.com/office/powerpoint/2010/main" val="2834795803"/>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78856-4948-C277-8D18-BA782AE3A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01F50D-10A4-D413-286E-656812C69E4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572349-6950-CCF4-446F-DEDA05057A38}"/>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86CC7-864A-915E-719C-E19C606578C2}"/>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2C12F4-530E-7CA4-5BEB-CD25B962F7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035FF9-E2EE-3465-2679-564FB3955F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515553-F139-F158-746D-974F4B4390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5E78BCE-6780-350B-9650-0199B13456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C93ECC2-A9D5-AD79-3FB2-8F84B7C894E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E434FB17-0A43-2A5D-46F8-43E7DD24F309}"/>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384DD93E-9625-0849-EB50-BF3CA0FB0893}"/>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22" name="Picture 21" descr="A table with text on it&#10;&#10;AI-generated content may be incorrect.">
            <a:extLst>
              <a:ext uri="{FF2B5EF4-FFF2-40B4-BE49-F238E27FC236}">
                <a16:creationId xmlns:a16="http://schemas.microsoft.com/office/drawing/2014/main" id="{CEC291BE-CF53-814F-6433-0201E293825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6" y="1035278"/>
            <a:ext cx="9060633" cy="4836433"/>
          </a:xfrm>
          <a:prstGeom prst="rect">
            <a:avLst/>
          </a:prstGeom>
        </p:spPr>
      </p:pic>
    </p:spTree>
    <p:extLst>
      <p:ext uri="{BB962C8B-B14F-4D97-AF65-F5344CB8AC3E}">
        <p14:creationId xmlns:p14="http://schemas.microsoft.com/office/powerpoint/2010/main" val="2206262193"/>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37A5A-6329-2242-C7FC-32ECEA776D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23BC1A-E671-084E-0616-9B2496665210}"/>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8D2551-81F9-C4E6-A0C6-9C8DA287BD6F}"/>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8F5F06-9D9C-AF86-2C9B-593AC67430D4}"/>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63D9E6E-BB05-9FFD-3AB0-55DAF496D4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341017-C4C3-9E36-C7FA-1C383858302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2219D9-CC9F-69D1-11F9-A84DAD65395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333777-E370-213E-C547-B961B91E2E0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B4346A-3321-B499-4586-36DD9BA5BD3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1A5D5710-6FC0-488F-1A93-A99B18F6DF98}"/>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DAD8FDF-B127-D0B8-05C3-0C970B2E4060}"/>
              </a:ext>
            </a:extLst>
          </p:cNvPr>
          <p:cNvSpPr txBox="1">
            <a:spLocks/>
          </p:cNvSpPr>
          <p:nvPr/>
        </p:nvSpPr>
        <p:spPr>
          <a:xfrm>
            <a:off x="83368" y="755809"/>
            <a:ext cx="8915399" cy="18312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2"/>
                </a:solidFill>
              </a:rPr>
              <a:t>🧠 In Simple Terms</a:t>
            </a:r>
          </a:p>
          <a:p>
            <a:pPr marL="12700" marR="5080"/>
            <a:r>
              <a:rPr lang="en-US" sz="1700" kern="0" spc="-80" dirty="0">
                <a:solidFill>
                  <a:schemeClr val="accent6"/>
                </a:solidFill>
              </a:rPr>
              <a:t>RPA = Digital hands → Emulates what a human does on a computer screen.</a:t>
            </a:r>
          </a:p>
          <a:p>
            <a:pPr marL="12700" marR="5080"/>
            <a:r>
              <a:rPr lang="en-US" sz="1700" kern="0" spc="-80" dirty="0">
                <a:solidFill>
                  <a:schemeClr val="accent6"/>
                </a:solidFill>
              </a:rPr>
              <a:t>Workflow = Digital brain → Controls the sequence of tasks and decisions between systems and people.</a:t>
            </a:r>
          </a:p>
          <a:p>
            <a:pPr marL="12700" marR="5080"/>
            <a:r>
              <a:rPr lang="en-US" sz="1700" kern="0" spc="-80" dirty="0">
                <a:solidFill>
                  <a:schemeClr val="accent2"/>
                </a:solidFill>
              </a:rPr>
              <a:t>🧩 Example</a:t>
            </a:r>
          </a:p>
          <a:p>
            <a:pPr marL="12700" marR="5080"/>
            <a:r>
              <a:rPr lang="en-US" sz="1700" kern="0" spc="-80" dirty="0">
                <a:solidFill>
                  <a:schemeClr val="accent2"/>
                </a:solidFill>
              </a:rPr>
              <a:t>Let’s take an Invoice Processing scenario:</a:t>
            </a:r>
          </a:p>
        </p:txBody>
      </p:sp>
      <p:pic>
        <p:nvPicPr>
          <p:cNvPr id="18" name="Picture 17" descr="A screenshot of a computer screen&#10;&#10;AI-generated content may be incorrect.">
            <a:extLst>
              <a:ext uri="{FF2B5EF4-FFF2-40B4-BE49-F238E27FC236}">
                <a16:creationId xmlns:a16="http://schemas.microsoft.com/office/drawing/2014/main" id="{28AADB11-6BC7-A0C7-AFB3-9C49F3B8EC0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2587081"/>
            <a:ext cx="8998767" cy="3284630"/>
          </a:xfrm>
          <a:prstGeom prst="rect">
            <a:avLst/>
          </a:prstGeom>
        </p:spPr>
      </p:pic>
    </p:spTree>
    <p:extLst>
      <p:ext uri="{BB962C8B-B14F-4D97-AF65-F5344CB8AC3E}">
        <p14:creationId xmlns:p14="http://schemas.microsoft.com/office/powerpoint/2010/main" val="498373055"/>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752E6-02D4-6445-D1A3-286BFF3DF9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636EC51-5232-F266-21F8-08F14A508B8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8AD21A-C5DA-C881-C42F-4434E5A35CC9}"/>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B4E874-4AFA-4D35-9588-0472AD864021}"/>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F2F766-AC25-C918-E1B4-74FE503833F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EF6462B-8142-A015-813A-89F8C7F5A0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C10C41-28F0-06C3-4D9C-1890A8AC60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E0D215A-4BDB-D404-13E8-23979B00EE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B6F4160-A2AF-E346-7D3B-614DAAC5E00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BF580A37-A866-5427-C3BE-222160F38DBE}"/>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C35AFDA0-E38D-116D-5920-B778E0898DB2}"/>
              </a:ext>
            </a:extLst>
          </p:cNvPr>
          <p:cNvSpPr txBox="1">
            <a:spLocks/>
          </p:cNvSpPr>
          <p:nvPr/>
        </p:nvSpPr>
        <p:spPr>
          <a:xfrm>
            <a:off x="83368" y="755809"/>
            <a:ext cx="8915399"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6"/>
                </a:solidFill>
              </a:rPr>
              <a:t>👉 In practice, RPA bots can perform the repetitive, UI-based steps inside a larger workflow orchestration.</a:t>
            </a:r>
          </a:p>
          <a:p>
            <a:pPr marL="12700" marR="5080"/>
            <a:r>
              <a:rPr lang="en-US" sz="1700" kern="0" spc="-80" dirty="0">
                <a:solidFill>
                  <a:schemeClr val="accent2"/>
                </a:solidFill>
              </a:rPr>
              <a:t>🧩 When to Use What</a:t>
            </a:r>
          </a:p>
          <a:p>
            <a:pPr marL="12700" marR="5080"/>
            <a:r>
              <a:rPr lang="en-US" sz="1700" kern="0" spc="-80" dirty="0">
                <a:solidFill>
                  <a:schemeClr val="accent2"/>
                </a:solidFill>
              </a:rPr>
              <a:t>Scenario	Best Choice</a:t>
            </a:r>
          </a:p>
          <a:p>
            <a:pPr marL="12700" marR="5080"/>
            <a:r>
              <a:rPr lang="en-US" sz="1700" kern="0" spc="-80" dirty="0">
                <a:solidFill>
                  <a:schemeClr val="accent6"/>
                </a:solidFill>
              </a:rPr>
              <a:t>No API access, legacy applications, repetitive UI tasks	-&gt; RPA</a:t>
            </a:r>
          </a:p>
          <a:p>
            <a:pPr marL="12700" marR="5080"/>
            <a:r>
              <a:rPr lang="en-US" sz="1700" kern="0" spc="-80" dirty="0">
                <a:solidFill>
                  <a:schemeClr val="accent6"/>
                </a:solidFill>
              </a:rPr>
              <a:t>Modern systems with APIs, business rules, human approvals- &gt; Workflow Automation</a:t>
            </a:r>
          </a:p>
          <a:p>
            <a:pPr marL="12700" marR="5080"/>
            <a:r>
              <a:rPr lang="en-US" sz="1700" kern="0" spc="-80" dirty="0">
                <a:solidFill>
                  <a:schemeClr val="accent6"/>
                </a:solidFill>
              </a:rPr>
              <a:t>Need full process automation across both types of systems  -&gt;	Combine RPA + Workflow Orchestration</a:t>
            </a:r>
          </a:p>
          <a:p>
            <a:pPr marL="12700" marR="5080"/>
            <a:r>
              <a:rPr lang="en-US" sz="1700" kern="0" spc="-80" dirty="0">
                <a:solidFill>
                  <a:schemeClr val="accent2"/>
                </a:solidFill>
              </a:rPr>
              <a:t>🧠 Architectural Integration</a:t>
            </a:r>
          </a:p>
          <a:p>
            <a:pPr marL="12700" marR="5080"/>
            <a:r>
              <a:rPr lang="en-US" sz="1700" kern="0" spc="-80" dirty="0">
                <a:solidFill>
                  <a:schemeClr val="accent2"/>
                </a:solidFill>
              </a:rPr>
              <a:t>In an Intelligent Automation architecture:</a:t>
            </a:r>
          </a:p>
          <a:p>
            <a:pPr marL="12700" marR="5080"/>
            <a:r>
              <a:rPr lang="en-US" sz="1700" kern="0" spc="-80" dirty="0">
                <a:solidFill>
                  <a:schemeClr val="accent6"/>
                </a:solidFill>
              </a:rPr>
              <a:t>Workflow Orchestrator calls RPA bots when a task involves UI-based interaction.</a:t>
            </a:r>
          </a:p>
          <a:p>
            <a:pPr marL="12700" marR="5080"/>
            <a:r>
              <a:rPr lang="en-US" sz="1700" kern="0" spc="-80" dirty="0">
                <a:solidFill>
                  <a:schemeClr val="accent6"/>
                </a:solidFill>
              </a:rPr>
              <a:t>RPA Bots return results to the orchestrator, which continues the business flow.</a:t>
            </a:r>
          </a:p>
          <a:p>
            <a:pPr marL="12700" marR="5080"/>
            <a:r>
              <a:rPr lang="en-US" sz="1700" kern="0" spc="-80" dirty="0">
                <a:solidFill>
                  <a:schemeClr val="accent2"/>
                </a:solidFill>
              </a:rPr>
              <a:t>Example:</a:t>
            </a:r>
          </a:p>
          <a:p>
            <a:pPr marL="12700" marR="5080"/>
            <a:r>
              <a:rPr lang="en-US" sz="1700" kern="0" spc="-80" dirty="0">
                <a:solidFill>
                  <a:schemeClr val="accent6"/>
                </a:solidFill>
              </a:rPr>
              <a:t>Workflow Engine (Camunda / Logic App) → triggers → RPA Bot (UiPath) → completes UI task → returns → workflow continues to next step. </a:t>
            </a:r>
          </a:p>
        </p:txBody>
      </p:sp>
    </p:spTree>
    <p:extLst>
      <p:ext uri="{BB962C8B-B14F-4D97-AF65-F5344CB8AC3E}">
        <p14:creationId xmlns:p14="http://schemas.microsoft.com/office/powerpoint/2010/main" val="314152856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ACAC6-0EA3-67F4-C899-B0DEA4343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4100E1-17CF-2162-D743-A76CCB845B07}"/>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091616-3776-6E92-D712-5D3C14DB53E5}"/>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09A9D8-A88E-D0D0-C2E0-88AD54785E85}"/>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22ECC08-BC63-021B-98B1-EF95953EE65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81C8D5-A0CC-AAB1-C3F9-81186C311FB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CDB8BE-6586-6412-E28B-BC5DB633F8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AAFC145-8D39-C114-3F3E-DD7D2004997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4AD2930-D9D4-A75F-C36C-B2671865BD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25BF02B0-74F6-F564-80AE-2890253DBD8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9" name="object 2">
            <a:extLst>
              <a:ext uri="{FF2B5EF4-FFF2-40B4-BE49-F238E27FC236}">
                <a16:creationId xmlns:a16="http://schemas.microsoft.com/office/drawing/2014/main" id="{16B69616-B994-77CB-BFB5-096AB1F7E01B}"/>
              </a:ext>
            </a:extLst>
          </p:cNvPr>
          <p:cNvSpPr txBox="1">
            <a:spLocks/>
          </p:cNvSpPr>
          <p:nvPr/>
        </p:nvSpPr>
        <p:spPr>
          <a:xfrm>
            <a:off x="83367" y="822738"/>
            <a:ext cx="8915399" cy="19236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 </a:t>
            </a:r>
          </a:p>
          <a:p>
            <a:pPr marL="12700" marR="5080"/>
            <a:r>
              <a:rPr lang="en-US" sz="1800" dirty="0">
                <a:hlinkClick r:id="rId8"/>
              </a:rPr>
              <a:t>Robotic Process Automation (RPA) Architecture</a:t>
            </a:r>
            <a:endParaRPr lang="en-US" sz="1800" dirty="0"/>
          </a:p>
          <a:p>
            <a:pPr marL="12700" marR="5080"/>
            <a:r>
              <a:rPr lang="en-IN" sz="1800" dirty="0">
                <a:hlinkClick r:id="rId9"/>
              </a:rPr>
              <a:t>IBM RPA architecture - IBM Documentation</a:t>
            </a:r>
            <a:endParaRPr lang="en-IN" sz="1800" dirty="0"/>
          </a:p>
          <a:p>
            <a:pPr marL="12700" marR="5080"/>
            <a:r>
              <a:rPr lang="en-US" sz="1800" dirty="0">
                <a:hlinkClick r:id="rId10"/>
              </a:rPr>
              <a:t>RPA Architecture | Complete Guide on RPA Architecture</a:t>
            </a:r>
            <a:endParaRPr lang="en-IN" sz="1800" dirty="0"/>
          </a:p>
          <a:p>
            <a:pPr marL="12700" marR="5080"/>
            <a:r>
              <a:rPr lang="en-US" sz="1800" dirty="0">
                <a:hlinkClick r:id="rId11"/>
              </a:rPr>
              <a:t>RPA Architecture | A Complete Guide to How RPA Works</a:t>
            </a:r>
            <a:endParaRPr lang="en-US" sz="1700" kern="0" spc="-80" dirty="0">
              <a:solidFill>
                <a:schemeClr val="accent2"/>
              </a:solidFill>
            </a:endParaRPr>
          </a:p>
          <a:p>
            <a:pPr marL="12700" marR="5080"/>
            <a:r>
              <a:rPr lang="en-US" sz="1800" dirty="0" err="1">
                <a:hlinkClick r:id="rId12"/>
              </a:rPr>
              <a:t>RPA_Developer_Roadmap</a:t>
            </a:r>
            <a:endParaRPr lang="en-US" sz="1800" dirty="0"/>
          </a:p>
          <a:p>
            <a:pPr marL="12700" marR="5080"/>
            <a:r>
              <a:rPr lang="en-US" sz="1800" dirty="0">
                <a:hlinkClick r:id="rId13"/>
              </a:rPr>
              <a:t>RPA Solution Architect's Handbook</a:t>
            </a:r>
            <a:endParaRPr lang="en-US" sz="1700" kern="0" spc="-80" dirty="0">
              <a:solidFill>
                <a:schemeClr val="accent2"/>
              </a:solidFill>
            </a:endParaRPr>
          </a:p>
        </p:txBody>
      </p:sp>
    </p:spTree>
    <p:extLst>
      <p:ext uri="{BB962C8B-B14F-4D97-AF65-F5344CB8AC3E}">
        <p14:creationId xmlns:p14="http://schemas.microsoft.com/office/powerpoint/2010/main" val="3410568322"/>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43B19-DB81-C728-799E-F804F21932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5797F1-83A4-CD36-983E-B4698BB87C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E236BD-2E45-B317-D7E0-30C267D474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C3DF48-5185-2E1C-20F2-E38328630FC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4133FA-C1D6-6CD7-7A4A-AB249DA44B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02583D-3CB0-C722-2505-C059EA882601}"/>
              </a:ext>
            </a:extLst>
          </p:cNvPr>
          <p:cNvSpPr txBox="1">
            <a:spLocks/>
          </p:cNvSpPr>
          <p:nvPr/>
        </p:nvSpPr>
        <p:spPr>
          <a:xfrm>
            <a:off x="137369" y="671014"/>
            <a:ext cx="8854231"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700" kern="0" spc="-80" dirty="0">
                <a:solidFill>
                  <a:schemeClr val="accent6"/>
                </a:solidFill>
              </a:rPr>
              <a:t>Master Slave Architecture in general have – </a:t>
            </a:r>
          </a:p>
          <a:p>
            <a:pPr marL="12700" marR="5080"/>
            <a:r>
              <a:rPr lang="en-IN" sz="1700" kern="0" spc="-80" dirty="0">
                <a:solidFill>
                  <a:schemeClr val="accent6"/>
                </a:solidFill>
              </a:rPr>
              <a:t>1) </a:t>
            </a:r>
            <a:r>
              <a:rPr lang="en-IN" sz="1700" kern="0" spc="-80" dirty="0" err="1">
                <a:solidFill>
                  <a:schemeClr val="accent6"/>
                </a:solidFill>
              </a:rPr>
              <a:t>Atleast</a:t>
            </a:r>
            <a:r>
              <a:rPr lang="en-IN" sz="1700" kern="0" spc="-80" dirty="0">
                <a:solidFill>
                  <a:schemeClr val="accent6"/>
                </a:solidFill>
              </a:rPr>
              <a:t> 1 Master &amp; multiple slaves. More than 1 master is there in some architectures to avoid single point of failure of the master.</a:t>
            </a:r>
          </a:p>
          <a:p>
            <a:pPr marL="12700" marR="5080"/>
            <a:r>
              <a:rPr lang="en-IN" sz="1700" kern="0" spc="-80" dirty="0">
                <a:solidFill>
                  <a:schemeClr val="accent6"/>
                </a:solidFill>
              </a:rPr>
              <a:t>2) Metadata/Naming DB – This DB is used mainly for names, topology etc. Mainly one time write &amp; multiple read operations are done here.</a:t>
            </a:r>
          </a:p>
          <a:p>
            <a:pPr marL="12700" marR="5080"/>
            <a:r>
              <a:rPr lang="en-IN" sz="1700" kern="0" spc="-80" dirty="0">
                <a:solidFill>
                  <a:schemeClr val="accent6"/>
                </a:solidFill>
              </a:rPr>
              <a:t>3) Config DB – This DB is mainly for threshold values(min/max), desired/target state values etc. Mainly one time write &amp; multiple read operations are done here.</a:t>
            </a:r>
          </a:p>
          <a:p>
            <a:pPr marL="12700" marR="5080"/>
            <a:r>
              <a:rPr lang="en-IN" sz="1700" kern="0" spc="-80" dirty="0">
                <a:solidFill>
                  <a:schemeClr val="accent6"/>
                </a:solidFill>
              </a:rPr>
              <a:t>4) (Transactional) State DB – This DB is for lifecycle of the domain/system related transaction states &amp; related data. Mainly a transactional table, action/event table &amp; action/event status table suffices. Both read &amp; write can happen concurrently here &amp; so such DB should support synchronization by default(including transactions, Optimistic/Pessimistic Concurrency etc).</a:t>
            </a:r>
          </a:p>
          <a:p>
            <a:pPr marL="12700" marR="5080"/>
            <a:r>
              <a:rPr lang="en-IN" sz="1700" kern="0" spc="-80" dirty="0">
                <a:solidFill>
                  <a:schemeClr val="accent6"/>
                </a:solidFill>
              </a:rPr>
              <a:t>5) (Optional) FSM DB – Which function(s) to execute after completion or before start of which other function(s)? Such questions are related to orchestration/choreography/co-ordination &amp; FSM can model such concepts very well. FSM stands for Finite State Machine &amp; although simple FSMs can be modelled using LinkedList or Tree but Complex FSM(having both sequential &amp; parallel task dependencies or dynamic tasks) are best modelled using DAG(Directed Acyclic Graph). A simple FSM implementation example using DSL(Domain Specific Language) approach is available at </a:t>
            </a:r>
            <a:r>
              <a:rPr lang="en-US" sz="1700" dirty="0">
                <a:hlinkClick r:id="rId7"/>
              </a:rPr>
              <a:t>Domain-Specific Languages: An Introductory Example | 1.1 Gothic Security | </a:t>
            </a:r>
            <a:r>
              <a:rPr lang="en-US" sz="1700" dirty="0" err="1">
                <a:hlinkClick r:id="rId7"/>
              </a:rPr>
              <a:t>InformIT</a:t>
            </a:r>
            <a:r>
              <a:rPr lang="en-IN" sz="1700" kern="0" spc="-80" dirty="0">
                <a:solidFill>
                  <a:schemeClr val="accent6"/>
                </a:solidFill>
              </a:rPr>
              <a:t> </a:t>
            </a:r>
          </a:p>
          <a:p>
            <a:pPr marL="12700" marR="5080"/>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513397319"/>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0A74F-33D7-6373-3420-FA16E5D6CD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61502B-2DAD-FB79-1D56-93F91CC4F4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F132C2-E549-DE94-7A1E-2881A1F3DB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A275DE8-5FDF-CCDA-2F25-386776C24B4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8BFA9D1-B5AA-5198-98E5-E908C4E89D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B9A893B-C161-5725-6A09-22BDAA6DFDBD}"/>
              </a:ext>
            </a:extLst>
          </p:cNvPr>
          <p:cNvSpPr txBox="1">
            <a:spLocks/>
          </p:cNvSpPr>
          <p:nvPr/>
        </p:nvSpPr>
        <p:spPr>
          <a:xfrm>
            <a:off x="137369" y="671014"/>
            <a:ext cx="8854231"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850" kern="0" spc="-80" dirty="0">
                <a:solidFill>
                  <a:schemeClr val="accent6"/>
                </a:solidFill>
              </a:rPr>
              <a:t>Along-with the stuffs mentioned in the earlier slide, Distributed Patterns(</a:t>
            </a:r>
            <a:r>
              <a:rPr lang="en-IN" sz="1500" dirty="0">
                <a:hlinkClick r:id="rId7"/>
              </a:rPr>
              <a:t>Patterns of Distributed Systems</a:t>
            </a:r>
            <a:r>
              <a:rPr lang="en-IN" sz="1850" kern="0" spc="-80" dirty="0">
                <a:solidFill>
                  <a:schemeClr val="accent6"/>
                </a:solidFill>
              </a:rPr>
              <a:t>) &amp; Distributed Algorithms(</a:t>
            </a:r>
            <a:r>
              <a:rPr lang="en-US" sz="1500" dirty="0">
                <a:hlinkClick r:id="rId8"/>
              </a:rPr>
              <a:t>Distributed Algorithms: An Intuitive Approach</a:t>
            </a:r>
            <a:r>
              <a:rPr lang="en-IN" sz="1850" kern="0" spc="-80" dirty="0">
                <a:solidFill>
                  <a:schemeClr val="accent6"/>
                </a:solidFill>
              </a:rPr>
              <a:t>) are used for master(s) &amp; slaves management by default &amp; the (lifecycle) data/state related to the master(s) &amp; slaves are stored in various DBs mentioned in earlier slide. </a:t>
            </a:r>
          </a:p>
          <a:p>
            <a:pPr marL="12700" marR="5080"/>
            <a:endParaRPr lang="en-IN" sz="1850" kern="0" spc="-80" dirty="0">
              <a:solidFill>
                <a:schemeClr val="accent6"/>
              </a:solidFill>
            </a:endParaRPr>
          </a:p>
          <a:p>
            <a:pPr marL="12700" marR="5080"/>
            <a:r>
              <a:rPr lang="en-IN" sz="1850" kern="0" spc="-80" dirty="0">
                <a:solidFill>
                  <a:schemeClr val="accent6"/>
                </a:solidFill>
              </a:rPr>
              <a:t>K8s &amp; Kafka are 2 such examples of Master Slave Architecture which uses </a:t>
            </a:r>
            <a:r>
              <a:rPr lang="en-IN" sz="1850" kern="0" spc="-80" dirty="0" err="1">
                <a:solidFill>
                  <a:schemeClr val="accent6"/>
                </a:solidFill>
              </a:rPr>
              <a:t>etcd</a:t>
            </a:r>
            <a:r>
              <a:rPr lang="en-IN" sz="1850" kern="0" spc="-80" dirty="0">
                <a:solidFill>
                  <a:schemeClr val="accent6"/>
                </a:solidFill>
              </a:rPr>
              <a:t> &amp; Zookeeper as the DBs respectively. Consul is another DB which is used in some other popular architectures.</a:t>
            </a: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r>
              <a:rPr lang="en-US" sz="1700" kern="0" spc="-80" dirty="0">
                <a:solidFill>
                  <a:schemeClr val="accent2"/>
                </a:solidFill>
              </a:rPr>
              <a:t>For Further Exploration</a:t>
            </a:r>
          </a:p>
          <a:p>
            <a:pPr marL="12700" marR="5080"/>
            <a:r>
              <a:rPr lang="en-IN" sz="1500" dirty="0">
                <a:hlinkClick r:id="rId9"/>
              </a:rPr>
              <a:t>Cluster Architecture | Kubernetes</a:t>
            </a:r>
            <a:r>
              <a:rPr lang="en-US" sz="1500" kern="0" spc="-80" dirty="0">
                <a:solidFill>
                  <a:schemeClr val="accent2"/>
                </a:solidFill>
              </a:rPr>
              <a:t>    </a:t>
            </a:r>
          </a:p>
          <a:p>
            <a:pPr marL="12700" marR="5080"/>
            <a:r>
              <a:rPr lang="en-IN" sz="1500" dirty="0">
                <a:hlinkClick r:id="rId10"/>
              </a:rPr>
              <a:t>Apache Kafka Architecture </a:t>
            </a:r>
            <a:endParaRPr lang="en-IN" sz="1500" dirty="0"/>
          </a:p>
          <a:p>
            <a:pPr marL="12700" marR="5080"/>
            <a:r>
              <a:rPr lang="en-US" sz="1500" dirty="0">
                <a:hlinkClick r:id="rId11"/>
              </a:rPr>
              <a:t>How </a:t>
            </a:r>
            <a:r>
              <a:rPr lang="en-US" sz="1500" dirty="0" err="1">
                <a:hlinkClick r:id="rId11"/>
              </a:rPr>
              <a:t>etcd</a:t>
            </a:r>
            <a:r>
              <a:rPr lang="en-US" sz="1500" dirty="0">
                <a:hlinkClick r:id="rId11"/>
              </a:rPr>
              <a:t> works with and without Kubernetes</a:t>
            </a:r>
            <a:endParaRPr lang="en-US" sz="1500" dirty="0"/>
          </a:p>
          <a:p>
            <a:pPr marL="12700" marR="5080"/>
            <a:r>
              <a:rPr lang="en-US" sz="1500" dirty="0">
                <a:hlinkClick r:id="rId12"/>
              </a:rPr>
              <a:t>Is there any documentation about </a:t>
            </a:r>
            <a:r>
              <a:rPr lang="en-US" sz="1500" dirty="0" err="1">
                <a:hlinkClick r:id="rId12"/>
              </a:rPr>
              <a:t>kubernetes</a:t>
            </a:r>
            <a:r>
              <a:rPr lang="en-US" sz="1500" dirty="0">
                <a:hlinkClick r:id="rId12"/>
              </a:rPr>
              <a:t> data structure on </a:t>
            </a:r>
            <a:r>
              <a:rPr lang="en-US" sz="1500" dirty="0" err="1">
                <a:hlinkClick r:id="rId12"/>
              </a:rPr>
              <a:t>etcd</a:t>
            </a:r>
            <a:r>
              <a:rPr lang="en-US" sz="1500" dirty="0">
                <a:hlinkClick r:id="rId12"/>
              </a:rPr>
              <a:t>? - Stack Overflow</a:t>
            </a:r>
            <a:endParaRPr lang="en-US" sz="1500" dirty="0"/>
          </a:p>
          <a:p>
            <a:pPr marL="12700" marR="5080"/>
            <a:r>
              <a:rPr lang="en-IN" sz="1500" dirty="0" err="1">
                <a:hlinkClick r:id="rId13"/>
              </a:rPr>
              <a:t>ZooKeeper</a:t>
            </a:r>
            <a:endParaRPr lang="en-IN" sz="1500" dirty="0"/>
          </a:p>
          <a:p>
            <a:pPr marL="12700" marR="5080"/>
            <a:r>
              <a:rPr lang="en-IN" sz="1500" dirty="0">
                <a:hlinkClick r:id="rId14"/>
              </a:rPr>
              <a:t>Consul Architecture | Consul | </a:t>
            </a:r>
            <a:r>
              <a:rPr lang="en-IN" sz="1500" dirty="0" err="1">
                <a:hlinkClick r:id="rId14"/>
              </a:rPr>
              <a:t>HashiCorp</a:t>
            </a:r>
            <a:r>
              <a:rPr lang="en-IN" sz="1500" dirty="0">
                <a:hlinkClick r:id="rId14"/>
              </a:rPr>
              <a:t> Developer</a:t>
            </a:r>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504057002"/>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7B45A-D6AE-E9DD-AD44-C6D6771E023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43CBF9-2703-0585-C512-D0D2A9347F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6162E5-4F02-EA90-06F2-87172486D2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F9642-B28F-8C90-25B1-AB5A7ED7BE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49BC0A-0B41-6E49-3DD9-260691DAEA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C95423D-BFC5-E67B-93E5-C7DA52870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C7AC530-CC3F-36C0-2DC8-902A04BBC77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35BA30-CB66-5D91-92FD-0CF1D32DA2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B82FC9-E781-CD8C-BE38-DC16A3E7CBD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1" name="Picture 10">
            <a:extLst>
              <a:ext uri="{FF2B5EF4-FFF2-40B4-BE49-F238E27FC236}">
                <a16:creationId xmlns:a16="http://schemas.microsoft.com/office/drawing/2014/main" id="{54C0A6BF-EBEB-EA24-3AD2-9435E85B30CE}"/>
              </a:ext>
            </a:extLst>
          </p:cNvPr>
          <p:cNvPicPr>
            <a:picLocks noChangeAspect="1"/>
          </p:cNvPicPr>
          <p:nvPr/>
        </p:nvPicPr>
        <p:blipFill>
          <a:blip r:embed="rId8"/>
          <a:stretch>
            <a:fillRect/>
          </a:stretch>
        </p:blipFill>
        <p:spPr>
          <a:xfrm>
            <a:off x="138063" y="762000"/>
            <a:ext cx="8686799" cy="5147175"/>
          </a:xfrm>
          <a:prstGeom prst="rect">
            <a:avLst/>
          </a:prstGeom>
        </p:spPr>
      </p:pic>
    </p:spTree>
    <p:extLst>
      <p:ext uri="{BB962C8B-B14F-4D97-AF65-F5344CB8AC3E}">
        <p14:creationId xmlns:p14="http://schemas.microsoft.com/office/powerpoint/2010/main" val="4213402727"/>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2E9F-8B80-CDAD-18E0-55DED67012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6AA43D-893C-7E69-A4A6-48BA64E0748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4EFA347-0798-B054-646D-FA663FE88BF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1E216F8-C0B8-C12C-028D-B791510FECC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4D6FB2-57E1-5777-9EB6-2E06134B2B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49BA72F-703E-D819-D872-AA347CA9E3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B1A5908-E051-D083-6186-4825DCAC29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82282A-43AE-6A36-0D36-7004F3B6C60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1F3E76-971E-FCFB-5EE0-1D767794C7B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4573BAC-8A25-24BB-CF33-F6DDED4FBA6F}"/>
              </a:ext>
            </a:extLst>
          </p:cNvPr>
          <p:cNvSpPr txBox="1">
            <a:spLocks/>
          </p:cNvSpPr>
          <p:nvPr/>
        </p:nvSpPr>
        <p:spPr>
          <a:xfrm>
            <a:off x="228600" y="7620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1. What is P2P Networking?</a:t>
            </a:r>
          </a:p>
          <a:p>
            <a:r>
              <a:rPr lang="en-US" sz="1700" kern="0" spc="-80" dirty="0">
                <a:solidFill>
                  <a:schemeClr val="accent6"/>
                </a:solidFill>
              </a:rPr>
              <a:t>In a Peer-to-Peer network, each node (peer) is both a client and a server.</a:t>
            </a:r>
          </a:p>
          <a:p>
            <a:r>
              <a:rPr lang="en-US" sz="1700" kern="0" spc="-80" dirty="0">
                <a:solidFill>
                  <a:schemeClr val="accent6"/>
                </a:solidFill>
              </a:rPr>
              <a:t>No central server controls the system.</a:t>
            </a:r>
          </a:p>
          <a:p>
            <a:r>
              <a:rPr lang="en-US" sz="1700" kern="0" spc="-80" dirty="0">
                <a:solidFill>
                  <a:schemeClr val="accent2"/>
                </a:solidFill>
              </a:rPr>
              <a:t>Every peer can:</a:t>
            </a:r>
          </a:p>
          <a:p>
            <a:r>
              <a:rPr lang="en-US" sz="1700" kern="0" spc="-80" dirty="0">
                <a:solidFill>
                  <a:schemeClr val="accent6"/>
                </a:solidFill>
              </a:rPr>
              <a:t>Request resources</a:t>
            </a:r>
          </a:p>
          <a:p>
            <a:r>
              <a:rPr lang="en-US" sz="1700" kern="0" spc="-80" dirty="0">
                <a:solidFill>
                  <a:schemeClr val="accent6"/>
                </a:solidFill>
              </a:rPr>
              <a:t>Provide resources</a:t>
            </a:r>
          </a:p>
          <a:p>
            <a:r>
              <a:rPr lang="en-US" sz="1700" kern="0" spc="-80" dirty="0">
                <a:solidFill>
                  <a:schemeClr val="accent6"/>
                </a:solidFill>
              </a:rPr>
              <a:t>Route messages</a:t>
            </a:r>
          </a:p>
          <a:p>
            <a:r>
              <a:rPr lang="en-US" sz="1700" kern="0" spc="-80" dirty="0">
                <a:solidFill>
                  <a:schemeClr val="accent6"/>
                </a:solidFill>
              </a:rPr>
              <a:t>Store/replicate data</a:t>
            </a:r>
          </a:p>
          <a:p>
            <a:r>
              <a:rPr lang="en-US" sz="1700" kern="0" spc="-80" dirty="0">
                <a:solidFill>
                  <a:schemeClr val="accent2"/>
                </a:solidFill>
              </a:rPr>
              <a:t>Compared to Client-Server Model:</a:t>
            </a: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p:txBody>
      </p:sp>
      <p:pic>
        <p:nvPicPr>
          <p:cNvPr id="13" name="Picture 12" descr="A screenshot of a computer&#10;&#10;AI-generated content may be incorrect.">
            <a:extLst>
              <a:ext uri="{FF2B5EF4-FFF2-40B4-BE49-F238E27FC236}">
                <a16:creationId xmlns:a16="http://schemas.microsoft.com/office/drawing/2014/main" id="{FFB41951-120A-8BEA-4B3F-3F83840FC71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599" y="3136799"/>
            <a:ext cx="8853537" cy="2772376"/>
          </a:xfrm>
          <a:prstGeom prst="rect">
            <a:avLst/>
          </a:prstGeom>
        </p:spPr>
      </p:pic>
    </p:spTree>
    <p:extLst>
      <p:ext uri="{BB962C8B-B14F-4D97-AF65-F5344CB8AC3E}">
        <p14:creationId xmlns:p14="http://schemas.microsoft.com/office/powerpoint/2010/main" val="2880898923"/>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F829D-8A08-23A1-2514-AA531A05F0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7B25E3-9BFA-7C6C-27F2-79E37E3016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3B9238-A0BB-F33F-2328-B038A0E06B3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C2A7A8-5456-4A4A-56BC-7F50FB79806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6A247A-44C4-E698-3B64-7B68C9F2F3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E23C42-34A9-307C-6B0F-69D3BD9749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5249D28-2114-54F1-4723-E043B17D53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4307B8-8011-BF92-116D-C35BD1B26AE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EECB87-2408-B38F-737D-15910979C8C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5794BA-4641-5226-D558-427DE4D5C386}"/>
              </a:ext>
            </a:extLst>
          </p:cNvPr>
          <p:cNvSpPr txBox="1">
            <a:spLocks/>
          </p:cNvSpPr>
          <p:nvPr/>
        </p:nvSpPr>
        <p:spPr>
          <a:xfrm>
            <a:off x="228600" y="7620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2. Types of P2P Architectures</a:t>
            </a:r>
          </a:p>
          <a:p>
            <a:r>
              <a:rPr lang="en-US" sz="1600" kern="0" spc="-80" dirty="0">
                <a:solidFill>
                  <a:schemeClr val="accent2"/>
                </a:solidFill>
              </a:rPr>
              <a:t>A. Unstructured P2P</a:t>
            </a:r>
          </a:p>
          <a:p>
            <a:r>
              <a:rPr lang="en-US" sz="1600" kern="0" spc="-80" dirty="0">
                <a:solidFill>
                  <a:schemeClr val="accent6"/>
                </a:solidFill>
              </a:rPr>
              <a:t>No predefined organization. Nodes join randomly.</a:t>
            </a:r>
          </a:p>
          <a:p>
            <a:r>
              <a:rPr lang="en-US" sz="1600" kern="0" spc="-80" dirty="0">
                <a:solidFill>
                  <a:schemeClr val="accent2"/>
                </a:solidFill>
              </a:rPr>
              <a:t>Examples: </a:t>
            </a:r>
            <a:r>
              <a:rPr lang="en-US" sz="1600" kern="0" spc="-80" dirty="0">
                <a:solidFill>
                  <a:schemeClr val="accent6"/>
                </a:solidFill>
              </a:rPr>
              <a:t>Early Gnutella, </a:t>
            </a:r>
            <a:r>
              <a:rPr lang="en-US" sz="1600" kern="0" spc="-80" dirty="0" err="1">
                <a:solidFill>
                  <a:schemeClr val="accent6"/>
                </a:solidFill>
              </a:rPr>
              <a:t>KaZaA</a:t>
            </a:r>
            <a:r>
              <a:rPr lang="en-US" sz="1600" kern="0" spc="-80" dirty="0">
                <a:solidFill>
                  <a:schemeClr val="accent6"/>
                </a:solidFill>
              </a:rPr>
              <a:t>, Napster hybrid parts.</a:t>
            </a:r>
          </a:p>
          <a:p>
            <a:r>
              <a:rPr lang="en-US" sz="1600" kern="0" spc="-80" dirty="0">
                <a:solidFill>
                  <a:schemeClr val="accent2"/>
                </a:solidFill>
              </a:rPr>
              <a:t>Search:</a:t>
            </a:r>
            <a:r>
              <a:rPr lang="en-US" sz="1600" kern="0" spc="-80" dirty="0">
                <a:solidFill>
                  <a:schemeClr val="accent6"/>
                </a:solidFill>
              </a:rPr>
              <a:t> Flood queries → e.g., “Ask your neighbors, then they ask theirs.”</a:t>
            </a:r>
          </a:p>
          <a:p>
            <a:r>
              <a:rPr lang="en-US" sz="1600" kern="0" spc="-80" dirty="0">
                <a:solidFill>
                  <a:schemeClr val="accent2"/>
                </a:solidFill>
              </a:rPr>
              <a:t>Pros: </a:t>
            </a:r>
            <a:r>
              <a:rPr lang="en-US" sz="1600" kern="0" spc="-80" dirty="0">
                <a:solidFill>
                  <a:schemeClr val="accent6"/>
                </a:solidFill>
              </a:rPr>
              <a:t>Simple, easy node joining/leaving</a:t>
            </a:r>
          </a:p>
          <a:p>
            <a:r>
              <a:rPr lang="en-US" sz="1600" kern="0" spc="-80" dirty="0">
                <a:solidFill>
                  <a:schemeClr val="accent2"/>
                </a:solidFill>
              </a:rPr>
              <a:t>Cons: </a:t>
            </a:r>
            <a:r>
              <a:rPr lang="en-US" sz="1600" kern="0" spc="-80" dirty="0">
                <a:solidFill>
                  <a:schemeClr val="accent6"/>
                </a:solidFill>
              </a:rPr>
              <a:t>Search is inefficient → O(n) or flooding</a:t>
            </a:r>
          </a:p>
          <a:p>
            <a:endParaRPr lang="en-US" sz="1600" kern="0" spc="-80" dirty="0">
              <a:solidFill>
                <a:schemeClr val="accent6"/>
              </a:solidFill>
            </a:endParaRPr>
          </a:p>
          <a:p>
            <a:r>
              <a:rPr lang="en-US" sz="1600" kern="0" spc="-80" dirty="0">
                <a:solidFill>
                  <a:schemeClr val="accent2"/>
                </a:solidFill>
              </a:rPr>
              <a:t>B. Structured P2P</a:t>
            </a:r>
          </a:p>
          <a:p>
            <a:r>
              <a:rPr lang="en-US" sz="1600" kern="0" spc="-80" dirty="0">
                <a:solidFill>
                  <a:schemeClr val="accent6"/>
                </a:solidFill>
              </a:rPr>
              <a:t>Uses Distributed Hash Tables (DHTs)</a:t>
            </a:r>
          </a:p>
          <a:p>
            <a:r>
              <a:rPr lang="en-US" sz="1600" kern="0" spc="-80" dirty="0">
                <a:solidFill>
                  <a:schemeClr val="accent6"/>
                </a:solidFill>
              </a:rPr>
              <a:t>Data is placed at specific nodes based on hashes.</a:t>
            </a:r>
          </a:p>
          <a:p>
            <a:r>
              <a:rPr lang="en-US" sz="1600" kern="0" spc="-80" dirty="0">
                <a:solidFill>
                  <a:schemeClr val="accent2"/>
                </a:solidFill>
              </a:rPr>
              <a:t>Examples:</a:t>
            </a:r>
            <a:r>
              <a:rPr lang="en-US" sz="1600" kern="0" spc="-80" dirty="0">
                <a:solidFill>
                  <a:schemeClr val="accent6"/>
                </a:solidFill>
              </a:rPr>
              <a:t> Chord, </a:t>
            </a:r>
            <a:r>
              <a:rPr lang="en-US" sz="1600" kern="0" spc="-80" dirty="0" err="1">
                <a:solidFill>
                  <a:schemeClr val="accent6"/>
                </a:solidFill>
              </a:rPr>
              <a:t>Kademlia</a:t>
            </a:r>
            <a:r>
              <a:rPr lang="en-US" sz="1600" kern="0" spc="-80" dirty="0">
                <a:solidFill>
                  <a:schemeClr val="accent6"/>
                </a:solidFill>
              </a:rPr>
              <a:t> (BitTorrent), Pastry, CAN</a:t>
            </a:r>
          </a:p>
          <a:p>
            <a:r>
              <a:rPr lang="en-US" sz="1600" kern="0" spc="-80" dirty="0">
                <a:solidFill>
                  <a:schemeClr val="accent2"/>
                </a:solidFill>
              </a:rPr>
              <a:t>Search Complexity: </a:t>
            </a:r>
            <a:r>
              <a:rPr lang="en-US" sz="1600" kern="0" spc="-80" dirty="0">
                <a:solidFill>
                  <a:schemeClr val="accent6"/>
                </a:solidFill>
              </a:rPr>
              <a:t>O(log n)</a:t>
            </a:r>
          </a:p>
          <a:p>
            <a:r>
              <a:rPr lang="en-US" sz="1600" kern="0" spc="-80" dirty="0">
                <a:solidFill>
                  <a:schemeClr val="accent2"/>
                </a:solidFill>
              </a:rPr>
              <a:t>Pros: </a:t>
            </a:r>
            <a:r>
              <a:rPr lang="en-US" sz="1600" kern="0" spc="-80" dirty="0">
                <a:solidFill>
                  <a:schemeClr val="accent6"/>
                </a:solidFill>
              </a:rPr>
              <a:t>Fast lookup, scalable</a:t>
            </a:r>
          </a:p>
          <a:p>
            <a:r>
              <a:rPr lang="en-US" sz="1600" kern="0" spc="-80" dirty="0">
                <a:solidFill>
                  <a:schemeClr val="accent2"/>
                </a:solidFill>
              </a:rPr>
              <a:t>Cons: </a:t>
            </a:r>
            <a:r>
              <a:rPr lang="en-US" sz="1600" kern="0" spc="-80" dirty="0">
                <a:solidFill>
                  <a:schemeClr val="accent6"/>
                </a:solidFill>
              </a:rPr>
              <a:t>More complex maintenance when nodes join/leave</a:t>
            </a:r>
          </a:p>
          <a:p>
            <a:endParaRPr lang="en-US" sz="1600" kern="0" spc="-80" dirty="0">
              <a:solidFill>
                <a:schemeClr val="accent6"/>
              </a:solidFill>
            </a:endParaRPr>
          </a:p>
          <a:p>
            <a:r>
              <a:rPr lang="en-US" sz="1600" kern="0" spc="-80" dirty="0">
                <a:solidFill>
                  <a:schemeClr val="accent2"/>
                </a:solidFill>
              </a:rPr>
              <a:t>C. Hybrid P2P</a:t>
            </a:r>
          </a:p>
          <a:p>
            <a:r>
              <a:rPr lang="en-US" sz="1600" kern="0" spc="-80" dirty="0">
                <a:solidFill>
                  <a:schemeClr val="accent6"/>
                </a:solidFill>
              </a:rPr>
              <a:t>Mostly P2P but has some centralized components</a:t>
            </a:r>
          </a:p>
          <a:p>
            <a:r>
              <a:rPr lang="en-US" sz="1600" kern="0" spc="-80" dirty="0">
                <a:solidFill>
                  <a:schemeClr val="accent2"/>
                </a:solidFill>
              </a:rPr>
              <a:t>Examples:</a:t>
            </a:r>
            <a:r>
              <a:rPr lang="en-US" sz="1600" kern="0" spc="-80" dirty="0">
                <a:solidFill>
                  <a:schemeClr val="accent6"/>
                </a:solidFill>
              </a:rPr>
              <a:t> BitTorrent trackers, Skype </a:t>
            </a:r>
            <a:r>
              <a:rPr lang="en-US" sz="1600" kern="0" spc="-80" dirty="0" err="1">
                <a:solidFill>
                  <a:schemeClr val="accent6"/>
                </a:solidFill>
              </a:rPr>
              <a:t>supernodes</a:t>
            </a:r>
            <a:endParaRPr lang="en-US" sz="1600" kern="0" spc="-80" dirty="0">
              <a:solidFill>
                <a:schemeClr val="accent6"/>
              </a:solidFill>
            </a:endParaRPr>
          </a:p>
          <a:p>
            <a:r>
              <a:rPr lang="en-US" sz="1600" kern="0" spc="-80" dirty="0">
                <a:solidFill>
                  <a:schemeClr val="accent2"/>
                </a:solidFill>
              </a:rPr>
              <a:t>Pros:</a:t>
            </a:r>
            <a:r>
              <a:rPr lang="en-US" sz="1600" kern="0" spc="-80" dirty="0">
                <a:solidFill>
                  <a:schemeClr val="accent6"/>
                </a:solidFill>
              </a:rPr>
              <a:t> Easier peer discovery</a:t>
            </a:r>
          </a:p>
          <a:p>
            <a:r>
              <a:rPr lang="en-US" sz="1600" kern="0" spc="-80" dirty="0">
                <a:solidFill>
                  <a:schemeClr val="accent2"/>
                </a:solidFill>
              </a:rPr>
              <a:t>Cons: </a:t>
            </a:r>
            <a:r>
              <a:rPr lang="en-US" sz="1600" kern="0" spc="-80" dirty="0">
                <a:solidFill>
                  <a:schemeClr val="accent6"/>
                </a:solidFill>
              </a:rPr>
              <a:t>Partial centralization → risk of censorship / chokepoint</a:t>
            </a:r>
          </a:p>
        </p:txBody>
      </p:sp>
    </p:spTree>
    <p:extLst>
      <p:ext uri="{BB962C8B-B14F-4D97-AF65-F5344CB8AC3E}">
        <p14:creationId xmlns:p14="http://schemas.microsoft.com/office/powerpoint/2010/main" val="4075373364"/>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4E2C2-A361-6474-58D1-395E15CBD5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EF3D8A6-2BB8-EB53-2568-6DD458D5662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B77A15-5A6C-9098-6973-4B35680E20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E5C00D-48BB-0F41-9010-A66E3B7A64B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853B69-AE9C-62C4-0CED-E33EF74577F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6DD738-9ECD-F0FF-C9DF-AA596B4D68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1ACFEC5-FEA9-3C2E-E2C0-04B2720FB19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1EFD47-D2C6-CF8E-2B12-8441DBE06DF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4060FE-B7CE-4544-3D61-130AB6A4F19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7DE63B6-1D12-E191-8764-1BD2209F0D72}"/>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3. Key Building Blocks of P2P Networks</a:t>
            </a:r>
          </a:p>
          <a:p>
            <a:r>
              <a:rPr lang="en-US" sz="1800" kern="0" spc="-80" dirty="0">
                <a:solidFill>
                  <a:schemeClr val="accent2"/>
                </a:solidFill>
              </a:rPr>
              <a:t>1. Overlay Network</a:t>
            </a:r>
          </a:p>
          <a:p>
            <a:r>
              <a:rPr lang="en-US" sz="1800" kern="0" spc="-80" dirty="0">
                <a:solidFill>
                  <a:schemeClr val="accent6"/>
                </a:solidFill>
              </a:rPr>
              <a:t>This is a logical network built on top of the internet.</a:t>
            </a:r>
          </a:p>
          <a:p>
            <a:r>
              <a:rPr lang="en-US" sz="1800" kern="0" spc="-80" dirty="0">
                <a:solidFill>
                  <a:schemeClr val="accent6"/>
                </a:solidFill>
              </a:rPr>
              <a:t>Nodes maintain neighbor lists → e.g., </a:t>
            </a:r>
            <a:r>
              <a:rPr lang="en-US" sz="1800" kern="0" spc="-80" dirty="0" err="1">
                <a:solidFill>
                  <a:schemeClr val="accent6"/>
                </a:solidFill>
              </a:rPr>
              <a:t>Kademlia</a:t>
            </a:r>
            <a:r>
              <a:rPr lang="en-US" sz="1800" kern="0" spc="-80" dirty="0">
                <a:solidFill>
                  <a:schemeClr val="accent6"/>
                </a:solidFill>
              </a:rPr>
              <a:t> keeps k closest nodes.</a:t>
            </a:r>
          </a:p>
          <a:p>
            <a:endParaRPr lang="en-US" sz="1800" kern="0" spc="-80" dirty="0">
              <a:solidFill>
                <a:schemeClr val="accent6"/>
              </a:solidFill>
            </a:endParaRPr>
          </a:p>
          <a:p>
            <a:r>
              <a:rPr lang="en-US" sz="1800" kern="0" spc="-80" dirty="0">
                <a:solidFill>
                  <a:schemeClr val="accent2"/>
                </a:solidFill>
              </a:rPr>
              <a:t>2. Peer Discovery</a:t>
            </a:r>
          </a:p>
          <a:p>
            <a:r>
              <a:rPr lang="en-US" sz="1800" kern="0" spc="-80" dirty="0">
                <a:solidFill>
                  <a:schemeClr val="accent2"/>
                </a:solidFill>
              </a:rPr>
              <a:t>How peers find each other:</a:t>
            </a:r>
          </a:p>
          <a:p>
            <a:r>
              <a:rPr lang="en-US" sz="1800" kern="0" spc="-80" dirty="0">
                <a:solidFill>
                  <a:schemeClr val="accent6"/>
                </a:solidFill>
              </a:rPr>
              <a:t>DNS bootstrap nodes</a:t>
            </a:r>
          </a:p>
          <a:p>
            <a:r>
              <a:rPr lang="en-US" sz="1800" kern="0" spc="-80" dirty="0">
                <a:solidFill>
                  <a:schemeClr val="accent6"/>
                </a:solidFill>
              </a:rPr>
              <a:t>Distributed Hash Table lookup</a:t>
            </a:r>
          </a:p>
          <a:p>
            <a:r>
              <a:rPr lang="en-US" sz="1800" kern="0" spc="-80" dirty="0">
                <a:solidFill>
                  <a:schemeClr val="accent6"/>
                </a:solidFill>
              </a:rPr>
              <a:t>Trackers</a:t>
            </a:r>
          </a:p>
          <a:p>
            <a:r>
              <a:rPr lang="en-US" sz="1800" kern="0" spc="-80" dirty="0">
                <a:solidFill>
                  <a:schemeClr val="accent6"/>
                </a:solidFill>
              </a:rPr>
              <a:t>Multicast / LAN discovery</a:t>
            </a:r>
          </a:p>
          <a:p>
            <a:r>
              <a:rPr lang="en-US" sz="1800" kern="0" spc="-80" dirty="0">
                <a:solidFill>
                  <a:schemeClr val="accent6"/>
                </a:solidFill>
              </a:rPr>
              <a:t>WebRTC signaling servers</a:t>
            </a:r>
          </a:p>
          <a:p>
            <a:endParaRPr lang="en-US" sz="1800" kern="0" spc="-80" dirty="0">
              <a:solidFill>
                <a:schemeClr val="accent6"/>
              </a:solidFill>
            </a:endParaRPr>
          </a:p>
          <a:p>
            <a:r>
              <a:rPr lang="en-US" sz="1800" kern="0" spc="-80" dirty="0">
                <a:solidFill>
                  <a:schemeClr val="accent2"/>
                </a:solidFill>
              </a:rPr>
              <a:t>3. Routing &amp; Lookup</a:t>
            </a:r>
          </a:p>
          <a:p>
            <a:r>
              <a:rPr lang="en-US" sz="1800" kern="0" spc="-80" dirty="0">
                <a:solidFill>
                  <a:schemeClr val="accent2"/>
                </a:solidFill>
              </a:rPr>
              <a:t>Core to structured P2P:</a:t>
            </a:r>
          </a:p>
          <a:p>
            <a:r>
              <a:rPr lang="en-US" sz="1800" kern="0" spc="-80" dirty="0">
                <a:solidFill>
                  <a:schemeClr val="accent6"/>
                </a:solidFill>
              </a:rPr>
              <a:t>DHT maps Key → Node</a:t>
            </a:r>
          </a:p>
          <a:p>
            <a:r>
              <a:rPr lang="en-US" sz="1800" kern="0" spc="-80" dirty="0">
                <a:solidFill>
                  <a:schemeClr val="accent6"/>
                </a:solidFill>
              </a:rPr>
              <a:t>A search for a key routes via responsible peers</a:t>
            </a:r>
          </a:p>
          <a:p>
            <a:r>
              <a:rPr lang="en-US" sz="1800" kern="0" spc="-80" dirty="0">
                <a:solidFill>
                  <a:schemeClr val="accent2"/>
                </a:solidFill>
              </a:rPr>
              <a:t>Example (</a:t>
            </a:r>
            <a:r>
              <a:rPr lang="en-US" sz="1800" kern="0" spc="-80" dirty="0" err="1">
                <a:solidFill>
                  <a:schemeClr val="accent2"/>
                </a:solidFill>
              </a:rPr>
              <a:t>Kademlia</a:t>
            </a:r>
            <a:r>
              <a:rPr lang="en-US" sz="1800" kern="0" spc="-80" dirty="0">
                <a:solidFill>
                  <a:schemeClr val="accent2"/>
                </a:solidFill>
              </a:rPr>
              <a:t> approach):</a:t>
            </a:r>
            <a:r>
              <a:rPr lang="en-US" sz="1800" kern="0" spc="-80" dirty="0">
                <a:solidFill>
                  <a:schemeClr val="accent6"/>
                </a:solidFill>
              </a:rPr>
              <a:t> XR = XOR(</a:t>
            </a:r>
            <a:r>
              <a:rPr lang="en-US" sz="1800" kern="0" spc="-80" dirty="0" err="1">
                <a:solidFill>
                  <a:schemeClr val="accent6"/>
                </a:solidFill>
              </a:rPr>
              <a:t>NodeID</a:t>
            </a:r>
            <a:r>
              <a:rPr lang="en-US" sz="1800" kern="0" spc="-80" dirty="0">
                <a:solidFill>
                  <a:schemeClr val="accent6"/>
                </a:solidFill>
              </a:rPr>
              <a:t>, Key)</a:t>
            </a:r>
          </a:p>
          <a:p>
            <a:r>
              <a:rPr lang="en-US" sz="1800" kern="0" spc="-80" dirty="0">
                <a:solidFill>
                  <a:schemeClr val="accent6"/>
                </a:solidFill>
              </a:rPr>
              <a:t>Pick the node with minimum XR</a:t>
            </a:r>
          </a:p>
        </p:txBody>
      </p:sp>
    </p:spTree>
    <p:extLst>
      <p:ext uri="{BB962C8B-B14F-4D97-AF65-F5344CB8AC3E}">
        <p14:creationId xmlns:p14="http://schemas.microsoft.com/office/powerpoint/2010/main" val="1573734671"/>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2BE51-47F7-76D2-7062-192297C175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8A7D52-3166-779D-6CAB-C332B8C4FFD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F94A2A-14C8-E53E-6936-E51C7BBEEC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F2D932-365D-D896-28EE-C8249551E05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79AB96C-596E-02C5-FACB-D0DE169503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8CD54A0-8A42-ADB8-1070-037DE5D93D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74FD02A-FDB9-02DB-882D-C7ABF42D30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BE6E6A6-00AA-8F46-A0C2-BB73F3EEE0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0FD62F-B008-6F7A-F0C7-2EFFBC01743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E4C58BA-75E5-5E01-CCF4-DC83D5F3725E}"/>
              </a:ext>
            </a:extLst>
          </p:cNvPr>
          <p:cNvSpPr txBox="1">
            <a:spLocks/>
          </p:cNvSpPr>
          <p:nvPr/>
        </p:nvSpPr>
        <p:spPr>
          <a:xfrm>
            <a:off x="228600"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4. Replication</a:t>
            </a:r>
          </a:p>
          <a:p>
            <a:r>
              <a:rPr lang="en-US" sz="1500" kern="0" spc="-80" dirty="0">
                <a:solidFill>
                  <a:schemeClr val="accent6"/>
                </a:solidFill>
              </a:rPr>
              <a:t>To prevent data loss when peers go offline:</a:t>
            </a:r>
          </a:p>
          <a:p>
            <a:r>
              <a:rPr lang="en-US" sz="1500" kern="0" spc="-80" dirty="0">
                <a:solidFill>
                  <a:schemeClr val="accent6"/>
                </a:solidFill>
              </a:rPr>
              <a:t>Replicate to neighbors</a:t>
            </a:r>
          </a:p>
          <a:p>
            <a:r>
              <a:rPr lang="en-US" sz="1500" kern="0" spc="-80" dirty="0">
                <a:solidFill>
                  <a:schemeClr val="accent6"/>
                </a:solidFill>
              </a:rPr>
              <a:t>Replicate to k-closest nodes</a:t>
            </a:r>
          </a:p>
          <a:p>
            <a:r>
              <a:rPr lang="en-US" sz="1500" kern="0" spc="-80" dirty="0">
                <a:solidFill>
                  <a:schemeClr val="accent6"/>
                </a:solidFill>
              </a:rPr>
              <a:t>Use erasure coding</a:t>
            </a:r>
          </a:p>
          <a:p>
            <a:endParaRPr lang="en-US" sz="1500" kern="0" spc="-80" dirty="0">
              <a:solidFill>
                <a:schemeClr val="accent6"/>
              </a:solidFill>
            </a:endParaRPr>
          </a:p>
          <a:p>
            <a:r>
              <a:rPr lang="en-US" sz="1500" kern="0" spc="-80" dirty="0">
                <a:solidFill>
                  <a:schemeClr val="accent2"/>
                </a:solidFill>
              </a:rPr>
              <a:t>5. NAT Traversal</a:t>
            </a:r>
          </a:p>
          <a:p>
            <a:r>
              <a:rPr lang="en-US" sz="1500" kern="0" spc="-80" dirty="0">
                <a:solidFill>
                  <a:schemeClr val="accent6"/>
                </a:solidFill>
              </a:rPr>
              <a:t>Nodes behind NAT can’t accept inbound connections.</a:t>
            </a:r>
          </a:p>
          <a:p>
            <a:r>
              <a:rPr lang="en-US" sz="1500" kern="0" spc="-80" dirty="0">
                <a:solidFill>
                  <a:schemeClr val="accent2"/>
                </a:solidFill>
              </a:rPr>
              <a:t>Solutions:</a:t>
            </a:r>
          </a:p>
          <a:p>
            <a:r>
              <a:rPr lang="en-US" sz="1500" kern="0" spc="-80" dirty="0">
                <a:solidFill>
                  <a:schemeClr val="accent6"/>
                </a:solidFill>
              </a:rPr>
              <a:t>STUN (discover your public </a:t>
            </a:r>
            <a:r>
              <a:rPr lang="en-US" sz="1500" kern="0" spc="-80" dirty="0" err="1">
                <a:solidFill>
                  <a:schemeClr val="accent6"/>
                </a:solidFill>
              </a:rPr>
              <a:t>IP:port</a:t>
            </a:r>
            <a:r>
              <a:rPr lang="en-US" sz="1500" kern="0" spc="-80" dirty="0">
                <a:solidFill>
                  <a:schemeClr val="accent6"/>
                </a:solidFill>
              </a:rPr>
              <a:t>)</a:t>
            </a:r>
          </a:p>
          <a:p>
            <a:r>
              <a:rPr lang="en-US" sz="1500" kern="0" spc="-80" dirty="0">
                <a:solidFill>
                  <a:schemeClr val="accent6"/>
                </a:solidFill>
              </a:rPr>
              <a:t>TURN (relay data via server if needed)</a:t>
            </a:r>
          </a:p>
          <a:p>
            <a:r>
              <a:rPr lang="en-US" sz="1500" kern="0" spc="-80" dirty="0">
                <a:solidFill>
                  <a:schemeClr val="accent6"/>
                </a:solidFill>
              </a:rPr>
              <a:t>ICE Framework (try all paths until one succeeds)</a:t>
            </a:r>
          </a:p>
          <a:p>
            <a:r>
              <a:rPr lang="en-US" sz="1500" kern="0" spc="-80" dirty="0">
                <a:solidFill>
                  <a:schemeClr val="accent6"/>
                </a:solidFill>
              </a:rPr>
              <a:t>Used heavily in WebRTC and P2P voice apps like Skype.</a:t>
            </a:r>
          </a:p>
          <a:p>
            <a:endParaRPr lang="en-US" sz="1500" kern="0" spc="-80" dirty="0">
              <a:solidFill>
                <a:schemeClr val="accent6"/>
              </a:solidFill>
            </a:endParaRPr>
          </a:p>
          <a:p>
            <a:r>
              <a:rPr lang="en-US" sz="1500" kern="0" spc="-80" dirty="0">
                <a:solidFill>
                  <a:schemeClr val="accent2"/>
                </a:solidFill>
              </a:rPr>
              <a:t>🔑 4. Distributed Hash Tables (DHTs)</a:t>
            </a:r>
          </a:p>
          <a:p>
            <a:r>
              <a:rPr lang="en-US" sz="1500" kern="0" spc="-80" dirty="0">
                <a:solidFill>
                  <a:schemeClr val="accent6"/>
                </a:solidFill>
              </a:rPr>
              <a:t>DHTs allow scalable, structured lookup.</a:t>
            </a:r>
          </a:p>
          <a:p>
            <a:r>
              <a:rPr lang="en-US" sz="1500" kern="0" spc="-80" dirty="0">
                <a:solidFill>
                  <a:schemeClr val="accent2"/>
                </a:solidFill>
              </a:rPr>
              <a:t>DHT	      Routing base	              Max hops	                 Architectures used in</a:t>
            </a:r>
          </a:p>
          <a:p>
            <a:r>
              <a:rPr lang="en-US" sz="1500" kern="0" spc="-80" dirty="0">
                <a:solidFill>
                  <a:schemeClr val="accent6"/>
                </a:solidFill>
              </a:rPr>
              <a:t>Chord	      Ring	                                O(log n)	                 Academic / historical</a:t>
            </a:r>
          </a:p>
          <a:p>
            <a:r>
              <a:rPr lang="en-US" sz="1500" kern="0" spc="-80" dirty="0" err="1">
                <a:solidFill>
                  <a:schemeClr val="accent6"/>
                </a:solidFill>
              </a:rPr>
              <a:t>Kademlia</a:t>
            </a:r>
            <a:r>
              <a:rPr lang="en-US" sz="1500" kern="0" spc="-80" dirty="0">
                <a:solidFill>
                  <a:schemeClr val="accent6"/>
                </a:solidFill>
              </a:rPr>
              <a:t>        XOR distance	              O(log n)	                 BitTorrent, IPFS, Ethereum</a:t>
            </a:r>
          </a:p>
          <a:p>
            <a:r>
              <a:rPr lang="en-US" sz="1500" kern="0" spc="-80" dirty="0">
                <a:solidFill>
                  <a:schemeClr val="accent6"/>
                </a:solidFill>
              </a:rPr>
              <a:t>Pastry	      Prefix routing	              O(log n)	                 PAST storage system</a:t>
            </a:r>
          </a:p>
          <a:p>
            <a:r>
              <a:rPr lang="en-US" sz="1500" kern="0" spc="-80" dirty="0">
                <a:solidFill>
                  <a:schemeClr val="accent6"/>
                </a:solidFill>
              </a:rPr>
              <a:t>CAN	      Multi-dimensional             O(n^(1/d))	                 Academic</a:t>
            </a:r>
          </a:p>
          <a:p>
            <a:r>
              <a:rPr lang="en-US" sz="1500" kern="0" spc="-80" dirty="0" err="1">
                <a:solidFill>
                  <a:schemeClr val="accent6"/>
                </a:solidFill>
              </a:rPr>
              <a:t>Kademlia</a:t>
            </a:r>
            <a:r>
              <a:rPr lang="en-US" sz="1500" kern="0" spc="-80" dirty="0">
                <a:solidFill>
                  <a:schemeClr val="accent6"/>
                </a:solidFill>
              </a:rPr>
              <a:t> is the most widely used today.</a:t>
            </a:r>
          </a:p>
        </p:txBody>
      </p:sp>
    </p:spTree>
    <p:extLst>
      <p:ext uri="{BB962C8B-B14F-4D97-AF65-F5344CB8AC3E}">
        <p14:creationId xmlns:p14="http://schemas.microsoft.com/office/powerpoint/2010/main" val="4187388271"/>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0773F-49AA-B449-F024-D0756057CD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3111ED7-3A07-E1BE-37E1-C68C291FF6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34BFEE-4501-6C0E-9D2A-BD8A1AE35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6E2E611-AD3E-0308-AA1E-EBD456B2B74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7778C6-9B3B-44D5-2831-B4CF80E97E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E2BDE68-BA2B-A92E-FDED-B15F76FAB5B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DC2426C-512A-FCEB-6DC3-BACA6AFCA21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EF98D72-69D0-6F75-591E-2370332A297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9E250A-BC7E-9845-385B-F342BE3132F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4D1252F-DF58-81AD-2169-D154EBD5F5E1}"/>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5. Real-World P2P Systems</a:t>
            </a: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r>
              <a:rPr lang="en-US" sz="1700" kern="0" spc="-80" dirty="0">
                <a:solidFill>
                  <a:schemeClr val="accent2"/>
                </a:solidFill>
              </a:rPr>
              <a:t>🧬 6. Data Persistence &amp; Consistency Approaches</a:t>
            </a:r>
          </a:p>
          <a:p>
            <a:r>
              <a:rPr lang="en-US" sz="1700" kern="0" spc="-80" dirty="0">
                <a:solidFill>
                  <a:schemeClr val="accent6"/>
                </a:solidFill>
              </a:rPr>
              <a:t>P2P must tolerate churn (peers joining/leaving frequently).</a:t>
            </a:r>
          </a:p>
          <a:p>
            <a:r>
              <a:rPr lang="en-US" sz="1700" kern="0" spc="-80" dirty="0">
                <a:solidFill>
                  <a:schemeClr val="accent2"/>
                </a:solidFill>
              </a:rPr>
              <a:t>Strategy	                                    Use Case	                           Example</a:t>
            </a:r>
          </a:p>
          <a:p>
            <a:r>
              <a:rPr lang="en-US" sz="1700" kern="0" spc="-80" dirty="0">
                <a:solidFill>
                  <a:schemeClr val="accent6"/>
                </a:solidFill>
              </a:rPr>
              <a:t>Replication to k nodes	     General resilience	           </a:t>
            </a:r>
            <a:r>
              <a:rPr lang="en-US" sz="1700" kern="0" spc="-80" dirty="0" err="1">
                <a:solidFill>
                  <a:schemeClr val="accent6"/>
                </a:solidFill>
              </a:rPr>
              <a:t>Kademlia</a:t>
            </a:r>
            <a:endParaRPr lang="en-US" sz="1700" kern="0" spc="-80" dirty="0">
              <a:solidFill>
                <a:schemeClr val="accent6"/>
              </a:solidFill>
            </a:endParaRPr>
          </a:p>
          <a:p>
            <a:r>
              <a:rPr lang="en-US" sz="1700" kern="0" spc="-80" dirty="0">
                <a:solidFill>
                  <a:schemeClr val="accent6"/>
                </a:solidFill>
              </a:rPr>
              <a:t>Merkle DAGs	                     Immutable chains                      IPFS, Git</a:t>
            </a:r>
          </a:p>
          <a:p>
            <a:r>
              <a:rPr lang="en-US" sz="1700" kern="0" spc="-80" dirty="0">
                <a:solidFill>
                  <a:schemeClr val="accent6"/>
                </a:solidFill>
              </a:rPr>
              <a:t>Gossip / epidemic protocols   Blockchain propagation	           Bitcoin, Ethereum</a:t>
            </a:r>
          </a:p>
          <a:p>
            <a:r>
              <a:rPr lang="en-US" sz="1700" kern="0" spc="-80" dirty="0">
                <a:solidFill>
                  <a:schemeClr val="accent6"/>
                </a:solidFill>
              </a:rPr>
              <a:t>CRDTs	                                    Conflict-free shared data          Collaborative editors</a:t>
            </a:r>
          </a:p>
        </p:txBody>
      </p:sp>
      <p:pic>
        <p:nvPicPr>
          <p:cNvPr id="13" name="Picture 12" descr="A table with text on it&#10;&#10;AI-generated content may be incorrect.">
            <a:extLst>
              <a:ext uri="{FF2B5EF4-FFF2-40B4-BE49-F238E27FC236}">
                <a16:creationId xmlns:a16="http://schemas.microsoft.com/office/drawing/2014/main" id="{A1C262D1-1CBD-EDF8-94D3-71E93C14627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06748" y="1026560"/>
            <a:ext cx="8915399" cy="2914800"/>
          </a:xfrm>
          <a:prstGeom prst="rect">
            <a:avLst/>
          </a:prstGeom>
        </p:spPr>
      </p:pic>
    </p:spTree>
    <p:extLst>
      <p:ext uri="{BB962C8B-B14F-4D97-AF65-F5344CB8AC3E}">
        <p14:creationId xmlns:p14="http://schemas.microsoft.com/office/powerpoint/2010/main" val="324532793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07D4B-EF22-580D-793D-9E9B6FF277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DDB223-5A0E-3DFD-2F31-7D3DBDEDC7E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028FBB-BE16-DB7C-54E8-E426507AA07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AE325D-9E33-3555-75CD-3A8E4F006CF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DDC8711-B97A-6D53-1FBD-82CD42E5BC7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A661B6-265E-C819-6467-AA74310FFF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D05A67E-313B-5472-45CF-1FA466401EB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5DF126-0F28-B33E-54BB-2A78156C0A3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CFB540-A828-C08B-7814-FBD6E083ED8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E4439F3-657E-409E-7D76-E333EC1127F6}"/>
              </a:ext>
            </a:extLst>
          </p:cNvPr>
          <p:cNvSpPr txBox="1">
            <a:spLocks/>
          </p:cNvSpPr>
          <p:nvPr/>
        </p:nvSpPr>
        <p:spPr>
          <a:xfrm>
            <a:off x="228600" y="7620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 7. Security Challenges &amp; Mechanisms</a:t>
            </a:r>
          </a:p>
          <a:p>
            <a:r>
              <a:rPr lang="en-US" sz="1600" kern="0" spc="-80" dirty="0">
                <a:solidFill>
                  <a:schemeClr val="accent2"/>
                </a:solidFill>
              </a:rPr>
              <a:t>Problem	                                Solution</a:t>
            </a:r>
          </a:p>
          <a:p>
            <a:r>
              <a:rPr lang="en-US" sz="1600" kern="0" spc="-80" dirty="0">
                <a:solidFill>
                  <a:schemeClr val="accent6"/>
                </a:solidFill>
              </a:rPr>
              <a:t>Sybil attacks (fake peers)	 Proof-of-Work / Stake / Identity attestations</a:t>
            </a:r>
          </a:p>
          <a:p>
            <a:r>
              <a:rPr lang="en-US" sz="1600" kern="0" spc="-80" dirty="0">
                <a:solidFill>
                  <a:schemeClr val="accent6"/>
                </a:solidFill>
              </a:rPr>
              <a:t>Man-in-the-middle	                 End-to-end encryption</a:t>
            </a:r>
          </a:p>
          <a:p>
            <a:r>
              <a:rPr lang="en-US" sz="1600" kern="0" spc="-80" dirty="0">
                <a:solidFill>
                  <a:schemeClr val="accent6"/>
                </a:solidFill>
              </a:rPr>
              <a:t>Data poisoning	                 Hash-based verification (Merkle trees)</a:t>
            </a:r>
          </a:p>
          <a:p>
            <a:r>
              <a:rPr lang="en-US" sz="1600" kern="0" spc="-80" dirty="0">
                <a:solidFill>
                  <a:schemeClr val="accent6"/>
                </a:solidFill>
              </a:rPr>
              <a:t>Eclipse attacks	                 Limit peer influence, rotate peer tables</a:t>
            </a:r>
          </a:p>
          <a:p>
            <a:r>
              <a:rPr lang="en-US" sz="1600" kern="0" spc="-80" dirty="0">
                <a:solidFill>
                  <a:schemeClr val="accent6"/>
                </a:solidFill>
              </a:rPr>
              <a:t>Public key cryptography is core to all P2P identity systems.</a:t>
            </a:r>
          </a:p>
          <a:p>
            <a:endParaRPr lang="en-US" sz="1600" kern="0" spc="-80" dirty="0">
              <a:solidFill>
                <a:schemeClr val="accent6"/>
              </a:solidFill>
            </a:endParaRPr>
          </a:p>
          <a:p>
            <a:r>
              <a:rPr lang="en-US" sz="1600" kern="0" spc="-80" dirty="0">
                <a:solidFill>
                  <a:schemeClr val="accent2"/>
                </a:solidFill>
              </a:rPr>
              <a:t>🌍 8. Performance Characteristics</a:t>
            </a:r>
          </a:p>
          <a:p>
            <a:r>
              <a:rPr lang="en-US" sz="1600" kern="0" spc="-80" dirty="0">
                <a:solidFill>
                  <a:schemeClr val="accent2"/>
                </a:solidFill>
              </a:rPr>
              <a:t>Metric	                    P2P Impact</a:t>
            </a:r>
          </a:p>
          <a:p>
            <a:r>
              <a:rPr lang="en-US" sz="1600" kern="0" spc="-80" dirty="0">
                <a:solidFill>
                  <a:schemeClr val="accent6"/>
                </a:solidFill>
              </a:rPr>
              <a:t>Scalability	    Very high; more peers = more resources</a:t>
            </a:r>
          </a:p>
          <a:p>
            <a:r>
              <a:rPr lang="en-US" sz="1600" kern="0" spc="-80" dirty="0">
                <a:solidFill>
                  <a:schemeClr val="accent6"/>
                </a:solidFill>
              </a:rPr>
              <a:t>Latency	                    Variable, often higher than client-server</a:t>
            </a:r>
          </a:p>
          <a:p>
            <a:r>
              <a:rPr lang="en-US" sz="1600" kern="0" spc="-80" dirty="0">
                <a:solidFill>
                  <a:schemeClr val="accent6"/>
                </a:solidFill>
              </a:rPr>
              <a:t>Reliability	    High with replication, low without</a:t>
            </a:r>
          </a:p>
          <a:p>
            <a:r>
              <a:rPr lang="en-US" sz="1600" kern="0" spc="-80" dirty="0">
                <a:solidFill>
                  <a:schemeClr val="accent6"/>
                </a:solidFill>
              </a:rPr>
              <a:t>Bandwidth usage	    Can be high (neighbor communication)</a:t>
            </a:r>
          </a:p>
          <a:p>
            <a:endParaRPr lang="en-US" sz="1600" kern="0" spc="-80" dirty="0">
              <a:solidFill>
                <a:schemeClr val="accent6"/>
              </a:solidFill>
            </a:endParaRPr>
          </a:p>
          <a:p>
            <a:r>
              <a:rPr lang="en-US" sz="1600" kern="0" spc="-80" dirty="0">
                <a:solidFill>
                  <a:schemeClr val="accent2"/>
                </a:solidFill>
              </a:rPr>
              <a:t>✅ 9. When to Use P2P</a:t>
            </a:r>
          </a:p>
          <a:p>
            <a:r>
              <a:rPr lang="en-US" sz="1600" kern="0" spc="-80" dirty="0">
                <a:solidFill>
                  <a:schemeClr val="accent2"/>
                </a:solidFill>
              </a:rPr>
              <a:t>✅ You should use P2P when:</a:t>
            </a:r>
          </a:p>
          <a:p>
            <a:r>
              <a:rPr lang="en-US" sz="1600" kern="0" spc="-80" dirty="0">
                <a:solidFill>
                  <a:schemeClr val="accent6"/>
                </a:solidFill>
              </a:rPr>
              <a:t>Resources are widely distributed</a:t>
            </a:r>
          </a:p>
          <a:p>
            <a:r>
              <a:rPr lang="en-US" sz="1600" kern="0" spc="-80" dirty="0">
                <a:solidFill>
                  <a:schemeClr val="accent6"/>
                </a:solidFill>
              </a:rPr>
              <a:t>Central authority is undesirable/expensive</a:t>
            </a:r>
          </a:p>
          <a:p>
            <a:r>
              <a:rPr lang="en-US" sz="1600" kern="0" spc="-80" dirty="0">
                <a:solidFill>
                  <a:schemeClr val="accent6"/>
                </a:solidFill>
              </a:rPr>
              <a:t>The system must scale massively</a:t>
            </a:r>
          </a:p>
          <a:p>
            <a:r>
              <a:rPr lang="en-US" sz="1600" kern="0" spc="-80" dirty="0">
                <a:solidFill>
                  <a:schemeClr val="accent6"/>
                </a:solidFill>
              </a:rPr>
              <a:t>Failover / decentralization is needed</a:t>
            </a:r>
          </a:p>
        </p:txBody>
      </p:sp>
    </p:spTree>
    <p:extLst>
      <p:ext uri="{BB962C8B-B14F-4D97-AF65-F5344CB8AC3E}">
        <p14:creationId xmlns:p14="http://schemas.microsoft.com/office/powerpoint/2010/main" val="2792803397"/>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78BB2-9792-6C9C-3CBE-8F35CC4A3B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11DE9D-5D93-A92C-C3F8-D16444B558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40A8B5-0D40-B146-A9D8-CFD0B9FC18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FE2345-2B65-B69D-B770-1FA3BCE8B8E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D820682-BA61-D8C0-1516-4B7D3AB5FF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19C083-86E8-08FC-C9BB-3D0E27BE81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0E8849-44B8-1717-CBD5-730CA6C2874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7FA916A-1A49-93E6-3B42-7BE93505600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200FEE6-8321-45D5-BA41-DFB24E0CBC4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BADF545-1442-EED6-B47D-F41C36F85515}"/>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 Not ideal when:</a:t>
            </a:r>
          </a:p>
          <a:p>
            <a:r>
              <a:rPr lang="en-US" sz="1600" kern="0" spc="-80" dirty="0">
                <a:solidFill>
                  <a:schemeClr val="accent6"/>
                </a:solidFill>
              </a:rPr>
              <a:t>Strong consistency is required</a:t>
            </a:r>
          </a:p>
          <a:p>
            <a:r>
              <a:rPr lang="en-US" sz="1600" kern="0" spc="-80" dirty="0">
                <a:solidFill>
                  <a:schemeClr val="accent6"/>
                </a:solidFill>
              </a:rPr>
              <a:t>Very low latency is required</a:t>
            </a:r>
          </a:p>
          <a:p>
            <a:r>
              <a:rPr lang="en-US" sz="1600" kern="0" spc="-80" dirty="0">
                <a:solidFill>
                  <a:schemeClr val="accent6"/>
                </a:solidFill>
              </a:rPr>
              <a:t>Regulatory compliance requires central auditability</a:t>
            </a:r>
          </a:p>
          <a:p>
            <a:endParaRPr lang="en-US" sz="1600" kern="0" spc="-80" dirty="0">
              <a:solidFill>
                <a:schemeClr val="accent6"/>
              </a:solidFill>
            </a:endParaRPr>
          </a:p>
          <a:p>
            <a:r>
              <a:rPr lang="en-US" sz="1600" kern="0" spc="-80" dirty="0">
                <a:solidFill>
                  <a:schemeClr val="accent2"/>
                </a:solidFill>
              </a:rPr>
              <a:t>🎯 Summary (In One Sentence)</a:t>
            </a:r>
          </a:p>
          <a:p>
            <a:r>
              <a:rPr lang="en-US" sz="1600" kern="0" spc="-80" dirty="0">
                <a:solidFill>
                  <a:schemeClr val="accent6"/>
                </a:solidFill>
              </a:rPr>
              <a:t>P2P networks distribute storage, compute, and control across many nodes using overlay networks, distributed hash tables, gossip, and cryptography to achieve scalability, decentralization, and resilience — without relying on a central server.</a:t>
            </a:r>
          </a:p>
          <a:p>
            <a:endParaRPr lang="en-US" sz="1600" kern="0" spc="-80" dirty="0">
              <a:solidFill>
                <a:schemeClr val="accent6"/>
              </a:solidFill>
            </a:endParaRPr>
          </a:p>
          <a:p>
            <a:r>
              <a:rPr lang="en-US" sz="2000" kern="0" spc="-80" dirty="0">
                <a:solidFill>
                  <a:schemeClr val="accent2"/>
                </a:solidFill>
              </a:rPr>
              <a:t>Overlay Networks</a:t>
            </a:r>
          </a:p>
          <a:p>
            <a:r>
              <a:rPr lang="en-US" sz="1600" kern="0" spc="-80" dirty="0">
                <a:solidFill>
                  <a:schemeClr val="accent2"/>
                </a:solidFill>
              </a:rPr>
              <a:t>🧭 1. What is an Overlay Network?</a:t>
            </a:r>
          </a:p>
          <a:p>
            <a:r>
              <a:rPr lang="en-US" sz="1600" kern="0" spc="-80" dirty="0">
                <a:solidFill>
                  <a:schemeClr val="accent6"/>
                </a:solidFill>
              </a:rPr>
              <a:t>An Overlay Network is a logical network built on top of an existing physical network (usually the Internet).</a:t>
            </a:r>
          </a:p>
          <a:p>
            <a:r>
              <a:rPr lang="en-US" sz="1600" kern="0" spc="-80" dirty="0">
                <a:solidFill>
                  <a:schemeClr val="accent6"/>
                </a:solidFill>
              </a:rPr>
              <a:t>Nodes are connected by virtual links that correspond to paths on the underlying Internet.</a:t>
            </a:r>
          </a:p>
          <a:p>
            <a:r>
              <a:rPr lang="en-US" sz="1600" kern="0" spc="-80" dirty="0">
                <a:solidFill>
                  <a:schemeClr val="accent6"/>
                </a:solidFill>
              </a:rPr>
              <a:t>Think of it as a "network on top of a network".</a:t>
            </a:r>
          </a:p>
          <a:p>
            <a:r>
              <a:rPr lang="en-US" sz="1600" kern="0" spc="-80" dirty="0">
                <a:solidFill>
                  <a:schemeClr val="accent6"/>
                </a:solidFill>
              </a:rPr>
              <a:t>Application Layer</a:t>
            </a:r>
          </a:p>
          <a:p>
            <a:r>
              <a:rPr lang="en-US" sz="1600" kern="0" spc="-80" dirty="0">
                <a:solidFill>
                  <a:schemeClr val="accent6"/>
                </a:solidFill>
              </a:rPr>
              <a:t>   ↑</a:t>
            </a:r>
          </a:p>
          <a:p>
            <a:r>
              <a:rPr lang="en-US" sz="1600" kern="0" spc="-80" dirty="0">
                <a:solidFill>
                  <a:schemeClr val="accent6"/>
                </a:solidFill>
              </a:rPr>
              <a:t>Overlay Network (logical links between peers)</a:t>
            </a:r>
          </a:p>
          <a:p>
            <a:r>
              <a:rPr lang="en-US" sz="1600" kern="0" spc="-80" dirty="0">
                <a:solidFill>
                  <a:schemeClr val="accent6"/>
                </a:solidFill>
              </a:rPr>
              <a:t>   ↑</a:t>
            </a:r>
          </a:p>
          <a:p>
            <a:r>
              <a:rPr lang="en-US" sz="1600" kern="0" spc="-80" dirty="0">
                <a:solidFill>
                  <a:schemeClr val="accent6"/>
                </a:solidFill>
              </a:rPr>
              <a:t>Physical Network (actual IP/TCP/UDP routes)</a:t>
            </a:r>
          </a:p>
        </p:txBody>
      </p:sp>
    </p:spTree>
    <p:extLst>
      <p:ext uri="{BB962C8B-B14F-4D97-AF65-F5344CB8AC3E}">
        <p14:creationId xmlns:p14="http://schemas.microsoft.com/office/powerpoint/2010/main" val="3578862022"/>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80D13-8250-9E0E-2F20-9C1AD72B3F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0573BF-7627-F9B8-26FB-DBA50956669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71BA63-53E3-11A6-35B6-33C2151914A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471715-0E2A-4FF4-592B-E4E6A14AAC7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4B1F2C9-ECA2-7BAE-D50B-624C3ACA58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149EA5-5694-D330-8EAA-8092AFFDA6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6028E87-2588-4223-AE5C-910921B05C7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42C1A3-A6B6-C840-9EB9-BDCDD1FE56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FAE8DF-1E9C-67C3-6DFC-631B5215EEC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0B9A0A4-FAEC-B973-2C81-08C831676F7A}"/>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700" kern="0" spc="-80" dirty="0">
                <a:solidFill>
                  <a:schemeClr val="accent2"/>
                </a:solidFill>
              </a:rPr>
              <a:t>Why do we need overlays?</a:t>
            </a:r>
          </a:p>
          <a:p>
            <a:r>
              <a:rPr lang="en-US" sz="1700" kern="0" spc="-80" dirty="0">
                <a:solidFill>
                  <a:schemeClr val="accent2"/>
                </a:solidFill>
              </a:rPr>
              <a:t>Native internet routing doesn’t support:</a:t>
            </a:r>
          </a:p>
          <a:p>
            <a:r>
              <a:rPr lang="en-US" sz="1700" kern="0" spc="-80" dirty="0">
                <a:solidFill>
                  <a:schemeClr val="accent6"/>
                </a:solidFill>
              </a:rPr>
              <a:t>Efficient peer discovery</a:t>
            </a:r>
          </a:p>
          <a:p>
            <a:r>
              <a:rPr lang="en-US" sz="1700" kern="0" spc="-80" dirty="0">
                <a:solidFill>
                  <a:schemeClr val="accent6"/>
                </a:solidFill>
              </a:rPr>
              <a:t>Content-based addressing</a:t>
            </a:r>
          </a:p>
          <a:p>
            <a:r>
              <a:rPr lang="en-US" sz="1700" kern="0" spc="-80" dirty="0">
                <a:solidFill>
                  <a:schemeClr val="accent6"/>
                </a:solidFill>
              </a:rPr>
              <a:t>Distributed file lookup</a:t>
            </a:r>
          </a:p>
          <a:p>
            <a:r>
              <a:rPr lang="en-US" sz="1700" kern="0" spc="-80" dirty="0">
                <a:solidFill>
                  <a:schemeClr val="accent6"/>
                </a:solidFill>
              </a:rPr>
              <a:t>Routing based on node IDs, not IPs</a:t>
            </a:r>
          </a:p>
          <a:p>
            <a:r>
              <a:rPr lang="en-US" sz="1700" kern="0" spc="-80" dirty="0">
                <a:solidFill>
                  <a:schemeClr val="accent6"/>
                </a:solidFill>
              </a:rPr>
              <a:t>So, Overlay Networks add custom control logic above IP.</a:t>
            </a:r>
          </a:p>
          <a:p>
            <a:endParaRPr lang="en-US" sz="1700" kern="0" spc="-80" dirty="0">
              <a:solidFill>
                <a:schemeClr val="accent6"/>
              </a:solidFill>
            </a:endParaRPr>
          </a:p>
          <a:p>
            <a:r>
              <a:rPr lang="en-US" sz="1700" kern="0" spc="-80" dirty="0">
                <a:solidFill>
                  <a:schemeClr val="accent2"/>
                </a:solidFill>
              </a:rPr>
              <a:t>🧱 2. Fundamental Components of Overlay Networks</a:t>
            </a: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r>
              <a:rPr lang="en-US" sz="1700" kern="0" spc="-80" dirty="0">
                <a:solidFill>
                  <a:schemeClr val="accent6"/>
                </a:solidFill>
              </a:rPr>
              <a:t>Overlay networks define how nodes see each other, not how the Internet actually wires them.</a:t>
            </a:r>
          </a:p>
        </p:txBody>
      </p:sp>
      <p:pic>
        <p:nvPicPr>
          <p:cNvPr id="13" name="Picture 12" descr="A screen shot of a table&#10;&#10;AI-generated content may be incorrect.">
            <a:extLst>
              <a:ext uri="{FF2B5EF4-FFF2-40B4-BE49-F238E27FC236}">
                <a16:creationId xmlns:a16="http://schemas.microsoft.com/office/drawing/2014/main" id="{A5E81BA6-B65D-433E-E77E-8CB27D3ED28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600" y="3429000"/>
            <a:ext cx="8915399" cy="1988909"/>
          </a:xfrm>
          <a:prstGeom prst="rect">
            <a:avLst/>
          </a:prstGeom>
        </p:spPr>
      </p:pic>
    </p:spTree>
    <p:extLst>
      <p:ext uri="{BB962C8B-B14F-4D97-AF65-F5344CB8AC3E}">
        <p14:creationId xmlns:p14="http://schemas.microsoft.com/office/powerpoint/2010/main" val="3612650932"/>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CEAD7-4D8D-53A3-5941-CCC9C662EE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10B9FA-A752-9D8E-5C0A-114933BC65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EAA9D6-84BC-23F8-1A77-28204D46DC5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4E1313-A807-4BA4-78F9-F1005E7D58E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898D783-27E5-8303-340F-EA343CC0544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CED477-55ED-3307-B5CA-C8C997B03A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5CE033E-7170-C3D8-CBE3-8CC9F5C9EC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5E693C-B8AF-4C1C-8F3C-B6B83B9C8BF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A5DDAF-9BB5-CD95-513F-0D860B9DF85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EC600F7-D5F3-79C7-AFDB-BF345EE988CE}"/>
              </a:ext>
            </a:extLst>
          </p:cNvPr>
          <p:cNvSpPr txBox="1">
            <a:spLocks/>
          </p:cNvSpPr>
          <p:nvPr/>
        </p:nvSpPr>
        <p:spPr>
          <a:xfrm>
            <a:off x="228600" y="762000"/>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700" kern="0" spc="-80" dirty="0">
                <a:solidFill>
                  <a:schemeClr val="accent2"/>
                </a:solidFill>
              </a:rPr>
              <a:t>🧱 3. Overlay vs Underlay (Physical Network)</a:t>
            </a:r>
          </a:p>
          <a:p>
            <a:r>
              <a:rPr lang="en-US" sz="1700" kern="0" spc="-80" dirty="0">
                <a:solidFill>
                  <a:schemeClr val="accent2"/>
                </a:solidFill>
              </a:rPr>
              <a:t>Feature	                Underlay (IP Network)	    Overlay</a:t>
            </a:r>
          </a:p>
          <a:p>
            <a:r>
              <a:rPr lang="en-US" sz="1700" kern="0" spc="-80" dirty="0">
                <a:solidFill>
                  <a:schemeClr val="accent6"/>
                </a:solidFill>
              </a:rPr>
              <a:t>Purpose	                Deliver packets physically	    Add routing/search/application logic</a:t>
            </a:r>
          </a:p>
          <a:p>
            <a:r>
              <a:rPr lang="en-US" sz="1700" kern="0" spc="-80" dirty="0">
                <a:solidFill>
                  <a:schemeClr val="accent6"/>
                </a:solidFill>
              </a:rPr>
              <a:t>Routing Key	IP addresses	                    Node IDs, hashes, metadata</a:t>
            </a:r>
          </a:p>
          <a:p>
            <a:r>
              <a:rPr lang="en-US" sz="1700" kern="0" spc="-80" dirty="0">
                <a:solidFill>
                  <a:schemeClr val="accent6"/>
                </a:solidFill>
              </a:rPr>
              <a:t>Maintained By	ISPs / Network layer	    Application layer</a:t>
            </a:r>
          </a:p>
          <a:p>
            <a:r>
              <a:rPr lang="en-US" sz="1700" kern="0" spc="-80" dirty="0">
                <a:solidFill>
                  <a:schemeClr val="accent6"/>
                </a:solidFill>
              </a:rPr>
              <a:t>Structure	Fixed	                                    Dynamic and adaptive</a:t>
            </a:r>
          </a:p>
          <a:p>
            <a:r>
              <a:rPr lang="en-US" sz="1700" kern="0" spc="-80" dirty="0">
                <a:solidFill>
                  <a:schemeClr val="accent6"/>
                </a:solidFill>
              </a:rPr>
              <a:t>Failure Handling	IP rerouting	                    Overlay-specific algorithms</a:t>
            </a:r>
          </a:p>
          <a:p>
            <a:r>
              <a:rPr lang="en-US" sz="1700" kern="0" spc="-80" dirty="0">
                <a:solidFill>
                  <a:schemeClr val="accent6"/>
                </a:solidFill>
              </a:rPr>
              <a:t>Overlay networks provide flexibility without changing the internet.</a:t>
            </a:r>
          </a:p>
          <a:p>
            <a:endParaRPr lang="en-US" sz="1700" kern="0" spc="-80" dirty="0">
              <a:solidFill>
                <a:schemeClr val="accent6"/>
              </a:solidFill>
            </a:endParaRPr>
          </a:p>
          <a:p>
            <a:r>
              <a:rPr lang="en-US" sz="1700" kern="0" spc="-80" dirty="0">
                <a:solidFill>
                  <a:schemeClr val="accent2"/>
                </a:solidFill>
              </a:rPr>
              <a:t>🧭 4. Types of Overlay Networks</a:t>
            </a:r>
          </a:p>
          <a:p>
            <a:r>
              <a:rPr lang="en-US" sz="1700" kern="0" spc="-80" dirty="0">
                <a:solidFill>
                  <a:schemeClr val="accent2"/>
                </a:solidFill>
              </a:rPr>
              <a:t>1. Unstructured Overlays</a:t>
            </a:r>
          </a:p>
          <a:p>
            <a:r>
              <a:rPr lang="en-US" sz="1700" kern="0" spc="-80" dirty="0">
                <a:solidFill>
                  <a:schemeClr val="accent6"/>
                </a:solidFill>
              </a:rPr>
              <a:t>Nodes connect arbitrarily.</a:t>
            </a:r>
          </a:p>
          <a:p>
            <a:r>
              <a:rPr lang="en-US" sz="1700" kern="0" spc="-80" dirty="0">
                <a:solidFill>
                  <a:schemeClr val="accent2"/>
                </a:solidFill>
              </a:rPr>
              <a:t>Examples: </a:t>
            </a:r>
            <a:r>
              <a:rPr lang="en-US" sz="1700" kern="0" spc="-80" dirty="0">
                <a:solidFill>
                  <a:schemeClr val="accent6"/>
                </a:solidFill>
              </a:rPr>
              <a:t>Gnutella, </a:t>
            </a:r>
            <a:r>
              <a:rPr lang="en-US" sz="1700" kern="0" spc="-80" dirty="0" err="1">
                <a:solidFill>
                  <a:schemeClr val="accent6"/>
                </a:solidFill>
              </a:rPr>
              <a:t>KaZaA</a:t>
            </a:r>
            <a:r>
              <a:rPr lang="en-US" sz="1700" kern="0" spc="-80" dirty="0">
                <a:solidFill>
                  <a:schemeClr val="accent6"/>
                </a:solidFill>
              </a:rPr>
              <a:t> early networks</a:t>
            </a:r>
          </a:p>
          <a:p>
            <a:r>
              <a:rPr lang="en-US" sz="1700" kern="0" spc="-80" dirty="0">
                <a:solidFill>
                  <a:schemeClr val="accent6"/>
                </a:solidFill>
              </a:rPr>
              <a:t>Search = Flooding</a:t>
            </a:r>
          </a:p>
          <a:p>
            <a:r>
              <a:rPr lang="en-US" sz="1700" kern="0" spc="-80" dirty="0">
                <a:solidFill>
                  <a:schemeClr val="accent6"/>
                </a:solidFill>
              </a:rPr>
              <a:t>Fast join/leave</a:t>
            </a:r>
          </a:p>
          <a:p>
            <a:r>
              <a:rPr lang="en-US" sz="1700" kern="0" spc="-80" dirty="0">
                <a:solidFill>
                  <a:schemeClr val="accent6"/>
                </a:solidFill>
              </a:rPr>
              <a:t>Poor search scalability</a:t>
            </a:r>
          </a:p>
          <a:p>
            <a:r>
              <a:rPr lang="en-US" sz="1700" kern="0" spc="-80" dirty="0">
                <a:solidFill>
                  <a:schemeClr val="accent6"/>
                </a:solidFill>
              </a:rPr>
              <a:t>Node—Node—Node—Node</a:t>
            </a:r>
          </a:p>
          <a:p>
            <a:r>
              <a:rPr lang="en-US" sz="1700" kern="0" spc="-80" dirty="0">
                <a:solidFill>
                  <a:schemeClr val="accent6"/>
                </a:solidFill>
              </a:rPr>
              <a:t>Links form random mesh</a:t>
            </a:r>
          </a:p>
        </p:txBody>
      </p:sp>
    </p:spTree>
    <p:extLst>
      <p:ext uri="{BB962C8B-B14F-4D97-AF65-F5344CB8AC3E}">
        <p14:creationId xmlns:p14="http://schemas.microsoft.com/office/powerpoint/2010/main" val="435493288"/>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559BD-14BC-E170-294A-C2FD09EB2C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9990614-BE86-E12C-6EB6-72438F7438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26A6AE-42BB-58D2-D893-0E5DAB153B6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15C4B63-CB54-715F-C5CF-531686019D6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A627BDA-201D-5392-6352-F38DD3DC4F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34B9F94-8CF6-BDAB-DA56-9F1009359D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3E9F95E-CA4F-0E16-BB15-3E5FD801A9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58DE08F-C6D1-1680-DE72-91C4E2CE92A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BC2139-3F34-428D-0A4B-E33C241F6B6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4CE22ED-9484-F5A8-E640-61CEE611DDAE}"/>
              </a:ext>
            </a:extLst>
          </p:cNvPr>
          <p:cNvSpPr txBox="1">
            <a:spLocks/>
          </p:cNvSpPr>
          <p:nvPr/>
        </p:nvSpPr>
        <p:spPr>
          <a:xfrm>
            <a:off x="228600" y="762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Overlay Networks</a:t>
            </a:r>
          </a:p>
          <a:p>
            <a:r>
              <a:rPr lang="en-US" sz="1700" kern="0" spc="-80" dirty="0">
                <a:solidFill>
                  <a:schemeClr val="accent2"/>
                </a:solidFill>
              </a:rPr>
              <a:t>🧭 4. Types of Overlay Networks</a:t>
            </a:r>
          </a:p>
          <a:p>
            <a:r>
              <a:rPr lang="en-US" sz="1700" kern="0" spc="-80" dirty="0">
                <a:solidFill>
                  <a:schemeClr val="accent2"/>
                </a:solidFill>
              </a:rPr>
              <a:t>2. Structured Overlays (Use DHTs)</a:t>
            </a:r>
          </a:p>
          <a:p>
            <a:r>
              <a:rPr lang="en-US" sz="1700" kern="0" spc="-80" dirty="0">
                <a:solidFill>
                  <a:schemeClr val="accent6"/>
                </a:solidFill>
              </a:rPr>
              <a:t>Nodes maintain structured topology → ensures predictable search.</a:t>
            </a:r>
          </a:p>
          <a:p>
            <a:r>
              <a:rPr lang="en-US" sz="1700" kern="0" spc="-80" dirty="0">
                <a:solidFill>
                  <a:schemeClr val="accent2"/>
                </a:solidFill>
              </a:rPr>
              <a:t>Examples: </a:t>
            </a:r>
            <a:r>
              <a:rPr lang="en-US" sz="1700" kern="0" spc="-80" dirty="0">
                <a:solidFill>
                  <a:schemeClr val="accent6"/>
                </a:solidFill>
              </a:rPr>
              <a:t>Chord, </a:t>
            </a:r>
            <a:r>
              <a:rPr lang="en-US" sz="1700" kern="0" spc="-80" dirty="0" err="1">
                <a:solidFill>
                  <a:schemeClr val="accent6"/>
                </a:solidFill>
              </a:rPr>
              <a:t>Kademlia</a:t>
            </a:r>
            <a:r>
              <a:rPr lang="en-US" sz="1700" kern="0" spc="-80" dirty="0">
                <a:solidFill>
                  <a:schemeClr val="accent6"/>
                </a:solidFill>
              </a:rPr>
              <a:t>, Pastry, CAN, Tapestry</a:t>
            </a:r>
          </a:p>
          <a:p>
            <a:r>
              <a:rPr lang="en-US" sz="1700" kern="0" spc="-80" dirty="0">
                <a:solidFill>
                  <a:schemeClr val="accent6"/>
                </a:solidFill>
              </a:rPr>
              <a:t>Data stored based on hash(key) → mapped to specific node ID</a:t>
            </a:r>
          </a:p>
          <a:p>
            <a:r>
              <a:rPr lang="en-US" sz="1700" kern="0" spc="-80" dirty="0">
                <a:solidFill>
                  <a:schemeClr val="accent6"/>
                </a:solidFill>
              </a:rPr>
              <a:t>Search = O(log n) hops</a:t>
            </a:r>
          </a:p>
          <a:p>
            <a:r>
              <a:rPr lang="en-US" sz="1700" kern="0" spc="-80" dirty="0">
                <a:solidFill>
                  <a:schemeClr val="accent2"/>
                </a:solidFill>
              </a:rPr>
              <a:t>3. Hybrid Overlays</a:t>
            </a:r>
          </a:p>
          <a:p>
            <a:r>
              <a:rPr lang="en-US" sz="1700" kern="0" spc="-80" dirty="0">
                <a:solidFill>
                  <a:schemeClr val="accent6"/>
                </a:solidFill>
              </a:rPr>
              <a:t>Combination of central coordination + decentralization.</a:t>
            </a:r>
          </a:p>
          <a:p>
            <a:r>
              <a:rPr lang="en-US" sz="1700" kern="0" spc="-80" dirty="0">
                <a:solidFill>
                  <a:schemeClr val="accent2"/>
                </a:solidFill>
              </a:rPr>
              <a:t>Examples: </a:t>
            </a:r>
            <a:r>
              <a:rPr lang="en-US" sz="1700" kern="0" spc="-80" dirty="0">
                <a:solidFill>
                  <a:schemeClr val="accent6"/>
                </a:solidFill>
              </a:rPr>
              <a:t>BitTorrent Trackers, Skype </a:t>
            </a:r>
            <a:r>
              <a:rPr lang="en-US" sz="1700" kern="0" spc="-80" dirty="0" err="1">
                <a:solidFill>
                  <a:schemeClr val="accent6"/>
                </a:solidFill>
              </a:rPr>
              <a:t>Supernodes</a:t>
            </a:r>
            <a:endParaRPr lang="en-US" sz="1700" kern="0" spc="-80" dirty="0">
              <a:solidFill>
                <a:schemeClr val="accent6"/>
              </a:solidFill>
            </a:endParaRPr>
          </a:p>
          <a:p>
            <a:r>
              <a:rPr lang="en-US" sz="1700" kern="0" spc="-80" dirty="0">
                <a:solidFill>
                  <a:schemeClr val="accent6"/>
                </a:solidFill>
              </a:rPr>
              <a:t>Faster peer discovery</a:t>
            </a:r>
          </a:p>
          <a:p>
            <a:r>
              <a:rPr lang="en-US" sz="1700" kern="0" spc="-80" dirty="0">
                <a:solidFill>
                  <a:schemeClr val="accent6"/>
                </a:solidFill>
              </a:rPr>
              <a:t>But introduces partial central dependency</a:t>
            </a:r>
          </a:p>
          <a:p>
            <a:endParaRPr lang="en-US" sz="1700" kern="0" spc="-80" dirty="0">
              <a:solidFill>
                <a:schemeClr val="accent6"/>
              </a:solidFill>
            </a:endParaRPr>
          </a:p>
          <a:p>
            <a:r>
              <a:rPr lang="en-US" sz="1700" kern="0" spc="-80" dirty="0">
                <a:solidFill>
                  <a:schemeClr val="accent2"/>
                </a:solidFill>
              </a:rPr>
              <a:t>🧩 5. Overlay Topology Designs</a:t>
            </a:r>
          </a:p>
          <a:p>
            <a:r>
              <a:rPr lang="en-US" sz="1700" kern="0" spc="-80" dirty="0">
                <a:solidFill>
                  <a:schemeClr val="accent2"/>
                </a:solidFill>
              </a:rPr>
              <a:t>Topology	         Used In	                      Key Idea</a:t>
            </a:r>
          </a:p>
          <a:p>
            <a:r>
              <a:rPr lang="en-US" sz="1700" kern="0" spc="-80" dirty="0">
                <a:solidFill>
                  <a:schemeClr val="accent6"/>
                </a:solidFill>
              </a:rPr>
              <a:t>Ring	                         Chord	                      Nodes arranged in modulo ID space</a:t>
            </a:r>
          </a:p>
          <a:p>
            <a:r>
              <a:rPr lang="en-US" sz="1700" kern="0" spc="-80" dirty="0">
                <a:solidFill>
                  <a:schemeClr val="accent6"/>
                </a:solidFill>
              </a:rPr>
              <a:t>XOR Metric Graph	         </a:t>
            </a:r>
            <a:r>
              <a:rPr lang="en-US" sz="1700" kern="0" spc="-80" dirty="0" err="1">
                <a:solidFill>
                  <a:schemeClr val="accent6"/>
                </a:solidFill>
              </a:rPr>
              <a:t>Kademlia</a:t>
            </a:r>
            <a:r>
              <a:rPr lang="en-US" sz="1700" kern="0" spc="-80" dirty="0">
                <a:solidFill>
                  <a:schemeClr val="accent6"/>
                </a:solidFill>
              </a:rPr>
              <a:t>, IPFS	      “Distance” = XOR of node IDs</a:t>
            </a:r>
          </a:p>
          <a:p>
            <a:r>
              <a:rPr lang="en-US" sz="1700" kern="0" spc="-80" dirty="0">
                <a:solidFill>
                  <a:schemeClr val="accent6"/>
                </a:solidFill>
              </a:rPr>
              <a:t>Tree / Prefix Routing    Pastry / Tapestry	      Route based on shared prefix</a:t>
            </a:r>
          </a:p>
          <a:p>
            <a:r>
              <a:rPr lang="en-US" sz="1700" kern="0" spc="-80" dirty="0">
                <a:solidFill>
                  <a:schemeClr val="accent6"/>
                </a:solidFill>
              </a:rPr>
              <a:t>d-Dimensional Torus    CAN	                      Map ID space to multi-d grid</a:t>
            </a:r>
          </a:p>
        </p:txBody>
      </p:sp>
    </p:spTree>
    <p:extLst>
      <p:ext uri="{BB962C8B-B14F-4D97-AF65-F5344CB8AC3E}">
        <p14:creationId xmlns:p14="http://schemas.microsoft.com/office/powerpoint/2010/main" val="2356951550"/>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5F512-4F77-297E-8392-33D0D42D09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FDD057-1580-84DB-760F-BAD89DE17E3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3BA5A6-2D6A-6F81-52A9-44DF48E309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F342EC-AEE4-6EBF-AACF-54E3548F9A0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98F579B-7E13-B16C-D73F-E14310D616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FC9409-0AF6-5CD7-1ADB-C85CAE4BB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94519E1-0743-7ABB-7A58-F8EE13CE88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5CD51F-906F-2792-DC4C-42E84A820A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C422475-3504-ABCB-42F4-23A8D8E6440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9AA0C1C-F027-00FD-9A3B-ECB2A5C9A2DA}"/>
              </a:ext>
            </a:extLst>
          </p:cNvPr>
          <p:cNvSpPr txBox="1">
            <a:spLocks/>
          </p:cNvSpPr>
          <p:nvPr/>
        </p:nvSpPr>
        <p:spPr>
          <a:xfrm>
            <a:off x="228600" y="762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Overlay Networks</a:t>
            </a:r>
          </a:p>
          <a:p>
            <a:r>
              <a:rPr lang="en-US" sz="1700" kern="0" spc="-80" dirty="0">
                <a:solidFill>
                  <a:schemeClr val="accent2"/>
                </a:solidFill>
              </a:rPr>
              <a:t>🔀 6. Routing in Overlay Networks</a:t>
            </a:r>
          </a:p>
          <a:p>
            <a:r>
              <a:rPr lang="en-US" sz="1700" kern="0" spc="-80" dirty="0">
                <a:solidFill>
                  <a:schemeClr val="accent2"/>
                </a:solidFill>
              </a:rPr>
              <a:t>Greedy Routing</a:t>
            </a:r>
          </a:p>
          <a:p>
            <a:r>
              <a:rPr lang="en-US" sz="1700" kern="0" spc="-80" dirty="0">
                <a:solidFill>
                  <a:schemeClr val="accent6"/>
                </a:solidFill>
              </a:rPr>
              <a:t>Forward to neighbor closer to destination (using overlay distance metric).</a:t>
            </a:r>
          </a:p>
          <a:p>
            <a:r>
              <a:rPr lang="en-US" sz="1700" kern="0" spc="-80" dirty="0">
                <a:solidFill>
                  <a:schemeClr val="accent2"/>
                </a:solidFill>
              </a:rPr>
              <a:t>Used in: </a:t>
            </a:r>
            <a:r>
              <a:rPr lang="en-US" sz="1700" kern="0" spc="-80" dirty="0" err="1">
                <a:solidFill>
                  <a:schemeClr val="accent6"/>
                </a:solidFill>
              </a:rPr>
              <a:t>Kademlia</a:t>
            </a:r>
            <a:r>
              <a:rPr lang="en-US" sz="1700" kern="0" spc="-80" dirty="0">
                <a:solidFill>
                  <a:schemeClr val="accent6"/>
                </a:solidFill>
              </a:rPr>
              <a:t> XOR routing</a:t>
            </a:r>
          </a:p>
          <a:p>
            <a:r>
              <a:rPr lang="en-US" sz="1700" kern="0" spc="-80" dirty="0">
                <a:solidFill>
                  <a:schemeClr val="accent2"/>
                </a:solidFill>
              </a:rPr>
              <a:t>Consistent Hashing</a:t>
            </a:r>
          </a:p>
          <a:p>
            <a:r>
              <a:rPr lang="en-US" sz="1700" kern="0" spc="-80" dirty="0">
                <a:solidFill>
                  <a:schemeClr val="accent6"/>
                </a:solidFill>
              </a:rPr>
              <a:t>Maps keys + nodes into the same ID space.</a:t>
            </a:r>
          </a:p>
          <a:p>
            <a:r>
              <a:rPr lang="en-US" sz="1700" kern="0" spc="-80" dirty="0">
                <a:solidFill>
                  <a:schemeClr val="accent2"/>
                </a:solidFill>
              </a:rPr>
              <a:t>Used in: </a:t>
            </a:r>
            <a:r>
              <a:rPr lang="en-US" sz="1700" kern="0" spc="-80" dirty="0">
                <a:solidFill>
                  <a:schemeClr val="accent6"/>
                </a:solidFill>
              </a:rPr>
              <a:t>Chord</a:t>
            </a:r>
          </a:p>
          <a:p>
            <a:r>
              <a:rPr lang="en-US" sz="1700" kern="0" spc="-80" dirty="0">
                <a:solidFill>
                  <a:schemeClr val="accent2"/>
                </a:solidFill>
              </a:rPr>
              <a:t>Example:</a:t>
            </a:r>
          </a:p>
          <a:p>
            <a:r>
              <a:rPr lang="en-US" sz="1700" kern="0" spc="-80" dirty="0" err="1">
                <a:solidFill>
                  <a:schemeClr val="accent6"/>
                </a:solidFill>
              </a:rPr>
              <a:t>NodeID</a:t>
            </a:r>
            <a:r>
              <a:rPr lang="en-US" sz="1700" kern="0" spc="-80" dirty="0">
                <a:solidFill>
                  <a:schemeClr val="accent6"/>
                </a:solidFill>
              </a:rPr>
              <a:t> = Hash(IP + Port)</a:t>
            </a:r>
          </a:p>
          <a:p>
            <a:r>
              <a:rPr lang="en-US" sz="1700" kern="0" spc="-80" dirty="0" err="1">
                <a:solidFill>
                  <a:schemeClr val="accent6"/>
                </a:solidFill>
              </a:rPr>
              <a:t>KeyID</a:t>
            </a:r>
            <a:r>
              <a:rPr lang="en-US" sz="1700" kern="0" spc="-80" dirty="0">
                <a:solidFill>
                  <a:schemeClr val="accent6"/>
                </a:solidFill>
              </a:rPr>
              <a:t> = Hash(Content)</a:t>
            </a:r>
          </a:p>
          <a:p>
            <a:r>
              <a:rPr lang="en-US" sz="1700" kern="0" spc="-80" dirty="0">
                <a:solidFill>
                  <a:schemeClr val="accent6"/>
                </a:solidFill>
              </a:rPr>
              <a:t>Store Key at Node with closest </a:t>
            </a:r>
            <a:r>
              <a:rPr lang="en-US" sz="1700" kern="0" spc="-80" dirty="0" err="1">
                <a:solidFill>
                  <a:schemeClr val="accent6"/>
                </a:solidFill>
              </a:rPr>
              <a:t>NodeID</a:t>
            </a:r>
            <a:r>
              <a:rPr lang="en-US" sz="1700" kern="0" spc="-80" dirty="0">
                <a:solidFill>
                  <a:schemeClr val="accent6"/>
                </a:solidFill>
              </a:rPr>
              <a:t> ≥ </a:t>
            </a:r>
            <a:r>
              <a:rPr lang="en-US" sz="1700" kern="0" spc="-80" dirty="0" err="1">
                <a:solidFill>
                  <a:schemeClr val="accent6"/>
                </a:solidFill>
              </a:rPr>
              <a:t>KeyID</a:t>
            </a:r>
            <a:endParaRPr lang="en-US" sz="1700" kern="0" spc="-80" dirty="0">
              <a:solidFill>
                <a:schemeClr val="accent6"/>
              </a:solidFill>
            </a:endParaRPr>
          </a:p>
          <a:p>
            <a:endParaRPr lang="en-US" sz="1700" kern="0" spc="-80" dirty="0">
              <a:solidFill>
                <a:schemeClr val="accent6"/>
              </a:solidFill>
            </a:endParaRPr>
          </a:p>
          <a:p>
            <a:r>
              <a:rPr lang="en-US" sz="1700" kern="0" spc="-80" dirty="0">
                <a:solidFill>
                  <a:schemeClr val="accent2"/>
                </a:solidFill>
              </a:rPr>
              <a:t>Routing Table Maintenance</a:t>
            </a:r>
          </a:p>
          <a:p>
            <a:r>
              <a:rPr lang="en-US" sz="1700" kern="0" spc="-80" dirty="0">
                <a:solidFill>
                  <a:schemeClr val="accent2"/>
                </a:solidFill>
              </a:rPr>
              <a:t>Nodes periodically:</a:t>
            </a:r>
          </a:p>
          <a:p>
            <a:r>
              <a:rPr lang="en-US" sz="1700" kern="0" spc="-80" dirty="0">
                <a:solidFill>
                  <a:schemeClr val="accent6"/>
                </a:solidFill>
              </a:rPr>
              <a:t>Refresh buckets / finger tables</a:t>
            </a:r>
          </a:p>
          <a:p>
            <a:r>
              <a:rPr lang="en-US" sz="1700" kern="0" spc="-80" dirty="0">
                <a:solidFill>
                  <a:schemeClr val="accent6"/>
                </a:solidFill>
              </a:rPr>
              <a:t>Remove dead peers</a:t>
            </a:r>
          </a:p>
          <a:p>
            <a:r>
              <a:rPr lang="en-US" sz="1700" kern="0" spc="-80" dirty="0">
                <a:solidFill>
                  <a:schemeClr val="accent6"/>
                </a:solidFill>
              </a:rPr>
              <a:t>Add new peers discovered</a:t>
            </a:r>
          </a:p>
          <a:p>
            <a:endParaRPr lang="en-US" sz="1700" kern="0" spc="-80" dirty="0">
              <a:solidFill>
                <a:schemeClr val="accent6"/>
              </a:solidFill>
            </a:endParaRPr>
          </a:p>
        </p:txBody>
      </p:sp>
    </p:spTree>
    <p:extLst>
      <p:ext uri="{BB962C8B-B14F-4D97-AF65-F5344CB8AC3E}">
        <p14:creationId xmlns:p14="http://schemas.microsoft.com/office/powerpoint/2010/main" val="3142958567"/>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75240-9EB3-1DC3-5B3E-8A2C1830AE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0203FB0-125E-6CDA-8CEA-C559D0AFF2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E6C48F0-D64E-B18A-FF69-45DB3C229D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E29A69-B2E9-F8CF-2601-5FC5CFDE5D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EB83EF-D9C4-ABF3-ECFF-015CB7AA6A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F31C2AC-6473-221A-4847-54799C1604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14D61D3-3F77-3CA6-7E23-B75DD81011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661C0EB-B32C-B340-F531-B45ACFE1C3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D4059F-1ABB-F093-8331-6EFF6768AF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2C8385-A296-54FA-84BB-6273683FD45C}"/>
              </a:ext>
            </a:extLst>
          </p:cNvPr>
          <p:cNvSpPr txBox="1">
            <a:spLocks/>
          </p:cNvSpPr>
          <p:nvPr/>
        </p:nvSpPr>
        <p:spPr>
          <a:xfrm>
            <a:off x="228600" y="762000"/>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450" kern="0" spc="-80" dirty="0">
                <a:solidFill>
                  <a:schemeClr val="accent2"/>
                </a:solidFill>
              </a:rPr>
              <a:t>🗂️ 7. Distributed Hash Table (DHT) as Overlay Networks</a:t>
            </a:r>
          </a:p>
          <a:p>
            <a:r>
              <a:rPr lang="en-US" sz="1450" kern="0" spc="-80" dirty="0">
                <a:solidFill>
                  <a:schemeClr val="accent2"/>
                </a:solidFill>
              </a:rPr>
              <a:t>DHT	        Core Idea	                         Routing Cost         Used In</a:t>
            </a:r>
          </a:p>
          <a:p>
            <a:r>
              <a:rPr lang="en-US" sz="1450" kern="0" spc="-80" dirty="0">
                <a:solidFill>
                  <a:schemeClr val="accent6"/>
                </a:solidFill>
              </a:rPr>
              <a:t>Chord	        Ring with finger table	         O(log n)	        Academic, early P2P</a:t>
            </a:r>
          </a:p>
          <a:p>
            <a:r>
              <a:rPr lang="en-US" sz="1450" kern="0" spc="-80" dirty="0" err="1">
                <a:solidFill>
                  <a:schemeClr val="accent6"/>
                </a:solidFill>
              </a:rPr>
              <a:t>Kademlia</a:t>
            </a:r>
            <a:r>
              <a:rPr lang="en-US" sz="1450" kern="0" spc="-80" dirty="0">
                <a:solidFill>
                  <a:schemeClr val="accent6"/>
                </a:solidFill>
              </a:rPr>
              <a:t>        XOR metric space	         O(log n)	        BitTorrent, Ethereum, IPFS</a:t>
            </a:r>
          </a:p>
          <a:p>
            <a:r>
              <a:rPr lang="en-US" sz="1450" kern="0" spc="-80" dirty="0">
                <a:solidFill>
                  <a:schemeClr val="accent6"/>
                </a:solidFill>
              </a:rPr>
              <a:t>Pastry	         Prefix-based routing	         O(log n)	        PAST storage</a:t>
            </a:r>
          </a:p>
          <a:p>
            <a:r>
              <a:rPr lang="en-US" sz="1450" kern="0" spc="-80" dirty="0">
                <a:solidFill>
                  <a:schemeClr val="accent6"/>
                </a:solidFill>
              </a:rPr>
              <a:t>CAN	         Coordinates in d-d space    O(n^(1/d))	        Research</a:t>
            </a:r>
          </a:p>
          <a:p>
            <a:endParaRPr lang="en-US" sz="1450" kern="0" spc="-80" dirty="0">
              <a:solidFill>
                <a:schemeClr val="accent6"/>
              </a:solidFill>
            </a:endParaRPr>
          </a:p>
          <a:p>
            <a:r>
              <a:rPr lang="en-US" sz="1450" kern="0" spc="-80" dirty="0">
                <a:solidFill>
                  <a:schemeClr val="accent2"/>
                </a:solidFill>
              </a:rPr>
              <a:t>🔍 8. Overlay Lookup Example (</a:t>
            </a:r>
            <a:r>
              <a:rPr lang="en-US" sz="1450" kern="0" spc="-80" dirty="0" err="1">
                <a:solidFill>
                  <a:schemeClr val="accent2"/>
                </a:solidFill>
              </a:rPr>
              <a:t>Kademlia</a:t>
            </a:r>
            <a:r>
              <a:rPr lang="en-US" sz="1450" kern="0" spc="-80" dirty="0">
                <a:solidFill>
                  <a:schemeClr val="accent2"/>
                </a:solidFill>
              </a:rPr>
              <a:t>)</a:t>
            </a:r>
          </a:p>
          <a:p>
            <a:r>
              <a:rPr lang="en-US" sz="1450" kern="0" spc="-80" dirty="0">
                <a:solidFill>
                  <a:schemeClr val="accent6"/>
                </a:solidFill>
              </a:rPr>
              <a:t>Want to find node responsible for key K.</a:t>
            </a:r>
          </a:p>
          <a:p>
            <a:r>
              <a:rPr lang="en-US" sz="1450" kern="0" spc="-80" dirty="0">
                <a:solidFill>
                  <a:schemeClr val="accent6"/>
                </a:solidFill>
              </a:rPr>
              <a:t>Compute XOR(</a:t>
            </a:r>
            <a:r>
              <a:rPr lang="en-US" sz="1450" kern="0" spc="-80" dirty="0" err="1">
                <a:solidFill>
                  <a:schemeClr val="accent6"/>
                </a:solidFill>
              </a:rPr>
              <a:t>NodeID</a:t>
            </a:r>
            <a:r>
              <a:rPr lang="en-US" sz="1450" kern="0" spc="-80" dirty="0">
                <a:solidFill>
                  <a:schemeClr val="accent6"/>
                </a:solidFill>
              </a:rPr>
              <a:t>, K) for neighbors.</a:t>
            </a:r>
          </a:p>
          <a:p>
            <a:r>
              <a:rPr lang="en-US" sz="1450" kern="0" spc="-80" dirty="0">
                <a:solidFill>
                  <a:schemeClr val="accent6"/>
                </a:solidFill>
              </a:rPr>
              <a:t>Forward query to node with smallest XOR value.</a:t>
            </a:r>
          </a:p>
          <a:p>
            <a:r>
              <a:rPr lang="en-US" sz="1450" kern="0" spc="-80" dirty="0">
                <a:solidFill>
                  <a:schemeClr val="accent6"/>
                </a:solidFill>
              </a:rPr>
              <a:t>Repeat until convergence.</a:t>
            </a:r>
          </a:p>
          <a:p>
            <a:r>
              <a:rPr lang="en-US" sz="1450" kern="0" spc="-80" dirty="0">
                <a:solidFill>
                  <a:schemeClr val="accent6"/>
                </a:solidFill>
              </a:rPr>
              <a:t>This makes lookups extremely scalable.</a:t>
            </a:r>
          </a:p>
          <a:p>
            <a:endParaRPr lang="en-US" sz="1450" kern="0" spc="-80" dirty="0">
              <a:solidFill>
                <a:schemeClr val="accent6"/>
              </a:solidFill>
            </a:endParaRPr>
          </a:p>
          <a:p>
            <a:r>
              <a:rPr lang="en-US" sz="1450" kern="0" spc="-80" dirty="0">
                <a:solidFill>
                  <a:schemeClr val="accent2"/>
                </a:solidFill>
              </a:rPr>
              <a:t>🌐 9. Real-World Overlay Networks</a:t>
            </a:r>
          </a:p>
          <a:p>
            <a:r>
              <a:rPr lang="en-US" sz="1450" kern="0" spc="-80" dirty="0">
                <a:solidFill>
                  <a:schemeClr val="accent2"/>
                </a:solidFill>
              </a:rPr>
              <a:t>System	                                           Overlay Role</a:t>
            </a:r>
          </a:p>
          <a:p>
            <a:r>
              <a:rPr lang="en-US" sz="1450" kern="0" spc="-80" dirty="0">
                <a:solidFill>
                  <a:schemeClr val="accent6"/>
                </a:solidFill>
              </a:rPr>
              <a:t>BitTorrent DHT	                        Peer discovery for torrents</a:t>
            </a:r>
          </a:p>
          <a:p>
            <a:r>
              <a:rPr lang="en-US" sz="1450" kern="0" spc="-80" dirty="0">
                <a:solidFill>
                  <a:schemeClr val="accent6"/>
                </a:solidFill>
              </a:rPr>
              <a:t>Ethereum / Bitcoin	                        Gossip &amp; block propagation</a:t>
            </a:r>
          </a:p>
          <a:p>
            <a:r>
              <a:rPr lang="en-US" sz="1450" kern="0" spc="-80" dirty="0">
                <a:solidFill>
                  <a:schemeClr val="accent6"/>
                </a:solidFill>
              </a:rPr>
              <a:t>IPFS / libp2p	                        Content addressing using </a:t>
            </a:r>
            <a:r>
              <a:rPr lang="en-US" sz="1450" kern="0" spc="-80" dirty="0" err="1">
                <a:solidFill>
                  <a:schemeClr val="accent6"/>
                </a:solidFill>
              </a:rPr>
              <a:t>Kademlia</a:t>
            </a:r>
            <a:r>
              <a:rPr lang="en-US" sz="1450" kern="0" spc="-80" dirty="0">
                <a:solidFill>
                  <a:schemeClr val="accent6"/>
                </a:solidFill>
              </a:rPr>
              <a:t> overlay</a:t>
            </a:r>
          </a:p>
          <a:p>
            <a:r>
              <a:rPr lang="en-US" sz="1450" kern="0" spc="-80" dirty="0">
                <a:solidFill>
                  <a:schemeClr val="accent6"/>
                </a:solidFill>
              </a:rPr>
              <a:t>WebRTC Mesh	                        Overlay routing media between peers</a:t>
            </a:r>
          </a:p>
          <a:p>
            <a:r>
              <a:rPr lang="en-US" sz="1450" kern="0" spc="-80" dirty="0">
                <a:solidFill>
                  <a:schemeClr val="accent6"/>
                </a:solidFill>
              </a:rPr>
              <a:t>Tor	                                           Onion-routing overlay for anonymity</a:t>
            </a:r>
          </a:p>
          <a:p>
            <a:r>
              <a:rPr lang="en-US" sz="1450" kern="0" spc="-80" dirty="0">
                <a:solidFill>
                  <a:schemeClr val="accent6"/>
                </a:solidFill>
              </a:rPr>
              <a:t>CDN Peer Caches (P2P CDN)             Mesh overlays for offloading traffic</a:t>
            </a:r>
          </a:p>
        </p:txBody>
      </p:sp>
    </p:spTree>
    <p:extLst>
      <p:ext uri="{BB962C8B-B14F-4D97-AF65-F5344CB8AC3E}">
        <p14:creationId xmlns:p14="http://schemas.microsoft.com/office/powerpoint/2010/main" val="781054504"/>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F0C23-DCDC-F77A-5B48-CF02677901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D0AF1A1-580D-69FD-883A-1CA2586D20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2C5562-3232-28E9-5A21-E7C8E4B3CA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42B483C-37EC-474D-B8C4-E0BA31B19FC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EE768E1-BCC6-0DB6-39DD-C5E1B2ADB4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C74E9C-E378-5A68-BEE2-EDD8E39A0B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2DC89B2-B14E-F30B-8818-C5B133C9468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796CCB9-5B19-F717-7E98-C74018B073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CB5FAF-55A0-09A8-4E3C-E35BC554554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F797E99-78EA-D133-96E8-6CF67E94B563}"/>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600" kern="0" spc="-80" dirty="0">
                <a:solidFill>
                  <a:schemeClr val="accent2"/>
                </a:solidFill>
              </a:rPr>
              <a:t>🔒 10. Security &amp; Attack Resilience</a:t>
            </a:r>
          </a:p>
          <a:p>
            <a:r>
              <a:rPr lang="en-US" sz="1600" kern="0" spc="-80" dirty="0">
                <a:solidFill>
                  <a:schemeClr val="accent2"/>
                </a:solidFill>
              </a:rPr>
              <a:t>Threat	                                                              Overlay Countermeasure</a:t>
            </a:r>
          </a:p>
          <a:p>
            <a:r>
              <a:rPr lang="en-US" sz="1600" kern="0" spc="-80" dirty="0">
                <a:solidFill>
                  <a:schemeClr val="accent6"/>
                </a:solidFill>
              </a:rPr>
              <a:t>Sybil Attack (fake nodes)	                             Identity proofs, staking</a:t>
            </a:r>
          </a:p>
          <a:p>
            <a:r>
              <a:rPr lang="en-US" sz="1600" kern="0" spc="-80" dirty="0">
                <a:solidFill>
                  <a:schemeClr val="accent6"/>
                </a:solidFill>
              </a:rPr>
              <a:t>Eclipse Attack (control routing table)	             Multiple routing paths, node rotation</a:t>
            </a:r>
          </a:p>
          <a:p>
            <a:r>
              <a:rPr lang="en-US" sz="1600" kern="0" spc="-80" dirty="0">
                <a:solidFill>
                  <a:schemeClr val="accent6"/>
                </a:solidFill>
              </a:rPr>
              <a:t>Routing Poisoning	                                              Message signing, hash verification</a:t>
            </a:r>
          </a:p>
          <a:p>
            <a:r>
              <a:rPr lang="en-US" sz="1600" kern="0" spc="-80" dirty="0">
                <a:solidFill>
                  <a:schemeClr val="accent6"/>
                </a:solidFill>
              </a:rPr>
              <a:t>Traffic Analysis	                                              Onion routing (Tor)</a:t>
            </a:r>
          </a:p>
          <a:p>
            <a:r>
              <a:rPr lang="en-US" sz="1600" kern="0" spc="-80" dirty="0">
                <a:solidFill>
                  <a:schemeClr val="accent6"/>
                </a:solidFill>
              </a:rPr>
              <a:t>Overlay networks rely heavily on public key cryptography + message signatures.</a:t>
            </a:r>
          </a:p>
          <a:p>
            <a:endParaRPr lang="en-US" sz="1600" kern="0" spc="-80" dirty="0">
              <a:solidFill>
                <a:schemeClr val="accent6"/>
              </a:solidFill>
            </a:endParaRPr>
          </a:p>
          <a:p>
            <a:r>
              <a:rPr lang="en-US" sz="1600" kern="0" spc="-80" dirty="0">
                <a:solidFill>
                  <a:schemeClr val="accent2"/>
                </a:solidFill>
              </a:rPr>
              <a:t>⚖️ 11. Performance Considerations</a:t>
            </a:r>
          </a:p>
          <a:p>
            <a:r>
              <a:rPr lang="en-US" sz="1600" kern="0" spc="-80" dirty="0">
                <a:solidFill>
                  <a:schemeClr val="accent2"/>
                </a:solidFill>
              </a:rPr>
              <a:t>Factor	                                Effect</a:t>
            </a:r>
          </a:p>
          <a:p>
            <a:r>
              <a:rPr lang="en-US" sz="1600" kern="0" spc="-80" dirty="0">
                <a:solidFill>
                  <a:schemeClr val="accent6"/>
                </a:solidFill>
              </a:rPr>
              <a:t>Topology choice	                Impacts routing efficiency</a:t>
            </a:r>
          </a:p>
          <a:p>
            <a:r>
              <a:rPr lang="en-US" sz="1600" kern="0" spc="-80" dirty="0">
                <a:solidFill>
                  <a:schemeClr val="accent6"/>
                </a:solidFill>
              </a:rPr>
              <a:t>Node churn rate	                Requires robust maintenance</a:t>
            </a:r>
          </a:p>
          <a:p>
            <a:r>
              <a:rPr lang="en-US" sz="1600" kern="0" spc="-80" dirty="0">
                <a:solidFill>
                  <a:schemeClr val="accent6"/>
                </a:solidFill>
              </a:rPr>
              <a:t>NAT Traversal needs	Affects link formation</a:t>
            </a:r>
          </a:p>
          <a:p>
            <a:r>
              <a:rPr lang="en-US" sz="1600" kern="0" spc="-80" dirty="0">
                <a:solidFill>
                  <a:schemeClr val="accent6"/>
                </a:solidFill>
              </a:rPr>
              <a:t>Data replication	                Required for reliability</a:t>
            </a:r>
          </a:p>
          <a:p>
            <a:r>
              <a:rPr lang="en-US" sz="1600" kern="0" spc="-80" dirty="0">
                <a:solidFill>
                  <a:schemeClr val="accent6"/>
                </a:solidFill>
              </a:rPr>
              <a:t>Gossip frequency	                Affects bandwidth usage</a:t>
            </a:r>
          </a:p>
          <a:p>
            <a:endParaRPr lang="en-US" sz="1600" kern="0" spc="-80" dirty="0">
              <a:solidFill>
                <a:schemeClr val="accent6"/>
              </a:solidFill>
            </a:endParaRPr>
          </a:p>
          <a:p>
            <a:r>
              <a:rPr lang="en-US" sz="1600" kern="0" spc="-80" dirty="0">
                <a:solidFill>
                  <a:schemeClr val="accent2"/>
                </a:solidFill>
              </a:rPr>
              <a:t>🧠 12. Summary (Key Understanding)</a:t>
            </a:r>
          </a:p>
          <a:p>
            <a:r>
              <a:rPr lang="en-US" sz="1600" kern="0" spc="-80" dirty="0">
                <a:solidFill>
                  <a:schemeClr val="accent6"/>
                </a:solidFill>
              </a:rPr>
              <a:t>Overlay Networks create logical peer-to-peer topologies above the physical Internet to enable scalable routing, lookup, storage, and communication behaviors that native IP networks do not </a:t>
            </a:r>
            <a:r>
              <a:rPr lang="en-US" sz="1600" kern="0" spc="-80" dirty="0" err="1">
                <a:solidFill>
                  <a:schemeClr val="accent6"/>
                </a:solidFill>
              </a:rPr>
              <a:t>provide.They</a:t>
            </a:r>
            <a:r>
              <a:rPr lang="en-US" sz="1600" kern="0" spc="-80" dirty="0">
                <a:solidFill>
                  <a:schemeClr val="accent6"/>
                </a:solidFill>
              </a:rPr>
              <a:t> define who talks to whom logically — not physically.</a:t>
            </a:r>
          </a:p>
        </p:txBody>
      </p:sp>
    </p:spTree>
    <p:extLst>
      <p:ext uri="{BB962C8B-B14F-4D97-AF65-F5344CB8AC3E}">
        <p14:creationId xmlns:p14="http://schemas.microsoft.com/office/powerpoint/2010/main" val="122227974"/>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303BF-303B-01AD-3639-A9F28B925D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03E069-7684-705B-C8A3-1E2F5D6266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00BA13-6214-4B23-CD9A-EC7FDD0BB9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FA169A2-C3F3-36D5-DD72-1D795D8348D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02DD40-369C-D42E-97E8-F6253AE683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9E3ABBB-7091-C9EC-46BA-BDFB286E47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B94FDD-5B68-C5E0-665D-D81100A2805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E4466F-065F-9CC6-A8C6-EB6EA62086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D061A3-E5F0-F767-5013-3ACA8BF624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8F503DC-F3C0-86D3-92B8-ADC6EAC28F84}"/>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What is a Distributed Hash Table?</a:t>
            </a:r>
          </a:p>
          <a:p>
            <a:r>
              <a:rPr lang="en-US" sz="1600" kern="0" spc="-80" dirty="0">
                <a:solidFill>
                  <a:schemeClr val="accent6"/>
                </a:solidFill>
              </a:rPr>
              <a:t>A Distributed Hash Table (DHT) is a decentralized data lookup system that maps keys → values across a network of nodes without any central server.</a:t>
            </a:r>
          </a:p>
          <a:p>
            <a:r>
              <a:rPr lang="en-US" sz="1600" kern="0" spc="-80" dirty="0">
                <a:solidFill>
                  <a:schemeClr val="accent2"/>
                </a:solidFill>
              </a:rPr>
              <a:t>Think of it as:</a:t>
            </a:r>
          </a:p>
          <a:p>
            <a:r>
              <a:rPr lang="en-US" sz="1600" kern="0" spc="-80" dirty="0">
                <a:solidFill>
                  <a:schemeClr val="accent6"/>
                </a:solidFill>
              </a:rPr>
              <a:t>A decentralized version of a hash table spread across many machines.</a:t>
            </a:r>
          </a:p>
          <a:p>
            <a:r>
              <a:rPr lang="en-US" sz="1600" kern="0" spc="-80" dirty="0">
                <a:solidFill>
                  <a:schemeClr val="accent2"/>
                </a:solidFill>
              </a:rPr>
              <a:t>Core Goal:</a:t>
            </a:r>
          </a:p>
          <a:p>
            <a:r>
              <a:rPr lang="en-US" sz="1600" kern="0" spc="-80" dirty="0">
                <a:solidFill>
                  <a:schemeClr val="accent6"/>
                </a:solidFill>
              </a:rPr>
              <a:t>Given a key, find the node that is responsible for storing its value — efficiently (in O(log n) hops), even if nodes join/leave continuously.</a:t>
            </a:r>
          </a:p>
          <a:p>
            <a:endParaRPr lang="en-US" sz="1600" kern="0" spc="-80" dirty="0">
              <a:solidFill>
                <a:schemeClr val="accent6"/>
              </a:solidFill>
            </a:endParaRPr>
          </a:p>
          <a:p>
            <a:r>
              <a:rPr lang="en-US" sz="1600" kern="0" spc="-80" dirty="0">
                <a:solidFill>
                  <a:schemeClr val="accent2"/>
                </a:solidFill>
              </a:rPr>
              <a:t>🎯 2. Why Do We Need DHTs?</a:t>
            </a:r>
          </a:p>
          <a:p>
            <a:r>
              <a:rPr lang="en-US" sz="1600" kern="0" spc="-80" dirty="0">
                <a:solidFill>
                  <a:schemeClr val="accent2"/>
                </a:solidFill>
              </a:rPr>
              <a:t>Traditional client-server lookup has:</a:t>
            </a:r>
          </a:p>
          <a:p>
            <a:r>
              <a:rPr lang="en-US" sz="1600" kern="0" spc="-80" dirty="0">
                <a:solidFill>
                  <a:schemeClr val="accent6"/>
                </a:solidFill>
              </a:rPr>
              <a:t>Single failure point</a:t>
            </a:r>
          </a:p>
          <a:p>
            <a:r>
              <a:rPr lang="en-US" sz="1600" kern="0" spc="-80" dirty="0">
                <a:solidFill>
                  <a:schemeClr val="accent6"/>
                </a:solidFill>
              </a:rPr>
              <a:t>Scalability limits</a:t>
            </a:r>
          </a:p>
          <a:p>
            <a:r>
              <a:rPr lang="en-US" sz="1600" kern="0" spc="-80" dirty="0">
                <a:solidFill>
                  <a:schemeClr val="accent6"/>
                </a:solidFill>
              </a:rPr>
              <a:t>Central control</a:t>
            </a:r>
          </a:p>
          <a:p>
            <a:r>
              <a:rPr lang="en-US" sz="1600" kern="0" spc="-80" dirty="0">
                <a:solidFill>
                  <a:schemeClr val="accent2"/>
                </a:solidFill>
              </a:rPr>
              <a:t>DHTs solve this by:</a:t>
            </a:r>
          </a:p>
          <a:p>
            <a:r>
              <a:rPr lang="en-US" sz="1600" kern="0" spc="-80" dirty="0">
                <a:solidFill>
                  <a:schemeClr val="accent2"/>
                </a:solidFill>
              </a:rPr>
              <a:t>Feature	                                 Benefit</a:t>
            </a:r>
          </a:p>
          <a:p>
            <a:r>
              <a:rPr lang="en-US" sz="1600" kern="0" spc="-80" dirty="0">
                <a:solidFill>
                  <a:schemeClr val="accent6"/>
                </a:solidFill>
              </a:rPr>
              <a:t>Distributed storage	No single server bottleneck</a:t>
            </a:r>
          </a:p>
          <a:p>
            <a:r>
              <a:rPr lang="en-US" sz="1600" kern="0" spc="-80" dirty="0">
                <a:solidFill>
                  <a:schemeClr val="accent6"/>
                </a:solidFill>
              </a:rPr>
              <a:t>Deterministic placement	Anyone can find where data should be</a:t>
            </a:r>
          </a:p>
          <a:p>
            <a:r>
              <a:rPr lang="en-US" sz="1600" kern="0" spc="-80" dirty="0">
                <a:solidFill>
                  <a:schemeClr val="accent6"/>
                </a:solidFill>
              </a:rPr>
              <a:t>Efficient lookup	                 O(log n) hops even in huge networks</a:t>
            </a:r>
          </a:p>
          <a:p>
            <a:r>
              <a:rPr lang="en-US" sz="1600" kern="0" spc="-80" dirty="0">
                <a:solidFill>
                  <a:schemeClr val="accent6"/>
                </a:solidFill>
              </a:rPr>
              <a:t>Fault tolerance	                 Replicate data across nodes</a:t>
            </a:r>
          </a:p>
        </p:txBody>
      </p:sp>
    </p:spTree>
    <p:extLst>
      <p:ext uri="{BB962C8B-B14F-4D97-AF65-F5344CB8AC3E}">
        <p14:creationId xmlns:p14="http://schemas.microsoft.com/office/powerpoint/2010/main" val="216259963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7C192-01C4-2C84-4C62-41177046DF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E8D53D-AC18-5E37-BE5B-10ED48D244F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641983-D61C-0C19-D9D5-39774CEE1FD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FCCB89-077D-51AE-FAA0-3F19DB8EE3C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8F6713A-1CAA-F108-47F5-C6FBB59D9A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0F4226-279F-0BB4-0B8D-EBB31F0E05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323D43-D75E-85F8-5D99-B2772870BA1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6E7BD9A-EAAC-63B1-73A0-241639B5FAD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25F741-4DCB-5D59-6117-183D66CF2F7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19B931DD-5D55-B7DA-9B24-FDDEA4902B44}"/>
              </a:ext>
            </a:extLst>
          </p:cNvPr>
          <p:cNvSpPr txBox="1">
            <a:spLocks/>
          </p:cNvSpPr>
          <p:nvPr/>
        </p:nvSpPr>
        <p:spPr>
          <a:xfrm>
            <a:off x="228600" y="762000"/>
            <a:ext cx="8624937" cy="44935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3. Key Idea: Consistent Hashing</a:t>
            </a:r>
          </a:p>
          <a:p>
            <a:r>
              <a:rPr lang="en-US" sz="1600" kern="0" spc="-80" dirty="0">
                <a:solidFill>
                  <a:schemeClr val="accent6"/>
                </a:solidFill>
              </a:rPr>
              <a:t>Both node IDs and key IDs are assigned using a hash function (e.g., SHA-1).</a:t>
            </a:r>
          </a:p>
          <a:p>
            <a:r>
              <a:rPr lang="en-US" sz="1600" kern="0" spc="-80" dirty="0" err="1">
                <a:solidFill>
                  <a:schemeClr val="accent6"/>
                </a:solidFill>
              </a:rPr>
              <a:t>NodeID</a:t>
            </a:r>
            <a:r>
              <a:rPr lang="en-US" sz="1600" kern="0" spc="-80" dirty="0">
                <a:solidFill>
                  <a:schemeClr val="accent6"/>
                </a:solidFill>
              </a:rPr>
              <a:t>  = Hash(IP + Port)</a:t>
            </a:r>
          </a:p>
          <a:p>
            <a:r>
              <a:rPr lang="en-US" sz="1600" kern="0" spc="-80" dirty="0" err="1">
                <a:solidFill>
                  <a:schemeClr val="accent6"/>
                </a:solidFill>
              </a:rPr>
              <a:t>KeyID</a:t>
            </a:r>
            <a:r>
              <a:rPr lang="en-US" sz="1600" kern="0" spc="-80" dirty="0">
                <a:solidFill>
                  <a:schemeClr val="accent6"/>
                </a:solidFill>
              </a:rPr>
              <a:t>   = Hash(</a:t>
            </a:r>
            <a:r>
              <a:rPr lang="en-US" sz="1600" kern="0" spc="-80" dirty="0" err="1">
                <a:solidFill>
                  <a:schemeClr val="accent6"/>
                </a:solidFill>
              </a:rPr>
              <a:t>KeyName</a:t>
            </a:r>
            <a:r>
              <a:rPr lang="en-US" sz="1600" kern="0" spc="-80" dirty="0">
                <a:solidFill>
                  <a:schemeClr val="accent6"/>
                </a:solidFill>
              </a:rPr>
              <a:t> or Content)</a:t>
            </a:r>
          </a:p>
          <a:p>
            <a:r>
              <a:rPr lang="en-US" sz="1600" kern="0" spc="-80" dirty="0">
                <a:solidFill>
                  <a:schemeClr val="accent6"/>
                </a:solidFill>
              </a:rPr>
              <a:t>Nodes form a structured overlay network where each key is stored at the peer "closest" to it (how closeness is measured depends on the DHT algorithm).</a:t>
            </a:r>
          </a:p>
          <a:p>
            <a:r>
              <a:rPr lang="en-US" sz="1600" kern="0" spc="-80" dirty="0">
                <a:solidFill>
                  <a:schemeClr val="accent6"/>
                </a:solidFill>
              </a:rPr>
              <a:t>This avoids reassigning many keys when nodes join/leave.</a:t>
            </a:r>
          </a:p>
          <a:p>
            <a:endParaRPr lang="en-US" sz="1600" kern="0" spc="-80" dirty="0">
              <a:solidFill>
                <a:schemeClr val="accent6"/>
              </a:solidFill>
            </a:endParaRPr>
          </a:p>
          <a:p>
            <a:r>
              <a:rPr lang="en-US" sz="1600" kern="0" spc="-80" dirty="0">
                <a:solidFill>
                  <a:schemeClr val="accent2"/>
                </a:solidFill>
              </a:rPr>
              <a:t>🧱 4. Essential Concepts in Every DHT</a:t>
            </a:r>
          </a:p>
          <a:p>
            <a:r>
              <a:rPr lang="en-US" sz="1600" kern="0" spc="-80" dirty="0">
                <a:solidFill>
                  <a:schemeClr val="accent2"/>
                </a:solidFill>
              </a:rPr>
              <a:t>Concept	                    Meaning</a:t>
            </a:r>
          </a:p>
          <a:p>
            <a:r>
              <a:rPr lang="en-US" sz="1600" kern="0" spc="-80" dirty="0">
                <a:solidFill>
                  <a:schemeClr val="accent6"/>
                </a:solidFill>
              </a:rPr>
              <a:t>Node ID	                    Unique identifier for each peer in ID space</a:t>
            </a:r>
          </a:p>
          <a:p>
            <a:r>
              <a:rPr lang="en-US" sz="1600" kern="0" spc="-80" dirty="0">
                <a:solidFill>
                  <a:schemeClr val="accent6"/>
                </a:solidFill>
              </a:rPr>
              <a:t>Key ID	                    Identifier for stored data</a:t>
            </a:r>
          </a:p>
          <a:p>
            <a:r>
              <a:rPr lang="en-US" sz="1600" kern="0" spc="-80" dirty="0">
                <a:solidFill>
                  <a:schemeClr val="accent6"/>
                </a:solidFill>
              </a:rPr>
              <a:t>Routing Table	   Stores selected neighbor nodes to forward queries</a:t>
            </a:r>
          </a:p>
          <a:p>
            <a:r>
              <a:rPr lang="en-US" sz="1600" kern="0" spc="-80" dirty="0">
                <a:solidFill>
                  <a:schemeClr val="accent6"/>
                </a:solidFill>
              </a:rPr>
              <a:t>Lookup Algorithm	   Finds the node responsible for a given Key ID</a:t>
            </a:r>
          </a:p>
          <a:p>
            <a:r>
              <a:rPr lang="en-US" sz="1600" kern="0" spc="-80" dirty="0">
                <a:solidFill>
                  <a:schemeClr val="accent6"/>
                </a:solidFill>
              </a:rPr>
              <a:t>Replication	   Store copies to survive node failures</a:t>
            </a:r>
          </a:p>
          <a:p>
            <a:r>
              <a:rPr lang="en-US" sz="1600" kern="0" spc="-80" dirty="0">
                <a:solidFill>
                  <a:schemeClr val="accent6"/>
                </a:solidFill>
              </a:rPr>
              <a:t>Churn Handling	   Mechanisms to handle nodes joining/leaving frequently</a:t>
            </a:r>
          </a:p>
          <a:p>
            <a:endParaRPr lang="en-US" sz="1600" kern="0" spc="-80" dirty="0">
              <a:solidFill>
                <a:schemeClr val="accent6"/>
              </a:solidFill>
            </a:endParaRPr>
          </a:p>
        </p:txBody>
      </p:sp>
    </p:spTree>
    <p:extLst>
      <p:ext uri="{BB962C8B-B14F-4D97-AF65-F5344CB8AC3E}">
        <p14:creationId xmlns:p14="http://schemas.microsoft.com/office/powerpoint/2010/main" val="1353441738"/>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D95C2-F33F-5DBF-C2C3-DA015C01C8E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A70FFF9-F3F3-753D-5E79-9142100406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A7339E-4E9B-1A76-B7E7-1C2023FB48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597942-64F5-B30D-BF0F-51C59AA458B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10DCB22-4A10-DBAE-DB15-61A698EB63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536EDC8-1773-87BF-8AEF-6B5D45179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7317E52-9E97-2E66-72B4-DBB2317400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A9D608-C290-F98C-69B1-D1BC77C586F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6E1F0DC-A10C-23B9-8D92-A425324BE38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39CFEC4-7CFB-2E70-F87A-868DEF92F730}"/>
              </a:ext>
            </a:extLst>
          </p:cNvPr>
          <p:cNvSpPr txBox="1">
            <a:spLocks/>
          </p:cNvSpPr>
          <p:nvPr/>
        </p:nvSpPr>
        <p:spPr>
          <a:xfrm>
            <a:off x="228600" y="762000"/>
            <a:ext cx="8624937" cy="30162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5. The DHT Lookup Problem</a:t>
            </a:r>
          </a:p>
          <a:p>
            <a:r>
              <a:rPr lang="en-US" sz="1600" kern="0" spc="-80" dirty="0">
                <a:solidFill>
                  <a:schemeClr val="accent2"/>
                </a:solidFill>
              </a:rPr>
              <a:t>Problem:</a:t>
            </a:r>
          </a:p>
          <a:p>
            <a:r>
              <a:rPr lang="en-US" sz="1600" kern="0" spc="-80" dirty="0">
                <a:solidFill>
                  <a:schemeClr val="accent6"/>
                </a:solidFill>
              </a:rPr>
              <a:t>Given a </a:t>
            </a:r>
            <a:r>
              <a:rPr lang="en-US" sz="1600" kern="0" spc="-80" dirty="0" err="1">
                <a:solidFill>
                  <a:schemeClr val="accent6"/>
                </a:solidFill>
              </a:rPr>
              <a:t>KeyID</a:t>
            </a:r>
            <a:r>
              <a:rPr lang="en-US" sz="1600" kern="0" spc="-80" dirty="0">
                <a:solidFill>
                  <a:schemeClr val="accent6"/>
                </a:solidFill>
              </a:rPr>
              <a:t>, find which node’s ID is closest to it.</a:t>
            </a:r>
          </a:p>
          <a:p>
            <a:r>
              <a:rPr lang="en-US" sz="1600" kern="0" spc="-80" dirty="0">
                <a:solidFill>
                  <a:schemeClr val="accent2"/>
                </a:solidFill>
              </a:rPr>
              <a:t>Solution Strategy:</a:t>
            </a:r>
          </a:p>
          <a:p>
            <a:r>
              <a:rPr lang="en-US" sz="1600" kern="0" spc="-80" dirty="0">
                <a:solidFill>
                  <a:schemeClr val="accent2"/>
                </a:solidFill>
              </a:rPr>
              <a:t>At each step:</a:t>
            </a:r>
          </a:p>
          <a:p>
            <a:r>
              <a:rPr lang="en-US" sz="1600" kern="0" spc="-80" dirty="0">
                <a:solidFill>
                  <a:schemeClr val="accent6"/>
                </a:solidFill>
              </a:rPr>
              <a:t>Compute distance between target </a:t>
            </a:r>
            <a:r>
              <a:rPr lang="en-US" sz="1600" kern="0" spc="-80" dirty="0" err="1">
                <a:solidFill>
                  <a:schemeClr val="accent6"/>
                </a:solidFill>
              </a:rPr>
              <a:t>KeyID</a:t>
            </a:r>
            <a:r>
              <a:rPr lang="en-US" sz="1600" kern="0" spc="-80" dirty="0">
                <a:solidFill>
                  <a:schemeClr val="accent6"/>
                </a:solidFill>
              </a:rPr>
              <a:t> and known peers.</a:t>
            </a:r>
          </a:p>
          <a:p>
            <a:r>
              <a:rPr lang="en-US" sz="1600" kern="0" spc="-80" dirty="0">
                <a:solidFill>
                  <a:schemeClr val="accent6"/>
                </a:solidFill>
              </a:rPr>
              <a:t>Forward request to peer that is closer than current.</a:t>
            </a:r>
          </a:p>
          <a:p>
            <a:r>
              <a:rPr lang="en-US" sz="1600" kern="0" spc="-80" dirty="0">
                <a:solidFill>
                  <a:schemeClr val="accent6"/>
                </a:solidFill>
              </a:rPr>
              <a:t>Continue until no closer peer exists.</a:t>
            </a:r>
          </a:p>
          <a:p>
            <a:r>
              <a:rPr lang="en-US" sz="1600" kern="0" spc="-80" dirty="0">
                <a:solidFill>
                  <a:schemeClr val="accent6"/>
                </a:solidFill>
              </a:rPr>
              <a:t>This guarantees convergence in O(log n) steps.</a:t>
            </a:r>
          </a:p>
          <a:p>
            <a:endParaRPr lang="en-US" sz="1600" kern="0" spc="-80" dirty="0">
              <a:solidFill>
                <a:schemeClr val="accent6"/>
              </a:solidFill>
            </a:endParaRPr>
          </a:p>
          <a:p>
            <a:r>
              <a:rPr lang="en-US" sz="1600" kern="0" spc="-80" dirty="0">
                <a:solidFill>
                  <a:schemeClr val="accent2"/>
                </a:solidFill>
              </a:rPr>
              <a:t>🌀 6. Major DHT Algorithms (With Routing Style)</a:t>
            </a:r>
          </a:p>
        </p:txBody>
      </p:sp>
      <p:pic>
        <p:nvPicPr>
          <p:cNvPr id="14" name="Picture 13" descr="A table with text on it&#10;&#10;AI-generated content may be incorrect.">
            <a:extLst>
              <a:ext uri="{FF2B5EF4-FFF2-40B4-BE49-F238E27FC236}">
                <a16:creationId xmlns:a16="http://schemas.microsoft.com/office/drawing/2014/main" id="{7F4890D1-7986-17E8-FF9B-8229A3C2E99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66738" y="3746360"/>
            <a:ext cx="8839199" cy="2162815"/>
          </a:xfrm>
          <a:prstGeom prst="rect">
            <a:avLst/>
          </a:prstGeom>
        </p:spPr>
      </p:pic>
    </p:spTree>
    <p:extLst>
      <p:ext uri="{BB962C8B-B14F-4D97-AF65-F5344CB8AC3E}">
        <p14:creationId xmlns:p14="http://schemas.microsoft.com/office/powerpoint/2010/main" val="806110654"/>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06581-5DF5-117B-CE29-2CE3B75DF4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24A0C9-C4EB-895D-9CCE-29E8B15B668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67965A-8D45-4784-5687-1988E76ECD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48C0D45-3367-7803-B5C5-E95773732BD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03411D2-2DFD-1DF1-8F69-C77C80A548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26FE65-A68A-0675-1254-E293B352A7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30ED4A-4898-CB83-E03A-73EBC0B9AF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DC5D47-F98E-1B39-81E6-243725150C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26D3882-EE31-471B-1FEC-7B2AC81A2A3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FE2F23E-512A-B7BD-4B17-155952BCB09B}"/>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The Most Important One: </a:t>
            </a:r>
            <a:r>
              <a:rPr lang="en-US" sz="1600" kern="0" spc="-80" dirty="0" err="1">
                <a:solidFill>
                  <a:schemeClr val="accent2"/>
                </a:solidFill>
              </a:rPr>
              <a:t>Kademlia</a:t>
            </a:r>
            <a:endParaRPr lang="en-US" sz="1600" kern="0" spc="-80" dirty="0">
              <a:solidFill>
                <a:schemeClr val="accent2"/>
              </a:solidFill>
            </a:endParaRPr>
          </a:p>
          <a:p>
            <a:r>
              <a:rPr lang="en-US" sz="1600" kern="0" spc="-80" dirty="0">
                <a:solidFill>
                  <a:schemeClr val="accent2"/>
                </a:solidFill>
              </a:rPr>
              <a:t>Why </a:t>
            </a:r>
            <a:r>
              <a:rPr lang="en-US" sz="1600" kern="0" spc="-80" dirty="0" err="1">
                <a:solidFill>
                  <a:schemeClr val="accent2"/>
                </a:solidFill>
              </a:rPr>
              <a:t>Kademlia</a:t>
            </a:r>
            <a:r>
              <a:rPr lang="en-US" sz="1600" kern="0" spc="-80" dirty="0">
                <a:solidFill>
                  <a:schemeClr val="accent2"/>
                </a:solidFill>
              </a:rPr>
              <a:t> dominates:</a:t>
            </a:r>
          </a:p>
          <a:p>
            <a:r>
              <a:rPr lang="en-US" sz="1600" kern="0" spc="-80" dirty="0">
                <a:solidFill>
                  <a:schemeClr val="accent6"/>
                </a:solidFill>
              </a:rPr>
              <a:t>Robust under churn</a:t>
            </a:r>
          </a:p>
          <a:p>
            <a:r>
              <a:rPr lang="en-US" sz="1600" kern="0" spc="-80" dirty="0">
                <a:solidFill>
                  <a:schemeClr val="accent6"/>
                </a:solidFill>
              </a:rPr>
              <a:t>Easy NAT traversal (UDP messages)</a:t>
            </a:r>
          </a:p>
          <a:p>
            <a:r>
              <a:rPr lang="en-US" sz="1600" kern="0" spc="-80" dirty="0">
                <a:solidFill>
                  <a:schemeClr val="accent6"/>
                </a:solidFill>
              </a:rPr>
              <a:t>Symmetric routing → simpler logic</a:t>
            </a:r>
          </a:p>
          <a:p>
            <a:r>
              <a:rPr lang="en-US" sz="1600" kern="0" spc="-80" dirty="0">
                <a:solidFill>
                  <a:schemeClr val="accent6"/>
                </a:solidFill>
              </a:rPr>
              <a:t>Used in BitTorrent, Ethereum, IPFS, libp2p Mainline DHT</a:t>
            </a:r>
          </a:p>
          <a:p>
            <a:r>
              <a:rPr lang="en-US" sz="1600" kern="0" spc="-80" dirty="0">
                <a:solidFill>
                  <a:schemeClr val="accent2"/>
                </a:solidFill>
              </a:rPr>
              <a:t>Key Concept:</a:t>
            </a:r>
          </a:p>
          <a:p>
            <a:r>
              <a:rPr lang="en-US" sz="1600" kern="0" spc="-80" dirty="0">
                <a:solidFill>
                  <a:schemeClr val="accent6"/>
                </a:solidFill>
              </a:rPr>
              <a:t>distance(A, B) = XOR(A, B)</a:t>
            </a:r>
          </a:p>
          <a:p>
            <a:r>
              <a:rPr lang="en-US" sz="1600" kern="0" spc="-80" dirty="0">
                <a:solidFill>
                  <a:schemeClr val="accent6"/>
                </a:solidFill>
              </a:rPr>
              <a:t>Smaller XOR = closer in overlay space</a:t>
            </a:r>
          </a:p>
          <a:p>
            <a:r>
              <a:rPr lang="en-US" sz="1600" kern="0" spc="-80" dirty="0" err="1">
                <a:solidFill>
                  <a:schemeClr val="accent2"/>
                </a:solidFill>
              </a:rPr>
              <a:t>Kademlia</a:t>
            </a:r>
            <a:r>
              <a:rPr lang="en-US" sz="1600" kern="0" spc="-80" dirty="0">
                <a:solidFill>
                  <a:schemeClr val="accent2"/>
                </a:solidFill>
              </a:rPr>
              <a:t> Routing Table:</a:t>
            </a:r>
          </a:p>
          <a:p>
            <a:r>
              <a:rPr lang="en-US" sz="1600" kern="0" spc="-80" dirty="0">
                <a:solidFill>
                  <a:schemeClr val="accent6"/>
                </a:solidFill>
              </a:rPr>
              <a:t>Organized into k-buckets</a:t>
            </a:r>
          </a:p>
          <a:p>
            <a:r>
              <a:rPr lang="en-US" sz="1600" kern="0" spc="-80" dirty="0">
                <a:solidFill>
                  <a:schemeClr val="accent6"/>
                </a:solidFill>
              </a:rPr>
              <a:t>Each bucket holds nodes by XOR distance range</a:t>
            </a:r>
          </a:p>
          <a:p>
            <a:r>
              <a:rPr lang="en-US" sz="1600" kern="0" spc="-80" dirty="0">
                <a:solidFill>
                  <a:schemeClr val="accent6"/>
                </a:solidFill>
              </a:rPr>
              <a:t>Ensures redundancy and diversity</a:t>
            </a:r>
          </a:p>
          <a:p>
            <a:endParaRPr lang="en-US" sz="1600" kern="0" spc="-80" dirty="0">
              <a:solidFill>
                <a:schemeClr val="accent6"/>
              </a:solidFill>
            </a:endParaRPr>
          </a:p>
          <a:p>
            <a:r>
              <a:rPr lang="en-US" sz="1600" kern="0" spc="-80" dirty="0">
                <a:solidFill>
                  <a:schemeClr val="accent2"/>
                </a:solidFill>
              </a:rPr>
              <a:t>🔄 7. Lookup Walkthrough (</a:t>
            </a:r>
            <a:r>
              <a:rPr lang="en-US" sz="1600" kern="0" spc="-80" dirty="0" err="1">
                <a:solidFill>
                  <a:schemeClr val="accent2"/>
                </a:solidFill>
              </a:rPr>
              <a:t>Kademlia</a:t>
            </a:r>
            <a:r>
              <a:rPr lang="en-US" sz="1600" kern="0" spc="-80" dirty="0">
                <a:solidFill>
                  <a:schemeClr val="accent2"/>
                </a:solidFill>
              </a:rPr>
              <a:t>)</a:t>
            </a:r>
          </a:p>
          <a:p>
            <a:r>
              <a:rPr lang="en-US" sz="1600" kern="0" spc="-80" dirty="0">
                <a:solidFill>
                  <a:schemeClr val="accent6"/>
                </a:solidFill>
              </a:rPr>
              <a:t>Goal: Find </a:t>
            </a:r>
            <a:r>
              <a:rPr lang="en-US" sz="1600" kern="0" spc="-80" dirty="0" err="1">
                <a:solidFill>
                  <a:schemeClr val="accent6"/>
                </a:solidFill>
              </a:rPr>
              <a:t>KeyID</a:t>
            </a:r>
            <a:r>
              <a:rPr lang="en-US" sz="1600" kern="0" spc="-80" dirty="0">
                <a:solidFill>
                  <a:schemeClr val="accent6"/>
                </a:solidFill>
              </a:rPr>
              <a:t> = K</a:t>
            </a:r>
          </a:p>
          <a:p>
            <a:r>
              <a:rPr lang="en-US" sz="1600" kern="0" spc="-80" dirty="0">
                <a:solidFill>
                  <a:schemeClr val="accent6"/>
                </a:solidFill>
              </a:rPr>
              <a:t>1. Choose </a:t>
            </a:r>
            <a:r>
              <a:rPr lang="el-GR" sz="1600" kern="0" spc="-80" dirty="0">
                <a:solidFill>
                  <a:schemeClr val="accent6"/>
                </a:solidFill>
              </a:rPr>
              <a:t>α </a:t>
            </a:r>
            <a:r>
              <a:rPr lang="en-US" sz="1600" kern="0" spc="-80" dirty="0">
                <a:solidFill>
                  <a:schemeClr val="accent6"/>
                </a:solidFill>
              </a:rPr>
              <a:t>closest nodes we know → send lookup request.</a:t>
            </a:r>
          </a:p>
          <a:p>
            <a:r>
              <a:rPr lang="en-US" sz="1600" kern="0" spc="-80" dirty="0">
                <a:solidFill>
                  <a:schemeClr val="accent6"/>
                </a:solidFill>
              </a:rPr>
              <a:t>2. Each node returns peers closer to K.</a:t>
            </a:r>
          </a:p>
          <a:p>
            <a:r>
              <a:rPr lang="en-US" sz="1600" kern="0" spc="-80" dirty="0">
                <a:solidFill>
                  <a:schemeClr val="accent6"/>
                </a:solidFill>
              </a:rPr>
              <a:t>3. Update candidate list and repeat.</a:t>
            </a:r>
          </a:p>
          <a:p>
            <a:r>
              <a:rPr lang="en-US" sz="1600" kern="0" spc="-80" dirty="0">
                <a:solidFill>
                  <a:schemeClr val="accent6"/>
                </a:solidFill>
              </a:rPr>
              <a:t>4. Stop when no closer nodes are found.</a:t>
            </a:r>
          </a:p>
        </p:txBody>
      </p:sp>
    </p:spTree>
    <p:extLst>
      <p:ext uri="{BB962C8B-B14F-4D97-AF65-F5344CB8AC3E}">
        <p14:creationId xmlns:p14="http://schemas.microsoft.com/office/powerpoint/2010/main" val="2678929949"/>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382D6-4E2D-3B7B-8246-B48AFDB1E0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8B77E15-56A2-08B4-516E-B9E7B8DFE9D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B21FDE-3940-3D9A-9ADB-D14BCFABF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83B0C8-AD36-FBE1-08BC-6AB0E3572DB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EB5D092-B329-70C7-4BC2-F1C60DBB7C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DF10B2-3901-5AD9-534F-AFE843831C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05C6A1-D6F3-52A6-D1C4-6FB2E19F51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5778ABD-3E76-AE79-0E8D-8EACF4A163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8729045-887B-A6C7-E7C0-2564124F1A4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B924E77-4243-620C-0BA5-F110628103A1}"/>
              </a:ext>
            </a:extLst>
          </p:cNvPr>
          <p:cNvSpPr txBox="1">
            <a:spLocks/>
          </p:cNvSpPr>
          <p:nvPr/>
        </p:nvSpPr>
        <p:spPr>
          <a:xfrm>
            <a:off x="228600" y="762000"/>
            <a:ext cx="8624937" cy="35086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6"/>
                </a:solidFill>
              </a:rPr>
              <a:t>This is called iterative lookup or progressive refinement.</a:t>
            </a:r>
          </a:p>
          <a:p>
            <a:r>
              <a:rPr lang="en-US" sz="1600" kern="0" spc="-80" dirty="0">
                <a:solidFill>
                  <a:schemeClr val="accent6"/>
                </a:solidFill>
              </a:rPr>
              <a:t>Runs in: O(log n) hop rounds, typically ~4–7 in public networks.</a:t>
            </a:r>
          </a:p>
          <a:p>
            <a:endParaRPr lang="en-US" sz="1600" kern="0" spc="-80" dirty="0">
              <a:solidFill>
                <a:schemeClr val="accent6"/>
              </a:solidFill>
            </a:endParaRPr>
          </a:p>
          <a:p>
            <a:r>
              <a:rPr lang="en-US" sz="1600" kern="0" spc="-80" dirty="0">
                <a:solidFill>
                  <a:schemeClr val="accent2"/>
                </a:solidFill>
              </a:rPr>
              <a:t>🗄 8. Data Storage &amp; Replication</a:t>
            </a:r>
          </a:p>
          <a:p>
            <a:r>
              <a:rPr lang="en-US" sz="1600" kern="0" spc="-80" dirty="0">
                <a:solidFill>
                  <a:schemeClr val="accent6"/>
                </a:solidFill>
              </a:rPr>
              <a:t>To survive node failures (churn), DHTs store each key at:</a:t>
            </a:r>
          </a:p>
          <a:p>
            <a:r>
              <a:rPr lang="en-US" sz="1600" kern="0" spc="-80" dirty="0">
                <a:solidFill>
                  <a:schemeClr val="accent6"/>
                </a:solidFill>
              </a:rPr>
              <a:t>The k closest nodes to </a:t>
            </a:r>
            <a:r>
              <a:rPr lang="en-US" sz="1600" kern="0" spc="-80" dirty="0" err="1">
                <a:solidFill>
                  <a:schemeClr val="accent6"/>
                </a:solidFill>
              </a:rPr>
              <a:t>KeyID</a:t>
            </a:r>
            <a:r>
              <a:rPr lang="en-US" sz="1600" kern="0" spc="-80" dirty="0">
                <a:solidFill>
                  <a:schemeClr val="accent6"/>
                </a:solidFill>
              </a:rPr>
              <a:t>, not just one.</a:t>
            </a:r>
          </a:p>
          <a:p>
            <a:r>
              <a:rPr lang="en-US" sz="1600" kern="0" spc="-80" dirty="0">
                <a:solidFill>
                  <a:schemeClr val="accent6"/>
                </a:solidFill>
              </a:rPr>
              <a:t>And periodically (every T seconds):</a:t>
            </a:r>
          </a:p>
          <a:p>
            <a:r>
              <a:rPr lang="en-US" sz="1600" kern="0" spc="-80" dirty="0">
                <a:solidFill>
                  <a:schemeClr val="accent6"/>
                </a:solidFill>
              </a:rPr>
              <a:t>Nodes refresh routing tables</a:t>
            </a:r>
          </a:p>
          <a:p>
            <a:r>
              <a:rPr lang="en-US" sz="1600" kern="0" spc="-80" dirty="0">
                <a:solidFill>
                  <a:schemeClr val="accent6"/>
                </a:solidFill>
              </a:rPr>
              <a:t>Re-replicate lost keys</a:t>
            </a:r>
          </a:p>
          <a:p>
            <a:r>
              <a:rPr lang="en-US" sz="1600" kern="0" spc="-80" dirty="0">
                <a:solidFill>
                  <a:schemeClr val="accent6"/>
                </a:solidFill>
              </a:rPr>
              <a:t>Drop unreachable peers</a:t>
            </a:r>
          </a:p>
          <a:p>
            <a:r>
              <a:rPr lang="en-US" sz="1600" kern="0" spc="-80" dirty="0">
                <a:solidFill>
                  <a:schemeClr val="accent6"/>
                </a:solidFill>
              </a:rPr>
              <a:t>This allows DHTs to remain stable even if 30–60% of peers churn hourly.</a:t>
            </a:r>
          </a:p>
          <a:p>
            <a:endParaRPr lang="en-US" sz="1600" kern="0" spc="-80" dirty="0">
              <a:solidFill>
                <a:schemeClr val="accent6"/>
              </a:solidFill>
            </a:endParaRPr>
          </a:p>
          <a:p>
            <a:r>
              <a:rPr lang="en-US" sz="1600" kern="0" spc="-80" dirty="0">
                <a:solidFill>
                  <a:schemeClr val="accent2"/>
                </a:solidFill>
              </a:rPr>
              <a:t>🛡 9. Security Challenges</a:t>
            </a:r>
          </a:p>
        </p:txBody>
      </p:sp>
      <p:pic>
        <p:nvPicPr>
          <p:cNvPr id="13" name="Picture 12" descr="A screenshot of a computer&#10;&#10;AI-generated content may be incorrect.">
            <a:extLst>
              <a:ext uri="{FF2B5EF4-FFF2-40B4-BE49-F238E27FC236}">
                <a16:creationId xmlns:a16="http://schemas.microsoft.com/office/drawing/2014/main" id="{24D28260-8FF6-4E35-B999-F235E1B7906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2400" y="4235332"/>
            <a:ext cx="8915399" cy="1673844"/>
          </a:xfrm>
          <a:prstGeom prst="rect">
            <a:avLst/>
          </a:prstGeom>
        </p:spPr>
      </p:pic>
    </p:spTree>
    <p:extLst>
      <p:ext uri="{BB962C8B-B14F-4D97-AF65-F5344CB8AC3E}">
        <p14:creationId xmlns:p14="http://schemas.microsoft.com/office/powerpoint/2010/main" val="345256472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DD95E-05A6-5811-8AF8-476BEE5D4F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7A1D39-FB14-19E4-6DCE-CD73C4FCF2C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04E22F-2DDB-CD90-8242-AFB06BCD99E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6A8F13-E6F6-A35E-066E-17595EBB62A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9346E1-51B7-74C3-8CC7-B8F3F677605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68903E-9B27-3EFB-5C56-D3C3990848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D1B363-8FE7-EE7E-D584-1057131E76A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7F35B67-9F7B-2A00-7AC6-9D968FEA77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AB971A6-608E-66E9-3158-3AEE576BF92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CEEF898-1FF9-03C6-4FBA-C4C91F5DA1D4}"/>
              </a:ext>
            </a:extLst>
          </p:cNvPr>
          <p:cNvSpPr txBox="1">
            <a:spLocks/>
          </p:cNvSpPr>
          <p:nvPr/>
        </p:nvSpPr>
        <p:spPr>
          <a:xfrm>
            <a:off x="228600" y="762000"/>
            <a:ext cx="8624937" cy="30162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10. Real-World DHT Systems</a:t>
            </a:r>
          </a:p>
          <a:p>
            <a:r>
              <a:rPr lang="en-US" sz="1600" kern="0" spc="-80" dirty="0">
                <a:solidFill>
                  <a:schemeClr val="accent2"/>
                </a:solidFill>
              </a:rPr>
              <a:t>System	                                 What DHT Enables</a:t>
            </a:r>
          </a:p>
          <a:p>
            <a:r>
              <a:rPr lang="en-US" sz="1600" kern="0" spc="-80" dirty="0">
                <a:solidFill>
                  <a:schemeClr val="accent6"/>
                </a:solidFill>
              </a:rPr>
              <a:t>BitTorrent Mainline DHT	Find peers sharing a torrent (no tracker needed)</a:t>
            </a:r>
          </a:p>
          <a:p>
            <a:r>
              <a:rPr lang="en-US" sz="1600" kern="0" spc="-80" dirty="0">
                <a:solidFill>
                  <a:schemeClr val="accent6"/>
                </a:solidFill>
              </a:rPr>
              <a:t>IPFS	                                 Content lookup via CID → </a:t>
            </a:r>
            <a:r>
              <a:rPr lang="en-US" sz="1600" kern="0" spc="-80" dirty="0" err="1">
                <a:solidFill>
                  <a:schemeClr val="accent6"/>
                </a:solidFill>
              </a:rPr>
              <a:t>Kademlia</a:t>
            </a:r>
            <a:endParaRPr lang="en-US" sz="1600" kern="0" spc="-80" dirty="0">
              <a:solidFill>
                <a:schemeClr val="accent6"/>
              </a:solidFill>
            </a:endParaRPr>
          </a:p>
          <a:p>
            <a:r>
              <a:rPr lang="en-US" sz="1600" kern="0" spc="-80" dirty="0">
                <a:solidFill>
                  <a:schemeClr val="accent6"/>
                </a:solidFill>
              </a:rPr>
              <a:t>Ethereum	                Node discovery and block propagation</a:t>
            </a:r>
          </a:p>
          <a:p>
            <a:r>
              <a:rPr lang="en-US" sz="1600" kern="0" spc="-80" dirty="0">
                <a:solidFill>
                  <a:schemeClr val="accent6"/>
                </a:solidFill>
              </a:rPr>
              <a:t>libp2p	                                 General purpose distributed networking layer</a:t>
            </a:r>
          </a:p>
          <a:p>
            <a:endParaRPr lang="en-US" sz="1600" kern="0" spc="-80" dirty="0">
              <a:solidFill>
                <a:schemeClr val="accent6"/>
              </a:solidFill>
            </a:endParaRPr>
          </a:p>
          <a:p>
            <a:r>
              <a:rPr lang="en-US" sz="1600" kern="0" spc="-80" dirty="0">
                <a:solidFill>
                  <a:schemeClr val="accent2"/>
                </a:solidFill>
              </a:rPr>
              <a:t>✅ 11. Summary (In One Sentence)</a:t>
            </a:r>
          </a:p>
          <a:p>
            <a:r>
              <a:rPr lang="en-US" sz="1600" kern="0" spc="-80" dirty="0">
                <a:solidFill>
                  <a:schemeClr val="accent6"/>
                </a:solidFill>
              </a:rPr>
              <a:t>DHTs provide a scalable, fault-tolerant, deterministic mechanism for locating data in a decentralized network using structured overlay topology, consistent hashing, and efficient O(log n) lookup routing.          </a:t>
            </a:r>
          </a:p>
        </p:txBody>
      </p:sp>
    </p:spTree>
    <p:extLst>
      <p:ext uri="{BB962C8B-B14F-4D97-AF65-F5344CB8AC3E}">
        <p14:creationId xmlns:p14="http://schemas.microsoft.com/office/powerpoint/2010/main" val="1987905777"/>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A5D75-B0A1-9646-84CF-44926E890B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C231BF-EC25-8DFD-FA69-C8A2DBDCD5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7A46BD-A9FD-8EFE-1C70-0A984533B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B3E490-A60A-3E1A-2E32-EE728C8D21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3EEFC33-0A7F-8A97-4085-2635D39794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AA19D89-06E7-E22E-C40E-BCA08B0C54D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98C6054-92B2-9334-C157-BF7EADEC35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6FFA62-2189-64BA-0729-A9292CC3C0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B3A84A3-55DD-63B6-84F7-E6A0AFA5D70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52E945D-9EF7-D000-D1C1-652814305B00}"/>
              </a:ext>
            </a:extLst>
          </p:cNvPr>
          <p:cNvSpPr txBox="1">
            <a:spLocks/>
          </p:cNvSpPr>
          <p:nvPr/>
        </p:nvSpPr>
        <p:spPr>
          <a:xfrm>
            <a:off x="228600" y="762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For Further Exploration –</a:t>
            </a:r>
          </a:p>
          <a:p>
            <a:r>
              <a:rPr lang="en-IN" sz="2000" dirty="0">
                <a:hlinkClick r:id="rId8"/>
              </a:rPr>
              <a:t>Peer-to-Peer </a:t>
            </a:r>
            <a:r>
              <a:rPr lang="en-IN" sz="2000" dirty="0">
                <a:hlinkClick r:id="rId9"/>
              </a:rPr>
              <a:t>–</a:t>
            </a:r>
            <a:r>
              <a:rPr lang="en-IN" sz="2000" dirty="0">
                <a:hlinkClick r:id="rId8"/>
              </a:rPr>
              <a:t> Wikipedia</a:t>
            </a:r>
            <a:endParaRPr lang="en-IN" sz="2000" dirty="0"/>
          </a:p>
          <a:p>
            <a:r>
              <a:rPr lang="en-US" sz="2000" dirty="0">
                <a:hlinkClick r:id="rId10"/>
              </a:rPr>
              <a:t>What is P2P (Peer-to-Peer Process)? </a:t>
            </a:r>
            <a:r>
              <a:rPr lang="en-US" sz="2000" dirty="0">
                <a:hlinkClick r:id="rId9"/>
              </a:rPr>
              <a:t>–</a:t>
            </a:r>
            <a:r>
              <a:rPr lang="en-US" sz="2000" dirty="0">
                <a:hlinkClick r:id="rId10"/>
              </a:rPr>
              <a:t> </a:t>
            </a:r>
            <a:r>
              <a:rPr lang="en-US" sz="2000" dirty="0" err="1">
                <a:hlinkClick r:id="rId10"/>
              </a:rPr>
              <a:t>GeeksforGeeks</a:t>
            </a:r>
            <a:endParaRPr lang="en-US" sz="2000" dirty="0"/>
          </a:p>
          <a:p>
            <a:r>
              <a:rPr lang="en-IN" sz="2000" dirty="0">
                <a:hlinkClick r:id="rId11"/>
              </a:rPr>
              <a:t>Peer-to-Peer (P2P) Architecture </a:t>
            </a:r>
            <a:r>
              <a:rPr lang="en-IN" sz="2000" dirty="0">
                <a:hlinkClick r:id="rId9"/>
              </a:rPr>
              <a:t>–</a:t>
            </a:r>
            <a:r>
              <a:rPr lang="en-IN" sz="2000" dirty="0">
                <a:hlinkClick r:id="rId11"/>
              </a:rPr>
              <a:t> </a:t>
            </a:r>
            <a:r>
              <a:rPr lang="en-IN" sz="2000" dirty="0" err="1">
                <a:hlinkClick r:id="rId11"/>
              </a:rPr>
              <a:t>GeeksforGeeks</a:t>
            </a:r>
            <a:endParaRPr lang="en-IN" sz="2000" dirty="0"/>
          </a:p>
          <a:p>
            <a:r>
              <a:rPr lang="en-US" sz="2000" dirty="0">
                <a:hlinkClick r:id="rId12"/>
              </a:rPr>
              <a:t>MIT 6.824: Distributed Systems</a:t>
            </a:r>
            <a:endParaRPr lang="en-US" sz="2000" dirty="0"/>
          </a:p>
          <a:p>
            <a:r>
              <a:rPr lang="en-US" sz="2000" dirty="0">
                <a:hlinkClick r:id="rId13"/>
              </a:rPr>
              <a:t>Peer To Peer Networks – NPTEL Course</a:t>
            </a:r>
            <a:endParaRPr lang="en-US" sz="2000" dirty="0"/>
          </a:p>
          <a:p>
            <a:r>
              <a:rPr lang="en-IN" sz="2000" dirty="0">
                <a:hlinkClick r:id="rId14"/>
              </a:rPr>
              <a:t>Cloud and Distributed Computing: Algorithms and Systems</a:t>
            </a:r>
            <a:endParaRPr lang="en-IN" sz="2000" dirty="0"/>
          </a:p>
          <a:p>
            <a:r>
              <a:rPr lang="en-US" sz="2000" dirty="0">
                <a:hlinkClick r:id="rId15"/>
              </a:rPr>
              <a:t>Gossip Protocol Explained - High Scalability</a:t>
            </a:r>
            <a:endParaRPr lang="en-IN" sz="2000" dirty="0"/>
          </a:p>
          <a:p>
            <a:r>
              <a:rPr lang="en-US" sz="2000" dirty="0">
                <a:hlinkClick r:id="rId9"/>
              </a:rPr>
              <a:t>The </a:t>
            </a:r>
            <a:r>
              <a:rPr lang="en-US" sz="2000" dirty="0" err="1">
                <a:hlinkClick r:id="rId9"/>
              </a:rPr>
              <a:t>Kademlia</a:t>
            </a:r>
            <a:r>
              <a:rPr lang="en-US" sz="2000" dirty="0">
                <a:hlinkClick r:id="rId9"/>
              </a:rPr>
              <a:t> Protocol Succinctly</a:t>
            </a:r>
            <a:r>
              <a:rPr lang="en-US" sz="2000" dirty="0"/>
              <a:t> </a:t>
            </a:r>
            <a:endParaRPr lang="en-US" sz="2000" dirty="0">
              <a:hlinkClick r:id="rId16"/>
            </a:endParaRPr>
          </a:p>
          <a:p>
            <a:r>
              <a:rPr lang="en-US" sz="2000" dirty="0">
                <a:hlinkClick r:id="rId17"/>
              </a:rPr>
              <a:t>Graph-theoretic analysis of structured peer-to-peer systems</a:t>
            </a:r>
            <a:endParaRPr lang="en-US" sz="2000" dirty="0"/>
          </a:p>
          <a:p>
            <a:r>
              <a:rPr lang="en-US" sz="2000" dirty="0">
                <a:hlinkClick r:id="rId16"/>
              </a:rPr>
              <a:t>Wolf Garbe's answer to What are good books on P2P technology</a:t>
            </a:r>
            <a:endParaRPr lang="en-US" sz="2000" dirty="0"/>
          </a:p>
          <a:p>
            <a:endParaRPr lang="en-US" sz="2000" dirty="0"/>
          </a:p>
        </p:txBody>
      </p:sp>
    </p:spTree>
    <p:extLst>
      <p:ext uri="{BB962C8B-B14F-4D97-AF65-F5344CB8AC3E}">
        <p14:creationId xmlns:p14="http://schemas.microsoft.com/office/powerpoint/2010/main" val="3275776283"/>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EEF22-1236-A305-7431-45AB0F5A9D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299413-C406-9009-74FE-ED1E6F020D18}"/>
              </a:ext>
            </a:extLst>
          </p:cNvPr>
          <p:cNvSpPr/>
          <p:nvPr/>
        </p:nvSpPr>
        <p:spPr>
          <a:xfrm>
            <a:off x="1717040" y="1029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57840D-DBA7-D6EB-2225-67AC8585362B}"/>
              </a:ext>
            </a:extLst>
          </p:cNvPr>
          <p:cNvSpPr/>
          <p:nvPr/>
        </p:nvSpPr>
        <p:spPr>
          <a:xfrm>
            <a:off x="1726565" y="89434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2FDBDB-99B7-C4DD-AD1E-61F4201A2B1F}"/>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5ACF8A-7868-A908-49B6-8593F013FC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89012F-C790-3705-059E-74CDB54352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727220F-1B38-A2DC-22E9-BC34F70283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9B03B9-21CB-C3F4-A0A3-6135106A80E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F32EAB8-4FC6-B048-DE97-B6E791CE5D4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6A680E60-C06E-00BE-A458-8405FC62A491}"/>
              </a:ext>
            </a:extLst>
          </p:cNvPr>
          <p:cNvSpPr txBox="1">
            <a:spLocks/>
          </p:cNvSpPr>
          <p:nvPr/>
        </p:nvSpPr>
        <p:spPr>
          <a:xfrm>
            <a:off x="76201" y="11430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1. What is Blockchain?</a:t>
            </a:r>
          </a:p>
          <a:p>
            <a:r>
              <a:rPr lang="en-US" sz="1600" kern="0" spc="-80" dirty="0">
                <a:solidFill>
                  <a:schemeClr val="accent6"/>
                </a:solidFill>
              </a:rPr>
              <a:t>A blockchain is a distributed, decentralized digital ledger that records transactions in a secure, transparent, and immutable way.</a:t>
            </a:r>
          </a:p>
          <a:p>
            <a:r>
              <a:rPr lang="en-US" sz="1600" kern="0" spc="-80" dirty="0">
                <a:solidFill>
                  <a:schemeClr val="accent2"/>
                </a:solidFill>
              </a:rPr>
              <a:t>Key characteristics:</a:t>
            </a:r>
          </a:p>
          <a:p>
            <a:r>
              <a:rPr lang="en-US" sz="1600" kern="0" spc="-80" dirty="0">
                <a:solidFill>
                  <a:schemeClr val="accent2"/>
                </a:solidFill>
              </a:rPr>
              <a:t>Decentralization:</a:t>
            </a:r>
            <a:r>
              <a:rPr lang="en-US" sz="1600" kern="0" spc="-80" dirty="0">
                <a:solidFill>
                  <a:schemeClr val="accent6"/>
                </a:solidFill>
              </a:rPr>
              <a:t> No single authority controls it. Every participant (node) maintains a copy of the ledger.</a:t>
            </a:r>
          </a:p>
          <a:p>
            <a:r>
              <a:rPr lang="en-US" sz="1600" kern="0" spc="-80" dirty="0">
                <a:solidFill>
                  <a:schemeClr val="accent2"/>
                </a:solidFill>
              </a:rPr>
              <a:t>Immutability: </a:t>
            </a:r>
            <a:r>
              <a:rPr lang="en-US" sz="1600" kern="0" spc="-80" dirty="0">
                <a:solidFill>
                  <a:schemeClr val="accent6"/>
                </a:solidFill>
              </a:rPr>
              <a:t>Once data is written into a block and added to the chain, it cannot be altered without network consensus.</a:t>
            </a:r>
          </a:p>
          <a:p>
            <a:r>
              <a:rPr lang="en-US" sz="1600" kern="0" spc="-80" dirty="0">
                <a:solidFill>
                  <a:schemeClr val="accent2"/>
                </a:solidFill>
              </a:rPr>
              <a:t>Transparency: </a:t>
            </a:r>
            <a:r>
              <a:rPr lang="en-US" sz="1600" kern="0" spc="-80" dirty="0">
                <a:solidFill>
                  <a:schemeClr val="accent6"/>
                </a:solidFill>
              </a:rPr>
              <a:t>Transactions are visible to all participants (in public blockchains).</a:t>
            </a:r>
          </a:p>
          <a:p>
            <a:r>
              <a:rPr lang="en-US" sz="1600" kern="0" spc="-80" dirty="0">
                <a:solidFill>
                  <a:schemeClr val="accent2"/>
                </a:solidFill>
              </a:rPr>
              <a:t>Security:</a:t>
            </a:r>
            <a:r>
              <a:rPr lang="en-US" sz="1600" kern="0" spc="-80" dirty="0">
                <a:solidFill>
                  <a:schemeClr val="accent6"/>
                </a:solidFill>
              </a:rPr>
              <a:t> Cryptography ensures authenticity, integrity, and non-repudiation.</a:t>
            </a:r>
          </a:p>
          <a:p>
            <a:r>
              <a:rPr lang="en-US" sz="1600" kern="0" spc="-80" dirty="0">
                <a:solidFill>
                  <a:schemeClr val="accent2"/>
                </a:solidFill>
              </a:rPr>
              <a:t>Analogy:</a:t>
            </a:r>
            <a:r>
              <a:rPr lang="en-US" sz="1600" kern="0" spc="-80" dirty="0">
                <a:solidFill>
                  <a:schemeClr val="accent6"/>
                </a:solidFill>
              </a:rPr>
              <a:t> Think of it as a Google Sheet shared among thousands of people worldwide. Everyone sees the same data, and no one can secretly change it.</a:t>
            </a:r>
          </a:p>
          <a:p>
            <a:endParaRPr lang="en-US" sz="1600" kern="0" spc="-80" dirty="0">
              <a:solidFill>
                <a:schemeClr val="accent6"/>
              </a:solidFill>
            </a:endParaRPr>
          </a:p>
          <a:p>
            <a:r>
              <a:rPr lang="en-US" sz="1600" kern="0" spc="-80" dirty="0">
                <a:solidFill>
                  <a:schemeClr val="accent2"/>
                </a:solidFill>
              </a:rPr>
              <a:t>2. Core Components of Blockchain</a:t>
            </a:r>
          </a:p>
          <a:p>
            <a:r>
              <a:rPr lang="en-US" sz="1600" kern="0" spc="-80" dirty="0">
                <a:solidFill>
                  <a:schemeClr val="accent2"/>
                </a:solidFill>
              </a:rPr>
              <a:t>2.1 Block</a:t>
            </a:r>
          </a:p>
          <a:p>
            <a:r>
              <a:rPr lang="en-US" sz="1600" kern="0" spc="-80" dirty="0">
                <a:solidFill>
                  <a:schemeClr val="accent6"/>
                </a:solidFill>
              </a:rPr>
              <a:t>A block is a unit of storage containing:</a:t>
            </a:r>
          </a:p>
          <a:p>
            <a:r>
              <a:rPr lang="en-US" sz="1600" kern="0" spc="-80" dirty="0">
                <a:solidFill>
                  <a:schemeClr val="accent2"/>
                </a:solidFill>
              </a:rPr>
              <a:t>Data/Transactions: </a:t>
            </a:r>
            <a:r>
              <a:rPr lang="en-US" sz="1600" kern="0" spc="-80" dirty="0">
                <a:solidFill>
                  <a:schemeClr val="accent6"/>
                </a:solidFill>
              </a:rPr>
              <a:t>Details of financial or non-financial transactions.</a:t>
            </a:r>
          </a:p>
          <a:p>
            <a:r>
              <a:rPr lang="en-US" sz="1600" kern="0" spc="-80" dirty="0">
                <a:solidFill>
                  <a:schemeClr val="accent2"/>
                </a:solidFill>
              </a:rPr>
              <a:t>Previous Hash:</a:t>
            </a:r>
            <a:r>
              <a:rPr lang="en-US" sz="1600" kern="0" spc="-80" dirty="0">
                <a:solidFill>
                  <a:schemeClr val="accent6"/>
                </a:solidFill>
              </a:rPr>
              <a:t> A cryptographic hash of the previous block (links blocks together).</a:t>
            </a:r>
          </a:p>
          <a:p>
            <a:r>
              <a:rPr lang="en-US" sz="1600" kern="0" spc="-80" dirty="0">
                <a:solidFill>
                  <a:schemeClr val="accent2"/>
                </a:solidFill>
              </a:rPr>
              <a:t>Current Hash: </a:t>
            </a:r>
            <a:r>
              <a:rPr lang="en-US" sz="1600" kern="0" spc="-80" dirty="0">
                <a:solidFill>
                  <a:schemeClr val="accent6"/>
                </a:solidFill>
              </a:rPr>
              <a:t>Unique identifier generated by hashing the block content.</a:t>
            </a:r>
          </a:p>
          <a:p>
            <a:r>
              <a:rPr lang="en-US" sz="1600" kern="0" spc="-80" dirty="0">
                <a:solidFill>
                  <a:schemeClr val="accent2"/>
                </a:solidFill>
              </a:rPr>
              <a:t>Timestamp:</a:t>
            </a:r>
            <a:r>
              <a:rPr lang="en-US" sz="1600" kern="0" spc="-80" dirty="0">
                <a:solidFill>
                  <a:schemeClr val="accent6"/>
                </a:solidFill>
              </a:rPr>
              <a:t> When the block was created.</a:t>
            </a:r>
          </a:p>
        </p:txBody>
      </p:sp>
    </p:spTree>
    <p:extLst>
      <p:ext uri="{BB962C8B-B14F-4D97-AF65-F5344CB8AC3E}">
        <p14:creationId xmlns:p14="http://schemas.microsoft.com/office/powerpoint/2010/main" val="3823082343"/>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096B6-4F05-6694-F801-A14224A367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94C57E-7E8B-2FAB-3915-3CE7610D89BD}"/>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9DAADD-F399-121F-565B-9DBC6DBE89AF}"/>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2B7345-CBAF-8438-7B19-57BF654D9193}"/>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B0806F-828F-CBA4-ACBB-E801B04921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B8BB7D8-AF46-7022-772B-C1207F0EDB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2B0B2FD-140A-1264-878A-E65A904296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0D92E6-46DB-D3A7-ECD1-970877FB62B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0BF5E0-AC6A-4A99-349B-F670C08B0BC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E5F16481-AAF7-157B-C12C-CC12F5025CDB}"/>
              </a:ext>
            </a:extLst>
          </p:cNvPr>
          <p:cNvSpPr txBox="1">
            <a:spLocks/>
          </p:cNvSpPr>
          <p:nvPr/>
        </p:nvSpPr>
        <p:spPr>
          <a:xfrm>
            <a:off x="138063" y="1267831"/>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Nonce: </a:t>
            </a:r>
            <a:r>
              <a:rPr lang="en-US" sz="1600" kern="0" spc="-80" dirty="0">
                <a:solidFill>
                  <a:schemeClr val="accent6"/>
                </a:solidFill>
              </a:rPr>
              <a:t>A number used for mining (proof of work).</a:t>
            </a:r>
          </a:p>
          <a:p>
            <a:endParaRPr lang="en-US" sz="1600" kern="0" spc="-80" dirty="0">
              <a:solidFill>
                <a:schemeClr val="accent6"/>
              </a:solidFill>
            </a:endParaRPr>
          </a:p>
          <a:p>
            <a:r>
              <a:rPr lang="en-US" sz="1600" kern="0" spc="-80" dirty="0">
                <a:solidFill>
                  <a:schemeClr val="accent2"/>
                </a:solidFill>
              </a:rPr>
              <a:t>2.2 Chain</a:t>
            </a:r>
          </a:p>
          <a:p>
            <a:r>
              <a:rPr lang="en-US" sz="1600" kern="0" spc="-80" dirty="0">
                <a:solidFill>
                  <a:schemeClr val="accent6"/>
                </a:solidFill>
              </a:rPr>
              <a:t>Blocks are linked in chronological order to form a chain. Tampering with one block breaks the chain, ensuring integrity.</a:t>
            </a:r>
          </a:p>
          <a:p>
            <a:endParaRPr lang="en-US" sz="1600" kern="0" spc="-80" dirty="0">
              <a:solidFill>
                <a:schemeClr val="accent6"/>
              </a:solidFill>
            </a:endParaRPr>
          </a:p>
          <a:p>
            <a:r>
              <a:rPr lang="en-US" sz="1600" kern="0" spc="-80" dirty="0">
                <a:solidFill>
                  <a:schemeClr val="accent2"/>
                </a:solidFill>
              </a:rPr>
              <a:t>2.3 Node</a:t>
            </a:r>
          </a:p>
          <a:p>
            <a:r>
              <a:rPr lang="en-US" sz="1600" kern="0" spc="-80" dirty="0">
                <a:solidFill>
                  <a:schemeClr val="accent6"/>
                </a:solidFill>
              </a:rPr>
              <a:t>A node is any computer connected to the blockchain network. Types of nodes:</a:t>
            </a:r>
          </a:p>
          <a:p>
            <a:r>
              <a:rPr lang="en-US" sz="1600" kern="0" spc="-80" dirty="0">
                <a:solidFill>
                  <a:schemeClr val="accent2"/>
                </a:solidFill>
              </a:rPr>
              <a:t>Full Node: </a:t>
            </a:r>
            <a:r>
              <a:rPr lang="en-US" sz="1600" kern="0" spc="-80" dirty="0">
                <a:solidFill>
                  <a:schemeClr val="accent6"/>
                </a:solidFill>
              </a:rPr>
              <a:t>Stores the entire blockchain.</a:t>
            </a:r>
          </a:p>
          <a:p>
            <a:r>
              <a:rPr lang="en-US" sz="1600" kern="0" spc="-80" dirty="0">
                <a:solidFill>
                  <a:schemeClr val="accent2"/>
                </a:solidFill>
              </a:rPr>
              <a:t>Lightweight Node (SPV):</a:t>
            </a:r>
            <a:r>
              <a:rPr lang="en-US" sz="1600" kern="0" spc="-80" dirty="0">
                <a:solidFill>
                  <a:schemeClr val="accent6"/>
                </a:solidFill>
              </a:rPr>
              <a:t> Stores only block headers.</a:t>
            </a:r>
          </a:p>
          <a:p>
            <a:r>
              <a:rPr lang="en-US" sz="1600" kern="0" spc="-80" dirty="0">
                <a:solidFill>
                  <a:schemeClr val="accent2"/>
                </a:solidFill>
              </a:rPr>
              <a:t>Validator Node:</a:t>
            </a:r>
            <a:r>
              <a:rPr lang="en-US" sz="1600" kern="0" spc="-80" dirty="0">
                <a:solidFill>
                  <a:schemeClr val="accent6"/>
                </a:solidFill>
              </a:rPr>
              <a:t> Verifies transactions and creates blocks.</a:t>
            </a:r>
          </a:p>
          <a:p>
            <a:endParaRPr lang="en-US" sz="1600" kern="0" spc="-80" dirty="0">
              <a:solidFill>
                <a:schemeClr val="accent6"/>
              </a:solidFill>
            </a:endParaRPr>
          </a:p>
          <a:p>
            <a:r>
              <a:rPr lang="en-US" sz="1600" kern="0" spc="-80" dirty="0">
                <a:solidFill>
                  <a:schemeClr val="accent2"/>
                </a:solidFill>
              </a:rPr>
              <a:t>2.4 Ledger</a:t>
            </a:r>
          </a:p>
          <a:p>
            <a:r>
              <a:rPr lang="en-US" sz="1600" kern="0" spc="-80" dirty="0">
                <a:solidFill>
                  <a:schemeClr val="accent6"/>
                </a:solidFill>
              </a:rPr>
              <a:t>The ledger is the complete record of all transactions. It can be:</a:t>
            </a:r>
          </a:p>
          <a:p>
            <a:r>
              <a:rPr lang="en-US" sz="1600" kern="0" spc="-80" dirty="0">
                <a:solidFill>
                  <a:schemeClr val="accent2"/>
                </a:solidFill>
              </a:rPr>
              <a:t>Public Ledger:</a:t>
            </a:r>
            <a:r>
              <a:rPr lang="en-US" sz="1600" kern="0" spc="-80" dirty="0">
                <a:solidFill>
                  <a:schemeClr val="accent6"/>
                </a:solidFill>
              </a:rPr>
              <a:t> Accessible to anyone (e.g., Bitcoin, Ethereum).</a:t>
            </a:r>
          </a:p>
          <a:p>
            <a:r>
              <a:rPr lang="en-US" sz="1600" kern="0" spc="-80" dirty="0">
                <a:solidFill>
                  <a:schemeClr val="accent2"/>
                </a:solidFill>
              </a:rPr>
              <a:t>Private Ledger: </a:t>
            </a:r>
            <a:r>
              <a:rPr lang="en-US" sz="1600" kern="0" spc="-80" dirty="0">
                <a:solidFill>
                  <a:schemeClr val="accent6"/>
                </a:solidFill>
              </a:rPr>
              <a:t>Restricted access (used in enterprises).</a:t>
            </a:r>
          </a:p>
          <a:p>
            <a:r>
              <a:rPr lang="en-US" sz="1600" kern="0" spc="-80" dirty="0">
                <a:solidFill>
                  <a:schemeClr val="accent2"/>
                </a:solidFill>
              </a:rPr>
              <a:t>Consortium Ledger: </a:t>
            </a:r>
            <a:r>
              <a:rPr lang="en-US" sz="1600" kern="0" spc="-80" dirty="0">
                <a:solidFill>
                  <a:schemeClr val="accent6"/>
                </a:solidFill>
              </a:rPr>
              <a:t>Shared among a group of organizations.</a:t>
            </a:r>
          </a:p>
          <a:p>
            <a:endParaRPr lang="en-US" sz="1600" kern="0" spc="-80" dirty="0">
              <a:solidFill>
                <a:schemeClr val="accent6"/>
              </a:solidFill>
            </a:endParaRPr>
          </a:p>
        </p:txBody>
      </p:sp>
    </p:spTree>
    <p:extLst>
      <p:ext uri="{BB962C8B-B14F-4D97-AF65-F5344CB8AC3E}">
        <p14:creationId xmlns:p14="http://schemas.microsoft.com/office/powerpoint/2010/main" val="1641684471"/>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3F019-B93B-98F1-6E3F-DD7E83E141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828C214-DFC1-92F9-D6B5-6AD8F260AF69}"/>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8ADCCC-3865-B9E7-EB39-DED15B530AC0}"/>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398EBF-6486-2DA5-CDA3-92D2F4E12CA7}"/>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F8E0FBA-2F7F-94F9-6DDE-BAD43E290E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130BE48-F553-F466-5535-5D77F26677F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F5ECA7B-86F8-5DEA-EFAA-A9E0513A12C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1A82AF-7F60-F614-BDA1-201BBC9D5F6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A9F88BC-16BD-8ED3-28B6-D8FD2A9E177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84B513A-EA89-8259-3069-9E13FD9F043E}"/>
              </a:ext>
            </a:extLst>
          </p:cNvPr>
          <p:cNvSpPr txBox="1">
            <a:spLocks/>
          </p:cNvSpPr>
          <p:nvPr/>
        </p:nvSpPr>
        <p:spPr>
          <a:xfrm>
            <a:off x="138063" y="1267831"/>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3. Blockchain Architecture</a:t>
            </a:r>
          </a:p>
          <a:p>
            <a:r>
              <a:rPr lang="en-US" sz="1600" kern="0" spc="-80" dirty="0">
                <a:solidFill>
                  <a:schemeClr val="accent2"/>
                </a:solidFill>
              </a:rPr>
              <a:t>3.1 Layers</a:t>
            </a:r>
          </a:p>
          <a:p>
            <a:r>
              <a:rPr lang="en-US" sz="1600" kern="0" spc="-80" dirty="0">
                <a:solidFill>
                  <a:schemeClr val="accent2"/>
                </a:solidFill>
              </a:rPr>
              <a:t>Application Layer: </a:t>
            </a:r>
            <a:r>
              <a:rPr lang="en-US" sz="1600" kern="0" spc="-80" dirty="0">
                <a:solidFill>
                  <a:schemeClr val="accent6"/>
                </a:solidFill>
              </a:rPr>
              <a:t>Interfaces and apps for users (wallets, DeFi apps, </a:t>
            </a:r>
            <a:r>
              <a:rPr lang="en-US" sz="1600" kern="0" spc="-80" dirty="0" err="1">
                <a:solidFill>
                  <a:schemeClr val="accent6"/>
                </a:solidFill>
              </a:rPr>
              <a:t>dApps</a:t>
            </a:r>
            <a:r>
              <a:rPr lang="en-US" sz="1600" kern="0" spc="-80" dirty="0">
                <a:solidFill>
                  <a:schemeClr val="accent6"/>
                </a:solidFill>
              </a:rPr>
              <a:t>).</a:t>
            </a:r>
          </a:p>
          <a:p>
            <a:r>
              <a:rPr lang="en-US" sz="1600" kern="0" spc="-80" dirty="0">
                <a:solidFill>
                  <a:schemeClr val="accent2"/>
                </a:solidFill>
              </a:rPr>
              <a:t>Contract Layer: </a:t>
            </a:r>
            <a:r>
              <a:rPr lang="en-US" sz="1600" kern="0" spc="-80" dirty="0">
                <a:solidFill>
                  <a:schemeClr val="accent6"/>
                </a:solidFill>
              </a:rPr>
              <a:t>Smart contracts (Ethereum) automate agreements.</a:t>
            </a:r>
          </a:p>
          <a:p>
            <a:r>
              <a:rPr lang="en-US" sz="1600" kern="0" spc="-80" dirty="0">
                <a:solidFill>
                  <a:schemeClr val="accent2"/>
                </a:solidFill>
              </a:rPr>
              <a:t>Consensus Layer: </a:t>
            </a:r>
            <a:r>
              <a:rPr lang="en-US" sz="1600" kern="0" spc="-80" dirty="0">
                <a:solidFill>
                  <a:schemeClr val="accent6"/>
                </a:solidFill>
              </a:rPr>
              <a:t>Ensures all nodes agree on the ledger state.</a:t>
            </a:r>
          </a:p>
          <a:p>
            <a:r>
              <a:rPr lang="en-US" sz="1600" kern="0" spc="-80" dirty="0">
                <a:solidFill>
                  <a:schemeClr val="accent2"/>
                </a:solidFill>
              </a:rPr>
              <a:t>Network Layer: </a:t>
            </a:r>
            <a:r>
              <a:rPr lang="en-US" sz="1600" kern="0" spc="-80" dirty="0">
                <a:solidFill>
                  <a:schemeClr val="accent6"/>
                </a:solidFill>
              </a:rPr>
              <a:t>Peer-to-peer network for communication.</a:t>
            </a:r>
          </a:p>
          <a:p>
            <a:r>
              <a:rPr lang="en-US" sz="1600" kern="0" spc="-80" dirty="0">
                <a:solidFill>
                  <a:schemeClr val="accent2"/>
                </a:solidFill>
              </a:rPr>
              <a:t>Data Layer: </a:t>
            </a:r>
            <a:r>
              <a:rPr lang="en-US" sz="1600" kern="0" spc="-80" dirty="0">
                <a:solidFill>
                  <a:schemeClr val="accent6"/>
                </a:solidFill>
              </a:rPr>
              <a:t>Stores the chain of blocks.</a:t>
            </a:r>
          </a:p>
          <a:p>
            <a:endParaRPr lang="en-US" sz="1600" kern="0" spc="-80" dirty="0">
              <a:solidFill>
                <a:schemeClr val="accent6"/>
              </a:solidFill>
            </a:endParaRPr>
          </a:p>
          <a:p>
            <a:r>
              <a:rPr lang="en-US" sz="1600" kern="0" spc="-80" dirty="0">
                <a:solidFill>
                  <a:schemeClr val="accent2"/>
                </a:solidFill>
              </a:rPr>
              <a:t>3.2 Types of Blockchain</a:t>
            </a:r>
          </a:p>
          <a:p>
            <a:r>
              <a:rPr lang="en-US" sz="1600" kern="0" spc="-80" dirty="0">
                <a:solidFill>
                  <a:schemeClr val="accent2"/>
                </a:solidFill>
              </a:rPr>
              <a:t>Public Blockchain: </a:t>
            </a:r>
            <a:r>
              <a:rPr lang="en-US" sz="1600" kern="0" spc="-80" dirty="0">
                <a:solidFill>
                  <a:schemeClr val="accent6"/>
                </a:solidFill>
              </a:rPr>
              <a:t>Open to anyone (Bitcoin, Ethereum).</a:t>
            </a:r>
          </a:p>
          <a:p>
            <a:r>
              <a:rPr lang="en-US" sz="1600" kern="0" spc="-80" dirty="0">
                <a:solidFill>
                  <a:schemeClr val="accent2"/>
                </a:solidFill>
              </a:rPr>
              <a:t>Private Blockchain: </a:t>
            </a:r>
            <a:r>
              <a:rPr lang="en-US" sz="1600" kern="0" spc="-80" dirty="0">
                <a:solidFill>
                  <a:schemeClr val="accent6"/>
                </a:solidFill>
              </a:rPr>
              <a:t>Restricted to certain participants (Hyperledger Fabric).</a:t>
            </a:r>
          </a:p>
          <a:p>
            <a:r>
              <a:rPr lang="en-US" sz="1600" kern="0" spc="-80" dirty="0">
                <a:solidFill>
                  <a:schemeClr val="accent2"/>
                </a:solidFill>
              </a:rPr>
              <a:t>Consortium Blockchain: </a:t>
            </a:r>
            <a:r>
              <a:rPr lang="en-US" sz="1600" kern="0" spc="-80" dirty="0">
                <a:solidFill>
                  <a:schemeClr val="accent6"/>
                </a:solidFill>
              </a:rPr>
              <a:t>Governed by a group (e.g., banks consortium).</a:t>
            </a:r>
          </a:p>
          <a:p>
            <a:r>
              <a:rPr lang="en-US" sz="1600" kern="0" spc="-80" dirty="0">
                <a:solidFill>
                  <a:schemeClr val="accent2"/>
                </a:solidFill>
              </a:rPr>
              <a:t>Hybrid Blockchain: </a:t>
            </a:r>
            <a:r>
              <a:rPr lang="en-US" sz="1600" kern="0" spc="-80" dirty="0">
                <a:solidFill>
                  <a:schemeClr val="accent6"/>
                </a:solidFill>
              </a:rPr>
              <a:t>Mix of public and private features.</a:t>
            </a:r>
          </a:p>
          <a:p>
            <a:endParaRPr lang="en-US" sz="1600" kern="0" spc="-80" dirty="0">
              <a:solidFill>
                <a:schemeClr val="accent6"/>
              </a:solidFill>
            </a:endParaRPr>
          </a:p>
          <a:p>
            <a:r>
              <a:rPr lang="en-US" sz="1600" kern="0" spc="-80" dirty="0">
                <a:solidFill>
                  <a:schemeClr val="accent2"/>
                </a:solidFill>
              </a:rPr>
              <a:t>4. Consensus Mechanisms</a:t>
            </a:r>
          </a:p>
          <a:p>
            <a:r>
              <a:rPr lang="en-US" sz="1600" kern="0" spc="-80" dirty="0">
                <a:solidFill>
                  <a:schemeClr val="accent6"/>
                </a:solidFill>
              </a:rPr>
              <a:t>Consensus ensures all nodes agree on the blockchain state. </a:t>
            </a:r>
          </a:p>
          <a:p>
            <a:r>
              <a:rPr lang="en-US" sz="1600" kern="0" spc="-80" dirty="0">
                <a:solidFill>
                  <a:schemeClr val="accent2"/>
                </a:solidFill>
              </a:rPr>
              <a:t>Main mechanisms:</a:t>
            </a:r>
          </a:p>
        </p:txBody>
      </p:sp>
    </p:spTree>
    <p:extLst>
      <p:ext uri="{BB962C8B-B14F-4D97-AF65-F5344CB8AC3E}">
        <p14:creationId xmlns:p14="http://schemas.microsoft.com/office/powerpoint/2010/main" val="278064639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63A7E-D9A7-7EC4-FDA1-34161B3867F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DDB31F3-2F62-76A4-816F-165035EFD9BC}"/>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AF86EB-15EA-62BB-269A-979BC4D3E12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F514D0-EB3E-6A72-0903-CA4508C08571}"/>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413130-B92B-ED1A-3FC0-E276437640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80B1791-4C35-32F9-A5C9-9048EF86CF1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5A9B35B-6738-A205-7D9D-CD480E60166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5BBED1-DAEA-8EB2-4D2C-609E9256A4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45A4BB-F75B-9048-658D-07F6791CF1F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643BA6E4-BF93-5B9C-F4F1-3B192ADB2375}"/>
              </a:ext>
            </a:extLst>
          </p:cNvPr>
          <p:cNvSpPr txBox="1">
            <a:spLocks/>
          </p:cNvSpPr>
          <p:nvPr/>
        </p:nvSpPr>
        <p:spPr>
          <a:xfrm>
            <a:off x="138063" y="1267831"/>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4.1 Proof of Work (PoW)</a:t>
            </a:r>
          </a:p>
          <a:p>
            <a:r>
              <a:rPr lang="en-US" sz="1600" kern="0" spc="-80" dirty="0">
                <a:solidFill>
                  <a:schemeClr val="accent6"/>
                </a:solidFill>
              </a:rPr>
              <a:t>Used by Bitcoin.</a:t>
            </a:r>
          </a:p>
          <a:p>
            <a:r>
              <a:rPr lang="en-US" sz="1600" kern="0" spc="-80" dirty="0">
                <a:solidFill>
                  <a:schemeClr val="accent6"/>
                </a:solidFill>
              </a:rPr>
              <a:t>Miners solve cryptographic puzzles.</a:t>
            </a:r>
          </a:p>
          <a:p>
            <a:r>
              <a:rPr lang="en-US" sz="1600" kern="0" spc="-80" dirty="0">
                <a:solidFill>
                  <a:schemeClr val="accent6"/>
                </a:solidFill>
              </a:rPr>
              <a:t>Energy-intensive but highly secure.</a:t>
            </a:r>
          </a:p>
          <a:p>
            <a:endParaRPr lang="en-US" sz="1600" kern="0" spc="-80" dirty="0">
              <a:solidFill>
                <a:schemeClr val="accent6"/>
              </a:solidFill>
            </a:endParaRPr>
          </a:p>
          <a:p>
            <a:r>
              <a:rPr lang="en-US" sz="1600" kern="0" spc="-80" dirty="0">
                <a:solidFill>
                  <a:schemeClr val="accent2"/>
                </a:solidFill>
              </a:rPr>
              <a:t>4.2 Proof of Stake (</a:t>
            </a:r>
            <a:r>
              <a:rPr lang="en-US" sz="1600" kern="0" spc="-80" dirty="0" err="1">
                <a:solidFill>
                  <a:schemeClr val="accent2"/>
                </a:solidFill>
              </a:rPr>
              <a:t>PoS</a:t>
            </a:r>
            <a:r>
              <a:rPr lang="en-US" sz="1600" kern="0" spc="-80" dirty="0">
                <a:solidFill>
                  <a:schemeClr val="accent2"/>
                </a:solidFill>
              </a:rPr>
              <a:t>)</a:t>
            </a:r>
          </a:p>
          <a:p>
            <a:r>
              <a:rPr lang="en-US" sz="1600" kern="0" spc="-80" dirty="0">
                <a:solidFill>
                  <a:schemeClr val="accent6"/>
                </a:solidFill>
              </a:rPr>
              <a:t>Validators stake cryptocurrency to validate blocks.</a:t>
            </a:r>
          </a:p>
          <a:p>
            <a:r>
              <a:rPr lang="en-US" sz="1600" kern="0" spc="-80" dirty="0">
                <a:solidFill>
                  <a:schemeClr val="accent6"/>
                </a:solidFill>
              </a:rPr>
              <a:t>Energy-efficient, rewards proportional to stake.</a:t>
            </a:r>
          </a:p>
          <a:p>
            <a:endParaRPr lang="en-US" sz="1600" kern="0" spc="-80" dirty="0">
              <a:solidFill>
                <a:schemeClr val="accent6"/>
              </a:solidFill>
            </a:endParaRPr>
          </a:p>
          <a:p>
            <a:r>
              <a:rPr lang="en-US" sz="1600" kern="0" spc="-80" dirty="0">
                <a:solidFill>
                  <a:schemeClr val="accent2"/>
                </a:solidFill>
              </a:rPr>
              <a:t>4.3 Delegated Proof of Stake (</a:t>
            </a:r>
            <a:r>
              <a:rPr lang="en-US" sz="1600" kern="0" spc="-80" dirty="0" err="1">
                <a:solidFill>
                  <a:schemeClr val="accent2"/>
                </a:solidFill>
              </a:rPr>
              <a:t>DPoS</a:t>
            </a:r>
            <a:r>
              <a:rPr lang="en-US" sz="1600" kern="0" spc="-80" dirty="0">
                <a:solidFill>
                  <a:schemeClr val="accent2"/>
                </a:solidFill>
              </a:rPr>
              <a:t>)</a:t>
            </a:r>
          </a:p>
          <a:p>
            <a:r>
              <a:rPr lang="en-US" sz="1600" kern="0" spc="-80" dirty="0">
                <a:solidFill>
                  <a:schemeClr val="accent6"/>
                </a:solidFill>
              </a:rPr>
              <a:t>Stakeholders elect delegates to validate transactions.</a:t>
            </a:r>
          </a:p>
          <a:p>
            <a:r>
              <a:rPr lang="en-US" sz="1600" kern="0" spc="-80" dirty="0">
                <a:solidFill>
                  <a:schemeClr val="accent6"/>
                </a:solidFill>
              </a:rPr>
              <a:t>Faster and scalable.</a:t>
            </a:r>
          </a:p>
          <a:p>
            <a:endParaRPr lang="en-US" sz="1600" kern="0" spc="-80" dirty="0">
              <a:solidFill>
                <a:schemeClr val="accent6"/>
              </a:solidFill>
            </a:endParaRPr>
          </a:p>
          <a:p>
            <a:r>
              <a:rPr lang="en-US" sz="1600" kern="0" spc="-80" dirty="0">
                <a:solidFill>
                  <a:schemeClr val="accent2"/>
                </a:solidFill>
              </a:rPr>
              <a:t>4.4 Practical Byzantine Fault Tolerance (PBFT)</a:t>
            </a:r>
          </a:p>
          <a:p>
            <a:r>
              <a:rPr lang="en-US" sz="1600" kern="0" spc="-80" dirty="0">
                <a:solidFill>
                  <a:schemeClr val="accent6"/>
                </a:solidFill>
              </a:rPr>
              <a:t>Used in private blockchains.</a:t>
            </a:r>
          </a:p>
          <a:p>
            <a:r>
              <a:rPr lang="en-US" sz="1600" kern="0" spc="-80" dirty="0">
                <a:solidFill>
                  <a:schemeClr val="accent6"/>
                </a:solidFill>
              </a:rPr>
              <a:t>Tolerates faulty or malicious nodes.</a:t>
            </a:r>
          </a:p>
          <a:p>
            <a:endParaRPr lang="en-US" sz="1600" kern="0" spc="-80" dirty="0">
              <a:solidFill>
                <a:schemeClr val="accent6"/>
              </a:solidFill>
            </a:endParaRPr>
          </a:p>
          <a:p>
            <a:r>
              <a:rPr lang="en-US" sz="1600" kern="0" spc="-80" dirty="0">
                <a:solidFill>
                  <a:schemeClr val="accent2"/>
                </a:solidFill>
              </a:rPr>
              <a:t>4.5 Other Mechanisms</a:t>
            </a:r>
          </a:p>
          <a:p>
            <a:r>
              <a:rPr lang="en-US" sz="1600" kern="0" spc="-80" dirty="0">
                <a:solidFill>
                  <a:schemeClr val="accent6"/>
                </a:solidFill>
              </a:rPr>
              <a:t>Proof of Authority (</a:t>
            </a:r>
            <a:r>
              <a:rPr lang="en-US" sz="1600" kern="0" spc="-80" dirty="0" err="1">
                <a:solidFill>
                  <a:schemeClr val="accent6"/>
                </a:solidFill>
              </a:rPr>
              <a:t>PoA</a:t>
            </a:r>
            <a:r>
              <a:rPr lang="en-US" sz="1600" kern="0" spc="-80" dirty="0">
                <a:solidFill>
                  <a:schemeClr val="accent6"/>
                </a:solidFill>
              </a:rPr>
              <a:t>), Proof of Elapsed Time (</a:t>
            </a:r>
            <a:r>
              <a:rPr lang="en-US" sz="1600" kern="0" spc="-80" dirty="0" err="1">
                <a:solidFill>
                  <a:schemeClr val="accent6"/>
                </a:solidFill>
              </a:rPr>
              <a:t>PoET</a:t>
            </a:r>
            <a:r>
              <a:rPr lang="en-US" sz="1600" kern="0" spc="-80" dirty="0">
                <a:solidFill>
                  <a:schemeClr val="accent6"/>
                </a:solidFill>
              </a:rPr>
              <a:t>), Hybrid models.</a:t>
            </a:r>
          </a:p>
          <a:p>
            <a:endParaRPr lang="en-US" sz="1600" kern="0" spc="-80" dirty="0">
              <a:solidFill>
                <a:schemeClr val="accent6"/>
              </a:solidFill>
            </a:endParaRPr>
          </a:p>
        </p:txBody>
      </p:sp>
    </p:spTree>
    <p:extLst>
      <p:ext uri="{BB962C8B-B14F-4D97-AF65-F5344CB8AC3E}">
        <p14:creationId xmlns:p14="http://schemas.microsoft.com/office/powerpoint/2010/main" val="2593485275"/>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80658-9076-B96B-E2B8-F6CD1F31A6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55E586A-D37A-69B9-8733-1BBCD0D05C9D}"/>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AB60B0-FBA7-71B8-7A0B-C75211BED353}"/>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4E57B26-D6E9-A005-0BD4-D7389A093CD0}"/>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DCE6D72-82CA-89B6-230C-C8DD2324AE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C3E3001-20CD-34F7-2767-5B79963672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047445B-2B58-DEAB-B8CE-6C8C29E52C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9856D7E-6C0A-DA95-76AF-9103FE59E04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28A27EA-EDDC-95FA-77EC-CDBF12625E1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FA153625-3CE1-BDB9-0D7A-0F553697F36F}"/>
              </a:ext>
            </a:extLst>
          </p:cNvPr>
          <p:cNvSpPr txBox="1">
            <a:spLocks/>
          </p:cNvSpPr>
          <p:nvPr/>
        </p:nvSpPr>
        <p:spPr>
          <a:xfrm>
            <a:off x="76201" y="1158716"/>
            <a:ext cx="8624937"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80" kern="0" spc="-80" dirty="0">
                <a:solidFill>
                  <a:schemeClr val="accent2"/>
                </a:solidFill>
              </a:rPr>
              <a:t>5. Smart Contracts</a:t>
            </a:r>
          </a:p>
          <a:p>
            <a:r>
              <a:rPr lang="en-US" sz="1580" kern="0" spc="-80" dirty="0">
                <a:solidFill>
                  <a:schemeClr val="accent2"/>
                </a:solidFill>
              </a:rPr>
              <a:t>Definition: </a:t>
            </a:r>
            <a:r>
              <a:rPr lang="en-US" sz="1580" kern="0" spc="-80" dirty="0">
                <a:solidFill>
                  <a:schemeClr val="accent6"/>
                </a:solidFill>
              </a:rPr>
              <a:t>Self-executing contracts with rules coded in software.</a:t>
            </a:r>
          </a:p>
          <a:p>
            <a:r>
              <a:rPr lang="en-US" sz="1580" kern="0" spc="-80" dirty="0">
                <a:solidFill>
                  <a:schemeClr val="accent2"/>
                </a:solidFill>
              </a:rPr>
              <a:t>Features:</a:t>
            </a:r>
          </a:p>
          <a:p>
            <a:r>
              <a:rPr lang="en-US" sz="1580" kern="0" spc="-80" dirty="0">
                <a:solidFill>
                  <a:schemeClr val="accent6"/>
                </a:solidFill>
              </a:rPr>
              <a:t>Autonomous execution</a:t>
            </a:r>
          </a:p>
          <a:p>
            <a:r>
              <a:rPr lang="en-US" sz="1580" kern="0" spc="-80" dirty="0">
                <a:solidFill>
                  <a:schemeClr val="accent6"/>
                </a:solidFill>
              </a:rPr>
              <a:t>Immutable once deployed</a:t>
            </a:r>
          </a:p>
          <a:p>
            <a:r>
              <a:rPr lang="en-US" sz="1580" kern="0" spc="-80" dirty="0">
                <a:solidFill>
                  <a:schemeClr val="accent6"/>
                </a:solidFill>
              </a:rPr>
              <a:t>Transparent to participants</a:t>
            </a:r>
          </a:p>
          <a:p>
            <a:r>
              <a:rPr lang="en-US" sz="1580" kern="0" spc="-80" dirty="0">
                <a:solidFill>
                  <a:schemeClr val="accent2"/>
                </a:solidFill>
              </a:rPr>
              <a:t>Use Cases: </a:t>
            </a:r>
            <a:r>
              <a:rPr lang="en-US" sz="1580" kern="0" spc="-80" dirty="0">
                <a:solidFill>
                  <a:schemeClr val="accent6"/>
                </a:solidFill>
              </a:rPr>
              <a:t>Token issuance, decentralized finance (DeFi), supply chain automation.</a:t>
            </a:r>
          </a:p>
          <a:p>
            <a:endParaRPr lang="en-US" sz="1580" kern="0" spc="-80" dirty="0">
              <a:solidFill>
                <a:schemeClr val="accent6"/>
              </a:solidFill>
            </a:endParaRPr>
          </a:p>
          <a:p>
            <a:r>
              <a:rPr lang="en-US" sz="1580" kern="0" spc="-80" dirty="0">
                <a:solidFill>
                  <a:schemeClr val="accent2"/>
                </a:solidFill>
              </a:rPr>
              <a:t>6. Tokens and Cryptocurrency</a:t>
            </a:r>
          </a:p>
          <a:p>
            <a:r>
              <a:rPr lang="en-US" sz="1580" kern="0" spc="-80" dirty="0">
                <a:solidFill>
                  <a:schemeClr val="accent2"/>
                </a:solidFill>
              </a:rPr>
              <a:t>Cryptocurrency:</a:t>
            </a:r>
            <a:r>
              <a:rPr lang="en-US" sz="1580" kern="0" spc="-80" dirty="0">
                <a:solidFill>
                  <a:schemeClr val="accent6"/>
                </a:solidFill>
              </a:rPr>
              <a:t> Digital currency built on blockchain (Bitcoin, Ether).</a:t>
            </a:r>
          </a:p>
          <a:p>
            <a:r>
              <a:rPr lang="en-US" sz="1580" kern="0" spc="-80" dirty="0">
                <a:solidFill>
                  <a:schemeClr val="accent2"/>
                </a:solidFill>
              </a:rPr>
              <a:t>Tokens:</a:t>
            </a:r>
            <a:r>
              <a:rPr lang="en-US" sz="1580" kern="0" spc="-80" dirty="0">
                <a:solidFill>
                  <a:schemeClr val="accent6"/>
                </a:solidFill>
              </a:rPr>
              <a:t> Represent assets, rights, or utility within an ecosystem.</a:t>
            </a:r>
          </a:p>
          <a:p>
            <a:r>
              <a:rPr lang="en-US" sz="1580" kern="0" spc="-80" dirty="0">
                <a:solidFill>
                  <a:schemeClr val="accent2"/>
                </a:solidFill>
              </a:rPr>
              <a:t>Utility Token: </a:t>
            </a:r>
            <a:r>
              <a:rPr lang="en-US" sz="1580" kern="0" spc="-80" dirty="0">
                <a:solidFill>
                  <a:schemeClr val="accent6"/>
                </a:solidFill>
              </a:rPr>
              <a:t>Grants access to a service.</a:t>
            </a:r>
          </a:p>
          <a:p>
            <a:r>
              <a:rPr lang="en-US" sz="1580" kern="0" spc="-80" dirty="0">
                <a:solidFill>
                  <a:schemeClr val="accent2"/>
                </a:solidFill>
              </a:rPr>
              <a:t>Security Token: </a:t>
            </a:r>
            <a:r>
              <a:rPr lang="en-US" sz="1580" kern="0" spc="-80" dirty="0">
                <a:solidFill>
                  <a:schemeClr val="accent6"/>
                </a:solidFill>
              </a:rPr>
              <a:t>Represents ownership in assets.</a:t>
            </a:r>
          </a:p>
          <a:p>
            <a:r>
              <a:rPr lang="en-US" sz="1580" kern="0" spc="-80" dirty="0">
                <a:solidFill>
                  <a:schemeClr val="accent2"/>
                </a:solidFill>
              </a:rPr>
              <a:t>NFTs (Non-Fungible Tokens): </a:t>
            </a:r>
            <a:r>
              <a:rPr lang="en-US" sz="1580" kern="0" spc="-80" dirty="0">
                <a:solidFill>
                  <a:schemeClr val="accent6"/>
                </a:solidFill>
              </a:rPr>
              <a:t>Unique digital assets.</a:t>
            </a:r>
          </a:p>
          <a:p>
            <a:endParaRPr lang="en-US" sz="1580" kern="0" spc="-80" dirty="0">
              <a:solidFill>
                <a:schemeClr val="accent6"/>
              </a:solidFill>
            </a:endParaRPr>
          </a:p>
          <a:p>
            <a:r>
              <a:rPr lang="en-US" sz="1580" kern="0" spc="-80" dirty="0">
                <a:solidFill>
                  <a:schemeClr val="accent2"/>
                </a:solidFill>
              </a:rPr>
              <a:t>7. Security in Blockchain</a:t>
            </a:r>
          </a:p>
          <a:p>
            <a:r>
              <a:rPr lang="en-US" sz="1580" kern="0" spc="-80" dirty="0">
                <a:solidFill>
                  <a:schemeClr val="accent2"/>
                </a:solidFill>
              </a:rPr>
              <a:t>Cryptography:</a:t>
            </a:r>
            <a:r>
              <a:rPr lang="en-US" sz="1580" kern="0" spc="-80" dirty="0">
                <a:solidFill>
                  <a:schemeClr val="accent6"/>
                </a:solidFill>
              </a:rPr>
              <a:t> Hashing (SHA-256, Keccak-256) and digital signatures (ECDSA).</a:t>
            </a:r>
          </a:p>
          <a:p>
            <a:r>
              <a:rPr lang="en-US" sz="1580" kern="0" spc="-80" dirty="0">
                <a:solidFill>
                  <a:schemeClr val="accent2"/>
                </a:solidFill>
              </a:rPr>
              <a:t>Immutability: </a:t>
            </a:r>
            <a:r>
              <a:rPr lang="en-US" sz="1580" kern="0" spc="-80" dirty="0">
                <a:solidFill>
                  <a:schemeClr val="accent6"/>
                </a:solidFill>
              </a:rPr>
              <a:t>Changing a block requires altering all subsequent blocks.</a:t>
            </a:r>
          </a:p>
          <a:p>
            <a:r>
              <a:rPr lang="en-US" sz="1580" kern="0" spc="-80" dirty="0">
                <a:solidFill>
                  <a:schemeClr val="accent2"/>
                </a:solidFill>
              </a:rPr>
              <a:t>51% Attack:</a:t>
            </a:r>
            <a:r>
              <a:rPr lang="en-US" sz="1580" kern="0" spc="-80" dirty="0">
                <a:solidFill>
                  <a:schemeClr val="accent6"/>
                </a:solidFill>
              </a:rPr>
              <a:t> If a malicious actor controls 51% of network computing power, they can manipulate the chain.</a:t>
            </a:r>
          </a:p>
        </p:txBody>
      </p:sp>
    </p:spTree>
    <p:extLst>
      <p:ext uri="{BB962C8B-B14F-4D97-AF65-F5344CB8AC3E}">
        <p14:creationId xmlns:p14="http://schemas.microsoft.com/office/powerpoint/2010/main" val="343069920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B4131-A239-8307-C16D-E11FB25BAB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D62E9AA-07BF-BB80-206B-C33E002D39AA}"/>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349BA0-AF99-3165-CB82-4872A09E6493}"/>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00F071-E7D5-830B-0243-076A2531C771}"/>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5D0EE0-1727-4BC2-3622-E1CF253F162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9EA261-F199-A76A-2110-1A6FF89F0C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23BF1A4-8D7B-01CD-47CD-80FB06D3075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883C809-D328-65E3-21E7-9215D73E9E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EE5EAC-CCA2-6121-7266-A7A2545A732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0F9C3C95-399A-14E9-A3CF-20208884E05D}"/>
              </a:ext>
            </a:extLst>
          </p:cNvPr>
          <p:cNvSpPr txBox="1">
            <a:spLocks/>
          </p:cNvSpPr>
          <p:nvPr/>
        </p:nvSpPr>
        <p:spPr>
          <a:xfrm>
            <a:off x="57151" y="1206341"/>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70" kern="0" spc="-80" dirty="0">
                <a:solidFill>
                  <a:schemeClr val="accent2"/>
                </a:solidFill>
              </a:rPr>
              <a:t>8. Blockchain Use Cases</a:t>
            </a:r>
          </a:p>
          <a:p>
            <a:r>
              <a:rPr lang="en-US" sz="1570" kern="0" spc="-80" dirty="0">
                <a:solidFill>
                  <a:schemeClr val="accent2"/>
                </a:solidFill>
              </a:rPr>
              <a:t>8.1 Finance</a:t>
            </a:r>
          </a:p>
          <a:p>
            <a:r>
              <a:rPr lang="en-US" sz="1570" kern="0" spc="-80" dirty="0">
                <a:solidFill>
                  <a:schemeClr val="accent6"/>
                </a:solidFill>
              </a:rPr>
              <a:t>Cryptocurrency payments</a:t>
            </a:r>
          </a:p>
          <a:p>
            <a:r>
              <a:rPr lang="en-US" sz="1570" kern="0" spc="-80" dirty="0">
                <a:solidFill>
                  <a:schemeClr val="accent6"/>
                </a:solidFill>
              </a:rPr>
              <a:t>Cross-border transfers</a:t>
            </a:r>
          </a:p>
          <a:p>
            <a:r>
              <a:rPr lang="en-US" sz="1570" kern="0" spc="-80" dirty="0">
                <a:solidFill>
                  <a:schemeClr val="accent6"/>
                </a:solidFill>
              </a:rPr>
              <a:t>Decentralized exchanges (DEXs)</a:t>
            </a:r>
          </a:p>
          <a:p>
            <a:r>
              <a:rPr lang="en-US" sz="1570" kern="0" spc="-80" dirty="0">
                <a:solidFill>
                  <a:schemeClr val="accent2"/>
                </a:solidFill>
              </a:rPr>
              <a:t>8.2 Supply Chain</a:t>
            </a:r>
          </a:p>
          <a:p>
            <a:r>
              <a:rPr lang="en-US" sz="1570" kern="0" spc="-80" dirty="0">
                <a:solidFill>
                  <a:schemeClr val="accent6"/>
                </a:solidFill>
              </a:rPr>
              <a:t>Track product origin</a:t>
            </a:r>
          </a:p>
          <a:p>
            <a:r>
              <a:rPr lang="en-US" sz="1570" kern="0" spc="-80" dirty="0">
                <a:solidFill>
                  <a:schemeClr val="accent6"/>
                </a:solidFill>
              </a:rPr>
              <a:t>Ensure authenticity</a:t>
            </a:r>
          </a:p>
          <a:p>
            <a:r>
              <a:rPr lang="en-US" sz="1570" kern="0" spc="-80" dirty="0">
                <a:solidFill>
                  <a:schemeClr val="accent6"/>
                </a:solidFill>
              </a:rPr>
              <a:t>Reduce fraud</a:t>
            </a:r>
          </a:p>
          <a:p>
            <a:r>
              <a:rPr lang="en-US" sz="1570" kern="0" spc="-80" dirty="0">
                <a:solidFill>
                  <a:schemeClr val="accent2"/>
                </a:solidFill>
              </a:rPr>
              <a:t>8.3 Healthcare</a:t>
            </a:r>
          </a:p>
          <a:p>
            <a:r>
              <a:rPr lang="en-US" sz="1570" kern="0" spc="-80" dirty="0">
                <a:solidFill>
                  <a:schemeClr val="accent6"/>
                </a:solidFill>
              </a:rPr>
              <a:t>Secure patient records</a:t>
            </a:r>
          </a:p>
          <a:p>
            <a:r>
              <a:rPr lang="en-US" sz="1570" kern="0" spc="-80" dirty="0">
                <a:solidFill>
                  <a:schemeClr val="accent6"/>
                </a:solidFill>
              </a:rPr>
              <a:t>Medical data sharing</a:t>
            </a:r>
          </a:p>
          <a:p>
            <a:r>
              <a:rPr lang="en-US" sz="1570" kern="0" spc="-80" dirty="0">
                <a:solidFill>
                  <a:schemeClr val="accent6"/>
                </a:solidFill>
              </a:rPr>
              <a:t>Drug traceability</a:t>
            </a:r>
          </a:p>
          <a:p>
            <a:r>
              <a:rPr lang="en-US" sz="1570" kern="0" spc="-80" dirty="0">
                <a:solidFill>
                  <a:schemeClr val="accent2"/>
                </a:solidFill>
              </a:rPr>
              <a:t>8.4 Governance</a:t>
            </a:r>
          </a:p>
          <a:p>
            <a:r>
              <a:rPr lang="en-US" sz="1570" kern="0" spc="-80" dirty="0">
                <a:solidFill>
                  <a:schemeClr val="accent6"/>
                </a:solidFill>
              </a:rPr>
              <a:t>Digital voting systems</a:t>
            </a:r>
          </a:p>
          <a:p>
            <a:r>
              <a:rPr lang="en-US" sz="1570" kern="0" spc="-80" dirty="0">
                <a:solidFill>
                  <a:schemeClr val="accent6"/>
                </a:solidFill>
              </a:rPr>
              <a:t>Transparent government records</a:t>
            </a:r>
          </a:p>
          <a:p>
            <a:r>
              <a:rPr lang="en-US" sz="1570" kern="0" spc="-80" dirty="0">
                <a:solidFill>
                  <a:schemeClr val="accent2"/>
                </a:solidFill>
              </a:rPr>
              <a:t>8.5 Other Emerging Uses</a:t>
            </a:r>
          </a:p>
          <a:p>
            <a:r>
              <a:rPr lang="en-US" sz="1570" kern="0" spc="-80" dirty="0">
                <a:solidFill>
                  <a:schemeClr val="accent6"/>
                </a:solidFill>
              </a:rPr>
              <a:t>Identity management</a:t>
            </a:r>
          </a:p>
          <a:p>
            <a:r>
              <a:rPr lang="en-US" sz="1570" kern="0" spc="-80" dirty="0">
                <a:solidFill>
                  <a:schemeClr val="accent6"/>
                </a:solidFill>
              </a:rPr>
              <a:t>Real estate</a:t>
            </a:r>
          </a:p>
          <a:p>
            <a:r>
              <a:rPr lang="en-US" sz="1570" kern="0" spc="-80" dirty="0">
                <a:solidFill>
                  <a:schemeClr val="accent6"/>
                </a:solidFill>
              </a:rPr>
              <a:t>Intellectual property protection</a:t>
            </a:r>
          </a:p>
        </p:txBody>
      </p:sp>
    </p:spTree>
    <p:extLst>
      <p:ext uri="{BB962C8B-B14F-4D97-AF65-F5344CB8AC3E}">
        <p14:creationId xmlns:p14="http://schemas.microsoft.com/office/powerpoint/2010/main" val="247610180"/>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86DFC-D251-8E1E-C858-D59323F6AF5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1A923A-364D-476C-419B-1DE132D75397}"/>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F539AD-9D35-EFA5-E2B4-D277DC0292D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8F8BDE9-EF79-E39D-6793-6CC7AE33403F}"/>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4D81F69-6DC7-F744-8A46-A9396E2A92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CCFCAC-3382-4F37-2CBA-D6B99EF103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491BAA5-E1E0-EC68-1FE8-40BBD47254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6DA54D-BAAD-B348-0748-9BD9C90365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D88F41-1EED-65D3-C61E-1D45192EA60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7FDD269-CB87-1862-F8DB-E690FC0C1B00}"/>
              </a:ext>
            </a:extLst>
          </p:cNvPr>
          <p:cNvSpPr txBox="1">
            <a:spLocks/>
          </p:cNvSpPr>
          <p:nvPr/>
        </p:nvSpPr>
        <p:spPr>
          <a:xfrm>
            <a:off x="57151" y="1206341"/>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9. Challenges of Blockchain</a:t>
            </a:r>
          </a:p>
          <a:p>
            <a:r>
              <a:rPr lang="en-US" sz="1600" kern="0" spc="-80" dirty="0">
                <a:solidFill>
                  <a:schemeClr val="accent2"/>
                </a:solidFill>
              </a:rPr>
              <a:t>Scalability:</a:t>
            </a:r>
            <a:r>
              <a:rPr lang="en-US" sz="1600" kern="0" spc="-80" dirty="0">
                <a:solidFill>
                  <a:schemeClr val="accent6"/>
                </a:solidFill>
              </a:rPr>
              <a:t> Handling millions of transactions per second.</a:t>
            </a:r>
          </a:p>
          <a:p>
            <a:r>
              <a:rPr lang="en-US" sz="1600" kern="0" spc="-80" dirty="0">
                <a:solidFill>
                  <a:schemeClr val="accent2"/>
                </a:solidFill>
              </a:rPr>
              <a:t>Energy Consumption: </a:t>
            </a:r>
            <a:r>
              <a:rPr lang="en-US" sz="1600" kern="0" spc="-80" dirty="0">
                <a:solidFill>
                  <a:schemeClr val="accent6"/>
                </a:solidFill>
              </a:rPr>
              <a:t>Especially in PoW networks.</a:t>
            </a:r>
          </a:p>
          <a:p>
            <a:r>
              <a:rPr lang="en-US" sz="1600" kern="0" spc="-80" dirty="0">
                <a:solidFill>
                  <a:schemeClr val="accent2"/>
                </a:solidFill>
              </a:rPr>
              <a:t>Regulatory Issues:</a:t>
            </a:r>
            <a:r>
              <a:rPr lang="en-US" sz="1600" kern="0" spc="-80" dirty="0">
                <a:solidFill>
                  <a:schemeClr val="accent6"/>
                </a:solidFill>
              </a:rPr>
              <a:t> Laws are evolving.</a:t>
            </a:r>
          </a:p>
          <a:p>
            <a:r>
              <a:rPr lang="en-US" sz="1600" kern="0" spc="-80" dirty="0">
                <a:solidFill>
                  <a:schemeClr val="accent2"/>
                </a:solidFill>
              </a:rPr>
              <a:t>Interoperability: </a:t>
            </a:r>
            <a:r>
              <a:rPr lang="en-US" sz="1600" kern="0" spc="-80" dirty="0">
                <a:solidFill>
                  <a:schemeClr val="accent6"/>
                </a:solidFill>
              </a:rPr>
              <a:t>Connecting different blockchains.</a:t>
            </a:r>
          </a:p>
          <a:p>
            <a:r>
              <a:rPr lang="en-US" sz="1600" kern="0" spc="-80" dirty="0">
                <a:solidFill>
                  <a:schemeClr val="accent2"/>
                </a:solidFill>
              </a:rPr>
              <a:t>Privacy: </a:t>
            </a:r>
            <a:r>
              <a:rPr lang="en-US" sz="1600" kern="0" spc="-80" dirty="0">
                <a:solidFill>
                  <a:schemeClr val="accent6"/>
                </a:solidFill>
              </a:rPr>
              <a:t>Public blockchains expose transaction history.</a:t>
            </a:r>
          </a:p>
          <a:p>
            <a:endParaRPr lang="en-US" sz="1600" kern="0" spc="-80" dirty="0">
              <a:solidFill>
                <a:schemeClr val="accent6"/>
              </a:solidFill>
            </a:endParaRPr>
          </a:p>
          <a:p>
            <a:r>
              <a:rPr lang="en-US" sz="1600" kern="0" spc="-80" dirty="0">
                <a:solidFill>
                  <a:schemeClr val="accent2"/>
                </a:solidFill>
              </a:rPr>
              <a:t>10. Advanced Concepts</a:t>
            </a:r>
          </a:p>
          <a:p>
            <a:r>
              <a:rPr lang="en-US" sz="1600" kern="0" spc="-80" dirty="0">
                <a:solidFill>
                  <a:schemeClr val="accent2"/>
                </a:solidFill>
              </a:rPr>
              <a:t>Layer 2 Solutions: </a:t>
            </a:r>
            <a:r>
              <a:rPr lang="en-US" sz="1600" kern="0" spc="-80" dirty="0">
                <a:solidFill>
                  <a:schemeClr val="accent6"/>
                </a:solidFill>
              </a:rPr>
              <a:t>Lightning Network, rollups to improve scalability.</a:t>
            </a:r>
          </a:p>
          <a:p>
            <a:r>
              <a:rPr lang="en-US" sz="1600" kern="0" spc="-80" dirty="0">
                <a:solidFill>
                  <a:schemeClr val="accent2"/>
                </a:solidFill>
              </a:rPr>
              <a:t>Sharding: </a:t>
            </a:r>
            <a:r>
              <a:rPr lang="en-US" sz="1600" kern="0" spc="-80" dirty="0">
                <a:solidFill>
                  <a:schemeClr val="accent6"/>
                </a:solidFill>
              </a:rPr>
              <a:t>Splitting the blockchain into parts to process parallel transactions.</a:t>
            </a:r>
          </a:p>
          <a:p>
            <a:r>
              <a:rPr lang="en-US" sz="1600" kern="0" spc="-80" dirty="0">
                <a:solidFill>
                  <a:schemeClr val="accent2"/>
                </a:solidFill>
              </a:rPr>
              <a:t>Decentralized Autonomous Organizations (DAO): </a:t>
            </a:r>
            <a:r>
              <a:rPr lang="en-US" sz="1600" kern="0" spc="-80" dirty="0">
                <a:solidFill>
                  <a:schemeClr val="accent6"/>
                </a:solidFill>
              </a:rPr>
              <a:t>Blockchain-based governance.</a:t>
            </a:r>
          </a:p>
          <a:p>
            <a:r>
              <a:rPr lang="en-US" sz="1600" kern="0" spc="-80" dirty="0">
                <a:solidFill>
                  <a:schemeClr val="accent2"/>
                </a:solidFill>
              </a:rPr>
              <a:t>Cross-chain protocols: </a:t>
            </a:r>
            <a:r>
              <a:rPr lang="en-US" sz="1600" kern="0" spc="-80" dirty="0">
                <a:solidFill>
                  <a:schemeClr val="accent6"/>
                </a:solidFill>
              </a:rPr>
              <a:t>Enable communication between different blockchains.</a:t>
            </a:r>
          </a:p>
        </p:txBody>
      </p:sp>
    </p:spTree>
    <p:extLst>
      <p:ext uri="{BB962C8B-B14F-4D97-AF65-F5344CB8AC3E}">
        <p14:creationId xmlns:p14="http://schemas.microsoft.com/office/powerpoint/2010/main" val="57060327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78DC8-B495-493A-89DE-DF2F86BDDD0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DFD55D-7AD6-9FC5-B14B-D62CF8A770FE}"/>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0EDCAE-9331-DAB3-5613-634F7E528AF1}"/>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8CEDC5-4DB7-2E6D-4AA2-57A4220E4709}"/>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18F999B-2FB3-2F19-C5CF-055E717832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7FD4B5-E284-8A4F-1D7B-0004901555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4391721-8381-5774-B46F-653E528DEB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36F0E2-F258-3E17-BBD1-7ADA9BA02C9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6E0992-BE74-0A3B-7157-46F43095BF3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D3A1EE-7AA4-5CD0-A9A1-EB48BED2AF73}"/>
              </a:ext>
            </a:extLst>
          </p:cNvPr>
          <p:cNvSpPr txBox="1">
            <a:spLocks/>
          </p:cNvSpPr>
          <p:nvPr/>
        </p:nvSpPr>
        <p:spPr>
          <a:xfrm>
            <a:off x="-1" y="1247894"/>
            <a:ext cx="8763000"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p:txBody>
      </p:sp>
      <p:pic>
        <p:nvPicPr>
          <p:cNvPr id="14" name="Picture 13">
            <a:extLst>
              <a:ext uri="{FF2B5EF4-FFF2-40B4-BE49-F238E27FC236}">
                <a16:creationId xmlns:a16="http://schemas.microsoft.com/office/drawing/2014/main" id="{0692C621-4F73-1DDD-C556-D963E8AAAC91}"/>
              </a:ext>
            </a:extLst>
          </p:cNvPr>
          <p:cNvPicPr>
            <a:picLocks noChangeAspect="1"/>
          </p:cNvPicPr>
          <p:nvPr/>
        </p:nvPicPr>
        <p:blipFill>
          <a:blip r:embed="rId8"/>
          <a:stretch>
            <a:fillRect/>
          </a:stretch>
        </p:blipFill>
        <p:spPr>
          <a:xfrm>
            <a:off x="9525" y="1863446"/>
            <a:ext cx="9144000" cy="4080153"/>
          </a:xfrm>
          <a:prstGeom prst="rect">
            <a:avLst/>
          </a:prstGeom>
        </p:spPr>
      </p:pic>
    </p:spTree>
    <p:extLst>
      <p:ext uri="{BB962C8B-B14F-4D97-AF65-F5344CB8AC3E}">
        <p14:creationId xmlns:p14="http://schemas.microsoft.com/office/powerpoint/2010/main" val="2864067279"/>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9C18C-ADA9-E0DD-E758-FC034B8642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8D6ECAB-E3F2-8B3B-A784-B228194473D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B6608E-FC86-10F9-4DBF-32BB19C572E5}"/>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B98BEC-859B-F05E-D819-005789CC21DB}"/>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C9AA4E-259A-66B8-5909-295EE95B0E2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FDD297-FF87-3551-33A4-0738F625A2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DCD96B-5C77-BC98-E710-D42E9111FF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5564BF7-DD42-BF4A-3781-62CB792A32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8803372-562B-A8AD-8A69-FEEAD3C6255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4" name="Picture 13">
            <a:extLst>
              <a:ext uri="{FF2B5EF4-FFF2-40B4-BE49-F238E27FC236}">
                <a16:creationId xmlns:a16="http://schemas.microsoft.com/office/drawing/2014/main" id="{5B1DF5E6-BB50-4804-B4AB-24B94ECFDB49}"/>
              </a:ext>
            </a:extLst>
          </p:cNvPr>
          <p:cNvPicPr>
            <a:picLocks noChangeAspect="1"/>
          </p:cNvPicPr>
          <p:nvPr/>
        </p:nvPicPr>
        <p:blipFill>
          <a:blip r:embed="rId8"/>
          <a:stretch>
            <a:fillRect/>
          </a:stretch>
        </p:blipFill>
        <p:spPr>
          <a:xfrm>
            <a:off x="12853" y="1828205"/>
            <a:ext cx="9144000" cy="2796309"/>
          </a:xfrm>
          <a:prstGeom prst="rect">
            <a:avLst/>
          </a:prstGeom>
        </p:spPr>
      </p:pic>
      <p:sp>
        <p:nvSpPr>
          <p:cNvPr id="16" name="object 2">
            <a:extLst>
              <a:ext uri="{FF2B5EF4-FFF2-40B4-BE49-F238E27FC236}">
                <a16:creationId xmlns:a16="http://schemas.microsoft.com/office/drawing/2014/main" id="{CB44439A-E3A6-D15F-75EB-9609686C72A9}"/>
              </a:ext>
            </a:extLst>
          </p:cNvPr>
          <p:cNvSpPr txBox="1">
            <a:spLocks/>
          </p:cNvSpPr>
          <p:nvPr/>
        </p:nvSpPr>
        <p:spPr>
          <a:xfrm>
            <a:off x="12853" y="4649857"/>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How blockchain enables orchestration and choreography</a:t>
            </a:r>
          </a:p>
          <a:p>
            <a:r>
              <a:rPr lang="en-US" sz="1500" kern="0" spc="-80" dirty="0">
                <a:solidFill>
                  <a:schemeClr val="accent6"/>
                </a:solidFill>
              </a:rPr>
              <a:t>Blockchain leverages smart contracts to automate and secure multi-party workflows, whether centrally orchestrated or peer-to-peer.</a:t>
            </a:r>
          </a:p>
          <a:p>
            <a:r>
              <a:rPr lang="en-US" sz="1500" kern="0" spc="-80" dirty="0">
                <a:solidFill>
                  <a:schemeClr val="accent2"/>
                </a:solidFill>
              </a:rPr>
              <a:t>Workflow automation: </a:t>
            </a:r>
            <a:r>
              <a:rPr lang="en-US" sz="1500" kern="0" spc="-80" dirty="0">
                <a:solidFill>
                  <a:schemeClr val="accent6"/>
                </a:solidFill>
              </a:rPr>
              <a:t>Smart contracts automate predefined actions when certain conditions are met, such as releasing payment upon delivery of goods or executing an insurance claim when specific criteria are verified.</a:t>
            </a:r>
          </a:p>
        </p:txBody>
      </p:sp>
      <p:sp>
        <p:nvSpPr>
          <p:cNvPr id="17" name="object 2">
            <a:extLst>
              <a:ext uri="{FF2B5EF4-FFF2-40B4-BE49-F238E27FC236}">
                <a16:creationId xmlns:a16="http://schemas.microsoft.com/office/drawing/2014/main" id="{5B4AE68D-C0BE-1F72-EB2F-3EFE1B23898C}"/>
              </a:ext>
            </a:extLst>
          </p:cNvPr>
          <p:cNvSpPr txBox="1">
            <a:spLocks/>
          </p:cNvSpPr>
          <p:nvPr/>
        </p:nvSpPr>
        <p:spPr>
          <a:xfrm>
            <a:off x="-1" y="1247894"/>
            <a:ext cx="8763000"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p:txBody>
      </p:sp>
    </p:spTree>
    <p:extLst>
      <p:ext uri="{BB962C8B-B14F-4D97-AF65-F5344CB8AC3E}">
        <p14:creationId xmlns:p14="http://schemas.microsoft.com/office/powerpoint/2010/main" val="2083860314"/>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16896-4D70-88A6-A9EC-68BB3F8349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F376B2-093A-D3D7-0489-1AAA036A8A9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5B2901-18BF-C99E-C033-C1879F38216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C62EFD-F4CB-79C5-FACC-8F0468326578}"/>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B9140A2-24B6-9802-78D2-9BD2C43A8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5FAC73-2404-5BEA-065D-2CEB0B46634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7F5882-3597-909D-AED9-AED0C13E3C7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533927-839C-CA69-7438-86C3FE9D722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280742-10D8-EC4B-3E62-5D3ADEF3E75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B445E573-F000-18A5-E217-C293C097D30A}"/>
              </a:ext>
            </a:extLst>
          </p:cNvPr>
          <p:cNvSpPr txBox="1">
            <a:spLocks/>
          </p:cNvSpPr>
          <p:nvPr/>
        </p:nvSpPr>
        <p:spPr>
          <a:xfrm>
            <a:off x="76201" y="1188209"/>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a:p>
            <a:r>
              <a:rPr lang="en-US" sz="1500" kern="0" spc="-80" dirty="0">
                <a:solidFill>
                  <a:schemeClr val="accent2"/>
                </a:solidFill>
              </a:rPr>
              <a:t>Trust and transparency:</a:t>
            </a:r>
            <a:r>
              <a:rPr lang="en-US" sz="1500" kern="0" spc="-80" dirty="0">
                <a:solidFill>
                  <a:schemeClr val="accent6"/>
                </a:solidFill>
              </a:rPr>
              <a:t> An immutable audit trail of all actions and message exchanges is created on the distributed ledger. All parties can view and verify the process status, increasing trust and accountability.</a:t>
            </a:r>
          </a:p>
          <a:p>
            <a:r>
              <a:rPr lang="en-US" sz="1500" kern="0" spc="-80" dirty="0">
                <a:solidFill>
                  <a:schemeClr val="accent2"/>
                </a:solidFill>
              </a:rPr>
              <a:t>Automated compliance:</a:t>
            </a:r>
            <a:r>
              <a:rPr lang="en-US" sz="1500" kern="0" spc="-80" dirty="0">
                <a:solidFill>
                  <a:schemeClr val="accent6"/>
                </a:solidFill>
              </a:rPr>
              <a:t> Rules can be coded directly into smart contracts, guaranteeing that all participants adhere to the agreed-upon business logic. This automatic enforcement ensures compliance without manual intervention.</a:t>
            </a:r>
          </a:p>
          <a:p>
            <a:r>
              <a:rPr lang="en-US" sz="1500" kern="0" spc="-80" dirty="0">
                <a:solidFill>
                  <a:schemeClr val="accent2"/>
                </a:solidFill>
              </a:rPr>
              <a:t>Confidentiality:</a:t>
            </a:r>
            <a:r>
              <a:rPr lang="en-US" sz="1500" kern="0" spc="-80" dirty="0">
                <a:solidFill>
                  <a:schemeClr val="accent6"/>
                </a:solidFill>
              </a:rPr>
              <a:t> While transparency is a core feature, techniques like zero-knowledge proofs (ZKPs) can be used to prove that a participant's action was valid without revealing sensitive underlying data to the entire network.</a:t>
            </a:r>
          </a:p>
          <a:p>
            <a:r>
              <a:rPr lang="en-US" sz="1500" kern="0" spc="-80" dirty="0">
                <a:solidFill>
                  <a:schemeClr val="accent2"/>
                </a:solidFill>
              </a:rPr>
              <a:t>Reduced intermediation:</a:t>
            </a:r>
            <a:r>
              <a:rPr lang="en-US" sz="1500" kern="0" spc="-80" dirty="0">
                <a:solidFill>
                  <a:schemeClr val="accent6"/>
                </a:solidFill>
              </a:rPr>
              <a:t> By automating and verifying interactions, blockchain reduces the reliance on costly and time-consuming third-party intermediaries. </a:t>
            </a:r>
          </a:p>
          <a:p>
            <a:r>
              <a:rPr lang="en-US" sz="1600" kern="0" spc="-80" dirty="0">
                <a:solidFill>
                  <a:schemeClr val="accent2"/>
                </a:solidFill>
              </a:rPr>
              <a:t>Use cases in practice</a:t>
            </a:r>
          </a:p>
          <a:p>
            <a:r>
              <a:rPr lang="en-US" sz="1600" kern="0" spc="-80" dirty="0">
                <a:solidFill>
                  <a:schemeClr val="accent6"/>
                </a:solidFill>
              </a:rPr>
              <a:t>Blockchain-enabled orchestration and choreography are already being applied across various industries to manage complex, multi-party processes.</a:t>
            </a:r>
          </a:p>
          <a:p>
            <a:r>
              <a:rPr lang="en-US" sz="1600" kern="0" spc="-80" dirty="0">
                <a:solidFill>
                  <a:schemeClr val="accent2"/>
                </a:solidFill>
              </a:rPr>
              <a:t>Supply chain management:</a:t>
            </a:r>
            <a:r>
              <a:rPr lang="en-US" sz="1600" kern="0" spc="-80" dirty="0">
                <a:solidFill>
                  <a:schemeClr val="accent6"/>
                </a:solidFill>
              </a:rPr>
              <a:t> A supply chain consortium can use a choreographed process to track goods from origin to destination. Smart contracts record product authenticity, transfer of ownership, and trigger payments automatically at each checkpoint, enhancing transparency and reducing fraud.</a:t>
            </a:r>
          </a:p>
          <a:p>
            <a:endParaRPr lang="en-US" sz="1500" kern="0" spc="-80" dirty="0">
              <a:solidFill>
                <a:schemeClr val="accent6"/>
              </a:solidFill>
            </a:endParaRPr>
          </a:p>
        </p:txBody>
      </p:sp>
    </p:spTree>
    <p:extLst>
      <p:ext uri="{BB962C8B-B14F-4D97-AF65-F5344CB8AC3E}">
        <p14:creationId xmlns:p14="http://schemas.microsoft.com/office/powerpoint/2010/main" val="362988281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8DEB3-1E12-4367-9805-F86743387B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A50D97-7F18-C7F4-81B5-1FCE0E81E85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55DF9-0357-FA30-CD0C-90404768009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E6D1926-A442-86CC-2B10-99E76C1F8D8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BE27DEB-3CBB-30D3-2868-70106CA9A7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0CAFE7-BBE3-B962-BA41-499A7ED274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71B526-08D5-09A4-5047-7C0DB90B0FC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845A53B-B82E-C31A-C9B7-19A4F1C607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26AF8D-2F19-6EFB-B748-05D54B7C551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F490D65C-3018-965D-6BA1-8C3F4838211B}"/>
              </a:ext>
            </a:extLst>
          </p:cNvPr>
          <p:cNvSpPr txBox="1">
            <a:spLocks/>
          </p:cNvSpPr>
          <p:nvPr/>
        </p:nvSpPr>
        <p:spPr>
          <a:xfrm>
            <a:off x="145230" y="1236883"/>
            <a:ext cx="8624937" cy="47782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a:p>
            <a:r>
              <a:rPr lang="en-US" sz="1500" kern="0" spc="-80" dirty="0">
                <a:solidFill>
                  <a:schemeClr val="accent2"/>
                </a:solidFill>
              </a:rPr>
              <a:t>Construction industry: </a:t>
            </a:r>
            <a:r>
              <a:rPr lang="en-US" sz="1500" kern="0" spc="-80" dirty="0">
                <a:solidFill>
                  <a:schemeClr val="accent6"/>
                </a:solidFill>
              </a:rPr>
              <a:t>A complex project involving architects, engineers, and suppliers can use a blockchain-orchestrated workflow. An orchestrator smart contract controls the project's progress, triggers payments, and manages permissions for accessing design documents represented as non-fungible tokens (NFTs), all while preserving confidentiality.</a:t>
            </a:r>
          </a:p>
          <a:p>
            <a:r>
              <a:rPr lang="en-US" sz="1600" kern="0" spc="-80" dirty="0">
                <a:solidFill>
                  <a:schemeClr val="accent2"/>
                </a:solidFill>
              </a:rPr>
              <a:t>Decentralized finance (DeFi):</a:t>
            </a:r>
            <a:r>
              <a:rPr lang="en-US" sz="1600" kern="0" spc="-80" dirty="0">
                <a:solidFill>
                  <a:schemeClr val="accent6"/>
                </a:solidFill>
              </a:rPr>
              <a:t> Complex DeFi products are assembled using choreographed smart contracts that interact with each other in a decentralized manner, without a central coordinator. This allows for a global peer-to-peer financial system.</a:t>
            </a:r>
          </a:p>
          <a:p>
            <a:r>
              <a:rPr lang="en-US" sz="1600" kern="0" spc="-80" dirty="0" err="1">
                <a:solidFill>
                  <a:schemeClr val="accent2"/>
                </a:solidFill>
              </a:rPr>
              <a:t>DevSecOps</a:t>
            </a:r>
            <a:r>
              <a:rPr lang="en-US" sz="1600" kern="0" spc="-80" dirty="0">
                <a:solidFill>
                  <a:schemeClr val="accent2"/>
                </a:solidFill>
              </a:rPr>
              <a:t>: </a:t>
            </a:r>
            <a:r>
              <a:rPr lang="en-US" sz="1600" kern="0" spc="-80" dirty="0">
                <a:solidFill>
                  <a:schemeClr val="accent6"/>
                </a:solidFill>
              </a:rPr>
              <a:t>Smart contracts can orchestrate a decentralized software deployment pipeline. The contract can enforce that each step—from code build to testing to deployment—is executed in the correct order and authorized by the right cryptographic signatures, creating a tamper-proof log for security audits.</a:t>
            </a:r>
          </a:p>
          <a:p>
            <a:r>
              <a:rPr lang="en-US" sz="1600" kern="0" spc="-80" dirty="0">
                <a:solidFill>
                  <a:schemeClr val="accent2"/>
                </a:solidFill>
              </a:rPr>
              <a:t>Digital twins:</a:t>
            </a:r>
            <a:r>
              <a:rPr lang="en-US" sz="1600" kern="0" spc="-80" dirty="0">
                <a:solidFill>
                  <a:schemeClr val="accent6"/>
                </a:solidFill>
              </a:rPr>
              <a:t> In manufacturing, blockchain can orchestrate multiple digital twins (virtual replicas of physical systems) to ensure data integrity and track machine actions. This supports predictive maintenance and process optimization in an automated and trustworthy way. </a:t>
            </a:r>
          </a:p>
          <a:p>
            <a:endParaRPr lang="en-US" sz="1500" kern="0" spc="-80" dirty="0">
              <a:solidFill>
                <a:schemeClr val="accent6"/>
              </a:solidFill>
            </a:endParaRPr>
          </a:p>
          <a:p>
            <a:endParaRPr lang="en-US" sz="1950" kern="0" spc="-80" dirty="0">
              <a:solidFill>
                <a:schemeClr val="accent6"/>
              </a:solidFill>
            </a:endParaRPr>
          </a:p>
        </p:txBody>
      </p:sp>
    </p:spTree>
    <p:extLst>
      <p:ext uri="{BB962C8B-B14F-4D97-AF65-F5344CB8AC3E}">
        <p14:creationId xmlns:p14="http://schemas.microsoft.com/office/powerpoint/2010/main" val="2216363826"/>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646B8-A754-245D-D8C5-2222D5066F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23B63DE-DFED-0555-83F3-E6422CF9D33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2711D9-D7C4-0404-76B5-D641B4AF266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7ED26B-C1C4-9DA1-A5F0-E2AA93F296C4}"/>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235F21-E854-C09C-609E-29B588716B9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EF83E85-92B2-7A1E-E644-4F26144A357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2A60A-70F6-9331-1E53-ECEB1346105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F0D60B3-8F71-DF58-4954-D0B90C330E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2FBBFB-2F02-F71A-1CF7-BA89C7E29BD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92C7BE5A-788F-7DCE-C60F-ED71545A014D}"/>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1. Layer 2 Solutions (Off-chain Scaling)</a:t>
            </a:r>
          </a:p>
          <a:p>
            <a:r>
              <a:rPr lang="en-US" sz="1500" kern="0" spc="-80" dirty="0">
                <a:solidFill>
                  <a:schemeClr val="accent6"/>
                </a:solidFill>
              </a:rPr>
              <a:t>Layer 2 solutions are protocols built on top of a blockchain to increase scalability and reduce transaction costs while leveraging the security of the underlying blockchain.</a:t>
            </a:r>
          </a:p>
          <a:p>
            <a:r>
              <a:rPr lang="en-US" sz="1500" kern="0" spc="-80" dirty="0">
                <a:solidFill>
                  <a:schemeClr val="accent2"/>
                </a:solidFill>
              </a:rPr>
              <a:t>1.1 Lightning Network (Bitcoin)</a:t>
            </a:r>
          </a:p>
          <a:p>
            <a:r>
              <a:rPr lang="en-US" sz="1500" kern="0" spc="-80" dirty="0">
                <a:solidFill>
                  <a:schemeClr val="accent6"/>
                </a:solidFill>
              </a:rPr>
              <a:t>Off-chain network for instant micropayments.</a:t>
            </a:r>
          </a:p>
          <a:p>
            <a:r>
              <a:rPr lang="en-US" sz="1500" kern="0" spc="-80" dirty="0">
                <a:solidFill>
                  <a:schemeClr val="accent6"/>
                </a:solidFill>
              </a:rPr>
              <a:t>Users open payment channels and transact off-chain.</a:t>
            </a:r>
          </a:p>
          <a:p>
            <a:r>
              <a:rPr lang="en-US" sz="1500" kern="0" spc="-80" dirty="0">
                <a:solidFill>
                  <a:schemeClr val="accent6"/>
                </a:solidFill>
              </a:rPr>
              <a:t>Only the final net settlement goes on-chain, reducing congestion.</a:t>
            </a:r>
          </a:p>
          <a:p>
            <a:r>
              <a:rPr lang="en-US" sz="1500" kern="0" spc="-80" dirty="0">
                <a:solidFill>
                  <a:schemeClr val="accent2"/>
                </a:solidFill>
              </a:rPr>
              <a:t>1.2 Rollups (Ethereum)</a:t>
            </a:r>
          </a:p>
          <a:p>
            <a:r>
              <a:rPr lang="en-US" sz="1500" kern="0" spc="-80" dirty="0">
                <a:solidFill>
                  <a:schemeClr val="accent6"/>
                </a:solidFill>
              </a:rPr>
              <a:t>Transactions are executed off-chain, but data is posted on-chain.</a:t>
            </a:r>
          </a:p>
          <a:p>
            <a:r>
              <a:rPr lang="en-US" sz="1500" kern="0" spc="-80" dirty="0">
                <a:solidFill>
                  <a:schemeClr val="accent2"/>
                </a:solidFill>
              </a:rPr>
              <a:t>Types:</a:t>
            </a:r>
          </a:p>
          <a:p>
            <a:r>
              <a:rPr lang="en-US" sz="1500" kern="0" spc="-80" dirty="0">
                <a:solidFill>
                  <a:schemeClr val="accent2"/>
                </a:solidFill>
              </a:rPr>
              <a:t>Optimistic Rollups: </a:t>
            </a:r>
            <a:r>
              <a:rPr lang="en-US" sz="1500" kern="0" spc="-80" dirty="0">
                <a:solidFill>
                  <a:schemeClr val="accent6"/>
                </a:solidFill>
              </a:rPr>
              <a:t>Assume transactions are valid; challenges can be raised.</a:t>
            </a:r>
          </a:p>
          <a:p>
            <a:r>
              <a:rPr lang="en-US" sz="1500" kern="0" spc="-80" dirty="0">
                <a:solidFill>
                  <a:schemeClr val="accent2"/>
                </a:solidFill>
              </a:rPr>
              <a:t>ZK Rollups (Zero-Knowledge): </a:t>
            </a:r>
            <a:r>
              <a:rPr lang="en-US" sz="1500" kern="0" spc="-80" dirty="0">
                <a:solidFill>
                  <a:schemeClr val="accent6"/>
                </a:solidFill>
              </a:rPr>
              <a:t>Use cryptographic proofs to verify correctness.</a:t>
            </a:r>
          </a:p>
          <a:p>
            <a:r>
              <a:rPr lang="en-US" sz="1500" kern="0" spc="-80" dirty="0">
                <a:solidFill>
                  <a:schemeClr val="accent2"/>
                </a:solidFill>
              </a:rPr>
              <a:t>1.3 Plasma</a:t>
            </a:r>
          </a:p>
          <a:p>
            <a:r>
              <a:rPr lang="en-US" sz="1500" kern="0" spc="-80" dirty="0">
                <a:solidFill>
                  <a:schemeClr val="accent6"/>
                </a:solidFill>
              </a:rPr>
              <a:t>Framework for child chains connected to Ethereum.</a:t>
            </a:r>
          </a:p>
          <a:p>
            <a:r>
              <a:rPr lang="en-US" sz="1500" kern="0" spc="-80" dirty="0">
                <a:solidFill>
                  <a:schemeClr val="accent6"/>
                </a:solidFill>
              </a:rPr>
              <a:t>Offloads computation to child chains while relying on Ethereum for security.</a:t>
            </a:r>
          </a:p>
          <a:p>
            <a:r>
              <a:rPr lang="en-US" sz="1500" kern="0" spc="-80" dirty="0">
                <a:solidFill>
                  <a:schemeClr val="accent2"/>
                </a:solidFill>
              </a:rPr>
              <a:t>1.4 State Channels</a:t>
            </a:r>
          </a:p>
          <a:p>
            <a:r>
              <a:rPr lang="en-US" sz="1500" kern="0" spc="-80" dirty="0">
                <a:solidFill>
                  <a:schemeClr val="accent6"/>
                </a:solidFill>
              </a:rPr>
              <a:t>Participants exchange multiple transactions off-chain.</a:t>
            </a:r>
          </a:p>
          <a:p>
            <a:r>
              <a:rPr lang="en-US" sz="1500" kern="0" spc="-80" dirty="0">
                <a:solidFill>
                  <a:schemeClr val="accent6"/>
                </a:solidFill>
              </a:rPr>
              <a:t>Only the final state is committed to the blockchain.</a:t>
            </a:r>
          </a:p>
          <a:p>
            <a:r>
              <a:rPr lang="en-US" sz="1500" kern="0" spc="-80" dirty="0">
                <a:solidFill>
                  <a:schemeClr val="accent6"/>
                </a:solidFill>
              </a:rPr>
              <a:t>Reduces gas costs and increases throughput.</a:t>
            </a:r>
          </a:p>
        </p:txBody>
      </p:sp>
    </p:spTree>
    <p:extLst>
      <p:ext uri="{BB962C8B-B14F-4D97-AF65-F5344CB8AC3E}">
        <p14:creationId xmlns:p14="http://schemas.microsoft.com/office/powerpoint/2010/main" val="3079466589"/>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AC2F1-7700-7616-E161-4A1A3707D8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BADB49-D0D3-BD9B-3FF6-C7F97F74641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0E5732-B8C0-7054-74D9-5B92CF75F0DD}"/>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882460A-D534-124A-EB01-F2087561EB29}"/>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AE59CE4-5472-D6F4-BD16-97B96F5025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EFED535-FC85-E11F-4D67-920BC96BF6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4F40C59-9364-3D6B-7760-BF98C0C381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79DC30-FAED-E373-DB0C-AC9D0A0A985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3CC7DC-1F5C-3B19-202B-53D71E62C89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7DBDE937-6BC4-B82A-FAAC-F80BDEBAD5F5}"/>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2. Sharding</a:t>
            </a:r>
          </a:p>
          <a:p>
            <a:r>
              <a:rPr lang="en-US" sz="1500" kern="0" spc="-80" dirty="0">
                <a:solidFill>
                  <a:schemeClr val="accent6"/>
                </a:solidFill>
              </a:rPr>
              <a:t>Sharding splits the blockchain into smaller partitions called shards to improve scalability.</a:t>
            </a:r>
          </a:p>
          <a:p>
            <a:r>
              <a:rPr lang="en-US" sz="1500" kern="0" spc="-80" dirty="0">
                <a:solidFill>
                  <a:schemeClr val="accent6"/>
                </a:solidFill>
              </a:rPr>
              <a:t>Each shard processes its own subset of transactions in parallel.</a:t>
            </a:r>
          </a:p>
          <a:p>
            <a:r>
              <a:rPr lang="en-US" sz="1500" kern="0" spc="-80" dirty="0">
                <a:solidFill>
                  <a:schemeClr val="accent6"/>
                </a:solidFill>
              </a:rPr>
              <a:t>Ethereum 2.0 is moving toward sharded chains.</a:t>
            </a:r>
          </a:p>
          <a:p>
            <a:r>
              <a:rPr lang="en-US" sz="1500" kern="0" spc="-80" dirty="0">
                <a:solidFill>
                  <a:schemeClr val="accent2"/>
                </a:solidFill>
              </a:rPr>
              <a:t>Sharding Types:</a:t>
            </a:r>
          </a:p>
          <a:p>
            <a:r>
              <a:rPr lang="en-US" sz="1500" kern="0" spc="-80" dirty="0">
                <a:solidFill>
                  <a:schemeClr val="accent2"/>
                </a:solidFill>
              </a:rPr>
              <a:t>Network Sharding: </a:t>
            </a:r>
            <a:r>
              <a:rPr lang="en-US" sz="1500" kern="0" spc="-80" dirty="0">
                <a:solidFill>
                  <a:schemeClr val="accent6"/>
                </a:solidFill>
              </a:rPr>
              <a:t>Splits network nodes into shards.</a:t>
            </a:r>
          </a:p>
          <a:p>
            <a:r>
              <a:rPr lang="en-US" sz="1500" kern="0" spc="-80" dirty="0">
                <a:solidFill>
                  <a:schemeClr val="accent2"/>
                </a:solidFill>
              </a:rPr>
              <a:t>Transaction Sharding: </a:t>
            </a:r>
            <a:r>
              <a:rPr lang="en-US" sz="1500" kern="0" spc="-80" dirty="0">
                <a:solidFill>
                  <a:schemeClr val="accent6"/>
                </a:solidFill>
              </a:rPr>
              <a:t>Transactions are processed in separate shards.</a:t>
            </a:r>
          </a:p>
          <a:p>
            <a:r>
              <a:rPr lang="en-US" sz="1500" kern="0" spc="-80" dirty="0">
                <a:solidFill>
                  <a:schemeClr val="accent2"/>
                </a:solidFill>
              </a:rPr>
              <a:t>State Sharding: </a:t>
            </a:r>
            <a:r>
              <a:rPr lang="en-US" sz="1500" kern="0" spc="-80" dirty="0">
                <a:solidFill>
                  <a:schemeClr val="accent6"/>
                </a:solidFill>
              </a:rPr>
              <a:t>Each shard maintains part of the blockchain state.</a:t>
            </a:r>
          </a:p>
          <a:p>
            <a:r>
              <a:rPr lang="en-US" sz="1500" kern="0" spc="-80" dirty="0">
                <a:solidFill>
                  <a:schemeClr val="accent2"/>
                </a:solidFill>
              </a:rPr>
              <a:t>3. Interoperability and Cross-chain Protocols</a:t>
            </a:r>
          </a:p>
          <a:p>
            <a:r>
              <a:rPr lang="en-US" sz="1500" kern="0" spc="-80" dirty="0">
                <a:solidFill>
                  <a:schemeClr val="accent6"/>
                </a:solidFill>
              </a:rPr>
              <a:t>Blockchains are often isolated, so interoperability is essential for exchanging assets and data.</a:t>
            </a:r>
          </a:p>
          <a:p>
            <a:r>
              <a:rPr lang="en-US" sz="1500" kern="0" spc="-80" dirty="0">
                <a:solidFill>
                  <a:schemeClr val="accent2"/>
                </a:solidFill>
              </a:rPr>
              <a:t>3.1 Atomic Swaps</a:t>
            </a:r>
          </a:p>
          <a:p>
            <a:r>
              <a:rPr lang="en-US" sz="1500" kern="0" spc="-80" dirty="0">
                <a:solidFill>
                  <a:schemeClr val="accent6"/>
                </a:solidFill>
              </a:rPr>
              <a:t>Peer-to-peer exchange of cryptocurrencies without intermediaries.</a:t>
            </a:r>
          </a:p>
          <a:p>
            <a:r>
              <a:rPr lang="en-US" sz="1500" kern="0" spc="-80" dirty="0">
                <a:solidFill>
                  <a:schemeClr val="accent6"/>
                </a:solidFill>
              </a:rPr>
              <a:t>Uses hashed </a:t>
            </a:r>
            <a:r>
              <a:rPr lang="en-US" sz="1500" kern="0" spc="-80" dirty="0" err="1">
                <a:solidFill>
                  <a:schemeClr val="accent6"/>
                </a:solidFill>
              </a:rPr>
              <a:t>timelock</a:t>
            </a:r>
            <a:r>
              <a:rPr lang="en-US" sz="1500" kern="0" spc="-80" dirty="0">
                <a:solidFill>
                  <a:schemeClr val="accent6"/>
                </a:solidFill>
              </a:rPr>
              <a:t> contracts (HTLC) to ensure atomicity.</a:t>
            </a:r>
          </a:p>
          <a:p>
            <a:r>
              <a:rPr lang="en-US" sz="1500" kern="0" spc="-80" dirty="0">
                <a:solidFill>
                  <a:schemeClr val="accent2"/>
                </a:solidFill>
              </a:rPr>
              <a:t>3.2 Cross-chain Bridges</a:t>
            </a:r>
          </a:p>
          <a:p>
            <a:r>
              <a:rPr lang="en-US" sz="1500" kern="0" spc="-80" dirty="0">
                <a:solidFill>
                  <a:schemeClr val="accent6"/>
                </a:solidFill>
              </a:rPr>
              <a:t>Allow transfer of assets between blockchains.</a:t>
            </a:r>
          </a:p>
          <a:p>
            <a:r>
              <a:rPr lang="en-US" sz="1500" kern="0" spc="-80" dirty="0">
                <a:solidFill>
                  <a:schemeClr val="accent6"/>
                </a:solidFill>
              </a:rPr>
              <a:t>Example: WBTC (Wrapped Bitcoin) on Ethereum.</a:t>
            </a:r>
          </a:p>
          <a:p>
            <a:r>
              <a:rPr lang="en-US" sz="1500" kern="0" spc="-80" dirty="0">
                <a:solidFill>
                  <a:schemeClr val="accent2"/>
                </a:solidFill>
              </a:rPr>
              <a:t>3.3 </a:t>
            </a:r>
            <a:r>
              <a:rPr lang="en-US" sz="1500" kern="0" spc="-80" dirty="0" err="1">
                <a:solidFill>
                  <a:schemeClr val="accent2"/>
                </a:solidFill>
              </a:rPr>
              <a:t>Interledger</a:t>
            </a:r>
            <a:r>
              <a:rPr lang="en-US" sz="1500" kern="0" spc="-80" dirty="0">
                <a:solidFill>
                  <a:schemeClr val="accent2"/>
                </a:solidFill>
              </a:rPr>
              <a:t> Protocol (ILP)</a:t>
            </a:r>
          </a:p>
          <a:p>
            <a:r>
              <a:rPr lang="en-US" sz="1500" kern="0" spc="-80" dirty="0">
                <a:solidFill>
                  <a:schemeClr val="accent6"/>
                </a:solidFill>
              </a:rPr>
              <a:t>Connects different ledgers for cross-border payments.</a:t>
            </a:r>
          </a:p>
          <a:p>
            <a:r>
              <a:rPr lang="en-US" sz="1500" kern="0" spc="-80" dirty="0">
                <a:solidFill>
                  <a:schemeClr val="accent6"/>
                </a:solidFill>
              </a:rPr>
              <a:t>Supports both crypto and traditional financial networks.</a:t>
            </a:r>
          </a:p>
        </p:txBody>
      </p:sp>
    </p:spTree>
    <p:extLst>
      <p:ext uri="{BB962C8B-B14F-4D97-AF65-F5344CB8AC3E}">
        <p14:creationId xmlns:p14="http://schemas.microsoft.com/office/powerpoint/2010/main" val="229836387"/>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D4CC2-9F84-C5DC-78AC-72C16F6802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D7AEC1-A21D-F82F-B441-896B4C5504DC}"/>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045D1C-EE8F-8162-7E3B-22975F04A8A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305BC4-96A1-46D7-B724-48454A440D85}"/>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EB32C2C-D8C9-FCAF-2C73-1BD172433F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D4E3384-75A0-4BEF-10BC-4E26B81A7A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8ECA7E-E0BE-C8EF-E34D-B56A37E041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763AAA3-EB6A-940A-11B7-7F251661B18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67A3E12-B8D9-3E8C-9827-12CB8634236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7FF5DF3B-97FC-CD9A-B643-2A69209C32F4}"/>
              </a:ext>
            </a:extLst>
          </p:cNvPr>
          <p:cNvSpPr txBox="1">
            <a:spLocks/>
          </p:cNvSpPr>
          <p:nvPr/>
        </p:nvSpPr>
        <p:spPr>
          <a:xfrm>
            <a:off x="145230" y="1236883"/>
            <a:ext cx="8624937" cy="44550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4. Decentralized Governance</a:t>
            </a:r>
          </a:p>
          <a:p>
            <a:r>
              <a:rPr lang="en-US" sz="1500" kern="0" spc="-80" dirty="0">
                <a:solidFill>
                  <a:schemeClr val="accent2"/>
                </a:solidFill>
              </a:rPr>
              <a:t>4.1 DAOs (Decentralized Autonomous Organizations)</a:t>
            </a:r>
          </a:p>
          <a:p>
            <a:r>
              <a:rPr lang="en-US" sz="1500" kern="0" spc="-80" dirty="0">
                <a:solidFill>
                  <a:schemeClr val="accent6"/>
                </a:solidFill>
              </a:rPr>
              <a:t>Organizations governed by smart contracts and token holders.</a:t>
            </a:r>
          </a:p>
          <a:p>
            <a:r>
              <a:rPr lang="en-US" sz="1500" kern="0" spc="-80" dirty="0">
                <a:solidFill>
                  <a:schemeClr val="accent6"/>
                </a:solidFill>
              </a:rPr>
              <a:t>Decisions like fund allocation or protocol upgrades are voted on-chain.</a:t>
            </a:r>
          </a:p>
          <a:p>
            <a:r>
              <a:rPr lang="en-US" sz="1500" kern="0" spc="-80" dirty="0">
                <a:solidFill>
                  <a:schemeClr val="accent2"/>
                </a:solidFill>
              </a:rPr>
              <a:t>Example: </a:t>
            </a:r>
            <a:r>
              <a:rPr lang="en-US" sz="1500" kern="0" spc="-80" dirty="0" err="1">
                <a:solidFill>
                  <a:schemeClr val="accent6"/>
                </a:solidFill>
              </a:rPr>
              <a:t>MakerDAO</a:t>
            </a:r>
            <a:r>
              <a:rPr lang="en-US" sz="1500" kern="0" spc="-80" dirty="0">
                <a:solidFill>
                  <a:schemeClr val="accent6"/>
                </a:solidFill>
              </a:rPr>
              <a:t>, Uniswap governance.</a:t>
            </a:r>
          </a:p>
          <a:p>
            <a:r>
              <a:rPr lang="en-US" sz="1500" kern="0" spc="-80" dirty="0">
                <a:solidFill>
                  <a:schemeClr val="accent2"/>
                </a:solidFill>
              </a:rPr>
              <a:t>4.2 On-chain vs Off-chain Governance</a:t>
            </a:r>
          </a:p>
          <a:p>
            <a:r>
              <a:rPr lang="en-US" sz="1500" kern="0" spc="-80" dirty="0">
                <a:solidFill>
                  <a:schemeClr val="accent2"/>
                </a:solidFill>
              </a:rPr>
              <a:t>On-chain: </a:t>
            </a:r>
            <a:r>
              <a:rPr lang="en-US" sz="1500" kern="0" spc="-80" dirty="0">
                <a:solidFill>
                  <a:schemeClr val="accent6"/>
                </a:solidFill>
              </a:rPr>
              <a:t>Voting and execution happens on the blockchain.</a:t>
            </a:r>
          </a:p>
          <a:p>
            <a:r>
              <a:rPr lang="en-US" sz="1500" kern="0" spc="-80" dirty="0">
                <a:solidFill>
                  <a:schemeClr val="accent2"/>
                </a:solidFill>
              </a:rPr>
              <a:t>Off-chain: </a:t>
            </a:r>
            <a:r>
              <a:rPr lang="en-US" sz="1500" kern="0" spc="-80" dirty="0">
                <a:solidFill>
                  <a:schemeClr val="accent6"/>
                </a:solidFill>
              </a:rPr>
              <a:t>Voting off-chain; blockchain only enforces final decision.</a:t>
            </a:r>
          </a:p>
          <a:p>
            <a:endParaRPr lang="en-US" sz="1500" kern="0" spc="-80" dirty="0">
              <a:solidFill>
                <a:schemeClr val="accent6"/>
              </a:solidFill>
            </a:endParaRPr>
          </a:p>
          <a:p>
            <a:r>
              <a:rPr lang="en-US" sz="1500" kern="0" spc="-80" dirty="0">
                <a:solidFill>
                  <a:schemeClr val="accent2"/>
                </a:solidFill>
              </a:rPr>
              <a:t>5. Privacy and Confidentiality</a:t>
            </a:r>
          </a:p>
          <a:p>
            <a:r>
              <a:rPr lang="en-US" sz="1500" kern="0" spc="-80" dirty="0">
                <a:solidFill>
                  <a:schemeClr val="accent6"/>
                </a:solidFill>
              </a:rPr>
              <a:t>Public blockchains are transparent, which is not ideal for sensitive data. Advanced blockchain projects implement privacy layers:</a:t>
            </a:r>
          </a:p>
          <a:p>
            <a:r>
              <a:rPr lang="en-US" sz="1500" kern="0" spc="-80" dirty="0">
                <a:solidFill>
                  <a:schemeClr val="accent2"/>
                </a:solidFill>
              </a:rPr>
              <a:t>5.1 Zero-Knowledge Proofs (ZKP)</a:t>
            </a:r>
          </a:p>
          <a:p>
            <a:r>
              <a:rPr lang="en-US" sz="1500" kern="0" spc="-80" dirty="0">
                <a:solidFill>
                  <a:schemeClr val="accent6"/>
                </a:solidFill>
              </a:rPr>
              <a:t>Cryptographic method to prove knowledge of data without revealing it.</a:t>
            </a:r>
          </a:p>
          <a:p>
            <a:r>
              <a:rPr lang="en-US" sz="1500" kern="0" spc="-80" dirty="0">
                <a:solidFill>
                  <a:schemeClr val="accent2"/>
                </a:solidFill>
              </a:rPr>
              <a:t>Example: </a:t>
            </a:r>
            <a:r>
              <a:rPr lang="en-US" sz="1500" kern="0" spc="-80" dirty="0" err="1">
                <a:solidFill>
                  <a:schemeClr val="accent6"/>
                </a:solidFill>
              </a:rPr>
              <a:t>Zcash</a:t>
            </a:r>
            <a:r>
              <a:rPr lang="en-US" sz="1500" kern="0" spc="-80" dirty="0">
                <a:solidFill>
                  <a:schemeClr val="accent6"/>
                </a:solidFill>
              </a:rPr>
              <a:t> uses </a:t>
            </a:r>
            <a:r>
              <a:rPr lang="en-US" sz="1500" kern="0" spc="-80" dirty="0" err="1">
                <a:solidFill>
                  <a:schemeClr val="accent6"/>
                </a:solidFill>
              </a:rPr>
              <a:t>zk</a:t>
            </a:r>
            <a:r>
              <a:rPr lang="en-US" sz="1500" kern="0" spc="-80" dirty="0">
                <a:solidFill>
                  <a:schemeClr val="accent6"/>
                </a:solidFill>
              </a:rPr>
              <a:t>-SNARKs for private transactions.</a:t>
            </a:r>
          </a:p>
          <a:p>
            <a:r>
              <a:rPr lang="en-US" sz="1500" kern="0" spc="-80" dirty="0">
                <a:solidFill>
                  <a:schemeClr val="accent2"/>
                </a:solidFill>
              </a:rPr>
              <a:t>5.2 Confidential Transactions</a:t>
            </a:r>
          </a:p>
          <a:p>
            <a:r>
              <a:rPr lang="en-US" sz="1500" kern="0" spc="-80" dirty="0">
                <a:solidFill>
                  <a:schemeClr val="accent6"/>
                </a:solidFill>
              </a:rPr>
              <a:t>Hide transaction amounts but allow verification.</a:t>
            </a:r>
          </a:p>
          <a:p>
            <a:r>
              <a:rPr lang="en-US" sz="1500" kern="0" spc="-80" dirty="0">
                <a:solidFill>
                  <a:schemeClr val="accent6"/>
                </a:solidFill>
              </a:rPr>
              <a:t>Often used in enterprise blockchain networks.</a:t>
            </a:r>
          </a:p>
        </p:txBody>
      </p:sp>
    </p:spTree>
    <p:extLst>
      <p:ext uri="{BB962C8B-B14F-4D97-AF65-F5344CB8AC3E}">
        <p14:creationId xmlns:p14="http://schemas.microsoft.com/office/powerpoint/2010/main" val="1005459429"/>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DDD4-FA46-7397-9F1C-E2C3CD8A96A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B3C087-C8DE-1407-B822-B305F8CAFCD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96BA817-CB2B-FB09-EF22-6B76CE2730ED}"/>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707156-BD5B-C4A4-F162-E0838DC1AAD5}"/>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A5DFBA-8416-649A-BA87-74ADB2FFDDC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2C0A5B5-6B9B-2FE3-A5AC-E901814E4A9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D99CF3-A6C7-C7AF-C40D-BB44B7DFD5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A8E7AEC-C6EA-AAAE-011C-C527AC8131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0ED6B9-E1FF-E661-2EF9-894C9D64D35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2A82664D-CDAE-8A3F-0394-088B36142286}"/>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5.3 Mixers and Privacy Coins</a:t>
            </a:r>
          </a:p>
          <a:p>
            <a:r>
              <a:rPr lang="en-US" sz="1500" kern="0" spc="-80" dirty="0">
                <a:solidFill>
                  <a:schemeClr val="accent6"/>
                </a:solidFill>
              </a:rPr>
              <a:t>Mix transactions to obscure sender/receiver information.</a:t>
            </a:r>
          </a:p>
          <a:p>
            <a:r>
              <a:rPr lang="en-US" sz="1500" kern="0" spc="-80" dirty="0">
                <a:solidFill>
                  <a:schemeClr val="accent2"/>
                </a:solidFill>
              </a:rPr>
              <a:t>Example:</a:t>
            </a:r>
            <a:r>
              <a:rPr lang="en-US" sz="1500" kern="0" spc="-80" dirty="0">
                <a:solidFill>
                  <a:schemeClr val="accent6"/>
                </a:solidFill>
              </a:rPr>
              <a:t> Monero, Tornado Cash.</a:t>
            </a:r>
          </a:p>
          <a:p>
            <a:endParaRPr lang="en-US" sz="1500" kern="0" spc="-80" dirty="0">
              <a:solidFill>
                <a:schemeClr val="accent6"/>
              </a:solidFill>
            </a:endParaRPr>
          </a:p>
          <a:p>
            <a:r>
              <a:rPr lang="en-US" sz="1500" kern="0" spc="-80" dirty="0">
                <a:solidFill>
                  <a:schemeClr val="accent2"/>
                </a:solidFill>
              </a:rPr>
              <a:t>6. Consensus Enhancements</a:t>
            </a:r>
          </a:p>
          <a:p>
            <a:r>
              <a:rPr lang="en-US" sz="1500" kern="0" spc="-80" dirty="0">
                <a:solidFill>
                  <a:schemeClr val="accent6"/>
                </a:solidFill>
              </a:rPr>
              <a:t>Advanced consensus mechanisms improve scalability, energy efficiency, and fault tolerance.</a:t>
            </a:r>
          </a:p>
          <a:p>
            <a:r>
              <a:rPr lang="en-US" sz="1500" kern="0" spc="-80" dirty="0">
                <a:solidFill>
                  <a:schemeClr val="accent2"/>
                </a:solidFill>
              </a:rPr>
              <a:t>6.1 Proof of Authority (</a:t>
            </a:r>
            <a:r>
              <a:rPr lang="en-US" sz="1500" kern="0" spc="-80" dirty="0" err="1">
                <a:solidFill>
                  <a:schemeClr val="accent2"/>
                </a:solidFill>
              </a:rPr>
              <a:t>PoA</a:t>
            </a:r>
            <a:r>
              <a:rPr lang="en-US" sz="1500" kern="0" spc="-80" dirty="0">
                <a:solidFill>
                  <a:schemeClr val="accent2"/>
                </a:solidFill>
              </a:rPr>
              <a:t>)</a:t>
            </a:r>
          </a:p>
          <a:p>
            <a:r>
              <a:rPr lang="en-US" sz="1500" kern="0" spc="-80" dirty="0">
                <a:solidFill>
                  <a:schemeClr val="accent6"/>
                </a:solidFill>
              </a:rPr>
              <a:t>Validators are pre-approved authorities.</a:t>
            </a:r>
          </a:p>
          <a:p>
            <a:r>
              <a:rPr lang="en-US" sz="1500" kern="0" spc="-80" dirty="0">
                <a:solidFill>
                  <a:schemeClr val="accent6"/>
                </a:solidFill>
              </a:rPr>
              <a:t>Suitable for private blockchains with faster finality.</a:t>
            </a:r>
          </a:p>
          <a:p>
            <a:r>
              <a:rPr lang="en-US" sz="1500" kern="0" spc="-80" dirty="0">
                <a:solidFill>
                  <a:schemeClr val="accent2"/>
                </a:solidFill>
              </a:rPr>
              <a:t>6.2 Hybrid Consensus</a:t>
            </a:r>
          </a:p>
          <a:p>
            <a:r>
              <a:rPr lang="en-US" sz="1500" kern="0" spc="-80" dirty="0">
                <a:solidFill>
                  <a:schemeClr val="accent6"/>
                </a:solidFill>
              </a:rPr>
              <a:t>Combines PoW + </a:t>
            </a:r>
            <a:r>
              <a:rPr lang="en-US" sz="1500" kern="0" spc="-80" dirty="0" err="1">
                <a:solidFill>
                  <a:schemeClr val="accent6"/>
                </a:solidFill>
              </a:rPr>
              <a:t>PoS</a:t>
            </a:r>
            <a:r>
              <a:rPr lang="en-US" sz="1500" kern="0" spc="-80" dirty="0">
                <a:solidFill>
                  <a:schemeClr val="accent6"/>
                </a:solidFill>
              </a:rPr>
              <a:t> or other mechanisms.</a:t>
            </a:r>
          </a:p>
          <a:p>
            <a:r>
              <a:rPr lang="en-US" sz="1500" kern="0" spc="-80" dirty="0">
                <a:solidFill>
                  <a:schemeClr val="accent2"/>
                </a:solidFill>
              </a:rPr>
              <a:t>Example: </a:t>
            </a:r>
            <a:r>
              <a:rPr lang="en-US" sz="1500" kern="0" spc="-80" dirty="0" err="1">
                <a:solidFill>
                  <a:schemeClr val="accent6"/>
                </a:solidFill>
              </a:rPr>
              <a:t>Decred</a:t>
            </a:r>
            <a:r>
              <a:rPr lang="en-US" sz="1500" kern="0" spc="-80" dirty="0">
                <a:solidFill>
                  <a:schemeClr val="accent6"/>
                </a:solidFill>
              </a:rPr>
              <a:t> uses PoW + </a:t>
            </a:r>
            <a:r>
              <a:rPr lang="en-US" sz="1500" kern="0" spc="-80" dirty="0" err="1">
                <a:solidFill>
                  <a:schemeClr val="accent6"/>
                </a:solidFill>
              </a:rPr>
              <a:t>PoS</a:t>
            </a:r>
            <a:r>
              <a:rPr lang="en-US" sz="1500" kern="0" spc="-80" dirty="0">
                <a:solidFill>
                  <a:schemeClr val="accent6"/>
                </a:solidFill>
              </a:rPr>
              <a:t> for governance and security.</a:t>
            </a:r>
          </a:p>
          <a:p>
            <a:r>
              <a:rPr lang="en-US" sz="1500" kern="0" spc="-80" dirty="0">
                <a:solidFill>
                  <a:schemeClr val="accent2"/>
                </a:solidFill>
              </a:rPr>
              <a:t>6.3 DAG (Directed Acyclic Graph)</a:t>
            </a:r>
          </a:p>
          <a:p>
            <a:r>
              <a:rPr lang="en-US" sz="1500" kern="0" spc="-80" dirty="0">
                <a:solidFill>
                  <a:schemeClr val="accent6"/>
                </a:solidFill>
              </a:rPr>
              <a:t>Instead of a chain, transactions form a graph structure.</a:t>
            </a:r>
          </a:p>
          <a:p>
            <a:r>
              <a:rPr lang="en-US" sz="1500" kern="0" spc="-80" dirty="0">
                <a:solidFill>
                  <a:schemeClr val="accent6"/>
                </a:solidFill>
              </a:rPr>
              <a:t>Enables parallel validation (IOTA, Hedera </a:t>
            </a:r>
            <a:r>
              <a:rPr lang="en-US" sz="1500" kern="0" spc="-80" dirty="0" err="1">
                <a:solidFill>
                  <a:schemeClr val="accent6"/>
                </a:solidFill>
              </a:rPr>
              <a:t>Hashgraph</a:t>
            </a:r>
            <a:r>
              <a:rPr lang="en-US" sz="1500" kern="0" spc="-80" dirty="0">
                <a:solidFill>
                  <a:schemeClr val="accent6"/>
                </a:solidFill>
              </a:rPr>
              <a:t>).</a:t>
            </a:r>
          </a:p>
          <a:p>
            <a:endParaRPr lang="en-US" sz="1500" kern="0" spc="-80" dirty="0">
              <a:solidFill>
                <a:schemeClr val="accent6"/>
              </a:solidFill>
            </a:endParaRPr>
          </a:p>
          <a:p>
            <a:r>
              <a:rPr lang="en-US" sz="1500" kern="0" spc="-80" dirty="0">
                <a:solidFill>
                  <a:schemeClr val="accent2"/>
                </a:solidFill>
              </a:rPr>
              <a:t>7. Tokenization of Assets</a:t>
            </a:r>
          </a:p>
          <a:p>
            <a:r>
              <a:rPr lang="en-US" sz="1500" kern="0" spc="-80" dirty="0">
                <a:solidFill>
                  <a:schemeClr val="accent6"/>
                </a:solidFill>
              </a:rPr>
              <a:t>Physical and digital assets can be represented as blockchain tokens.</a:t>
            </a:r>
          </a:p>
          <a:p>
            <a:r>
              <a:rPr lang="en-US" sz="1500" kern="0" spc="-80" dirty="0">
                <a:solidFill>
                  <a:schemeClr val="accent2"/>
                </a:solidFill>
              </a:rPr>
              <a:t>Example: </a:t>
            </a:r>
            <a:r>
              <a:rPr lang="en-US" sz="1500" kern="0" spc="-80" dirty="0">
                <a:solidFill>
                  <a:schemeClr val="accent6"/>
                </a:solidFill>
              </a:rPr>
              <a:t>Real estate, art, and commodities.</a:t>
            </a:r>
          </a:p>
        </p:txBody>
      </p:sp>
    </p:spTree>
    <p:extLst>
      <p:ext uri="{BB962C8B-B14F-4D97-AF65-F5344CB8AC3E}">
        <p14:creationId xmlns:p14="http://schemas.microsoft.com/office/powerpoint/2010/main" val="2500073305"/>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9FFB7-56AE-8250-7A82-674020F385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B3AC78-C6EC-6C27-47F2-01B640EE32EE}"/>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5FBDDD-E753-319C-5936-AB5A1656B72C}"/>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05F2045-022A-8871-CDE9-7F947FBBADC8}"/>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D53441F-3E2D-ECFE-D11D-C3B382E27B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FA62EE3-F5D9-FF9F-1F02-F0663A3D0D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136B43A-7D20-C4B9-D480-443016980D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70EC29B-4DAF-5354-8C63-6463F2FE2A0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FC3D07-3287-871A-54C2-4D57F23528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E97421B1-69D8-ECAD-6E96-272FCA07E8A7}"/>
              </a:ext>
            </a:extLst>
          </p:cNvPr>
          <p:cNvSpPr txBox="1">
            <a:spLocks/>
          </p:cNvSpPr>
          <p:nvPr/>
        </p:nvSpPr>
        <p:spPr>
          <a:xfrm>
            <a:off x="145230" y="1236883"/>
            <a:ext cx="8624937" cy="74558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7.1 Security Tokens</a:t>
            </a:r>
          </a:p>
          <a:p>
            <a:r>
              <a:rPr lang="en-US" sz="1500" kern="0" spc="-80" dirty="0">
                <a:solidFill>
                  <a:schemeClr val="accent6"/>
                </a:solidFill>
              </a:rPr>
              <a:t>Represent ownership in an asset.</a:t>
            </a:r>
          </a:p>
          <a:p>
            <a:r>
              <a:rPr lang="en-US" sz="1500" kern="0" spc="-80" dirty="0">
                <a:solidFill>
                  <a:schemeClr val="accent6"/>
                </a:solidFill>
              </a:rPr>
              <a:t>Regulated and compliant with securities laws.</a:t>
            </a:r>
          </a:p>
          <a:p>
            <a:r>
              <a:rPr lang="en-US" sz="1500" kern="0" spc="-80" dirty="0">
                <a:solidFill>
                  <a:schemeClr val="accent2"/>
                </a:solidFill>
              </a:rPr>
              <a:t>7.2 Non-Fungible Tokens (NFTs)</a:t>
            </a:r>
          </a:p>
          <a:p>
            <a:r>
              <a:rPr lang="en-US" sz="1500" kern="0" spc="-80" dirty="0">
                <a:solidFill>
                  <a:schemeClr val="accent6"/>
                </a:solidFill>
              </a:rPr>
              <a:t>Unique tokens representing digital collectibles or intellectual property.</a:t>
            </a:r>
          </a:p>
          <a:p>
            <a:r>
              <a:rPr lang="en-US" sz="1500" kern="0" spc="-80" dirty="0">
                <a:solidFill>
                  <a:schemeClr val="accent2"/>
                </a:solidFill>
              </a:rPr>
              <a:t>7.3 Programmable Money</a:t>
            </a:r>
          </a:p>
          <a:p>
            <a:r>
              <a:rPr lang="en-US" sz="1500" kern="0" spc="-80" dirty="0">
                <a:solidFill>
                  <a:schemeClr val="accent6"/>
                </a:solidFill>
              </a:rPr>
              <a:t>Smart contracts allow conditional payment flows (DeFi, staking rewards).</a:t>
            </a:r>
          </a:p>
          <a:p>
            <a:endParaRPr lang="en-US" sz="1500" kern="0" spc="-80" dirty="0">
              <a:solidFill>
                <a:schemeClr val="accent6"/>
              </a:solidFill>
            </a:endParaRPr>
          </a:p>
          <a:p>
            <a:r>
              <a:rPr lang="en-US" sz="1500" kern="0" spc="-80" dirty="0">
                <a:solidFill>
                  <a:schemeClr val="accent2"/>
                </a:solidFill>
              </a:rPr>
              <a:t>8. Oracles</a:t>
            </a:r>
          </a:p>
          <a:p>
            <a:r>
              <a:rPr lang="en-US" sz="1500" kern="0" spc="-80" dirty="0">
                <a:solidFill>
                  <a:schemeClr val="accent6"/>
                </a:solidFill>
              </a:rPr>
              <a:t>Bridge off-chain data to on-chain smart contracts.</a:t>
            </a:r>
          </a:p>
          <a:p>
            <a:r>
              <a:rPr lang="en-US" sz="1500" kern="0" spc="-80" dirty="0">
                <a:solidFill>
                  <a:schemeClr val="accent2"/>
                </a:solidFill>
              </a:rPr>
              <a:t>Example: </a:t>
            </a:r>
            <a:r>
              <a:rPr lang="en-US" sz="1500" kern="0" spc="-80" dirty="0" err="1">
                <a:solidFill>
                  <a:schemeClr val="accent6"/>
                </a:solidFill>
              </a:rPr>
              <a:t>Chainlink</a:t>
            </a:r>
            <a:r>
              <a:rPr lang="en-US" sz="1500" kern="0" spc="-80" dirty="0">
                <a:solidFill>
                  <a:schemeClr val="accent6"/>
                </a:solidFill>
              </a:rPr>
              <a:t> provides verified external data feeds.</a:t>
            </a:r>
          </a:p>
          <a:p>
            <a:r>
              <a:rPr lang="en-US" sz="1500" kern="0" spc="-80" dirty="0">
                <a:solidFill>
                  <a:schemeClr val="accent2"/>
                </a:solidFill>
              </a:rPr>
              <a:t>Types:</a:t>
            </a:r>
          </a:p>
          <a:p>
            <a:r>
              <a:rPr lang="en-US" sz="1500" kern="0" spc="-80" dirty="0">
                <a:solidFill>
                  <a:schemeClr val="accent2"/>
                </a:solidFill>
              </a:rPr>
              <a:t>Inbound Oracles: </a:t>
            </a:r>
            <a:r>
              <a:rPr lang="en-US" sz="1500" kern="0" spc="-80" dirty="0">
                <a:solidFill>
                  <a:schemeClr val="accent6"/>
                </a:solidFill>
              </a:rPr>
              <a:t>Bring external data (stock price, weather).</a:t>
            </a:r>
          </a:p>
          <a:p>
            <a:r>
              <a:rPr lang="en-US" sz="1500" kern="0" spc="-80" dirty="0">
                <a:solidFill>
                  <a:schemeClr val="accent2"/>
                </a:solidFill>
              </a:rPr>
              <a:t>Outbound Oracles: </a:t>
            </a:r>
            <a:r>
              <a:rPr lang="en-US" sz="1500" kern="0" spc="-80" dirty="0">
                <a:solidFill>
                  <a:schemeClr val="accent6"/>
                </a:solidFill>
              </a:rPr>
              <a:t>Send blockchain data to external systems.</a:t>
            </a:r>
          </a:p>
          <a:p>
            <a:endParaRPr lang="en-US" sz="1500" kern="0" spc="-80" dirty="0">
              <a:solidFill>
                <a:schemeClr val="accent6"/>
              </a:solidFill>
            </a:endParaRPr>
          </a:p>
          <a:p>
            <a:r>
              <a:rPr lang="en-US" sz="1500" kern="0" spc="-80" dirty="0">
                <a:solidFill>
                  <a:schemeClr val="accent2"/>
                </a:solidFill>
              </a:rPr>
              <a:t>9. Advanced Blockchain Architectures</a:t>
            </a:r>
          </a:p>
          <a:p>
            <a:r>
              <a:rPr lang="en-US" sz="1500" kern="0" spc="-80" dirty="0">
                <a:solidFill>
                  <a:schemeClr val="accent2"/>
                </a:solidFill>
              </a:rPr>
              <a:t>9.1 Multi-chain Ecosystems</a:t>
            </a:r>
          </a:p>
          <a:p>
            <a:r>
              <a:rPr lang="en-US" sz="1500" kern="0" spc="-80" dirty="0">
                <a:solidFill>
                  <a:schemeClr val="accent2"/>
                </a:solidFill>
              </a:rPr>
              <a:t>Example: </a:t>
            </a:r>
            <a:r>
              <a:rPr lang="en-US" sz="1500" kern="0" spc="-80" dirty="0" err="1">
                <a:solidFill>
                  <a:schemeClr val="accent6"/>
                </a:solidFill>
              </a:rPr>
              <a:t>Polkadot</a:t>
            </a:r>
            <a:r>
              <a:rPr lang="en-US" sz="1500" kern="0" spc="-80" dirty="0">
                <a:solidFill>
                  <a:schemeClr val="accent6"/>
                </a:solidFill>
              </a:rPr>
              <a:t> (relay chain + </a:t>
            </a:r>
            <a:r>
              <a:rPr lang="en-US" sz="1500" kern="0" spc="-80" dirty="0" err="1">
                <a:solidFill>
                  <a:schemeClr val="accent6"/>
                </a:solidFill>
              </a:rPr>
              <a:t>parachains</a:t>
            </a:r>
            <a:r>
              <a:rPr lang="en-US" sz="1500" kern="0" spc="-80" dirty="0">
                <a:solidFill>
                  <a:schemeClr val="accent6"/>
                </a:solidFill>
              </a:rPr>
              <a:t>) and Cosmos (hub + zones).</a:t>
            </a:r>
          </a:p>
          <a:p>
            <a:r>
              <a:rPr lang="en-US" sz="1500" kern="0" spc="-80" dirty="0">
                <a:solidFill>
                  <a:schemeClr val="accent6"/>
                </a:solidFill>
              </a:rPr>
              <a:t>Enable scalable, interoperable ecosystems.</a:t>
            </a:r>
          </a:p>
          <a:p>
            <a:r>
              <a:rPr lang="en-US" sz="1500" kern="0" spc="-80" dirty="0">
                <a:solidFill>
                  <a:schemeClr val="accent6"/>
                </a:solidFill>
              </a:rPr>
              <a:t>9.2 Sidechains</a:t>
            </a:r>
          </a:p>
          <a:p>
            <a:r>
              <a:rPr lang="en-US" sz="1500" kern="0" spc="-80" dirty="0">
                <a:solidFill>
                  <a:schemeClr val="accent6"/>
                </a:solidFill>
              </a:rPr>
              <a:t>Separate blockchain attached to the main chain.</a:t>
            </a:r>
          </a:p>
          <a:p>
            <a:r>
              <a:rPr lang="en-US" sz="1500" kern="0" spc="-80" dirty="0">
                <a:solidFill>
                  <a:schemeClr val="accent6"/>
                </a:solidFill>
              </a:rPr>
              <a:t>Can handle specialized workloads or experimentation.</a:t>
            </a:r>
          </a:p>
          <a:p>
            <a:r>
              <a:rPr lang="en-US" sz="1500" kern="0" spc="-80" dirty="0">
                <a:solidFill>
                  <a:schemeClr val="accent6"/>
                </a:solidFill>
              </a:rPr>
              <a:t>9.3 Hybrid Blockchains</a:t>
            </a:r>
          </a:p>
          <a:p>
            <a:r>
              <a:rPr lang="en-US" sz="1500" kern="0" spc="-80" dirty="0">
                <a:solidFill>
                  <a:schemeClr val="accent6"/>
                </a:solidFill>
              </a:rPr>
              <a:t>Combine public transparency and private control.</a:t>
            </a:r>
          </a:p>
          <a:p>
            <a:r>
              <a:rPr lang="en-US" sz="1500" kern="0" spc="-80" dirty="0">
                <a:solidFill>
                  <a:schemeClr val="accent6"/>
                </a:solidFill>
              </a:rPr>
              <a:t>Example: Enterprises using private chains but settling assets on public chains.</a:t>
            </a:r>
          </a:p>
          <a:p>
            <a:r>
              <a:rPr lang="en-US" sz="1500" kern="0" spc="-80" dirty="0">
                <a:solidFill>
                  <a:schemeClr val="accent6"/>
                </a:solidFill>
              </a:rPr>
              <a:t>10. Emerging Trends</a:t>
            </a:r>
          </a:p>
          <a:p>
            <a:r>
              <a:rPr lang="en-US" sz="1500" kern="0" spc="-80" dirty="0">
                <a:solidFill>
                  <a:schemeClr val="accent6"/>
                </a:solidFill>
              </a:rPr>
              <a:t>Self-sovereign identity (SSI): Users control their identity data on blockchain.</a:t>
            </a:r>
          </a:p>
          <a:p>
            <a:r>
              <a:rPr lang="en-US" sz="1500" kern="0" spc="-80" dirty="0">
                <a:solidFill>
                  <a:schemeClr val="accent6"/>
                </a:solidFill>
              </a:rPr>
              <a:t>Decentralized Finance (DeFi) 2.0: Advanced lending, liquidity pools, and insurance protocols.</a:t>
            </a:r>
          </a:p>
          <a:p>
            <a:r>
              <a:rPr lang="en-US" sz="1500" kern="0" spc="-80" dirty="0">
                <a:solidFill>
                  <a:schemeClr val="accent6"/>
                </a:solidFill>
              </a:rPr>
              <a:t>Blockchain for AI &amp; IoT: Secure, decentralized data sharing.</a:t>
            </a:r>
          </a:p>
          <a:p>
            <a:r>
              <a:rPr lang="en-US" sz="1500" kern="0" spc="-80" dirty="0">
                <a:solidFill>
                  <a:schemeClr val="accent6"/>
                </a:solidFill>
              </a:rPr>
              <a:t>Tokenized governance &amp; social impact: Blockchain-based voting, carbon credits, and ESG tracking.</a:t>
            </a:r>
          </a:p>
        </p:txBody>
      </p:sp>
    </p:spTree>
    <p:extLst>
      <p:ext uri="{BB962C8B-B14F-4D97-AF65-F5344CB8AC3E}">
        <p14:creationId xmlns:p14="http://schemas.microsoft.com/office/powerpoint/2010/main" val="2157636419"/>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50F7-6638-3291-04BB-5403BA032C2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412694-05DD-195B-7DBB-D6B4352A27A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4F700F-BBDD-B207-744C-8B3EC147385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10BD3B-21A5-3A2A-A68B-182F87B024D7}"/>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237E61A-F7A6-7DA8-8296-C48E5083B7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F81FD6-3B11-B657-E30B-1D2EC8F241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E6DFF4-699A-B406-F539-B0485D2C85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D4F2009-0D3C-85C8-E28F-4D909686620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FB30D5A-ABCB-C8E4-4EBF-2FFABA094C1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9880DCDE-2486-812C-5D10-D93FDE0BE204}"/>
              </a:ext>
            </a:extLst>
          </p:cNvPr>
          <p:cNvSpPr txBox="1">
            <a:spLocks/>
          </p:cNvSpPr>
          <p:nvPr/>
        </p:nvSpPr>
        <p:spPr>
          <a:xfrm>
            <a:off x="145230" y="1236883"/>
            <a:ext cx="8624937" cy="33009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9.2 Sidechains</a:t>
            </a:r>
          </a:p>
          <a:p>
            <a:r>
              <a:rPr lang="en-US" sz="1500" kern="0" spc="-80" dirty="0">
                <a:solidFill>
                  <a:schemeClr val="accent6"/>
                </a:solidFill>
              </a:rPr>
              <a:t>Separate blockchain attached to the main chain.</a:t>
            </a:r>
          </a:p>
          <a:p>
            <a:r>
              <a:rPr lang="en-US" sz="1500" kern="0" spc="-80" dirty="0">
                <a:solidFill>
                  <a:schemeClr val="accent6"/>
                </a:solidFill>
              </a:rPr>
              <a:t>Can handle specialized workloads or experimentation.</a:t>
            </a:r>
          </a:p>
          <a:p>
            <a:r>
              <a:rPr lang="en-US" sz="1500" kern="0" spc="-80" dirty="0">
                <a:solidFill>
                  <a:schemeClr val="accent2"/>
                </a:solidFill>
              </a:rPr>
              <a:t>9.3 Hybrid Blockchains</a:t>
            </a:r>
          </a:p>
          <a:p>
            <a:r>
              <a:rPr lang="en-US" sz="1500" kern="0" spc="-80" dirty="0">
                <a:solidFill>
                  <a:schemeClr val="accent6"/>
                </a:solidFill>
              </a:rPr>
              <a:t>Combine public transparency and private control.</a:t>
            </a:r>
          </a:p>
          <a:p>
            <a:r>
              <a:rPr lang="en-US" sz="1500" kern="0" spc="-80" dirty="0">
                <a:solidFill>
                  <a:schemeClr val="accent2"/>
                </a:solidFill>
              </a:rPr>
              <a:t>Example:</a:t>
            </a:r>
            <a:r>
              <a:rPr lang="en-US" sz="1500" kern="0" spc="-80" dirty="0">
                <a:solidFill>
                  <a:schemeClr val="accent6"/>
                </a:solidFill>
              </a:rPr>
              <a:t> Enterprises using private chains but settling assets on public chains.</a:t>
            </a:r>
          </a:p>
          <a:p>
            <a:endParaRPr lang="en-US" sz="1500" kern="0" spc="-80" dirty="0">
              <a:solidFill>
                <a:schemeClr val="accent6"/>
              </a:solidFill>
            </a:endParaRPr>
          </a:p>
          <a:p>
            <a:r>
              <a:rPr lang="en-US" sz="1500" kern="0" spc="-80" dirty="0">
                <a:solidFill>
                  <a:schemeClr val="accent2"/>
                </a:solidFill>
              </a:rPr>
              <a:t>10. Emerging Trends</a:t>
            </a:r>
          </a:p>
          <a:p>
            <a:r>
              <a:rPr lang="en-US" sz="1500" kern="0" spc="-80" dirty="0">
                <a:solidFill>
                  <a:schemeClr val="accent2"/>
                </a:solidFill>
              </a:rPr>
              <a:t>Self-sovereign identity (SSI): </a:t>
            </a:r>
            <a:r>
              <a:rPr lang="en-US" sz="1500" kern="0" spc="-80" dirty="0">
                <a:solidFill>
                  <a:schemeClr val="accent6"/>
                </a:solidFill>
              </a:rPr>
              <a:t>Users control their identity data on blockchain.</a:t>
            </a:r>
          </a:p>
          <a:p>
            <a:r>
              <a:rPr lang="en-US" sz="1500" kern="0" spc="-80" dirty="0">
                <a:solidFill>
                  <a:schemeClr val="accent2"/>
                </a:solidFill>
              </a:rPr>
              <a:t>Decentralized Finance (DeFi) 2.0: </a:t>
            </a:r>
            <a:r>
              <a:rPr lang="en-US" sz="1500" kern="0" spc="-80" dirty="0">
                <a:solidFill>
                  <a:schemeClr val="accent6"/>
                </a:solidFill>
              </a:rPr>
              <a:t>Advanced lending, liquidity pools, and insurance protocols.</a:t>
            </a:r>
          </a:p>
          <a:p>
            <a:r>
              <a:rPr lang="en-US" sz="1500" kern="0" spc="-80" dirty="0">
                <a:solidFill>
                  <a:schemeClr val="accent2"/>
                </a:solidFill>
              </a:rPr>
              <a:t>Blockchain for AI &amp; IoT: </a:t>
            </a:r>
            <a:r>
              <a:rPr lang="en-US" sz="1500" kern="0" spc="-80" dirty="0">
                <a:solidFill>
                  <a:schemeClr val="accent6"/>
                </a:solidFill>
              </a:rPr>
              <a:t>Secure, decentralized data sharing.</a:t>
            </a:r>
          </a:p>
          <a:p>
            <a:r>
              <a:rPr lang="en-US" sz="1500" kern="0" spc="-80" dirty="0">
                <a:solidFill>
                  <a:schemeClr val="accent2"/>
                </a:solidFill>
              </a:rPr>
              <a:t>Tokenized governance &amp; social impact: </a:t>
            </a:r>
            <a:r>
              <a:rPr lang="en-US" sz="1500" kern="0" spc="-80" dirty="0">
                <a:solidFill>
                  <a:schemeClr val="accent6"/>
                </a:solidFill>
              </a:rPr>
              <a:t>Blockchain-based voting, carbon credits, and ESG tracking.</a:t>
            </a:r>
          </a:p>
        </p:txBody>
      </p:sp>
    </p:spTree>
    <p:extLst>
      <p:ext uri="{BB962C8B-B14F-4D97-AF65-F5344CB8AC3E}">
        <p14:creationId xmlns:p14="http://schemas.microsoft.com/office/powerpoint/2010/main" val="399098628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84F54-D130-193C-F823-39DFF62D6B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4AF21D7-6968-AEAB-943A-B05FC1346449}"/>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33B4735-78F6-6D2D-9511-839DA91B24C2}"/>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B401B9-01D0-F265-745A-CAD396A6745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16E620-3CC9-C470-A0A6-B5245B7911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36D749-4677-7C5C-FB4B-F51B16CD52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71EE6A3-D3F8-36AF-4538-2BF6538C1C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C58DBE-402D-CE50-829D-C74BF788D4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E09CBEE-95DE-CFA9-38CA-A99686A73BB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C2241F-1829-D251-CF28-B9FFF353CA3E}"/>
              </a:ext>
            </a:extLst>
          </p:cNvPr>
          <p:cNvSpPr txBox="1">
            <a:spLocks/>
          </p:cNvSpPr>
          <p:nvPr/>
        </p:nvSpPr>
        <p:spPr>
          <a:xfrm>
            <a:off x="145230" y="1236883"/>
            <a:ext cx="8624937" cy="24929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For Further Exploration –</a:t>
            </a:r>
          </a:p>
          <a:p>
            <a:r>
              <a:rPr lang="en-IN" sz="1800" dirty="0">
                <a:hlinkClick r:id="rId8"/>
              </a:rPr>
              <a:t>Types of Blockchain - </a:t>
            </a:r>
            <a:r>
              <a:rPr lang="en-IN" sz="1800" dirty="0" err="1">
                <a:hlinkClick r:id="rId8"/>
              </a:rPr>
              <a:t>GeeksforGeeks</a:t>
            </a:r>
            <a:endParaRPr lang="en-US" sz="1800" dirty="0"/>
          </a:p>
          <a:p>
            <a:r>
              <a:rPr lang="en-US" sz="1800" dirty="0">
                <a:hlinkClick r:id="rId9"/>
              </a:rPr>
              <a:t>What is a Blockchain consensus algorithm?</a:t>
            </a:r>
            <a:r>
              <a:rPr lang="en-US" sz="1800" dirty="0"/>
              <a:t> </a:t>
            </a:r>
          </a:p>
          <a:p>
            <a:r>
              <a:rPr lang="en-US" sz="1800" dirty="0">
                <a:hlinkClick r:id="rId10"/>
              </a:rPr>
              <a:t>Evolution of blockchain consensus algorithms</a:t>
            </a:r>
            <a:endParaRPr lang="en-US" sz="1800" dirty="0"/>
          </a:p>
          <a:p>
            <a:r>
              <a:rPr lang="en-US" sz="1800" dirty="0">
                <a:hlinkClick r:id="rId11"/>
              </a:rPr>
              <a:t>Types of Digital Assets Explained with Examples and Use Cases</a:t>
            </a:r>
            <a:endParaRPr lang="en-US" sz="1800" dirty="0"/>
          </a:p>
          <a:p>
            <a:r>
              <a:rPr lang="en-US" sz="1800" dirty="0">
                <a:hlinkClick r:id="rId12"/>
              </a:rPr>
              <a:t>Blockchain Developer Roadmap</a:t>
            </a:r>
            <a:endParaRPr lang="en-US" sz="1800" dirty="0"/>
          </a:p>
          <a:p>
            <a:r>
              <a:rPr lang="en-IN" sz="1800" dirty="0">
                <a:hlinkClick r:id="rId13"/>
              </a:rPr>
              <a:t>Grokking Bitcoin</a:t>
            </a:r>
            <a:endParaRPr lang="en-IN" sz="1800" dirty="0"/>
          </a:p>
          <a:p>
            <a:r>
              <a:rPr lang="en-US" sz="1800" dirty="0">
                <a:hlinkClick r:id="rId14"/>
              </a:rPr>
              <a:t>Blockchain Applications: A Hands-On Approach</a:t>
            </a:r>
            <a:endParaRPr lang="en-US" sz="1800" dirty="0"/>
          </a:p>
          <a:p>
            <a:r>
              <a:rPr lang="en-US" sz="1800" dirty="0">
                <a:hlinkClick r:id="rId15"/>
              </a:rPr>
              <a:t>Mastering-Blockchain</a:t>
            </a:r>
            <a:endParaRPr lang="en-US" sz="1800" dirty="0"/>
          </a:p>
        </p:txBody>
      </p:sp>
    </p:spTree>
    <p:extLst>
      <p:ext uri="{BB962C8B-B14F-4D97-AF65-F5344CB8AC3E}">
        <p14:creationId xmlns:p14="http://schemas.microsoft.com/office/powerpoint/2010/main" val="12111673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41063-66C1-D521-CD6A-663198A3BA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2973A9-BD7B-A96F-8154-B590F75BFFA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FD9A374-5350-F8B7-4C50-853D0E31BB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A713A7-0E8E-1379-9971-D35C520E07F6}"/>
              </a:ext>
            </a:extLst>
          </p:cNvPr>
          <p:cNvGraphicFramePr/>
          <p:nvPr>
            <p:extLst>
              <p:ext uri="{D42A27DB-BD31-4B8C-83A1-F6EECF244321}">
                <p14:modId xmlns:p14="http://schemas.microsoft.com/office/powerpoint/2010/main" val="30092756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7F2121-6E08-F3DA-97D4-61114B52F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46B161-6E2A-D7B2-89CC-1139510B0F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61CF1E0-6BCF-56D3-A969-BF787FE390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670E0CD-27A4-190F-2E3B-CB240F849A9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F46334-F0C7-1E90-98F1-5CA82A8C22E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190F1F5-DF12-96CE-A6C0-AD21E462E72A}"/>
              </a:ext>
            </a:extLst>
          </p:cNvPr>
          <p:cNvSpPr txBox="1">
            <a:spLocks/>
          </p:cNvSpPr>
          <p:nvPr/>
        </p:nvSpPr>
        <p:spPr>
          <a:xfrm>
            <a:off x="259531" y="712232"/>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950" kern="0" spc="-80" dirty="0">
                <a:solidFill>
                  <a:schemeClr val="accent6"/>
                </a:solidFill>
              </a:rPr>
              <a:t>Impedance mismatch means some form of mismatch between source(s) and destination(s) happening like - </a:t>
            </a:r>
          </a:p>
          <a:p>
            <a:r>
              <a:rPr lang="en-IN" sz="1950" kern="0" spc="-80" dirty="0">
                <a:solidFill>
                  <a:schemeClr val="accent2"/>
                </a:solidFill>
              </a:rPr>
              <a:t>Transformations</a:t>
            </a:r>
            <a:r>
              <a:rPr lang="en-IN" sz="1950" kern="0" spc="-80" dirty="0">
                <a:solidFill>
                  <a:schemeClr val="accent6"/>
                </a:solidFill>
              </a:rPr>
              <a:t> – T in ETL tries to match the source data format to the destination using some form of transformation. Similarly ORM tries to match the object world with the relational world.</a:t>
            </a:r>
          </a:p>
          <a:p>
            <a:r>
              <a:rPr lang="en-IN" sz="1950" kern="0" spc="-80" dirty="0">
                <a:solidFill>
                  <a:schemeClr val="accent2"/>
                </a:solidFill>
              </a:rPr>
              <a:t>Client(s) &amp; Server(s) Interactions – </a:t>
            </a:r>
            <a:r>
              <a:rPr lang="en-IN" sz="1950" kern="0" spc="-80" dirty="0">
                <a:solidFill>
                  <a:schemeClr val="accent6"/>
                </a:solidFill>
              </a:rPr>
              <a:t>Both clients and servers(DBs or APIs or SB Topics/Queues) in general needs scaling at thread or core or machine level so that both matches as much as possible without any impedance. Similar requirements are there for Availability. Also Connection pools, Timeouts at clients &amp; </a:t>
            </a:r>
            <a:r>
              <a:rPr lang="en-IN" sz="1950" kern="0" spc="-80" dirty="0" err="1">
                <a:solidFill>
                  <a:schemeClr val="accent6"/>
                </a:solidFill>
              </a:rPr>
              <a:t>RateLimits</a:t>
            </a:r>
            <a:r>
              <a:rPr lang="en-IN" sz="1950" kern="0" spc="-80" dirty="0">
                <a:solidFill>
                  <a:schemeClr val="accent6"/>
                </a:solidFill>
              </a:rPr>
              <a:t>(Throughput/Latency/Batch Sizes/Quotas) at servers can create such impedance mismatches w.r.t time, volume etc. </a:t>
            </a:r>
            <a:r>
              <a:rPr lang="en-IN" sz="1950" kern="0" spc="-80" dirty="0" err="1">
                <a:solidFill>
                  <a:schemeClr val="accent6"/>
                </a:solidFill>
              </a:rPr>
              <a:t>Infact</a:t>
            </a:r>
            <a:r>
              <a:rPr lang="en-IN" sz="1950" kern="0" spc="-80" dirty="0">
                <a:solidFill>
                  <a:schemeClr val="accent6"/>
                </a:solidFill>
              </a:rPr>
              <a:t>, most “Vs of Big Data” needs rectification of some sort w.r.t Impedance Mismatch. </a:t>
            </a:r>
          </a:p>
          <a:p>
            <a:r>
              <a:rPr lang="en-US" sz="1950" kern="0" spc="-80" dirty="0">
                <a:solidFill>
                  <a:schemeClr val="accent6"/>
                </a:solidFill>
              </a:rPr>
              <a:t>Sometimes an explicit intermediary component needs to be introduced in between client(s) &amp; server(s) to mitigate impedance mismatch like e.g. </a:t>
            </a:r>
            <a:r>
              <a:rPr lang="en-US" sz="1950" dirty="0">
                <a:hlinkClick r:id="rId8"/>
              </a:rPr>
              <a:t>Queue-Based Load Leveling pattern</a:t>
            </a:r>
            <a:endParaRPr lang="en-US" sz="1950" kern="0" spc="-80" dirty="0">
              <a:solidFill>
                <a:schemeClr val="accent6"/>
              </a:solidFill>
            </a:endParaRPr>
          </a:p>
        </p:txBody>
      </p:sp>
    </p:spTree>
    <p:extLst>
      <p:ext uri="{BB962C8B-B14F-4D97-AF65-F5344CB8AC3E}">
        <p14:creationId xmlns:p14="http://schemas.microsoft.com/office/powerpoint/2010/main" val="1193881692"/>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5190214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0" name="Picture 9">
            <a:extLst>
              <a:ext uri="{FF2B5EF4-FFF2-40B4-BE49-F238E27FC236}">
                <a16:creationId xmlns:a16="http://schemas.microsoft.com/office/drawing/2014/main" id="{29A3A070-D06B-13A7-C7D2-174833F9BDCE}"/>
              </a:ext>
            </a:extLst>
          </p:cNvPr>
          <p:cNvPicPr>
            <a:picLocks noChangeAspect="1"/>
          </p:cNvPicPr>
          <p:nvPr/>
        </p:nvPicPr>
        <p:blipFill>
          <a:blip r:embed="rId7"/>
          <a:stretch>
            <a:fillRect/>
          </a:stretch>
        </p:blipFill>
        <p:spPr>
          <a:xfrm>
            <a:off x="247651" y="752160"/>
            <a:ext cx="8686798" cy="2602624"/>
          </a:xfrm>
          <a:prstGeom prst="rect">
            <a:avLst/>
          </a:prstGeom>
        </p:spPr>
      </p:pic>
      <p:sp>
        <p:nvSpPr>
          <p:cNvPr id="11" name="object 2">
            <a:extLst>
              <a:ext uri="{FF2B5EF4-FFF2-40B4-BE49-F238E27FC236}">
                <a16:creationId xmlns:a16="http://schemas.microsoft.com/office/drawing/2014/main" id="{B04E7E54-FF9A-11C0-A0DA-5F4F85D90687}"/>
              </a:ext>
            </a:extLst>
          </p:cNvPr>
          <p:cNvSpPr txBox="1">
            <a:spLocks/>
          </p:cNvSpPr>
          <p:nvPr/>
        </p:nvSpPr>
        <p:spPr>
          <a:xfrm>
            <a:off x="247651" y="5368173"/>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For Further Exploration - </a:t>
            </a:r>
            <a:r>
              <a:rPr lang="en-US" sz="2400" kern="0" spc="-80" dirty="0">
                <a:solidFill>
                  <a:schemeClr val="accent2"/>
                </a:solidFill>
              </a:rPr>
              <a:t> </a:t>
            </a:r>
          </a:p>
          <a:p>
            <a:pPr marL="12700" marR="5080"/>
            <a:r>
              <a:rPr lang="en-US" sz="1500" dirty="0">
                <a:hlinkClick r:id="rId8"/>
              </a:rPr>
              <a:t>What is the difference between Forever-frame and server sent events? - Stack Overflow</a:t>
            </a:r>
            <a:endParaRPr lang="en-US" sz="1500" kern="0" spc="-80" dirty="0">
              <a:solidFill>
                <a:schemeClr val="accent2"/>
              </a:solidFill>
            </a:endParaRPr>
          </a:p>
        </p:txBody>
      </p:sp>
      <p:sp>
        <p:nvSpPr>
          <p:cNvPr id="9" name="object 2">
            <a:extLst>
              <a:ext uri="{FF2B5EF4-FFF2-40B4-BE49-F238E27FC236}">
                <a16:creationId xmlns:a16="http://schemas.microsoft.com/office/drawing/2014/main" id="{72E69FBC-376B-1DAD-F3C7-4C847FF45235}"/>
              </a:ext>
            </a:extLst>
          </p:cNvPr>
          <p:cNvSpPr txBox="1">
            <a:spLocks/>
          </p:cNvSpPr>
          <p:nvPr/>
        </p:nvSpPr>
        <p:spPr>
          <a:xfrm>
            <a:off x="228600" y="3521095"/>
            <a:ext cx="8624937" cy="23391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Recommendations -  </a:t>
            </a:r>
          </a:p>
          <a:p>
            <a:pPr marL="12700" marR="5080"/>
            <a:r>
              <a:rPr lang="en-US" sz="1600" kern="0" spc="-80" dirty="0">
                <a:solidFill>
                  <a:schemeClr val="accent2"/>
                </a:solidFill>
              </a:rPr>
              <a:t>  </a:t>
            </a:r>
            <a:r>
              <a:rPr lang="en-US" sz="1700" kern="0" spc="-80" dirty="0">
                <a:solidFill>
                  <a:schemeClr val="accent2"/>
                </a:solidFill>
              </a:rPr>
              <a:t>SSE –</a:t>
            </a:r>
            <a:r>
              <a:rPr lang="en-US" sz="1700" kern="0" spc="-80" dirty="0">
                <a:solidFill>
                  <a:schemeClr val="accent6"/>
                </a:solidFill>
              </a:rPr>
              <a:t> To be used if only Real Time Writes(to UI) required e.g. Trades Monitoring.</a:t>
            </a:r>
          </a:p>
          <a:p>
            <a:pPr marL="12700" marR="5080"/>
            <a:r>
              <a:rPr lang="en-US" sz="1700" kern="0" spc="-80" dirty="0">
                <a:solidFill>
                  <a:schemeClr val="accent2"/>
                </a:solidFill>
              </a:rPr>
              <a:t>  Web-Socket –</a:t>
            </a:r>
            <a:r>
              <a:rPr lang="en-US" sz="1700" kern="0" spc="-80" dirty="0">
                <a:solidFill>
                  <a:schemeClr val="accent6"/>
                </a:solidFill>
              </a:rPr>
              <a:t> To be used if both Real Time Writes(to UI) &amp; Real Time Reads(from UI) required e.g. Chat System.</a:t>
            </a:r>
          </a:p>
          <a:p>
            <a:pPr marL="12700" marR="5080"/>
            <a:r>
              <a:rPr lang="en-US" sz="1700" kern="0" spc="-80" dirty="0">
                <a:solidFill>
                  <a:schemeClr val="accent6"/>
                </a:solidFill>
              </a:rPr>
              <a:t>  An application may need to use both SSE &amp; Web-Socket individually for various modules of an app. Also, if neither Web-Socket nor SSE supported by browser, go for Long Polling.</a:t>
            </a:r>
          </a:p>
          <a:p>
            <a:pPr marL="12700" marR="5080"/>
            <a:endParaRPr lang="en-US" sz="1600" kern="0" spc="-80" dirty="0">
              <a:solidFill>
                <a:schemeClr val="accent6"/>
              </a:solidFill>
            </a:endParaRP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78089535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515355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pic>
        <p:nvPicPr>
          <p:cNvPr id="14" name="Picture 13">
            <a:extLst>
              <a:ext uri="{FF2B5EF4-FFF2-40B4-BE49-F238E27FC236}">
                <a16:creationId xmlns:a16="http://schemas.microsoft.com/office/drawing/2014/main" id="{BDA8DE33-FE78-976D-C0F3-C97CB95A1A1C}"/>
              </a:ext>
            </a:extLst>
          </p:cNvPr>
          <p:cNvPicPr>
            <a:picLocks noChangeAspect="1"/>
          </p:cNvPicPr>
          <p:nvPr/>
        </p:nvPicPr>
        <p:blipFill>
          <a:blip r:embed="rId8"/>
          <a:stretch>
            <a:fillRect/>
          </a:stretch>
        </p:blipFill>
        <p:spPr>
          <a:xfrm>
            <a:off x="499210" y="1509758"/>
            <a:ext cx="8107781" cy="2356472"/>
          </a:xfrm>
          <a:prstGeom prst="rect">
            <a:avLst/>
          </a:prstGeom>
        </p:spPr>
      </p:pic>
      <p:sp>
        <p:nvSpPr>
          <p:cNvPr id="15" name="object 2">
            <a:extLst>
              <a:ext uri="{FF2B5EF4-FFF2-40B4-BE49-F238E27FC236}">
                <a16:creationId xmlns:a16="http://schemas.microsoft.com/office/drawing/2014/main" id="{7D5969F0-1815-75CC-2609-1A95C5CC0B47}"/>
              </a:ext>
            </a:extLst>
          </p:cNvPr>
          <p:cNvSpPr txBox="1">
            <a:spLocks/>
          </p:cNvSpPr>
          <p:nvPr/>
        </p:nvSpPr>
        <p:spPr>
          <a:xfrm>
            <a:off x="30930" y="686192"/>
            <a:ext cx="8853537" cy="7848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err="1">
                <a:solidFill>
                  <a:schemeClr val="accent2"/>
                </a:solidFill>
              </a:rPr>
              <a:t>SignalR</a:t>
            </a:r>
            <a:r>
              <a:rPr lang="en-US" sz="1800" kern="0" spc="-80" dirty="0">
                <a:solidFill>
                  <a:schemeClr val="accent2"/>
                </a:solidFill>
              </a:rPr>
              <a:t> Architecture –</a:t>
            </a:r>
          </a:p>
          <a:p>
            <a:pPr marL="12700" marR="5080"/>
            <a:r>
              <a:rPr lang="en-US" sz="1800" kern="0" spc="-80" dirty="0">
                <a:solidFill>
                  <a:schemeClr val="accent2"/>
                </a:solidFill>
              </a:rPr>
              <a:t> </a:t>
            </a:r>
            <a:r>
              <a:rPr lang="en-US" sz="1500" kern="0" spc="-80" dirty="0">
                <a:solidFill>
                  <a:schemeClr val="accent6"/>
                </a:solidFill>
              </a:rPr>
              <a:t>Entry point is Hub[or Persistent Connection] </a:t>
            </a:r>
          </a:p>
          <a:p>
            <a:pPr marL="12700" marR="5080"/>
            <a:r>
              <a:rPr lang="en-US" sz="1500" kern="0" spc="-80" dirty="0">
                <a:solidFill>
                  <a:schemeClr val="accent6"/>
                </a:solidFill>
              </a:rPr>
              <a:t> May need to keep connection id specific metadata in DB for better Auditability </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107131" y="3866230"/>
            <a:ext cx="8624937" cy="18620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For Further Exploration -  </a:t>
            </a:r>
          </a:p>
          <a:p>
            <a:pPr marL="12700" marR="5080"/>
            <a:r>
              <a:rPr lang="en-US" sz="1500" dirty="0">
                <a:hlinkClick r:id="rId9"/>
              </a:rPr>
              <a:t>How to use </a:t>
            </a:r>
            <a:r>
              <a:rPr lang="en-US" sz="1500" dirty="0" err="1">
                <a:hlinkClick r:id="rId9"/>
              </a:rPr>
              <a:t>SignalR</a:t>
            </a:r>
            <a:r>
              <a:rPr lang="en-US" sz="1500" dirty="0">
                <a:hlinkClick r:id="rId9"/>
              </a:rPr>
              <a:t> in </a:t>
            </a:r>
            <a:r>
              <a:rPr lang="en-US" sz="1500" dirty="0" err="1">
                <a:hlinkClick r:id="rId9"/>
              </a:rPr>
              <a:t>ASP.Net</a:t>
            </a:r>
            <a:r>
              <a:rPr lang="en-US" sz="1500" dirty="0">
                <a:hlinkClick r:id="rId9"/>
              </a:rPr>
              <a:t> Core | InfoWorld</a:t>
            </a:r>
            <a:endParaRPr lang="en-US" sz="1500" dirty="0"/>
          </a:p>
          <a:p>
            <a:pPr marL="12700" marR="5080"/>
            <a:r>
              <a:rPr lang="en-US" sz="1500" dirty="0" err="1">
                <a:hlinkClick r:id="rId10"/>
              </a:rPr>
              <a:t>SignalR</a:t>
            </a:r>
            <a:r>
              <a:rPr lang="en-US" sz="1500" dirty="0">
                <a:hlinkClick r:id="rId10"/>
              </a:rPr>
              <a:t>: Why choose Hub vs. Persistent Connection? - Stack Overflow</a:t>
            </a:r>
            <a:endParaRPr lang="en-US" sz="1500" dirty="0"/>
          </a:p>
          <a:p>
            <a:pPr marL="12700" marR="5080"/>
            <a:r>
              <a:rPr lang="en-US" sz="1500" dirty="0">
                <a:hlinkClick r:id="rId11"/>
              </a:rPr>
              <a:t>Real Time Notifications using </a:t>
            </a:r>
            <a:r>
              <a:rPr lang="en-US" sz="1500" dirty="0" err="1">
                <a:hlinkClick r:id="rId11"/>
              </a:rPr>
              <a:t>SignalR</a:t>
            </a:r>
            <a:r>
              <a:rPr lang="en-US" sz="1500" dirty="0">
                <a:hlinkClick r:id="rId11"/>
              </a:rPr>
              <a:t> and SQL Dependency- </a:t>
            </a:r>
            <a:r>
              <a:rPr lang="en-US" sz="1500" dirty="0" err="1">
                <a:hlinkClick r:id="rId11"/>
              </a:rPr>
              <a:t>CodeProject</a:t>
            </a:r>
            <a:r>
              <a:rPr lang="en-US" sz="1500" kern="0" spc="-80" dirty="0">
                <a:solidFill>
                  <a:schemeClr val="accent2"/>
                </a:solidFill>
              </a:rPr>
              <a:t> </a:t>
            </a:r>
          </a:p>
          <a:p>
            <a:pPr marL="12700" marR="5080"/>
            <a:r>
              <a:rPr lang="en-IN" sz="1500" dirty="0">
                <a:hlinkClick r:id="rId12"/>
              </a:rPr>
              <a:t>ASP.NET Core </a:t>
            </a:r>
            <a:r>
              <a:rPr lang="en-IN" sz="1500" dirty="0" err="1">
                <a:hlinkClick r:id="rId12"/>
              </a:rPr>
              <a:t>SignalR</a:t>
            </a:r>
            <a:r>
              <a:rPr lang="en-IN" sz="1500" dirty="0">
                <a:hlinkClick r:id="rId12"/>
              </a:rPr>
              <a:t> configuration | Microsoft Learn</a:t>
            </a:r>
            <a:endParaRPr lang="en-IN" sz="1500" dirty="0"/>
          </a:p>
          <a:p>
            <a:pPr marL="12700" marR="5080"/>
            <a:r>
              <a:rPr lang="en-US" sz="1500" dirty="0">
                <a:hlinkClick r:id="rId13"/>
              </a:rPr>
              <a:t>Development With A Dot - Video Streaming with ASP.NET </a:t>
            </a:r>
            <a:r>
              <a:rPr lang="en-US" sz="1500" dirty="0" err="1">
                <a:hlinkClick r:id="rId13"/>
              </a:rPr>
              <a:t>SignalR</a:t>
            </a:r>
            <a:r>
              <a:rPr lang="en-US" sz="1500" dirty="0">
                <a:hlinkClick r:id="rId13"/>
              </a:rPr>
              <a:t> and HTML5</a:t>
            </a:r>
            <a:endParaRPr lang="en-US" sz="1500" dirty="0"/>
          </a:p>
          <a:p>
            <a:pPr marL="12700" marR="5080"/>
            <a:r>
              <a:rPr lang="en-US" sz="1500" dirty="0">
                <a:hlinkClick r:id="rId14"/>
              </a:rPr>
              <a:t>WebRTC vs WebSocket: If WebRTC can do Video, Audio, and Data, why do I need WebSocket? - Stack Overflow</a:t>
            </a:r>
            <a:endParaRPr lang="en-US" sz="1500" kern="0" spc="-80" dirty="0">
              <a:solidFill>
                <a:schemeClr val="accent2"/>
              </a:solidFill>
            </a:endParaRPr>
          </a:p>
        </p:txBody>
      </p:sp>
    </p:spTree>
    <p:extLst>
      <p:ext uri="{BB962C8B-B14F-4D97-AF65-F5344CB8AC3E}">
        <p14:creationId xmlns:p14="http://schemas.microsoft.com/office/powerpoint/2010/main" val="3580390693"/>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2324734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5" name="object 2">
            <a:extLst>
              <a:ext uri="{FF2B5EF4-FFF2-40B4-BE49-F238E27FC236}">
                <a16:creationId xmlns:a16="http://schemas.microsoft.com/office/drawing/2014/main" id="{7D5969F0-1815-75CC-2609-1A95C5CC0B47}"/>
              </a:ext>
            </a:extLst>
          </p:cNvPr>
          <p:cNvSpPr txBox="1">
            <a:spLocks/>
          </p:cNvSpPr>
          <p:nvPr/>
        </p:nvSpPr>
        <p:spPr>
          <a:xfrm>
            <a:off x="228600" y="762000"/>
            <a:ext cx="8624937" cy="95410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SignalR</a:t>
            </a:r>
            <a:r>
              <a:rPr lang="en-US" sz="2400" kern="0" spc="-80" dirty="0">
                <a:solidFill>
                  <a:schemeClr val="accent2"/>
                </a:solidFill>
              </a:rPr>
              <a:t> Scalability – </a:t>
            </a:r>
            <a:r>
              <a:rPr lang="en-US" sz="1800" kern="0" spc="-80" dirty="0">
                <a:solidFill>
                  <a:schemeClr val="accent6"/>
                </a:solidFill>
              </a:rPr>
              <a:t>To save cost, can omit Backplane but then need to have http(s)[/TCP] based inter-server communication &amp; corresponding </a:t>
            </a:r>
            <a:r>
              <a:rPr lang="en-US" sz="1800" kern="0" spc="-80" dirty="0" err="1">
                <a:solidFill>
                  <a:schemeClr val="accent6"/>
                </a:solidFill>
              </a:rPr>
              <a:t>SignalR</a:t>
            </a:r>
            <a:r>
              <a:rPr lang="en-US" sz="1800" kern="0" spc="-80" dirty="0">
                <a:solidFill>
                  <a:schemeClr val="accent6"/>
                </a:solidFill>
              </a:rPr>
              <a:t> per Server communication to Per Server Browsers.</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214262" y="522702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 For Further Exploration –</a:t>
            </a:r>
          </a:p>
          <a:p>
            <a:pPr marL="12700" marR="5080"/>
            <a:r>
              <a:rPr lang="en-US" sz="1500" kern="0" spc="-80" dirty="0">
                <a:solidFill>
                  <a:schemeClr val="accent2"/>
                </a:solidFill>
              </a:rPr>
              <a:t> </a:t>
            </a:r>
            <a:r>
              <a:rPr lang="en-US" sz="1500" dirty="0">
                <a:hlinkClick r:id="rId7"/>
              </a:rPr>
              <a:t>ASP.NET Core </a:t>
            </a:r>
            <a:r>
              <a:rPr lang="en-US" sz="1500" dirty="0" err="1">
                <a:hlinkClick r:id="rId7"/>
              </a:rPr>
              <a:t>SignalR</a:t>
            </a:r>
            <a:r>
              <a:rPr lang="en-US" sz="1500" dirty="0">
                <a:hlinkClick r:id="rId7"/>
              </a:rPr>
              <a:t> production hosting and scaling | Microsoft Learn</a:t>
            </a:r>
            <a:endParaRPr lang="en-US" sz="1500" kern="0" spc="-80" dirty="0">
              <a:solidFill>
                <a:schemeClr val="accent2"/>
              </a:solidFill>
            </a:endParaRPr>
          </a:p>
        </p:txBody>
      </p:sp>
      <p:pic>
        <p:nvPicPr>
          <p:cNvPr id="13" name="Picture 12">
            <a:extLst>
              <a:ext uri="{FF2B5EF4-FFF2-40B4-BE49-F238E27FC236}">
                <a16:creationId xmlns:a16="http://schemas.microsoft.com/office/drawing/2014/main" id="{1BAC6593-1F15-3BE8-A143-02E979F213AF}"/>
              </a:ext>
            </a:extLst>
          </p:cNvPr>
          <p:cNvPicPr>
            <a:picLocks noChangeAspect="1"/>
          </p:cNvPicPr>
          <p:nvPr/>
        </p:nvPicPr>
        <p:blipFill>
          <a:blip r:embed="rId8"/>
          <a:stretch>
            <a:fillRect/>
          </a:stretch>
        </p:blipFill>
        <p:spPr>
          <a:xfrm>
            <a:off x="290463" y="1724066"/>
            <a:ext cx="8472537" cy="3457534"/>
          </a:xfrm>
          <a:prstGeom prst="rect">
            <a:avLst/>
          </a:prstGeom>
        </p:spPr>
      </p:pic>
    </p:spTree>
    <p:extLst>
      <p:ext uri="{BB962C8B-B14F-4D97-AF65-F5344CB8AC3E}">
        <p14:creationId xmlns:p14="http://schemas.microsoft.com/office/powerpoint/2010/main" val="1155889962"/>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B19A4-63D4-9825-5CB4-35B25AAED4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1E3364A-654C-5B5A-8B08-21E85C158B9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6945C1-EC3B-C8DE-561A-C7B6AEC7EF4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4FF321-4B93-B719-7292-72F55ABD86B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1DDDABD-32B9-AD5E-9BAE-3DA6AA70951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3B2921-B3D6-1FB7-31E1-C8942F6A20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7679B4-8793-FAED-CF07-DABFC865BD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928AC38-6C86-7AF9-7759-7A1138E35F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5E19A72-CDC8-9443-1A3E-A87A6F2F399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902AD72-AEA7-F41A-1BC5-9287A0DAD7D7}"/>
              </a:ext>
            </a:extLst>
          </p:cNvPr>
          <p:cNvSpPr txBox="1">
            <a:spLocks/>
          </p:cNvSpPr>
          <p:nvPr/>
        </p:nvSpPr>
        <p:spPr>
          <a:xfrm>
            <a:off x="228600" y="762000"/>
            <a:ext cx="8624937" cy="55092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900" kern="0" spc="-80" dirty="0">
                <a:solidFill>
                  <a:schemeClr val="accent6"/>
                </a:solidFill>
              </a:rPr>
              <a:t>    </a:t>
            </a:r>
            <a:r>
              <a:rPr lang="en-US" sz="1500" kern="0" spc="-80" dirty="0">
                <a:solidFill>
                  <a:schemeClr val="accent6"/>
                </a:solidFill>
              </a:rPr>
              <a:t>Earth (Reality)</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[Remote Sensing Sensors]</a:t>
            </a:r>
          </a:p>
          <a:p>
            <a:pPr marL="12700" marR="5080"/>
            <a:r>
              <a:rPr lang="en-US" sz="1500" kern="0" spc="-80" dirty="0">
                <a:solidFill>
                  <a:schemeClr val="accent6"/>
                </a:solidFill>
              </a:rPr>
              <a:t>      Satellites, Drones, LiDAR</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Raw Imagery / Point Clouds</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[Photogrammetry Engine]</a:t>
            </a:r>
          </a:p>
          <a:p>
            <a:pPr marL="12700" marR="5080"/>
            <a:r>
              <a:rPr lang="en-US" sz="1500" kern="0" spc="-80" dirty="0">
                <a:solidFill>
                  <a:schemeClr val="accent6"/>
                </a:solidFill>
              </a:rPr>
              <a:t>     </a:t>
            </a:r>
            <a:r>
              <a:rPr lang="en-US" sz="1500" kern="0" spc="-80" dirty="0" err="1">
                <a:solidFill>
                  <a:schemeClr val="accent6"/>
                </a:solidFill>
              </a:rPr>
              <a:t>Orthomosaic</a:t>
            </a:r>
            <a:r>
              <a:rPr lang="en-US" sz="1500" kern="0" spc="-80" dirty="0">
                <a:solidFill>
                  <a:schemeClr val="accent6"/>
                </a:solidFill>
              </a:rPr>
              <a:t> Maps / 3D Models / DEM</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[GIS]</a:t>
            </a:r>
          </a:p>
          <a:p>
            <a:pPr marL="12700" marR="5080"/>
            <a:r>
              <a:rPr lang="en-US" sz="1500" kern="0" spc="-80" dirty="0">
                <a:solidFill>
                  <a:schemeClr val="accent6"/>
                </a:solidFill>
              </a:rPr>
              <a:t>    Data Storage | Layering | Analysis</a:t>
            </a:r>
          </a:p>
          <a:p>
            <a:pPr marL="12700" marR="5080"/>
            <a:r>
              <a:rPr lang="en-US" sz="1500" kern="0" spc="-80" dirty="0">
                <a:solidFill>
                  <a:schemeClr val="accent6"/>
                </a:solidFill>
              </a:rPr>
              <a:t>              |</a:t>
            </a:r>
          </a:p>
          <a:p>
            <a:pPr marL="12700" marR="5080"/>
            <a:r>
              <a:rPr lang="en-US" sz="1600" kern="0" spc="-80" dirty="0">
                <a:solidFill>
                  <a:schemeClr val="accent6"/>
                </a:solidFill>
              </a:rPr>
              <a:t>            v</a:t>
            </a:r>
          </a:p>
          <a:p>
            <a:pPr marL="12700" marR="5080"/>
            <a:r>
              <a:rPr lang="en-US" sz="1600" kern="0" spc="-80" dirty="0">
                <a:solidFill>
                  <a:schemeClr val="accent6"/>
                </a:solidFill>
              </a:rPr>
              <a:t>    Spatial Insights / Layers</a:t>
            </a:r>
          </a:p>
          <a:p>
            <a:pPr marL="12700" marR="5080"/>
            <a:r>
              <a:rPr lang="en-US" sz="1600" kern="0" spc="-80" dirty="0">
                <a:solidFill>
                  <a:schemeClr val="accent6"/>
                </a:solidFill>
              </a:rPr>
              <a:t>             |</a:t>
            </a:r>
          </a:p>
          <a:p>
            <a:pPr marL="12700" marR="5080"/>
            <a:r>
              <a:rPr lang="en-US" sz="1600" kern="0" spc="-80" dirty="0">
                <a:solidFill>
                  <a:schemeClr val="accent6"/>
                </a:solidFill>
              </a:rPr>
              <a:t>             v</a:t>
            </a:r>
          </a:p>
          <a:p>
            <a:pPr marL="12700" marR="5080"/>
            <a:r>
              <a:rPr lang="en-US" sz="1600" kern="0" spc="-80" dirty="0">
                <a:solidFill>
                  <a:schemeClr val="accent6"/>
                </a:solidFill>
              </a:rPr>
              <a:t>         </a:t>
            </a:r>
            <a:endParaRPr lang="en-US" sz="1500" kern="0" spc="-80" dirty="0">
              <a:solidFill>
                <a:schemeClr val="accent6"/>
              </a:solidFill>
            </a:endParaRPr>
          </a:p>
        </p:txBody>
      </p:sp>
    </p:spTree>
    <p:extLst>
      <p:ext uri="{BB962C8B-B14F-4D97-AF65-F5344CB8AC3E}">
        <p14:creationId xmlns:p14="http://schemas.microsoft.com/office/powerpoint/2010/main" val="357977627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B106E-553C-A218-0C10-5B35E83F94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997C16-699A-BFB4-C7E2-1404AD3FD3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E3D077-12DF-DD52-93AD-01412EBE71D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13D03D-D84A-ADE4-D442-5165F0447AA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422CE6-BA18-E226-5B0E-2F02C49716C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F60196-87BD-380C-4F8F-B8CE5961AC3D}"/>
              </a:ext>
            </a:extLst>
          </p:cNvPr>
          <p:cNvSpPr txBox="1">
            <a:spLocks/>
          </p:cNvSpPr>
          <p:nvPr/>
        </p:nvSpPr>
        <p:spPr>
          <a:xfrm>
            <a:off x="-2555666" y="5087779"/>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093A97-D4E7-21FF-FA95-8008F354563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E04E0BF-249A-9A5D-33E3-EAD7AF5402C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96628B-9850-7A3A-5774-6FC966AE690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7A0D73F-646E-BE8A-04C4-D15FD01AC259}"/>
              </a:ext>
            </a:extLst>
          </p:cNvPr>
          <p:cNvSpPr txBox="1">
            <a:spLocks/>
          </p:cNvSpPr>
          <p:nvPr/>
        </p:nvSpPr>
        <p:spPr>
          <a:xfrm>
            <a:off x="228600" y="762000"/>
            <a:ext cx="8624937" cy="84176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[Cartography Design]</a:t>
            </a:r>
          </a:p>
          <a:p>
            <a:pPr marL="12700" marR="5080"/>
            <a:r>
              <a:rPr lang="en-US" sz="1500" kern="0" spc="-80" dirty="0">
                <a:solidFill>
                  <a:schemeClr val="accent6"/>
                </a:solidFill>
              </a:rPr>
              <a:t>   Symbology | Colors | Labels | Legibility</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Ready-to-use Maps</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[Location Services Engine]</a:t>
            </a:r>
          </a:p>
          <a:p>
            <a:pPr marL="12700" marR="5080"/>
            <a:r>
              <a:rPr lang="en-US" sz="1500" kern="0" spc="-80" dirty="0">
                <a:solidFill>
                  <a:schemeClr val="accent6"/>
                </a:solidFill>
              </a:rPr>
              <a:t>   GPS + Wi-Fi + Network Positioning</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User Position + Routes</a:t>
            </a:r>
          </a:p>
          <a:p>
            <a:pPr marL="12700" marR="5080"/>
            <a:r>
              <a:rPr lang="en-US" sz="1900" kern="0" spc="-80" dirty="0">
                <a:solidFill>
                  <a:schemeClr val="accent6"/>
                </a:solidFill>
              </a:rPr>
              <a:t>           </a:t>
            </a:r>
            <a:r>
              <a:rPr lang="en-US" sz="1500" kern="0" spc="-80" dirty="0">
                <a:solidFill>
                  <a:schemeClr val="accent6"/>
                </a:solidFill>
              </a:rPr>
              <a:t>|</a:t>
            </a:r>
          </a:p>
          <a:p>
            <a:pPr marL="12700" marR="5080"/>
            <a:r>
              <a:rPr lang="en-US" sz="1500" kern="0" spc="-80" dirty="0">
                <a:solidFill>
                  <a:schemeClr val="accent6"/>
                </a:solidFill>
              </a:rPr>
              <a:t>              v</a:t>
            </a:r>
          </a:p>
          <a:p>
            <a:pPr marL="12700" marR="5080"/>
            <a:r>
              <a:rPr lang="en-US" sz="1500" kern="0" spc="-80" dirty="0">
                <a:solidFill>
                  <a:schemeClr val="accent6"/>
                </a:solidFill>
              </a:rPr>
              <a:t>    [Location-Based Apps UI]</a:t>
            </a:r>
          </a:p>
          <a:p>
            <a:pPr marL="12700" marR="5080"/>
            <a:r>
              <a:rPr lang="en-US" sz="1500" kern="0" spc="-80" dirty="0">
                <a:solidFill>
                  <a:schemeClr val="accent6"/>
                </a:solidFill>
              </a:rPr>
              <a:t>    Navigation | Delivery | Asset Tracking | AR</a:t>
            </a: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707407238"/>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23F21-A1E1-D298-DB62-0FFE76709F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D60C16-5DB3-7589-0874-4B54D0F9F91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91D192-68C2-571B-49B5-EBA129B16E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56FD24-B312-BC1F-D285-392E9AD6B66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52F797C-0139-CA05-0848-9C21792267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3E3E52-5B90-9FC9-6C10-1C70B6602E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D4D5D21-18B8-9267-8CE9-2D38946E96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77DEE2-FAD3-F9E3-AB15-B50FACCDB7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B327CF-4DA8-408C-F5B5-F20B32963F8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8314B2A-55B0-B5D8-868D-19ABA235EB3F}"/>
              </a:ext>
            </a:extLst>
          </p:cNvPr>
          <p:cNvSpPr txBox="1">
            <a:spLocks/>
          </p:cNvSpPr>
          <p:nvPr/>
        </p:nvSpPr>
        <p:spPr>
          <a:xfrm>
            <a:off x="228600" y="7620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900" kern="0" spc="-80" dirty="0">
                <a:solidFill>
                  <a:schemeClr val="accent2"/>
                </a:solidFill>
              </a:rPr>
              <a:t>🌏 Core Idea </a:t>
            </a:r>
          </a:p>
          <a:p>
            <a:pPr marL="12700" marR="5080"/>
            <a:r>
              <a:rPr lang="en-US" sz="1700" kern="0" spc="-80" dirty="0">
                <a:solidFill>
                  <a:schemeClr val="accent6"/>
                </a:solidFill>
              </a:rPr>
              <a:t>Remote Sensing + Photogrammetry create the raw spatial data.</a:t>
            </a:r>
          </a:p>
          <a:p>
            <a:pPr marL="12700" marR="5080"/>
            <a:r>
              <a:rPr lang="en-US" sz="1700" kern="0" spc="-80" dirty="0">
                <a:solidFill>
                  <a:schemeClr val="accent6"/>
                </a:solidFill>
              </a:rPr>
              <a:t>GIS organizes + analyzes this data.</a:t>
            </a:r>
          </a:p>
          <a:p>
            <a:pPr marL="12700" marR="5080"/>
            <a:r>
              <a:rPr lang="en-US" sz="1700" kern="0" spc="-80" dirty="0">
                <a:solidFill>
                  <a:schemeClr val="accent6"/>
                </a:solidFill>
              </a:rPr>
              <a:t>Cartography turns it into understandable maps.</a:t>
            </a:r>
          </a:p>
          <a:p>
            <a:pPr marL="12700" marR="5080"/>
            <a:r>
              <a:rPr lang="en-US" sz="1700" kern="0" spc="-80" dirty="0">
                <a:solidFill>
                  <a:schemeClr val="accent6"/>
                </a:solidFill>
              </a:rPr>
              <a:t>Location Services &amp; Location Apps deliver these maps &amp; insights to users in real-time.</a:t>
            </a:r>
          </a:p>
          <a:p>
            <a:pPr marL="12700" marR="5080"/>
            <a:endParaRPr lang="en-US" sz="1700" kern="0" spc="-80" dirty="0">
              <a:solidFill>
                <a:schemeClr val="accent6"/>
              </a:solidFill>
            </a:endParaRPr>
          </a:p>
          <a:p>
            <a:pPr marL="355600" marR="5080" indent="-342900">
              <a:buAutoNum type="arabicParenR"/>
            </a:pPr>
            <a:r>
              <a:rPr lang="en-US" sz="1700" kern="0" spc="-80" dirty="0">
                <a:solidFill>
                  <a:schemeClr val="accent2"/>
                </a:solidFill>
              </a:rPr>
              <a:t>Remote Sensing (Seeing the Earth from Above)</a:t>
            </a:r>
          </a:p>
          <a:p>
            <a:pPr marL="12700" marR="5080"/>
            <a:r>
              <a:rPr lang="en-US" sz="1700" kern="0" spc="-80" dirty="0">
                <a:solidFill>
                  <a:schemeClr val="accent2"/>
                </a:solidFill>
              </a:rPr>
              <a:t>Source:</a:t>
            </a:r>
            <a:r>
              <a:rPr lang="en-US" sz="1700" kern="0" spc="-80" dirty="0">
                <a:solidFill>
                  <a:schemeClr val="accent6"/>
                </a:solidFill>
              </a:rPr>
              <a:t> satellites, drones, aircraft, radar, LiDAR.</a:t>
            </a:r>
          </a:p>
          <a:p>
            <a:pPr marL="12700" marR="5080"/>
            <a:r>
              <a:rPr lang="en-US" sz="1700" kern="0" spc="-80" dirty="0">
                <a:solidFill>
                  <a:schemeClr val="accent2"/>
                </a:solidFill>
              </a:rPr>
              <a:t>Output:</a:t>
            </a:r>
            <a:r>
              <a:rPr lang="en-US" sz="1700" kern="0" spc="-80" dirty="0">
                <a:solidFill>
                  <a:schemeClr val="accent6"/>
                </a:solidFill>
              </a:rPr>
              <a:t> raw imagery or point clouds. </a:t>
            </a:r>
          </a:p>
          <a:p>
            <a:pPr marL="12700" marR="5080"/>
            <a:r>
              <a:rPr lang="en-US" sz="1700" kern="0" spc="-80" dirty="0">
                <a:solidFill>
                  <a:schemeClr val="accent6"/>
                </a:solidFill>
              </a:rPr>
              <a:t>This is like opening your eyes to the world, capturing what is there.→ Provides pixels, spectral data, height, reflected signals.</a:t>
            </a:r>
          </a:p>
          <a:p>
            <a:pPr marL="12700" marR="5080"/>
            <a:endParaRPr lang="en-US" sz="1700" kern="0" spc="-80" dirty="0">
              <a:solidFill>
                <a:schemeClr val="accent6"/>
              </a:solidFill>
            </a:endParaRPr>
          </a:p>
          <a:p>
            <a:pPr marL="12700" marR="5080"/>
            <a:r>
              <a:rPr lang="en-US" sz="1700" kern="0" spc="-80" dirty="0">
                <a:solidFill>
                  <a:schemeClr val="accent2"/>
                </a:solidFill>
              </a:rPr>
              <a:t>2) Photogrammetry (Building 3D from 2D Images)</a:t>
            </a:r>
          </a:p>
          <a:p>
            <a:pPr marL="12700" marR="5080"/>
            <a:r>
              <a:rPr lang="en-US" sz="1700" kern="0" spc="-80" dirty="0">
                <a:solidFill>
                  <a:schemeClr val="accent6"/>
                </a:solidFill>
              </a:rPr>
              <a:t>Takes overlapping images from drones/satellites and reconstructs 3D models, Terrain surfaces, </a:t>
            </a:r>
            <a:r>
              <a:rPr lang="en-US" sz="1700" kern="0" spc="-80" dirty="0" err="1">
                <a:solidFill>
                  <a:schemeClr val="accent6"/>
                </a:solidFill>
              </a:rPr>
              <a:t>Orthomosaics</a:t>
            </a:r>
            <a:r>
              <a:rPr lang="en-US" sz="1700" kern="0" spc="-80" dirty="0">
                <a:solidFill>
                  <a:schemeClr val="accent6"/>
                </a:solidFill>
              </a:rPr>
              <a:t>, Dense point clouds</a:t>
            </a:r>
          </a:p>
          <a:p>
            <a:pPr marL="12700" marR="5080"/>
            <a:r>
              <a:rPr lang="en-US" sz="1700" kern="0" spc="-80" dirty="0">
                <a:solidFill>
                  <a:schemeClr val="accent6"/>
                </a:solidFill>
              </a:rPr>
              <a:t>This is geometry magic: turning flat pictures into measurable 3D Earth.</a:t>
            </a:r>
          </a:p>
          <a:p>
            <a:pPr marL="12700" marR="5080"/>
            <a:r>
              <a:rPr lang="en-US" sz="1700" kern="0" spc="-80" dirty="0">
                <a:solidFill>
                  <a:schemeClr val="accent2"/>
                </a:solidFill>
              </a:rPr>
              <a:t>N.B. – Some E2E  workflows / pipelines may skip this layer.</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573562656"/>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10E94-A72C-ADC2-490B-E8921BAE80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F3D182-DD8E-1FD1-D9E5-3A02E737B2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FA760E-EA7C-CF69-100C-3D26DE26C3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994373-D51A-70F8-6E73-8B50D3626BE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663A1C3-1056-9617-D24A-87FD086CA6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C111979-E514-214D-E041-A866A86E342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906CF2-0243-FC9C-B61B-7EB160B3B6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0BC948-5A54-2416-5D50-E444A62788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3AC2616-F074-87A2-802C-B0C803828DA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7D58329-EEC7-8124-D81F-536D0DE72257}"/>
              </a:ext>
            </a:extLst>
          </p:cNvPr>
          <p:cNvSpPr txBox="1">
            <a:spLocks/>
          </p:cNvSpPr>
          <p:nvPr/>
        </p:nvSpPr>
        <p:spPr>
          <a:xfrm>
            <a:off x="228600" y="762000"/>
            <a:ext cx="8624937" cy="50013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700" kern="0" spc="-80" dirty="0">
                <a:solidFill>
                  <a:schemeClr val="accent2"/>
                </a:solidFill>
              </a:rPr>
              <a:t>3) GIS (Geographic Information System)</a:t>
            </a:r>
          </a:p>
          <a:p>
            <a:pPr marL="12700" marR="5080"/>
            <a:r>
              <a:rPr lang="en-US" sz="1700" kern="0" spc="-80" dirty="0">
                <a:solidFill>
                  <a:schemeClr val="accent6"/>
                </a:solidFill>
              </a:rPr>
              <a:t>GIS stores, organizes, queries and analyzes spatial data, Layers (roads, elevation, land use, rainfall, addresses, etc.)</a:t>
            </a:r>
          </a:p>
          <a:p>
            <a:pPr marL="12700" marR="5080"/>
            <a:r>
              <a:rPr lang="en-US" sz="1700" kern="0" spc="-80" dirty="0">
                <a:solidFill>
                  <a:schemeClr val="accent6"/>
                </a:solidFill>
              </a:rPr>
              <a:t>Spatial queries (What is near what? How far? What changed over time?)</a:t>
            </a:r>
          </a:p>
          <a:p>
            <a:pPr marL="12700" marR="5080"/>
            <a:r>
              <a:rPr lang="en-US" sz="1700" kern="0" spc="-80" dirty="0">
                <a:solidFill>
                  <a:schemeClr val="accent6"/>
                </a:solidFill>
              </a:rPr>
              <a:t>This is the brain that converts all that data into answers.</a:t>
            </a:r>
          </a:p>
          <a:p>
            <a:pPr marL="12700" marR="5080"/>
            <a:endParaRPr lang="en-US" sz="1700" kern="0" spc="-80" dirty="0">
              <a:solidFill>
                <a:schemeClr val="accent6"/>
              </a:solidFill>
            </a:endParaRPr>
          </a:p>
          <a:p>
            <a:pPr marL="12700" marR="5080"/>
            <a:r>
              <a:rPr lang="en-US" sz="1700" kern="0" spc="-80" dirty="0">
                <a:solidFill>
                  <a:schemeClr val="accent2"/>
                </a:solidFill>
              </a:rPr>
              <a:t>4) Cartography (Making Maps Understandable)</a:t>
            </a:r>
          </a:p>
          <a:p>
            <a:pPr marL="12700" marR="5080"/>
            <a:r>
              <a:rPr lang="en-US" sz="1700" kern="0" spc="-80" dirty="0">
                <a:solidFill>
                  <a:schemeClr val="accent6"/>
                </a:solidFill>
              </a:rPr>
              <a:t>Here we apply design, symbology, color theory, labeling.</a:t>
            </a:r>
          </a:p>
          <a:p>
            <a:pPr marL="12700" marR="5080"/>
            <a:r>
              <a:rPr lang="en-US" sz="1700" kern="0" spc="-80" dirty="0">
                <a:solidFill>
                  <a:schemeClr val="accent6"/>
                </a:solidFill>
              </a:rPr>
              <a:t>This is the storyteller:</a:t>
            </a:r>
          </a:p>
          <a:p>
            <a:pPr marL="12700" marR="5080"/>
            <a:r>
              <a:rPr lang="en-US" sz="1700" kern="0" spc="-80" dirty="0">
                <a:solidFill>
                  <a:schemeClr val="accent6"/>
                </a:solidFill>
              </a:rPr>
              <a:t>Turning GIS data into maps that humans can read without headaches.</a:t>
            </a:r>
          </a:p>
          <a:p>
            <a:pPr marL="12700" marR="5080"/>
            <a:endParaRPr lang="en-US" sz="1700" kern="0" spc="-80" dirty="0">
              <a:solidFill>
                <a:schemeClr val="accent6"/>
              </a:solidFill>
            </a:endParaRPr>
          </a:p>
          <a:p>
            <a:pPr marL="12700" marR="5080"/>
            <a:r>
              <a:rPr lang="en-US" sz="1700" kern="0" spc="-80" dirty="0">
                <a:solidFill>
                  <a:schemeClr val="accent2"/>
                </a:solidFill>
              </a:rPr>
              <a:t>5) Location Services (Mathematical Positioning)</a:t>
            </a:r>
          </a:p>
          <a:p>
            <a:pPr marL="12700" marR="5080"/>
            <a:r>
              <a:rPr lang="en-US" sz="1700" kern="0" spc="-80" dirty="0">
                <a:solidFill>
                  <a:schemeClr val="accent6"/>
                </a:solidFill>
              </a:rPr>
              <a:t>Uses GPS + cell towers + Wi-Fi + inertial sensors to find:</a:t>
            </a:r>
          </a:p>
          <a:p>
            <a:pPr marL="12700" marR="5080"/>
            <a:r>
              <a:rPr lang="en-US" sz="1700" kern="0" spc="-80" dirty="0">
                <a:solidFill>
                  <a:schemeClr val="accent6"/>
                </a:solidFill>
              </a:rPr>
              <a:t>Where you are.</a:t>
            </a:r>
          </a:p>
          <a:p>
            <a:pPr marL="12700" marR="5080"/>
            <a:r>
              <a:rPr lang="en-US" sz="1700" kern="0" spc="-80" dirty="0">
                <a:solidFill>
                  <a:schemeClr val="accent6"/>
                </a:solidFill>
              </a:rPr>
              <a:t>Where places are.</a:t>
            </a:r>
          </a:p>
          <a:p>
            <a:pPr marL="12700" marR="5080"/>
            <a:r>
              <a:rPr lang="en-US" sz="1700" kern="0" spc="-80" dirty="0">
                <a:solidFill>
                  <a:schemeClr val="accent6"/>
                </a:solidFill>
              </a:rPr>
              <a:t>How to get from A → B.</a:t>
            </a:r>
          </a:p>
          <a:p>
            <a:pPr marL="12700" marR="5080"/>
            <a:r>
              <a:rPr lang="en-US" sz="1700" kern="0" spc="-80" dirty="0">
                <a:solidFill>
                  <a:schemeClr val="accent6"/>
                </a:solidFill>
              </a:rPr>
              <a:t>This is the compass inside your phone.</a:t>
            </a:r>
          </a:p>
          <a:p>
            <a:pPr marL="12700" marR="5080"/>
            <a:endParaRPr lang="en-US" sz="1700" kern="0" spc="-80" dirty="0">
              <a:solidFill>
                <a:schemeClr val="accent6"/>
              </a:solidFill>
            </a:endParaRPr>
          </a:p>
        </p:txBody>
      </p:sp>
    </p:spTree>
    <p:extLst>
      <p:ext uri="{BB962C8B-B14F-4D97-AF65-F5344CB8AC3E}">
        <p14:creationId xmlns:p14="http://schemas.microsoft.com/office/powerpoint/2010/main" val="43357312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B0343-4EFD-AB9E-55A0-3E7AD038E5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E1E33A-4D68-F339-7A13-76465AB3D87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6F308C-2707-2D5B-A611-C3F763A683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E191D9-A2C5-32DA-A4A3-76E8FD9B3DD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54534DC-2E4F-4A38-EFA9-B31E1B080C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DC2F93B-5CC4-A8A0-C6B1-0ED44B21518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E8F19F8-074B-BAB8-33E3-BE7D6B48CB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7BC9BB-9824-64E8-0D06-86F4EA3266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FB5B8B-4D53-EFF6-7C7A-76D5234F2E5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AE48C1-504D-754E-1D26-DAC88219CCFE}"/>
              </a:ext>
            </a:extLst>
          </p:cNvPr>
          <p:cNvSpPr txBox="1">
            <a:spLocks/>
          </p:cNvSpPr>
          <p:nvPr/>
        </p:nvSpPr>
        <p:spPr>
          <a:xfrm>
            <a:off x="228600" y="762000"/>
            <a:ext cx="8624937" cy="84023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700" kern="0" spc="-80" dirty="0">
                <a:solidFill>
                  <a:schemeClr val="accent2"/>
                </a:solidFill>
              </a:rPr>
              <a:t>6) Location Apps (User Experience Layer)</a:t>
            </a:r>
          </a:p>
          <a:p>
            <a:pPr marL="12700" marR="5080"/>
            <a:r>
              <a:rPr lang="en-US" sz="1700" kern="0" spc="-80" dirty="0">
                <a:solidFill>
                  <a:schemeClr val="accent6"/>
                </a:solidFill>
              </a:rPr>
              <a:t>These are apps people actually use:</a:t>
            </a:r>
          </a:p>
          <a:p>
            <a:pPr marL="12700" marR="5080"/>
            <a:r>
              <a:rPr lang="en-US" sz="1700" kern="0" spc="-80" dirty="0">
                <a:solidFill>
                  <a:schemeClr val="accent6"/>
                </a:solidFill>
              </a:rPr>
              <a:t>Google Maps</a:t>
            </a:r>
          </a:p>
          <a:p>
            <a:pPr marL="12700" marR="5080"/>
            <a:r>
              <a:rPr lang="en-US" sz="1700" kern="0" spc="-80" dirty="0">
                <a:solidFill>
                  <a:schemeClr val="accent6"/>
                </a:solidFill>
              </a:rPr>
              <a:t>UberSwiggy/Zomato delivery routing</a:t>
            </a:r>
          </a:p>
          <a:p>
            <a:pPr marL="12700" marR="5080"/>
            <a:r>
              <a:rPr lang="en-US" sz="1700" kern="0" spc="-80" dirty="0" err="1">
                <a:solidFill>
                  <a:schemeClr val="accent6"/>
                </a:solidFill>
              </a:rPr>
              <a:t>MapMyIndia</a:t>
            </a:r>
            <a:endParaRPr lang="en-US" sz="1700" kern="0" spc="-80" dirty="0">
              <a:solidFill>
                <a:schemeClr val="accent6"/>
              </a:solidFill>
            </a:endParaRPr>
          </a:p>
          <a:p>
            <a:pPr marL="12700" marR="5080"/>
            <a:r>
              <a:rPr lang="en-US" sz="1700" kern="0" spc="-80" dirty="0">
                <a:solidFill>
                  <a:schemeClr val="accent6"/>
                </a:solidFill>
              </a:rPr>
              <a:t>Pokémon GO map logic</a:t>
            </a:r>
          </a:p>
          <a:p>
            <a:pPr marL="12700" marR="5080"/>
            <a:r>
              <a:rPr lang="en-US" sz="1700" kern="0" spc="-80" dirty="0">
                <a:solidFill>
                  <a:schemeClr val="accent6"/>
                </a:solidFill>
              </a:rPr>
              <a:t>Transport systems dashboards</a:t>
            </a:r>
          </a:p>
          <a:p>
            <a:pPr marL="12700" marR="5080"/>
            <a:r>
              <a:rPr lang="en-US" sz="1700" kern="0" spc="-80" dirty="0">
                <a:solidFill>
                  <a:schemeClr val="accent2"/>
                </a:solidFill>
              </a:rPr>
              <a:t>N.B.-&gt; Worthy to check the Mathematical concepts, techniques  &amp; their implementation algorithms used in each layer of the Big Picture by googling or “</a:t>
            </a:r>
            <a:r>
              <a:rPr lang="en-US" sz="1700" kern="0" spc="-80" dirty="0" err="1">
                <a:solidFill>
                  <a:schemeClr val="accent2"/>
                </a:solidFill>
              </a:rPr>
              <a:t>ChatGPT”ing</a:t>
            </a:r>
            <a:r>
              <a:rPr lang="en-US" sz="1700" kern="0" spc="-80" dirty="0">
                <a:solidFill>
                  <a:schemeClr val="accent2"/>
                </a:solidFill>
              </a:rPr>
              <a:t> or some other way. </a:t>
            </a:r>
          </a:p>
          <a:p>
            <a:pPr marL="12700" marR="5080"/>
            <a:endParaRPr lang="en-US" sz="1700" kern="0" spc="-80" dirty="0">
              <a:solidFill>
                <a:schemeClr val="accent2"/>
              </a:solidFill>
            </a:endParaRPr>
          </a:p>
          <a:p>
            <a:pPr marL="12700" marR="5080"/>
            <a:endParaRPr lang="en-US" sz="1700" kern="0" spc="-80" dirty="0">
              <a:solidFill>
                <a:schemeClr val="accent2"/>
              </a:solidFill>
            </a:endParaRPr>
          </a:p>
          <a:p>
            <a:pPr marL="12700" marR="5080"/>
            <a:r>
              <a:rPr lang="en-US" sz="1700" kern="0" spc="-80" dirty="0">
                <a:solidFill>
                  <a:schemeClr val="accent2"/>
                </a:solidFill>
              </a:rPr>
              <a:t>🎯 One Real-world Example (Uber / Swiggy / Zomato)</a:t>
            </a:r>
          </a:p>
          <a:p>
            <a:pPr marL="12700" marR="5080"/>
            <a:r>
              <a:rPr lang="en-US" sz="1600" kern="0" spc="-80" dirty="0">
                <a:solidFill>
                  <a:schemeClr val="accent2"/>
                </a:solidFill>
              </a:rPr>
              <a:t>Remote Sensing/Photogrammetry -&gt;</a:t>
            </a:r>
            <a:r>
              <a:rPr lang="en-US" sz="1600" kern="0" spc="-80" dirty="0">
                <a:solidFill>
                  <a:schemeClr val="accent6"/>
                </a:solidFill>
              </a:rPr>
              <a:t> Drone/Mapping Data → City Map Layers (GIS)</a:t>
            </a:r>
          </a:p>
          <a:p>
            <a:pPr marL="12700" marR="5080"/>
            <a:r>
              <a:rPr lang="en-US" sz="1600" kern="0" spc="-80" dirty="0">
                <a:solidFill>
                  <a:schemeClr val="accent2"/>
                </a:solidFill>
              </a:rPr>
              <a:t>GIS -&gt;</a:t>
            </a:r>
            <a:r>
              <a:rPr lang="en-US" sz="1600" kern="0" spc="-80" dirty="0">
                <a:solidFill>
                  <a:schemeClr val="accent6"/>
                </a:solidFill>
              </a:rPr>
              <a:t> Roads + Traffic Data → Travel Cost Model</a:t>
            </a:r>
          </a:p>
          <a:p>
            <a:pPr marL="12700" marR="5080"/>
            <a:r>
              <a:rPr lang="en-US" sz="1600" kern="0" spc="-80" dirty="0">
                <a:solidFill>
                  <a:schemeClr val="accent2"/>
                </a:solidFill>
              </a:rPr>
              <a:t>Cartography →</a:t>
            </a:r>
            <a:r>
              <a:rPr lang="en-US" sz="1600" kern="0" spc="-80" dirty="0">
                <a:solidFill>
                  <a:schemeClr val="accent6"/>
                </a:solidFill>
              </a:rPr>
              <a:t> User-friendly map UI</a:t>
            </a:r>
          </a:p>
          <a:p>
            <a:pPr marL="12700" marR="5080"/>
            <a:r>
              <a:rPr lang="en-US" sz="1600" kern="0" spc="-80" dirty="0">
                <a:solidFill>
                  <a:schemeClr val="accent2"/>
                </a:solidFill>
              </a:rPr>
              <a:t>Location Services –&gt;</a:t>
            </a:r>
            <a:r>
              <a:rPr lang="en-US" sz="1600" kern="0" spc="-80" dirty="0">
                <a:solidFill>
                  <a:schemeClr val="accent6"/>
                </a:solidFill>
              </a:rPr>
              <a:t>  GPS → Your position </a:t>
            </a:r>
          </a:p>
          <a:p>
            <a:pPr marL="12700" marR="5080"/>
            <a:r>
              <a:rPr lang="en-US" sz="1600" kern="0" spc="-80" dirty="0">
                <a:solidFill>
                  <a:schemeClr val="accent2"/>
                </a:solidFill>
              </a:rPr>
              <a:t>Intermediate Operation(s) -&gt;</a:t>
            </a:r>
            <a:r>
              <a:rPr lang="en-US" sz="1600" kern="0" spc="-80" dirty="0">
                <a:solidFill>
                  <a:schemeClr val="accent6"/>
                </a:solidFill>
              </a:rPr>
              <a:t> Routing Algorithm → Shortest path to restaurant/customer</a:t>
            </a:r>
          </a:p>
          <a:p>
            <a:pPr marL="12700" marR="5080"/>
            <a:r>
              <a:rPr lang="en-US" sz="1600" kern="0" spc="-80" dirty="0">
                <a:solidFill>
                  <a:schemeClr val="accent2"/>
                </a:solidFill>
              </a:rPr>
              <a:t>Location App →</a:t>
            </a:r>
            <a:r>
              <a:rPr lang="en-US" sz="1600" kern="0" spc="-80" dirty="0">
                <a:solidFill>
                  <a:schemeClr val="accent6"/>
                </a:solidFill>
              </a:rPr>
              <a:t> Shows live driver movement, ETA, directions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06717855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4712B-6F93-2E7A-7E12-E93E09AA7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E2183B-FD57-E53C-5F6F-FA49A61C08B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4EE19F-0C4A-9A3D-C235-ECF17CE46C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10784C-0D43-7B9C-334B-C009FDDB819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13F8F38-C44A-9D5C-9993-9D0FFEE550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01F2E61-4FDA-1F0D-B6FE-FD31739A878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5044B1-D655-B416-5161-B9827D7514F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BCEB2D8-DDA3-97B5-8E7C-230C10B55B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4669FF-798A-094E-A5D4-EEADCA15F28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14AEA9C-F8A7-DCF4-0648-981A0BA21F61}"/>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What Remote Sensing Is</a:t>
            </a:r>
          </a:p>
          <a:p>
            <a:pPr marL="12700" marR="5080"/>
            <a:r>
              <a:rPr lang="en-US" sz="1500" kern="0" spc="-80" dirty="0">
                <a:solidFill>
                  <a:schemeClr val="accent6"/>
                </a:solidFill>
              </a:rPr>
              <a:t>Remote sensing is the art and science of extracting information about Earth without physically touching it, usually by measuring electromagnetic radiation (EMR) reflected or emitted from </a:t>
            </a:r>
            <a:r>
              <a:rPr lang="en-US" sz="1500" kern="0" spc="-80" dirty="0" err="1">
                <a:solidFill>
                  <a:schemeClr val="accent6"/>
                </a:solidFill>
              </a:rPr>
              <a:t>surfaces.Think</a:t>
            </a:r>
            <a:r>
              <a:rPr lang="en-US" sz="1500" kern="0" spc="-80" dirty="0">
                <a:solidFill>
                  <a:schemeClr val="accent6"/>
                </a:solidFill>
              </a:rPr>
              <a:t> of sensors as cosmic ears, tuned to listen to the whispers of surfaces.</a:t>
            </a:r>
          </a:p>
          <a:p>
            <a:pPr marL="12700" marR="5080"/>
            <a:endParaRPr lang="en-US" sz="1500" kern="0" spc="-80" dirty="0">
              <a:solidFill>
                <a:schemeClr val="accent6"/>
              </a:solidFill>
            </a:endParaRPr>
          </a:p>
          <a:p>
            <a:pPr marL="12700" marR="5080"/>
            <a:r>
              <a:rPr lang="en-US" sz="1500" kern="0" spc="-80" dirty="0">
                <a:solidFill>
                  <a:schemeClr val="accent2"/>
                </a:solidFill>
              </a:rPr>
              <a:t>✨ Core Workflow (The Grand Map)</a:t>
            </a:r>
          </a:p>
          <a:p>
            <a:pPr marL="12700" marR="5080"/>
            <a:r>
              <a:rPr lang="en-US" sz="1500" kern="0" spc="-80" dirty="0">
                <a:solidFill>
                  <a:schemeClr val="accent6"/>
                </a:solidFill>
              </a:rPr>
              <a:t>[ Sun / Source ] </a:t>
            </a:r>
          </a:p>
          <a:p>
            <a:pPr marL="12700" marR="5080"/>
            <a:r>
              <a:rPr lang="en-US" sz="1500" kern="0" spc="-80" dirty="0">
                <a:solidFill>
                  <a:schemeClr val="accent6"/>
                </a:solidFill>
              </a:rPr>
              <a:t>       ↓ (Radiation)</a:t>
            </a:r>
          </a:p>
          <a:p>
            <a:pPr marL="12700" marR="5080"/>
            <a:r>
              <a:rPr lang="en-US" sz="1500" kern="0" spc="-80" dirty="0">
                <a:solidFill>
                  <a:schemeClr val="accent6"/>
                </a:solidFill>
              </a:rPr>
              <a:t>[ Atmosphere Interaction ]</a:t>
            </a:r>
          </a:p>
          <a:p>
            <a:pPr marL="12700" marR="5080"/>
            <a:r>
              <a:rPr lang="en-US" sz="1500" kern="0" spc="-80" dirty="0">
                <a:solidFill>
                  <a:schemeClr val="accent6"/>
                </a:solidFill>
              </a:rPr>
              <a:t>       ↓</a:t>
            </a:r>
          </a:p>
          <a:p>
            <a:pPr marL="12700" marR="5080"/>
            <a:r>
              <a:rPr lang="en-US" sz="1500" kern="0" spc="-80" dirty="0">
                <a:solidFill>
                  <a:schemeClr val="accent6"/>
                </a:solidFill>
              </a:rPr>
              <a:t>[ Energy Reaches Surface ]</a:t>
            </a:r>
          </a:p>
          <a:p>
            <a:pPr marL="12700" marR="5080"/>
            <a:r>
              <a:rPr lang="en-US" sz="1500" kern="0" spc="-80" dirty="0">
                <a:solidFill>
                  <a:schemeClr val="accent6"/>
                </a:solidFill>
              </a:rPr>
              <a:t>       ↓</a:t>
            </a:r>
          </a:p>
          <a:p>
            <a:pPr marL="12700" marR="5080"/>
            <a:r>
              <a:rPr lang="en-US" sz="1500" kern="0" spc="-80" dirty="0">
                <a:solidFill>
                  <a:schemeClr val="accent6"/>
                </a:solidFill>
              </a:rPr>
              <a:t>[ Surface Reflects/Emits Back ]</a:t>
            </a:r>
          </a:p>
          <a:p>
            <a:pPr marL="12700" marR="5080"/>
            <a:r>
              <a:rPr lang="en-US" sz="1500" kern="0" spc="-80" dirty="0">
                <a:solidFill>
                  <a:schemeClr val="accent6"/>
                </a:solidFill>
              </a:rPr>
              <a:t>       ↓</a:t>
            </a:r>
          </a:p>
          <a:p>
            <a:pPr marL="12700" marR="5080"/>
            <a:r>
              <a:rPr lang="en-US" sz="1500" kern="0" spc="-80" dirty="0">
                <a:solidFill>
                  <a:schemeClr val="accent6"/>
                </a:solidFill>
              </a:rPr>
              <a:t>[ Sensor (Satellite / UAV / Aircraft) ]</a:t>
            </a:r>
          </a:p>
          <a:p>
            <a:pPr marL="12700" marR="5080"/>
            <a:r>
              <a:rPr lang="en-US" sz="1500" kern="0" spc="-80" dirty="0">
                <a:solidFill>
                  <a:schemeClr val="accent6"/>
                </a:solidFill>
              </a:rPr>
              <a:t>       ↓</a:t>
            </a:r>
          </a:p>
          <a:p>
            <a:pPr marL="12700" marR="5080"/>
            <a:r>
              <a:rPr lang="en-US" sz="1500" kern="0" spc="-80" dirty="0">
                <a:solidFill>
                  <a:schemeClr val="accent6"/>
                </a:solidFill>
              </a:rPr>
              <a:t>[ Raw Digital Radiance Data ]</a:t>
            </a:r>
          </a:p>
          <a:p>
            <a:pPr marL="12700" marR="5080"/>
            <a:r>
              <a:rPr lang="en-US" sz="1500" kern="0" spc="-80" dirty="0">
                <a:solidFill>
                  <a:schemeClr val="accent6"/>
                </a:solidFill>
              </a:rPr>
              <a:t>       ↓</a:t>
            </a:r>
          </a:p>
          <a:p>
            <a:pPr marL="12700" marR="5080"/>
            <a:r>
              <a:rPr lang="en-US" sz="1500" kern="0" spc="-80" dirty="0">
                <a:solidFill>
                  <a:schemeClr val="accent6"/>
                </a:solidFill>
              </a:rPr>
              <a:t>[ Radiometric + Atmospheric Correction ]</a:t>
            </a:r>
          </a:p>
          <a:p>
            <a:pPr marL="12700" marR="5080"/>
            <a:r>
              <a:rPr lang="en-US" sz="1500" kern="0" spc="-80" dirty="0">
                <a:solidFill>
                  <a:schemeClr val="accent6"/>
                </a:solidFill>
              </a:rPr>
              <a:t>       ↓</a:t>
            </a:r>
          </a:p>
          <a:p>
            <a:pPr marL="12700" marR="5080"/>
            <a:r>
              <a:rPr lang="en-US" sz="1500" kern="0" spc="-80" dirty="0">
                <a:solidFill>
                  <a:schemeClr val="accent6"/>
                </a:solidFill>
              </a:rPr>
              <a:t>[ Geometric Correction &amp; Geo-referencing ]</a:t>
            </a:r>
          </a:p>
        </p:txBody>
      </p:sp>
    </p:spTree>
    <p:extLst>
      <p:ext uri="{BB962C8B-B14F-4D97-AF65-F5344CB8AC3E}">
        <p14:creationId xmlns:p14="http://schemas.microsoft.com/office/powerpoint/2010/main" val="142345929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FBFB4-E477-0C41-71A9-B763F522BB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18ABD8-AF2D-3621-057C-A5D8C48D74C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794BBF-451C-8BF1-E2FF-D750BED937A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006AE2-8A2C-14B0-7D2C-8BB4B96155E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D17B82-56C1-49ED-3A52-C97880981BF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4B7BE47-0A68-E42D-5C5A-9539055805A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C6CB01D-E869-8929-7DDB-334570F37B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74E0C5-A08D-76DD-4DE7-869DB06385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92047B-D997-0AA4-FEFE-A1DA39BD89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EB5EBA6-4D98-50E2-A0DC-34C7FF46C9CF}"/>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Core Workflow (The Grand Map)</a:t>
            </a:r>
          </a:p>
          <a:p>
            <a:pPr marL="12700" marR="5080"/>
            <a:r>
              <a:rPr lang="en-US" sz="1500" kern="0" spc="-80" dirty="0">
                <a:solidFill>
                  <a:schemeClr val="accent6"/>
                </a:solidFill>
              </a:rPr>
              <a:t>      ↓</a:t>
            </a:r>
          </a:p>
          <a:p>
            <a:pPr marL="12700" marR="5080"/>
            <a:r>
              <a:rPr lang="en-US" sz="1500" kern="0" spc="-80" dirty="0">
                <a:solidFill>
                  <a:schemeClr val="accent6"/>
                </a:solidFill>
              </a:rPr>
              <a:t>[ Image Enhancement &amp; Filtering ]</a:t>
            </a:r>
          </a:p>
          <a:p>
            <a:pPr marL="12700" marR="5080"/>
            <a:r>
              <a:rPr lang="en-US" sz="1500" kern="0" spc="-80" dirty="0">
                <a:solidFill>
                  <a:schemeClr val="accent6"/>
                </a:solidFill>
              </a:rPr>
              <a:t>       ↓</a:t>
            </a:r>
          </a:p>
          <a:p>
            <a:pPr marL="12700" marR="5080"/>
            <a:r>
              <a:rPr lang="en-US" sz="1500" kern="0" spc="-80" dirty="0">
                <a:solidFill>
                  <a:schemeClr val="accent6"/>
                </a:solidFill>
              </a:rPr>
              <a:t>[ Feature Extraction / Object Detection ]</a:t>
            </a:r>
          </a:p>
          <a:p>
            <a:pPr marL="12700" marR="5080"/>
            <a:r>
              <a:rPr lang="en-US" sz="1500" kern="0" spc="-80" dirty="0">
                <a:solidFill>
                  <a:schemeClr val="accent6"/>
                </a:solidFill>
              </a:rPr>
              <a:t>       ↓</a:t>
            </a:r>
          </a:p>
          <a:p>
            <a:pPr marL="12700" marR="5080"/>
            <a:r>
              <a:rPr lang="en-US" sz="1500" kern="0" spc="-80" dirty="0">
                <a:solidFill>
                  <a:schemeClr val="accent6"/>
                </a:solidFill>
              </a:rPr>
              <a:t>[ Thematic Classification / Index Computation ]</a:t>
            </a:r>
          </a:p>
          <a:p>
            <a:pPr marL="12700" marR="5080"/>
            <a:r>
              <a:rPr lang="en-US" sz="1500" kern="0" spc="-80" dirty="0">
                <a:solidFill>
                  <a:schemeClr val="accent6"/>
                </a:solidFill>
              </a:rPr>
              <a:t>       ↓</a:t>
            </a:r>
          </a:p>
          <a:p>
            <a:pPr marL="12700" marR="5080"/>
            <a:r>
              <a:rPr lang="en-US" sz="1500" kern="0" spc="-80" dirty="0">
                <a:solidFill>
                  <a:schemeClr val="accent6"/>
                </a:solidFill>
              </a:rPr>
              <a:t>[ Analysis &amp; Decision ]</a:t>
            </a:r>
          </a:p>
          <a:p>
            <a:pPr marL="12700" marR="5080"/>
            <a:endParaRPr lang="en-US" sz="1500" kern="0" spc="-80" dirty="0">
              <a:solidFill>
                <a:schemeClr val="accent6"/>
              </a:solidFill>
            </a:endParaRPr>
          </a:p>
          <a:p>
            <a:pPr marL="12700" marR="5080"/>
            <a:r>
              <a:rPr lang="en-US" sz="1500" kern="0" spc="-80" dirty="0">
                <a:solidFill>
                  <a:schemeClr val="accent2"/>
                </a:solidFill>
              </a:rPr>
              <a:t>1) Energy &amp; Sensor Physics</a:t>
            </a:r>
          </a:p>
          <a:p>
            <a:pPr marL="12700" marR="5080"/>
            <a:r>
              <a:rPr lang="en-US" sz="1500" kern="0" spc="-80" dirty="0">
                <a:solidFill>
                  <a:schemeClr val="accent6"/>
                </a:solidFill>
              </a:rPr>
              <a:t>This is the heartbeat.</a:t>
            </a:r>
          </a:p>
          <a:p>
            <a:pPr marL="12700" marR="5080"/>
            <a:r>
              <a:rPr lang="en-US" sz="1500" kern="0" spc="-80" dirty="0">
                <a:solidFill>
                  <a:schemeClr val="accent6"/>
                </a:solidFill>
              </a:rPr>
              <a:t>Electromagnetic Spectrum 🟣🔵🟢🟡🔴</a:t>
            </a:r>
          </a:p>
          <a:p>
            <a:pPr marL="12700" marR="5080"/>
            <a:endParaRPr lang="en-US" sz="1500" kern="0" spc="-80" dirty="0">
              <a:solidFill>
                <a:schemeClr val="accent6"/>
              </a:solidFill>
            </a:endParaRPr>
          </a:p>
          <a:p>
            <a:pPr marL="12700" marR="5080"/>
            <a:r>
              <a:rPr lang="en-US" sz="1500" kern="0" spc="-80" dirty="0">
                <a:solidFill>
                  <a:schemeClr val="accent2"/>
                </a:solidFill>
              </a:rPr>
              <a:t>Remote sensors typically use:</a:t>
            </a:r>
          </a:p>
          <a:p>
            <a:pPr marL="12700" marR="5080"/>
            <a:r>
              <a:rPr lang="en-US" sz="1500" kern="0" spc="-80" dirty="0">
                <a:solidFill>
                  <a:schemeClr val="accent6"/>
                </a:solidFill>
              </a:rPr>
              <a:t>Visible (0.4–0.7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Near Infrared (0.7–1.3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Shortwave IR (1.3–3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Thermal IR (3–14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Microwave (1 mm–1 m)</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2015762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074DD-50EA-ACC6-D889-9A05F127363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E57753-0455-0EE5-C5A8-FB0C4F66B4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98B5524-7F03-7FAD-29AD-B8B6D93B2A4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AF2A22-21DD-217A-EE5D-E91E52E7B08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B3045E-3246-AD91-CAF3-8E296EC37FC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DE7C35-8C62-AAD1-FF88-6EAECB46E50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CB9A03-11B5-40BF-2F10-AC5F9A63469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624E95-869E-FB9D-ABE0-CEF0FABE03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55CBCD0-118F-56D9-568C-1F77B55206D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908BD7B-8655-B00C-40BA-D2C81F99FD5C}"/>
              </a:ext>
            </a:extLst>
          </p:cNvPr>
          <p:cNvSpPr txBox="1">
            <a:spLocks/>
          </p:cNvSpPr>
          <p:nvPr/>
        </p:nvSpPr>
        <p:spPr>
          <a:xfrm>
            <a:off x="228600" y="762000"/>
            <a:ext cx="8624937" cy="226831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Key Concepts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2"/>
                </a:solidFill>
              </a:rPr>
              <a:t>2) Sensors &amp; Platforms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6"/>
                </a:solidFill>
              </a:rPr>
              <a:t>Radar and LiDAR Core </a:t>
            </a:r>
            <a:r>
              <a:rPr lang="en-US" sz="1500" kern="0" spc="-80" dirty="0" err="1">
                <a:solidFill>
                  <a:schemeClr val="accent6"/>
                </a:solidFill>
              </a:rPr>
              <a:t>Maths</a:t>
            </a:r>
            <a:endParaRPr lang="en-US" sz="1500" kern="0" spc="-80" dirty="0">
              <a:solidFill>
                <a:schemeClr val="accent6"/>
              </a:solidFill>
            </a:endParaRPr>
          </a:p>
          <a:p>
            <a:pPr marL="12700" marR="5080"/>
            <a:r>
              <a:rPr lang="en-US" sz="1500" kern="0" spc="-80" dirty="0">
                <a:solidFill>
                  <a:schemeClr val="accent6"/>
                </a:solidFill>
              </a:rPr>
              <a:t>LiDAR Distance:</a:t>
            </a:r>
          </a:p>
          <a:p>
            <a:pPr marL="12700" marR="5080"/>
            <a:r>
              <a:rPr lang="en-US" sz="1500" kern="0" spc="-80" dirty="0">
                <a:solidFill>
                  <a:schemeClr val="accent6"/>
                </a:solidFill>
              </a:rPr>
              <a:t>d = (c * </a:t>
            </a:r>
            <a:r>
              <a:rPr lang="el-GR" sz="1500" kern="0" spc="-80" dirty="0">
                <a:solidFill>
                  <a:schemeClr val="accent6"/>
                </a:solidFill>
              </a:rPr>
              <a:t>Δ</a:t>
            </a:r>
            <a:r>
              <a:rPr lang="en-US" sz="1500" kern="0" spc="-80" dirty="0">
                <a:solidFill>
                  <a:schemeClr val="accent6"/>
                </a:solidFill>
              </a:rPr>
              <a:t>t) / 2</a:t>
            </a:r>
          </a:p>
          <a:p>
            <a:pPr marL="12700" marR="5080"/>
            <a:r>
              <a:rPr lang="en-US" sz="1500" kern="0" spc="-80" dirty="0">
                <a:solidFill>
                  <a:schemeClr val="accent6"/>
                </a:solidFill>
              </a:rPr>
              <a:t>Radar Backscatter: depends on surface roughness, incidence angle, and dielectric constant.</a:t>
            </a:r>
          </a:p>
          <a:p>
            <a:pPr marL="12700" marR="5080"/>
            <a:r>
              <a:rPr lang="en-US" sz="1500" kern="0" spc="-80" dirty="0">
                <a:solidFill>
                  <a:schemeClr val="accent6"/>
                </a:solidFill>
              </a:rPr>
              <a:t>3) Radiometric Processing</a:t>
            </a:r>
          </a:p>
          <a:p>
            <a:pPr marL="12700" marR="5080"/>
            <a:r>
              <a:rPr lang="en-US" sz="1500" kern="0" spc="-80" dirty="0">
                <a:solidFill>
                  <a:schemeClr val="accent6"/>
                </a:solidFill>
              </a:rPr>
              <a:t>Turning raw brightness into scientifically comparable data.</a:t>
            </a:r>
          </a:p>
          <a:p>
            <a:pPr marL="12700" marR="5080"/>
            <a:r>
              <a:rPr lang="en-US" sz="1500" kern="0" spc="-80" dirty="0">
                <a:solidFill>
                  <a:schemeClr val="accent6"/>
                </a:solidFill>
              </a:rPr>
              <a:t>Step	Purpose	Key Math</a:t>
            </a:r>
          </a:p>
          <a:p>
            <a:pPr marL="12700" marR="5080"/>
            <a:r>
              <a:rPr lang="en-US" sz="1500" kern="0" spc="-80" dirty="0">
                <a:solidFill>
                  <a:schemeClr val="accent6"/>
                </a:solidFill>
              </a:rPr>
              <a:t>DN → Radiance	Convert sensor digital numbers	L = gain × DN + bias</a:t>
            </a:r>
          </a:p>
          <a:p>
            <a:pPr marL="12700" marR="5080"/>
            <a:r>
              <a:rPr lang="en-US" sz="1500" kern="0" spc="-80" dirty="0">
                <a:solidFill>
                  <a:schemeClr val="accent6"/>
                </a:solidFill>
              </a:rPr>
              <a:t>Radiance → Reflectance	Normalize illumination	</a:t>
            </a:r>
            <a:r>
              <a:rPr lang="el-GR" sz="1500" kern="0" spc="-80" dirty="0">
                <a:solidFill>
                  <a:schemeClr val="accent6"/>
                </a:solidFill>
              </a:rPr>
              <a:t>ρ = (π × </a:t>
            </a:r>
            <a:r>
              <a:rPr lang="en-US" sz="1500" kern="0" spc="-80" dirty="0">
                <a:solidFill>
                  <a:schemeClr val="accent6"/>
                </a:solidFill>
              </a:rPr>
              <a:t>L × d²) / (ESUN × cos </a:t>
            </a:r>
            <a:r>
              <a:rPr lang="el-GR" sz="1500" kern="0" spc="-80" dirty="0">
                <a:solidFill>
                  <a:schemeClr val="accent6"/>
                </a:solidFill>
              </a:rPr>
              <a:t>θ)</a:t>
            </a:r>
          </a:p>
          <a:p>
            <a:pPr marL="12700" marR="5080"/>
            <a:r>
              <a:rPr lang="en-US" sz="1500" kern="0" spc="-80" dirty="0">
                <a:solidFill>
                  <a:schemeClr val="accent6"/>
                </a:solidFill>
              </a:rPr>
              <a:t>Atmospheric Correction	Remove haze/scattering	Radiative Transfer Equation (RTE) models</a:t>
            </a:r>
          </a:p>
          <a:p>
            <a:pPr marL="12700" marR="5080"/>
            <a:r>
              <a:rPr lang="en-US" sz="1500" kern="0" spc="-80" dirty="0">
                <a:solidFill>
                  <a:schemeClr val="accent6"/>
                </a:solidFill>
              </a:rPr>
              <a:t>4) Geometric Correction</a:t>
            </a:r>
          </a:p>
          <a:p>
            <a:pPr marL="12700" marR="5080"/>
            <a:r>
              <a:rPr lang="en-US" sz="1500" kern="0" spc="-80" dirty="0">
                <a:solidFill>
                  <a:schemeClr val="accent6"/>
                </a:solidFill>
              </a:rPr>
              <a:t>Aligning pixels to real Earth locations.</a:t>
            </a:r>
          </a:p>
          <a:p>
            <a:pPr marL="12700" marR="5080"/>
            <a:r>
              <a:rPr lang="en-US" sz="1500" kern="0" spc="-80" dirty="0">
                <a:solidFill>
                  <a:schemeClr val="accent6"/>
                </a:solidFill>
              </a:rPr>
              <a:t>Uses camera geometry, orbital parameters, GCPs, DEM</a:t>
            </a:r>
          </a:p>
          <a:p>
            <a:pPr marL="12700" marR="5080"/>
            <a:r>
              <a:rPr lang="en-US" sz="1500" kern="0" spc="-80" dirty="0">
                <a:solidFill>
                  <a:schemeClr val="accent6"/>
                </a:solidFill>
              </a:rPr>
              <a:t>Fundamental transformation:</a:t>
            </a:r>
          </a:p>
          <a:p>
            <a:pPr marL="12700" marR="5080"/>
            <a:r>
              <a:rPr lang="en-US" sz="1500" kern="0" spc="-80" dirty="0">
                <a:solidFill>
                  <a:schemeClr val="accent6"/>
                </a:solidFill>
              </a:rPr>
              <a:t>x' = ax + by + c</a:t>
            </a:r>
          </a:p>
          <a:p>
            <a:pPr marL="12700" marR="5080"/>
            <a:r>
              <a:rPr lang="en-US" sz="1500" kern="0" spc="-80" dirty="0">
                <a:solidFill>
                  <a:schemeClr val="accent6"/>
                </a:solidFill>
              </a:rPr>
              <a:t>y' = dx + </a:t>
            </a:r>
            <a:r>
              <a:rPr lang="en-US" sz="1500" kern="0" spc="-80" dirty="0" err="1">
                <a:solidFill>
                  <a:schemeClr val="accent6"/>
                </a:solidFill>
              </a:rPr>
              <a:t>ey</a:t>
            </a:r>
            <a:r>
              <a:rPr lang="en-US" sz="1500" kern="0" spc="-80" dirty="0">
                <a:solidFill>
                  <a:schemeClr val="accent6"/>
                </a:solidFill>
              </a:rPr>
              <a:t> + f</a:t>
            </a:r>
          </a:p>
          <a:p>
            <a:pPr marL="12700" marR="5080"/>
            <a:r>
              <a:rPr lang="en-US" sz="1500" kern="0" spc="-80" dirty="0">
                <a:solidFill>
                  <a:schemeClr val="accent6"/>
                </a:solidFill>
              </a:rPr>
              <a:t>Or full photogrammetric perspective projection:</a:t>
            </a:r>
          </a:p>
          <a:p>
            <a:pPr marL="12700" marR="5080"/>
            <a:r>
              <a:rPr lang="en-US" sz="1500" kern="0" spc="-80" dirty="0">
                <a:solidFill>
                  <a:schemeClr val="accent6"/>
                </a:solidFill>
              </a:rPr>
              <a:t>x = (f * X / Z),   y = (f * Y / Z)</a:t>
            </a:r>
          </a:p>
          <a:p>
            <a:pPr marL="12700" marR="5080"/>
            <a:r>
              <a:rPr lang="en-US" sz="1500" kern="0" spc="-80" dirty="0">
                <a:solidFill>
                  <a:schemeClr val="accent6"/>
                </a:solidFill>
              </a:rPr>
              <a:t>This is where maps become maps.</a:t>
            </a:r>
          </a:p>
          <a:p>
            <a:pPr marL="12700" marR="5080"/>
            <a:r>
              <a:rPr lang="en-US" sz="1500" kern="0" spc="-80" dirty="0">
                <a:solidFill>
                  <a:schemeClr val="accent6"/>
                </a:solidFill>
              </a:rPr>
              <a:t>5) Image Enhancement</a:t>
            </a:r>
          </a:p>
          <a:p>
            <a:pPr marL="12700" marR="5080"/>
            <a:r>
              <a:rPr lang="en-US" sz="1500" kern="0" spc="-80" dirty="0">
                <a:solidFill>
                  <a:schemeClr val="accent6"/>
                </a:solidFill>
              </a:rPr>
              <a:t>Not science, but clarity.</a:t>
            </a:r>
          </a:p>
          <a:p>
            <a:pPr marL="12700" marR="5080"/>
            <a:r>
              <a:rPr lang="en-US" sz="1500" kern="0" spc="-80" dirty="0">
                <a:solidFill>
                  <a:schemeClr val="accent6"/>
                </a:solidFill>
              </a:rPr>
              <a:t>Contrast Stretching</a:t>
            </a:r>
          </a:p>
          <a:p>
            <a:pPr marL="12700" marR="5080"/>
            <a:r>
              <a:rPr lang="en-US" sz="1500" kern="0" spc="-80" dirty="0">
                <a:solidFill>
                  <a:schemeClr val="accent6"/>
                </a:solidFill>
              </a:rPr>
              <a:t>Histogram Equalization</a:t>
            </a:r>
          </a:p>
          <a:p>
            <a:pPr marL="12700" marR="5080"/>
            <a:r>
              <a:rPr lang="en-US" sz="1500" kern="0" spc="-80" dirty="0">
                <a:solidFill>
                  <a:schemeClr val="accent6"/>
                </a:solidFill>
              </a:rPr>
              <a:t>Band Ratios (e.g., NDVI)</a:t>
            </a:r>
          </a:p>
          <a:p>
            <a:pPr marL="12700" marR="5080"/>
            <a:r>
              <a:rPr lang="en-US" sz="1500" kern="0" spc="-80" dirty="0">
                <a:solidFill>
                  <a:schemeClr val="accent6"/>
                </a:solidFill>
              </a:rPr>
              <a:t>NDVI Mathematics</a:t>
            </a:r>
          </a:p>
          <a:p>
            <a:pPr marL="12700" marR="5080"/>
            <a:r>
              <a:rPr lang="en-US" sz="1500" kern="0" spc="-80" dirty="0">
                <a:solidFill>
                  <a:schemeClr val="accent6"/>
                </a:solidFill>
              </a:rPr>
              <a:t>NDVI = (NIR - Red) / (NIR + Red)</a:t>
            </a:r>
          </a:p>
          <a:p>
            <a:pPr marL="12700" marR="5080"/>
            <a:r>
              <a:rPr lang="en-US" sz="1500" kern="0" spc="-80" dirty="0">
                <a:solidFill>
                  <a:schemeClr val="accent6"/>
                </a:solidFill>
              </a:rPr>
              <a:t>It’s a vegetation vigor whisperer.</a:t>
            </a:r>
          </a:p>
          <a:p>
            <a:pPr marL="12700" marR="5080"/>
            <a:r>
              <a:rPr lang="en-US" sz="1500" kern="0" spc="-80" dirty="0">
                <a:solidFill>
                  <a:schemeClr val="accent6"/>
                </a:solidFill>
              </a:rPr>
              <a:t>6) Filtering &amp; Texture</a:t>
            </a:r>
          </a:p>
          <a:p>
            <a:pPr marL="12700" marR="5080"/>
            <a:r>
              <a:rPr lang="en-US" sz="1500" kern="0" spc="-80" dirty="0">
                <a:solidFill>
                  <a:schemeClr val="accent6"/>
                </a:solidFill>
              </a:rPr>
              <a:t>Spatial kernels emphasize patterns.</a:t>
            </a:r>
          </a:p>
          <a:p>
            <a:pPr marL="12700" marR="5080"/>
            <a:r>
              <a:rPr lang="en-US" sz="1500" kern="0" spc="-80" dirty="0">
                <a:solidFill>
                  <a:schemeClr val="accent6"/>
                </a:solidFill>
              </a:rPr>
              <a:t>Filter	What it does	Math Form</a:t>
            </a:r>
          </a:p>
          <a:p>
            <a:pPr marL="12700" marR="5080"/>
            <a:r>
              <a:rPr lang="en-US" sz="1500" kern="0" spc="-80" dirty="0">
                <a:solidFill>
                  <a:schemeClr val="accent6"/>
                </a:solidFill>
              </a:rPr>
              <a:t>Mean Filter	Smooths	Convolution </a:t>
            </a:r>
            <a:r>
              <a:rPr lang="el-GR" sz="1500" kern="0" spc="-80" dirty="0">
                <a:solidFill>
                  <a:schemeClr val="accent6"/>
                </a:solidFill>
              </a:rPr>
              <a:t>Σ(</a:t>
            </a:r>
            <a:r>
              <a:rPr lang="en-US" sz="1500" kern="0" spc="-80" dirty="0">
                <a:solidFill>
                  <a:schemeClr val="accent6"/>
                </a:solidFill>
              </a:rPr>
              <a:t>I * K)</a:t>
            </a:r>
          </a:p>
          <a:p>
            <a:pPr marL="12700" marR="5080"/>
            <a:r>
              <a:rPr lang="en-US" sz="1500" kern="0" spc="-80" dirty="0">
                <a:solidFill>
                  <a:schemeClr val="accent6"/>
                </a:solidFill>
              </a:rPr>
              <a:t>Sobel/Prewitt	Edge detection	Gradient magnitude √(Gx² + Gy²)</a:t>
            </a:r>
          </a:p>
          <a:p>
            <a:pPr marL="12700" marR="5080"/>
            <a:r>
              <a:rPr lang="en-US" sz="1500" kern="0" spc="-80" dirty="0">
                <a:solidFill>
                  <a:schemeClr val="accent6"/>
                </a:solidFill>
              </a:rPr>
              <a:t>GLCM Texture	Measures surface texture	Co-occurrence matrices</a:t>
            </a:r>
          </a:p>
          <a:p>
            <a:pPr marL="12700" marR="5080"/>
            <a:r>
              <a:rPr lang="en-US" sz="1500" kern="0" spc="-80" dirty="0">
                <a:solidFill>
                  <a:schemeClr val="accent6"/>
                </a:solidFill>
              </a:rPr>
              <a:t>7) Classification &amp; Machine Learning</a:t>
            </a:r>
          </a:p>
          <a:p>
            <a:pPr marL="12700" marR="5080"/>
            <a:r>
              <a:rPr lang="en-US" sz="1500" kern="0" spc="-80" dirty="0">
                <a:solidFill>
                  <a:schemeClr val="accent6"/>
                </a:solidFill>
              </a:rPr>
              <a:t>Now the image becomes meaning.</a:t>
            </a:r>
          </a:p>
          <a:p>
            <a:pPr marL="12700" marR="5080"/>
            <a:r>
              <a:rPr lang="en-US" sz="1500" kern="0" spc="-80" dirty="0">
                <a:solidFill>
                  <a:schemeClr val="accent6"/>
                </a:solidFill>
              </a:rPr>
              <a:t>Supervised</a:t>
            </a:r>
          </a:p>
          <a:p>
            <a:pPr marL="12700" marR="5080"/>
            <a:r>
              <a:rPr lang="en-US" sz="1500" kern="0" spc="-80" dirty="0">
                <a:solidFill>
                  <a:schemeClr val="accent6"/>
                </a:solidFill>
              </a:rPr>
              <a:t>Maximum Likelihood Classification (Assumes Gaussian distributions)</a:t>
            </a:r>
          </a:p>
          <a:p>
            <a:pPr marL="12700" marR="5080"/>
            <a:r>
              <a:rPr lang="en-US" sz="1500" kern="0" spc="-80" dirty="0">
                <a:solidFill>
                  <a:schemeClr val="accent6"/>
                </a:solidFill>
              </a:rPr>
              <a:t>Support Vector Machines</a:t>
            </a:r>
          </a:p>
          <a:p>
            <a:pPr marL="12700" marR="5080"/>
            <a:r>
              <a:rPr lang="en-US" sz="1500" kern="0" spc="-80" dirty="0">
                <a:solidFill>
                  <a:schemeClr val="accent6"/>
                </a:solidFill>
              </a:rPr>
              <a:t>Random Forest</a:t>
            </a:r>
          </a:p>
          <a:p>
            <a:pPr marL="12700" marR="5080"/>
            <a:r>
              <a:rPr lang="en-US" sz="1500" kern="0" spc="-80" dirty="0">
                <a:solidFill>
                  <a:schemeClr val="accent6"/>
                </a:solidFill>
              </a:rPr>
              <a:t>Deep CNNs (for land-cover / objects)</a:t>
            </a:r>
          </a:p>
          <a:p>
            <a:pPr marL="12700" marR="5080"/>
            <a:r>
              <a:rPr lang="en-US" sz="1500" kern="0" spc="-80" dirty="0">
                <a:solidFill>
                  <a:schemeClr val="accent6"/>
                </a:solidFill>
              </a:rPr>
              <a:t>Unsupervised</a:t>
            </a:r>
          </a:p>
          <a:p>
            <a:pPr marL="12700" marR="5080"/>
            <a:r>
              <a:rPr lang="en-US" sz="1500" kern="0" spc="-80" dirty="0">
                <a:solidFill>
                  <a:schemeClr val="accent6"/>
                </a:solidFill>
              </a:rPr>
              <a:t>K-means</a:t>
            </a:r>
          </a:p>
          <a:p>
            <a:pPr marL="12700" marR="5080"/>
            <a:r>
              <a:rPr lang="en-US" sz="1500" kern="0" spc="-80" dirty="0">
                <a:solidFill>
                  <a:schemeClr val="accent6"/>
                </a:solidFill>
              </a:rPr>
              <a:t>ISODATA</a:t>
            </a:r>
          </a:p>
          <a:p>
            <a:pPr marL="12700" marR="5080"/>
            <a:r>
              <a:rPr lang="en-US" sz="1500" kern="0" spc="-80" dirty="0">
                <a:solidFill>
                  <a:schemeClr val="accent6"/>
                </a:solidFill>
              </a:rPr>
              <a:t>Maximum Likelihood Math (Core Idea)</a:t>
            </a:r>
          </a:p>
          <a:p>
            <a:pPr marL="12700" marR="5080"/>
            <a:r>
              <a:rPr lang="en-US" sz="1500" kern="0" spc="-80" dirty="0">
                <a:solidFill>
                  <a:schemeClr val="accent6"/>
                </a:solidFill>
              </a:rPr>
              <a:t>P(</a:t>
            </a:r>
            <a:r>
              <a:rPr lang="en-US" sz="1500" kern="0" spc="-80" dirty="0" err="1">
                <a:solidFill>
                  <a:schemeClr val="accent6"/>
                </a:solidFill>
              </a:rPr>
              <a:t>class|pixel</a:t>
            </a:r>
            <a:r>
              <a:rPr lang="en-US" sz="1500" kern="0" spc="-80" dirty="0">
                <a:solidFill>
                  <a:schemeClr val="accent6"/>
                </a:solidFill>
              </a:rPr>
              <a:t>) ∝ exp[ -½ (x-</a:t>
            </a:r>
            <a:r>
              <a:rPr lang="el-GR" sz="1500" kern="0" spc="-80" dirty="0">
                <a:solidFill>
                  <a:schemeClr val="accent6"/>
                </a:solidFill>
              </a:rPr>
              <a:t>μ)</a:t>
            </a:r>
            <a:r>
              <a:rPr lang="en-US" sz="1500" kern="0" spc="-80" dirty="0">
                <a:solidFill>
                  <a:schemeClr val="accent6"/>
                </a:solidFill>
              </a:rPr>
              <a:t>ᵀ </a:t>
            </a:r>
            <a:r>
              <a:rPr lang="el-GR" sz="1500" kern="0" spc="-80" dirty="0">
                <a:solidFill>
                  <a:schemeClr val="accent6"/>
                </a:solidFill>
              </a:rPr>
              <a:t>Σ⁻¹ (</a:t>
            </a:r>
            <a:r>
              <a:rPr lang="en-US" sz="1500" kern="0" spc="-80" dirty="0">
                <a:solidFill>
                  <a:schemeClr val="accent6"/>
                </a:solidFill>
              </a:rPr>
              <a:t>x-</a:t>
            </a:r>
            <a:r>
              <a:rPr lang="el-GR" sz="1500" kern="0" spc="-80" dirty="0">
                <a:solidFill>
                  <a:schemeClr val="accent6"/>
                </a:solidFill>
              </a:rPr>
              <a:t>μ) ]</a:t>
            </a:r>
          </a:p>
          <a:p>
            <a:pPr marL="12700" marR="5080"/>
            <a:r>
              <a:rPr lang="el-GR" sz="1500" kern="0" spc="-80" dirty="0">
                <a:solidFill>
                  <a:schemeClr val="accent6"/>
                </a:solidFill>
              </a:rPr>
              <a:t>8) </a:t>
            </a:r>
            <a:r>
              <a:rPr lang="en-US" sz="1500" kern="0" spc="-80" dirty="0">
                <a:solidFill>
                  <a:schemeClr val="accent6"/>
                </a:solidFill>
              </a:rPr>
              <a:t>Change Detection</a:t>
            </a:r>
          </a:p>
          <a:p>
            <a:pPr marL="12700" marR="5080"/>
            <a:r>
              <a:rPr lang="en-US" sz="1500" kern="0" spc="-80" dirty="0">
                <a:solidFill>
                  <a:schemeClr val="accent6"/>
                </a:solidFill>
              </a:rPr>
              <a:t>Compare multitemporal </a:t>
            </a:r>
            <a:r>
              <a:rPr lang="en-US" sz="1500" kern="0" spc="-80" dirty="0" err="1">
                <a:solidFill>
                  <a:schemeClr val="accent6"/>
                </a:solidFill>
              </a:rPr>
              <a:t>rasters</a:t>
            </a:r>
            <a:r>
              <a:rPr lang="en-US" sz="1500" kern="0" spc="-80" dirty="0">
                <a:solidFill>
                  <a:schemeClr val="accent6"/>
                </a:solidFill>
              </a:rPr>
              <a:t> using:</a:t>
            </a:r>
          </a:p>
          <a:p>
            <a:pPr marL="12700" marR="5080"/>
            <a:r>
              <a:rPr lang="en-US" sz="1500" kern="0" spc="-80" dirty="0">
                <a:solidFill>
                  <a:schemeClr val="accent6"/>
                </a:solidFill>
              </a:rPr>
              <a:t>Difference images</a:t>
            </a:r>
          </a:p>
          <a:p>
            <a:pPr marL="12700" marR="5080"/>
            <a:r>
              <a:rPr lang="en-US" sz="1500" kern="0" spc="-80" dirty="0">
                <a:solidFill>
                  <a:schemeClr val="accent6"/>
                </a:solidFill>
              </a:rPr>
              <a:t>Post-classification comparison</a:t>
            </a:r>
          </a:p>
          <a:p>
            <a:pPr marL="12700" marR="5080"/>
            <a:r>
              <a:rPr lang="en-US" sz="1500" kern="0" spc="-80" dirty="0">
                <a:solidFill>
                  <a:schemeClr val="accent6"/>
                </a:solidFill>
              </a:rPr>
              <a:t>Spectral change vectors</a:t>
            </a:r>
          </a:p>
          <a:p>
            <a:pPr marL="12700" marR="5080"/>
            <a:r>
              <a:rPr lang="en-US" sz="1500" kern="0" spc="-80" dirty="0">
                <a:solidFill>
                  <a:schemeClr val="accent6"/>
                </a:solidFill>
              </a:rPr>
              <a:t>9) Active Remote Sensing </a:t>
            </a:r>
            <a:r>
              <a:rPr lang="en-US" sz="1500" kern="0" spc="-80" dirty="0" err="1">
                <a:solidFill>
                  <a:schemeClr val="accent6"/>
                </a:solidFill>
              </a:rPr>
              <a:t>Maths</a:t>
            </a:r>
            <a:r>
              <a:rPr lang="en-US" sz="1500" kern="0" spc="-80" dirty="0">
                <a:solidFill>
                  <a:schemeClr val="accent6"/>
                </a:solidFill>
              </a:rPr>
              <a:t>: SAR &amp; Polarimetry</a:t>
            </a:r>
          </a:p>
          <a:p>
            <a:pPr marL="12700" marR="5080"/>
            <a:r>
              <a:rPr lang="en-US" sz="1500" kern="0" spc="-80" dirty="0">
                <a:solidFill>
                  <a:schemeClr val="accent6"/>
                </a:solidFill>
              </a:rPr>
              <a:t>Radar interacts with structure and moisture.</a:t>
            </a:r>
          </a:p>
          <a:p>
            <a:pPr marL="12700" marR="5080"/>
            <a:r>
              <a:rPr lang="en-US" sz="1500" kern="0" spc="-80" dirty="0">
                <a:solidFill>
                  <a:schemeClr val="accent6"/>
                </a:solidFill>
              </a:rPr>
              <a:t>Backscatter Coefficient (</a:t>
            </a:r>
            <a:r>
              <a:rPr lang="el-GR" sz="1500" kern="0" spc="-80" dirty="0">
                <a:solidFill>
                  <a:schemeClr val="accent6"/>
                </a:solidFill>
              </a:rPr>
              <a:t>σ°): </a:t>
            </a:r>
            <a:r>
              <a:rPr lang="en-US" sz="1500" kern="0" spc="-80" dirty="0">
                <a:solidFill>
                  <a:schemeClr val="accent6"/>
                </a:solidFill>
              </a:rPr>
              <a:t>Measures signal returned</a:t>
            </a:r>
          </a:p>
          <a:p>
            <a:pPr marL="12700" marR="5080"/>
            <a:r>
              <a:rPr lang="en-US" sz="1500" kern="0" spc="-80" dirty="0">
                <a:solidFill>
                  <a:schemeClr val="accent6"/>
                </a:solidFill>
              </a:rPr>
              <a:t>Polarization (HH, HV, VH, VV) decomposes scattering into:</a:t>
            </a:r>
          </a:p>
          <a:p>
            <a:pPr marL="12700" marR="5080"/>
            <a:r>
              <a:rPr lang="en-US" sz="1500" kern="0" spc="-80" dirty="0">
                <a:solidFill>
                  <a:schemeClr val="accent6"/>
                </a:solidFill>
              </a:rPr>
              <a:t>Surface scattering</a:t>
            </a:r>
          </a:p>
          <a:p>
            <a:pPr marL="12700" marR="5080"/>
            <a:r>
              <a:rPr lang="en-US" sz="1500" kern="0" spc="-80" dirty="0">
                <a:solidFill>
                  <a:schemeClr val="accent6"/>
                </a:solidFill>
              </a:rPr>
              <a:t>Double-bounce</a:t>
            </a:r>
          </a:p>
          <a:p>
            <a:pPr marL="12700" marR="5080"/>
            <a:r>
              <a:rPr lang="en-US" sz="1500" kern="0" spc="-80" dirty="0">
                <a:solidFill>
                  <a:schemeClr val="accent6"/>
                </a:solidFill>
              </a:rPr>
              <a:t>Volume scattering</a:t>
            </a:r>
          </a:p>
          <a:p>
            <a:pPr marL="12700" marR="5080"/>
            <a:r>
              <a:rPr lang="en-US" sz="1500" kern="0" spc="-80" dirty="0">
                <a:solidFill>
                  <a:schemeClr val="accent6"/>
                </a:solidFill>
              </a:rPr>
              <a:t>Advanced math: Eigen decomposition of scattering matrix.</a:t>
            </a:r>
          </a:p>
          <a:p>
            <a:pPr marL="12700" marR="5080"/>
            <a:r>
              <a:rPr lang="en-US" sz="1500" kern="0" spc="-80" dirty="0">
                <a:solidFill>
                  <a:schemeClr val="accent6"/>
                </a:solidFill>
              </a:rPr>
              <a:t>10) LiDAR Point Clouds</a:t>
            </a:r>
          </a:p>
          <a:p>
            <a:pPr marL="12700" marR="5080"/>
            <a:r>
              <a:rPr lang="en-US" sz="1500" kern="0" spc="-80" dirty="0">
                <a:solidFill>
                  <a:schemeClr val="accent6"/>
                </a:solidFill>
              </a:rPr>
              <a:t>Every laser pulse gives:</a:t>
            </a:r>
          </a:p>
          <a:p>
            <a:pPr marL="12700" marR="5080"/>
            <a:r>
              <a:rPr lang="en-US" sz="1500" kern="0" spc="-80" dirty="0">
                <a:solidFill>
                  <a:schemeClr val="accent6"/>
                </a:solidFill>
              </a:rPr>
              <a:t>3D point (x, y, z)</a:t>
            </a:r>
          </a:p>
          <a:p>
            <a:pPr marL="12700" marR="5080"/>
            <a:r>
              <a:rPr lang="en-US" sz="1500" kern="0" spc="-80" dirty="0">
                <a:solidFill>
                  <a:schemeClr val="accent6"/>
                </a:solidFill>
              </a:rPr>
              <a:t>Intensity</a:t>
            </a:r>
          </a:p>
          <a:p>
            <a:pPr marL="12700" marR="5080"/>
            <a:r>
              <a:rPr lang="en-US" sz="1500" kern="0" spc="-80" dirty="0">
                <a:solidFill>
                  <a:schemeClr val="accent6"/>
                </a:solidFill>
              </a:rPr>
              <a:t>Return number (single / multiple echoes)</a:t>
            </a:r>
          </a:p>
          <a:p>
            <a:pPr marL="12700" marR="5080"/>
            <a:r>
              <a:rPr lang="en-US" sz="1500" kern="0" spc="-80" dirty="0">
                <a:solidFill>
                  <a:schemeClr val="accent6"/>
                </a:solidFill>
              </a:rPr>
              <a:t>Surface models:</a:t>
            </a:r>
          </a:p>
          <a:p>
            <a:pPr marL="12700" marR="5080"/>
            <a:r>
              <a:rPr lang="en-US" sz="1500" kern="0" spc="-80" dirty="0">
                <a:solidFill>
                  <a:schemeClr val="accent6"/>
                </a:solidFill>
              </a:rPr>
              <a:t>DSM: Visible surfaces</a:t>
            </a:r>
          </a:p>
          <a:p>
            <a:pPr marL="12700" marR="5080"/>
            <a:r>
              <a:rPr lang="en-US" sz="1500" kern="0" spc="-80" dirty="0">
                <a:solidFill>
                  <a:schemeClr val="accent6"/>
                </a:solidFill>
              </a:rPr>
              <a:t>DTM: Ground only (after classification)</a:t>
            </a:r>
          </a:p>
          <a:p>
            <a:pPr marL="12700" marR="5080"/>
            <a:r>
              <a:rPr lang="en-US" sz="1500" kern="0" spc="-80" dirty="0" err="1">
                <a:solidFill>
                  <a:schemeClr val="accent6"/>
                </a:solidFill>
              </a:rPr>
              <a:t>nDSM</a:t>
            </a:r>
            <a:r>
              <a:rPr lang="en-US" sz="1500" kern="0" spc="-80" dirty="0">
                <a:solidFill>
                  <a:schemeClr val="accent6"/>
                </a:solidFill>
              </a:rPr>
              <a:t>: Height of objects (DSM - DTM)</a:t>
            </a:r>
          </a:p>
          <a:p>
            <a:pPr marL="12700" marR="5080"/>
            <a:r>
              <a:rPr lang="en-US" sz="1500" kern="0" spc="-80" dirty="0">
                <a:solidFill>
                  <a:schemeClr val="accent6"/>
                </a:solidFill>
              </a:rPr>
              <a:t>🎓 Final Summary (The Essence)</a:t>
            </a:r>
          </a:p>
          <a:p>
            <a:pPr marL="12700" marR="5080"/>
            <a:r>
              <a:rPr lang="en-US" sz="1500" kern="0" spc="-80" dirty="0">
                <a:solidFill>
                  <a:schemeClr val="accent6"/>
                </a:solidFill>
              </a:rPr>
              <a:t>Remote sensing is:</a:t>
            </a:r>
          </a:p>
          <a:p>
            <a:pPr marL="12700" marR="5080"/>
            <a:r>
              <a:rPr lang="en-US" sz="1500" kern="0" spc="-80" dirty="0">
                <a:solidFill>
                  <a:schemeClr val="accent6"/>
                </a:solidFill>
              </a:rPr>
              <a:t>Physics of how surfaces reflect and emit energy</a:t>
            </a:r>
          </a:p>
          <a:p>
            <a:pPr marL="12700" marR="5080"/>
            <a:r>
              <a:rPr lang="en-US" sz="1500" kern="0" spc="-80" dirty="0">
                <a:solidFill>
                  <a:schemeClr val="accent6"/>
                </a:solidFill>
              </a:rPr>
              <a:t>Mathematics of turning photons into numbers</a:t>
            </a:r>
          </a:p>
          <a:p>
            <a:pPr marL="12700" marR="5080"/>
            <a:r>
              <a:rPr lang="en-US" sz="1500" kern="0" spc="-80" dirty="0">
                <a:solidFill>
                  <a:schemeClr val="accent6"/>
                </a:solidFill>
              </a:rPr>
              <a:t>Geometry of projecting Earth into pixels</a:t>
            </a:r>
          </a:p>
          <a:p>
            <a:pPr marL="12700" marR="5080"/>
            <a:r>
              <a:rPr lang="en-US" sz="1500" kern="0" spc="-80" dirty="0">
                <a:solidFill>
                  <a:schemeClr val="accent6"/>
                </a:solidFill>
              </a:rPr>
              <a:t>Statistics and ML that convert pixels into knowledge</a:t>
            </a:r>
          </a:p>
          <a:p>
            <a:pPr marL="12700" marR="5080"/>
            <a:r>
              <a:rPr lang="en-US" sz="1500" kern="0" spc="-80" dirty="0">
                <a:solidFill>
                  <a:schemeClr val="accent6"/>
                </a:solidFill>
              </a:rPr>
              <a:t>Remote sensing is Earth reading its own diary.</a:t>
            </a:r>
          </a:p>
        </p:txBody>
      </p:sp>
      <p:pic>
        <p:nvPicPr>
          <p:cNvPr id="16" name="Picture 15">
            <a:extLst>
              <a:ext uri="{FF2B5EF4-FFF2-40B4-BE49-F238E27FC236}">
                <a16:creationId xmlns:a16="http://schemas.microsoft.com/office/drawing/2014/main" id="{5D3DD689-9F5A-8DC0-76BC-4CD7E8922C43}"/>
              </a:ext>
            </a:extLst>
          </p:cNvPr>
          <p:cNvPicPr>
            <a:picLocks noChangeAspect="1"/>
          </p:cNvPicPr>
          <p:nvPr/>
        </p:nvPicPr>
        <p:blipFill>
          <a:blip r:embed="rId7"/>
          <a:stretch>
            <a:fillRect/>
          </a:stretch>
        </p:blipFill>
        <p:spPr>
          <a:xfrm>
            <a:off x="290462" y="1295322"/>
            <a:ext cx="8715473" cy="1524078"/>
          </a:xfrm>
          <a:prstGeom prst="rect">
            <a:avLst/>
          </a:prstGeom>
        </p:spPr>
      </p:pic>
      <p:pic>
        <p:nvPicPr>
          <p:cNvPr id="20" name="Picture 19">
            <a:extLst>
              <a:ext uri="{FF2B5EF4-FFF2-40B4-BE49-F238E27FC236}">
                <a16:creationId xmlns:a16="http://schemas.microsoft.com/office/drawing/2014/main" id="{458443E9-0404-4A45-7FC2-E83C7B8CE41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57175" y="3338969"/>
            <a:ext cx="8824962" cy="2570206"/>
          </a:xfrm>
          <a:prstGeom prst="rect">
            <a:avLst/>
          </a:prstGeom>
        </p:spPr>
      </p:pic>
    </p:spTree>
    <p:extLst>
      <p:ext uri="{BB962C8B-B14F-4D97-AF65-F5344CB8AC3E}">
        <p14:creationId xmlns:p14="http://schemas.microsoft.com/office/powerpoint/2010/main" val="3526873424"/>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936DD-D3F0-D276-F009-11469B34A9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18C2F6-D279-FAEF-4697-2346D1C18D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390F58-CF6F-6A6B-8C8C-6E2F1E26F8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F58A70-30DA-B791-F258-D1C64F6BAA3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A6FD2B-7AD3-EF01-0CFA-60056C7C13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4A45E42-4702-AA90-FF80-96BBF52A245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FF20098-71F7-86F1-8CEC-224A815577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9865908-1C92-0411-8113-F71F83215E8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258386-0CF9-9AE4-7C7E-F6A8B60255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6D96D55-3DD3-04B9-FF42-883FA40F96D6}"/>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2) Sensors &amp; Platforms</a:t>
            </a:r>
          </a:p>
          <a:p>
            <a:pPr marL="12700" marR="5080"/>
            <a:r>
              <a:rPr lang="en-US" sz="1500" kern="0" spc="-80" dirty="0">
                <a:solidFill>
                  <a:schemeClr val="accent2"/>
                </a:solidFill>
              </a:rPr>
              <a:t>Radar and LiDAR Core </a:t>
            </a:r>
            <a:r>
              <a:rPr lang="en-US" sz="1500" kern="0" spc="-80" dirty="0" err="1">
                <a:solidFill>
                  <a:schemeClr val="accent2"/>
                </a:solidFill>
              </a:rPr>
              <a:t>Maths</a:t>
            </a:r>
            <a:endParaRPr lang="en-US" sz="1500" kern="0" spc="-80" dirty="0">
              <a:solidFill>
                <a:schemeClr val="accent2"/>
              </a:solidFill>
            </a:endParaRPr>
          </a:p>
          <a:p>
            <a:pPr marL="12700" marR="5080"/>
            <a:r>
              <a:rPr lang="en-US" sz="1500" kern="0" spc="-80" dirty="0">
                <a:solidFill>
                  <a:schemeClr val="accent2"/>
                </a:solidFill>
              </a:rPr>
              <a:t>LiDAR Distance:</a:t>
            </a:r>
          </a:p>
          <a:p>
            <a:pPr marL="12700" marR="5080"/>
            <a:r>
              <a:rPr lang="en-US" sz="1500" kern="0" spc="-80" dirty="0">
                <a:solidFill>
                  <a:schemeClr val="accent6"/>
                </a:solidFill>
              </a:rPr>
              <a:t>d = (c * </a:t>
            </a:r>
            <a:r>
              <a:rPr lang="el-GR" sz="1500" kern="0" spc="-80" dirty="0">
                <a:solidFill>
                  <a:schemeClr val="accent6"/>
                </a:solidFill>
              </a:rPr>
              <a:t>Δ</a:t>
            </a:r>
            <a:r>
              <a:rPr lang="en-US" sz="1500" kern="0" spc="-80" dirty="0">
                <a:solidFill>
                  <a:schemeClr val="accent6"/>
                </a:solidFill>
              </a:rPr>
              <a:t>t) / 2</a:t>
            </a:r>
          </a:p>
          <a:p>
            <a:pPr marL="12700" marR="5080"/>
            <a:r>
              <a:rPr lang="en-US" sz="1500" kern="0" spc="-80" dirty="0">
                <a:solidFill>
                  <a:schemeClr val="accent2"/>
                </a:solidFill>
              </a:rPr>
              <a:t>Radar Backscatter: </a:t>
            </a:r>
            <a:r>
              <a:rPr lang="en-US" sz="1500" kern="0" spc="-80" dirty="0">
                <a:solidFill>
                  <a:schemeClr val="accent6"/>
                </a:solidFill>
              </a:rPr>
              <a:t>depends on surface roughness, incidence angle, and dielectric constant.</a:t>
            </a:r>
          </a:p>
          <a:p>
            <a:pPr marL="12700" marR="5080"/>
            <a:endParaRPr lang="en-US" sz="1500" kern="0" spc="-80" dirty="0">
              <a:solidFill>
                <a:schemeClr val="accent6"/>
              </a:solidFill>
            </a:endParaRPr>
          </a:p>
          <a:p>
            <a:pPr marL="12700" marR="5080"/>
            <a:r>
              <a:rPr lang="en-US" sz="1500" kern="0" spc="-80" dirty="0">
                <a:solidFill>
                  <a:schemeClr val="accent2"/>
                </a:solidFill>
              </a:rPr>
              <a:t>3) Radiometric Processing</a:t>
            </a:r>
          </a:p>
          <a:p>
            <a:pPr marL="12700" marR="5080"/>
            <a:r>
              <a:rPr lang="en-US" sz="1500" kern="0" spc="-80" dirty="0">
                <a:solidFill>
                  <a:schemeClr val="accent6"/>
                </a:solidFill>
              </a:rPr>
              <a:t>Turning raw brightness into scientifically comparable data.</a:t>
            </a:r>
          </a:p>
          <a:p>
            <a:pPr marL="12700" marR="5080"/>
            <a:r>
              <a:rPr lang="en-US" sz="1500" kern="0" spc="-80" dirty="0">
                <a:solidFill>
                  <a:schemeClr val="accent2"/>
                </a:solidFill>
              </a:rPr>
              <a:t>Step	                                  Purpose	                                          Key Math</a:t>
            </a:r>
          </a:p>
          <a:p>
            <a:pPr marL="12700" marR="5080"/>
            <a:r>
              <a:rPr lang="en-US" sz="1500" kern="0" spc="-80" dirty="0">
                <a:solidFill>
                  <a:schemeClr val="accent6"/>
                </a:solidFill>
              </a:rPr>
              <a:t>DN → Radiance	                Convert sensor digital numbers	     L = gain × DN + bias</a:t>
            </a:r>
          </a:p>
          <a:p>
            <a:pPr marL="12700" marR="5080"/>
            <a:r>
              <a:rPr lang="en-US" sz="1500" kern="0" spc="-80" dirty="0">
                <a:solidFill>
                  <a:schemeClr val="accent6"/>
                </a:solidFill>
              </a:rPr>
              <a:t>Radiance → Reflectance          Normalize illumination	     </a:t>
            </a:r>
            <a:r>
              <a:rPr lang="el-GR" sz="1500" kern="0" spc="-80" dirty="0">
                <a:solidFill>
                  <a:schemeClr val="accent6"/>
                </a:solidFill>
              </a:rPr>
              <a:t>ρ = (π × </a:t>
            </a:r>
            <a:r>
              <a:rPr lang="en-US" sz="1500" kern="0" spc="-80" dirty="0">
                <a:solidFill>
                  <a:schemeClr val="accent6"/>
                </a:solidFill>
              </a:rPr>
              <a:t>L × d²) / (ESUN × cos </a:t>
            </a:r>
            <a:r>
              <a:rPr lang="el-GR" sz="1500" kern="0" spc="-80" dirty="0">
                <a:solidFill>
                  <a:schemeClr val="accent6"/>
                </a:solidFill>
              </a:rPr>
              <a:t>θ)</a:t>
            </a:r>
          </a:p>
          <a:p>
            <a:pPr marL="12700" marR="5080"/>
            <a:r>
              <a:rPr lang="en-US" sz="1500" kern="0" spc="-80" dirty="0">
                <a:solidFill>
                  <a:schemeClr val="accent6"/>
                </a:solidFill>
              </a:rPr>
              <a:t>Atmospheric Correction          Remove haze/scattering                   Radiative Transfer Equation</a:t>
            </a:r>
          </a:p>
          <a:p>
            <a:pPr marL="12700" marR="5080"/>
            <a:r>
              <a:rPr lang="en-US" sz="1500" kern="0" spc="-80" dirty="0">
                <a:solidFill>
                  <a:schemeClr val="accent6"/>
                </a:solidFill>
              </a:rPr>
              <a:t>                                                                                                                  (RTE) models</a:t>
            </a:r>
          </a:p>
          <a:p>
            <a:pPr marL="12700" marR="5080"/>
            <a:endParaRPr lang="en-US" sz="1500" kern="0" spc="-80" dirty="0">
              <a:solidFill>
                <a:schemeClr val="accent6"/>
              </a:solidFill>
            </a:endParaRPr>
          </a:p>
          <a:p>
            <a:pPr marL="12700" marR="5080"/>
            <a:r>
              <a:rPr lang="en-US" sz="1500" kern="0" spc="-80" dirty="0">
                <a:solidFill>
                  <a:schemeClr val="accent2"/>
                </a:solidFill>
              </a:rPr>
              <a:t>4) Geometric Correction</a:t>
            </a:r>
          </a:p>
          <a:p>
            <a:pPr marL="12700" marR="5080"/>
            <a:r>
              <a:rPr lang="en-US" sz="1500" kern="0" spc="-80" dirty="0">
                <a:solidFill>
                  <a:schemeClr val="accent6"/>
                </a:solidFill>
              </a:rPr>
              <a:t>Aligning pixels to real Earth locations.</a:t>
            </a:r>
          </a:p>
          <a:p>
            <a:pPr marL="12700" marR="5080"/>
            <a:r>
              <a:rPr lang="en-US" sz="1500" kern="0" spc="-80" dirty="0">
                <a:solidFill>
                  <a:schemeClr val="accent6"/>
                </a:solidFill>
              </a:rPr>
              <a:t>Uses camera geometry, orbital parameters, GCPs, DEM</a:t>
            </a:r>
          </a:p>
          <a:p>
            <a:pPr marL="12700" marR="5080"/>
            <a:r>
              <a:rPr lang="en-US" sz="1500" kern="0" spc="-80" dirty="0">
                <a:solidFill>
                  <a:schemeClr val="accent2"/>
                </a:solidFill>
              </a:rPr>
              <a:t>Fundamental transformation:</a:t>
            </a:r>
          </a:p>
          <a:p>
            <a:pPr marL="12700" marR="5080"/>
            <a:r>
              <a:rPr lang="en-US" sz="1500" kern="0" spc="-80" dirty="0">
                <a:solidFill>
                  <a:schemeClr val="accent6"/>
                </a:solidFill>
              </a:rPr>
              <a:t>x' = ax + by + c</a:t>
            </a:r>
          </a:p>
          <a:p>
            <a:pPr marL="12700" marR="5080"/>
            <a:r>
              <a:rPr lang="en-US" sz="1500" kern="0" spc="-80" dirty="0">
                <a:solidFill>
                  <a:schemeClr val="accent6"/>
                </a:solidFill>
              </a:rPr>
              <a:t>y' = dx + </a:t>
            </a:r>
            <a:r>
              <a:rPr lang="en-US" sz="1500" kern="0" spc="-80" dirty="0" err="1">
                <a:solidFill>
                  <a:schemeClr val="accent6"/>
                </a:solidFill>
              </a:rPr>
              <a:t>ey</a:t>
            </a:r>
            <a:r>
              <a:rPr lang="en-US" sz="1500" kern="0" spc="-80" dirty="0">
                <a:solidFill>
                  <a:schemeClr val="accent6"/>
                </a:solidFill>
              </a:rPr>
              <a:t> + f</a:t>
            </a:r>
          </a:p>
        </p:txBody>
      </p:sp>
    </p:spTree>
    <p:extLst>
      <p:ext uri="{BB962C8B-B14F-4D97-AF65-F5344CB8AC3E}">
        <p14:creationId xmlns:p14="http://schemas.microsoft.com/office/powerpoint/2010/main" val="4178445943"/>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478CC-8A99-CD5F-8D69-AA63BBFD0C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08621A-AC28-4688-3F4C-1B85744480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CD7447-33C5-0968-24AF-75CEC905D2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64E5810-7823-780D-EE2E-4D19840E9B7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ABE44CB-EC93-6BD7-C179-96C9FD089E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1EBB1C-E982-8977-F620-8B49F28C962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8E71A6-EE7A-0702-C934-4B2F1D8CD15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67C3E75-7EEF-4E33-F302-3E2A8F25633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75DBF96-A391-286A-A99C-EBE1D9833BC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C06A013-8091-D188-8BF0-B0896F7B660C}"/>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4) Geometric Correction</a:t>
            </a:r>
          </a:p>
          <a:p>
            <a:pPr marL="12700" marR="5080"/>
            <a:r>
              <a:rPr lang="en-US" sz="1500" kern="0" spc="-80" dirty="0">
                <a:solidFill>
                  <a:schemeClr val="accent6"/>
                </a:solidFill>
              </a:rPr>
              <a:t>Or full photogrammetric perspective projection:</a:t>
            </a:r>
          </a:p>
          <a:p>
            <a:pPr marL="12700" marR="5080"/>
            <a:r>
              <a:rPr lang="en-US" sz="1500" kern="0" spc="-80" dirty="0">
                <a:solidFill>
                  <a:schemeClr val="accent6"/>
                </a:solidFill>
              </a:rPr>
              <a:t>x = (f * X / Z),   y = (f * Y / Z)</a:t>
            </a:r>
          </a:p>
          <a:p>
            <a:pPr marL="12700" marR="5080"/>
            <a:r>
              <a:rPr lang="en-US" sz="1500" kern="0" spc="-80" dirty="0">
                <a:solidFill>
                  <a:schemeClr val="accent6"/>
                </a:solidFill>
              </a:rPr>
              <a:t>This is where maps become maps.</a:t>
            </a:r>
          </a:p>
          <a:p>
            <a:pPr marL="12700" marR="5080"/>
            <a:endParaRPr lang="en-US" sz="1500" kern="0" spc="-80" dirty="0">
              <a:solidFill>
                <a:schemeClr val="accent6"/>
              </a:solidFill>
            </a:endParaRPr>
          </a:p>
          <a:p>
            <a:pPr marL="12700" marR="5080"/>
            <a:r>
              <a:rPr lang="en-US" sz="1500" kern="0" spc="-80" dirty="0">
                <a:solidFill>
                  <a:schemeClr val="accent2"/>
                </a:solidFill>
              </a:rPr>
              <a:t>5) Image Enhancement</a:t>
            </a:r>
          </a:p>
          <a:p>
            <a:pPr marL="12700" marR="5080"/>
            <a:r>
              <a:rPr lang="en-US" sz="1500" kern="0" spc="-80" dirty="0">
                <a:solidFill>
                  <a:schemeClr val="accent6"/>
                </a:solidFill>
              </a:rPr>
              <a:t>Not science, but clarity.</a:t>
            </a:r>
          </a:p>
          <a:p>
            <a:pPr marL="12700" marR="5080"/>
            <a:r>
              <a:rPr lang="en-US" sz="1500" kern="0" spc="-80" dirty="0">
                <a:solidFill>
                  <a:schemeClr val="accent6"/>
                </a:solidFill>
              </a:rPr>
              <a:t>Contrast Stretching</a:t>
            </a:r>
          </a:p>
          <a:p>
            <a:pPr marL="12700" marR="5080"/>
            <a:r>
              <a:rPr lang="en-US" sz="1500" kern="0" spc="-80" dirty="0">
                <a:solidFill>
                  <a:schemeClr val="accent6"/>
                </a:solidFill>
              </a:rPr>
              <a:t>Histogram Equalization</a:t>
            </a:r>
          </a:p>
          <a:p>
            <a:pPr marL="12700" marR="5080"/>
            <a:r>
              <a:rPr lang="en-US" sz="1500" kern="0" spc="-80" dirty="0">
                <a:solidFill>
                  <a:schemeClr val="accent6"/>
                </a:solidFill>
              </a:rPr>
              <a:t>Band Ratios (e.g., NDVI)</a:t>
            </a:r>
          </a:p>
          <a:p>
            <a:pPr marL="12700" marR="5080"/>
            <a:r>
              <a:rPr lang="en-US" sz="1500" kern="0" spc="-80" dirty="0">
                <a:solidFill>
                  <a:schemeClr val="accent6"/>
                </a:solidFill>
              </a:rPr>
              <a:t>NDVI Mathematics</a:t>
            </a:r>
          </a:p>
          <a:p>
            <a:pPr marL="12700" marR="5080"/>
            <a:r>
              <a:rPr lang="en-US" sz="1500" kern="0" spc="-80" dirty="0">
                <a:solidFill>
                  <a:schemeClr val="accent6"/>
                </a:solidFill>
              </a:rPr>
              <a:t>NDVI = (NIR - Red) / (NIR + Red)</a:t>
            </a:r>
          </a:p>
          <a:p>
            <a:pPr marL="12700" marR="5080"/>
            <a:r>
              <a:rPr lang="en-US" sz="1500" kern="0" spc="-80" dirty="0">
                <a:solidFill>
                  <a:schemeClr val="accent6"/>
                </a:solidFill>
              </a:rPr>
              <a:t>It’s a vegetation vigor whisperer.</a:t>
            </a:r>
          </a:p>
          <a:p>
            <a:pPr marL="12700" marR="5080"/>
            <a:endParaRPr lang="en-US" sz="1500" kern="0" spc="-80" dirty="0">
              <a:solidFill>
                <a:schemeClr val="accent6"/>
              </a:solidFill>
            </a:endParaRPr>
          </a:p>
          <a:p>
            <a:pPr marL="12700" marR="5080"/>
            <a:r>
              <a:rPr lang="en-US" sz="1500" kern="0" spc="-80" dirty="0">
                <a:solidFill>
                  <a:schemeClr val="accent2"/>
                </a:solidFill>
              </a:rPr>
              <a:t>6) Filtering &amp; Texture</a:t>
            </a:r>
          </a:p>
          <a:p>
            <a:pPr marL="12700" marR="5080"/>
            <a:r>
              <a:rPr lang="en-US" sz="1500" kern="0" spc="-80" dirty="0">
                <a:solidFill>
                  <a:schemeClr val="accent6"/>
                </a:solidFill>
              </a:rPr>
              <a:t>Spatial kernels emphasize patterns.</a:t>
            </a:r>
          </a:p>
          <a:p>
            <a:pPr marL="12700" marR="5080"/>
            <a:r>
              <a:rPr lang="en-US" sz="1500" kern="0" spc="-80" dirty="0">
                <a:solidFill>
                  <a:schemeClr val="accent2"/>
                </a:solidFill>
              </a:rPr>
              <a:t>Filter	                  What it does	                    Math Form</a:t>
            </a:r>
          </a:p>
          <a:p>
            <a:pPr marL="12700" marR="5080"/>
            <a:r>
              <a:rPr lang="en-US" sz="1500" kern="0" spc="-80" dirty="0">
                <a:solidFill>
                  <a:schemeClr val="accent6"/>
                </a:solidFill>
              </a:rPr>
              <a:t>Mean Filter	Smooths	                                      Convolution </a:t>
            </a:r>
            <a:r>
              <a:rPr lang="el-GR" sz="1500" kern="0" spc="-80" dirty="0">
                <a:solidFill>
                  <a:schemeClr val="accent6"/>
                </a:solidFill>
              </a:rPr>
              <a:t>Σ(</a:t>
            </a:r>
            <a:r>
              <a:rPr lang="en-US" sz="1500" kern="0" spc="-80" dirty="0">
                <a:solidFill>
                  <a:schemeClr val="accent6"/>
                </a:solidFill>
              </a:rPr>
              <a:t>I * K)</a:t>
            </a:r>
          </a:p>
          <a:p>
            <a:pPr marL="12700" marR="5080"/>
            <a:r>
              <a:rPr lang="en-US" sz="1500" kern="0" spc="-80" dirty="0">
                <a:solidFill>
                  <a:schemeClr val="accent6"/>
                </a:solidFill>
              </a:rPr>
              <a:t>Sobel/Prewitt	Edge detection	                    Gradient magnitude √(Gx² + Gy²)</a:t>
            </a:r>
          </a:p>
          <a:p>
            <a:pPr marL="12700" marR="5080"/>
            <a:r>
              <a:rPr lang="en-US" sz="1500" kern="0" spc="-80" dirty="0">
                <a:solidFill>
                  <a:schemeClr val="accent6"/>
                </a:solidFill>
              </a:rPr>
              <a:t>GLCM Texture	Measures surface texture	  Co-occurrence matrices</a:t>
            </a:r>
          </a:p>
        </p:txBody>
      </p:sp>
    </p:spTree>
    <p:extLst>
      <p:ext uri="{BB962C8B-B14F-4D97-AF65-F5344CB8AC3E}">
        <p14:creationId xmlns:p14="http://schemas.microsoft.com/office/powerpoint/2010/main" val="1453409035"/>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2434B-430E-45E7-9C0E-39ED7E0B05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8082D80-F66A-8230-B20B-7C8993F0EA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B5CC1F-7DC2-54A7-DE04-6B202755B2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B082428-D3F7-FB41-96C6-185E170A5AB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0EEF198-E1F5-5196-DC8D-5044EA1BF3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384AE4-7FC9-375D-9B4F-0D5E08755B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10633B-8698-2FCF-4BA5-C130F2651F7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F49DCC-31D3-5740-DA36-74340DC5776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AA30739-5FFA-4C28-C53D-1ADEDD37EB9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183D145-B260-1696-EBEF-442C9FE84DE8}"/>
              </a:ext>
            </a:extLst>
          </p:cNvPr>
          <p:cNvSpPr txBox="1">
            <a:spLocks/>
          </p:cNvSpPr>
          <p:nvPr/>
        </p:nvSpPr>
        <p:spPr>
          <a:xfrm>
            <a:off x="228600" y="762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7) Classification &amp; Machine Learning</a:t>
            </a:r>
          </a:p>
          <a:p>
            <a:pPr marL="12700" marR="5080"/>
            <a:r>
              <a:rPr lang="en-US" sz="1500" kern="0" spc="-80" dirty="0">
                <a:solidFill>
                  <a:schemeClr val="accent6"/>
                </a:solidFill>
              </a:rPr>
              <a:t>Now the image becomes meaning.</a:t>
            </a:r>
          </a:p>
          <a:p>
            <a:pPr marL="12700" marR="5080"/>
            <a:r>
              <a:rPr lang="en-US" sz="1500" kern="0" spc="-80" dirty="0">
                <a:solidFill>
                  <a:schemeClr val="accent6"/>
                </a:solidFill>
              </a:rPr>
              <a:t>Supervised</a:t>
            </a:r>
          </a:p>
          <a:p>
            <a:pPr marL="12700" marR="5080"/>
            <a:r>
              <a:rPr lang="en-US" sz="1500" kern="0" spc="-80" dirty="0">
                <a:solidFill>
                  <a:schemeClr val="accent6"/>
                </a:solidFill>
              </a:rPr>
              <a:t>Maximum Likelihood Classification (Assumes Gaussian distributions)</a:t>
            </a:r>
          </a:p>
          <a:p>
            <a:pPr marL="12700" marR="5080"/>
            <a:r>
              <a:rPr lang="en-US" sz="1500" kern="0" spc="-80" dirty="0">
                <a:solidFill>
                  <a:schemeClr val="accent6"/>
                </a:solidFill>
              </a:rPr>
              <a:t>Support Vector Machines</a:t>
            </a:r>
          </a:p>
          <a:p>
            <a:pPr marL="12700" marR="5080"/>
            <a:r>
              <a:rPr lang="en-US" sz="1500" kern="0" spc="-80" dirty="0">
                <a:solidFill>
                  <a:schemeClr val="accent6"/>
                </a:solidFill>
              </a:rPr>
              <a:t>Random Forest</a:t>
            </a:r>
          </a:p>
          <a:p>
            <a:pPr marL="12700" marR="5080"/>
            <a:r>
              <a:rPr lang="en-US" sz="1500" kern="0" spc="-80" dirty="0">
                <a:solidFill>
                  <a:schemeClr val="accent6"/>
                </a:solidFill>
              </a:rPr>
              <a:t>Deep CNNs (for land-cover / objects)</a:t>
            </a:r>
          </a:p>
          <a:p>
            <a:pPr marL="12700" marR="5080"/>
            <a:r>
              <a:rPr lang="en-US" sz="1500" kern="0" spc="-80" dirty="0">
                <a:solidFill>
                  <a:schemeClr val="accent6"/>
                </a:solidFill>
              </a:rPr>
              <a:t>Unsupervised</a:t>
            </a:r>
          </a:p>
          <a:p>
            <a:pPr marL="12700" marR="5080"/>
            <a:r>
              <a:rPr lang="en-US" sz="1500" kern="0" spc="-80" dirty="0">
                <a:solidFill>
                  <a:schemeClr val="accent6"/>
                </a:solidFill>
              </a:rPr>
              <a:t>K-means</a:t>
            </a:r>
          </a:p>
          <a:p>
            <a:pPr marL="12700" marR="5080"/>
            <a:r>
              <a:rPr lang="en-US" sz="1500" kern="0" spc="-80" dirty="0">
                <a:solidFill>
                  <a:schemeClr val="accent6"/>
                </a:solidFill>
              </a:rPr>
              <a:t>ISODATA</a:t>
            </a:r>
          </a:p>
          <a:p>
            <a:pPr marL="12700" marR="5080"/>
            <a:r>
              <a:rPr lang="en-US" sz="1500" kern="0" spc="-80" dirty="0">
                <a:solidFill>
                  <a:schemeClr val="accent6"/>
                </a:solidFill>
              </a:rPr>
              <a:t>Maximum Likelihood Math (Core Idea)</a:t>
            </a:r>
          </a:p>
          <a:p>
            <a:pPr marL="12700" marR="5080"/>
            <a:r>
              <a:rPr lang="en-US" sz="1500" kern="0" spc="-80" dirty="0">
                <a:solidFill>
                  <a:schemeClr val="accent6"/>
                </a:solidFill>
              </a:rPr>
              <a:t>P(</a:t>
            </a:r>
            <a:r>
              <a:rPr lang="en-US" sz="1500" kern="0" spc="-80" dirty="0" err="1">
                <a:solidFill>
                  <a:schemeClr val="accent6"/>
                </a:solidFill>
              </a:rPr>
              <a:t>class|pixel</a:t>
            </a:r>
            <a:r>
              <a:rPr lang="en-US" sz="1500" kern="0" spc="-80" dirty="0">
                <a:solidFill>
                  <a:schemeClr val="accent6"/>
                </a:solidFill>
              </a:rPr>
              <a:t>) ∝ exp[ -½ (x-</a:t>
            </a:r>
            <a:r>
              <a:rPr lang="el-GR" sz="1500" kern="0" spc="-80" dirty="0">
                <a:solidFill>
                  <a:schemeClr val="accent6"/>
                </a:solidFill>
              </a:rPr>
              <a:t>μ)</a:t>
            </a:r>
            <a:r>
              <a:rPr lang="en-US" sz="1500" kern="0" spc="-80" dirty="0">
                <a:solidFill>
                  <a:schemeClr val="accent6"/>
                </a:solidFill>
              </a:rPr>
              <a:t>ᵀ </a:t>
            </a:r>
            <a:r>
              <a:rPr lang="el-GR" sz="1500" kern="0" spc="-80" dirty="0">
                <a:solidFill>
                  <a:schemeClr val="accent6"/>
                </a:solidFill>
              </a:rPr>
              <a:t>Σ⁻¹ (</a:t>
            </a:r>
            <a:r>
              <a:rPr lang="en-US" sz="1500" kern="0" spc="-80" dirty="0">
                <a:solidFill>
                  <a:schemeClr val="accent6"/>
                </a:solidFill>
              </a:rPr>
              <a:t>x-</a:t>
            </a:r>
            <a:r>
              <a:rPr lang="el-GR" sz="1500" kern="0" spc="-80" dirty="0">
                <a:solidFill>
                  <a:schemeClr val="accent6"/>
                </a:solidFill>
              </a:rPr>
              <a:t>μ) ]</a:t>
            </a:r>
            <a:endParaRPr lang="en-US" sz="1500" kern="0" spc="-80" dirty="0">
              <a:solidFill>
                <a:schemeClr val="accent6"/>
              </a:solidFill>
            </a:endParaRPr>
          </a:p>
          <a:p>
            <a:pPr marL="12700" marR="5080"/>
            <a:endParaRPr lang="el-GR" sz="1500" kern="0" spc="-80" dirty="0">
              <a:solidFill>
                <a:schemeClr val="accent6"/>
              </a:solidFill>
            </a:endParaRPr>
          </a:p>
          <a:p>
            <a:pPr marL="12700" marR="5080"/>
            <a:r>
              <a:rPr lang="el-GR" sz="1500" kern="0" spc="-80" dirty="0">
                <a:solidFill>
                  <a:schemeClr val="accent2"/>
                </a:solidFill>
              </a:rPr>
              <a:t>8) </a:t>
            </a:r>
            <a:r>
              <a:rPr lang="en-US" sz="1500" kern="0" spc="-80" dirty="0">
                <a:solidFill>
                  <a:schemeClr val="accent2"/>
                </a:solidFill>
              </a:rPr>
              <a:t>Change Detection</a:t>
            </a:r>
          </a:p>
          <a:p>
            <a:pPr marL="12700" marR="5080"/>
            <a:r>
              <a:rPr lang="en-US" sz="1500" kern="0" spc="-80" dirty="0">
                <a:solidFill>
                  <a:schemeClr val="accent2"/>
                </a:solidFill>
              </a:rPr>
              <a:t>Compare multitemporal </a:t>
            </a:r>
            <a:r>
              <a:rPr lang="en-US" sz="1500" kern="0" spc="-80" dirty="0" err="1">
                <a:solidFill>
                  <a:schemeClr val="accent2"/>
                </a:solidFill>
              </a:rPr>
              <a:t>rasters</a:t>
            </a:r>
            <a:r>
              <a:rPr lang="en-US" sz="1500" kern="0" spc="-80" dirty="0">
                <a:solidFill>
                  <a:schemeClr val="accent2"/>
                </a:solidFill>
              </a:rPr>
              <a:t> using:</a:t>
            </a:r>
          </a:p>
          <a:p>
            <a:pPr marL="12700" marR="5080"/>
            <a:r>
              <a:rPr lang="en-US" sz="1500" kern="0" spc="-80" dirty="0">
                <a:solidFill>
                  <a:schemeClr val="accent6"/>
                </a:solidFill>
              </a:rPr>
              <a:t>Difference images</a:t>
            </a:r>
          </a:p>
          <a:p>
            <a:pPr marL="12700" marR="5080"/>
            <a:r>
              <a:rPr lang="en-US" sz="1500" kern="0" spc="-80" dirty="0">
                <a:solidFill>
                  <a:schemeClr val="accent6"/>
                </a:solidFill>
              </a:rPr>
              <a:t>Post-classification comparison</a:t>
            </a:r>
          </a:p>
          <a:p>
            <a:pPr marL="12700" marR="5080"/>
            <a:r>
              <a:rPr lang="en-US" sz="1500" kern="0" spc="-80" dirty="0">
                <a:solidFill>
                  <a:schemeClr val="accent6"/>
                </a:solidFill>
              </a:rPr>
              <a:t>Spectral change vectors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361876350"/>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8B68C-6E97-132F-5150-33213E91A6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EB0E41-C4EF-2DDE-99BB-B5BE935981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66D829-1939-99CB-5C4F-B483470549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DF6EF9-0273-0205-524D-476B8D5A28B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956FDA8-465C-F625-6B80-50A3E2A73A1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5E275-8CD2-9ABE-2CFE-676840FFC2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D61B17C-4E87-C83D-7356-548FCCB7715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17D5BA4-708B-1B8F-B3E9-D2DC1B7197B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67750AE-B277-FE31-9948-0810182FF4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D46417C-0574-7042-9568-06FC01E5F61B}"/>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9) Active Remote Sensing </a:t>
            </a:r>
            <a:r>
              <a:rPr lang="en-US" sz="1500" kern="0" spc="-80" dirty="0" err="1">
                <a:solidFill>
                  <a:schemeClr val="accent2"/>
                </a:solidFill>
              </a:rPr>
              <a:t>Maths</a:t>
            </a:r>
            <a:r>
              <a:rPr lang="en-US" sz="1500" kern="0" spc="-80" dirty="0">
                <a:solidFill>
                  <a:schemeClr val="accent2"/>
                </a:solidFill>
              </a:rPr>
              <a:t>:</a:t>
            </a:r>
            <a:r>
              <a:rPr lang="en-US" sz="1500" kern="0" spc="-80" dirty="0">
                <a:solidFill>
                  <a:schemeClr val="accent6"/>
                </a:solidFill>
              </a:rPr>
              <a:t> </a:t>
            </a:r>
          </a:p>
          <a:p>
            <a:pPr marL="12700" marR="5080"/>
            <a:r>
              <a:rPr lang="en-US" sz="1500" kern="0" spc="-80" dirty="0">
                <a:solidFill>
                  <a:schemeClr val="accent6"/>
                </a:solidFill>
              </a:rPr>
              <a:t>SAR &amp; Polarimetry</a:t>
            </a:r>
          </a:p>
          <a:p>
            <a:pPr marL="12700" marR="5080"/>
            <a:r>
              <a:rPr lang="en-US" sz="1500" kern="0" spc="-80" dirty="0">
                <a:solidFill>
                  <a:schemeClr val="accent6"/>
                </a:solidFill>
              </a:rPr>
              <a:t>Radar interacts with structure and moisture.</a:t>
            </a:r>
          </a:p>
          <a:p>
            <a:pPr marL="12700" marR="5080"/>
            <a:r>
              <a:rPr lang="en-US" sz="1500" kern="0" spc="-80" dirty="0">
                <a:solidFill>
                  <a:schemeClr val="accent6"/>
                </a:solidFill>
              </a:rPr>
              <a:t>Backscatter Coefficient (</a:t>
            </a:r>
            <a:r>
              <a:rPr lang="el-GR" sz="1500" kern="0" spc="-80" dirty="0">
                <a:solidFill>
                  <a:schemeClr val="accent6"/>
                </a:solidFill>
              </a:rPr>
              <a:t>σ°): </a:t>
            </a:r>
            <a:r>
              <a:rPr lang="en-US" sz="1500" kern="0" spc="-80" dirty="0">
                <a:solidFill>
                  <a:schemeClr val="accent6"/>
                </a:solidFill>
              </a:rPr>
              <a:t>Measures signal returned</a:t>
            </a:r>
          </a:p>
          <a:p>
            <a:pPr marL="12700" marR="5080"/>
            <a:r>
              <a:rPr lang="en-US" sz="1500" kern="0" spc="-80" dirty="0">
                <a:solidFill>
                  <a:schemeClr val="accent2"/>
                </a:solidFill>
              </a:rPr>
              <a:t>Polarization (HH, HV, VH, VV) decomposes scattering into:</a:t>
            </a:r>
          </a:p>
          <a:p>
            <a:pPr marL="12700" marR="5080"/>
            <a:r>
              <a:rPr lang="en-US" sz="1500" kern="0" spc="-80" dirty="0">
                <a:solidFill>
                  <a:schemeClr val="accent6"/>
                </a:solidFill>
              </a:rPr>
              <a:t>Surface scattering</a:t>
            </a:r>
          </a:p>
          <a:p>
            <a:pPr marL="12700" marR="5080"/>
            <a:r>
              <a:rPr lang="en-US" sz="1500" kern="0" spc="-80" dirty="0">
                <a:solidFill>
                  <a:schemeClr val="accent6"/>
                </a:solidFill>
              </a:rPr>
              <a:t>Double-bounce</a:t>
            </a:r>
          </a:p>
          <a:p>
            <a:pPr marL="12700" marR="5080"/>
            <a:r>
              <a:rPr lang="en-US" sz="1500" kern="0" spc="-80" dirty="0">
                <a:solidFill>
                  <a:schemeClr val="accent6"/>
                </a:solidFill>
              </a:rPr>
              <a:t>Volume scattering</a:t>
            </a:r>
          </a:p>
          <a:p>
            <a:pPr marL="12700" marR="5080"/>
            <a:r>
              <a:rPr lang="en-US" sz="1500" kern="0" spc="-80" dirty="0">
                <a:solidFill>
                  <a:schemeClr val="accent2"/>
                </a:solidFill>
              </a:rPr>
              <a:t>Advanced math:</a:t>
            </a:r>
            <a:r>
              <a:rPr lang="en-US" sz="1500" kern="0" spc="-80" dirty="0">
                <a:solidFill>
                  <a:schemeClr val="accent6"/>
                </a:solidFill>
              </a:rPr>
              <a:t> Eigen decomposition of scattering matrix.</a:t>
            </a:r>
          </a:p>
          <a:p>
            <a:pPr marL="12700" marR="5080"/>
            <a:endParaRPr lang="en-US" sz="1500" kern="0" spc="-80" dirty="0">
              <a:solidFill>
                <a:schemeClr val="accent6"/>
              </a:solidFill>
            </a:endParaRPr>
          </a:p>
          <a:p>
            <a:pPr marL="12700" marR="5080"/>
            <a:r>
              <a:rPr lang="en-US" sz="1500" kern="0" spc="-80" dirty="0">
                <a:solidFill>
                  <a:schemeClr val="accent2"/>
                </a:solidFill>
              </a:rPr>
              <a:t>10) LiDAR Point Clouds</a:t>
            </a:r>
          </a:p>
          <a:p>
            <a:pPr marL="12700" marR="5080"/>
            <a:r>
              <a:rPr lang="en-US" sz="1500" kern="0" spc="-80" dirty="0">
                <a:solidFill>
                  <a:schemeClr val="accent2"/>
                </a:solidFill>
              </a:rPr>
              <a:t>Every laser pulse gives:</a:t>
            </a:r>
          </a:p>
          <a:p>
            <a:pPr marL="12700" marR="5080"/>
            <a:r>
              <a:rPr lang="en-US" sz="1500" kern="0" spc="-80" dirty="0">
                <a:solidFill>
                  <a:schemeClr val="accent6"/>
                </a:solidFill>
              </a:rPr>
              <a:t>3D point (x, y, z)</a:t>
            </a:r>
          </a:p>
          <a:p>
            <a:pPr marL="12700" marR="5080"/>
            <a:r>
              <a:rPr lang="en-US" sz="1500" kern="0" spc="-80" dirty="0">
                <a:solidFill>
                  <a:schemeClr val="accent6"/>
                </a:solidFill>
              </a:rPr>
              <a:t>Intensity</a:t>
            </a:r>
          </a:p>
          <a:p>
            <a:pPr marL="12700" marR="5080"/>
            <a:r>
              <a:rPr lang="en-US" sz="1500" kern="0" spc="-80" dirty="0">
                <a:solidFill>
                  <a:schemeClr val="accent6"/>
                </a:solidFill>
              </a:rPr>
              <a:t>Return number (single / multiple echoes)</a:t>
            </a:r>
          </a:p>
          <a:p>
            <a:pPr marL="12700" marR="5080"/>
            <a:r>
              <a:rPr lang="en-US" sz="1500" kern="0" spc="-80" dirty="0">
                <a:solidFill>
                  <a:schemeClr val="accent2"/>
                </a:solidFill>
              </a:rPr>
              <a:t>Surface models:</a:t>
            </a:r>
          </a:p>
          <a:p>
            <a:pPr marL="12700" marR="5080"/>
            <a:r>
              <a:rPr lang="en-US" sz="1500" kern="0" spc="-80" dirty="0">
                <a:solidFill>
                  <a:schemeClr val="accent2"/>
                </a:solidFill>
              </a:rPr>
              <a:t>DSM:</a:t>
            </a:r>
            <a:r>
              <a:rPr lang="en-US" sz="1500" kern="0" spc="-80" dirty="0">
                <a:solidFill>
                  <a:schemeClr val="accent6"/>
                </a:solidFill>
              </a:rPr>
              <a:t> Visible surfaces</a:t>
            </a:r>
          </a:p>
          <a:p>
            <a:pPr marL="12700" marR="5080"/>
            <a:r>
              <a:rPr lang="en-US" sz="1500" kern="0" spc="-80" dirty="0">
                <a:solidFill>
                  <a:schemeClr val="accent2"/>
                </a:solidFill>
              </a:rPr>
              <a:t>DTM: </a:t>
            </a:r>
            <a:r>
              <a:rPr lang="en-US" sz="1500" kern="0" spc="-80" dirty="0">
                <a:solidFill>
                  <a:schemeClr val="accent6"/>
                </a:solidFill>
              </a:rPr>
              <a:t>Ground only (after classification)</a:t>
            </a:r>
          </a:p>
          <a:p>
            <a:pPr marL="12700" marR="5080"/>
            <a:r>
              <a:rPr lang="en-US" sz="1500" kern="0" spc="-80" dirty="0" err="1">
                <a:solidFill>
                  <a:schemeClr val="accent2"/>
                </a:solidFill>
              </a:rPr>
              <a:t>nDSM</a:t>
            </a:r>
            <a:r>
              <a:rPr lang="en-US" sz="1500" kern="0" spc="-80" dirty="0">
                <a:solidFill>
                  <a:schemeClr val="accent2"/>
                </a:solidFill>
              </a:rPr>
              <a:t>:</a:t>
            </a:r>
            <a:r>
              <a:rPr lang="en-US" sz="1500" kern="0" spc="-80" dirty="0">
                <a:solidFill>
                  <a:schemeClr val="accent6"/>
                </a:solidFill>
              </a:rPr>
              <a:t> Height of objects (DSM - DTM)</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922680668"/>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3A2F2-7197-3FA8-05FC-EB77A43850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107455-BCC8-8B56-C52C-C32E57938A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0107D0-BE2D-0223-2C9F-DC6B89791A3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64214D-FA7B-C5D8-8FEF-59888690C4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04DD861-70EB-EE41-BF7A-562D88EDDD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C75EBCE-D9D6-6C28-1683-314D8883978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DE63D3C-9847-F18C-159D-DC4716A1BB5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434371-B813-F644-162C-11B33571F2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240647E7-D476-7CC1-62D4-3FE7947A7F5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3957C0F-8F76-5732-FE1D-D47D782AE7E9}"/>
              </a:ext>
            </a:extLst>
          </p:cNvPr>
          <p:cNvSpPr txBox="1">
            <a:spLocks/>
          </p:cNvSpPr>
          <p:nvPr/>
        </p:nvSpPr>
        <p:spPr>
          <a:xfrm>
            <a:off x="228600" y="762000"/>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Final Summary (The Essence)</a:t>
            </a:r>
          </a:p>
          <a:p>
            <a:pPr marL="12700" marR="5080"/>
            <a:r>
              <a:rPr lang="en-US" sz="1500" kern="0" spc="-80" dirty="0">
                <a:solidFill>
                  <a:schemeClr val="accent2"/>
                </a:solidFill>
              </a:rPr>
              <a:t>Remote sensing is:</a:t>
            </a:r>
          </a:p>
          <a:p>
            <a:pPr marL="12700" marR="5080"/>
            <a:r>
              <a:rPr lang="en-US" sz="1500" kern="0" spc="-80" dirty="0">
                <a:solidFill>
                  <a:schemeClr val="accent6"/>
                </a:solidFill>
              </a:rPr>
              <a:t>Physics of how surfaces reflect and emit energy</a:t>
            </a:r>
          </a:p>
          <a:p>
            <a:pPr marL="12700" marR="5080"/>
            <a:r>
              <a:rPr lang="en-US" sz="1500" kern="0" spc="-80" dirty="0">
                <a:solidFill>
                  <a:schemeClr val="accent6"/>
                </a:solidFill>
              </a:rPr>
              <a:t>Mathematics of turning photons into numbers</a:t>
            </a:r>
          </a:p>
          <a:p>
            <a:pPr marL="12700" marR="5080"/>
            <a:r>
              <a:rPr lang="en-US" sz="1500" kern="0" spc="-80" dirty="0">
                <a:solidFill>
                  <a:schemeClr val="accent6"/>
                </a:solidFill>
              </a:rPr>
              <a:t>Geometry of projecting Earth into pixels</a:t>
            </a:r>
          </a:p>
          <a:p>
            <a:pPr marL="12700" marR="5080"/>
            <a:r>
              <a:rPr lang="en-US" sz="1500" kern="0" spc="-80" dirty="0">
                <a:solidFill>
                  <a:schemeClr val="accent6"/>
                </a:solidFill>
              </a:rPr>
              <a:t>Statistics and ML that convert pixels into knowledge</a:t>
            </a:r>
          </a:p>
          <a:p>
            <a:pPr marL="12700" marR="5080"/>
            <a:r>
              <a:rPr lang="en-US" sz="1500" kern="0" spc="-80" dirty="0">
                <a:solidFill>
                  <a:schemeClr val="accent6"/>
                </a:solidFill>
              </a:rPr>
              <a:t>Remote sensing is Earth reading its own diary.</a:t>
            </a:r>
          </a:p>
          <a:p>
            <a:pPr marL="12700" marR="5080"/>
            <a:endParaRPr lang="en-US" sz="1500" kern="0" spc="-80" dirty="0">
              <a:solidFill>
                <a:schemeClr val="accent6"/>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r>
              <a:rPr lang="en-US" sz="1500" kern="0" spc="-80" dirty="0">
                <a:solidFill>
                  <a:schemeClr val="accent2"/>
                </a:solidFill>
              </a:rPr>
              <a:t>For Further Exploration</a:t>
            </a:r>
          </a:p>
          <a:p>
            <a:pPr marL="12700" marR="5080"/>
            <a:r>
              <a:rPr lang="en-IN" sz="1600" dirty="0">
                <a:hlinkClick r:id="rId7"/>
              </a:rPr>
              <a:t>Remote Sensing | NASA </a:t>
            </a:r>
            <a:r>
              <a:rPr lang="en-IN" sz="1600" dirty="0" err="1">
                <a:hlinkClick r:id="rId7"/>
              </a:rPr>
              <a:t>Earthdata</a:t>
            </a:r>
            <a:endParaRPr lang="en-IN" sz="1600" dirty="0"/>
          </a:p>
          <a:p>
            <a:pPr marL="12700" marR="5080"/>
            <a:r>
              <a:rPr lang="en-US" sz="1600" dirty="0">
                <a:hlinkClick r:id="rId8"/>
              </a:rPr>
              <a:t>Remote Sensing Tutorial In Spanish, French, Portuguese, and English - GRSS-IEEE</a:t>
            </a:r>
            <a:endParaRPr lang="en-US" sz="1500" kern="0" spc="-80" dirty="0">
              <a:solidFill>
                <a:schemeClr val="accent2"/>
              </a:solidFill>
            </a:endParaRPr>
          </a:p>
          <a:p>
            <a:pPr marL="12700" marR="5080"/>
            <a:r>
              <a:rPr lang="en-US" sz="1600" dirty="0">
                <a:hlinkClick r:id="rId9"/>
              </a:rPr>
              <a:t>Remote sensing, GIS and GPS</a:t>
            </a:r>
            <a:endParaRPr lang="en-US" sz="1600" dirty="0"/>
          </a:p>
          <a:p>
            <a:pPr marL="12700" marR="5080"/>
            <a:r>
              <a:rPr lang="en-IN" sz="1600" dirty="0">
                <a:hlinkClick r:id="rId10"/>
              </a:rPr>
              <a:t>REMOTE SENSING AND GIS</a:t>
            </a:r>
            <a:endParaRPr lang="en-IN" sz="1600" dirty="0"/>
          </a:p>
          <a:p>
            <a:pPr marL="12700" marR="5080"/>
            <a:r>
              <a:rPr lang="en-US" sz="1600" dirty="0">
                <a:hlinkClick r:id="rId11"/>
              </a:rPr>
              <a:t>Advanced Mathematical Methods in Remote Sensing</a:t>
            </a:r>
            <a:endParaRPr lang="en-US" sz="1500" kern="0" spc="-80" dirty="0">
              <a:solidFill>
                <a:schemeClr val="accent2"/>
              </a:solidFill>
            </a:endParaRPr>
          </a:p>
        </p:txBody>
      </p:sp>
    </p:spTree>
    <p:extLst>
      <p:ext uri="{BB962C8B-B14F-4D97-AF65-F5344CB8AC3E}">
        <p14:creationId xmlns:p14="http://schemas.microsoft.com/office/powerpoint/2010/main" val="3592684532"/>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928E-89F1-6C57-DDDE-8FDBD09FAF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7B37B2-84D8-B16B-7035-B3286F496B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3284CC4-1A98-175E-EC66-69AD0B763C4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4C0A0E-6F55-0DF7-4722-B45DF9DDAC4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F44FE3B-7B81-7A95-ACA2-2FBCF114F8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11C4DA6-C18F-168A-A81D-095DC5BCCD3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40DC9F-2CFD-33C1-49F8-266FC4AC4B4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C37B04-122A-7735-C8B5-C110C4DC061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BD20683-924B-7E56-6D50-58F5EA7DE4E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A27E5A2-1F1F-65AD-D067-D4D0E57DBBE3}"/>
              </a:ext>
            </a:extLst>
          </p:cNvPr>
          <p:cNvSpPr txBox="1">
            <a:spLocks/>
          </p:cNvSpPr>
          <p:nvPr/>
        </p:nvSpPr>
        <p:spPr>
          <a:xfrm>
            <a:off x="228600" y="762000"/>
            <a:ext cx="8624937" cy="39857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1. What is Photogrammetry?</a:t>
            </a:r>
          </a:p>
          <a:p>
            <a:pPr marL="12700" marR="5080"/>
            <a:r>
              <a:rPr lang="en-US" sz="1500" kern="0" spc="-80" dirty="0">
                <a:solidFill>
                  <a:schemeClr val="accent6"/>
                </a:solidFill>
              </a:rPr>
              <a:t>Photogrammetry is the science and technology of obtaining reliable measurements and 3D information about physical objects and the environment through the process of recording, measuring, and interpreting photographic images.</a:t>
            </a:r>
          </a:p>
          <a:p>
            <a:pPr marL="12700" marR="5080"/>
            <a:r>
              <a:rPr lang="en-US" sz="1500" kern="0" spc="-80" dirty="0">
                <a:solidFill>
                  <a:schemeClr val="accent6"/>
                </a:solidFill>
              </a:rPr>
              <a:t>It transforms 2D image data into 3D spatial information.</a:t>
            </a:r>
          </a:p>
          <a:p>
            <a:pPr marL="12700" marR="5080"/>
            <a:endParaRPr lang="en-US" sz="1500" kern="0" spc="-80" dirty="0">
              <a:solidFill>
                <a:schemeClr val="accent6"/>
              </a:solidFill>
            </a:endParaRPr>
          </a:p>
          <a:p>
            <a:pPr marL="12700" marR="5080"/>
            <a:r>
              <a:rPr lang="en-US" sz="1500" kern="0" spc="-80" dirty="0">
                <a:solidFill>
                  <a:schemeClr val="accent2"/>
                </a:solidFill>
              </a:rPr>
              <a:t>2. Major Types of Photogrammetry</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graphicFrame>
        <p:nvGraphicFramePr>
          <p:cNvPr id="10" name="Table 9">
            <a:extLst>
              <a:ext uri="{FF2B5EF4-FFF2-40B4-BE49-F238E27FC236}">
                <a16:creationId xmlns:a16="http://schemas.microsoft.com/office/drawing/2014/main" id="{3EFBB511-81AD-179D-A65F-BA42A033C676}"/>
              </a:ext>
            </a:extLst>
          </p:cNvPr>
          <p:cNvGraphicFramePr>
            <a:graphicFrameLocks noGrp="1"/>
          </p:cNvGraphicFramePr>
          <p:nvPr>
            <p:extLst>
              <p:ext uri="{D42A27DB-BD31-4B8C-83A1-F6EECF244321}">
                <p14:modId xmlns:p14="http://schemas.microsoft.com/office/powerpoint/2010/main" val="3986300572"/>
              </p:ext>
            </p:extLst>
          </p:nvPr>
        </p:nvGraphicFramePr>
        <p:xfrm>
          <a:off x="199925" y="2672079"/>
          <a:ext cx="8715474" cy="3237093"/>
        </p:xfrm>
        <a:graphic>
          <a:graphicData uri="http://schemas.openxmlformats.org/drawingml/2006/table">
            <a:tbl>
              <a:tblPr firstRow="1" bandRow="1">
                <a:tableStyleId>{5C22544A-7EE6-4342-B048-85BDC9FD1C3A}</a:tableStyleId>
              </a:tblPr>
              <a:tblGrid>
                <a:gridCol w="2905158">
                  <a:extLst>
                    <a:ext uri="{9D8B030D-6E8A-4147-A177-3AD203B41FA5}">
                      <a16:colId xmlns:a16="http://schemas.microsoft.com/office/drawing/2014/main" val="3620479117"/>
                    </a:ext>
                  </a:extLst>
                </a:gridCol>
                <a:gridCol w="2905158">
                  <a:extLst>
                    <a:ext uri="{9D8B030D-6E8A-4147-A177-3AD203B41FA5}">
                      <a16:colId xmlns:a16="http://schemas.microsoft.com/office/drawing/2014/main" val="2681647465"/>
                    </a:ext>
                  </a:extLst>
                </a:gridCol>
                <a:gridCol w="2905158">
                  <a:extLst>
                    <a:ext uri="{9D8B030D-6E8A-4147-A177-3AD203B41FA5}">
                      <a16:colId xmlns:a16="http://schemas.microsoft.com/office/drawing/2014/main" val="4106503271"/>
                    </a:ext>
                  </a:extLst>
                </a:gridCol>
              </a:tblGrid>
              <a:tr h="450969">
                <a:tc>
                  <a:txBody>
                    <a:bodyPr/>
                    <a:lstStyle/>
                    <a:p>
                      <a:r>
                        <a:rPr lang="en-IN" dirty="0"/>
                        <a:t>Type</a:t>
                      </a:r>
                    </a:p>
                  </a:txBody>
                  <a:tcPr/>
                </a:tc>
                <a:tc>
                  <a:txBody>
                    <a:bodyPr/>
                    <a:lstStyle/>
                    <a:p>
                      <a:r>
                        <a:rPr lang="en-IN" dirty="0"/>
                        <a:t>Description</a:t>
                      </a:r>
                    </a:p>
                  </a:txBody>
                  <a:tcPr/>
                </a:tc>
                <a:tc>
                  <a:txBody>
                    <a:bodyPr/>
                    <a:lstStyle/>
                    <a:p>
                      <a:r>
                        <a:rPr lang="en-IN" dirty="0"/>
                        <a:t>Use Cases</a:t>
                      </a:r>
                    </a:p>
                  </a:txBody>
                  <a:tcPr/>
                </a:tc>
                <a:extLst>
                  <a:ext uri="{0D108BD9-81ED-4DB2-BD59-A6C34878D82A}">
                    <a16:rowId xmlns:a16="http://schemas.microsoft.com/office/drawing/2014/main" val="2437575816"/>
                  </a:ext>
                </a:extLst>
              </a:tr>
              <a:tr h="450969">
                <a:tc>
                  <a:txBody>
                    <a:bodyPr/>
                    <a:lstStyle/>
                    <a:p>
                      <a:r>
                        <a:rPr lang="en-IN" dirty="0"/>
                        <a:t>Aerial Photogrammetry</a:t>
                      </a:r>
                    </a:p>
                  </a:txBody>
                  <a:tcPr/>
                </a:tc>
                <a:tc>
                  <a:txBody>
                    <a:bodyPr/>
                    <a:lstStyle/>
                    <a:p>
                      <a:r>
                        <a:rPr lang="en-US" dirty="0"/>
                        <a:t>Uses aerial or drone images</a:t>
                      </a:r>
                      <a:endParaRPr lang="en-IN" dirty="0"/>
                    </a:p>
                  </a:txBody>
                  <a:tcPr/>
                </a:tc>
                <a:tc>
                  <a:txBody>
                    <a:bodyPr/>
                    <a:lstStyle/>
                    <a:p>
                      <a:r>
                        <a:rPr lang="en-IN" dirty="0"/>
                        <a:t>Mapping, DEM generation</a:t>
                      </a:r>
                    </a:p>
                  </a:txBody>
                  <a:tcPr/>
                </a:tc>
                <a:extLst>
                  <a:ext uri="{0D108BD9-81ED-4DB2-BD59-A6C34878D82A}">
                    <a16:rowId xmlns:a16="http://schemas.microsoft.com/office/drawing/2014/main" val="2178679576"/>
                  </a:ext>
                </a:extLst>
              </a:tr>
              <a:tr h="778385">
                <a:tc>
                  <a:txBody>
                    <a:bodyPr/>
                    <a:lstStyle/>
                    <a:p>
                      <a:r>
                        <a:rPr lang="en-IN" dirty="0"/>
                        <a:t>Terrestrial (Close-Range) Photogrammetry</a:t>
                      </a:r>
                    </a:p>
                  </a:txBody>
                  <a:tcPr/>
                </a:tc>
                <a:tc>
                  <a:txBody>
                    <a:bodyPr/>
                    <a:lstStyle/>
                    <a:p>
                      <a:r>
                        <a:rPr lang="en-IN" dirty="0"/>
                        <a:t>Uses ground-based cameras</a:t>
                      </a:r>
                    </a:p>
                  </a:txBody>
                  <a:tcPr/>
                </a:tc>
                <a:tc>
                  <a:txBody>
                    <a:bodyPr/>
                    <a:lstStyle/>
                    <a:p>
                      <a:r>
                        <a:rPr lang="en-IN" dirty="0"/>
                        <a:t>Architecture, heritage documentation</a:t>
                      </a:r>
                    </a:p>
                  </a:txBody>
                  <a:tcPr/>
                </a:tc>
                <a:extLst>
                  <a:ext uri="{0D108BD9-81ED-4DB2-BD59-A6C34878D82A}">
                    <a16:rowId xmlns:a16="http://schemas.microsoft.com/office/drawing/2014/main" val="1227742599"/>
                  </a:ext>
                </a:extLst>
              </a:tr>
              <a:tr h="778385">
                <a:tc>
                  <a:txBody>
                    <a:bodyPr/>
                    <a:lstStyle/>
                    <a:p>
                      <a:r>
                        <a:rPr lang="en-IN" dirty="0"/>
                        <a:t>Satellite Photogrammetry</a:t>
                      </a:r>
                    </a:p>
                  </a:txBody>
                  <a:tcPr/>
                </a:tc>
                <a:tc>
                  <a:txBody>
                    <a:bodyPr/>
                    <a:lstStyle/>
                    <a:p>
                      <a:r>
                        <a:rPr lang="en-IN" dirty="0"/>
                        <a:t>Uses satellite imagery</a:t>
                      </a:r>
                    </a:p>
                  </a:txBody>
                  <a:tcPr/>
                </a:tc>
                <a:tc>
                  <a:txBody>
                    <a:bodyPr/>
                    <a:lstStyle/>
                    <a:p>
                      <a:r>
                        <a:rPr lang="en-IN" dirty="0"/>
                        <a:t>Large-scale mapping, terrain models</a:t>
                      </a:r>
                    </a:p>
                  </a:txBody>
                  <a:tcPr/>
                </a:tc>
                <a:extLst>
                  <a:ext uri="{0D108BD9-81ED-4DB2-BD59-A6C34878D82A}">
                    <a16:rowId xmlns:a16="http://schemas.microsoft.com/office/drawing/2014/main" val="1084393789"/>
                  </a:ext>
                </a:extLst>
              </a:tr>
              <a:tr h="778385">
                <a:tc>
                  <a:txBody>
                    <a:bodyPr/>
                    <a:lstStyle/>
                    <a:p>
                      <a:r>
                        <a:rPr lang="en-IN" dirty="0"/>
                        <a:t>Oblique Photogrammetry</a:t>
                      </a:r>
                    </a:p>
                  </a:txBody>
                  <a:tcPr/>
                </a:tc>
                <a:tc>
                  <a:txBody>
                    <a:bodyPr/>
                    <a:lstStyle/>
                    <a:p>
                      <a:r>
                        <a:rPr lang="en-IN" dirty="0"/>
                        <a:t>Captures tilted images</a:t>
                      </a:r>
                    </a:p>
                  </a:txBody>
                  <a:tcPr/>
                </a:tc>
                <a:tc>
                  <a:txBody>
                    <a:bodyPr/>
                    <a:lstStyle/>
                    <a:p>
                      <a:r>
                        <a:rPr lang="en-US" dirty="0"/>
                        <a:t>3D city modeling, façade reconstruction</a:t>
                      </a:r>
                    </a:p>
                  </a:txBody>
                  <a:tcPr/>
                </a:tc>
                <a:extLst>
                  <a:ext uri="{0D108BD9-81ED-4DB2-BD59-A6C34878D82A}">
                    <a16:rowId xmlns:a16="http://schemas.microsoft.com/office/drawing/2014/main" val="2025871696"/>
                  </a:ext>
                </a:extLst>
              </a:tr>
            </a:tbl>
          </a:graphicData>
        </a:graphic>
      </p:graphicFrame>
    </p:spTree>
    <p:extLst>
      <p:ext uri="{BB962C8B-B14F-4D97-AF65-F5344CB8AC3E}">
        <p14:creationId xmlns:p14="http://schemas.microsoft.com/office/powerpoint/2010/main" val="2956974255"/>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5CE98-1A5A-9177-9ABF-46CB61E637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78A752-BD08-8A3F-4C1F-68C833BAD0E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61A6645-EA32-68DB-442F-A19AAE13F6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A698F2-9EC9-4B61-0093-396C3FA4B8C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C251979-EC34-5411-0B11-6BDB8952A0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D14C62-6F04-B534-1EEF-72E35FA624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B2A604-1C32-A88C-5118-7DF8E7A0B0E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3217D7C-21CB-B6C3-A7B2-CB4DEBA6D8E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EE0A5009-515C-4E4C-876C-22CBCFE146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85744C9-164B-09EF-0D2B-789428696278}"/>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3. Core Concepts</a:t>
            </a:r>
          </a:p>
          <a:p>
            <a:pPr marL="12700" marR="5080"/>
            <a:r>
              <a:rPr lang="en-US" sz="1500" kern="0" spc="-80" dirty="0">
                <a:solidFill>
                  <a:schemeClr val="accent2"/>
                </a:solidFill>
              </a:rPr>
              <a:t>Collinearity Principle:</a:t>
            </a:r>
          </a:p>
          <a:p>
            <a:pPr marL="12700" marR="5080"/>
            <a:r>
              <a:rPr lang="en-US" sz="1500" kern="0" spc="-80" dirty="0">
                <a:solidFill>
                  <a:schemeClr val="accent6"/>
                </a:solidFill>
              </a:rPr>
              <a:t>The object point, image point, and camera center lie on a straight line.</a:t>
            </a:r>
          </a:p>
          <a:p>
            <a:pPr marL="12700" marR="5080"/>
            <a:r>
              <a:rPr lang="en-US" sz="1500" kern="0" spc="-80" dirty="0">
                <a:solidFill>
                  <a:schemeClr val="accent6"/>
                </a:solidFill>
              </a:rPr>
              <a:t>Used in deriving the collinearity equations, the foundation of photogrammetric computation.</a:t>
            </a:r>
          </a:p>
          <a:p>
            <a:pPr marL="12700" marR="5080"/>
            <a:r>
              <a:rPr lang="en-US" sz="1500" kern="0" spc="-80" dirty="0">
                <a:solidFill>
                  <a:schemeClr val="accent2"/>
                </a:solidFill>
              </a:rPr>
              <a:t>Coplanarity Principle:</a:t>
            </a:r>
          </a:p>
          <a:p>
            <a:pPr marL="12700" marR="5080"/>
            <a:r>
              <a:rPr lang="en-US" sz="1500" kern="0" spc="-80" dirty="0">
                <a:solidFill>
                  <a:schemeClr val="accent6"/>
                </a:solidFill>
              </a:rPr>
              <a:t>Two images of the same object point and the two camera centers lie on the same plane.</a:t>
            </a:r>
          </a:p>
          <a:p>
            <a:pPr marL="12700" marR="5080"/>
            <a:r>
              <a:rPr lang="en-US" sz="1500" kern="0" spc="-80" dirty="0">
                <a:solidFill>
                  <a:schemeClr val="accent2"/>
                </a:solidFill>
              </a:rPr>
              <a:t>Stereoscopy:</a:t>
            </a:r>
          </a:p>
          <a:p>
            <a:pPr marL="12700" marR="5080"/>
            <a:r>
              <a:rPr lang="en-US" sz="1500" kern="0" spc="-80" dirty="0">
                <a:solidFill>
                  <a:schemeClr val="accent6"/>
                </a:solidFill>
              </a:rPr>
              <a:t>Technique of using overlapping images to create a stereoscopic pair, giving depth perception.</a:t>
            </a:r>
          </a:p>
          <a:p>
            <a:pPr marL="12700" marR="5080"/>
            <a:r>
              <a:rPr lang="en-US" sz="1500" kern="0" spc="-80" dirty="0">
                <a:solidFill>
                  <a:schemeClr val="accent2"/>
                </a:solidFill>
              </a:rPr>
              <a:t>Parallax:</a:t>
            </a:r>
          </a:p>
          <a:p>
            <a:pPr marL="12700" marR="5080"/>
            <a:r>
              <a:rPr lang="en-US" sz="1500" kern="0" spc="-80" dirty="0">
                <a:solidFill>
                  <a:schemeClr val="accent6"/>
                </a:solidFill>
              </a:rPr>
              <a:t>Apparent shift of an object’s position between two images; used to determine elevation.</a:t>
            </a:r>
          </a:p>
          <a:p>
            <a:pPr marL="12700" marR="5080"/>
            <a:r>
              <a:rPr lang="en-US" sz="1500" kern="0" spc="-80" dirty="0">
                <a:solidFill>
                  <a:schemeClr val="accent2"/>
                </a:solidFill>
              </a:rPr>
              <a:t>Interior Orientation:</a:t>
            </a:r>
          </a:p>
          <a:p>
            <a:pPr marL="12700" marR="5080"/>
            <a:r>
              <a:rPr lang="en-US" sz="1500" kern="0" spc="-80" dirty="0">
                <a:solidFill>
                  <a:schemeClr val="accent6"/>
                </a:solidFill>
              </a:rPr>
              <a:t>Defines the internal geometry of the camera (focal length, principal point, distortion).</a:t>
            </a:r>
          </a:p>
          <a:p>
            <a:pPr marL="12700" marR="5080"/>
            <a:r>
              <a:rPr lang="en-US" sz="1500" kern="0" spc="-80" dirty="0">
                <a:solidFill>
                  <a:schemeClr val="accent2"/>
                </a:solidFill>
              </a:rPr>
              <a:t>Exterior Orientation:</a:t>
            </a:r>
          </a:p>
          <a:p>
            <a:pPr marL="12700" marR="5080"/>
            <a:r>
              <a:rPr lang="en-US" sz="1500" kern="0" spc="-80" dirty="0">
                <a:solidFill>
                  <a:schemeClr val="accent6"/>
                </a:solidFill>
              </a:rPr>
              <a:t>Describes the position (X, Y, Z) and attitude (ω, φ, κ rotations) of the camera during image capture.</a:t>
            </a:r>
          </a:p>
          <a:p>
            <a:pPr marL="12700" marR="5080"/>
            <a:r>
              <a:rPr lang="en-US" sz="1500" kern="0" spc="-80" dirty="0">
                <a:solidFill>
                  <a:schemeClr val="accent2"/>
                </a:solidFill>
              </a:rPr>
              <a:t>Image Matching:</a:t>
            </a:r>
          </a:p>
          <a:p>
            <a:pPr marL="12700" marR="5080"/>
            <a:r>
              <a:rPr lang="en-US" sz="1500" kern="0" spc="-80" dirty="0">
                <a:solidFill>
                  <a:schemeClr val="accent6"/>
                </a:solidFill>
              </a:rPr>
              <a:t>Process of identifying identical features across overlapping images.</a:t>
            </a:r>
          </a:p>
          <a:p>
            <a:pPr marL="12700" marR="5080"/>
            <a:endParaRPr lang="en-US" sz="1500" kern="0" spc="-80" dirty="0">
              <a:solidFill>
                <a:schemeClr val="accent6"/>
              </a:solidFill>
            </a:endParaRPr>
          </a:p>
          <a:p>
            <a:pPr marL="12700" marR="5080"/>
            <a:r>
              <a:rPr lang="en-US" sz="1500" kern="0" spc="-80" dirty="0">
                <a:solidFill>
                  <a:schemeClr val="accent2"/>
                </a:solidFill>
              </a:rPr>
              <a:t>4. Methods of Photogrammetry</a:t>
            </a:r>
          </a:p>
          <a:p>
            <a:pPr marL="12700" marR="5080"/>
            <a:r>
              <a:rPr lang="en-US" sz="1500" kern="0" spc="-80" dirty="0">
                <a:solidFill>
                  <a:schemeClr val="accent2"/>
                </a:solidFill>
              </a:rPr>
              <a:t>Analog Photogrammetry:</a:t>
            </a:r>
          </a:p>
          <a:p>
            <a:pPr marL="12700" marR="5080"/>
            <a:r>
              <a:rPr lang="en-US" sz="1500" kern="0" spc="-80" dirty="0">
                <a:solidFill>
                  <a:schemeClr val="accent6"/>
                </a:solidFill>
              </a:rPr>
              <a:t>Traditional film-based, optical-mechanical methods using </a:t>
            </a:r>
            <a:r>
              <a:rPr lang="en-US" sz="1500" kern="0" spc="-80" dirty="0" err="1">
                <a:solidFill>
                  <a:schemeClr val="accent6"/>
                </a:solidFill>
              </a:rPr>
              <a:t>stereoplotters</a:t>
            </a:r>
            <a:r>
              <a:rPr lang="en-US" sz="1500" kern="0" spc="-80" dirty="0">
                <a:solidFill>
                  <a:schemeClr val="accent6"/>
                </a:solidFill>
              </a:rPr>
              <a:t>.</a:t>
            </a:r>
          </a:p>
        </p:txBody>
      </p:sp>
    </p:spTree>
    <p:extLst>
      <p:ext uri="{BB962C8B-B14F-4D97-AF65-F5344CB8AC3E}">
        <p14:creationId xmlns:p14="http://schemas.microsoft.com/office/powerpoint/2010/main" val="2808459279"/>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2C35C-A922-9BDE-9428-C1D3CAB4CC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C24B0E-FE92-05F2-73C2-92812F7247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4C080A7-B67E-CF1A-8419-B197030AD74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232502-601E-8704-6443-F65AE931E1B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16E3CC1-1A97-4DCC-17E4-9D3C6944E0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7B404A-28C4-92E2-C426-B9DE14B6E6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8321863-8A9D-FF41-CBAA-6F25A78F3A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11BB328-2DFD-DA9E-63CF-33B63A55BF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80C39684-1B33-37F2-C62E-B7D43FAC98C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43BA3DB-3A57-CA8D-E839-6D81995EC688}"/>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Analytical Photogrammetry:</a:t>
            </a:r>
          </a:p>
          <a:p>
            <a:pPr marL="12700" marR="5080"/>
            <a:r>
              <a:rPr lang="en-US" sz="1500" kern="0" spc="-80" dirty="0">
                <a:solidFill>
                  <a:schemeClr val="accent6"/>
                </a:solidFill>
              </a:rPr>
              <a:t>Uses mathematical models (collinearity equations) with digitized images.</a:t>
            </a:r>
          </a:p>
          <a:p>
            <a:pPr marL="12700" marR="5080"/>
            <a:r>
              <a:rPr lang="en-US" sz="1500" kern="0" spc="-80" dirty="0">
                <a:solidFill>
                  <a:schemeClr val="accent2"/>
                </a:solidFill>
              </a:rPr>
              <a:t>Digital Photogrammetry:</a:t>
            </a:r>
          </a:p>
          <a:p>
            <a:pPr marL="12700" marR="5080"/>
            <a:r>
              <a:rPr lang="en-US" sz="1500" kern="0" spc="-80" dirty="0">
                <a:solidFill>
                  <a:schemeClr val="accent6"/>
                </a:solidFill>
              </a:rPr>
              <a:t>Fully computer-based — employs image processing, feature extraction, and </a:t>
            </a:r>
            <a:r>
              <a:rPr lang="en-US" sz="1500" kern="0" spc="-80" dirty="0" err="1">
                <a:solidFill>
                  <a:schemeClr val="accent6"/>
                </a:solidFill>
              </a:rPr>
              <a:t>SfM</a:t>
            </a:r>
            <a:r>
              <a:rPr lang="en-US" sz="1500" kern="0" spc="-80" dirty="0">
                <a:solidFill>
                  <a:schemeClr val="accent6"/>
                </a:solidFill>
              </a:rPr>
              <a:t> (Structure-from-Motion).</a:t>
            </a:r>
          </a:p>
          <a:p>
            <a:pPr marL="12700" marR="5080"/>
            <a:r>
              <a:rPr lang="en-US" sz="1500" kern="0" spc="-80" dirty="0">
                <a:solidFill>
                  <a:schemeClr val="accent2"/>
                </a:solidFill>
              </a:rPr>
              <a:t>    Structure from Motion (</a:t>
            </a:r>
            <a:r>
              <a:rPr lang="en-US" sz="1500" kern="0" spc="-80" dirty="0" err="1">
                <a:solidFill>
                  <a:schemeClr val="accent2"/>
                </a:solidFill>
              </a:rPr>
              <a:t>SfM</a:t>
            </a:r>
            <a:r>
              <a:rPr lang="en-US" sz="1500" kern="0" spc="-80" dirty="0">
                <a:solidFill>
                  <a:schemeClr val="accent2"/>
                </a:solidFill>
              </a:rPr>
              <a:t>):</a:t>
            </a:r>
          </a:p>
          <a:p>
            <a:pPr marL="12700" marR="5080"/>
            <a:r>
              <a:rPr lang="en-US" sz="1500" kern="0" spc="-80" dirty="0">
                <a:solidFill>
                  <a:schemeClr val="accent6"/>
                </a:solidFill>
              </a:rPr>
              <a:t>    Automatically reconstructs 3D geometry from unordered 2D images using feature matching </a:t>
            </a:r>
          </a:p>
          <a:p>
            <a:pPr marL="12700" marR="5080"/>
            <a:r>
              <a:rPr lang="en-US" sz="1500" kern="0" spc="-80" dirty="0">
                <a:solidFill>
                  <a:schemeClr val="accent6"/>
                </a:solidFill>
              </a:rPr>
              <a:t>    and camera calibration.</a:t>
            </a:r>
          </a:p>
          <a:p>
            <a:pPr marL="12700" marR="5080"/>
            <a:r>
              <a:rPr lang="en-US" sz="1500" kern="0" spc="-80" dirty="0">
                <a:solidFill>
                  <a:schemeClr val="accent2"/>
                </a:solidFill>
              </a:rPr>
              <a:t>    Bundle Adjustment:</a:t>
            </a:r>
          </a:p>
          <a:p>
            <a:pPr marL="12700" marR="5080"/>
            <a:r>
              <a:rPr lang="en-US" sz="1500" kern="0" spc="-80" dirty="0">
                <a:solidFill>
                  <a:schemeClr val="accent6"/>
                </a:solidFill>
              </a:rPr>
              <a:t>    Optimization process refining camera parameters and 3D point positions simultaneously for </a:t>
            </a:r>
          </a:p>
          <a:p>
            <a:pPr marL="12700" marR="5080"/>
            <a:r>
              <a:rPr lang="en-US" sz="1500" kern="0" spc="-80" dirty="0">
                <a:solidFill>
                  <a:schemeClr val="accent6"/>
                </a:solidFill>
              </a:rPr>
              <a:t>    minimal reprojection error.</a:t>
            </a:r>
          </a:p>
          <a:p>
            <a:pPr marL="12700" marR="5080"/>
            <a:endParaRPr lang="en-US" sz="1500" kern="0" spc="-80" dirty="0">
              <a:solidFill>
                <a:schemeClr val="accent6"/>
              </a:solidFill>
            </a:endParaRPr>
          </a:p>
          <a:p>
            <a:pPr marL="12700" marR="5080"/>
            <a:r>
              <a:rPr lang="en-US" sz="1500" kern="0" spc="-80" dirty="0">
                <a:solidFill>
                  <a:schemeClr val="accent2"/>
                </a:solidFill>
              </a:rPr>
              <a:t>5. Key Techniques</a:t>
            </a:r>
          </a:p>
          <a:p>
            <a:pPr marL="12700" marR="5080"/>
            <a:r>
              <a:rPr lang="en-US" sz="1500" kern="0" spc="-80" dirty="0">
                <a:solidFill>
                  <a:schemeClr val="accent2"/>
                </a:solidFill>
              </a:rPr>
              <a:t>Image Orientation:</a:t>
            </a:r>
          </a:p>
          <a:p>
            <a:pPr marL="12700" marR="5080"/>
            <a:r>
              <a:rPr lang="en-US" sz="1500" kern="0" spc="-80" dirty="0">
                <a:solidFill>
                  <a:schemeClr val="accent2"/>
                </a:solidFill>
              </a:rPr>
              <a:t>Interior Orientation:</a:t>
            </a:r>
            <a:r>
              <a:rPr lang="en-US" sz="1500" kern="0" spc="-80" dirty="0">
                <a:solidFill>
                  <a:schemeClr val="accent6"/>
                </a:solidFill>
              </a:rPr>
              <a:t> Calibrate the camera.</a:t>
            </a:r>
          </a:p>
          <a:p>
            <a:pPr marL="12700" marR="5080"/>
            <a:r>
              <a:rPr lang="en-US" sz="1500" kern="0" spc="-80" dirty="0">
                <a:solidFill>
                  <a:schemeClr val="accent2"/>
                </a:solidFill>
              </a:rPr>
              <a:t>Relative Orientation: </a:t>
            </a:r>
            <a:r>
              <a:rPr lang="en-US" sz="1500" kern="0" spc="-80" dirty="0">
                <a:solidFill>
                  <a:schemeClr val="accent6"/>
                </a:solidFill>
              </a:rPr>
              <a:t>Align overlapping images.</a:t>
            </a:r>
          </a:p>
          <a:p>
            <a:pPr marL="12700" marR="5080"/>
            <a:r>
              <a:rPr lang="en-US" sz="1500" kern="0" spc="-80" dirty="0">
                <a:solidFill>
                  <a:schemeClr val="accent2"/>
                </a:solidFill>
              </a:rPr>
              <a:t>Absolute Orientation: </a:t>
            </a:r>
            <a:r>
              <a:rPr lang="en-US" sz="1500" kern="0" spc="-80" dirty="0">
                <a:solidFill>
                  <a:schemeClr val="accent6"/>
                </a:solidFill>
              </a:rPr>
              <a:t>Scale and position model to real-world coordinates.</a:t>
            </a:r>
          </a:p>
          <a:p>
            <a:pPr marL="12700" marR="5080"/>
            <a:r>
              <a:rPr lang="en-US" sz="1500" kern="0" spc="-80" dirty="0">
                <a:solidFill>
                  <a:schemeClr val="accent2"/>
                </a:solidFill>
              </a:rPr>
              <a:t>Triangulation:</a:t>
            </a:r>
          </a:p>
          <a:p>
            <a:pPr marL="12700" marR="5080"/>
            <a:r>
              <a:rPr lang="en-US" sz="1500" kern="0" spc="-80" dirty="0">
                <a:solidFill>
                  <a:schemeClr val="accent2"/>
                </a:solidFill>
              </a:rPr>
              <a:t>Derives </a:t>
            </a:r>
            <a:r>
              <a:rPr lang="en-US" sz="1500" kern="0" spc="-80" dirty="0">
                <a:solidFill>
                  <a:schemeClr val="accent6"/>
                </a:solidFill>
              </a:rPr>
              <a:t>3D coordinates from intersecting rays traced from image points to object points.</a:t>
            </a:r>
          </a:p>
          <a:p>
            <a:pPr marL="12700" marR="5080"/>
            <a:r>
              <a:rPr lang="en-US" sz="1500" kern="0" spc="-80" dirty="0">
                <a:solidFill>
                  <a:schemeClr val="accent2"/>
                </a:solidFill>
              </a:rPr>
              <a:t>DEM/DSM/DTM Extraction:</a:t>
            </a:r>
          </a:p>
          <a:p>
            <a:pPr marL="12700" marR="5080"/>
            <a:r>
              <a:rPr lang="en-US" sz="1500" kern="0" spc="-80" dirty="0">
                <a:solidFill>
                  <a:schemeClr val="accent2"/>
                </a:solidFill>
              </a:rPr>
              <a:t>DEM (Digital Elevation Model): </a:t>
            </a:r>
            <a:r>
              <a:rPr lang="en-US" sz="1500" kern="0" spc="-80" dirty="0">
                <a:solidFill>
                  <a:schemeClr val="accent6"/>
                </a:solidFill>
              </a:rPr>
              <a:t>Surface elevations without objects.</a:t>
            </a:r>
          </a:p>
        </p:txBody>
      </p:sp>
    </p:spTree>
    <p:extLst>
      <p:ext uri="{BB962C8B-B14F-4D97-AF65-F5344CB8AC3E}">
        <p14:creationId xmlns:p14="http://schemas.microsoft.com/office/powerpoint/2010/main" val="113741639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F9C07-811E-39B3-BF60-BAE1D7C9939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853388-A6C4-68B1-999F-03BC7D93FDE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0CED18-24B2-C637-1C5F-5184D6B2D1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4A8F168-95F1-7591-BD98-819FAF98A47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8809C4-DD7C-ACD6-36B8-20EBE3630F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CF4E12-312D-FA20-1A5E-9B349140F6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ACC8B8D-328F-AAB7-ADB9-A2F5D6224B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99E6E5-0480-7224-B736-CA4287AE36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A4F05BC5-FE91-2041-DF5F-098A2BD44EB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F9C94F8-A982-9B29-A78A-B2C4DC80530E}"/>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DSM (Digital Surface Model):</a:t>
            </a:r>
            <a:r>
              <a:rPr lang="en-US" sz="1500" kern="0" spc="-80" dirty="0">
                <a:solidFill>
                  <a:schemeClr val="accent6"/>
                </a:solidFill>
              </a:rPr>
              <a:t> Includes trees/buildings.</a:t>
            </a:r>
          </a:p>
          <a:p>
            <a:pPr marL="12700" marR="5080"/>
            <a:r>
              <a:rPr lang="en-US" sz="1500" kern="0" spc="-80" dirty="0">
                <a:solidFill>
                  <a:schemeClr val="accent2"/>
                </a:solidFill>
              </a:rPr>
              <a:t>DTM (Digital Terrain Model):</a:t>
            </a:r>
            <a:r>
              <a:rPr lang="en-US" sz="1500" kern="0" spc="-80" dirty="0">
                <a:solidFill>
                  <a:schemeClr val="accent6"/>
                </a:solidFill>
              </a:rPr>
              <a:t> Smoothed earth surface.</a:t>
            </a:r>
          </a:p>
          <a:p>
            <a:pPr marL="12700" marR="5080"/>
            <a:r>
              <a:rPr lang="en-US" sz="1500" kern="0" spc="-80" dirty="0">
                <a:solidFill>
                  <a:schemeClr val="accent2"/>
                </a:solidFill>
              </a:rPr>
              <a:t>Orthorectification:</a:t>
            </a:r>
          </a:p>
          <a:p>
            <a:pPr marL="12700" marR="5080"/>
            <a:r>
              <a:rPr lang="en-US" sz="1500" kern="0" spc="-80" dirty="0">
                <a:solidFill>
                  <a:schemeClr val="accent6"/>
                </a:solidFill>
              </a:rPr>
              <a:t>Corrects image distortions from relief displacement and camera tilt → results in orthophotos (map-accurate images).</a:t>
            </a:r>
          </a:p>
          <a:p>
            <a:pPr marL="12700" marR="5080"/>
            <a:r>
              <a:rPr lang="en-US" sz="1500" kern="0" spc="-80" dirty="0">
                <a:solidFill>
                  <a:schemeClr val="accent2"/>
                </a:solidFill>
              </a:rPr>
              <a:t>Image Mosaicking:</a:t>
            </a:r>
          </a:p>
          <a:p>
            <a:pPr marL="12700" marR="5080"/>
            <a:r>
              <a:rPr lang="en-US" sz="1500" kern="0" spc="-80" dirty="0">
                <a:solidFill>
                  <a:schemeClr val="accent6"/>
                </a:solidFill>
              </a:rPr>
              <a:t>Seamlessly joins multiple orthophotos into one continuous image.</a:t>
            </a:r>
          </a:p>
          <a:p>
            <a:pPr marL="12700" marR="5080"/>
            <a:r>
              <a:rPr lang="en-US" sz="1500" kern="0" spc="-80" dirty="0">
                <a:solidFill>
                  <a:schemeClr val="accent2"/>
                </a:solidFill>
              </a:rPr>
              <a:t>Dense Point Cloud Generation:</a:t>
            </a:r>
          </a:p>
          <a:p>
            <a:pPr marL="12700" marR="5080"/>
            <a:r>
              <a:rPr lang="en-US" sz="1500" kern="0" spc="-80" dirty="0">
                <a:solidFill>
                  <a:schemeClr val="accent6"/>
                </a:solidFill>
              </a:rPr>
              <a:t>Produces high-resolution 3D point clouds using multi-view stereo (MVS).</a:t>
            </a:r>
          </a:p>
          <a:p>
            <a:pPr marL="12700" marR="5080"/>
            <a:endParaRPr lang="en-US" sz="1500" kern="0" spc="-80" dirty="0">
              <a:solidFill>
                <a:schemeClr val="accent6"/>
              </a:solidFill>
            </a:endParaRPr>
          </a:p>
          <a:p>
            <a:pPr marL="12700" marR="5080"/>
            <a:r>
              <a:rPr lang="en-US" sz="1500" kern="0" spc="-80" dirty="0">
                <a:solidFill>
                  <a:schemeClr val="accent2"/>
                </a:solidFill>
              </a:rPr>
              <a:t>6. Important Algorithms</a:t>
            </a:r>
          </a:p>
          <a:p>
            <a:pPr marL="12700" marR="5080"/>
            <a:r>
              <a:rPr lang="en-US" sz="1500" kern="0" spc="-80" dirty="0">
                <a:solidFill>
                  <a:schemeClr val="accent2"/>
                </a:solidFill>
              </a:rPr>
              <a:t>Feature Detection &amp; Matching:</a:t>
            </a:r>
          </a:p>
          <a:p>
            <a:pPr marL="12700" marR="5080"/>
            <a:r>
              <a:rPr lang="en-US" sz="1500" kern="0" spc="-80" dirty="0">
                <a:solidFill>
                  <a:schemeClr val="accent6"/>
                </a:solidFill>
              </a:rPr>
              <a:t>SIFT (Scale Invariant Feature Transform)</a:t>
            </a:r>
          </a:p>
          <a:p>
            <a:pPr marL="12700" marR="5080"/>
            <a:r>
              <a:rPr lang="en-US" sz="1500" kern="0" spc="-80" dirty="0">
                <a:solidFill>
                  <a:schemeClr val="accent6"/>
                </a:solidFill>
              </a:rPr>
              <a:t>SURF (Speeded Up Robust Features)</a:t>
            </a:r>
          </a:p>
          <a:p>
            <a:pPr marL="12700" marR="5080"/>
            <a:r>
              <a:rPr lang="en-US" sz="1500" kern="0" spc="-80" dirty="0">
                <a:solidFill>
                  <a:schemeClr val="accent6"/>
                </a:solidFill>
              </a:rPr>
              <a:t>ORB (Oriented FAST and Rotated BRIEF)</a:t>
            </a:r>
          </a:p>
          <a:p>
            <a:pPr marL="12700" marR="5080"/>
            <a:r>
              <a:rPr lang="en-US" sz="1500" kern="0" spc="-80" dirty="0" err="1">
                <a:solidFill>
                  <a:schemeClr val="accent2"/>
                </a:solidFill>
              </a:rPr>
              <a:t>Epipolar</a:t>
            </a:r>
            <a:r>
              <a:rPr lang="en-US" sz="1500" kern="0" spc="-80" dirty="0">
                <a:solidFill>
                  <a:schemeClr val="accent2"/>
                </a:solidFill>
              </a:rPr>
              <a:t> Geometry:</a:t>
            </a:r>
          </a:p>
          <a:p>
            <a:pPr marL="12700" marR="5080"/>
            <a:r>
              <a:rPr lang="en-US" sz="1500" kern="0" spc="-80" dirty="0">
                <a:solidFill>
                  <a:schemeClr val="accent6"/>
                </a:solidFill>
              </a:rPr>
              <a:t>Relationship between two views — governed by Fundamental Matrix (F).</a:t>
            </a:r>
          </a:p>
          <a:p>
            <a:pPr marL="12700" marR="5080"/>
            <a:r>
              <a:rPr lang="en-US" sz="1500" kern="0" spc="-80" dirty="0">
                <a:solidFill>
                  <a:schemeClr val="accent6"/>
                </a:solidFill>
              </a:rPr>
              <a:t>Reduces search space for corresponding points.</a:t>
            </a:r>
          </a:p>
          <a:p>
            <a:pPr marL="12700" marR="5080"/>
            <a:r>
              <a:rPr lang="en-US" sz="1500" kern="0" spc="-80" dirty="0">
                <a:solidFill>
                  <a:schemeClr val="accent2"/>
                </a:solidFill>
              </a:rPr>
              <a:t>Camera Calibration:</a:t>
            </a:r>
          </a:p>
          <a:p>
            <a:pPr marL="12700" marR="5080"/>
            <a:r>
              <a:rPr lang="en-US" sz="1500" kern="0" spc="-80" dirty="0">
                <a:solidFill>
                  <a:schemeClr val="accent6"/>
                </a:solidFill>
              </a:rPr>
              <a:t>Determines intrinsic and extrinsic parameters using Zhang’s calibration method.</a:t>
            </a:r>
          </a:p>
        </p:txBody>
      </p:sp>
    </p:spTree>
    <p:extLst>
      <p:ext uri="{BB962C8B-B14F-4D97-AF65-F5344CB8AC3E}">
        <p14:creationId xmlns:p14="http://schemas.microsoft.com/office/powerpoint/2010/main" val="819143629"/>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ECDEE-0BFE-84B2-3303-B7B380DDE61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540A3BA-3DC5-F1B2-4937-8B143DE30C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2AD537-0463-2D41-F065-1298AF55A8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D147FE-5CC0-72D3-A27E-42B6278EC8E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BBC8BE6-52FF-49BA-E9E6-71F51DA9B0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18394B-78BF-D8D9-DD2C-02B77C4FBF4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4BCFC6-6886-9FC1-388E-F5EFF467D8F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69652A-1B7B-BF1E-7542-35DB1D86C8A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F5864A70-54B9-6FA9-722E-9DFE14986BF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E3694A5-519F-060C-F973-7EF9626BB4A7}"/>
              </a:ext>
            </a:extLst>
          </p:cNvPr>
          <p:cNvSpPr txBox="1">
            <a:spLocks/>
          </p:cNvSpPr>
          <p:nvPr/>
        </p:nvSpPr>
        <p:spPr>
          <a:xfrm>
            <a:off x="228600" y="7620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Bundle Adjustment:</a:t>
            </a:r>
          </a:p>
          <a:p>
            <a:pPr marL="12700" marR="5080"/>
            <a:r>
              <a:rPr lang="en-US" sz="1500" kern="0" spc="-80" dirty="0">
                <a:solidFill>
                  <a:schemeClr val="accent6"/>
                </a:solidFill>
              </a:rPr>
              <a:t>Nonlinear least-squares optimization (typically using Levenberg–Marquardt) minimizing reprojection error.</a:t>
            </a:r>
          </a:p>
          <a:p>
            <a:pPr marL="12700" marR="5080"/>
            <a:r>
              <a:rPr lang="en-US" sz="1500" kern="0" spc="-80" dirty="0">
                <a:solidFill>
                  <a:schemeClr val="accent2"/>
                </a:solidFill>
              </a:rPr>
              <a:t>RANSAC (Random Sample Consensus):</a:t>
            </a:r>
          </a:p>
          <a:p>
            <a:pPr marL="12700" marR="5080"/>
            <a:r>
              <a:rPr lang="en-US" sz="1500" kern="0" spc="-80" dirty="0">
                <a:solidFill>
                  <a:schemeClr val="accent6"/>
                </a:solidFill>
              </a:rPr>
              <a:t>Robust estimation of transformation matrices (e.g., </a:t>
            </a:r>
            <a:r>
              <a:rPr lang="en-US" sz="1500" kern="0" spc="-80" dirty="0" err="1">
                <a:solidFill>
                  <a:schemeClr val="accent6"/>
                </a:solidFill>
              </a:rPr>
              <a:t>homography</a:t>
            </a:r>
            <a:r>
              <a:rPr lang="en-US" sz="1500" kern="0" spc="-80" dirty="0">
                <a:solidFill>
                  <a:schemeClr val="accent6"/>
                </a:solidFill>
              </a:rPr>
              <a:t> or fundamental matrix).</a:t>
            </a:r>
          </a:p>
          <a:p>
            <a:pPr marL="12700" marR="5080"/>
            <a:r>
              <a:rPr lang="en-US" sz="1500" kern="0" spc="-80" dirty="0">
                <a:solidFill>
                  <a:schemeClr val="accent2"/>
                </a:solidFill>
              </a:rPr>
              <a:t>Triangulation Algorithms:</a:t>
            </a:r>
          </a:p>
          <a:p>
            <a:pPr marL="12700" marR="5080"/>
            <a:r>
              <a:rPr lang="en-US" sz="1500" kern="0" spc="-80" dirty="0">
                <a:solidFill>
                  <a:schemeClr val="accent6"/>
                </a:solidFill>
              </a:rPr>
              <a:t>Linear and nonlinear triangulation methods for deriving 3D coordinates from 2D correspondences.</a:t>
            </a:r>
          </a:p>
          <a:p>
            <a:pPr marL="12700" marR="5080"/>
            <a:r>
              <a:rPr lang="en-US" sz="1500" kern="0" spc="-80" dirty="0">
                <a:solidFill>
                  <a:schemeClr val="accent2"/>
                </a:solidFill>
              </a:rPr>
              <a:t>DEM Generation Algorithms:</a:t>
            </a:r>
          </a:p>
          <a:p>
            <a:pPr marL="12700" marR="5080"/>
            <a:r>
              <a:rPr lang="en-US" sz="1500" kern="0" spc="-80" dirty="0">
                <a:solidFill>
                  <a:schemeClr val="accent2"/>
                </a:solidFill>
              </a:rPr>
              <a:t>Interpolation techniques such as:</a:t>
            </a:r>
          </a:p>
          <a:p>
            <a:pPr marL="12700" marR="5080"/>
            <a:r>
              <a:rPr lang="en-US" sz="1500" kern="0" spc="-80" dirty="0">
                <a:solidFill>
                  <a:schemeClr val="accent6"/>
                </a:solidFill>
              </a:rPr>
              <a:t>Inverse Distance Weighting (IDW)</a:t>
            </a:r>
          </a:p>
          <a:p>
            <a:pPr marL="12700" marR="5080"/>
            <a:r>
              <a:rPr lang="en-US" sz="1500" kern="0" spc="-80" dirty="0">
                <a:solidFill>
                  <a:schemeClr val="accent6"/>
                </a:solidFill>
              </a:rPr>
              <a:t>Kriging</a:t>
            </a:r>
          </a:p>
          <a:p>
            <a:pPr marL="12700" marR="5080"/>
            <a:r>
              <a:rPr lang="en-US" sz="1500" kern="0" spc="-80" dirty="0">
                <a:solidFill>
                  <a:schemeClr val="accent6"/>
                </a:solidFill>
              </a:rPr>
              <a:t>TIN (Triangulated Irregular Network) based interpolation</a:t>
            </a:r>
          </a:p>
          <a:p>
            <a:pPr marL="12700" marR="5080"/>
            <a:endParaRPr lang="en-US" sz="1500" kern="0" spc="-80" dirty="0">
              <a:solidFill>
                <a:schemeClr val="accent6"/>
              </a:solidFill>
            </a:endParaRPr>
          </a:p>
          <a:p>
            <a:pPr marL="12700" marR="5080"/>
            <a:r>
              <a:rPr lang="en-US" sz="1500" kern="0" spc="-80" dirty="0">
                <a:solidFill>
                  <a:schemeClr val="accent2"/>
                </a:solidFill>
              </a:rPr>
              <a:t>7.Underlying Mathematics</a:t>
            </a:r>
          </a:p>
          <a:p>
            <a:pPr marL="12700" marR="5080"/>
            <a:r>
              <a:rPr lang="en-US" sz="1500" kern="0" spc="-80" dirty="0">
                <a:solidFill>
                  <a:schemeClr val="accent2"/>
                </a:solidFill>
              </a:rPr>
              <a:t>Projective Geometry:</a:t>
            </a:r>
          </a:p>
          <a:p>
            <a:pPr marL="12700" marR="5080"/>
            <a:r>
              <a:rPr lang="en-US" sz="1500" kern="0" spc="-80" dirty="0">
                <a:solidFill>
                  <a:schemeClr val="accent6"/>
                </a:solidFill>
              </a:rPr>
              <a:t>Foundation of image formation — uses homogeneous coordinates and transformations.</a:t>
            </a:r>
          </a:p>
          <a:p>
            <a:pPr marL="12700" marR="5080"/>
            <a:r>
              <a:rPr lang="en-US" sz="1500" kern="0" spc="-80" dirty="0">
                <a:solidFill>
                  <a:schemeClr val="accent2"/>
                </a:solidFill>
              </a:rPr>
              <a:t>Pinhole Camera Model:</a:t>
            </a:r>
          </a:p>
          <a:p>
            <a:pPr marL="12700" marR="5080"/>
            <a:r>
              <a:rPr lang="en-US" sz="1500" kern="0" spc="-80" dirty="0">
                <a:solidFill>
                  <a:schemeClr val="accent6"/>
                </a:solidFill>
              </a:rPr>
              <a:t>Relates 3D world coordinates (X, Y, Z) to 2D image coordinates (x, y):</a:t>
            </a:r>
          </a:p>
          <a:p>
            <a:pPr marL="12700" marR="5080"/>
            <a:endParaRPr lang="en-US" sz="1500" kern="0" spc="-80" dirty="0">
              <a:solidFill>
                <a:schemeClr val="accent6"/>
              </a:solidFill>
            </a:endParaRPr>
          </a:p>
          <a:p>
            <a:pPr marL="12700" marR="5080"/>
            <a:endParaRPr lang="en-US" sz="1900" kern="0" spc="-80" dirty="0">
              <a:solidFill>
                <a:schemeClr val="accent2"/>
              </a:solidFill>
            </a:endParaRPr>
          </a:p>
        </p:txBody>
      </p:sp>
    </p:spTree>
    <p:extLst>
      <p:ext uri="{BB962C8B-B14F-4D97-AF65-F5344CB8AC3E}">
        <p14:creationId xmlns:p14="http://schemas.microsoft.com/office/powerpoint/2010/main" val="2735923931"/>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2F308-5506-1018-9AAD-20E450972AE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671FED-BA81-ADEE-6C81-36D38384C3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1D5B28A-8C44-F3FF-3103-D84F91F542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02FAF1-155C-3C45-A01D-1F370EC24B9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6EE8FD-933A-E733-9AAD-A76DE1E151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A978DB-44AA-2FE0-E110-D6E07DC2125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1228C6-CA73-A6A9-168E-5C7447248F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4675C3C-A4D6-F5CF-8CC3-56960451586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49383169-24C6-A63E-93AC-34FA4B65E0A8}"/>
              </a:ext>
            </a:extLst>
          </p:cNvPr>
          <p:cNvSpPr txBox="1">
            <a:spLocks/>
          </p:cNvSpPr>
          <p:nvPr/>
        </p:nvSpPr>
        <p:spPr>
          <a:xfrm>
            <a:off x="-1828800" y="72326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EA40231-2EC8-D9CB-3FC2-063A4E7D8E5A}"/>
              </a:ext>
            </a:extLst>
          </p:cNvPr>
          <p:cNvSpPr txBox="1">
            <a:spLocks/>
          </p:cNvSpPr>
          <p:nvPr/>
        </p:nvSpPr>
        <p:spPr>
          <a:xfrm>
            <a:off x="228600" y="762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endParaRPr lang="en-US" sz="1500" kern="0" spc="-80" dirty="0">
              <a:solidFill>
                <a:schemeClr val="accent6"/>
              </a:solidFill>
            </a:endParaRPr>
          </a:p>
          <a:p>
            <a:pPr marL="12700" marR="5080"/>
            <a:endParaRPr lang="en-US" sz="1900" kern="0" spc="-80" dirty="0">
              <a:solidFill>
                <a:schemeClr val="accent2"/>
              </a:solidFill>
            </a:endParaRPr>
          </a:p>
        </p:txBody>
      </p:sp>
      <p:pic>
        <p:nvPicPr>
          <p:cNvPr id="11" name="Picture 10" descr="A mathematical equation with black text&#10;&#10;AI-generated content may be incorrect.">
            <a:extLst>
              <a:ext uri="{FF2B5EF4-FFF2-40B4-BE49-F238E27FC236}">
                <a16:creationId xmlns:a16="http://schemas.microsoft.com/office/drawing/2014/main" id="{0AF68C85-9FBF-8E8F-55E1-8797D3B964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76163" y="1094759"/>
            <a:ext cx="8791673" cy="1022403"/>
          </a:xfrm>
          <a:prstGeom prst="rect">
            <a:avLst/>
          </a:prstGeom>
        </p:spPr>
      </p:pic>
      <p:sp>
        <p:nvSpPr>
          <p:cNvPr id="10" name="object 2">
            <a:extLst>
              <a:ext uri="{FF2B5EF4-FFF2-40B4-BE49-F238E27FC236}">
                <a16:creationId xmlns:a16="http://schemas.microsoft.com/office/drawing/2014/main" id="{F01A0856-2EBD-BA09-8FF6-4D649AE32616}"/>
              </a:ext>
            </a:extLst>
          </p:cNvPr>
          <p:cNvSpPr txBox="1">
            <a:spLocks/>
          </p:cNvSpPr>
          <p:nvPr/>
        </p:nvSpPr>
        <p:spPr>
          <a:xfrm>
            <a:off x="290463" y="2100724"/>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where K is intrinsic matrix, R rotation, t translation.</a:t>
            </a:r>
          </a:p>
          <a:p>
            <a:pPr marL="12700" marR="5080"/>
            <a:r>
              <a:rPr lang="en-US" sz="1500" kern="0" spc="-80" dirty="0">
                <a:solidFill>
                  <a:schemeClr val="accent2"/>
                </a:solidFill>
              </a:rPr>
              <a:t>Collinearity Equations:</a:t>
            </a:r>
          </a:p>
        </p:txBody>
      </p:sp>
      <p:pic>
        <p:nvPicPr>
          <p:cNvPr id="14" name="Picture 13">
            <a:extLst>
              <a:ext uri="{FF2B5EF4-FFF2-40B4-BE49-F238E27FC236}">
                <a16:creationId xmlns:a16="http://schemas.microsoft.com/office/drawing/2014/main" id="{33710E29-C793-1E6E-1096-2542524F3E3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599" y="2604653"/>
            <a:ext cx="8915400" cy="546128"/>
          </a:xfrm>
          <a:prstGeom prst="rect">
            <a:avLst/>
          </a:prstGeom>
        </p:spPr>
      </p:pic>
      <p:sp>
        <p:nvSpPr>
          <p:cNvPr id="15" name="object 2">
            <a:extLst>
              <a:ext uri="{FF2B5EF4-FFF2-40B4-BE49-F238E27FC236}">
                <a16:creationId xmlns:a16="http://schemas.microsoft.com/office/drawing/2014/main" id="{C5F78D07-5A4E-7B0E-1770-37FFCD473842}"/>
              </a:ext>
            </a:extLst>
          </p:cNvPr>
          <p:cNvSpPr txBox="1">
            <a:spLocks/>
          </p:cNvSpPr>
          <p:nvPr/>
        </p:nvSpPr>
        <p:spPr>
          <a:xfrm>
            <a:off x="304800" y="3195935"/>
            <a:ext cx="8624937" cy="27699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(and similarly for y).</a:t>
            </a:r>
          </a:p>
          <a:p>
            <a:pPr marL="12700" marR="5080"/>
            <a:r>
              <a:rPr lang="en-US" sz="1500" kern="0" spc="-80" dirty="0">
                <a:solidFill>
                  <a:schemeClr val="accent2"/>
                </a:solidFill>
              </a:rPr>
              <a:t>Least Squares Adjustment:</a:t>
            </a:r>
          </a:p>
          <a:p>
            <a:pPr marL="12700" marR="5080"/>
            <a:r>
              <a:rPr lang="en-US" sz="1500" kern="0" spc="-80" dirty="0">
                <a:solidFill>
                  <a:schemeClr val="accent6"/>
                </a:solidFill>
              </a:rPr>
              <a:t>Used in bundle adjustment and triangulation to minimize total error.</a:t>
            </a:r>
          </a:p>
          <a:p>
            <a:pPr marL="12700" marR="5080"/>
            <a:r>
              <a:rPr lang="en-US" sz="1500" kern="0" spc="-80" dirty="0">
                <a:solidFill>
                  <a:schemeClr val="accent2"/>
                </a:solidFill>
              </a:rPr>
              <a:t>Matrix Transformations:</a:t>
            </a:r>
          </a:p>
          <a:p>
            <a:pPr marL="12700" marR="5080"/>
            <a:r>
              <a:rPr lang="en-US" sz="1500" kern="0" spc="-80" dirty="0">
                <a:solidFill>
                  <a:schemeClr val="accent6"/>
                </a:solidFill>
              </a:rPr>
              <a:t>Rotation matrices, translation vectors, scaling matrices for coordinate transformations.</a:t>
            </a:r>
          </a:p>
          <a:p>
            <a:pPr marL="12700" marR="5080"/>
            <a:r>
              <a:rPr lang="en-US" sz="1500" kern="0" spc="-80" dirty="0">
                <a:solidFill>
                  <a:schemeClr val="accent2"/>
                </a:solidFill>
              </a:rPr>
              <a:t>Error Propagation &amp; Uncertainty:</a:t>
            </a:r>
          </a:p>
          <a:p>
            <a:pPr marL="12700" marR="5080"/>
            <a:r>
              <a:rPr lang="en-US" sz="1500" kern="0" spc="-80" dirty="0">
                <a:solidFill>
                  <a:schemeClr val="accent6"/>
                </a:solidFill>
              </a:rPr>
              <a:t>Estimating variance-covariance of measured points for accuracy assessment.</a:t>
            </a:r>
          </a:p>
          <a:p>
            <a:pPr marL="12700" marR="5080"/>
            <a:endParaRPr lang="en-US" sz="1500" kern="0" spc="-80" dirty="0">
              <a:solidFill>
                <a:schemeClr val="accent6"/>
              </a:solidFill>
            </a:endParaRPr>
          </a:p>
          <a:p>
            <a:pPr marL="12700" marR="5080"/>
            <a:r>
              <a:rPr lang="en-US" sz="1500" kern="0" spc="-80" dirty="0">
                <a:solidFill>
                  <a:schemeClr val="accent2"/>
                </a:solidFill>
              </a:rPr>
              <a:t>8. Outputs</a:t>
            </a:r>
          </a:p>
          <a:p>
            <a:pPr marL="12700" marR="5080"/>
            <a:r>
              <a:rPr lang="en-US" sz="1500" kern="0" spc="-80" dirty="0">
                <a:solidFill>
                  <a:schemeClr val="accent6"/>
                </a:solidFill>
              </a:rPr>
              <a:t>Orthophotos</a:t>
            </a:r>
          </a:p>
          <a:p>
            <a:pPr marL="12700" marR="5080"/>
            <a:r>
              <a:rPr lang="en-US" sz="1500" kern="0" spc="-80" dirty="0">
                <a:solidFill>
                  <a:schemeClr val="accent6"/>
                </a:solidFill>
              </a:rPr>
              <a:t>3D point clouds</a:t>
            </a:r>
          </a:p>
          <a:p>
            <a:pPr marL="12700" marR="5080"/>
            <a:r>
              <a:rPr lang="en-US" sz="1500" kern="0" spc="-80" dirty="0">
                <a:solidFill>
                  <a:schemeClr val="accent6"/>
                </a:solidFill>
              </a:rPr>
              <a:t>Digital Terrain Models</a:t>
            </a:r>
          </a:p>
        </p:txBody>
      </p:sp>
    </p:spTree>
    <p:extLst>
      <p:ext uri="{BB962C8B-B14F-4D97-AF65-F5344CB8AC3E}">
        <p14:creationId xmlns:p14="http://schemas.microsoft.com/office/powerpoint/2010/main" val="1373501"/>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C408C-4D05-9A85-CA09-159A4841CE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0250BC-FF44-33B5-8295-0014DB6228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B416E9-D6E0-F1A0-394C-6D37DFE8275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433BCE-2615-581A-403C-A1FCED324F5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E9E1EE-03F4-7442-42EA-DBC04AE3576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E609BAD-393F-05EC-A4B5-8B6F679AD99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F369C86-EF15-497E-7BF4-9AE4DE0BB66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0CC2A3-0F1F-8628-009D-7C6273D50E7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1C08C4ED-D971-D0D6-56FB-64E093DB22BE}"/>
              </a:ext>
            </a:extLst>
          </p:cNvPr>
          <p:cNvSpPr txBox="1">
            <a:spLocks/>
          </p:cNvSpPr>
          <p:nvPr/>
        </p:nvSpPr>
        <p:spPr>
          <a:xfrm>
            <a:off x="-1828800" y="72326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EA92C32-242D-D948-C3EA-B4FADEDDB0EE}"/>
              </a:ext>
            </a:extLst>
          </p:cNvPr>
          <p:cNvSpPr txBox="1">
            <a:spLocks/>
          </p:cNvSpPr>
          <p:nvPr/>
        </p:nvSpPr>
        <p:spPr>
          <a:xfrm>
            <a:off x="228600" y="7620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6"/>
                </a:solidFill>
              </a:rPr>
              <a:t>Contour maps</a:t>
            </a:r>
          </a:p>
          <a:p>
            <a:pPr marL="12700" marR="5080"/>
            <a:r>
              <a:rPr lang="en-US" sz="1500" kern="0" spc="-80" dirty="0">
                <a:solidFill>
                  <a:schemeClr val="accent6"/>
                </a:solidFill>
              </a:rPr>
              <a:t>3D textured meshes</a:t>
            </a:r>
          </a:p>
          <a:p>
            <a:pPr marL="12700" marR="5080"/>
            <a:r>
              <a:rPr lang="en-US" sz="1500" kern="0" spc="-80" dirty="0">
                <a:solidFill>
                  <a:schemeClr val="accent6"/>
                </a:solidFill>
              </a:rPr>
              <a:t>Vector data (buildings, roads, etc.)</a:t>
            </a:r>
          </a:p>
          <a:p>
            <a:pPr marL="12700" marR="5080"/>
            <a:endParaRPr lang="en-US" sz="1500" kern="0" spc="-80" dirty="0">
              <a:solidFill>
                <a:schemeClr val="accent6"/>
              </a:solidFill>
            </a:endParaRPr>
          </a:p>
          <a:p>
            <a:pPr marL="12700" marR="5080"/>
            <a:r>
              <a:rPr lang="en-US" sz="1500" kern="0" spc="-80" dirty="0">
                <a:solidFill>
                  <a:schemeClr val="accent2"/>
                </a:solidFill>
              </a:rPr>
              <a:t>9. Applications</a:t>
            </a:r>
          </a:p>
          <a:p>
            <a:pPr marL="12700" marR="5080"/>
            <a:r>
              <a:rPr lang="en-US" sz="1500" kern="0" spc="-80" dirty="0">
                <a:solidFill>
                  <a:schemeClr val="accent6"/>
                </a:solidFill>
              </a:rPr>
              <a:t>Surveying &amp; Mapping</a:t>
            </a:r>
          </a:p>
          <a:p>
            <a:pPr marL="12700" marR="5080"/>
            <a:r>
              <a:rPr lang="en-US" sz="1500" kern="0" spc="-80" dirty="0">
                <a:solidFill>
                  <a:schemeClr val="accent6"/>
                </a:solidFill>
              </a:rPr>
              <a:t>Architecture &amp; Archaeology</a:t>
            </a:r>
          </a:p>
          <a:p>
            <a:pPr marL="12700" marR="5080"/>
            <a:r>
              <a:rPr lang="en-US" sz="1500" kern="0" spc="-80" dirty="0">
                <a:solidFill>
                  <a:schemeClr val="accent6"/>
                </a:solidFill>
              </a:rPr>
              <a:t>Civil Engineering &amp; Construction</a:t>
            </a:r>
          </a:p>
          <a:p>
            <a:pPr marL="12700" marR="5080"/>
            <a:r>
              <a:rPr lang="en-US" sz="1500" kern="0" spc="-80" dirty="0">
                <a:solidFill>
                  <a:schemeClr val="accent6"/>
                </a:solidFill>
              </a:rPr>
              <a:t>Forestry &amp; Agriculture</a:t>
            </a:r>
          </a:p>
          <a:p>
            <a:pPr marL="12700" marR="5080"/>
            <a:r>
              <a:rPr lang="en-US" sz="1500" kern="0" spc="-80" dirty="0">
                <a:solidFill>
                  <a:schemeClr val="accent6"/>
                </a:solidFill>
              </a:rPr>
              <a:t>Environmental Monitoring</a:t>
            </a:r>
          </a:p>
          <a:p>
            <a:pPr marL="12700" marR="5080"/>
            <a:r>
              <a:rPr lang="en-US" sz="1500" kern="0" spc="-80" dirty="0">
                <a:solidFill>
                  <a:schemeClr val="accent6"/>
                </a:solidFill>
              </a:rPr>
              <a:t>Disaster Management</a:t>
            </a:r>
          </a:p>
          <a:p>
            <a:pPr marL="12700" marR="5080"/>
            <a:r>
              <a:rPr lang="en-US" sz="1500" kern="0" spc="-80" dirty="0">
                <a:solidFill>
                  <a:schemeClr val="accent6"/>
                </a:solidFill>
              </a:rPr>
              <a:t>Remote Sensing</a:t>
            </a:r>
          </a:p>
          <a:p>
            <a:pPr marL="12700" marR="5080"/>
            <a:r>
              <a:rPr lang="en-US" sz="1500" kern="0" spc="-80" dirty="0">
                <a:solidFill>
                  <a:schemeClr val="accent6"/>
                </a:solidFill>
              </a:rPr>
              <a:t>Smart Cities &amp; Urban Planning. </a:t>
            </a:r>
          </a:p>
          <a:p>
            <a:pPr marL="12700" marR="5080"/>
            <a:endParaRPr lang="en-US" sz="1500" kern="0" spc="-80" dirty="0">
              <a:solidFill>
                <a:schemeClr val="accent6"/>
              </a:solidFill>
            </a:endParaRPr>
          </a:p>
          <a:p>
            <a:pPr marL="12700" marR="5080"/>
            <a:r>
              <a:rPr lang="en-US" sz="1800" kern="0" spc="-80" dirty="0">
                <a:solidFill>
                  <a:schemeClr val="accent2"/>
                </a:solidFill>
              </a:rPr>
              <a:t>For Further Exploration</a:t>
            </a:r>
          </a:p>
          <a:p>
            <a:pPr marL="12700" marR="5080"/>
            <a:r>
              <a:rPr lang="en-US" sz="1800" dirty="0">
                <a:hlinkClick r:id="rId7"/>
              </a:rPr>
              <a:t>Methods of data capture for high resolution mapping using photogrammetry</a:t>
            </a:r>
            <a:endParaRPr lang="en-US" sz="1800" dirty="0"/>
          </a:p>
          <a:p>
            <a:pPr marL="12700" marR="5080"/>
            <a:r>
              <a:rPr lang="en-IN" sz="1800" dirty="0">
                <a:hlinkClick r:id="rId8"/>
              </a:rPr>
              <a:t>Photogrammetry I &amp; II</a:t>
            </a:r>
            <a:endParaRPr lang="en-IN" sz="1800" dirty="0"/>
          </a:p>
          <a:p>
            <a:pPr marL="12700" marR="5080"/>
            <a:r>
              <a:rPr lang="en-IN" sz="1800" dirty="0" err="1">
                <a:hlinkClick r:id="rId9"/>
              </a:rPr>
              <a:t>Principles_of_Photogrammetry</a:t>
            </a:r>
            <a:endParaRPr lang="en-IN" sz="1800" dirty="0"/>
          </a:p>
          <a:p>
            <a:pPr marL="12700" marR="5080"/>
            <a:r>
              <a:rPr lang="en-IN" sz="1800" dirty="0">
                <a:hlinkClick r:id="rId10"/>
              </a:rPr>
              <a:t>Maths-of-Photogrammetry</a:t>
            </a:r>
            <a:endParaRPr lang="en-IN" sz="1800" dirty="0"/>
          </a:p>
          <a:p>
            <a:pPr marL="12700" marR="5080"/>
            <a:endParaRPr lang="en-US" sz="1900" kern="0" spc="-80" dirty="0">
              <a:solidFill>
                <a:schemeClr val="accent2"/>
              </a:solidFill>
            </a:endParaRPr>
          </a:p>
        </p:txBody>
      </p:sp>
    </p:spTree>
    <p:extLst>
      <p:ext uri="{BB962C8B-B14F-4D97-AF65-F5344CB8AC3E}">
        <p14:creationId xmlns:p14="http://schemas.microsoft.com/office/powerpoint/2010/main" val="137146610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177B4-9558-C6DC-DEA8-94026C669A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2835B7-2159-048C-3D4C-867B1D32BF0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500911-1E5D-F8FA-1B7B-CED4F0B9CC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A11DBD-3986-07AC-3CD4-2400D6E6BBC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E5FB4C-72E4-8771-5C8C-0D2C053D7C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3A9A872-4797-F7D5-3258-0FD1FE70F28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38D2BB-886A-76A4-7123-7F15020C6C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0E9F44-31F8-38AB-9D46-14C48A5F4D6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CEA1C1-13B4-2F4D-1F3D-3463FA9E100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4B0D0EA-ADAE-3B5B-D2E2-2C46122E49B1}"/>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1. What GIS Actually Does</a:t>
            </a:r>
          </a:p>
          <a:p>
            <a:pPr marL="355600" marR="5080" indent="-342900">
              <a:buAutoNum type="alphaUcPeriod"/>
            </a:pPr>
            <a:r>
              <a:rPr lang="en-US" sz="1500" kern="0" spc="-80" dirty="0">
                <a:solidFill>
                  <a:schemeClr val="accent2"/>
                </a:solidFill>
              </a:rPr>
              <a:t>Based on Data Structure</a:t>
            </a:r>
          </a:p>
          <a:p>
            <a:pPr marL="12700" marR="5080"/>
            <a:r>
              <a:rPr lang="en-US" sz="1500" kern="0" spc="-80" dirty="0">
                <a:solidFill>
                  <a:schemeClr val="accent2"/>
                </a:solidFill>
              </a:rPr>
              <a:t>GIS is essentially mathematics + geography + computers that answer spatial questions like: </a:t>
            </a:r>
            <a:r>
              <a:rPr lang="en-US" sz="1500" kern="0" spc="-80" dirty="0">
                <a:solidFill>
                  <a:schemeClr val="accent6"/>
                </a:solidFill>
              </a:rPr>
              <a:t>Where is something? </a:t>
            </a:r>
          </a:p>
          <a:p>
            <a:pPr marL="12700" marR="5080"/>
            <a:r>
              <a:rPr lang="en-US" sz="1500" kern="0" spc="-80" dirty="0">
                <a:solidFill>
                  <a:schemeClr val="accent6"/>
                </a:solidFill>
              </a:rPr>
              <a:t>What is near it?</a:t>
            </a:r>
          </a:p>
          <a:p>
            <a:pPr marL="12700" marR="5080"/>
            <a:r>
              <a:rPr lang="en-US" sz="1500" kern="0" spc="-80" dirty="0">
                <a:solidFill>
                  <a:schemeClr val="accent6"/>
                </a:solidFill>
              </a:rPr>
              <a:t>How far is it? </a:t>
            </a:r>
          </a:p>
          <a:p>
            <a:pPr marL="12700" marR="5080"/>
            <a:r>
              <a:rPr lang="en-US" sz="1500" kern="0" spc="-80" dirty="0">
                <a:solidFill>
                  <a:schemeClr val="accent6"/>
                </a:solidFill>
              </a:rPr>
              <a:t>How does it relate to other things? </a:t>
            </a:r>
          </a:p>
          <a:p>
            <a:pPr marL="12700" marR="5080"/>
            <a:r>
              <a:rPr lang="en-US" sz="1500" kern="0" spc="-80" dirty="0">
                <a:solidFill>
                  <a:schemeClr val="accent6"/>
                </a:solidFill>
              </a:rPr>
              <a:t>How has it changed over time? </a:t>
            </a:r>
          </a:p>
          <a:p>
            <a:pPr marL="12700" marR="5080"/>
            <a:endParaRPr lang="en-US" sz="1500" kern="0" spc="-80" dirty="0">
              <a:solidFill>
                <a:schemeClr val="accent6"/>
              </a:solidFill>
            </a:endParaRPr>
          </a:p>
          <a:p>
            <a:pPr marL="12700" marR="5080"/>
            <a:r>
              <a:rPr lang="en-US" sz="1500" kern="0" spc="-80" dirty="0">
                <a:solidFill>
                  <a:schemeClr val="accent2"/>
                </a:solidFill>
              </a:rPr>
              <a:t>Think of GIS as a canvas that can hold Reality, layered into data. </a:t>
            </a:r>
          </a:p>
          <a:p>
            <a:pPr marL="12700" marR="5080"/>
            <a:endParaRPr lang="en-US" sz="1500" kern="0" spc="-80" dirty="0">
              <a:solidFill>
                <a:schemeClr val="accent6"/>
              </a:solidFill>
            </a:endParaRPr>
          </a:p>
          <a:p>
            <a:pPr marL="12700" marR="5080"/>
            <a:r>
              <a:rPr lang="en-US" sz="1500" kern="0" spc="-80" dirty="0">
                <a:solidFill>
                  <a:schemeClr val="accent2"/>
                </a:solidFill>
              </a:rPr>
              <a:t>Imagine stacking transparent layers: </a:t>
            </a:r>
          </a:p>
          <a:p>
            <a:pPr marL="12700" marR="5080"/>
            <a:r>
              <a:rPr lang="en-US" sz="1500" kern="0" spc="-80" dirty="0">
                <a:solidFill>
                  <a:schemeClr val="accent6"/>
                </a:solidFill>
              </a:rPr>
              <a:t>🏞 Terrain</a:t>
            </a:r>
          </a:p>
          <a:p>
            <a:pPr marL="12700" marR="5080"/>
            <a:r>
              <a:rPr lang="en-US" sz="1500" kern="0" spc="-80" dirty="0">
                <a:solidFill>
                  <a:schemeClr val="accent6"/>
                </a:solidFill>
              </a:rPr>
              <a:t>🌆 Buildings </a:t>
            </a:r>
          </a:p>
          <a:p>
            <a:pPr marL="12700" marR="5080"/>
            <a:r>
              <a:rPr lang="en-US" sz="1500" kern="0" spc="-80" dirty="0">
                <a:solidFill>
                  <a:schemeClr val="accent6"/>
                </a:solidFill>
              </a:rPr>
              <a:t>🛣 Roads </a:t>
            </a:r>
          </a:p>
          <a:p>
            <a:pPr marL="12700" marR="5080"/>
            <a:r>
              <a:rPr lang="en-US" sz="1500" kern="0" spc="-80" dirty="0">
                <a:solidFill>
                  <a:schemeClr val="accent6"/>
                </a:solidFill>
              </a:rPr>
              <a:t>🚏 Bus stops </a:t>
            </a:r>
          </a:p>
          <a:p>
            <a:pPr marL="12700" marR="5080"/>
            <a:r>
              <a:rPr lang="en-US" sz="1500" kern="0" spc="-80" dirty="0">
                <a:solidFill>
                  <a:schemeClr val="accent6"/>
                </a:solidFill>
              </a:rPr>
              <a:t>💧 Water bodies </a:t>
            </a:r>
          </a:p>
          <a:p>
            <a:pPr marL="12700" marR="5080"/>
            <a:r>
              <a:rPr lang="en-US" sz="1500" kern="0" spc="-80" dirty="0">
                <a:solidFill>
                  <a:schemeClr val="accent6"/>
                </a:solidFill>
              </a:rPr>
              <a:t>🌧 Rainfall patterns </a:t>
            </a:r>
          </a:p>
          <a:p>
            <a:pPr marL="12700" marR="5080"/>
            <a:r>
              <a:rPr lang="en-US" sz="1500" kern="0" spc="-80" dirty="0">
                <a:solidFill>
                  <a:schemeClr val="accent6"/>
                </a:solidFill>
              </a:rPr>
              <a:t>👥 Population density </a:t>
            </a:r>
          </a:p>
          <a:p>
            <a:pPr marL="12700" marR="5080"/>
            <a:r>
              <a:rPr lang="en-US" sz="1500" kern="0" spc="-80" dirty="0">
                <a:solidFill>
                  <a:schemeClr val="accent2"/>
                </a:solidFill>
              </a:rPr>
              <a:t>And then asking questions across these layers.</a:t>
            </a:r>
          </a:p>
        </p:txBody>
      </p:sp>
    </p:spTree>
    <p:extLst>
      <p:ext uri="{BB962C8B-B14F-4D97-AF65-F5344CB8AC3E}">
        <p14:creationId xmlns:p14="http://schemas.microsoft.com/office/powerpoint/2010/main" val="67750316"/>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D44BA-78CC-2606-D78F-0FD492B5DA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64F1C1-4D05-141A-08AD-DF0D2CBE40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7CD7A8-D1CC-DD32-B67E-A2CF2A0AAF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37AFC7-E8D9-9059-2427-AD55CD58E4F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7B952B-A6CA-420D-EB11-75947BD48F4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8408A7-741F-B894-AC97-C248AF9C3F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DCC237-CFC7-1A1B-FDDF-5623FC5C1FC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E70AB0-9B66-7A75-F1F7-77CF27E983D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5DCF00F-EC1B-39E7-9534-FCBBF54D732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0674F67-E6A8-5F48-6ECD-9A69BE8F0456}"/>
              </a:ext>
            </a:extLst>
          </p:cNvPr>
          <p:cNvSpPr txBox="1">
            <a:spLocks/>
          </p:cNvSpPr>
          <p:nvPr/>
        </p:nvSpPr>
        <p:spPr>
          <a:xfrm>
            <a:off x="228600" y="762000"/>
            <a:ext cx="8624937" cy="929485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355600" marR="5080" indent="-342900">
              <a:buAutoNum type="alphaUcPeriod"/>
            </a:pPr>
            <a:r>
              <a:rPr lang="en-US" sz="1500" kern="0" spc="-80" dirty="0">
                <a:solidFill>
                  <a:schemeClr val="accent2"/>
                </a:solidFill>
              </a:rPr>
              <a:t>Based on Data Structure</a:t>
            </a:r>
          </a:p>
          <a:p>
            <a:pPr marL="355600" marR="5080" indent="-342900">
              <a:buAutoNum type="alphaUcPeriod"/>
            </a:pPr>
            <a:endParaRPr lang="en-US" sz="1500" kern="0" spc="-80" dirty="0">
              <a:solidFill>
                <a:schemeClr val="accent2"/>
              </a:solidFill>
            </a:endParaRPr>
          </a:p>
          <a:p>
            <a:pPr marL="12700" marR="5080"/>
            <a:r>
              <a:rPr lang="en-US" sz="1500" kern="0" spc="-80" dirty="0">
                <a:solidFill>
                  <a:schemeClr val="accent2"/>
                </a:solidFill>
              </a:rPr>
              <a:t>Vector Data</a:t>
            </a:r>
          </a:p>
          <a:p>
            <a:pPr marL="12700" marR="5080"/>
            <a:r>
              <a:rPr lang="en-US" sz="1500" kern="0" spc="-80" dirty="0">
                <a:solidFill>
                  <a:schemeClr val="accent6"/>
                </a:solidFill>
              </a:rPr>
              <a:t>Represents features as discrete geometric shapes: points, lines, and polygons.</a:t>
            </a:r>
          </a:p>
          <a:p>
            <a:pPr marL="12700" marR="5080"/>
            <a:r>
              <a:rPr lang="en-US" sz="1500" kern="0" spc="-80" dirty="0">
                <a:solidFill>
                  <a:schemeClr val="accent2"/>
                </a:solidFill>
              </a:rPr>
              <a:t>Points:</a:t>
            </a:r>
            <a:r>
              <a:rPr lang="en-US" sz="1500" kern="0" spc="-80" dirty="0">
                <a:solidFill>
                  <a:schemeClr val="accent6"/>
                </a:solidFill>
              </a:rPr>
              <a:t> Represent a specific location (e.g., a well, bus stop).</a:t>
            </a:r>
          </a:p>
          <a:p>
            <a:pPr marL="12700" marR="5080"/>
            <a:r>
              <a:rPr lang="en-US" sz="1500" kern="0" spc="-80" dirty="0">
                <a:solidFill>
                  <a:schemeClr val="accent2"/>
                </a:solidFill>
              </a:rPr>
              <a:t>Lines: </a:t>
            </a:r>
            <a:r>
              <a:rPr lang="en-US" sz="1500" kern="0" spc="-80" dirty="0">
                <a:solidFill>
                  <a:schemeClr val="accent6"/>
                </a:solidFill>
              </a:rPr>
              <a:t>Represent linear features (e.g., rivers, roads, pipelines).</a:t>
            </a:r>
          </a:p>
          <a:p>
            <a:pPr marL="12700" marR="5080"/>
            <a:r>
              <a:rPr lang="en-US" sz="1500" kern="0" spc="-80" dirty="0">
                <a:solidFill>
                  <a:schemeClr val="accent2"/>
                </a:solidFill>
              </a:rPr>
              <a:t>Polygons:</a:t>
            </a:r>
            <a:r>
              <a:rPr lang="en-US" sz="1500" kern="0" spc="-80" dirty="0">
                <a:solidFill>
                  <a:schemeClr val="accent6"/>
                </a:solidFill>
              </a:rPr>
              <a:t> Represent areas (e.g., lakes, parks, administrative boundaries).</a:t>
            </a:r>
          </a:p>
          <a:p>
            <a:pPr marL="12700" marR="5080"/>
            <a:r>
              <a:rPr lang="en-US" sz="1500" kern="0" spc="-80" dirty="0">
                <a:solidFill>
                  <a:schemeClr val="accent2"/>
                </a:solidFill>
              </a:rPr>
              <a:t>Advantages: </a:t>
            </a:r>
            <a:r>
              <a:rPr lang="en-US" sz="1500" kern="0" spc="-80" dirty="0">
                <a:solidFill>
                  <a:schemeClr val="accent6"/>
                </a:solidFill>
              </a:rPr>
              <a:t>Precise, compact, good for networks.</a:t>
            </a:r>
          </a:p>
          <a:p>
            <a:pPr marL="12700" marR="5080"/>
            <a:r>
              <a:rPr lang="en-US" sz="1500" kern="0" spc="-80" dirty="0">
                <a:solidFill>
                  <a:schemeClr val="accent2"/>
                </a:solidFill>
              </a:rPr>
              <a:t>Disadvantages:</a:t>
            </a:r>
            <a:r>
              <a:rPr lang="en-US" sz="1500" kern="0" spc="-80" dirty="0">
                <a:solidFill>
                  <a:schemeClr val="accent6"/>
                </a:solidFill>
              </a:rPr>
              <a:t> Complex to model continuous phenomena (e.g., elevation, temperature).</a:t>
            </a:r>
          </a:p>
          <a:p>
            <a:pPr marL="12700" marR="5080"/>
            <a:endParaRPr lang="en-US" sz="1500" kern="0" spc="-80" dirty="0">
              <a:solidFill>
                <a:schemeClr val="accent6"/>
              </a:solidFill>
            </a:endParaRPr>
          </a:p>
          <a:p>
            <a:pPr marL="12700" marR="5080"/>
            <a:r>
              <a:rPr lang="en-US" sz="1500" kern="0" spc="-80" dirty="0">
                <a:solidFill>
                  <a:schemeClr val="accent2"/>
                </a:solidFill>
              </a:rPr>
              <a:t>Raster Data</a:t>
            </a:r>
          </a:p>
          <a:p>
            <a:pPr marL="12700" marR="5080"/>
            <a:r>
              <a:rPr lang="en-US" sz="1500" kern="0" spc="-80" dirty="0">
                <a:solidFill>
                  <a:schemeClr val="accent6"/>
                </a:solidFill>
              </a:rPr>
              <a:t>Represents data as a grid of cells (pixels), where each cell has a value.</a:t>
            </a:r>
          </a:p>
          <a:p>
            <a:pPr marL="12700" marR="5080"/>
            <a:r>
              <a:rPr lang="en-US" sz="1500" kern="0" spc="-80" dirty="0">
                <a:solidFill>
                  <a:schemeClr val="accent2"/>
                </a:solidFill>
              </a:rPr>
              <a:t>Examples: </a:t>
            </a:r>
            <a:r>
              <a:rPr lang="en-US" sz="1500" kern="0" spc="-80" dirty="0">
                <a:solidFill>
                  <a:schemeClr val="accent6"/>
                </a:solidFill>
              </a:rPr>
              <a:t>Satellite imagery, aerial photos, DEM (Digital Elevation Model).</a:t>
            </a:r>
          </a:p>
          <a:p>
            <a:pPr marL="12700" marR="5080"/>
            <a:r>
              <a:rPr lang="en-US" sz="1500" kern="0" spc="-80" dirty="0">
                <a:solidFill>
                  <a:schemeClr val="accent2"/>
                </a:solidFill>
              </a:rPr>
              <a:t>Advantages: </a:t>
            </a:r>
            <a:r>
              <a:rPr lang="en-US" sz="1500" kern="0" spc="-80" dirty="0">
                <a:solidFill>
                  <a:schemeClr val="accent6"/>
                </a:solidFill>
              </a:rPr>
              <a:t>Good for continuous phenomena, easy for image processing.</a:t>
            </a:r>
          </a:p>
          <a:p>
            <a:pPr marL="12700" marR="5080"/>
            <a:r>
              <a:rPr lang="en-US" sz="1500" kern="0" spc="-80" dirty="0">
                <a:solidFill>
                  <a:schemeClr val="accent2"/>
                </a:solidFill>
              </a:rPr>
              <a:t>Disadvantages: </a:t>
            </a:r>
            <a:r>
              <a:rPr lang="en-US" sz="1500" kern="0" spc="-80" dirty="0">
                <a:solidFill>
                  <a:schemeClr val="accent6"/>
                </a:solidFill>
              </a:rPr>
              <a:t>Large storage, lower precision for discrete objects.</a:t>
            </a:r>
          </a:p>
          <a:p>
            <a:pPr marL="12700" marR="5080"/>
            <a:endParaRPr lang="en-US" sz="1500" kern="0" spc="-80" dirty="0">
              <a:solidFill>
                <a:schemeClr val="accent6"/>
              </a:solidFill>
            </a:endParaRPr>
          </a:p>
          <a:p>
            <a:pPr marL="12700" marR="5080"/>
            <a:r>
              <a:rPr lang="en-US" sz="1500" kern="0" spc="-80" dirty="0">
                <a:solidFill>
                  <a:schemeClr val="accent2"/>
                </a:solidFill>
              </a:rPr>
              <a:t>B. Based on Nature</a:t>
            </a:r>
          </a:p>
          <a:p>
            <a:pPr marL="12700" marR="5080"/>
            <a:r>
              <a:rPr lang="en-US" sz="1500" kern="0" spc="-80" dirty="0">
                <a:solidFill>
                  <a:schemeClr val="accent2"/>
                </a:solidFill>
              </a:rPr>
              <a:t>Spatial Data (Geometric)</a:t>
            </a:r>
          </a:p>
          <a:p>
            <a:pPr marL="12700" marR="5080"/>
            <a:r>
              <a:rPr lang="en-US" sz="1500" kern="0" spc="-80" dirty="0">
                <a:solidFill>
                  <a:schemeClr val="accent6"/>
                </a:solidFill>
              </a:rPr>
              <a:t>Represents where features exist in space (coordinates, shapes).</a:t>
            </a:r>
          </a:p>
          <a:p>
            <a:pPr marL="12700" marR="5080"/>
            <a:r>
              <a:rPr lang="en-US" sz="1500" kern="0" spc="-80" dirty="0">
                <a:solidFill>
                  <a:schemeClr val="accent2"/>
                </a:solidFill>
              </a:rPr>
              <a:t>Example: </a:t>
            </a:r>
            <a:r>
              <a:rPr lang="en-US" sz="1500" kern="0" spc="-80" dirty="0">
                <a:solidFill>
                  <a:schemeClr val="accent6"/>
                </a:solidFill>
              </a:rPr>
              <a:t>Latitude/Longitude of cities, river paths.</a:t>
            </a:r>
          </a:p>
          <a:p>
            <a:pPr marL="12700" marR="5080"/>
            <a:endParaRPr lang="en-US" sz="1500" kern="0" spc="-80" dirty="0">
              <a:solidFill>
                <a:schemeClr val="accent6"/>
              </a:solidFill>
            </a:endParaRPr>
          </a:p>
          <a:p>
            <a:pPr marL="12700" marR="5080"/>
            <a:r>
              <a:rPr lang="en-US" sz="1500" kern="0" spc="-80" dirty="0">
                <a:solidFill>
                  <a:schemeClr val="accent6"/>
                </a:solidFill>
              </a:rPr>
              <a:t>Attribute Data (Descriptive)</a:t>
            </a:r>
          </a:p>
          <a:p>
            <a:pPr marL="12700" marR="5080"/>
            <a:r>
              <a:rPr lang="en-US" sz="1500" kern="0" spc="-80" dirty="0">
                <a:solidFill>
                  <a:schemeClr val="accent6"/>
                </a:solidFill>
              </a:rPr>
              <a:t>Provides information about features.</a:t>
            </a:r>
          </a:p>
          <a:p>
            <a:pPr marL="12700" marR="5080"/>
            <a:r>
              <a:rPr lang="en-US" sz="1500" kern="0" spc="-80" dirty="0">
                <a:solidFill>
                  <a:schemeClr val="accent6"/>
                </a:solidFill>
              </a:rPr>
              <a:t>Example: City population, road type, soil type.</a:t>
            </a:r>
          </a:p>
          <a:p>
            <a:pPr marL="12700" marR="5080"/>
            <a:r>
              <a:rPr lang="en-US" sz="1500" kern="0" spc="-80" dirty="0">
                <a:solidFill>
                  <a:schemeClr val="accent6"/>
                </a:solidFill>
              </a:rPr>
              <a:t>C. Based on Time</a:t>
            </a:r>
          </a:p>
          <a:p>
            <a:pPr marL="12700" marR="5080"/>
            <a:r>
              <a:rPr lang="en-US" sz="1500" kern="0" spc="-80" dirty="0">
                <a:solidFill>
                  <a:schemeClr val="accent6"/>
                </a:solidFill>
              </a:rPr>
              <a:t>Static GIS Data</a:t>
            </a:r>
          </a:p>
          <a:p>
            <a:pPr marL="12700" marR="5080"/>
            <a:r>
              <a:rPr lang="en-US" sz="1500" kern="0" spc="-80" dirty="0">
                <a:solidFill>
                  <a:schemeClr val="accent6"/>
                </a:solidFill>
              </a:rPr>
              <a:t>Captures information at a specific point in time.</a:t>
            </a:r>
          </a:p>
          <a:p>
            <a:pPr marL="12700" marR="5080"/>
            <a:r>
              <a:rPr lang="en-US" sz="1500" kern="0" spc="-80" dirty="0">
                <a:solidFill>
                  <a:schemeClr val="accent6"/>
                </a:solidFill>
              </a:rPr>
              <a:t>Example: Census data, land use maps.</a:t>
            </a:r>
          </a:p>
          <a:p>
            <a:pPr marL="12700" marR="5080"/>
            <a:r>
              <a:rPr lang="en-US" sz="1500" kern="0" spc="-80" dirty="0">
                <a:solidFill>
                  <a:schemeClr val="accent6"/>
                </a:solidFill>
              </a:rPr>
              <a:t>Dynamic/Real-time GIS Data</a:t>
            </a:r>
          </a:p>
          <a:p>
            <a:pPr marL="12700" marR="5080"/>
            <a:r>
              <a:rPr lang="en-US" sz="1500" kern="0" spc="-80" dirty="0">
                <a:solidFill>
                  <a:schemeClr val="accent6"/>
                </a:solidFill>
              </a:rPr>
              <a:t>Continuously updated or time-dependent.</a:t>
            </a:r>
          </a:p>
          <a:p>
            <a:pPr marL="12700" marR="5080"/>
            <a:r>
              <a:rPr lang="en-US" sz="1500" kern="0" spc="-80" dirty="0">
                <a:solidFill>
                  <a:schemeClr val="accent6"/>
                </a:solidFill>
              </a:rPr>
              <a:t>Example: Traffic data, weather sensors, GPS tracking.</a:t>
            </a:r>
          </a:p>
          <a:p>
            <a:pPr marL="12700" marR="5080"/>
            <a:r>
              <a:rPr lang="en-US" sz="1500" kern="0" spc="-80" dirty="0">
                <a:solidFill>
                  <a:schemeClr val="accent6"/>
                </a:solidFill>
              </a:rPr>
              <a:t>D. Based on Source/Acquisition Method</a:t>
            </a:r>
          </a:p>
          <a:p>
            <a:pPr marL="12700" marR="5080"/>
            <a:r>
              <a:rPr lang="en-US" sz="1500" kern="0" spc="-80" dirty="0">
                <a:solidFill>
                  <a:schemeClr val="accent6"/>
                </a:solidFill>
              </a:rPr>
              <a:t>Primary Data</a:t>
            </a:r>
          </a:p>
          <a:p>
            <a:pPr marL="12700" marR="5080"/>
            <a:r>
              <a:rPr lang="en-US" sz="1500" kern="0" spc="-80" dirty="0">
                <a:solidFill>
                  <a:schemeClr val="accent6"/>
                </a:solidFill>
              </a:rPr>
              <a:t>Collected directly from the field.</a:t>
            </a:r>
          </a:p>
          <a:p>
            <a:pPr marL="12700" marR="5080"/>
            <a:r>
              <a:rPr lang="en-US" sz="1500" kern="0" spc="-80" dirty="0">
                <a:solidFill>
                  <a:schemeClr val="accent6"/>
                </a:solidFill>
              </a:rPr>
              <a:t>Example: GPS surveys, drone photogrammetry, field observations.</a:t>
            </a:r>
          </a:p>
          <a:p>
            <a:pPr marL="12700" marR="5080"/>
            <a:r>
              <a:rPr lang="en-US" sz="1500" kern="0" spc="-80" dirty="0">
                <a:solidFill>
                  <a:schemeClr val="accent6"/>
                </a:solidFill>
              </a:rPr>
              <a:t>Secondary Data</a:t>
            </a:r>
          </a:p>
          <a:p>
            <a:pPr marL="12700" marR="5080"/>
            <a:r>
              <a:rPr lang="en-US" sz="1500" kern="0" spc="-80" dirty="0">
                <a:solidFill>
                  <a:schemeClr val="accent6"/>
                </a:solidFill>
              </a:rPr>
              <a:t>Collected from existing sources.</a:t>
            </a:r>
          </a:p>
          <a:p>
            <a:pPr marL="12700" marR="5080"/>
            <a:r>
              <a:rPr lang="en-US" sz="1500" kern="0" spc="-80" dirty="0">
                <a:solidFill>
                  <a:schemeClr val="accent6"/>
                </a:solidFill>
              </a:rPr>
              <a:t>Example: Topographic maps, satellite imagery, government GIS datasets.</a:t>
            </a:r>
          </a:p>
        </p:txBody>
      </p:sp>
    </p:spTree>
    <p:extLst>
      <p:ext uri="{BB962C8B-B14F-4D97-AF65-F5344CB8AC3E}">
        <p14:creationId xmlns:p14="http://schemas.microsoft.com/office/powerpoint/2010/main" val="1888727751"/>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D5781-B1DE-253C-2C7C-BFA3A85DC68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CB4C68-0D7E-7BE9-BB4F-FA7103AFB7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ADAED4-9798-5723-40E1-F4FBF62911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763CD1-98BF-BB84-4883-D225F70E6E9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A8EB37D-0D55-60C8-9A47-8F795CF16B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5069C9-DDD1-3F2C-67B0-4BE84E34FC7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A658C72-B7FB-A8C6-3BB5-A0C02BEB5AB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989B63-8528-BBB0-0FE3-8AEB304E3D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8824CEC-B744-E999-1D86-26DFEAFB5C5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8A58366-45E0-F960-753C-A5653DE13229}"/>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12700" marR="5080"/>
            <a:r>
              <a:rPr lang="en-US" sz="1500" kern="0" spc="-80" dirty="0">
                <a:solidFill>
                  <a:schemeClr val="accent2"/>
                </a:solidFill>
              </a:rPr>
              <a:t>B. Based on Nature</a:t>
            </a:r>
          </a:p>
          <a:p>
            <a:pPr marL="12700" marR="5080"/>
            <a:r>
              <a:rPr lang="en-US" sz="1500" kern="0" spc="-80" dirty="0">
                <a:solidFill>
                  <a:schemeClr val="accent2"/>
                </a:solidFill>
              </a:rPr>
              <a:t>Attribute Data (Descriptive)</a:t>
            </a:r>
          </a:p>
          <a:p>
            <a:pPr marL="12700" marR="5080"/>
            <a:r>
              <a:rPr lang="en-US" sz="1500" kern="0" spc="-80" dirty="0">
                <a:solidFill>
                  <a:schemeClr val="accent6"/>
                </a:solidFill>
              </a:rPr>
              <a:t>Provides information about features.</a:t>
            </a:r>
          </a:p>
          <a:p>
            <a:pPr marL="12700" marR="5080"/>
            <a:r>
              <a:rPr lang="en-US" sz="1500" kern="0" spc="-80" dirty="0">
                <a:solidFill>
                  <a:schemeClr val="accent2"/>
                </a:solidFill>
              </a:rPr>
              <a:t>Example: </a:t>
            </a:r>
            <a:r>
              <a:rPr lang="en-US" sz="1500" kern="0" spc="-80" dirty="0">
                <a:solidFill>
                  <a:schemeClr val="accent6"/>
                </a:solidFill>
              </a:rPr>
              <a:t>City population, road type, soil type.</a:t>
            </a:r>
          </a:p>
          <a:p>
            <a:pPr marL="12700" marR="5080"/>
            <a:endParaRPr lang="en-US" sz="1500" kern="0" spc="-80" dirty="0">
              <a:solidFill>
                <a:schemeClr val="accent6"/>
              </a:solidFill>
            </a:endParaRPr>
          </a:p>
          <a:p>
            <a:pPr marL="12700" marR="5080"/>
            <a:r>
              <a:rPr lang="en-US" sz="1500" kern="0" spc="-80" dirty="0">
                <a:solidFill>
                  <a:schemeClr val="accent2"/>
                </a:solidFill>
              </a:rPr>
              <a:t>C. Based on Time</a:t>
            </a:r>
          </a:p>
          <a:p>
            <a:pPr marL="12700" marR="5080"/>
            <a:r>
              <a:rPr lang="en-US" sz="1500" kern="0" spc="-80" dirty="0">
                <a:solidFill>
                  <a:schemeClr val="accent2"/>
                </a:solidFill>
              </a:rPr>
              <a:t>Static GIS Data</a:t>
            </a:r>
          </a:p>
          <a:p>
            <a:pPr marL="12700" marR="5080"/>
            <a:r>
              <a:rPr lang="en-US" sz="1500" kern="0" spc="-80" dirty="0">
                <a:solidFill>
                  <a:schemeClr val="accent6"/>
                </a:solidFill>
              </a:rPr>
              <a:t>Captures information at a specific point in time.</a:t>
            </a:r>
          </a:p>
          <a:p>
            <a:pPr marL="12700" marR="5080"/>
            <a:r>
              <a:rPr lang="en-US" sz="1500" kern="0" spc="-80" dirty="0">
                <a:solidFill>
                  <a:schemeClr val="accent2"/>
                </a:solidFill>
              </a:rPr>
              <a:t>Example: </a:t>
            </a:r>
            <a:r>
              <a:rPr lang="en-US" sz="1500" kern="0" spc="-80" dirty="0">
                <a:solidFill>
                  <a:schemeClr val="accent6"/>
                </a:solidFill>
              </a:rPr>
              <a:t>Census data, land use maps.</a:t>
            </a:r>
          </a:p>
          <a:p>
            <a:pPr marL="12700" marR="5080"/>
            <a:endParaRPr lang="en-US" sz="1500" kern="0" spc="-80" dirty="0">
              <a:solidFill>
                <a:schemeClr val="accent6"/>
              </a:solidFill>
            </a:endParaRPr>
          </a:p>
          <a:p>
            <a:pPr marL="12700" marR="5080"/>
            <a:r>
              <a:rPr lang="en-US" sz="1500" kern="0" spc="-80" dirty="0">
                <a:solidFill>
                  <a:schemeClr val="accent2"/>
                </a:solidFill>
              </a:rPr>
              <a:t>Dynamic/Real-time GIS Data</a:t>
            </a:r>
          </a:p>
          <a:p>
            <a:pPr marL="12700" marR="5080"/>
            <a:r>
              <a:rPr lang="en-US" sz="1500" kern="0" spc="-80" dirty="0">
                <a:solidFill>
                  <a:schemeClr val="accent6"/>
                </a:solidFill>
              </a:rPr>
              <a:t>Continuously updated or time-dependent.</a:t>
            </a:r>
          </a:p>
          <a:p>
            <a:pPr marL="12700" marR="5080"/>
            <a:r>
              <a:rPr lang="en-US" sz="1500" kern="0" spc="-80" dirty="0">
                <a:solidFill>
                  <a:schemeClr val="accent2"/>
                </a:solidFill>
              </a:rPr>
              <a:t>Example: </a:t>
            </a:r>
            <a:r>
              <a:rPr lang="en-US" sz="1500" kern="0" spc="-80" dirty="0">
                <a:solidFill>
                  <a:schemeClr val="accent6"/>
                </a:solidFill>
              </a:rPr>
              <a:t>Traffic data, weather sensors, GPS tracking.</a:t>
            </a:r>
          </a:p>
          <a:p>
            <a:pPr marL="12700" marR="5080"/>
            <a:endParaRPr lang="en-US" sz="1500" kern="0" spc="-80" dirty="0">
              <a:solidFill>
                <a:schemeClr val="accent6"/>
              </a:solidFill>
            </a:endParaRPr>
          </a:p>
          <a:p>
            <a:pPr marL="12700" marR="5080"/>
            <a:r>
              <a:rPr lang="en-US" sz="1500" kern="0" spc="-80" dirty="0">
                <a:solidFill>
                  <a:schemeClr val="accent2"/>
                </a:solidFill>
              </a:rPr>
              <a:t>D. Based on Source/Acquisition Method</a:t>
            </a:r>
          </a:p>
          <a:p>
            <a:pPr marL="12700" marR="5080"/>
            <a:r>
              <a:rPr lang="en-US" sz="1500" kern="0" spc="-80" dirty="0">
                <a:solidFill>
                  <a:schemeClr val="accent2"/>
                </a:solidFill>
              </a:rPr>
              <a:t>Primary Data</a:t>
            </a:r>
          </a:p>
          <a:p>
            <a:pPr marL="12700" marR="5080"/>
            <a:r>
              <a:rPr lang="en-US" sz="1500" kern="0" spc="-80" dirty="0">
                <a:solidFill>
                  <a:schemeClr val="accent6"/>
                </a:solidFill>
              </a:rPr>
              <a:t>Collected directly from the field.</a:t>
            </a:r>
          </a:p>
          <a:p>
            <a:pPr marL="12700" marR="5080"/>
            <a:r>
              <a:rPr lang="en-US" sz="1500" kern="0" spc="-80" dirty="0">
                <a:solidFill>
                  <a:schemeClr val="accent2"/>
                </a:solidFill>
              </a:rPr>
              <a:t>Example: </a:t>
            </a:r>
            <a:r>
              <a:rPr lang="en-US" sz="1500" kern="0" spc="-80" dirty="0">
                <a:solidFill>
                  <a:schemeClr val="accent6"/>
                </a:solidFill>
              </a:rPr>
              <a:t>GPS surveys, drone photogrammetry, field observations.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063262878"/>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F2AD7C-B88C-8E80-6AA7-0439F7648A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9C9E8C-58A2-15F9-4057-E22A0B2691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B5600D-44F9-92D4-6138-6F5353E9E6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EA72E1-FC5B-FFD5-2D58-994F9CE96AB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8D1343-42A3-7458-FFE6-FE129C5BEF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D9CA865-B2F5-5E57-9C8E-E15B93EC1B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91386-C199-9E02-8A3E-8B8F10B1A8C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AF70703-C2C4-5CED-BDC4-F623F94016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E0973A-1103-1491-0D8C-40DBF21B70C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D5BFA88-90AF-15BE-7676-29904D24CA64}"/>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12700" marR="5080"/>
            <a:r>
              <a:rPr lang="en-US" sz="1500" kern="0" spc="-80" dirty="0">
                <a:solidFill>
                  <a:schemeClr val="accent2"/>
                </a:solidFill>
              </a:rPr>
              <a:t>D. Based on Source/Acquisition Method</a:t>
            </a:r>
          </a:p>
          <a:p>
            <a:pPr marL="12700" marR="5080"/>
            <a:r>
              <a:rPr lang="en-US" sz="1500" kern="0" spc="-80" dirty="0">
                <a:solidFill>
                  <a:schemeClr val="accent2"/>
                </a:solidFill>
              </a:rPr>
              <a:t>Secondary Data</a:t>
            </a:r>
          </a:p>
          <a:p>
            <a:pPr marL="12700" marR="5080"/>
            <a:r>
              <a:rPr lang="en-US" sz="1500" kern="0" spc="-80" dirty="0">
                <a:solidFill>
                  <a:schemeClr val="accent6"/>
                </a:solidFill>
              </a:rPr>
              <a:t>Collected from existing sources.</a:t>
            </a:r>
          </a:p>
          <a:p>
            <a:pPr marL="12700" marR="5080"/>
            <a:r>
              <a:rPr lang="en-US" sz="1500" kern="0" spc="-80" dirty="0">
                <a:solidFill>
                  <a:schemeClr val="accent2"/>
                </a:solidFill>
              </a:rPr>
              <a:t>Example: </a:t>
            </a:r>
            <a:r>
              <a:rPr lang="en-US" sz="1500" kern="0" spc="-80" dirty="0">
                <a:solidFill>
                  <a:schemeClr val="accent6"/>
                </a:solidFill>
              </a:rPr>
              <a:t>Topographic maps, satellite imagery, government GIS datasets.</a:t>
            </a:r>
          </a:p>
          <a:p>
            <a:pPr marL="12700" marR="5080"/>
            <a:endParaRPr lang="en-US" sz="1500" kern="0" spc="-80" dirty="0">
              <a:solidFill>
                <a:schemeClr val="accent6"/>
              </a:solidFill>
            </a:endParaRPr>
          </a:p>
          <a:p>
            <a:pPr marL="12700" marR="5080"/>
            <a:r>
              <a:rPr lang="en-US" sz="1500" kern="0" spc="-80" dirty="0">
                <a:solidFill>
                  <a:schemeClr val="accent2"/>
                </a:solidFill>
              </a:rPr>
              <a:t>3. Ways to Collect GIS Data</a:t>
            </a:r>
          </a:p>
          <a:p>
            <a:pPr marL="355600" marR="5080" indent="-342900">
              <a:buAutoNum type="alphaUcPeriod"/>
            </a:pPr>
            <a:r>
              <a:rPr lang="en-US" sz="1500" kern="0" spc="-80" dirty="0">
                <a:solidFill>
                  <a:schemeClr val="accent2"/>
                </a:solidFill>
              </a:rPr>
              <a:t>Field Survey Techniques</a:t>
            </a:r>
          </a:p>
          <a:p>
            <a:pPr marL="355600" marR="5080" indent="-342900">
              <a:buAutoNum type="alphaUcPeriod"/>
            </a:pPr>
            <a:endParaRPr lang="en-US" sz="1500" kern="0" spc="-80" dirty="0">
              <a:solidFill>
                <a:schemeClr val="accent2"/>
              </a:solidFill>
            </a:endParaRPr>
          </a:p>
          <a:p>
            <a:pPr marL="12700" marR="5080"/>
            <a:r>
              <a:rPr lang="en-US" sz="1500" kern="0" spc="-80" dirty="0">
                <a:solidFill>
                  <a:schemeClr val="accent2"/>
                </a:solidFill>
              </a:rPr>
              <a:t>Global Positioning System (GPS)</a:t>
            </a:r>
          </a:p>
          <a:p>
            <a:pPr marL="12700" marR="5080"/>
            <a:r>
              <a:rPr lang="en-US" sz="1500" kern="0" spc="-80" dirty="0">
                <a:solidFill>
                  <a:schemeClr val="accent6"/>
                </a:solidFill>
              </a:rPr>
              <a:t>Collects precise coordinates of features on the ground.</a:t>
            </a:r>
          </a:p>
          <a:p>
            <a:pPr marL="12700" marR="5080"/>
            <a:r>
              <a:rPr lang="en-US" sz="1500" kern="0" spc="-80" dirty="0">
                <a:solidFill>
                  <a:schemeClr val="accent2"/>
                </a:solidFill>
              </a:rPr>
              <a:t>Devices: </a:t>
            </a:r>
            <a:r>
              <a:rPr lang="en-US" sz="1500" kern="0" spc="-80" dirty="0">
                <a:solidFill>
                  <a:schemeClr val="accent6"/>
                </a:solidFill>
              </a:rPr>
              <a:t>Handheld GPS units, GNSS receivers.</a:t>
            </a:r>
          </a:p>
          <a:p>
            <a:pPr marL="12700" marR="5080"/>
            <a:r>
              <a:rPr lang="en-US" sz="1500" kern="0" spc="-80" dirty="0">
                <a:solidFill>
                  <a:schemeClr val="accent2"/>
                </a:solidFill>
              </a:rPr>
              <a:t>Applications: </a:t>
            </a:r>
            <a:r>
              <a:rPr lang="en-US" sz="1500" kern="0" spc="-80" dirty="0">
                <a:solidFill>
                  <a:schemeClr val="accent6"/>
                </a:solidFill>
              </a:rPr>
              <a:t>Road mapping, utility networks, environmental monitoring.</a:t>
            </a:r>
          </a:p>
          <a:p>
            <a:pPr marL="12700" marR="5080"/>
            <a:endParaRPr lang="en-US" sz="1500" kern="0" spc="-80" dirty="0">
              <a:solidFill>
                <a:schemeClr val="accent6"/>
              </a:solidFill>
            </a:endParaRPr>
          </a:p>
          <a:p>
            <a:pPr marL="12700" marR="5080"/>
            <a:r>
              <a:rPr lang="en-US" sz="1500" kern="0" spc="-80" dirty="0">
                <a:solidFill>
                  <a:schemeClr val="accent2"/>
                </a:solidFill>
              </a:rPr>
              <a:t>Total Station &amp; Theodolite</a:t>
            </a:r>
          </a:p>
          <a:p>
            <a:pPr marL="12700" marR="5080"/>
            <a:r>
              <a:rPr lang="en-US" sz="1500" kern="0" spc="-80" dirty="0">
                <a:solidFill>
                  <a:schemeClr val="accent6"/>
                </a:solidFill>
              </a:rPr>
              <a:t>Measures angles and distances for precise surveying.</a:t>
            </a:r>
          </a:p>
          <a:p>
            <a:pPr marL="12700" marR="5080"/>
            <a:r>
              <a:rPr lang="en-US" sz="1500" kern="0" spc="-80" dirty="0">
                <a:solidFill>
                  <a:schemeClr val="accent2"/>
                </a:solidFill>
              </a:rPr>
              <a:t>Applications:</a:t>
            </a:r>
            <a:r>
              <a:rPr lang="en-US" sz="1500" kern="0" spc="-80" dirty="0">
                <a:solidFill>
                  <a:schemeClr val="accent6"/>
                </a:solidFill>
              </a:rPr>
              <a:t> Engineering projects, cadastral surveys.</a:t>
            </a:r>
          </a:p>
          <a:p>
            <a:pPr marL="12700" marR="5080"/>
            <a:endParaRPr lang="en-US" sz="1500" kern="0" spc="-80" dirty="0">
              <a:solidFill>
                <a:schemeClr val="accent6"/>
              </a:solidFill>
            </a:endParaRPr>
          </a:p>
          <a:p>
            <a:pPr marL="12700" marR="5080"/>
            <a:r>
              <a:rPr lang="en-US" sz="1500" kern="0" spc="-80" dirty="0">
                <a:solidFill>
                  <a:schemeClr val="accent2"/>
                </a:solidFill>
              </a:rPr>
              <a:t>Ground Control Points (GCP)</a:t>
            </a:r>
          </a:p>
          <a:p>
            <a:pPr marL="12700" marR="5080"/>
            <a:r>
              <a:rPr lang="en-US" sz="1500" kern="0" spc="-80" dirty="0">
                <a:solidFill>
                  <a:schemeClr val="accent6"/>
                </a:solidFill>
              </a:rPr>
              <a:t>Reference points with known coordinates for aligning satellite/aerial imagery.</a:t>
            </a:r>
          </a:p>
        </p:txBody>
      </p:sp>
    </p:spTree>
    <p:extLst>
      <p:ext uri="{BB962C8B-B14F-4D97-AF65-F5344CB8AC3E}">
        <p14:creationId xmlns:p14="http://schemas.microsoft.com/office/powerpoint/2010/main" val="2286080038"/>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20EC3-1D10-77F4-AF3C-95CDCB0882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8061AE-9C4E-7F66-1CA5-FF7B26C2C19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971AC8-91BA-B8DE-A046-D5B6B88CD2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A48729-1946-7E94-6FB1-4EF3B43235F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8914204-4D0B-ECF7-9333-587DB96F4D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77539AD-D19D-BBB4-C2B4-218A776F91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EC7C49-1B07-9349-AFC7-38D52957A09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E67F41E-A3D1-24E3-5956-4C0C3DB4EEF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D801A3-99C7-23BA-2FF3-E5F94CCF86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F64268D-E6E1-6F39-FFF1-C474534C71EC}"/>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B. Remote Sensing</a:t>
            </a:r>
          </a:p>
          <a:p>
            <a:pPr marL="12700" marR="5080"/>
            <a:r>
              <a:rPr lang="en-US" sz="1500" kern="0" spc="-80" dirty="0">
                <a:solidFill>
                  <a:schemeClr val="accent6"/>
                </a:solidFill>
              </a:rPr>
              <a:t>Captures data from airborne or spaceborne sensors.</a:t>
            </a:r>
          </a:p>
          <a:p>
            <a:pPr marL="12700" marR="5080"/>
            <a:endParaRPr lang="en-US" sz="1500" kern="0" spc="-80" dirty="0">
              <a:solidFill>
                <a:schemeClr val="accent6"/>
              </a:solidFill>
            </a:endParaRPr>
          </a:p>
          <a:p>
            <a:pPr marL="12700" marR="5080"/>
            <a:r>
              <a:rPr lang="en-US" sz="1500" kern="0" spc="-80" dirty="0">
                <a:solidFill>
                  <a:schemeClr val="accent2"/>
                </a:solidFill>
              </a:rPr>
              <a:t>Satellite Imagery</a:t>
            </a:r>
          </a:p>
          <a:p>
            <a:pPr marL="12700" marR="5080"/>
            <a:r>
              <a:rPr lang="en-US" sz="1500" kern="0" spc="-80" dirty="0">
                <a:solidFill>
                  <a:schemeClr val="accent2"/>
                </a:solidFill>
              </a:rPr>
              <a:t>Sources: </a:t>
            </a:r>
            <a:r>
              <a:rPr lang="en-US" sz="1500" kern="0" spc="-80" dirty="0">
                <a:solidFill>
                  <a:schemeClr val="accent6"/>
                </a:solidFill>
              </a:rPr>
              <a:t>Landsat, Sentinel, </a:t>
            </a:r>
            <a:r>
              <a:rPr lang="en-US" sz="1500" kern="0" spc="-80" dirty="0" err="1">
                <a:solidFill>
                  <a:schemeClr val="accent6"/>
                </a:solidFill>
              </a:rPr>
              <a:t>WorldView</a:t>
            </a:r>
            <a:r>
              <a:rPr lang="en-US" sz="1500" kern="0" spc="-80" dirty="0">
                <a:solidFill>
                  <a:schemeClr val="accent6"/>
                </a:solidFill>
              </a:rPr>
              <a:t>, MODIS.</a:t>
            </a:r>
          </a:p>
          <a:p>
            <a:pPr marL="12700" marR="5080"/>
            <a:r>
              <a:rPr lang="en-US" sz="1500" kern="0" spc="-80" dirty="0">
                <a:solidFill>
                  <a:schemeClr val="accent6"/>
                </a:solidFill>
              </a:rPr>
              <a:t>Can provide land use, vegetation, water bodies, urban expansion.</a:t>
            </a:r>
          </a:p>
          <a:p>
            <a:pPr marL="12700" marR="5080"/>
            <a:endParaRPr lang="en-US" sz="1500" kern="0" spc="-80" dirty="0">
              <a:solidFill>
                <a:schemeClr val="accent6"/>
              </a:solidFill>
            </a:endParaRPr>
          </a:p>
          <a:p>
            <a:pPr marL="12700" marR="5080"/>
            <a:r>
              <a:rPr lang="en-US" sz="1500" kern="0" spc="-80" dirty="0">
                <a:solidFill>
                  <a:schemeClr val="accent2"/>
                </a:solidFill>
              </a:rPr>
              <a:t>Aerial Photography</a:t>
            </a:r>
          </a:p>
          <a:p>
            <a:pPr marL="12700" marR="5080"/>
            <a:r>
              <a:rPr lang="en-US" sz="1500" kern="0" spc="-80" dirty="0">
                <a:solidFill>
                  <a:schemeClr val="accent6"/>
                </a:solidFill>
              </a:rPr>
              <a:t>High-resolution images captured from aircraft or drones.</a:t>
            </a:r>
          </a:p>
          <a:p>
            <a:pPr marL="12700" marR="5080"/>
            <a:r>
              <a:rPr lang="en-US" sz="1500" kern="0" spc="-80" dirty="0">
                <a:solidFill>
                  <a:schemeClr val="accent6"/>
                </a:solidFill>
              </a:rPr>
              <a:t>Used for detailed mapping, disaster assessment, and construction monitoring.</a:t>
            </a:r>
          </a:p>
          <a:p>
            <a:pPr marL="12700" marR="5080"/>
            <a:endParaRPr lang="en-US" sz="1500" kern="0" spc="-80" dirty="0">
              <a:solidFill>
                <a:schemeClr val="accent6"/>
              </a:solidFill>
            </a:endParaRPr>
          </a:p>
          <a:p>
            <a:pPr marL="12700" marR="5080"/>
            <a:r>
              <a:rPr lang="en-US" sz="1500" kern="0" spc="-80" dirty="0">
                <a:solidFill>
                  <a:schemeClr val="accent2"/>
                </a:solidFill>
              </a:rPr>
              <a:t>LiDAR (Light Detection and Ranging)</a:t>
            </a:r>
          </a:p>
          <a:p>
            <a:pPr marL="12700" marR="5080"/>
            <a:r>
              <a:rPr lang="en-US" sz="1500" kern="0" spc="-80" dirty="0">
                <a:solidFill>
                  <a:schemeClr val="accent6"/>
                </a:solidFill>
              </a:rPr>
              <a:t>Measures distance using laser pulses to generate 3D point clouds.</a:t>
            </a:r>
          </a:p>
          <a:p>
            <a:pPr marL="12700" marR="5080"/>
            <a:r>
              <a:rPr lang="en-US" sz="1500" kern="0" spc="-80" dirty="0">
                <a:solidFill>
                  <a:schemeClr val="accent6"/>
                </a:solidFill>
              </a:rPr>
              <a:t>Used for terrain modeling, forestry, urban planning.</a:t>
            </a:r>
          </a:p>
          <a:p>
            <a:pPr marL="12700" marR="5080"/>
            <a:endParaRPr lang="en-US" sz="1500" kern="0" spc="-80" dirty="0">
              <a:solidFill>
                <a:schemeClr val="accent6"/>
              </a:solidFill>
            </a:endParaRPr>
          </a:p>
          <a:p>
            <a:pPr marL="12700" marR="5080"/>
            <a:r>
              <a:rPr lang="en-US" sz="1500" kern="0" spc="-80" dirty="0">
                <a:solidFill>
                  <a:schemeClr val="accent2"/>
                </a:solidFill>
              </a:rPr>
              <a:t>Photogrammetry</a:t>
            </a:r>
          </a:p>
          <a:p>
            <a:pPr marL="12700" marR="5080"/>
            <a:r>
              <a:rPr lang="en-US" sz="1500" kern="0" spc="-80" dirty="0">
                <a:solidFill>
                  <a:schemeClr val="accent6"/>
                </a:solidFill>
              </a:rPr>
              <a:t>Extracts 3D information from 2D images.</a:t>
            </a:r>
          </a:p>
          <a:p>
            <a:pPr marL="12700" marR="5080"/>
            <a:r>
              <a:rPr lang="en-US" sz="1500" kern="0" spc="-80" dirty="0">
                <a:solidFill>
                  <a:schemeClr val="accent6"/>
                </a:solidFill>
              </a:rPr>
              <a:t>Commonly used with UAV/drone images for topography and DEM generation.</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31747131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FCDCF-A040-7307-6628-DFA04E878B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4D020F1-2986-4894-ED3F-DE8ACC09A9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90A451-1A4C-73AE-19AE-5DA0A14626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33D431-E2E2-7195-71B4-5F66CDE349F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8848DD-4051-07CF-F642-95494B4264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5404280-3FBE-12AF-4407-3CD5F17B01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CB42577-4C29-A054-A589-8FC4A206D76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E5F4BD1-400D-2872-E0D1-A4077E66AE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3D2343B-9590-41B2-EF55-E069980717B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50C0EBA-2225-6C67-FB91-4607C35DB23D}"/>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C. Existing Maps and Documents</a:t>
            </a:r>
          </a:p>
          <a:p>
            <a:pPr marL="12700" marR="5080"/>
            <a:endParaRPr lang="en-US" sz="1500" kern="0" spc="-80" dirty="0">
              <a:solidFill>
                <a:schemeClr val="accent2"/>
              </a:solidFill>
            </a:endParaRPr>
          </a:p>
          <a:p>
            <a:pPr marL="12700" marR="5080"/>
            <a:r>
              <a:rPr lang="en-US" sz="1500" kern="0" spc="-80" dirty="0">
                <a:solidFill>
                  <a:schemeClr val="accent2"/>
                </a:solidFill>
              </a:rPr>
              <a:t>Topographic Maps</a:t>
            </a:r>
          </a:p>
          <a:p>
            <a:pPr marL="12700" marR="5080"/>
            <a:r>
              <a:rPr lang="en-US" sz="1500" kern="0" spc="-80" dirty="0">
                <a:solidFill>
                  <a:schemeClr val="accent6"/>
                </a:solidFill>
              </a:rPr>
              <a:t>Contour lines, rivers, roads, and built-up areas.</a:t>
            </a:r>
          </a:p>
          <a:p>
            <a:pPr marL="12700" marR="5080"/>
            <a:r>
              <a:rPr lang="en-US" sz="1500" kern="0" spc="-80" dirty="0">
                <a:solidFill>
                  <a:schemeClr val="accent6"/>
                </a:solidFill>
              </a:rPr>
              <a:t>Digitized into GIS format.</a:t>
            </a:r>
          </a:p>
          <a:p>
            <a:pPr marL="12700" marR="5080"/>
            <a:endParaRPr lang="en-US" sz="1500" kern="0" spc="-80" dirty="0">
              <a:solidFill>
                <a:schemeClr val="accent6"/>
              </a:solidFill>
            </a:endParaRPr>
          </a:p>
          <a:p>
            <a:pPr marL="12700" marR="5080"/>
            <a:r>
              <a:rPr lang="en-US" sz="1500" kern="0" spc="-80" dirty="0">
                <a:solidFill>
                  <a:schemeClr val="accent2"/>
                </a:solidFill>
              </a:rPr>
              <a:t>Cadastral Maps</a:t>
            </a:r>
          </a:p>
          <a:p>
            <a:pPr marL="12700" marR="5080"/>
            <a:r>
              <a:rPr lang="en-US" sz="1500" kern="0" spc="-80" dirty="0">
                <a:solidFill>
                  <a:schemeClr val="accent6"/>
                </a:solidFill>
              </a:rPr>
              <a:t>Property boundaries, land parcels.</a:t>
            </a:r>
          </a:p>
          <a:p>
            <a:pPr marL="12700" marR="5080"/>
            <a:r>
              <a:rPr lang="en-US" sz="1500" kern="0" spc="-80" dirty="0">
                <a:solidFill>
                  <a:schemeClr val="accent6"/>
                </a:solidFill>
              </a:rPr>
              <a:t>Statistical &amp; Survey Data</a:t>
            </a:r>
          </a:p>
          <a:p>
            <a:pPr marL="12700" marR="5080"/>
            <a:r>
              <a:rPr lang="en-US" sz="1500" kern="0" spc="-80" dirty="0">
                <a:solidFill>
                  <a:schemeClr val="accent6"/>
                </a:solidFill>
              </a:rPr>
              <a:t>Census data, socio-economic datasets, epidemiology data.</a:t>
            </a:r>
          </a:p>
          <a:p>
            <a:pPr marL="12700" marR="5080"/>
            <a:endParaRPr lang="en-US" sz="1500" kern="0" spc="-80" dirty="0">
              <a:solidFill>
                <a:schemeClr val="accent6"/>
              </a:solidFill>
            </a:endParaRPr>
          </a:p>
          <a:p>
            <a:pPr marL="12700" marR="5080"/>
            <a:r>
              <a:rPr lang="en-US" sz="1500" kern="0" spc="-80" dirty="0">
                <a:solidFill>
                  <a:schemeClr val="accent2"/>
                </a:solidFill>
              </a:rPr>
              <a:t>D. Crowdsourced and IoT Data</a:t>
            </a:r>
          </a:p>
          <a:p>
            <a:pPr marL="12700" marR="5080"/>
            <a:r>
              <a:rPr lang="en-US" sz="1500" kern="0" spc="-80" dirty="0">
                <a:solidFill>
                  <a:schemeClr val="accent2"/>
                </a:solidFill>
              </a:rPr>
              <a:t>Volunteered Geographic Information (VGI)</a:t>
            </a:r>
          </a:p>
          <a:p>
            <a:pPr marL="12700" marR="5080"/>
            <a:r>
              <a:rPr lang="en-US" sz="1500" kern="0" spc="-80" dirty="0">
                <a:solidFill>
                  <a:schemeClr val="accent6"/>
                </a:solidFill>
              </a:rPr>
              <a:t>User-contributed data, e.g., OpenStreetMap.</a:t>
            </a:r>
          </a:p>
          <a:p>
            <a:pPr marL="12700" marR="5080"/>
            <a:endParaRPr lang="en-US" sz="1500" kern="0" spc="-80" dirty="0">
              <a:solidFill>
                <a:schemeClr val="accent6"/>
              </a:solidFill>
            </a:endParaRPr>
          </a:p>
          <a:p>
            <a:pPr marL="12700" marR="5080"/>
            <a:r>
              <a:rPr lang="en-US" sz="1500" kern="0" spc="-80" dirty="0">
                <a:solidFill>
                  <a:schemeClr val="accent2"/>
                </a:solidFill>
              </a:rPr>
              <a:t>Sensors and IoT Devices</a:t>
            </a:r>
          </a:p>
          <a:p>
            <a:pPr marL="12700" marR="5080"/>
            <a:r>
              <a:rPr lang="en-US" sz="1500" kern="0" spc="-80" dirty="0">
                <a:solidFill>
                  <a:schemeClr val="accent6"/>
                </a:solidFill>
              </a:rPr>
              <a:t>Traffic sensors, weather stations, pollution monitors.</a:t>
            </a:r>
          </a:p>
          <a:p>
            <a:pPr marL="12700" marR="5080"/>
            <a:r>
              <a:rPr lang="en-US" sz="1500" kern="0" spc="-80" dirty="0">
                <a:solidFill>
                  <a:schemeClr val="accent6"/>
                </a:solidFill>
              </a:rPr>
              <a:t>Provides real-time GIS data streams.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029035399"/>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6DBBE5-1D15-9CEB-F2B1-A6991F86271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67235B-8078-8D90-8165-991B7C61EC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C06D3B-BBA1-B5EA-7C96-D1BC4991A4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C6044A4-A97E-CD03-4BA3-1362D7FA25B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547DAF9-01AE-0580-D6A5-EA3CFADB1A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FB13559-FEC9-5418-F09B-AEEF0670F8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767686-3A76-5B74-12DC-56CBEC7D77E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D1AE7DF-FEFD-0DDB-00B5-17C88B91F8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6DA447-9D1A-B0C6-D485-F3D3AFD7CAE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EA003C6-9CC0-4D71-B021-52A7612B7B93}"/>
              </a:ext>
            </a:extLst>
          </p:cNvPr>
          <p:cNvSpPr txBox="1">
            <a:spLocks/>
          </p:cNvSpPr>
          <p:nvPr/>
        </p:nvSpPr>
        <p:spPr>
          <a:xfrm>
            <a:off x="228600" y="7620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E. Web and Database Sources</a:t>
            </a:r>
          </a:p>
          <a:p>
            <a:pPr marL="12700" marR="5080"/>
            <a:r>
              <a:rPr lang="en-US" sz="1500" kern="0" spc="-80" dirty="0">
                <a:solidFill>
                  <a:schemeClr val="accent6"/>
                </a:solidFill>
              </a:rPr>
              <a:t>Government Portals</a:t>
            </a:r>
          </a:p>
          <a:p>
            <a:pPr marL="12700" marR="5080"/>
            <a:r>
              <a:rPr lang="en-US" sz="1500" kern="0" spc="-80" dirty="0">
                <a:solidFill>
                  <a:schemeClr val="accent2"/>
                </a:solidFill>
              </a:rPr>
              <a:t>Example: </a:t>
            </a:r>
            <a:r>
              <a:rPr lang="en-US" sz="1500" kern="0" spc="-80" dirty="0">
                <a:solidFill>
                  <a:schemeClr val="accent6"/>
                </a:solidFill>
              </a:rPr>
              <a:t>USGS Earth Explorer, India Bhuvan, Open Data portals.</a:t>
            </a:r>
          </a:p>
          <a:p>
            <a:pPr marL="12700" marR="5080"/>
            <a:r>
              <a:rPr lang="en-US" sz="1500" kern="0" spc="-80" dirty="0">
                <a:solidFill>
                  <a:schemeClr val="accent2"/>
                </a:solidFill>
              </a:rPr>
              <a:t>Commercial GIS Data</a:t>
            </a:r>
          </a:p>
          <a:p>
            <a:pPr marL="12700" marR="5080"/>
            <a:r>
              <a:rPr lang="en-US" sz="1500" kern="0" spc="-80" dirty="0">
                <a:solidFill>
                  <a:schemeClr val="accent6"/>
                </a:solidFill>
              </a:rPr>
              <a:t>ESRI, Google Earth Engine, satellite data providers.</a:t>
            </a:r>
          </a:p>
          <a:p>
            <a:pPr marL="12700" marR="5080"/>
            <a:r>
              <a:rPr lang="en-US" sz="1500" kern="0" spc="-80" dirty="0">
                <a:solidFill>
                  <a:schemeClr val="accent2"/>
                </a:solidFill>
              </a:rPr>
              <a:t>Social Media</a:t>
            </a:r>
          </a:p>
          <a:p>
            <a:pPr marL="12700" marR="5080"/>
            <a:r>
              <a:rPr lang="en-US" sz="1500" kern="0" spc="-80" dirty="0">
                <a:solidFill>
                  <a:schemeClr val="accent6"/>
                </a:solidFill>
              </a:rPr>
              <a:t>Location-tagged data for disaster monitoring or urban studies.</a:t>
            </a:r>
          </a:p>
          <a:p>
            <a:pPr marL="12700" marR="5080"/>
            <a:endParaRPr lang="en-US" sz="1500" kern="0" spc="-80" dirty="0">
              <a:solidFill>
                <a:schemeClr val="accent6"/>
              </a:solidFill>
            </a:endParaRPr>
          </a:p>
          <a:p>
            <a:pPr marL="12700" marR="5080"/>
            <a:r>
              <a:rPr lang="en-US" sz="1500" kern="0" spc="-80" dirty="0">
                <a:solidFill>
                  <a:schemeClr val="accent2"/>
                </a:solidFill>
              </a:rPr>
              <a:t>F. Digitization and Data Conversion</a:t>
            </a:r>
          </a:p>
          <a:p>
            <a:pPr marL="12700" marR="5080"/>
            <a:r>
              <a:rPr lang="en-US" sz="1500" kern="0" spc="-80" dirty="0">
                <a:solidFill>
                  <a:schemeClr val="accent6"/>
                </a:solidFill>
              </a:rPr>
              <a:t>Digitizing paper maps using scanners and GIS software.</a:t>
            </a:r>
          </a:p>
          <a:p>
            <a:pPr marL="12700" marR="5080"/>
            <a:r>
              <a:rPr lang="en-US" sz="1500" kern="0" spc="-80" dirty="0">
                <a:solidFill>
                  <a:schemeClr val="accent2"/>
                </a:solidFill>
              </a:rPr>
              <a:t>Vectorization: </a:t>
            </a:r>
            <a:r>
              <a:rPr lang="en-US" sz="1500" kern="0" spc="-80" dirty="0">
                <a:solidFill>
                  <a:schemeClr val="accent6"/>
                </a:solidFill>
              </a:rPr>
              <a:t>Converting raster images to vector features.</a:t>
            </a:r>
          </a:p>
          <a:p>
            <a:pPr marL="12700" marR="5080"/>
            <a:r>
              <a:rPr lang="en-US" sz="1500" kern="0" spc="-80" dirty="0">
                <a:solidFill>
                  <a:schemeClr val="accent2"/>
                </a:solidFill>
              </a:rPr>
              <a:t>Georeferencing: </a:t>
            </a:r>
            <a:r>
              <a:rPr lang="en-US" sz="1500" kern="0" spc="-80" dirty="0">
                <a:solidFill>
                  <a:schemeClr val="accent6"/>
                </a:solidFill>
              </a:rPr>
              <a:t>Assigning coordinates to images/maps.</a:t>
            </a:r>
          </a:p>
          <a:p>
            <a:pPr marL="12700" marR="5080"/>
            <a:endParaRPr lang="en-US" sz="1500" kern="0" spc="-80" dirty="0">
              <a:solidFill>
                <a:schemeClr val="accent6"/>
              </a:solidFill>
            </a:endParaRPr>
          </a:p>
          <a:p>
            <a:pPr marL="12700" marR="5080"/>
            <a:r>
              <a:rPr lang="en-US" sz="1500" kern="0" spc="-80" dirty="0">
                <a:solidFill>
                  <a:schemeClr val="accent2"/>
                </a:solidFill>
              </a:rPr>
              <a:t>Summary Table</a:t>
            </a:r>
          </a:p>
          <a:p>
            <a:pPr marL="12700" marR="5080"/>
            <a:r>
              <a:rPr lang="en-US" sz="1500" kern="0" spc="-80" dirty="0">
                <a:solidFill>
                  <a:schemeClr val="accent2"/>
                </a:solidFill>
              </a:rPr>
              <a:t>Data Type                 Examples	                                    Collection Method</a:t>
            </a:r>
          </a:p>
          <a:p>
            <a:pPr marL="12700" marR="5080"/>
            <a:r>
              <a:rPr lang="en-US" sz="1400" kern="0" spc="-80" dirty="0">
                <a:solidFill>
                  <a:schemeClr val="accent6"/>
                </a:solidFill>
              </a:rPr>
              <a:t>Vector	                  Points, Lines, Polygons	                   GPS, Surveying, Digitization</a:t>
            </a:r>
          </a:p>
          <a:p>
            <a:pPr marL="12700" marR="5080"/>
            <a:r>
              <a:rPr lang="en-US" sz="1400" kern="0" spc="-80" dirty="0">
                <a:solidFill>
                  <a:schemeClr val="accent6"/>
                </a:solidFill>
              </a:rPr>
              <a:t>Raster	                  Satellite imagery, DEM	                   Remote sensing, Scanning, Drone imagery</a:t>
            </a:r>
          </a:p>
          <a:p>
            <a:pPr marL="12700" marR="5080"/>
            <a:r>
              <a:rPr lang="en-US" sz="1400" kern="0" spc="-80" dirty="0">
                <a:solidFill>
                  <a:schemeClr val="accent6"/>
                </a:solidFill>
              </a:rPr>
              <a:t>Attribute	                  Population, Soil type	                   Field survey, Census, Sensor data</a:t>
            </a:r>
          </a:p>
          <a:p>
            <a:pPr marL="12700" marR="5080"/>
            <a:r>
              <a:rPr lang="en-US" sz="1400" kern="0" spc="-80" dirty="0">
                <a:solidFill>
                  <a:schemeClr val="accent6"/>
                </a:solidFill>
              </a:rPr>
              <a:t>Real-time	                  Traffic, Weather	                   IoT sensors, GPS tracking</a:t>
            </a:r>
          </a:p>
          <a:p>
            <a:pPr marL="12700" marR="5080"/>
            <a:r>
              <a:rPr lang="en-US" sz="1400" kern="0" spc="-80" dirty="0">
                <a:solidFill>
                  <a:schemeClr val="accent6"/>
                </a:solidFill>
              </a:rPr>
              <a:t>Static	                  Land use maps	                   Maps, Surveys</a:t>
            </a:r>
          </a:p>
          <a:p>
            <a:pPr marL="12700" marR="5080"/>
            <a:r>
              <a:rPr lang="en-US" sz="1400" kern="0" spc="-80" dirty="0">
                <a:solidFill>
                  <a:schemeClr val="accent6"/>
                </a:solidFill>
              </a:rPr>
              <a:t>Crowdsourced            OpenStreetMap	                   Volunteered input.</a:t>
            </a:r>
          </a:p>
        </p:txBody>
      </p:sp>
    </p:spTree>
    <p:extLst>
      <p:ext uri="{BB962C8B-B14F-4D97-AF65-F5344CB8AC3E}">
        <p14:creationId xmlns:p14="http://schemas.microsoft.com/office/powerpoint/2010/main" val="4271242315"/>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C80D63-A38B-FA2D-AB8C-BF6EC01233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475FEB-F924-1F42-6F3A-8C562BF60A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885F0-2FCB-6FC2-49F7-C272C49E1F2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61DECD-FD4A-F996-C778-50D04632487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37B351-CE5F-D9E4-66CF-34848F3529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9F0EC2D-29F7-EAA8-329D-1B88B2B0E7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29ACFD0-A587-1C59-9D0C-197102AE4E8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3C44A7-315B-321B-06B9-BA25F2DBFD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CBC3D20-5260-EFAA-6E6F-92198C8FC3F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2A9591F-B0F8-2B01-7B89-AC1B359E6514}"/>
              </a:ext>
            </a:extLst>
          </p:cNvPr>
          <p:cNvSpPr txBox="1">
            <a:spLocks/>
          </p:cNvSpPr>
          <p:nvPr/>
        </p:nvSpPr>
        <p:spPr>
          <a:xfrm>
            <a:off x="228600" y="7620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4. Core GIS Operations</a:t>
            </a:r>
          </a:p>
          <a:p>
            <a:pPr marL="12700" marR="5080"/>
            <a:r>
              <a:rPr lang="en-US" sz="1400" kern="0" spc="-80" dirty="0">
                <a:solidFill>
                  <a:schemeClr val="accent2"/>
                </a:solidFill>
              </a:rPr>
              <a:t>a) Geometry Operations </a:t>
            </a:r>
          </a:p>
          <a:p>
            <a:pPr marL="12700" marR="5080"/>
            <a:r>
              <a:rPr lang="en-US" sz="1400" kern="0" spc="-80" dirty="0">
                <a:solidFill>
                  <a:schemeClr val="accent6"/>
                </a:solidFill>
              </a:rPr>
              <a:t>Buffer (grow/shrink shapes) </a:t>
            </a:r>
          </a:p>
          <a:p>
            <a:pPr marL="12700" marR="5080"/>
            <a:r>
              <a:rPr lang="en-US" sz="1400" kern="0" spc="-80" dirty="0">
                <a:solidFill>
                  <a:schemeClr val="accent6"/>
                </a:solidFill>
              </a:rPr>
              <a:t>Intersect (find overlaps) </a:t>
            </a:r>
          </a:p>
          <a:p>
            <a:pPr marL="12700" marR="5080"/>
            <a:r>
              <a:rPr lang="en-US" sz="1400" kern="0" spc="-80" dirty="0">
                <a:solidFill>
                  <a:schemeClr val="accent6"/>
                </a:solidFill>
              </a:rPr>
              <a:t>Union (combine shapes) </a:t>
            </a:r>
          </a:p>
          <a:p>
            <a:pPr marL="12700" marR="5080"/>
            <a:r>
              <a:rPr lang="en-US" sz="1400" kern="0" spc="-80" dirty="0">
                <a:solidFill>
                  <a:schemeClr val="accent6"/>
                </a:solidFill>
              </a:rPr>
              <a:t>Clip (cut one shape with another) </a:t>
            </a:r>
          </a:p>
          <a:p>
            <a:pPr marL="12700" marR="5080"/>
            <a:r>
              <a:rPr lang="en-US" sz="1400" kern="0" spc="-80" dirty="0">
                <a:solidFill>
                  <a:schemeClr val="accent6"/>
                </a:solidFill>
              </a:rPr>
              <a:t>Dissolve (merge adjacent shapes)</a:t>
            </a:r>
          </a:p>
          <a:p>
            <a:pPr marL="12700" marR="5080"/>
            <a:endParaRPr lang="en-US" sz="1400" kern="0" spc="-80" dirty="0">
              <a:solidFill>
                <a:schemeClr val="accent6"/>
              </a:solidFill>
            </a:endParaRPr>
          </a:p>
          <a:p>
            <a:pPr marL="12700" marR="5080"/>
            <a:r>
              <a:rPr lang="en-US" sz="1400" kern="0" spc="-80" dirty="0">
                <a:solidFill>
                  <a:schemeClr val="accent2"/>
                </a:solidFill>
              </a:rPr>
              <a:t>b) Spatial Queries </a:t>
            </a:r>
          </a:p>
          <a:p>
            <a:pPr marL="12700" marR="5080"/>
            <a:r>
              <a:rPr lang="en-US" sz="1400" kern="0" spc="-80" dirty="0">
                <a:solidFill>
                  <a:schemeClr val="accent6"/>
                </a:solidFill>
              </a:rPr>
              <a:t>"Find all schools within 500m of highways.“</a:t>
            </a:r>
          </a:p>
          <a:p>
            <a:pPr marL="12700" marR="5080"/>
            <a:r>
              <a:rPr lang="en-US" sz="1400" kern="0" spc="-80" dirty="0">
                <a:solidFill>
                  <a:schemeClr val="accent6"/>
                </a:solidFill>
              </a:rPr>
              <a:t> Uses: distance computation + point-in-polygon logic</a:t>
            </a:r>
          </a:p>
          <a:p>
            <a:pPr marL="12700" marR="5080"/>
            <a:endParaRPr lang="en-US" sz="1400" kern="0" spc="-80" dirty="0">
              <a:solidFill>
                <a:schemeClr val="accent6"/>
              </a:solidFill>
            </a:endParaRPr>
          </a:p>
          <a:p>
            <a:pPr marL="12700" marR="5080"/>
            <a:r>
              <a:rPr lang="en-US" sz="1400" kern="0" spc="-80" dirty="0">
                <a:solidFill>
                  <a:schemeClr val="accent2"/>
                </a:solidFill>
              </a:rPr>
              <a:t>c) Attribute Queries </a:t>
            </a:r>
          </a:p>
          <a:p>
            <a:pPr marL="12700" marR="5080"/>
            <a:r>
              <a:rPr lang="en-US" sz="1400" kern="0" spc="-80" dirty="0">
                <a:solidFill>
                  <a:schemeClr val="accent6"/>
                </a:solidFill>
              </a:rPr>
              <a:t>"Select cities where population &gt; 1 million." Pure relational algebra on databases.</a:t>
            </a:r>
          </a:p>
          <a:p>
            <a:pPr marL="12700" marR="5080"/>
            <a:endParaRPr lang="en-US" sz="1400" kern="0" spc="-80" dirty="0">
              <a:solidFill>
                <a:schemeClr val="accent6"/>
              </a:solidFill>
            </a:endParaRPr>
          </a:p>
          <a:p>
            <a:pPr marL="12700" marR="5080"/>
            <a:r>
              <a:rPr lang="en-US" sz="1400" kern="0" spc="-80" dirty="0">
                <a:solidFill>
                  <a:schemeClr val="accent2"/>
                </a:solidFill>
              </a:rPr>
              <a:t>d) Raster Operations </a:t>
            </a:r>
          </a:p>
          <a:p>
            <a:pPr marL="12700" marR="5080"/>
            <a:r>
              <a:rPr lang="en-US" sz="1400" kern="0" spc="-80" dirty="0">
                <a:solidFill>
                  <a:schemeClr val="accent2"/>
                </a:solidFill>
              </a:rPr>
              <a:t>Type                                      Example                                           Math Used </a:t>
            </a:r>
          </a:p>
          <a:p>
            <a:pPr marL="12700" marR="5080"/>
            <a:r>
              <a:rPr lang="en-US" sz="1400" kern="0" spc="-80" dirty="0">
                <a:solidFill>
                  <a:schemeClr val="accent6"/>
                </a:solidFill>
              </a:rPr>
              <a:t>Local                                      NDVI = (NIR - Red)/(NIR + Red)     Pixel arithmetic </a:t>
            </a:r>
          </a:p>
          <a:p>
            <a:pPr marL="12700" marR="5080"/>
            <a:r>
              <a:rPr lang="en-US" sz="1400" kern="0" spc="-80" dirty="0">
                <a:solidFill>
                  <a:schemeClr val="accent6"/>
                </a:solidFill>
              </a:rPr>
              <a:t>Focal                                      Slope computation                         Convolution kernels </a:t>
            </a:r>
          </a:p>
          <a:p>
            <a:pPr marL="12700" marR="5080"/>
            <a:r>
              <a:rPr lang="en-US" sz="1400" kern="0" spc="-80" dirty="0">
                <a:solidFill>
                  <a:schemeClr val="accent6"/>
                </a:solidFill>
              </a:rPr>
              <a:t>Zonal                                     Mean rainfall per district               Statistical aggregation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15632891"/>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CC448-734B-7871-7486-DB71D4C9C83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029A7D3-E6C3-E5FE-DC84-904BBD531F1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281B95-AF80-436C-E9E1-80905823E74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D451AB-4926-89F7-038D-081F8F654EE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5D5C866-EEFB-D9D4-781D-71CF26FC2E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5DF57D-4ADE-A54B-7916-0640101D56C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0FD2D4-CA0B-0367-0244-D9102A694F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A72A3DF-5D47-7908-8F66-96CF6C7EA1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BF26DB2-895E-6777-4D29-90F63013BD4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937C93E-9D56-F004-FCFD-B45B2929D447}"/>
              </a:ext>
            </a:extLst>
          </p:cNvPr>
          <p:cNvSpPr txBox="1">
            <a:spLocks/>
          </p:cNvSpPr>
          <p:nvPr/>
        </p:nvSpPr>
        <p:spPr>
          <a:xfrm>
            <a:off x="228600" y="7620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4. Core GIS Operations</a:t>
            </a:r>
          </a:p>
          <a:p>
            <a:pPr marL="12700" marR="5080"/>
            <a:r>
              <a:rPr lang="en-US" sz="1400" kern="0" spc="-80" dirty="0">
                <a:solidFill>
                  <a:schemeClr val="accent2"/>
                </a:solidFill>
              </a:rPr>
              <a:t>e) Network Analysis </a:t>
            </a:r>
          </a:p>
          <a:p>
            <a:pPr marL="12700" marR="5080"/>
            <a:r>
              <a:rPr lang="en-US" sz="1400" kern="0" spc="-80" dirty="0">
                <a:solidFill>
                  <a:schemeClr val="accent6"/>
                </a:solidFill>
              </a:rPr>
              <a:t>Shortest path (e.g., Google Maps) </a:t>
            </a:r>
          </a:p>
          <a:p>
            <a:pPr marL="12700" marR="5080"/>
            <a:r>
              <a:rPr lang="en-US" sz="1400" kern="0" spc="-80" dirty="0">
                <a:solidFill>
                  <a:schemeClr val="accent6"/>
                </a:solidFill>
              </a:rPr>
              <a:t>Service area (which hospital is closest?) </a:t>
            </a:r>
          </a:p>
          <a:p>
            <a:pPr marL="12700" marR="5080"/>
            <a:r>
              <a:rPr lang="en-US" sz="1400" kern="0" spc="-80" dirty="0">
                <a:solidFill>
                  <a:schemeClr val="accent6"/>
                </a:solidFill>
              </a:rPr>
              <a:t>Uses graph theory + Dijkstra / A*</a:t>
            </a:r>
          </a:p>
          <a:p>
            <a:pPr marL="12700" marR="5080"/>
            <a:endParaRPr lang="en-US" sz="1400" kern="0" spc="-80" dirty="0">
              <a:solidFill>
                <a:schemeClr val="accent6"/>
              </a:solidFill>
            </a:endParaRPr>
          </a:p>
          <a:p>
            <a:pPr marL="12700" marR="5080"/>
            <a:r>
              <a:rPr lang="en-US" sz="1400" kern="0" spc="-80" dirty="0">
                <a:solidFill>
                  <a:schemeClr val="accent2"/>
                </a:solidFill>
              </a:rPr>
              <a:t>5) Advanced GIS Concepts</a:t>
            </a:r>
          </a:p>
          <a:p>
            <a:pPr marL="12700" marR="5080"/>
            <a:r>
              <a:rPr lang="en-US" sz="1400" kern="0" spc="-80" dirty="0">
                <a:solidFill>
                  <a:schemeClr val="accent2"/>
                </a:solidFill>
              </a:rPr>
              <a:t>Technique	                            Purpose	                    Key Math</a:t>
            </a:r>
          </a:p>
          <a:p>
            <a:pPr marL="12700" marR="5080"/>
            <a:r>
              <a:rPr lang="en-US" sz="1400" kern="0" spc="-80" dirty="0">
                <a:solidFill>
                  <a:schemeClr val="accent6"/>
                </a:solidFill>
              </a:rPr>
              <a:t>Spatial Interpolation	         Fill unknown values	Kriging, IDW</a:t>
            </a:r>
          </a:p>
          <a:p>
            <a:pPr marL="12700" marR="5080"/>
            <a:r>
              <a:rPr lang="en-US" sz="1400" kern="0" spc="-80" dirty="0">
                <a:solidFill>
                  <a:schemeClr val="accent6"/>
                </a:solidFill>
              </a:rPr>
              <a:t>Image Classification	         Land use mapping	Linear algebra + ML</a:t>
            </a:r>
          </a:p>
          <a:p>
            <a:pPr marL="12700" marR="5080"/>
            <a:r>
              <a:rPr lang="en-US" sz="1400" kern="0" spc="-80" dirty="0">
                <a:solidFill>
                  <a:schemeClr val="accent6"/>
                </a:solidFill>
              </a:rPr>
              <a:t>LiDAR Processing	         Extract 3D structures	Point cloud geometry</a:t>
            </a:r>
          </a:p>
          <a:p>
            <a:pPr marL="12700" marR="5080"/>
            <a:r>
              <a:rPr lang="en-US" sz="1400" kern="0" spc="-80" dirty="0">
                <a:solidFill>
                  <a:schemeClr val="accent6"/>
                </a:solidFill>
              </a:rPr>
              <a:t>3D GIS	                            City models (BIM)	Transform matrices &amp; perspective projection</a:t>
            </a:r>
          </a:p>
          <a:p>
            <a:pPr marL="12700" marR="5080"/>
            <a:r>
              <a:rPr lang="en-US" sz="1400" kern="0" spc="-80" dirty="0" err="1">
                <a:solidFill>
                  <a:schemeClr val="accent6"/>
                </a:solidFill>
              </a:rPr>
              <a:t>Spatio</a:t>
            </a:r>
            <a:r>
              <a:rPr lang="en-US" sz="1400" kern="0" spc="-80" dirty="0">
                <a:solidFill>
                  <a:schemeClr val="accent6"/>
                </a:solidFill>
              </a:rPr>
              <a:t>-temporal GIS	         Time-based changes	Time-series statistics</a:t>
            </a:r>
          </a:p>
          <a:p>
            <a:pPr marL="12700" marR="5080"/>
            <a:endParaRPr lang="en-US" sz="1400" kern="0" spc="-80" dirty="0">
              <a:solidFill>
                <a:schemeClr val="accent6"/>
              </a:solidFill>
            </a:endParaRPr>
          </a:p>
          <a:p>
            <a:pPr marL="12700" marR="5080"/>
            <a:r>
              <a:rPr lang="en-US" sz="1400" kern="0" spc="-80" dirty="0">
                <a:solidFill>
                  <a:schemeClr val="accent2"/>
                </a:solidFill>
              </a:rPr>
              <a:t>Other Noteworthy Applications of GIS</a:t>
            </a:r>
          </a:p>
          <a:p>
            <a:pPr marL="12700" marR="5080"/>
            <a:r>
              <a:rPr lang="en-US" sz="1400" kern="0" spc="-80" dirty="0">
                <a:solidFill>
                  <a:schemeClr val="accent6"/>
                </a:solidFill>
              </a:rPr>
              <a:t>Proximity detection algorithms</a:t>
            </a:r>
          </a:p>
          <a:p>
            <a:pPr marL="12700" marR="5080"/>
            <a:r>
              <a:rPr lang="en-US" sz="1400" kern="0" spc="-80" dirty="0">
                <a:solidFill>
                  <a:schemeClr val="accent6"/>
                </a:solidFill>
              </a:rPr>
              <a:t>Directions (driving, walking, biking, public transport)</a:t>
            </a:r>
          </a:p>
          <a:p>
            <a:pPr marL="12700" marR="5080"/>
            <a:r>
              <a:rPr lang="en-US" sz="1400" kern="0" spc="-80" dirty="0">
                <a:solidFill>
                  <a:schemeClr val="accent6"/>
                </a:solidFill>
              </a:rPr>
              <a:t>Traffic and real-time updates</a:t>
            </a:r>
          </a:p>
          <a:p>
            <a:pPr marL="12700" marR="5080"/>
            <a:r>
              <a:rPr lang="en-US" sz="1400" kern="0" spc="-80" dirty="0">
                <a:solidFill>
                  <a:schemeClr val="accent6"/>
                </a:solidFill>
              </a:rPr>
              <a:t>Push notifications based on location</a:t>
            </a:r>
          </a:p>
          <a:p>
            <a:pPr marL="12700" marR="5080"/>
            <a:r>
              <a:rPr lang="en-US" sz="1400" kern="0" spc="-80" dirty="0">
                <a:solidFill>
                  <a:schemeClr val="accent6"/>
                </a:solidFill>
              </a:rPr>
              <a:t>Live location sharing</a:t>
            </a:r>
          </a:p>
          <a:p>
            <a:pPr marL="12700" marR="5080"/>
            <a:r>
              <a:rPr lang="en-US" sz="1400" kern="0" spc="-80" dirty="0">
                <a:solidFill>
                  <a:schemeClr val="accent6"/>
                </a:solidFill>
              </a:rPr>
              <a:t>Multi-modal transport routing</a:t>
            </a:r>
          </a:p>
          <a:p>
            <a:pPr marL="12700" marR="5080"/>
            <a:r>
              <a:rPr lang="en-US" sz="1400" kern="0" spc="-80" dirty="0">
                <a:solidFill>
                  <a:schemeClr val="accent6"/>
                </a:solidFill>
              </a:rPr>
              <a:t>Traffic-aware routing</a:t>
            </a:r>
          </a:p>
          <a:p>
            <a:pPr marL="12700" marR="5080"/>
            <a:r>
              <a:rPr lang="en-US" sz="1400" kern="0" spc="-80" dirty="0">
                <a:solidFill>
                  <a:schemeClr val="accent6"/>
                </a:solidFill>
              </a:rPr>
              <a:t>Places API (POI – points of interest)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30373028"/>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B7303-FC04-E536-885D-9226B22A43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D1CC8C-6288-1626-9CEB-C81252BF50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BE0785-7373-808F-CDD3-0286C7A0B5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EE7686-BC2E-35CB-E4D0-4D0528F0A6F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585B28B-CE3C-046F-F4A5-6EE05C69577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AF70D81-00E8-3A1A-C367-FFBFB9054A7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C6E0ED-FFC4-C0F4-8089-449061907C8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FDA1596-5B2D-E198-E402-97D64B928C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82DBBB9-9804-A8AB-3BDC-9A56302DEC0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A5AE632-6DE8-AEF1-1683-0201E1184E0F}"/>
              </a:ext>
            </a:extLst>
          </p:cNvPr>
          <p:cNvSpPr txBox="1">
            <a:spLocks/>
          </p:cNvSpPr>
          <p:nvPr/>
        </p:nvSpPr>
        <p:spPr>
          <a:xfrm>
            <a:off x="228600" y="762000"/>
            <a:ext cx="8624937" cy="62940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350" kern="0" spc="-80" dirty="0">
                <a:solidFill>
                  <a:schemeClr val="accent2"/>
                </a:solidFill>
              </a:rPr>
              <a:t>For Further Exploration</a:t>
            </a:r>
          </a:p>
          <a:p>
            <a:pPr marL="12700" marR="5080"/>
            <a:r>
              <a:rPr lang="en-IN" sz="1300" dirty="0">
                <a:hlinkClick r:id="rId7"/>
              </a:rPr>
              <a:t>Geospatial Data Science Essentials: 101 Practical Python Tips and Tricks</a:t>
            </a:r>
            <a:endParaRPr lang="en-US" sz="1300" kern="0" spc="-80" dirty="0">
              <a:solidFill>
                <a:schemeClr val="accent2"/>
              </a:solidFill>
            </a:endParaRPr>
          </a:p>
          <a:p>
            <a:pPr marL="12700" marR="5080"/>
            <a:r>
              <a:rPr lang="en-IN" sz="1300" dirty="0">
                <a:hlinkClick r:id="rId8"/>
              </a:rPr>
              <a:t>Introduction to Geographical Information Systems</a:t>
            </a:r>
            <a:endParaRPr lang="en-IN" sz="1300" dirty="0"/>
          </a:p>
          <a:p>
            <a:pPr marL="12700" marR="5080"/>
            <a:r>
              <a:rPr lang="en-IN" sz="1300" dirty="0">
                <a:hlinkClick r:id="rId9"/>
              </a:rPr>
              <a:t>Geographic Information Systems and Science </a:t>
            </a:r>
            <a:endParaRPr lang="en-IN" sz="1300" dirty="0"/>
          </a:p>
          <a:p>
            <a:pPr marL="12700" marR="5080"/>
            <a:r>
              <a:rPr lang="fr-FR" sz="1300" dirty="0">
                <a:hlinkClick r:id="rId10"/>
              </a:rPr>
              <a:t>QGIS Training Manual — QGIS Documentation </a:t>
            </a:r>
            <a:r>
              <a:rPr lang="fr-FR" sz="1300" dirty="0" err="1">
                <a:hlinkClick r:id="rId10"/>
              </a:rPr>
              <a:t>documentation</a:t>
            </a:r>
            <a:endParaRPr lang="fr-FR" sz="1300" dirty="0"/>
          </a:p>
          <a:p>
            <a:pPr marL="12700" marR="5080"/>
            <a:r>
              <a:rPr lang="en-IN" sz="1300" dirty="0">
                <a:hlinkClick r:id="rId11"/>
              </a:rPr>
              <a:t>Understanding GIS</a:t>
            </a:r>
            <a:endParaRPr lang="en-US" sz="1300" kern="0" spc="-80" dirty="0">
              <a:solidFill>
                <a:schemeClr val="accent2"/>
              </a:solidFill>
            </a:endParaRPr>
          </a:p>
          <a:p>
            <a:pPr marL="12700" marR="5080"/>
            <a:r>
              <a:rPr lang="en-IN" sz="1300" dirty="0">
                <a:hlinkClick r:id="rId12"/>
              </a:rPr>
              <a:t>Spatial database – Wikipedia</a:t>
            </a:r>
            <a:endParaRPr lang="en-IN" sz="1300" dirty="0"/>
          </a:p>
          <a:p>
            <a:pPr marL="12700" marR="5080"/>
            <a:r>
              <a:rPr lang="en-IN" sz="1300" dirty="0">
                <a:hlinkClick r:id="rId13"/>
              </a:rPr>
              <a:t>How </a:t>
            </a:r>
            <a:r>
              <a:rPr lang="en-IN" sz="1300" dirty="0" err="1">
                <a:hlinkClick r:id="rId13"/>
              </a:rPr>
              <a:t>PostGIS</a:t>
            </a:r>
            <a:r>
              <a:rPr lang="en-IN" sz="1300" dirty="0">
                <a:hlinkClick r:id="rId13"/>
              </a:rPr>
              <a:t> Stores Various Data Types</a:t>
            </a:r>
            <a:endParaRPr lang="en-IN" sz="1300" dirty="0"/>
          </a:p>
          <a:p>
            <a:pPr marL="12700" marR="5080"/>
            <a:r>
              <a:rPr lang="en-IN" sz="1300" dirty="0">
                <a:hlinkClick r:id="rId14"/>
              </a:rPr>
              <a:t>Training Materials | </a:t>
            </a:r>
            <a:r>
              <a:rPr lang="en-IN" sz="1300" dirty="0" err="1">
                <a:hlinkClick r:id="rId14"/>
              </a:rPr>
              <a:t>PostGIS</a:t>
            </a:r>
            <a:r>
              <a:rPr lang="en-US" sz="1300" kern="0" spc="-80" dirty="0">
                <a:solidFill>
                  <a:schemeClr val="accent2"/>
                </a:solidFill>
              </a:rPr>
              <a:t>  </a:t>
            </a:r>
          </a:p>
          <a:p>
            <a:pPr marL="12700" marR="5080"/>
            <a:r>
              <a:rPr lang="en-IN" sz="1300" dirty="0">
                <a:hlinkClick r:id="rId15"/>
              </a:rPr>
              <a:t>Documentation | </a:t>
            </a:r>
            <a:r>
              <a:rPr lang="en-IN" sz="1300" dirty="0" err="1">
                <a:hlinkClick r:id="rId15"/>
              </a:rPr>
              <a:t>PostGIS</a:t>
            </a:r>
            <a:r>
              <a:rPr lang="en-US" sz="1300" kern="0" spc="-80" dirty="0">
                <a:solidFill>
                  <a:schemeClr val="accent2"/>
                </a:solidFill>
              </a:rPr>
              <a:t> </a:t>
            </a:r>
          </a:p>
          <a:p>
            <a:pPr marL="12700" marR="5080"/>
            <a:r>
              <a:rPr lang="en-IN" sz="1300" dirty="0">
                <a:hlinkClick r:id="rId16"/>
              </a:rPr>
              <a:t>Understanding Efficient Spatial Indexing – </a:t>
            </a:r>
            <a:r>
              <a:rPr lang="en-IN" sz="1300" dirty="0" err="1">
                <a:hlinkClick r:id="rId16"/>
              </a:rPr>
              <a:t>GeeksforGeeks</a:t>
            </a:r>
            <a:r>
              <a:rPr lang="en-IN" sz="1300" kern="0" spc="-80" dirty="0">
                <a:solidFill>
                  <a:schemeClr val="accent6"/>
                </a:solidFill>
              </a:rPr>
              <a:t>(Any geospatial index is mainly hash or tree based)</a:t>
            </a:r>
            <a:endParaRPr lang="en-US" sz="1300" kern="0" spc="-80" dirty="0">
              <a:solidFill>
                <a:schemeClr val="accent6"/>
              </a:solidFill>
            </a:endParaRPr>
          </a:p>
          <a:p>
            <a:pPr marL="12700" marR="5080"/>
            <a:r>
              <a:rPr lang="en-IN" sz="1300" dirty="0">
                <a:hlinkClick r:id="rId17"/>
              </a:rPr>
              <a:t>Quadtrees &amp; </a:t>
            </a:r>
            <a:r>
              <a:rPr lang="en-IN" sz="1300" dirty="0" err="1">
                <a:hlinkClick r:id="rId17"/>
              </a:rPr>
              <a:t>GeoHash</a:t>
            </a:r>
            <a:endParaRPr lang="en-IN" sz="1300" dirty="0"/>
          </a:p>
          <a:p>
            <a:pPr marL="12700" marR="5080"/>
            <a:r>
              <a:rPr lang="en-IN" sz="1300" dirty="0">
                <a:hlinkClick r:id="rId18"/>
              </a:rPr>
              <a:t>Geohash grid - OpenSearch Documentation</a:t>
            </a:r>
            <a:endParaRPr lang="en-IN" sz="1300" dirty="0"/>
          </a:p>
          <a:p>
            <a:pPr marL="12700" marR="5080"/>
            <a:r>
              <a:rPr lang="en-IN" sz="1300" dirty="0">
                <a:hlinkClick r:id="rId19"/>
              </a:rPr>
              <a:t>S2 Geometry | S2Geometry</a:t>
            </a:r>
            <a:r>
              <a:rPr lang="en-IN" sz="1300" kern="0" spc="-80" dirty="0">
                <a:solidFill>
                  <a:schemeClr val="accent6"/>
                </a:solidFill>
              </a:rPr>
              <a:t>(another tree based geo index)</a:t>
            </a:r>
          </a:p>
          <a:p>
            <a:pPr marL="12700" marR="5080"/>
            <a:r>
              <a:rPr lang="en-US" sz="1300" dirty="0">
                <a:hlinkClick r:id="rId20"/>
              </a:rPr>
              <a:t>S2 Region Coverer Online Viewer</a:t>
            </a:r>
            <a:endParaRPr lang="en-IN" sz="1300" dirty="0"/>
          </a:p>
          <a:p>
            <a:pPr marL="12700" marR="5080"/>
            <a:r>
              <a:rPr lang="en-US" sz="1300" dirty="0">
                <a:hlinkClick r:id="rId21"/>
              </a:rPr>
              <a:t>SpatialSearch - Apache Lucene (Java) - Apache Software Foundation</a:t>
            </a:r>
            <a:endParaRPr lang="en-US" sz="1300" dirty="0"/>
          </a:p>
          <a:p>
            <a:pPr marL="12700" marR="5080"/>
            <a:r>
              <a:rPr lang="en-US" sz="1300" dirty="0" err="1">
                <a:hlinkClick r:id="rId22"/>
              </a:rPr>
              <a:t>Geoshape</a:t>
            </a:r>
            <a:r>
              <a:rPr lang="en-US" sz="1300" dirty="0">
                <a:hlinkClick r:id="rId22"/>
              </a:rPr>
              <a:t> field type | Elasticsearch Guide [8.17] | Elastic</a:t>
            </a:r>
            <a:endParaRPr lang="en-US" sz="1300" dirty="0"/>
          </a:p>
          <a:p>
            <a:pPr marL="12700" marR="5080"/>
            <a:r>
              <a:rPr lang="en-IN" sz="1300" dirty="0">
                <a:hlinkClick r:id="rId23"/>
              </a:rPr>
              <a:t>Scaling Millions of Geospatial Queries per minute using Redis</a:t>
            </a:r>
            <a:endParaRPr lang="en-IN" sz="1300" dirty="0"/>
          </a:p>
          <a:p>
            <a:pPr marL="12700" marR="5080"/>
            <a:r>
              <a:rPr lang="en-IN" sz="1300" dirty="0">
                <a:hlinkClick r:id="rId24"/>
              </a:rPr>
              <a:t>Address geocoding – Wikipedia</a:t>
            </a:r>
            <a:endParaRPr lang="en-IN" sz="1300" dirty="0"/>
          </a:p>
          <a:p>
            <a:pPr marL="12700" marR="5080"/>
            <a:r>
              <a:rPr lang="en-IN" sz="1300" dirty="0">
                <a:hlinkClick r:id="rId25"/>
              </a:rPr>
              <a:t>The Hilbert Mapping</a:t>
            </a:r>
            <a:endParaRPr lang="en-IN" sz="1300" dirty="0"/>
          </a:p>
          <a:p>
            <a:pPr marL="12700" marR="5080"/>
            <a:r>
              <a:rPr lang="en-US" sz="1300" dirty="0" err="1">
                <a:hlinkClick r:id="rId26"/>
              </a:rPr>
              <a:t>Geosharded</a:t>
            </a:r>
            <a:r>
              <a:rPr lang="en-US" sz="1300" dirty="0">
                <a:hlinkClick r:id="rId26"/>
              </a:rPr>
              <a:t> Recommendations with Hilbert Curve at Tinder | Hacker News</a:t>
            </a:r>
            <a:endParaRPr lang="en-US" sz="1300" dirty="0"/>
          </a:p>
          <a:p>
            <a:pPr marL="12700" marR="5080"/>
            <a:r>
              <a:rPr lang="en-IN" sz="1300" dirty="0">
                <a:hlinkClick r:id="rId15"/>
              </a:rPr>
              <a:t>Documentation | </a:t>
            </a:r>
            <a:r>
              <a:rPr lang="en-IN" sz="1300" dirty="0" err="1">
                <a:hlinkClick r:id="rId15"/>
              </a:rPr>
              <a:t>PostGIS</a:t>
            </a:r>
            <a:endParaRPr lang="en-US" sz="1300" dirty="0"/>
          </a:p>
          <a:p>
            <a:pPr marL="12700" marR="5080"/>
            <a:r>
              <a:rPr lang="en-IN" sz="1300" kern="0" spc="-80" dirty="0">
                <a:solidFill>
                  <a:schemeClr val="accent2"/>
                </a:solidFill>
              </a:rPr>
              <a:t>N.B. – </a:t>
            </a:r>
            <a:r>
              <a:rPr lang="en-IN" sz="1300" kern="0" spc="-80" dirty="0">
                <a:solidFill>
                  <a:schemeClr val="accent6"/>
                </a:solidFill>
              </a:rPr>
              <a:t>The basic idea w.r.t any geo search is to divide the map into smaller regions/areas &amp; build (inverted) indexes(e.g. a geohash index table having 2 columns viz geohash &amp; business IDs)</a:t>
            </a:r>
          </a:p>
          <a:p>
            <a:pPr marL="12700" marR="5080"/>
            <a:endParaRPr lang="en-US" sz="1400" dirty="0"/>
          </a:p>
          <a:p>
            <a:pPr marL="12700" marR="5080"/>
            <a:endParaRPr lang="en-IN" sz="1200" kern="0" spc="-80" dirty="0">
              <a:solidFill>
                <a:schemeClr val="accent6"/>
              </a:solidFill>
            </a:endParaRPr>
          </a:p>
          <a:p>
            <a:pPr marL="12700" marR="5080"/>
            <a:endParaRPr lang="en-IN" sz="1200" dirty="0"/>
          </a:p>
          <a:p>
            <a:pPr marL="12700" marR="5080"/>
            <a:endParaRPr lang="en-US" sz="1400" kern="0" spc="-80" dirty="0">
              <a:solidFill>
                <a:schemeClr val="accent2"/>
              </a:solidFill>
            </a:endParaRPr>
          </a:p>
        </p:txBody>
      </p:sp>
    </p:spTree>
    <p:extLst>
      <p:ext uri="{BB962C8B-B14F-4D97-AF65-F5344CB8AC3E}">
        <p14:creationId xmlns:p14="http://schemas.microsoft.com/office/powerpoint/2010/main" val="4107686031"/>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9769C-A769-63F3-A43A-D255481AC2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1C64F65-A6F2-30D6-8FB1-C8EDB5202F4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4D48CC-385C-6729-34BD-F6B40D2AEB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12053D-8E3B-5294-4036-51E79CFCA3D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9729BE-DB81-9F4F-1DD2-654F9F1BB4A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6D8282-C7F7-1583-1647-9A66B152C50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2F260B-A215-1A62-E715-1C71E4D8215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34CECB5-47A0-7920-62EE-520C2498C12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574E4B-8977-F6C7-56DA-F66B413FB74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EC73A8F-9482-10B6-2303-004072C1DCE7}"/>
              </a:ext>
            </a:extLst>
          </p:cNvPr>
          <p:cNvSpPr txBox="1">
            <a:spLocks/>
          </p:cNvSpPr>
          <p:nvPr/>
        </p:nvSpPr>
        <p:spPr>
          <a:xfrm>
            <a:off x="228600" y="762000"/>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1. What Cartography Really Is</a:t>
            </a:r>
          </a:p>
          <a:p>
            <a:pPr marL="12700" marR="5080"/>
            <a:r>
              <a:rPr lang="en-US" sz="1400" kern="0" spc="-80" dirty="0">
                <a:solidFill>
                  <a:schemeClr val="accent2"/>
                </a:solidFill>
              </a:rPr>
              <a:t>Cartography is:</a:t>
            </a:r>
          </a:p>
          <a:p>
            <a:pPr marL="12700" marR="5080"/>
            <a:r>
              <a:rPr lang="en-US" sz="1400" kern="0" spc="-80" dirty="0">
                <a:solidFill>
                  <a:schemeClr val="accent2"/>
                </a:solidFill>
              </a:rPr>
              <a:t>Representation: </a:t>
            </a:r>
            <a:r>
              <a:rPr lang="en-US" sz="1400" kern="0" spc="-80" dirty="0">
                <a:solidFill>
                  <a:schemeClr val="accent6"/>
                </a:solidFill>
              </a:rPr>
              <a:t>Creating symbolic models of reality.</a:t>
            </a:r>
          </a:p>
          <a:p>
            <a:pPr marL="12700" marR="5080"/>
            <a:r>
              <a:rPr lang="en-US" sz="1400" kern="0" spc="-80" dirty="0">
                <a:solidFill>
                  <a:schemeClr val="accent2"/>
                </a:solidFill>
              </a:rPr>
              <a:t>Abstraction: </a:t>
            </a:r>
            <a:r>
              <a:rPr lang="en-US" sz="1400" kern="0" spc="-80" dirty="0">
                <a:solidFill>
                  <a:schemeClr val="accent6"/>
                </a:solidFill>
              </a:rPr>
              <a:t>Deciding what to keep and what to omit.</a:t>
            </a:r>
          </a:p>
          <a:p>
            <a:pPr marL="12700" marR="5080"/>
            <a:r>
              <a:rPr lang="en-US" sz="1400" kern="0" spc="-80" dirty="0">
                <a:solidFill>
                  <a:schemeClr val="accent2"/>
                </a:solidFill>
              </a:rPr>
              <a:t>Communication: </a:t>
            </a:r>
            <a:r>
              <a:rPr lang="en-US" sz="1400" kern="0" spc="-80" dirty="0">
                <a:solidFill>
                  <a:schemeClr val="accent6"/>
                </a:solidFill>
              </a:rPr>
              <a:t>Making spatial meaning clear and useful.</a:t>
            </a:r>
          </a:p>
          <a:p>
            <a:pPr marL="12700" marR="5080"/>
            <a:r>
              <a:rPr lang="en-US" sz="1400" kern="0" spc="-80" dirty="0">
                <a:solidFill>
                  <a:schemeClr val="accent2"/>
                </a:solidFill>
              </a:rPr>
              <a:t>Aesthetic Discipline:</a:t>
            </a:r>
            <a:r>
              <a:rPr lang="en-US" sz="1400" kern="0" spc="-80" dirty="0">
                <a:solidFill>
                  <a:schemeClr val="accent6"/>
                </a:solidFill>
              </a:rPr>
              <a:t> Ensuring visual balance and map personality.</a:t>
            </a:r>
          </a:p>
          <a:p>
            <a:pPr marL="12700" marR="5080"/>
            <a:r>
              <a:rPr lang="en-US" sz="1400" kern="0" spc="-80" dirty="0">
                <a:solidFill>
                  <a:schemeClr val="accent6"/>
                </a:solidFill>
              </a:rPr>
              <a:t>Every map is a story someone wants to tell about a place.</a:t>
            </a:r>
          </a:p>
          <a:p>
            <a:pPr marL="12700" marR="5080"/>
            <a:endParaRPr lang="en-US" sz="1400" kern="0" spc="-80" dirty="0">
              <a:solidFill>
                <a:schemeClr val="accent6"/>
              </a:solidFill>
            </a:endParaRPr>
          </a:p>
          <a:p>
            <a:pPr marL="12700" marR="5080"/>
            <a:r>
              <a:rPr lang="en-US" sz="1400" kern="0" spc="-80" dirty="0">
                <a:solidFill>
                  <a:schemeClr val="accent2"/>
                </a:solidFill>
              </a:rPr>
              <a:t>2. Core Concepts in Cartography</a:t>
            </a:r>
          </a:p>
          <a:p>
            <a:pPr marL="12700" marR="5080"/>
            <a:r>
              <a:rPr lang="en-US" sz="1400" kern="0" spc="-80" dirty="0">
                <a:solidFill>
                  <a:schemeClr val="accent2"/>
                </a:solidFill>
              </a:rPr>
              <a:t>Concept	                   Meaning	                                                         Key Questions</a:t>
            </a:r>
          </a:p>
          <a:p>
            <a:pPr marL="12700" marR="5080"/>
            <a:r>
              <a:rPr lang="en-US" sz="1400" kern="0" spc="-80" dirty="0">
                <a:solidFill>
                  <a:schemeClr val="accent6"/>
                </a:solidFill>
              </a:rPr>
              <a:t>Scale	                   Ratio of map distance to ground distance     How big should the world feel?</a:t>
            </a:r>
          </a:p>
          <a:p>
            <a:pPr marL="12700" marR="5080"/>
            <a:r>
              <a:rPr lang="en-US" sz="1400" kern="0" spc="-80" dirty="0">
                <a:solidFill>
                  <a:schemeClr val="accent6"/>
                </a:solidFill>
              </a:rPr>
              <a:t>Projection	                   Flattening the spherical Earth to 2D               What distortions are acceptable?</a:t>
            </a:r>
          </a:p>
          <a:p>
            <a:pPr marL="12700" marR="5080"/>
            <a:r>
              <a:rPr lang="en-US" sz="1400" kern="0" spc="-80" dirty="0">
                <a:solidFill>
                  <a:schemeClr val="accent6"/>
                </a:solidFill>
              </a:rPr>
              <a:t>Generalization	Simplifying reality for readability	                  What can we remove without losing </a:t>
            </a:r>
          </a:p>
          <a:p>
            <a:pPr marL="12700" marR="5080"/>
            <a:r>
              <a:rPr lang="en-US" sz="1400" kern="0" spc="-80" dirty="0">
                <a:solidFill>
                  <a:schemeClr val="accent6"/>
                </a:solidFill>
              </a:rPr>
              <a:t>                                                                                                                   meaning?</a:t>
            </a:r>
          </a:p>
          <a:p>
            <a:pPr marL="12700" marR="5080"/>
            <a:r>
              <a:rPr lang="en-US" sz="1400" kern="0" spc="-80" dirty="0">
                <a:solidFill>
                  <a:schemeClr val="accent6"/>
                </a:solidFill>
              </a:rPr>
              <a:t>Symbolization	Representing features with signs	                  How do we visually encode concepts?</a:t>
            </a:r>
          </a:p>
          <a:p>
            <a:pPr marL="12700" marR="5080"/>
            <a:r>
              <a:rPr lang="en-US" sz="1400" kern="0" spc="-80" dirty="0">
                <a:solidFill>
                  <a:schemeClr val="accent6"/>
                </a:solidFill>
              </a:rPr>
              <a:t>Classification	Grouping numeric or categorical data           How should differences be </a:t>
            </a:r>
          </a:p>
          <a:p>
            <a:pPr marL="12700" marR="5080"/>
            <a:r>
              <a:rPr lang="en-US" sz="1400" kern="0" spc="-80" dirty="0">
                <a:solidFill>
                  <a:schemeClr val="accent6"/>
                </a:solidFill>
              </a:rPr>
              <a:t>                                                                                                                   highlighted?</a:t>
            </a:r>
          </a:p>
          <a:p>
            <a:pPr marL="12700" marR="5080"/>
            <a:r>
              <a:rPr lang="en-US" sz="1400" kern="0" spc="-80" dirty="0">
                <a:solidFill>
                  <a:schemeClr val="accent6"/>
                </a:solidFill>
              </a:rPr>
              <a:t>Typography	Text placement and hierarchy	                  What should the viewer notice first?</a:t>
            </a:r>
          </a:p>
          <a:p>
            <a:pPr marL="12700" marR="5080"/>
            <a:r>
              <a:rPr lang="en-US" sz="1400" kern="0" spc="-80" dirty="0">
                <a:solidFill>
                  <a:schemeClr val="accent6"/>
                </a:solidFill>
              </a:rPr>
              <a:t>Composition	Layout of visual elements	                  How does the eye travel across the </a:t>
            </a:r>
          </a:p>
          <a:p>
            <a:pPr marL="12700" marR="5080"/>
            <a:r>
              <a:rPr lang="en-US" sz="1400" kern="0" spc="-80" dirty="0">
                <a:solidFill>
                  <a:schemeClr val="accent6"/>
                </a:solidFill>
              </a:rPr>
              <a:t>                                                                                                                   map?</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47478744"/>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68D73-9361-BC05-E1B7-78235A14241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E9B5CE-721F-E29B-98C9-83049CD886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A4A466-3D90-0BD1-D685-D9034D32821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B73874-7961-059B-441F-37238FFF2C0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1B37A7C-BF80-5E29-48F6-187ABEC651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5364CB-6882-BB62-32E8-A5D981F031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17ED6B-445B-374C-48BD-36025E7182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81B6713-FDCC-12EA-1DBF-2314306E1A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E506DB-FECC-E3F1-ADA9-D16E1136D7B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50367AA-39B9-864D-56A8-1AB0D7683FD5}"/>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3. Geometry &amp; Mathematics Underlying Cartography</a:t>
            </a:r>
          </a:p>
          <a:p>
            <a:pPr marL="12700" marR="5080"/>
            <a:endParaRPr lang="en-US" sz="1400" kern="0" spc="-80" dirty="0">
              <a:solidFill>
                <a:schemeClr val="accent2"/>
              </a:solidFill>
            </a:endParaRPr>
          </a:p>
          <a:p>
            <a:pPr marL="12700" marR="5080"/>
            <a:r>
              <a:rPr lang="en-US" sz="1400" kern="0" spc="-80" dirty="0">
                <a:solidFill>
                  <a:schemeClr val="accent2"/>
                </a:solidFill>
              </a:rPr>
              <a:t>3.1 Coordinate Systems</a:t>
            </a:r>
          </a:p>
          <a:p>
            <a:pPr marL="12700" marR="5080"/>
            <a:r>
              <a:rPr lang="en-US" sz="1400" kern="0" spc="-80" dirty="0">
                <a:solidFill>
                  <a:schemeClr val="accent6"/>
                </a:solidFill>
              </a:rPr>
              <a:t>Earth is not a perfect sphere. We approximate it using:</a:t>
            </a:r>
          </a:p>
          <a:p>
            <a:pPr marL="12700" marR="5080"/>
            <a:r>
              <a:rPr lang="en-US" sz="1400" kern="0" spc="-80" dirty="0">
                <a:solidFill>
                  <a:schemeClr val="accent6"/>
                </a:solidFill>
              </a:rPr>
              <a:t>Ellipsoid Models (e.g., WGS84)</a:t>
            </a:r>
          </a:p>
          <a:p>
            <a:pPr marL="12700" marR="5080"/>
            <a:r>
              <a:rPr lang="en-US" sz="1400" kern="0" spc="-80" dirty="0">
                <a:solidFill>
                  <a:schemeClr val="accent6"/>
                </a:solidFill>
              </a:rPr>
              <a:t>Geodetic Coordinates (φ, λ): latitude (φ), longitude (λ)</a:t>
            </a:r>
          </a:p>
          <a:p>
            <a:pPr marL="12700" marR="5080"/>
            <a:r>
              <a:rPr lang="en-US" sz="1400" kern="0" spc="-80" dirty="0">
                <a:solidFill>
                  <a:schemeClr val="accent6"/>
                </a:solidFill>
              </a:rPr>
              <a:t>Cartesian Earth-Centered Coordinates (X, Y, Z) (for satellites, GPS)</a:t>
            </a:r>
          </a:p>
          <a:p>
            <a:pPr marL="12700" marR="5080"/>
            <a:endParaRPr lang="en-US" sz="1400" kern="0" spc="-80" dirty="0">
              <a:solidFill>
                <a:schemeClr val="accent6"/>
              </a:solidFill>
            </a:endParaRPr>
          </a:p>
          <a:p>
            <a:pPr marL="12700" marR="5080"/>
            <a:r>
              <a:rPr lang="en-US" sz="1400" kern="0" spc="-80" dirty="0">
                <a:solidFill>
                  <a:schemeClr val="accent2"/>
                </a:solidFill>
              </a:rPr>
              <a:t>3.2 Map Projections</a:t>
            </a:r>
          </a:p>
          <a:p>
            <a:pPr marL="12700" marR="5080"/>
            <a:r>
              <a:rPr lang="en-US" sz="1400" kern="0" spc="-80" dirty="0">
                <a:solidFill>
                  <a:schemeClr val="accent6"/>
                </a:solidFill>
              </a:rPr>
              <a:t>Projection = Mathematical transformation: (</a:t>
            </a:r>
            <a:r>
              <a:rPr lang="en-US" sz="1400" kern="0" spc="-80" dirty="0" err="1">
                <a:solidFill>
                  <a:schemeClr val="accent6"/>
                </a:solidFill>
              </a:rPr>
              <a:t>x,y</a:t>
            </a:r>
            <a:r>
              <a:rPr lang="en-US" sz="1400" kern="0" spc="-80" dirty="0">
                <a:solidFill>
                  <a:schemeClr val="accent6"/>
                </a:solidFill>
              </a:rPr>
              <a:t>)=f(</a:t>
            </a:r>
            <a:r>
              <a:rPr lang="en-US" sz="1400" kern="0" spc="-80" dirty="0" err="1">
                <a:solidFill>
                  <a:schemeClr val="accent6"/>
                </a:solidFill>
              </a:rPr>
              <a:t>ϕ,λ</a:t>
            </a:r>
            <a:r>
              <a:rPr lang="en-US" sz="1400" kern="0" spc="-80" dirty="0">
                <a:solidFill>
                  <a:schemeClr val="accent6"/>
                </a:solidFill>
              </a:rPr>
              <a:t>)</a:t>
            </a:r>
          </a:p>
          <a:p>
            <a:pPr marL="12700" marR="5080"/>
            <a:r>
              <a:rPr lang="en-US" sz="1400" kern="0" spc="-80" dirty="0">
                <a:solidFill>
                  <a:schemeClr val="accent2"/>
                </a:solidFill>
              </a:rPr>
              <a:t>Each projection preserves some property and distorts others:</a:t>
            </a:r>
          </a:p>
          <a:p>
            <a:pPr marL="12700" marR="5080"/>
            <a:r>
              <a:rPr lang="en-US" sz="1400" kern="0" spc="-80" dirty="0">
                <a:solidFill>
                  <a:schemeClr val="accent2"/>
                </a:solidFill>
              </a:rPr>
              <a:t>Projection Family	Preserves	                                       Use Case	                            Examples</a:t>
            </a:r>
          </a:p>
          <a:p>
            <a:pPr marL="12700" marR="5080"/>
            <a:r>
              <a:rPr lang="en-US" sz="1400" kern="0" spc="-80" dirty="0">
                <a:solidFill>
                  <a:schemeClr val="accent6"/>
                </a:solidFill>
              </a:rPr>
              <a:t>Conformal	Shape	Navigation                                       cadastral maps	         Mercator</a:t>
            </a:r>
          </a:p>
          <a:p>
            <a:pPr marL="12700" marR="5080"/>
            <a:r>
              <a:rPr lang="en-US" sz="1400" kern="0" spc="-80" dirty="0">
                <a:solidFill>
                  <a:schemeClr val="accent6"/>
                </a:solidFill>
              </a:rPr>
              <a:t>Equal-Area	Area	Thematic                                          land-cover	                             </a:t>
            </a:r>
            <a:r>
              <a:rPr lang="en-US" sz="1400" kern="0" spc="-80" dirty="0" err="1">
                <a:solidFill>
                  <a:schemeClr val="accent6"/>
                </a:solidFill>
              </a:rPr>
              <a:t>Mollweide,Albers</a:t>
            </a:r>
            <a:endParaRPr lang="en-US" sz="1400" kern="0" spc="-80" dirty="0">
              <a:solidFill>
                <a:schemeClr val="accent6"/>
              </a:solidFill>
            </a:endParaRPr>
          </a:p>
          <a:p>
            <a:pPr marL="12700" marR="5080"/>
            <a:r>
              <a:rPr lang="en-US" sz="1400" kern="0" spc="-80" dirty="0">
                <a:solidFill>
                  <a:schemeClr val="accent6"/>
                </a:solidFill>
              </a:rPr>
              <a:t>Equidistant	Distances (along certain lines)	Radio ranges, route maps    Azimuthal </a:t>
            </a:r>
          </a:p>
          <a:p>
            <a:pPr marL="12700" marR="5080"/>
            <a:r>
              <a:rPr lang="en-US" sz="1400" kern="0" spc="-80" dirty="0">
                <a:solidFill>
                  <a:schemeClr val="accent6"/>
                </a:solidFill>
              </a:rPr>
              <a:t>                                                                                                                                                  Equidistant</a:t>
            </a:r>
          </a:p>
          <a:p>
            <a:pPr marL="12700" marR="5080"/>
            <a:r>
              <a:rPr lang="en-US" sz="1400" kern="0" spc="-80" dirty="0">
                <a:solidFill>
                  <a:schemeClr val="accent6"/>
                </a:solidFill>
              </a:rPr>
              <a:t>Compromise	Balanced distortions	                    General reference map         Robinson, Winkel </a:t>
            </a:r>
          </a:p>
          <a:p>
            <a:pPr marL="12700" marR="5080"/>
            <a:r>
              <a:rPr lang="en-US" sz="1400" kern="0" spc="-80" dirty="0">
                <a:solidFill>
                  <a:schemeClr val="accent6"/>
                </a:solidFill>
              </a:rPr>
              <a:t>                                                                                                                                                  Tripel</a:t>
            </a:r>
          </a:p>
          <a:p>
            <a:pPr marL="12700" marR="5080"/>
            <a:r>
              <a:rPr lang="en-US" sz="1400" kern="0" spc="-80" dirty="0">
                <a:solidFill>
                  <a:schemeClr val="accent2"/>
                </a:solidFill>
              </a:rPr>
              <a:t>3.3 Scale</a:t>
            </a:r>
          </a:p>
          <a:p>
            <a:pPr marL="12700" marR="5080"/>
            <a:r>
              <a:rPr lang="en-US" sz="1400" kern="0" spc="-80" dirty="0">
                <a:solidFill>
                  <a:schemeClr val="accent6"/>
                </a:solidFill>
              </a:rPr>
              <a:t>If map scale is 1:50,000 → 1 cm = 50,000 cm = 500 m on Earth.</a:t>
            </a:r>
          </a:p>
          <a:p>
            <a:pPr marL="12700" marR="5080"/>
            <a:r>
              <a:rPr lang="en-US" sz="1400" kern="0" spc="-80" dirty="0">
                <a:solidFill>
                  <a:schemeClr val="accent6"/>
                </a:solidFill>
              </a:rPr>
              <a:t>Spatial data often needs rescaling and unit conversions.</a:t>
            </a:r>
          </a:p>
        </p:txBody>
      </p:sp>
    </p:spTree>
    <p:extLst>
      <p:ext uri="{BB962C8B-B14F-4D97-AF65-F5344CB8AC3E}">
        <p14:creationId xmlns:p14="http://schemas.microsoft.com/office/powerpoint/2010/main" val="4050650510"/>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1ED22-B00C-DC6B-A747-87D3F1F9B38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C7FD05-F98D-26C2-778B-608BA4F366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2CA1005-4C72-D1A0-A38C-7030CEEC84C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DF07EB-BFFE-A55A-F8B2-FC4000852A4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B1D6C0-4B29-6391-3205-86E33A5C838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A5A222-668B-226D-26E0-443AE9AFA57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8FE1A27-40F1-7B7B-1857-BF3283BBBC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615DE38-1A18-8C9F-BB20-6BA5D99E9D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AECD2EB-E54E-B7A4-27DB-E42379F0E3F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1E95404-6583-A280-C22D-0C620F849CB4}"/>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3.4 Topology</a:t>
            </a:r>
          </a:p>
          <a:p>
            <a:pPr marL="12700" marR="5080"/>
            <a:r>
              <a:rPr lang="en-US" sz="1400" kern="0" spc="-80" dirty="0">
                <a:solidFill>
                  <a:schemeClr val="accent2"/>
                </a:solidFill>
              </a:rPr>
              <a:t>Topology is relationship geometry:</a:t>
            </a:r>
          </a:p>
          <a:p>
            <a:pPr marL="12700" marR="5080"/>
            <a:r>
              <a:rPr lang="en-US" sz="1400" kern="0" spc="-80" dirty="0">
                <a:solidFill>
                  <a:schemeClr val="accent6"/>
                </a:solidFill>
              </a:rPr>
              <a:t>Adjacency (who touches whom)</a:t>
            </a:r>
          </a:p>
          <a:p>
            <a:pPr marL="12700" marR="5080"/>
            <a:r>
              <a:rPr lang="en-US" sz="1400" kern="0" spc="-80" dirty="0">
                <a:solidFill>
                  <a:schemeClr val="accent6"/>
                </a:solidFill>
              </a:rPr>
              <a:t>Connectivity (networks)</a:t>
            </a:r>
          </a:p>
          <a:p>
            <a:pPr marL="12700" marR="5080"/>
            <a:r>
              <a:rPr lang="en-US" sz="1400" kern="0" spc="-80" dirty="0">
                <a:solidFill>
                  <a:schemeClr val="accent6"/>
                </a:solidFill>
              </a:rPr>
              <a:t>Containment (inside/outside)</a:t>
            </a:r>
          </a:p>
          <a:p>
            <a:pPr marL="12700" marR="5080"/>
            <a:r>
              <a:rPr lang="en-US" sz="1400" kern="0" spc="-80" dirty="0">
                <a:solidFill>
                  <a:schemeClr val="accent6"/>
                </a:solidFill>
              </a:rPr>
              <a:t>This is the language of GIS, ensuring maps stay logically correct.</a:t>
            </a:r>
          </a:p>
          <a:p>
            <a:pPr marL="12700" marR="5080"/>
            <a:endParaRPr lang="en-US" sz="1400" kern="0" spc="-80" dirty="0">
              <a:solidFill>
                <a:schemeClr val="accent6"/>
              </a:solidFill>
            </a:endParaRPr>
          </a:p>
          <a:p>
            <a:pPr marL="12700" marR="5080"/>
            <a:r>
              <a:rPr lang="en-US" sz="1400" kern="0" spc="-80" dirty="0">
                <a:solidFill>
                  <a:schemeClr val="accent2"/>
                </a:solidFill>
              </a:rPr>
              <a:t>3.5 Geometry Simplification Algorithms (Generalization)</a:t>
            </a:r>
          </a:p>
          <a:p>
            <a:pPr marL="12700" marR="5080"/>
            <a:r>
              <a:rPr lang="en-US" sz="1400" kern="0" spc="-80" dirty="0">
                <a:solidFill>
                  <a:schemeClr val="accent2"/>
                </a:solidFill>
              </a:rPr>
              <a:t>Used to reduce shapes while keeping essence:</a:t>
            </a:r>
          </a:p>
          <a:p>
            <a:pPr marL="12700" marR="5080"/>
            <a:r>
              <a:rPr lang="en-US" sz="1400" kern="0" spc="-80" dirty="0">
                <a:solidFill>
                  <a:schemeClr val="accent2"/>
                </a:solidFill>
              </a:rPr>
              <a:t>Algorithm	                                                          Purpose</a:t>
            </a:r>
          </a:p>
          <a:p>
            <a:pPr marL="12700" marR="5080"/>
            <a:r>
              <a:rPr lang="en-US" sz="1400" kern="0" spc="-80" dirty="0">
                <a:solidFill>
                  <a:schemeClr val="accent6"/>
                </a:solidFill>
              </a:rPr>
              <a:t>Douglas–</a:t>
            </a:r>
            <a:r>
              <a:rPr lang="en-US" sz="1400" kern="0" spc="-80" dirty="0" err="1">
                <a:solidFill>
                  <a:schemeClr val="accent6"/>
                </a:solidFill>
              </a:rPr>
              <a:t>Peucker</a:t>
            </a:r>
            <a:r>
              <a:rPr lang="en-US" sz="1400" kern="0" spc="-80" dirty="0">
                <a:solidFill>
                  <a:schemeClr val="accent6"/>
                </a:solidFill>
              </a:rPr>
              <a:t>	                                       Simplify polylines while controlling error</a:t>
            </a:r>
          </a:p>
          <a:p>
            <a:pPr marL="12700" marR="5080"/>
            <a:r>
              <a:rPr lang="en-US" sz="1400" kern="0" spc="-80" dirty="0" err="1">
                <a:solidFill>
                  <a:schemeClr val="accent6"/>
                </a:solidFill>
              </a:rPr>
              <a:t>Visvalingam</a:t>
            </a:r>
            <a:r>
              <a:rPr lang="en-US" sz="1400" kern="0" spc="-80" dirty="0">
                <a:solidFill>
                  <a:schemeClr val="accent6"/>
                </a:solidFill>
              </a:rPr>
              <a:t>–Whyatt	                                       Remove least visually significant points first</a:t>
            </a:r>
          </a:p>
          <a:p>
            <a:pPr marL="12700" marR="5080"/>
            <a:r>
              <a:rPr lang="en-US" sz="1400" kern="0" spc="-80" dirty="0">
                <a:solidFill>
                  <a:schemeClr val="accent6"/>
                </a:solidFill>
              </a:rPr>
              <a:t>Topology-Preserving Simplification	Maintain boundaries &amp; adjacency</a:t>
            </a:r>
          </a:p>
          <a:p>
            <a:pPr marL="12700" marR="5080"/>
            <a:endParaRPr lang="en-US" sz="1400" kern="0" spc="-80" dirty="0">
              <a:solidFill>
                <a:schemeClr val="accent6"/>
              </a:solidFill>
            </a:endParaRPr>
          </a:p>
          <a:p>
            <a:pPr marL="12700" marR="5080"/>
            <a:r>
              <a:rPr lang="en-US" sz="1400" kern="0" spc="-80" dirty="0">
                <a:solidFill>
                  <a:schemeClr val="accent2"/>
                </a:solidFill>
              </a:rPr>
              <a:t>4. Symbolization &amp; Visual Encoding</a:t>
            </a:r>
          </a:p>
          <a:p>
            <a:pPr marL="12700" marR="5080"/>
            <a:r>
              <a:rPr lang="en-US" sz="1400" kern="0" spc="-80" dirty="0">
                <a:solidFill>
                  <a:schemeClr val="accent6"/>
                </a:solidFill>
              </a:rPr>
              <a:t>Maps convert abstract concepts into visual cues.</a:t>
            </a:r>
          </a:p>
          <a:p>
            <a:pPr marL="12700" marR="5080"/>
            <a:r>
              <a:rPr lang="en-US" sz="1400" kern="0" spc="-80" dirty="0">
                <a:solidFill>
                  <a:schemeClr val="accent2"/>
                </a:solidFill>
              </a:rPr>
              <a:t>Visual Variable	 Meaning</a:t>
            </a:r>
          </a:p>
          <a:p>
            <a:pPr marL="12700" marR="5080"/>
            <a:r>
              <a:rPr lang="en-US" sz="1400" kern="0" spc="-80" dirty="0">
                <a:solidFill>
                  <a:schemeClr val="accent6"/>
                </a:solidFill>
              </a:rPr>
              <a:t>Size	                    Magnitude</a:t>
            </a:r>
          </a:p>
          <a:p>
            <a:pPr marL="12700" marR="5080"/>
            <a:r>
              <a:rPr lang="en-US" sz="1400" kern="0" spc="-80" dirty="0">
                <a:solidFill>
                  <a:schemeClr val="accent6"/>
                </a:solidFill>
              </a:rPr>
              <a:t>Color Hue	                    Category difference</a:t>
            </a:r>
          </a:p>
          <a:p>
            <a:pPr marL="12700" marR="5080"/>
            <a:r>
              <a:rPr lang="en-US" sz="1400" kern="0" spc="-80" dirty="0">
                <a:solidFill>
                  <a:schemeClr val="accent6"/>
                </a:solidFill>
              </a:rPr>
              <a:t>Color Value	 Intensity or quantity</a:t>
            </a:r>
          </a:p>
          <a:p>
            <a:pPr marL="12700" marR="5080"/>
            <a:r>
              <a:rPr lang="en-US" sz="1400" kern="0" spc="-80" dirty="0">
                <a:solidFill>
                  <a:schemeClr val="accent6"/>
                </a:solidFill>
              </a:rPr>
              <a:t>Texture / Pattern	 Type of land use or terrain</a:t>
            </a:r>
          </a:p>
          <a:p>
            <a:pPr marL="12700" marR="5080"/>
            <a:r>
              <a:rPr lang="en-US" sz="1400" kern="0" spc="-80" dirty="0">
                <a:solidFill>
                  <a:schemeClr val="accent6"/>
                </a:solidFill>
              </a:rPr>
              <a:t>Orientation	 Directionality</a:t>
            </a:r>
          </a:p>
          <a:p>
            <a:pPr marL="12700" marR="5080"/>
            <a:r>
              <a:rPr lang="en-US" sz="1400" kern="0" spc="-80" dirty="0">
                <a:solidFill>
                  <a:schemeClr val="accent6"/>
                </a:solidFill>
              </a:rPr>
              <a:t>Shape	                    Type / Class differences</a:t>
            </a:r>
          </a:p>
        </p:txBody>
      </p:sp>
    </p:spTree>
    <p:extLst>
      <p:ext uri="{BB962C8B-B14F-4D97-AF65-F5344CB8AC3E}">
        <p14:creationId xmlns:p14="http://schemas.microsoft.com/office/powerpoint/2010/main" val="4281287713"/>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B637B-83D6-8331-DD1C-E6712903CB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808D24-A09E-2980-E56B-8225382B833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1333E4-4B5D-F279-A961-933DEFB3F51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50CC26A-732E-ECBA-D2B9-96EF6D58773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B1D5D9-3394-268A-C02E-A88A694B69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6408D8-8275-D4CB-1581-0CB771ADC3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8D9B54-E2C1-E9E8-2FD3-658AE90094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9F9249C-12E4-7C5A-AD24-81279B2D6FA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397FF54-60AA-BC89-052C-2D346551895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222ECD5-BCEE-9605-317E-36C8A1F6EBA4}"/>
              </a:ext>
            </a:extLst>
          </p:cNvPr>
          <p:cNvSpPr txBox="1">
            <a:spLocks/>
          </p:cNvSpPr>
          <p:nvPr/>
        </p:nvSpPr>
        <p:spPr>
          <a:xfrm>
            <a:off x="228600" y="762000"/>
            <a:ext cx="8624937" cy="46012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The mathematics of color selection often uses:</a:t>
            </a:r>
          </a:p>
          <a:p>
            <a:pPr marL="12700" marR="5080"/>
            <a:r>
              <a:rPr lang="en-US" sz="1400" kern="0" spc="-80" dirty="0">
                <a:solidFill>
                  <a:schemeClr val="accent6"/>
                </a:solidFill>
              </a:rPr>
              <a:t>CIELAB color spaces for perceptual uniformity</a:t>
            </a:r>
          </a:p>
          <a:p>
            <a:pPr marL="12700" marR="5080"/>
            <a:r>
              <a:rPr lang="en-US" sz="1400" kern="0" spc="-80" dirty="0">
                <a:solidFill>
                  <a:schemeClr val="accent6"/>
                </a:solidFill>
              </a:rPr>
              <a:t>Sequential / Divergent / Qualitative color schemes (e.g., </a:t>
            </a:r>
            <a:r>
              <a:rPr lang="en-US" sz="1400" kern="0" spc="-80" dirty="0" err="1">
                <a:solidFill>
                  <a:schemeClr val="accent6"/>
                </a:solidFill>
              </a:rPr>
              <a:t>ColorBrewer</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5. Classification Methods (Thematic Mapping)</a:t>
            </a:r>
          </a:p>
          <a:p>
            <a:pPr marL="12700" marR="5080"/>
            <a:r>
              <a:rPr lang="en-US" sz="1400" kern="0" spc="-80" dirty="0">
                <a:solidFill>
                  <a:schemeClr val="accent2"/>
                </a:solidFill>
              </a:rPr>
              <a:t>If mapping numerical values (population, rainfall):</a:t>
            </a:r>
          </a:p>
          <a:p>
            <a:pPr marL="12700" marR="5080"/>
            <a:r>
              <a:rPr lang="en-US" sz="1400" kern="0" spc="-80" dirty="0">
                <a:solidFill>
                  <a:schemeClr val="accent2"/>
                </a:solidFill>
              </a:rPr>
              <a:t>Method	                          Logic	                                                          When to Use</a:t>
            </a:r>
          </a:p>
          <a:p>
            <a:pPr marL="12700" marR="5080"/>
            <a:r>
              <a:rPr lang="en-US" sz="1400" kern="0" spc="-80" dirty="0">
                <a:solidFill>
                  <a:schemeClr val="accent6"/>
                </a:solidFill>
              </a:rPr>
              <a:t>Equal Interval	       Same range per class	                   Evenly distributed data</a:t>
            </a:r>
          </a:p>
          <a:p>
            <a:pPr marL="12700" marR="5080"/>
            <a:r>
              <a:rPr lang="en-US" sz="1400" kern="0" spc="-80" dirty="0">
                <a:solidFill>
                  <a:schemeClr val="accent6"/>
                </a:solidFill>
              </a:rPr>
              <a:t>Quantiles	                          Equal count per class	                   Skewed data</a:t>
            </a:r>
          </a:p>
          <a:p>
            <a:pPr marL="12700" marR="5080"/>
            <a:r>
              <a:rPr lang="en-US" sz="1400" kern="0" spc="-80" dirty="0">
                <a:solidFill>
                  <a:schemeClr val="accent6"/>
                </a:solidFill>
              </a:rPr>
              <a:t>Natural Breaks (Jenks)       Minimizes variation within classes	Most common, data-driven</a:t>
            </a:r>
          </a:p>
          <a:p>
            <a:pPr marL="12700" marR="5080"/>
            <a:r>
              <a:rPr lang="en-US" sz="1400" kern="0" spc="-80" dirty="0">
                <a:solidFill>
                  <a:schemeClr val="accent6"/>
                </a:solidFill>
              </a:rPr>
              <a:t>Standard Deviation	       Based on mean deviation	                   Emphasizing variance</a:t>
            </a:r>
          </a:p>
          <a:p>
            <a:pPr marL="12700" marR="5080"/>
            <a:endParaRPr lang="en-US" sz="1400" kern="0" spc="-80" dirty="0">
              <a:solidFill>
                <a:schemeClr val="accent6"/>
              </a:solidFill>
            </a:endParaRPr>
          </a:p>
          <a:p>
            <a:pPr marL="12700" marR="5080"/>
            <a:r>
              <a:rPr lang="en-US" sz="1400" kern="0" spc="-80" dirty="0">
                <a:solidFill>
                  <a:schemeClr val="accent2"/>
                </a:solidFill>
              </a:rPr>
              <a:t>6. Map Layout &amp; Composition Principles</a:t>
            </a:r>
          </a:p>
          <a:p>
            <a:pPr marL="12700" marR="5080"/>
            <a:r>
              <a:rPr lang="en-US" sz="1400" kern="0" spc="-80" dirty="0">
                <a:solidFill>
                  <a:schemeClr val="accent2"/>
                </a:solidFill>
              </a:rPr>
              <a:t>Maps must guide the eye:</a:t>
            </a:r>
          </a:p>
          <a:p>
            <a:pPr marL="12700" marR="5080"/>
            <a:r>
              <a:rPr lang="en-US" sz="1400" kern="0" spc="-80" dirty="0">
                <a:solidFill>
                  <a:schemeClr val="accent2"/>
                </a:solidFill>
              </a:rPr>
              <a:t>Visual hierarchy:</a:t>
            </a:r>
            <a:r>
              <a:rPr lang="en-US" sz="1400" kern="0" spc="-80" dirty="0">
                <a:solidFill>
                  <a:schemeClr val="accent6"/>
                </a:solidFill>
              </a:rPr>
              <a:t> Important elements appear stronger.</a:t>
            </a:r>
          </a:p>
          <a:p>
            <a:pPr marL="12700" marR="5080"/>
            <a:r>
              <a:rPr lang="en-US" sz="1400" kern="0" spc="-80" dirty="0">
                <a:solidFill>
                  <a:schemeClr val="accent6"/>
                </a:solidFill>
              </a:rPr>
              <a:t>Alignment forms invisible gravitational lines.</a:t>
            </a:r>
          </a:p>
          <a:p>
            <a:pPr marL="12700" marR="5080"/>
            <a:r>
              <a:rPr lang="en-US" sz="1400" kern="0" spc="-80" dirty="0">
                <a:solidFill>
                  <a:schemeClr val="accent2"/>
                </a:solidFill>
              </a:rPr>
              <a:t>Balance: </a:t>
            </a:r>
            <a:r>
              <a:rPr lang="en-US" sz="1400" kern="0" spc="-80" dirty="0">
                <a:solidFill>
                  <a:schemeClr val="accent6"/>
                </a:solidFill>
              </a:rPr>
              <a:t>Left/right, top/bottom weight feels stable.</a:t>
            </a:r>
          </a:p>
          <a:p>
            <a:pPr marL="12700" marR="5080"/>
            <a:r>
              <a:rPr lang="en-US" sz="1400" kern="0" spc="-80" dirty="0">
                <a:solidFill>
                  <a:schemeClr val="accent2"/>
                </a:solidFill>
              </a:rPr>
              <a:t>White space: </a:t>
            </a:r>
            <a:r>
              <a:rPr lang="en-US" sz="1400" kern="0" spc="-80" dirty="0">
                <a:solidFill>
                  <a:schemeClr val="accent6"/>
                </a:solidFill>
              </a:rPr>
              <a:t>The map breathes.</a:t>
            </a:r>
          </a:p>
          <a:p>
            <a:pPr marL="12700" marR="5080"/>
            <a:r>
              <a:rPr lang="en-US" sz="1400" kern="0" spc="-80" dirty="0">
                <a:solidFill>
                  <a:schemeClr val="accent6"/>
                </a:solidFill>
              </a:rPr>
              <a:t>A good map has rhythm.</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18598112"/>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4E001-7026-FC73-5D94-A4B790D47A2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6D9287-5EC2-ABEC-D92B-59F3F44C7F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D57EBE-FDBE-7C5B-4BE3-DD4A65AC9E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487AC8-F0E6-E488-628E-E21B5DA6B5C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F6E954-F3DB-506C-7B60-417EE7CA1F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0567472-5AEE-A31E-5CEC-07B55704101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8E8C5FB-331C-6DE8-B7B5-341889D7657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E99730-6049-4BB0-574B-DA3687499DF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50EE08C-FD86-8979-E027-AEF49AB32C8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1C339A5-26EF-C374-0C24-277FBC7B29A3}"/>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7. Cartographic Techniques in Practice</a:t>
            </a:r>
          </a:p>
          <a:p>
            <a:pPr marL="12700" marR="5080"/>
            <a:r>
              <a:rPr lang="en-US" sz="1400" kern="0" spc="-80" dirty="0">
                <a:solidFill>
                  <a:schemeClr val="accent2"/>
                </a:solidFill>
              </a:rPr>
              <a:t>Task	                                                 Techniques Used</a:t>
            </a:r>
          </a:p>
          <a:p>
            <a:pPr marL="12700" marR="5080"/>
            <a:r>
              <a:rPr lang="en-US" sz="1400" kern="0" spc="-80" dirty="0">
                <a:solidFill>
                  <a:schemeClr val="accent6"/>
                </a:solidFill>
              </a:rPr>
              <a:t>Terrain Representation	          </a:t>
            </a:r>
            <a:r>
              <a:rPr lang="en-US" sz="1400" kern="0" spc="-80" dirty="0" err="1">
                <a:solidFill>
                  <a:schemeClr val="accent6"/>
                </a:solidFill>
              </a:rPr>
              <a:t>Hillshading</a:t>
            </a:r>
            <a:r>
              <a:rPr lang="en-US" sz="1400" kern="0" spc="-80" dirty="0">
                <a:solidFill>
                  <a:schemeClr val="accent6"/>
                </a:solidFill>
              </a:rPr>
              <a:t>, hypsometric tints, slope maps</a:t>
            </a:r>
          </a:p>
          <a:p>
            <a:pPr marL="12700" marR="5080"/>
            <a:r>
              <a:rPr lang="en-US" sz="1400" kern="0" spc="-80" dirty="0">
                <a:solidFill>
                  <a:schemeClr val="accent6"/>
                </a:solidFill>
              </a:rPr>
              <a:t>3D Cartography	                             Perspective projection, shaded relief, DEMs</a:t>
            </a:r>
          </a:p>
          <a:p>
            <a:pPr marL="12700" marR="5080"/>
            <a:r>
              <a:rPr lang="en-US" sz="1400" kern="0" spc="-80" dirty="0">
                <a:solidFill>
                  <a:schemeClr val="accent6"/>
                </a:solidFill>
              </a:rPr>
              <a:t>Choropleth Maps	                             Data classification + color schemes</a:t>
            </a:r>
          </a:p>
          <a:p>
            <a:pPr marL="12700" marR="5080"/>
            <a:r>
              <a:rPr lang="en-US" sz="1400" kern="0" spc="-80" dirty="0">
                <a:solidFill>
                  <a:schemeClr val="accent6"/>
                </a:solidFill>
              </a:rPr>
              <a:t>Isoline / Contour Mapping	          Interpolation (IDW, Kriging, Spline)</a:t>
            </a:r>
          </a:p>
          <a:p>
            <a:pPr marL="12700" marR="5080"/>
            <a:r>
              <a:rPr lang="en-US" sz="1400" kern="0" spc="-80" dirty="0">
                <a:solidFill>
                  <a:schemeClr val="accent6"/>
                </a:solidFill>
              </a:rPr>
              <a:t>Flow Maps	                                                 Network routing + proportional lines</a:t>
            </a:r>
          </a:p>
          <a:p>
            <a:pPr marL="12700" marR="5080"/>
            <a:r>
              <a:rPr lang="en-US" sz="1400" kern="0" spc="-80" dirty="0">
                <a:solidFill>
                  <a:schemeClr val="accent6"/>
                </a:solidFill>
              </a:rPr>
              <a:t>Dot Density Maps	                             Randomized or centroid-based point placement</a:t>
            </a:r>
          </a:p>
          <a:p>
            <a:pPr marL="12700" marR="5080"/>
            <a:endParaRPr lang="en-US" sz="1400" kern="0" spc="-80" dirty="0">
              <a:solidFill>
                <a:schemeClr val="accent6"/>
              </a:solidFill>
            </a:endParaRPr>
          </a:p>
          <a:p>
            <a:pPr marL="12700" marR="5080"/>
            <a:r>
              <a:rPr lang="en-US" sz="1400" kern="0" spc="-80" dirty="0">
                <a:solidFill>
                  <a:schemeClr val="accent2"/>
                </a:solidFill>
              </a:rPr>
              <a:t>8. Digital Cartography &amp; Modern Tooling</a:t>
            </a:r>
          </a:p>
          <a:p>
            <a:pPr marL="12700" marR="5080"/>
            <a:r>
              <a:rPr lang="en-US" sz="1400" kern="0" spc="-80" dirty="0">
                <a:solidFill>
                  <a:schemeClr val="accent2"/>
                </a:solidFill>
              </a:rPr>
              <a:t>Software</a:t>
            </a:r>
          </a:p>
          <a:p>
            <a:pPr marL="12700" marR="5080"/>
            <a:r>
              <a:rPr lang="en-US" sz="1400" kern="0" spc="-80" dirty="0">
                <a:solidFill>
                  <a:schemeClr val="accent6"/>
                </a:solidFill>
              </a:rPr>
              <a:t>QGIS</a:t>
            </a:r>
          </a:p>
          <a:p>
            <a:pPr marL="12700" marR="5080"/>
            <a:r>
              <a:rPr lang="en-US" sz="1400" kern="0" spc="-80" dirty="0">
                <a:solidFill>
                  <a:schemeClr val="accent6"/>
                </a:solidFill>
              </a:rPr>
              <a:t>ArcGIS</a:t>
            </a:r>
          </a:p>
          <a:p>
            <a:pPr marL="12700" marR="5080"/>
            <a:r>
              <a:rPr lang="en-US" sz="1400" kern="0" spc="-80" dirty="0" err="1">
                <a:solidFill>
                  <a:schemeClr val="accent6"/>
                </a:solidFill>
              </a:rPr>
              <a:t>Mapbox</a:t>
            </a:r>
            <a:r>
              <a:rPr lang="en-US" sz="1400" kern="0" spc="-80" dirty="0">
                <a:solidFill>
                  <a:schemeClr val="accent6"/>
                </a:solidFill>
              </a:rPr>
              <a:t> Studio</a:t>
            </a:r>
          </a:p>
          <a:p>
            <a:pPr marL="12700" marR="5080"/>
            <a:r>
              <a:rPr lang="en-US" sz="1400" kern="0" spc="-80" dirty="0">
                <a:solidFill>
                  <a:schemeClr val="accent6"/>
                </a:solidFill>
              </a:rPr>
              <a:t>D3.js</a:t>
            </a:r>
          </a:p>
          <a:p>
            <a:pPr marL="12700" marR="5080"/>
            <a:r>
              <a:rPr lang="en-US" sz="1400" kern="0" spc="-80" dirty="0">
                <a:solidFill>
                  <a:schemeClr val="accent6"/>
                </a:solidFill>
              </a:rPr>
              <a:t>Blender + GIS plugins (for cinematic cartography)</a:t>
            </a:r>
          </a:p>
          <a:p>
            <a:pPr marL="12700" marR="5080"/>
            <a:r>
              <a:rPr lang="en-US" sz="1400" kern="0" spc="-80" dirty="0">
                <a:solidFill>
                  <a:schemeClr val="accent2"/>
                </a:solidFill>
              </a:rPr>
              <a:t>Data Formats</a:t>
            </a:r>
          </a:p>
          <a:p>
            <a:pPr marL="12700" marR="5080"/>
            <a:r>
              <a:rPr lang="en-US" sz="1400" kern="0" spc="-80" dirty="0">
                <a:solidFill>
                  <a:schemeClr val="accent2"/>
                </a:solidFill>
              </a:rPr>
              <a:t>Vector: </a:t>
            </a:r>
            <a:r>
              <a:rPr lang="en-US" sz="1400" kern="0" spc="-80" dirty="0">
                <a:solidFill>
                  <a:schemeClr val="accent6"/>
                </a:solidFill>
              </a:rPr>
              <a:t>Shapefile, </a:t>
            </a:r>
            <a:r>
              <a:rPr lang="en-US" sz="1400" kern="0" spc="-80" dirty="0" err="1">
                <a:solidFill>
                  <a:schemeClr val="accent6"/>
                </a:solidFill>
              </a:rPr>
              <a:t>GeoJSON</a:t>
            </a:r>
            <a:endParaRPr lang="en-US" sz="1400" kern="0" spc="-80" dirty="0">
              <a:solidFill>
                <a:schemeClr val="accent6"/>
              </a:solidFill>
            </a:endParaRPr>
          </a:p>
          <a:p>
            <a:pPr marL="12700" marR="5080"/>
            <a:r>
              <a:rPr lang="en-US" sz="1400" kern="0" spc="-80" dirty="0">
                <a:solidFill>
                  <a:schemeClr val="accent2"/>
                </a:solidFill>
              </a:rPr>
              <a:t>Raster: </a:t>
            </a:r>
            <a:r>
              <a:rPr lang="en-US" sz="1400" kern="0" spc="-80" dirty="0" err="1">
                <a:solidFill>
                  <a:schemeClr val="accent6"/>
                </a:solidFill>
              </a:rPr>
              <a:t>GeoTIFF</a:t>
            </a:r>
            <a:r>
              <a:rPr lang="en-US" sz="1400" kern="0" spc="-80" dirty="0">
                <a:solidFill>
                  <a:schemeClr val="accent6"/>
                </a:solidFill>
              </a:rPr>
              <a:t>, COG</a:t>
            </a:r>
          </a:p>
          <a:p>
            <a:pPr marL="12700" marR="5080"/>
            <a:r>
              <a:rPr lang="en-US" sz="1400" kern="0" spc="-80" dirty="0">
                <a:solidFill>
                  <a:schemeClr val="accent2"/>
                </a:solidFill>
              </a:rPr>
              <a:t>Elevation Models: </a:t>
            </a:r>
            <a:r>
              <a:rPr lang="en-US" sz="1400" kern="0" spc="-80" dirty="0">
                <a:solidFill>
                  <a:schemeClr val="accent6"/>
                </a:solidFill>
              </a:rPr>
              <a:t>SRTM, DEM, DSM, DTM</a:t>
            </a:r>
          </a:p>
          <a:p>
            <a:pPr marL="12700" marR="5080"/>
            <a:r>
              <a:rPr lang="en-US" sz="1400" kern="0" spc="-80" dirty="0">
                <a:solidFill>
                  <a:schemeClr val="accent2"/>
                </a:solidFill>
              </a:rPr>
              <a:t>Rendering Pipelines</a:t>
            </a:r>
          </a:p>
          <a:p>
            <a:pPr marL="12700" marR="5080"/>
            <a:r>
              <a:rPr lang="en-US" sz="1400" kern="0" spc="-80" dirty="0">
                <a:solidFill>
                  <a:schemeClr val="accent6"/>
                </a:solidFill>
              </a:rPr>
              <a:t>GPU tile rendering (</a:t>
            </a:r>
            <a:r>
              <a:rPr lang="en-US" sz="1400" kern="0" spc="-80" dirty="0" err="1">
                <a:solidFill>
                  <a:schemeClr val="accent6"/>
                </a:solidFill>
              </a:rPr>
              <a:t>Mapbox</a:t>
            </a:r>
            <a:r>
              <a:rPr lang="en-US" sz="1400" kern="0" spc="-80" dirty="0">
                <a:solidFill>
                  <a:schemeClr val="accent6"/>
                </a:solidFill>
              </a:rPr>
              <a:t> GL)</a:t>
            </a:r>
          </a:p>
          <a:p>
            <a:pPr marL="12700" marR="5080"/>
            <a:r>
              <a:rPr lang="en-US" sz="1400" kern="0" spc="-80" dirty="0">
                <a:solidFill>
                  <a:schemeClr val="accent6"/>
                </a:solidFill>
              </a:rPr>
              <a:t>Vector tiling &amp; web map streaming</a:t>
            </a:r>
          </a:p>
        </p:txBody>
      </p:sp>
    </p:spTree>
    <p:extLst>
      <p:ext uri="{BB962C8B-B14F-4D97-AF65-F5344CB8AC3E}">
        <p14:creationId xmlns:p14="http://schemas.microsoft.com/office/powerpoint/2010/main" val="1459744772"/>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78D1E-18CF-8EB4-3477-C329642122A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839592-7CC2-D762-C768-FD956763D2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216890-1273-D964-9699-D1355BB5CF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2E1470-E7CB-D483-8F3E-C33C11432CC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D602A4-D565-EBC1-EEE4-4C5471BB2E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EBA7E0-2C78-3F07-18BD-BB9BB788A9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E7B4C1E-76AC-9237-60FB-EF22575AE3C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51265CC-7B4F-D78A-E48D-F9FD4B592F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BFA4A1-8C24-5A61-0018-FFE6B91494F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EF26231-FF63-0EE6-2253-D1DF56B708B5}"/>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9. The Philosophy of Good Cartography</a:t>
            </a:r>
          </a:p>
          <a:p>
            <a:pPr marL="12700" marR="5080"/>
            <a:r>
              <a:rPr lang="en-US" sz="1400" kern="0" spc="-80" dirty="0">
                <a:solidFill>
                  <a:schemeClr val="accent6"/>
                </a:solidFill>
              </a:rPr>
              <a:t>A map is never </a:t>
            </a:r>
            <a:r>
              <a:rPr lang="en-US" sz="1400" kern="0" spc="-80" dirty="0" err="1">
                <a:solidFill>
                  <a:schemeClr val="accent6"/>
                </a:solidFill>
              </a:rPr>
              <a:t>neutral.It</a:t>
            </a:r>
            <a:r>
              <a:rPr lang="en-US" sz="1400" kern="0" spc="-80" dirty="0">
                <a:solidFill>
                  <a:schemeClr val="accent6"/>
                </a:solidFill>
              </a:rPr>
              <a:t> is always designed to emphasize something.</a:t>
            </a:r>
          </a:p>
          <a:p>
            <a:pPr marL="12700" marR="5080"/>
            <a:r>
              <a:rPr lang="en-US" sz="1400" kern="0" spc="-80" dirty="0">
                <a:solidFill>
                  <a:schemeClr val="accent2"/>
                </a:solidFill>
              </a:rPr>
              <a:t>Good cartography is:</a:t>
            </a:r>
          </a:p>
          <a:p>
            <a:pPr marL="12700" marR="5080"/>
            <a:r>
              <a:rPr lang="en-US" sz="1400" kern="0" spc="-80" dirty="0">
                <a:solidFill>
                  <a:schemeClr val="accent6"/>
                </a:solidFill>
              </a:rPr>
              <a:t>Honest about scale &amp; projection limitations</a:t>
            </a:r>
          </a:p>
          <a:p>
            <a:pPr marL="12700" marR="5080"/>
            <a:r>
              <a:rPr lang="en-US" sz="1400" kern="0" spc="-80" dirty="0">
                <a:solidFill>
                  <a:schemeClr val="accent6"/>
                </a:solidFill>
              </a:rPr>
              <a:t>Aware of visual bias</a:t>
            </a:r>
          </a:p>
          <a:p>
            <a:pPr marL="12700" marR="5080"/>
            <a:r>
              <a:rPr lang="en-US" sz="1400" kern="0" spc="-80" dirty="0">
                <a:solidFill>
                  <a:schemeClr val="accent6"/>
                </a:solidFill>
              </a:rPr>
              <a:t>Clear in message</a:t>
            </a:r>
          </a:p>
          <a:p>
            <a:pPr marL="12700" marR="5080"/>
            <a:r>
              <a:rPr lang="en-US" sz="1400" kern="0" spc="-80" dirty="0">
                <a:solidFill>
                  <a:schemeClr val="accent6"/>
                </a:solidFill>
              </a:rPr>
              <a:t>Graceful in appearance</a:t>
            </a:r>
          </a:p>
          <a:p>
            <a:pPr marL="12700" marR="5080"/>
            <a:r>
              <a:rPr lang="en-US" sz="1400" kern="0" spc="-80" dirty="0">
                <a:solidFill>
                  <a:schemeClr val="accent2"/>
                </a:solidFill>
              </a:rPr>
              <a:t>Bad cartography is:</a:t>
            </a:r>
          </a:p>
          <a:p>
            <a:pPr marL="12700" marR="5080"/>
            <a:r>
              <a:rPr lang="en-US" sz="1400" kern="0" spc="-80" dirty="0">
                <a:solidFill>
                  <a:schemeClr val="accent6"/>
                </a:solidFill>
              </a:rPr>
              <a:t>Cluttered</a:t>
            </a:r>
          </a:p>
          <a:p>
            <a:pPr marL="12700" marR="5080"/>
            <a:r>
              <a:rPr lang="en-US" sz="1400" kern="0" spc="-80" dirty="0">
                <a:solidFill>
                  <a:schemeClr val="accent6"/>
                </a:solidFill>
              </a:rPr>
              <a:t>Misleading</a:t>
            </a:r>
          </a:p>
          <a:p>
            <a:pPr marL="12700" marR="5080"/>
            <a:r>
              <a:rPr lang="en-US" sz="1400" kern="0" spc="-80" dirty="0">
                <a:solidFill>
                  <a:schemeClr val="accent6"/>
                </a:solidFill>
              </a:rPr>
              <a:t>Overly literal or overly abstract</a:t>
            </a:r>
          </a:p>
          <a:p>
            <a:pPr marL="12700" marR="5080"/>
            <a:r>
              <a:rPr lang="en-US" sz="1400" kern="0" spc="-80" dirty="0">
                <a:solidFill>
                  <a:schemeClr val="accent6"/>
                </a:solidFill>
              </a:rPr>
              <a:t>Emotionless</a:t>
            </a:r>
          </a:p>
          <a:p>
            <a:pPr marL="12700" marR="5080"/>
            <a:r>
              <a:rPr lang="en-US" sz="1400" kern="0" spc="-80" dirty="0">
                <a:solidFill>
                  <a:schemeClr val="accent2"/>
                </a:solidFill>
              </a:rPr>
              <a:t>A map should feel like a spatial poem. </a:t>
            </a: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r>
              <a:rPr lang="en-US" sz="1600" kern="0" spc="-80" dirty="0">
                <a:solidFill>
                  <a:schemeClr val="accent2"/>
                </a:solidFill>
              </a:rPr>
              <a:t>Layering Techniques</a:t>
            </a:r>
          </a:p>
          <a:p>
            <a:pPr marL="12700" marR="5080"/>
            <a:r>
              <a:rPr lang="en-US" sz="1400" kern="0" spc="-80" dirty="0">
                <a:solidFill>
                  <a:schemeClr val="accent6"/>
                </a:solidFill>
              </a:rPr>
              <a:t>Imagine a map as a layered cake of spatial meaning: each layer is a thin sheet of logic, geometry, and story, stacked so the world reveals itself in slices. Map layering techniques and algorithms are the craft of arranging these sheets so geography becomes understandable, navigable, maybe even beautiful.</a:t>
            </a:r>
          </a:p>
          <a:p>
            <a:pPr marL="12700" marR="5080"/>
            <a:endParaRPr lang="en-US" sz="1400" kern="0" spc="-80" dirty="0">
              <a:solidFill>
                <a:schemeClr val="accent6"/>
              </a:solidFill>
            </a:endParaRPr>
          </a:p>
          <a:p>
            <a:pPr marL="12700" marR="5080"/>
            <a:r>
              <a:rPr lang="en-US" sz="1400" kern="0" spc="-80" dirty="0">
                <a:solidFill>
                  <a:schemeClr val="accent2"/>
                </a:solidFill>
              </a:rPr>
              <a:t>1) What is a Map Layer, Conceptually?</a:t>
            </a:r>
          </a:p>
          <a:p>
            <a:pPr marL="12700" marR="5080"/>
            <a:r>
              <a:rPr lang="en-US" sz="1400" kern="0" spc="-80" dirty="0">
                <a:solidFill>
                  <a:schemeClr val="accent6"/>
                </a:solidFill>
              </a:rPr>
              <a:t>A layer is a spatial dataset containing one type of geographic feature or theme: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63414531"/>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0096E9-DF1F-3587-C5D9-C900A3B5A1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1D8D60-2260-517B-5764-38A59D32FC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E0F37EB-D688-D61F-6002-5ED5E143ED3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6F3CA7A-BA7D-B679-0D45-53CA86CC32E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570F87F-46A5-3A58-243A-CAF52811B74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0A87C2-0AB6-6464-3234-C6CE2E94C17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4CD70A4-015D-276D-5708-0BECE783107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D2AC970-F86D-09B5-7441-E5190F7266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7ABD562-01FA-29A3-5B28-B89D058F8C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280103A6-B823-5DB3-F8B9-BC56B6C580E7}"/>
              </a:ext>
            </a:extLst>
          </p:cNvPr>
          <p:cNvSpPr txBox="1">
            <a:spLocks/>
          </p:cNvSpPr>
          <p:nvPr/>
        </p:nvSpPr>
        <p:spPr>
          <a:xfrm>
            <a:off x="228600" y="762000"/>
            <a:ext cx="8624937" cy="463203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Layer	                   Content Example	                   Geometry Type</a:t>
            </a:r>
          </a:p>
          <a:p>
            <a:pPr marL="12700" marR="5080"/>
            <a:r>
              <a:rPr lang="en-US" sz="1400" kern="0" spc="-80" dirty="0">
                <a:solidFill>
                  <a:schemeClr val="accent6"/>
                </a:solidFill>
              </a:rPr>
              <a:t>Base terrain	Elevation, slope, landcover	Raster</a:t>
            </a:r>
          </a:p>
          <a:p>
            <a:pPr marL="12700" marR="5080"/>
            <a:r>
              <a:rPr lang="en-US" sz="1400" kern="0" spc="-80" dirty="0">
                <a:solidFill>
                  <a:schemeClr val="accent6"/>
                </a:solidFill>
              </a:rPr>
              <a:t>Hydrography	Rivers, lakes	                    Line/Polygon</a:t>
            </a:r>
          </a:p>
          <a:p>
            <a:pPr marL="12700" marR="5080"/>
            <a:r>
              <a:rPr lang="en-US" sz="1400" kern="0" spc="-80" dirty="0">
                <a:solidFill>
                  <a:schemeClr val="accent6"/>
                </a:solidFill>
              </a:rPr>
              <a:t>Transportation	Roads, railways	                    Line</a:t>
            </a:r>
          </a:p>
          <a:p>
            <a:pPr marL="12700" marR="5080"/>
            <a:r>
              <a:rPr lang="en-US" sz="1400" kern="0" spc="-80" dirty="0">
                <a:solidFill>
                  <a:schemeClr val="accent6"/>
                </a:solidFill>
              </a:rPr>
              <a:t>Boundaries	Countries, districts	                    Polygon</a:t>
            </a:r>
          </a:p>
          <a:p>
            <a:pPr marL="12700" marR="5080"/>
            <a:r>
              <a:rPr lang="en-US" sz="1400" kern="0" spc="-80" dirty="0">
                <a:solidFill>
                  <a:schemeClr val="accent6"/>
                </a:solidFill>
              </a:rPr>
              <a:t>POIs	                    Schools, hospitals	                    Points</a:t>
            </a:r>
          </a:p>
          <a:p>
            <a:pPr marL="12700" marR="5080"/>
            <a:r>
              <a:rPr lang="en-US" sz="1400" kern="0" spc="-80" dirty="0">
                <a:solidFill>
                  <a:schemeClr val="accent2"/>
                </a:solidFill>
              </a:rPr>
              <a:t>Layer stacks let us compare and analyze relationships:</a:t>
            </a:r>
          </a:p>
          <a:p>
            <a:pPr marL="12700" marR="5080"/>
            <a:r>
              <a:rPr lang="en-US" sz="1400" kern="0" spc="-80" dirty="0">
                <a:solidFill>
                  <a:schemeClr val="accent6"/>
                </a:solidFill>
              </a:rPr>
              <a:t>Roads (line) crossing rivers (polygon) require bridges.</a:t>
            </a:r>
          </a:p>
          <a:p>
            <a:pPr marL="12700" marR="5080"/>
            <a:r>
              <a:rPr lang="en-US" sz="1400" kern="0" spc="-80" dirty="0">
                <a:solidFill>
                  <a:schemeClr val="accent6"/>
                </a:solidFill>
              </a:rPr>
              <a:t>Hospitals (point) should lie within city boundaries (polygon).</a:t>
            </a:r>
          </a:p>
          <a:p>
            <a:pPr marL="12700" marR="5080"/>
            <a:r>
              <a:rPr lang="en-US" sz="1400" kern="0" spc="-80" dirty="0">
                <a:solidFill>
                  <a:schemeClr val="accent6"/>
                </a:solidFill>
              </a:rPr>
              <a:t>Vegetation (raster) changes with altitude (raster).</a:t>
            </a:r>
          </a:p>
          <a:p>
            <a:pPr marL="12700" marR="5080"/>
            <a:endParaRPr lang="en-US" sz="1400" kern="0" spc="-80" dirty="0">
              <a:solidFill>
                <a:schemeClr val="accent6"/>
              </a:solidFill>
            </a:endParaRPr>
          </a:p>
          <a:p>
            <a:pPr marL="12700" marR="5080"/>
            <a:r>
              <a:rPr lang="en-US" sz="1400" kern="0" spc="-80" dirty="0">
                <a:solidFill>
                  <a:schemeClr val="accent2"/>
                </a:solidFill>
              </a:rPr>
              <a:t>2) Core Layering Techniques (Cartographic + GIS)</a:t>
            </a:r>
          </a:p>
          <a:p>
            <a:pPr marL="12700" marR="5080"/>
            <a:r>
              <a:rPr lang="en-US" sz="1400" kern="0" spc="-80" dirty="0">
                <a:solidFill>
                  <a:schemeClr val="accent2"/>
                </a:solidFill>
              </a:rPr>
              <a:t>A) Visual Layer Ordering</a:t>
            </a:r>
          </a:p>
          <a:p>
            <a:pPr marL="12700" marR="5080"/>
            <a:r>
              <a:rPr lang="en-US" sz="1400" kern="0" spc="-80" dirty="0">
                <a:solidFill>
                  <a:schemeClr val="accent6"/>
                </a:solidFill>
              </a:rPr>
              <a:t>Which layer sits on top matters. </a:t>
            </a:r>
          </a:p>
          <a:p>
            <a:pPr marL="12700" marR="5080"/>
            <a:r>
              <a:rPr lang="en-US" sz="1400" kern="0" spc="-80" dirty="0">
                <a:solidFill>
                  <a:schemeClr val="accent2"/>
                </a:solidFill>
              </a:rPr>
              <a:t>Usually:</a:t>
            </a:r>
          </a:p>
          <a:p>
            <a:pPr marL="12700" marR="5080"/>
            <a:r>
              <a:rPr lang="en-US" sz="1400" kern="0" spc="-80" dirty="0">
                <a:solidFill>
                  <a:schemeClr val="accent2"/>
                </a:solidFill>
              </a:rPr>
              <a:t>Bottom:</a:t>
            </a:r>
            <a:r>
              <a:rPr lang="en-US" sz="1400" kern="0" spc="-80" dirty="0">
                <a:solidFill>
                  <a:schemeClr val="accent6"/>
                </a:solidFill>
              </a:rPr>
              <a:t> Terrain + satellite</a:t>
            </a:r>
          </a:p>
          <a:p>
            <a:pPr marL="12700" marR="5080"/>
            <a:r>
              <a:rPr lang="en-US" sz="1400" kern="0" spc="-80" dirty="0">
                <a:solidFill>
                  <a:schemeClr val="accent2"/>
                </a:solidFill>
              </a:rPr>
              <a:t>Middle: </a:t>
            </a:r>
            <a:r>
              <a:rPr lang="en-US" sz="1400" kern="0" spc="-80" dirty="0">
                <a:solidFill>
                  <a:schemeClr val="accent6"/>
                </a:solidFill>
              </a:rPr>
              <a:t>Water, land cover, boundaries</a:t>
            </a:r>
          </a:p>
          <a:p>
            <a:pPr marL="12700" marR="5080"/>
            <a:r>
              <a:rPr lang="en-US" sz="1400" kern="0" spc="-80" dirty="0">
                <a:solidFill>
                  <a:schemeClr val="accent2"/>
                </a:solidFill>
              </a:rPr>
              <a:t>Top: </a:t>
            </a:r>
            <a:r>
              <a:rPr lang="en-US" sz="1400" kern="0" spc="-80" dirty="0">
                <a:solidFill>
                  <a:schemeClr val="accent6"/>
                </a:solidFill>
              </a:rPr>
              <a:t>Roads, points, labels</a:t>
            </a:r>
          </a:p>
          <a:p>
            <a:pPr marL="12700" marR="5080"/>
            <a:r>
              <a:rPr lang="en-US" sz="1400" kern="0" spc="-80" dirty="0">
                <a:solidFill>
                  <a:schemeClr val="accent6"/>
                </a:solidFill>
              </a:rPr>
              <a:t>Because if labels lived under mountains, well… they'd get lost like socks in laundry.</a:t>
            </a:r>
          </a:p>
        </p:txBody>
      </p:sp>
    </p:spTree>
    <p:extLst>
      <p:ext uri="{BB962C8B-B14F-4D97-AF65-F5344CB8AC3E}">
        <p14:creationId xmlns:p14="http://schemas.microsoft.com/office/powerpoint/2010/main" val="4092211389"/>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42DB-2016-90DF-6DDB-88951BEE0E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A8CC45-1EFC-81B5-20E9-87D745AFD7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3058725-A67D-3976-C5D7-A67A305CBF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D43E56F-7706-6C98-C29C-BC004A73812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5008AED-5D2F-6360-A46C-BF705E49A1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CED474-6DBB-A2FD-4383-82D5CD8BFE0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B74C3F2-B7E9-E561-249F-5A95FAE1B76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E2D72AB-9F48-D21F-B2AB-61EC96BDE9C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70F4A89-C3BA-BB75-3A26-DD2BBC9946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1146796-E4DA-EA77-39D1-DA51F8F25D7A}"/>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B) Layer Styling (Symbolization)</a:t>
            </a:r>
          </a:p>
          <a:p>
            <a:pPr marL="12700" marR="5080"/>
            <a:r>
              <a:rPr lang="en-US" sz="1400" kern="0" spc="-80" dirty="0">
                <a:solidFill>
                  <a:schemeClr val="accent2"/>
                </a:solidFill>
              </a:rPr>
              <a:t>This dictates clarity:</a:t>
            </a:r>
          </a:p>
          <a:p>
            <a:pPr marL="12700" marR="5080"/>
            <a:r>
              <a:rPr lang="en-US" sz="1400" kern="0" spc="-80" dirty="0">
                <a:solidFill>
                  <a:schemeClr val="accent6"/>
                </a:solidFill>
              </a:rPr>
              <a:t>Line thickness (e.g., highways thicker than alleys)</a:t>
            </a:r>
          </a:p>
          <a:p>
            <a:pPr marL="12700" marR="5080"/>
            <a:r>
              <a:rPr lang="en-US" sz="1400" kern="0" spc="-80" dirty="0">
                <a:solidFill>
                  <a:schemeClr val="accent6"/>
                </a:solidFill>
              </a:rPr>
              <a:t>Polygon fill patterns (solid, hatch, opacity)</a:t>
            </a:r>
          </a:p>
          <a:p>
            <a:pPr marL="12700" marR="5080"/>
            <a:r>
              <a:rPr lang="en-US" sz="1400" kern="0" spc="-80" dirty="0">
                <a:solidFill>
                  <a:schemeClr val="accent6"/>
                </a:solidFill>
              </a:rPr>
              <a:t>Color ramps (elevation gradients, heat intensity)</a:t>
            </a:r>
          </a:p>
          <a:p>
            <a:pPr marL="12700" marR="5080"/>
            <a:r>
              <a:rPr lang="en-US" sz="1400" kern="0" spc="-80" dirty="0">
                <a:solidFill>
                  <a:schemeClr val="accent6"/>
                </a:solidFill>
              </a:rPr>
              <a:t>Good maps never shout. They suggest.</a:t>
            </a:r>
          </a:p>
          <a:p>
            <a:pPr marL="12700" marR="5080"/>
            <a:endParaRPr lang="en-US" sz="1400" kern="0" spc="-80" dirty="0">
              <a:solidFill>
                <a:schemeClr val="accent6"/>
              </a:solidFill>
            </a:endParaRPr>
          </a:p>
          <a:p>
            <a:pPr marL="12700" marR="5080"/>
            <a:r>
              <a:rPr lang="en-US" sz="1400" kern="0" spc="-80" dirty="0">
                <a:solidFill>
                  <a:schemeClr val="accent2"/>
                </a:solidFill>
              </a:rPr>
              <a:t>C) Opacity &amp; Blending</a:t>
            </a:r>
          </a:p>
          <a:p>
            <a:pPr marL="12700" marR="5080"/>
            <a:r>
              <a:rPr lang="en-US" sz="1400" kern="0" spc="-80" dirty="0">
                <a:solidFill>
                  <a:schemeClr val="accent6"/>
                </a:solidFill>
              </a:rPr>
              <a:t>Adjusting transparency reveals spatial relationships:</a:t>
            </a:r>
          </a:p>
          <a:p>
            <a:pPr marL="12700" marR="5080"/>
            <a:r>
              <a:rPr lang="en-US" sz="1400" kern="0" spc="-80" dirty="0">
                <a:solidFill>
                  <a:schemeClr val="accent6"/>
                </a:solidFill>
              </a:rPr>
              <a:t>Semi-transparent vegetation atop satellite imagery</a:t>
            </a:r>
          </a:p>
          <a:p>
            <a:pPr marL="12700" marR="5080"/>
            <a:r>
              <a:rPr lang="en-US" sz="1400" kern="0" spc="-80" dirty="0">
                <a:solidFill>
                  <a:schemeClr val="accent6"/>
                </a:solidFill>
              </a:rPr>
              <a:t>Ghosted administrative boundaries above shaded relief</a:t>
            </a:r>
          </a:p>
          <a:p>
            <a:pPr marL="12700" marR="5080"/>
            <a:endParaRPr lang="en-US" sz="1400" kern="0" spc="-80" dirty="0">
              <a:solidFill>
                <a:schemeClr val="accent6"/>
              </a:solidFill>
            </a:endParaRPr>
          </a:p>
          <a:p>
            <a:pPr marL="12700" marR="5080"/>
            <a:r>
              <a:rPr lang="en-US" sz="1400" kern="0" spc="-80" dirty="0">
                <a:solidFill>
                  <a:schemeClr val="accent2"/>
                </a:solidFill>
              </a:rPr>
              <a:t>3) Computational / Algorithmic Layering</a:t>
            </a:r>
          </a:p>
          <a:p>
            <a:pPr marL="12700" marR="5080"/>
            <a:r>
              <a:rPr lang="en-US" sz="1400" kern="0" spc="-80" dirty="0">
                <a:solidFill>
                  <a:schemeClr val="accent2"/>
                </a:solidFill>
              </a:rPr>
              <a:t>A) Coordinate Transformation / Projection</a:t>
            </a:r>
          </a:p>
          <a:p>
            <a:pPr marL="12700" marR="5080"/>
            <a:r>
              <a:rPr lang="en-US" sz="1400" kern="0" spc="-80" dirty="0">
                <a:solidFill>
                  <a:schemeClr val="accent6"/>
                </a:solidFill>
              </a:rPr>
              <a:t>Layers must agree on a spatial reference.</a:t>
            </a:r>
          </a:p>
          <a:p>
            <a:pPr marL="12700" marR="5080"/>
            <a:r>
              <a:rPr lang="en-US" sz="1400" kern="0" spc="-80" dirty="0">
                <a:solidFill>
                  <a:schemeClr val="accent2"/>
                </a:solidFill>
              </a:rPr>
              <a:t>Algorithms:</a:t>
            </a:r>
          </a:p>
          <a:p>
            <a:pPr marL="12700" marR="5080"/>
            <a:r>
              <a:rPr lang="en-US" sz="1400" kern="0" spc="-80" dirty="0">
                <a:solidFill>
                  <a:schemeClr val="accent6"/>
                </a:solidFill>
              </a:rPr>
              <a:t>Affine transformations (shift, scale)</a:t>
            </a:r>
          </a:p>
          <a:p>
            <a:pPr marL="12700" marR="5080"/>
            <a:r>
              <a:rPr lang="en-US" sz="1400" kern="0" spc="-80" dirty="0">
                <a:solidFill>
                  <a:schemeClr val="accent6"/>
                </a:solidFill>
              </a:rPr>
              <a:t>Proj4 / EPSG transformations</a:t>
            </a:r>
          </a:p>
          <a:p>
            <a:pPr marL="12700" marR="5080"/>
            <a:r>
              <a:rPr lang="en-US" sz="1400" kern="0" spc="-80" dirty="0">
                <a:solidFill>
                  <a:schemeClr val="accent6"/>
                </a:solidFill>
              </a:rPr>
              <a:t>Datum shift (Helmert transformation)</a:t>
            </a:r>
          </a:p>
          <a:p>
            <a:pPr marL="12700" marR="5080"/>
            <a:r>
              <a:rPr lang="en-US" sz="1400" kern="0" spc="-80" dirty="0">
                <a:solidFill>
                  <a:schemeClr val="accent2"/>
                </a:solidFill>
              </a:rPr>
              <a:t>Mathematically:</a:t>
            </a:r>
          </a:p>
          <a:p>
            <a:pPr marL="12700" marR="5080"/>
            <a:r>
              <a:rPr lang="en-US" sz="1400" kern="0" spc="-80" dirty="0">
                <a:solidFill>
                  <a:schemeClr val="accent6"/>
                </a:solidFill>
              </a:rPr>
              <a:t>[x', y'] = A[x, y] + b</a:t>
            </a:r>
          </a:p>
          <a:p>
            <a:pPr marL="12700" marR="5080"/>
            <a:r>
              <a:rPr lang="en-US" sz="1400" kern="0" spc="-80" dirty="0">
                <a:solidFill>
                  <a:schemeClr val="accent6"/>
                </a:solidFill>
              </a:rPr>
              <a:t>Where A = transformation matrix, b = offset.</a:t>
            </a:r>
          </a:p>
        </p:txBody>
      </p:sp>
    </p:spTree>
    <p:extLst>
      <p:ext uri="{BB962C8B-B14F-4D97-AF65-F5344CB8AC3E}">
        <p14:creationId xmlns:p14="http://schemas.microsoft.com/office/powerpoint/2010/main" val="3837485049"/>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A6F5B-E84A-80C3-B84A-10194E19C5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1EDD1F-848D-16F2-5C18-5FCA709687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D57BE7-3A2F-327B-8B07-CEBB6C222E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9788E3-35B5-E019-BB17-80EF79BFEA6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AF77D65-2017-831F-B0B0-794F4F0AFE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A6DF59F-B011-8384-BCAF-C48946704DB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1BEA7B3-4BCD-D470-8A73-F0C944BD64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12AABE6-CDFC-655E-FC10-3BD3CB52C60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A0DABE3-FCE8-6588-2E75-6D1D74E000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F270DD5-0E3D-FCE5-C189-02F8C37C434C}"/>
              </a:ext>
            </a:extLst>
          </p:cNvPr>
          <p:cNvSpPr txBox="1">
            <a:spLocks/>
          </p:cNvSpPr>
          <p:nvPr/>
        </p:nvSpPr>
        <p:spPr>
          <a:xfrm>
            <a:off x="228600" y="762000"/>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B) Topology Enforcement</a:t>
            </a:r>
          </a:p>
          <a:p>
            <a:pPr marL="12700" marR="5080"/>
            <a:r>
              <a:rPr lang="en-US" sz="1400" kern="0" spc="-80" dirty="0">
                <a:solidFill>
                  <a:schemeClr val="accent2"/>
                </a:solidFill>
              </a:rPr>
              <a:t>Ensures layers respect geometry rules:</a:t>
            </a:r>
          </a:p>
          <a:p>
            <a:pPr marL="12700" marR="5080"/>
            <a:r>
              <a:rPr lang="en-US" sz="1400" kern="0" spc="-80" dirty="0">
                <a:solidFill>
                  <a:schemeClr val="accent2"/>
                </a:solidFill>
              </a:rPr>
              <a:t>Rule	                                      Example</a:t>
            </a:r>
          </a:p>
          <a:p>
            <a:pPr marL="12700" marR="5080"/>
            <a:r>
              <a:rPr lang="en-US" sz="1400" kern="0" spc="-80" dirty="0">
                <a:solidFill>
                  <a:schemeClr val="accent6"/>
                </a:solidFill>
              </a:rPr>
              <a:t>No self-intersection	                  Road segments shouldn’t form loops unintentionally</a:t>
            </a:r>
          </a:p>
          <a:p>
            <a:pPr marL="12700" marR="5080"/>
            <a:r>
              <a:rPr lang="en-US" sz="1400" kern="0" spc="-80" dirty="0">
                <a:solidFill>
                  <a:schemeClr val="accent6"/>
                </a:solidFill>
              </a:rPr>
              <a:t>Polygons must close	                  Boundaries shouldn’t leak</a:t>
            </a:r>
          </a:p>
          <a:p>
            <a:pPr marL="12700" marR="5080"/>
            <a:r>
              <a:rPr lang="en-US" sz="1400" kern="0" spc="-80" dirty="0">
                <a:solidFill>
                  <a:schemeClr val="accent6"/>
                </a:solidFill>
              </a:rPr>
              <a:t>Lines must connect at nodes       Road networks must be routable</a:t>
            </a:r>
          </a:p>
          <a:p>
            <a:pPr marL="12700" marR="5080"/>
            <a:r>
              <a:rPr lang="en-US" sz="1400" kern="0" spc="-80" dirty="0">
                <a:solidFill>
                  <a:schemeClr val="accent2"/>
                </a:solidFill>
              </a:rPr>
              <a:t>Algorithms:</a:t>
            </a:r>
          </a:p>
          <a:p>
            <a:pPr marL="12700" marR="5080"/>
            <a:r>
              <a:rPr lang="en-US" sz="1400" kern="0" spc="-80" dirty="0">
                <a:solidFill>
                  <a:schemeClr val="accent6"/>
                </a:solidFill>
              </a:rPr>
              <a:t>Planar graph construction</a:t>
            </a:r>
          </a:p>
          <a:p>
            <a:pPr marL="12700" marR="5080"/>
            <a:r>
              <a:rPr lang="en-US" sz="1400" kern="0" spc="-80" dirty="0">
                <a:solidFill>
                  <a:schemeClr val="accent6"/>
                </a:solidFill>
              </a:rPr>
              <a:t>Winged-edge / DCEL structures</a:t>
            </a:r>
          </a:p>
          <a:p>
            <a:pPr marL="12700" marR="5080"/>
            <a:r>
              <a:rPr lang="en-US" sz="1400" kern="0" spc="-80" dirty="0">
                <a:solidFill>
                  <a:schemeClr val="accent6"/>
                </a:solidFill>
              </a:rPr>
              <a:t>Topology clean-up (snap, trim, merge)</a:t>
            </a:r>
          </a:p>
          <a:p>
            <a:pPr marL="12700" marR="5080"/>
            <a:endParaRPr lang="en-US" sz="1400" kern="0" spc="-80" dirty="0">
              <a:solidFill>
                <a:schemeClr val="accent6"/>
              </a:solidFill>
            </a:endParaRPr>
          </a:p>
          <a:p>
            <a:pPr marL="12700" marR="5080"/>
            <a:r>
              <a:rPr lang="en-US" sz="1400" kern="0" spc="-80" dirty="0">
                <a:solidFill>
                  <a:schemeClr val="accent2"/>
                </a:solidFill>
              </a:rPr>
              <a:t>C) Layer Overlay Algorithms</a:t>
            </a:r>
          </a:p>
          <a:p>
            <a:pPr marL="12700" marR="5080"/>
            <a:r>
              <a:rPr lang="en-US" sz="1400" kern="0" spc="-80" dirty="0">
                <a:solidFill>
                  <a:schemeClr val="accent6"/>
                </a:solidFill>
              </a:rPr>
              <a:t>Overlay is how layers interact to derive new meaning.</a:t>
            </a:r>
          </a:p>
          <a:p>
            <a:pPr marL="12700" marR="5080"/>
            <a:r>
              <a:rPr lang="en-US" sz="1400" kern="0" spc="-80" dirty="0">
                <a:solidFill>
                  <a:schemeClr val="accent2"/>
                </a:solidFill>
              </a:rPr>
              <a:t>Operation	      Meaning	                    Example</a:t>
            </a:r>
          </a:p>
          <a:p>
            <a:pPr marL="12700" marR="5080"/>
            <a:r>
              <a:rPr lang="en-US" sz="1400" kern="0" spc="-80" dirty="0">
                <a:solidFill>
                  <a:schemeClr val="accent6"/>
                </a:solidFill>
              </a:rPr>
              <a:t>Intersect	      What overlaps	                    Flood zone ∩ residential area</a:t>
            </a:r>
          </a:p>
          <a:p>
            <a:pPr marL="12700" marR="5080"/>
            <a:r>
              <a:rPr lang="en-US" sz="1400" kern="0" spc="-80" dirty="0">
                <a:solidFill>
                  <a:schemeClr val="accent6"/>
                </a:solidFill>
              </a:rPr>
              <a:t>Union	      Combine geometries	 Merge adjacent forest parcels</a:t>
            </a:r>
          </a:p>
          <a:p>
            <a:pPr marL="12700" marR="5080"/>
            <a:r>
              <a:rPr lang="en-US" sz="1400" kern="0" spc="-80" dirty="0">
                <a:solidFill>
                  <a:schemeClr val="accent6"/>
                </a:solidFill>
              </a:rPr>
              <a:t>Difference	      Remove overlaps	                    Land except protected regions</a:t>
            </a:r>
          </a:p>
          <a:p>
            <a:pPr marL="12700" marR="5080"/>
            <a:r>
              <a:rPr lang="en-US" sz="1400" kern="0" spc="-80" dirty="0">
                <a:solidFill>
                  <a:schemeClr val="accent2"/>
                </a:solidFill>
              </a:rPr>
              <a:t>Algorithms used:</a:t>
            </a:r>
          </a:p>
          <a:p>
            <a:pPr marL="12700" marR="5080"/>
            <a:r>
              <a:rPr lang="en-US" sz="1400" kern="0" spc="-80" dirty="0">
                <a:solidFill>
                  <a:schemeClr val="accent6"/>
                </a:solidFill>
              </a:rPr>
              <a:t>Weiler–Atherton polygon clipping</a:t>
            </a:r>
          </a:p>
          <a:p>
            <a:pPr marL="12700" marR="5080"/>
            <a:r>
              <a:rPr lang="en-US" sz="1400" kern="0" spc="-80" dirty="0">
                <a:solidFill>
                  <a:schemeClr val="accent6"/>
                </a:solidFill>
              </a:rPr>
              <a:t>Sutherland–Hodgman polygon clipping</a:t>
            </a:r>
          </a:p>
          <a:p>
            <a:pPr marL="12700" marR="5080"/>
            <a:r>
              <a:rPr lang="en-US" sz="1400" kern="0" spc="-80" dirty="0">
                <a:solidFill>
                  <a:schemeClr val="accent6"/>
                </a:solidFill>
              </a:rPr>
              <a:t>Bentley–Ottmann for segment intersections</a:t>
            </a:r>
          </a:p>
        </p:txBody>
      </p:sp>
    </p:spTree>
    <p:extLst>
      <p:ext uri="{BB962C8B-B14F-4D97-AF65-F5344CB8AC3E}">
        <p14:creationId xmlns:p14="http://schemas.microsoft.com/office/powerpoint/2010/main" val="2914307549"/>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581C3-B785-B4BB-4BB2-1C1FDE8A2E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CBA85D-BB73-A94A-BC88-6E090F495D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EBB05FB-CFC0-8BB8-B397-E6A7C2F961A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EF04C5-B512-923E-4E6C-9676D6A1B05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3690661-D01C-20F7-D732-A75FF88E52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DB6736-63A5-CF2E-BCE9-47C1FEF90C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15A928F-8FC0-3047-4B5A-9A81AA257C6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5438E23-7AD2-D924-0A16-AA0972C189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9843AD4-535D-A234-3FA3-2A3E3562AB7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67F80F5-6C7A-912D-5F88-DF1BBC177ADA}"/>
              </a:ext>
            </a:extLst>
          </p:cNvPr>
          <p:cNvSpPr txBox="1">
            <a:spLocks/>
          </p:cNvSpPr>
          <p:nvPr/>
        </p:nvSpPr>
        <p:spPr>
          <a:xfrm>
            <a:off x="228600" y="762000"/>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D) Raster Layer Composition</a:t>
            </a:r>
          </a:p>
          <a:p>
            <a:pPr marL="12700" marR="5080"/>
            <a:r>
              <a:rPr lang="en-US" sz="1400" kern="0" spc="-80" dirty="0">
                <a:solidFill>
                  <a:schemeClr val="accent6"/>
                </a:solidFill>
              </a:rPr>
              <a:t>Pixel-by-pixel blending or reclassification.</a:t>
            </a:r>
          </a:p>
          <a:p>
            <a:pPr marL="12700" marR="5080"/>
            <a:r>
              <a:rPr lang="en-US" sz="1400" kern="0" spc="-80" dirty="0">
                <a:solidFill>
                  <a:schemeClr val="accent2"/>
                </a:solidFill>
              </a:rPr>
              <a:t>Examples:</a:t>
            </a:r>
          </a:p>
          <a:p>
            <a:pPr marL="12700" marR="5080"/>
            <a:r>
              <a:rPr lang="en-US" sz="1400" kern="0" spc="-80" dirty="0">
                <a:solidFill>
                  <a:schemeClr val="accent6"/>
                </a:solidFill>
              </a:rPr>
              <a:t>NDVI vegetation index from near-IR and visible bands:</a:t>
            </a:r>
          </a:p>
          <a:p>
            <a:pPr marL="12700" marR="5080"/>
            <a:r>
              <a:rPr lang="en-US" sz="1400" kern="0" spc="-80" dirty="0">
                <a:solidFill>
                  <a:schemeClr val="accent6"/>
                </a:solidFill>
              </a:rPr>
              <a:t>NDVI = (NIR - Red) / (NIR + Red)</a:t>
            </a:r>
          </a:p>
          <a:p>
            <a:pPr marL="12700" marR="5080"/>
            <a:r>
              <a:rPr lang="en-US" sz="1400" kern="0" spc="-80" dirty="0">
                <a:solidFill>
                  <a:schemeClr val="accent6"/>
                </a:solidFill>
              </a:rPr>
              <a:t>Weighted overlays for suitability analysis:</a:t>
            </a:r>
          </a:p>
          <a:p>
            <a:pPr marL="12700" marR="5080"/>
            <a:r>
              <a:rPr lang="en-US" sz="1400" kern="0" spc="-80" dirty="0">
                <a:solidFill>
                  <a:schemeClr val="accent6"/>
                </a:solidFill>
              </a:rPr>
              <a:t>Suitability = w1*Slope + w2*</a:t>
            </a:r>
            <a:r>
              <a:rPr lang="en-US" sz="1400" kern="0" spc="-80" dirty="0" err="1">
                <a:solidFill>
                  <a:schemeClr val="accent6"/>
                </a:solidFill>
              </a:rPr>
              <a:t>WaterDistance</a:t>
            </a:r>
            <a:r>
              <a:rPr lang="en-US" sz="1400" kern="0" spc="-80" dirty="0">
                <a:solidFill>
                  <a:schemeClr val="accent6"/>
                </a:solidFill>
              </a:rPr>
              <a:t> + w3*</a:t>
            </a:r>
            <a:r>
              <a:rPr lang="en-US" sz="1400" kern="0" spc="-80" dirty="0" err="1">
                <a:solidFill>
                  <a:schemeClr val="accent6"/>
                </a:solidFill>
              </a:rPr>
              <a:t>SoilQuality</a:t>
            </a:r>
            <a:endParaRPr lang="en-US" sz="1400" kern="0" spc="-80" dirty="0">
              <a:solidFill>
                <a:schemeClr val="accent6"/>
              </a:solidFill>
            </a:endParaRPr>
          </a:p>
          <a:p>
            <a:pPr marL="12700" marR="5080"/>
            <a:r>
              <a:rPr lang="en-US" sz="1400" kern="0" spc="-80" dirty="0">
                <a:solidFill>
                  <a:schemeClr val="accent2"/>
                </a:solidFill>
              </a:rPr>
              <a:t>E) Label Placement Algorithms</a:t>
            </a:r>
          </a:p>
          <a:p>
            <a:pPr marL="12700" marR="5080"/>
            <a:r>
              <a:rPr lang="en-US" sz="1400" kern="0" spc="-80" dirty="0">
                <a:solidFill>
                  <a:schemeClr val="accent6"/>
                </a:solidFill>
              </a:rPr>
              <a:t>Where to put text so the map doesn’t look like a crowded bazaar.</a:t>
            </a:r>
          </a:p>
          <a:p>
            <a:pPr marL="12700" marR="5080"/>
            <a:r>
              <a:rPr lang="en-US" sz="1400" kern="0" spc="-80" dirty="0">
                <a:solidFill>
                  <a:schemeClr val="accent2"/>
                </a:solidFill>
              </a:rPr>
              <a:t>Algorithms:</a:t>
            </a:r>
          </a:p>
          <a:p>
            <a:pPr marL="12700" marR="5080"/>
            <a:r>
              <a:rPr lang="en-US" sz="1400" kern="0" spc="-80" dirty="0">
                <a:solidFill>
                  <a:schemeClr val="accent6"/>
                </a:solidFill>
              </a:rPr>
              <a:t>Simulated Annealing (optimize label positions)</a:t>
            </a:r>
          </a:p>
          <a:p>
            <a:pPr marL="12700" marR="5080"/>
            <a:r>
              <a:rPr lang="en-US" sz="1400" kern="0" spc="-80" dirty="0">
                <a:solidFill>
                  <a:schemeClr val="accent6"/>
                </a:solidFill>
              </a:rPr>
              <a:t>Greedy conflict resolution (avoid overlaps)</a:t>
            </a:r>
          </a:p>
          <a:p>
            <a:pPr marL="12700" marR="5080"/>
            <a:r>
              <a:rPr lang="en-US" sz="1400" kern="0" spc="-80" dirty="0">
                <a:solidFill>
                  <a:schemeClr val="accent6"/>
                </a:solidFill>
              </a:rPr>
              <a:t>R-Tree spatial indexing for quick collision detection</a:t>
            </a:r>
          </a:p>
          <a:p>
            <a:pPr marL="12700" marR="5080"/>
            <a:r>
              <a:rPr lang="en-US" sz="1400" kern="0" spc="-80" dirty="0">
                <a:solidFill>
                  <a:schemeClr val="accent6"/>
                </a:solidFill>
              </a:rPr>
              <a:t>Cartographers whisper that good labels feel effortless; bad labels shout chaos.</a:t>
            </a:r>
          </a:p>
          <a:p>
            <a:pPr marL="12700" marR="5080"/>
            <a:r>
              <a:rPr lang="en-US" sz="1400" kern="0" spc="-80" dirty="0">
                <a:solidFill>
                  <a:schemeClr val="accent2"/>
                </a:solidFill>
              </a:rPr>
              <a:t>F) Level of Detail (Generalization)</a:t>
            </a:r>
          </a:p>
          <a:p>
            <a:pPr marL="12700" marR="5080"/>
            <a:r>
              <a:rPr lang="en-US" sz="1400" kern="0" spc="-80" dirty="0">
                <a:solidFill>
                  <a:schemeClr val="accent6"/>
                </a:solidFill>
              </a:rPr>
              <a:t>When zoomed out, details overwhelm. So simplify.</a:t>
            </a:r>
          </a:p>
          <a:p>
            <a:pPr marL="12700" marR="5080"/>
            <a:r>
              <a:rPr lang="en-US" sz="1400" kern="0" spc="-80" dirty="0">
                <a:solidFill>
                  <a:schemeClr val="accent2"/>
                </a:solidFill>
              </a:rPr>
              <a:t>Algorithms:</a:t>
            </a:r>
          </a:p>
          <a:p>
            <a:pPr marL="12700" marR="5080"/>
            <a:r>
              <a:rPr lang="en-US" sz="1400" kern="0" spc="-80" dirty="0">
                <a:solidFill>
                  <a:schemeClr val="accent2"/>
                </a:solidFill>
              </a:rPr>
              <a:t>Task	                   Algorithm</a:t>
            </a:r>
          </a:p>
          <a:p>
            <a:pPr marL="12700" marR="5080"/>
            <a:r>
              <a:rPr lang="en-US" sz="1400" kern="0" spc="-80" dirty="0">
                <a:solidFill>
                  <a:schemeClr val="accent6"/>
                </a:solidFill>
              </a:rPr>
              <a:t>Simplify lines	Douglas–</a:t>
            </a:r>
            <a:r>
              <a:rPr lang="en-US" sz="1400" kern="0" spc="-80" dirty="0" err="1">
                <a:solidFill>
                  <a:schemeClr val="accent6"/>
                </a:solidFill>
              </a:rPr>
              <a:t>Peucker</a:t>
            </a:r>
            <a:r>
              <a:rPr lang="en-US" sz="1400" kern="0" spc="-80" dirty="0">
                <a:solidFill>
                  <a:schemeClr val="accent6"/>
                </a:solidFill>
              </a:rPr>
              <a:t>, </a:t>
            </a:r>
            <a:r>
              <a:rPr lang="en-US" sz="1400" kern="0" spc="-80" dirty="0" err="1">
                <a:solidFill>
                  <a:schemeClr val="accent6"/>
                </a:solidFill>
              </a:rPr>
              <a:t>Visvalingam</a:t>
            </a:r>
            <a:r>
              <a:rPr lang="en-US" sz="1400" kern="0" spc="-80" dirty="0">
                <a:solidFill>
                  <a:schemeClr val="accent6"/>
                </a:solidFill>
              </a:rPr>
              <a:t>-Whyatt</a:t>
            </a:r>
          </a:p>
          <a:p>
            <a:pPr marL="12700" marR="5080"/>
            <a:r>
              <a:rPr lang="en-US" sz="1400" kern="0" spc="-80" dirty="0">
                <a:solidFill>
                  <a:schemeClr val="accent6"/>
                </a:solidFill>
              </a:rPr>
              <a:t>Merge polygons	Region growing + topological dissolves</a:t>
            </a:r>
          </a:p>
          <a:p>
            <a:pPr marL="12700" marR="5080"/>
            <a:r>
              <a:rPr lang="en-US" sz="1400" kern="0" spc="-80" dirty="0">
                <a:solidFill>
                  <a:schemeClr val="accent6"/>
                </a:solidFill>
              </a:rPr>
              <a:t>Reduce POI clutter	Grid-based clustering (k-means, DBSCAN for spatial density)</a:t>
            </a:r>
          </a:p>
        </p:txBody>
      </p:sp>
    </p:spTree>
    <p:extLst>
      <p:ext uri="{BB962C8B-B14F-4D97-AF65-F5344CB8AC3E}">
        <p14:creationId xmlns:p14="http://schemas.microsoft.com/office/powerpoint/2010/main" val="157835088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65A98-6AA5-4B02-A212-CB0B9C64281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7E388C9-AE40-9672-2162-E0AF63FB1A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F8F70CC-23D4-0058-49C6-4D353B2967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FCEB46-E939-467B-63B4-113DAF15961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F8510FB-BEB3-AC63-BE48-0ABF8AC7447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D184552-6AA6-DA06-F849-5BB7DC9F7C6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ED94BD-6E98-60F1-97DE-A57EC456290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BB691D2-CF42-DFF5-1F8A-34E24D2EB6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7D025CE-D652-8D81-E4E4-388300EB213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47B1951-BC7C-BCA2-ED3C-606F121E4F5E}"/>
              </a:ext>
            </a:extLst>
          </p:cNvPr>
          <p:cNvSpPr txBox="1">
            <a:spLocks/>
          </p:cNvSpPr>
          <p:nvPr/>
        </p:nvSpPr>
        <p:spPr>
          <a:xfrm>
            <a:off x="228600" y="762000"/>
            <a:ext cx="8624937" cy="44165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4) Raster Layer Composition</a:t>
            </a:r>
          </a:p>
          <a:p>
            <a:pPr marL="12700" marR="5080"/>
            <a:r>
              <a:rPr lang="en-US" sz="1400" kern="0" spc="-80" dirty="0">
                <a:solidFill>
                  <a:schemeClr val="accent6"/>
                </a:solidFill>
              </a:rPr>
              <a:t>Pixel-by-pixel blending or reclassification.</a:t>
            </a:r>
          </a:p>
          <a:p>
            <a:pPr marL="12700" marR="5080"/>
            <a:r>
              <a:rPr lang="en-US" sz="1400" kern="0" spc="-80" dirty="0">
                <a:solidFill>
                  <a:schemeClr val="accent2"/>
                </a:solidFill>
              </a:rPr>
              <a:t>Examples:</a:t>
            </a:r>
          </a:p>
          <a:p>
            <a:pPr marL="12700" marR="5080"/>
            <a:r>
              <a:rPr lang="en-US" sz="1400" kern="0" spc="-80" dirty="0">
                <a:solidFill>
                  <a:schemeClr val="accent6"/>
                </a:solidFill>
              </a:rPr>
              <a:t>NDVI vegetation index from near-IR and visible bands:</a:t>
            </a:r>
          </a:p>
          <a:p>
            <a:pPr marL="12700" marR="5080"/>
            <a:r>
              <a:rPr lang="en-US" sz="1400" kern="0" spc="-80" dirty="0">
                <a:solidFill>
                  <a:schemeClr val="accent6"/>
                </a:solidFill>
              </a:rPr>
              <a:t>NDVI = (NIR - Red) / (NIR + Red)</a:t>
            </a:r>
          </a:p>
          <a:p>
            <a:pPr marL="12700" marR="5080"/>
            <a:r>
              <a:rPr lang="en-US" sz="1400" kern="0" spc="-80" dirty="0">
                <a:solidFill>
                  <a:schemeClr val="accent6"/>
                </a:solidFill>
              </a:rPr>
              <a:t>Weighted overlays for suitability analysis:</a:t>
            </a:r>
          </a:p>
          <a:p>
            <a:pPr marL="12700" marR="5080"/>
            <a:r>
              <a:rPr lang="en-US" sz="1400" kern="0" spc="-80" dirty="0">
                <a:solidFill>
                  <a:schemeClr val="accent6"/>
                </a:solidFill>
              </a:rPr>
              <a:t>Suitability = w1*Slope + w2*</a:t>
            </a:r>
            <a:r>
              <a:rPr lang="en-US" sz="1400" kern="0" spc="-80" dirty="0" err="1">
                <a:solidFill>
                  <a:schemeClr val="accent6"/>
                </a:solidFill>
              </a:rPr>
              <a:t>WaterDistance</a:t>
            </a:r>
            <a:r>
              <a:rPr lang="en-US" sz="1400" kern="0" spc="-80" dirty="0">
                <a:solidFill>
                  <a:schemeClr val="accent6"/>
                </a:solidFill>
              </a:rPr>
              <a:t> + w3*</a:t>
            </a:r>
            <a:r>
              <a:rPr lang="en-US" sz="1400" kern="0" spc="-80" dirty="0" err="1">
                <a:solidFill>
                  <a:schemeClr val="accent6"/>
                </a:solidFill>
              </a:rPr>
              <a:t>SoilQuality</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5) Label Placement Algorithms</a:t>
            </a:r>
          </a:p>
          <a:p>
            <a:pPr marL="12700" marR="5080"/>
            <a:r>
              <a:rPr lang="en-US" sz="1400" kern="0" spc="-80" dirty="0">
                <a:solidFill>
                  <a:schemeClr val="accent6"/>
                </a:solidFill>
              </a:rPr>
              <a:t>Where to put text so the map doesn’t look like a crowded bazaar.</a:t>
            </a:r>
          </a:p>
          <a:p>
            <a:pPr marL="12700" marR="5080"/>
            <a:r>
              <a:rPr lang="en-US" sz="1400" kern="0" spc="-80" dirty="0">
                <a:solidFill>
                  <a:schemeClr val="accent2"/>
                </a:solidFill>
              </a:rPr>
              <a:t>Algorithms:</a:t>
            </a:r>
          </a:p>
          <a:p>
            <a:pPr marL="12700" marR="5080"/>
            <a:r>
              <a:rPr lang="en-US" sz="1400" kern="0" spc="-80" dirty="0">
                <a:solidFill>
                  <a:schemeClr val="accent6"/>
                </a:solidFill>
              </a:rPr>
              <a:t>Simulated Annealing (optimize label positions)</a:t>
            </a:r>
          </a:p>
          <a:p>
            <a:pPr marL="12700" marR="5080"/>
            <a:r>
              <a:rPr lang="en-US" sz="1400" kern="0" spc="-80" dirty="0">
                <a:solidFill>
                  <a:schemeClr val="accent6"/>
                </a:solidFill>
              </a:rPr>
              <a:t>Greedy conflict resolution (avoid overlaps)</a:t>
            </a:r>
          </a:p>
          <a:p>
            <a:pPr marL="12700" marR="5080"/>
            <a:r>
              <a:rPr lang="en-US" sz="1400" kern="0" spc="-80" dirty="0">
                <a:solidFill>
                  <a:schemeClr val="accent6"/>
                </a:solidFill>
              </a:rPr>
              <a:t>R-Tree spatial indexing for quick collision detection</a:t>
            </a:r>
          </a:p>
          <a:p>
            <a:pPr marL="12700" marR="5080"/>
            <a:r>
              <a:rPr lang="en-US" sz="1400" kern="0" spc="-80" dirty="0">
                <a:solidFill>
                  <a:schemeClr val="accent6"/>
                </a:solidFill>
              </a:rPr>
              <a:t>Cartographers whisper that good labels feel effortless; bad labels shout chaos.</a:t>
            </a:r>
          </a:p>
          <a:p>
            <a:pPr marL="12700" marR="5080"/>
            <a:endParaRPr lang="en-US" sz="1400" kern="0" spc="-80" dirty="0">
              <a:solidFill>
                <a:schemeClr val="accent6"/>
              </a:solidFill>
            </a:endParaRPr>
          </a:p>
          <a:p>
            <a:pPr marL="12700" marR="5080"/>
            <a:r>
              <a:rPr lang="en-US" sz="1400" kern="0" spc="-80" dirty="0">
                <a:solidFill>
                  <a:schemeClr val="accent2"/>
                </a:solidFill>
              </a:rPr>
              <a:t>6) Level of Detail (Generalization)</a:t>
            </a:r>
          </a:p>
          <a:p>
            <a:pPr marL="12700" marR="5080"/>
            <a:r>
              <a:rPr lang="en-US" sz="1400" kern="0" spc="-80" dirty="0">
                <a:solidFill>
                  <a:schemeClr val="accent6"/>
                </a:solidFill>
              </a:rPr>
              <a:t>When zoomed out, details overwhelm. So simplify.</a:t>
            </a:r>
          </a:p>
        </p:txBody>
      </p:sp>
    </p:spTree>
    <p:extLst>
      <p:ext uri="{BB962C8B-B14F-4D97-AF65-F5344CB8AC3E}">
        <p14:creationId xmlns:p14="http://schemas.microsoft.com/office/powerpoint/2010/main" val="542643682"/>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9F1EB-61BA-1F54-CA74-CA41E398A6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71803F1-E6B5-31A5-1736-01B4CE3C4DA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2C7D9E-4CCF-5FB7-F2D8-CD3F4E15F0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59D25E9-28B6-354D-064E-28DEF83D379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380F96B-F946-B847-BA6D-6FFE509B9F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361212A-FBF8-6474-B0CF-F849BD15BB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8A1D49-60D3-9885-899B-1516A7B2F72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9083BD1-5FC5-50BF-41ED-E5561D72E58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0CC4828-DFFD-B5AC-4B1E-8FF3B8FA7AC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FF5E9BA-C1BA-66E6-A29B-51B7F4410695}"/>
              </a:ext>
            </a:extLst>
          </p:cNvPr>
          <p:cNvSpPr txBox="1">
            <a:spLocks/>
          </p:cNvSpPr>
          <p:nvPr/>
        </p:nvSpPr>
        <p:spPr>
          <a:xfrm>
            <a:off x="228600" y="762000"/>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600" kern="0" spc="-80" dirty="0">
                <a:solidFill>
                  <a:schemeClr val="accent2"/>
                </a:solidFill>
              </a:rPr>
              <a:t>Algorithms:</a:t>
            </a:r>
          </a:p>
          <a:p>
            <a:pPr marL="12700" marR="5080"/>
            <a:r>
              <a:rPr lang="en-US" sz="1600" kern="0" spc="-80" dirty="0">
                <a:solidFill>
                  <a:schemeClr val="accent2"/>
                </a:solidFill>
              </a:rPr>
              <a:t>Task	                 Algorithm</a:t>
            </a:r>
          </a:p>
          <a:p>
            <a:pPr marL="12700" marR="5080"/>
            <a:r>
              <a:rPr lang="en-US" sz="1600" kern="0" spc="-80" dirty="0">
                <a:solidFill>
                  <a:schemeClr val="accent6"/>
                </a:solidFill>
              </a:rPr>
              <a:t>Simplify lines	Douglas–</a:t>
            </a:r>
            <a:r>
              <a:rPr lang="en-US" sz="1600" kern="0" spc="-80" dirty="0" err="1">
                <a:solidFill>
                  <a:schemeClr val="accent6"/>
                </a:solidFill>
              </a:rPr>
              <a:t>Peucker</a:t>
            </a:r>
            <a:r>
              <a:rPr lang="en-US" sz="1600" kern="0" spc="-80" dirty="0">
                <a:solidFill>
                  <a:schemeClr val="accent6"/>
                </a:solidFill>
              </a:rPr>
              <a:t>, </a:t>
            </a:r>
            <a:r>
              <a:rPr lang="en-US" sz="1600" kern="0" spc="-80" dirty="0" err="1">
                <a:solidFill>
                  <a:schemeClr val="accent6"/>
                </a:solidFill>
              </a:rPr>
              <a:t>Visvalingam</a:t>
            </a:r>
            <a:r>
              <a:rPr lang="en-US" sz="1600" kern="0" spc="-80" dirty="0">
                <a:solidFill>
                  <a:schemeClr val="accent6"/>
                </a:solidFill>
              </a:rPr>
              <a:t>-Whyatt</a:t>
            </a:r>
          </a:p>
          <a:p>
            <a:pPr marL="12700" marR="5080"/>
            <a:r>
              <a:rPr lang="en-US" sz="1600" kern="0" spc="-80" dirty="0">
                <a:solidFill>
                  <a:schemeClr val="accent6"/>
                </a:solidFill>
              </a:rPr>
              <a:t>Merge polygons	Region growing + topological dissolves</a:t>
            </a:r>
          </a:p>
          <a:p>
            <a:pPr marL="12700" marR="5080"/>
            <a:r>
              <a:rPr lang="en-US" sz="1400" kern="0" spc="-80" dirty="0">
                <a:solidFill>
                  <a:schemeClr val="accent6"/>
                </a:solidFill>
              </a:rPr>
              <a:t>Reduce POI clutter	Grid-based clustering (k-means, DBSCAN for spatial density)</a:t>
            </a:r>
          </a:p>
          <a:p>
            <a:pPr marL="12700" marR="5080"/>
            <a:endParaRPr lang="en-US" sz="1400" kern="0" spc="-80" dirty="0">
              <a:solidFill>
                <a:schemeClr val="accent6"/>
              </a:solidFill>
            </a:endParaRPr>
          </a:p>
          <a:p>
            <a:pPr marL="12700" marR="5080"/>
            <a:r>
              <a:rPr lang="en-US" sz="1400" kern="0" spc="-80" dirty="0">
                <a:solidFill>
                  <a:schemeClr val="accent2"/>
                </a:solidFill>
              </a:rPr>
              <a:t>4) Example Layer Stacking Workflow (App Map View)</a:t>
            </a:r>
          </a:p>
          <a:p>
            <a:pPr marL="12700" marR="5080"/>
            <a:r>
              <a:rPr lang="en-US" sz="1400" kern="0" spc="-80" dirty="0">
                <a:solidFill>
                  <a:schemeClr val="accent6"/>
                </a:solidFill>
              </a:rPr>
              <a:t>Terrain (raster) </a:t>
            </a:r>
          </a:p>
          <a:p>
            <a:pPr marL="12700" marR="5080"/>
            <a:r>
              <a:rPr lang="en-US" sz="1400" kern="0" spc="-80" dirty="0">
                <a:solidFill>
                  <a:schemeClr val="accent6"/>
                </a:solidFill>
              </a:rPr>
              <a:t>    ↓ shaded relief</a:t>
            </a:r>
          </a:p>
          <a:p>
            <a:pPr marL="12700" marR="5080"/>
            <a:r>
              <a:rPr lang="en-US" sz="1400" kern="0" spc="-80" dirty="0">
                <a:solidFill>
                  <a:schemeClr val="accent6"/>
                </a:solidFill>
              </a:rPr>
              <a:t>Land Cover (raster)</a:t>
            </a:r>
          </a:p>
          <a:p>
            <a:pPr marL="12700" marR="5080"/>
            <a:r>
              <a:rPr lang="en-US" sz="1400" kern="0" spc="-80" dirty="0">
                <a:solidFill>
                  <a:schemeClr val="accent6"/>
                </a:solidFill>
              </a:rPr>
              <a:t>    ↓ opacity 50%</a:t>
            </a:r>
          </a:p>
          <a:p>
            <a:pPr marL="12700" marR="5080"/>
            <a:r>
              <a:rPr lang="en-US" sz="1400" kern="0" spc="-80" dirty="0">
                <a:solidFill>
                  <a:schemeClr val="accent6"/>
                </a:solidFill>
              </a:rPr>
              <a:t>Hydrology (lines, polygons)</a:t>
            </a:r>
          </a:p>
          <a:p>
            <a:pPr marL="12700" marR="5080"/>
            <a:r>
              <a:rPr lang="en-US" sz="1400" kern="0" spc="-80" dirty="0">
                <a:solidFill>
                  <a:schemeClr val="accent6"/>
                </a:solidFill>
              </a:rPr>
              <a:t>Road Network (lines)</a:t>
            </a:r>
          </a:p>
          <a:p>
            <a:pPr marL="12700" marR="5080"/>
            <a:r>
              <a:rPr lang="en-US" sz="1400" kern="0" spc="-80" dirty="0">
                <a:solidFill>
                  <a:schemeClr val="accent6"/>
                </a:solidFill>
              </a:rPr>
              <a:t>Administrative Boundaries (thin dashed lines)</a:t>
            </a:r>
          </a:p>
          <a:p>
            <a:pPr marL="12700" marR="5080"/>
            <a:r>
              <a:rPr lang="en-US" sz="1400" kern="0" spc="-80" dirty="0">
                <a:solidFill>
                  <a:schemeClr val="accent6"/>
                </a:solidFill>
              </a:rPr>
              <a:t>POIs (icons)</a:t>
            </a:r>
          </a:p>
          <a:p>
            <a:pPr marL="12700" marR="5080"/>
            <a:r>
              <a:rPr lang="en-US" sz="1400" kern="0" spc="-80" dirty="0">
                <a:solidFill>
                  <a:schemeClr val="accent6"/>
                </a:solidFill>
              </a:rPr>
              <a:t>Labels (text)</a:t>
            </a:r>
          </a:p>
          <a:p>
            <a:pPr marL="12700" marR="5080"/>
            <a:r>
              <a:rPr lang="en-US" sz="1400" kern="0" spc="-80" dirty="0">
                <a:solidFill>
                  <a:schemeClr val="accent2"/>
                </a:solidFill>
              </a:rPr>
              <a:t>Result: </a:t>
            </a:r>
            <a:r>
              <a:rPr lang="en-US" sz="1400" kern="0" spc="-80" dirty="0">
                <a:solidFill>
                  <a:schemeClr val="accent6"/>
                </a:solidFill>
              </a:rPr>
              <a:t>A map that feels legible, not overwhelmed.</a:t>
            </a:r>
          </a:p>
        </p:txBody>
      </p:sp>
    </p:spTree>
    <p:extLst>
      <p:ext uri="{BB962C8B-B14F-4D97-AF65-F5344CB8AC3E}">
        <p14:creationId xmlns:p14="http://schemas.microsoft.com/office/powerpoint/2010/main" val="3237256922"/>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72D8E-92CB-C35E-9B9B-2737B5013F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A0DBF8-0D63-F3FF-2023-E4C81BB8B2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65908E7-BBDF-7244-756E-84E6AFE438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781354-C0AE-28FA-DF92-6FE3E79FFEA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4F5531D-A47A-DD53-3037-2AB3026E1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DDCEB33-6AC2-74BE-DA04-381F30BA33A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A6549A-B42B-B5FA-02ED-748AFF5AD1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154FF3-6CE5-2FE8-13B2-884EC0C9787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04505A-909D-3C30-9265-509757703A6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330640B-E317-E512-8D3E-4616D1729BF9}"/>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6"/>
                </a:solidFill>
              </a:rPr>
              <a:t>Most Maps feels like a continuous flowing world because it never really shows you “the whole map” at once. It’s quietly streaming, stitching, caching, and swapping layers as you move. Picture it like a giant library where, instead of bringing all the books to your desk, a librarian keeps handing you just the pages you need right before you need them 📚➡️🗺️</a:t>
            </a:r>
          </a:p>
          <a:p>
            <a:pPr marL="12700" marR="5080"/>
            <a:endParaRPr lang="en-US" sz="1400" kern="0" spc="-80" dirty="0">
              <a:solidFill>
                <a:schemeClr val="accent6"/>
              </a:solidFill>
            </a:endParaRPr>
          </a:p>
          <a:p>
            <a:pPr marL="12700" marR="5080"/>
            <a:r>
              <a:rPr lang="en-US" sz="1400" kern="0" spc="-80" dirty="0">
                <a:solidFill>
                  <a:schemeClr val="accent2"/>
                </a:solidFill>
              </a:rPr>
              <a:t>1. The Map is Stored in “Tiles”</a:t>
            </a:r>
          </a:p>
          <a:p>
            <a:pPr marL="12700" marR="5080"/>
            <a:r>
              <a:rPr lang="en-US" sz="1400" kern="0" spc="-80" dirty="0">
                <a:solidFill>
                  <a:schemeClr val="accent6"/>
                </a:solidFill>
              </a:rPr>
              <a:t>The Earth is cut into small square images called tiles (usually 256×256 pixels).</a:t>
            </a:r>
          </a:p>
          <a:p>
            <a:pPr marL="12700" marR="5080"/>
            <a:r>
              <a:rPr lang="en-US" sz="1400" kern="0" spc="-80" dirty="0">
                <a:solidFill>
                  <a:schemeClr val="accent6"/>
                </a:solidFill>
              </a:rPr>
              <a:t>When you zoom, it fetches a different “layer” of tiles at higher or lower resolution.</a:t>
            </a:r>
          </a:p>
          <a:p>
            <a:pPr marL="12700" marR="5080"/>
            <a:r>
              <a:rPr lang="en-US" sz="1400" kern="0" spc="-80" dirty="0">
                <a:solidFill>
                  <a:schemeClr val="accent6"/>
                </a:solidFill>
              </a:rPr>
              <a:t>Zoom Level 3     → few tiles (coarse world)</a:t>
            </a:r>
          </a:p>
          <a:p>
            <a:pPr marL="12700" marR="5080"/>
            <a:r>
              <a:rPr lang="en-US" sz="1400" kern="0" spc="-80" dirty="0">
                <a:solidFill>
                  <a:schemeClr val="accent6"/>
                </a:solidFill>
              </a:rPr>
              <a:t>Zoom Level 18    → millions of tiles (street-level detail)</a:t>
            </a:r>
          </a:p>
          <a:p>
            <a:pPr marL="12700" marR="5080"/>
            <a:r>
              <a:rPr lang="en-US" sz="1400" kern="0" spc="-80" dirty="0">
                <a:solidFill>
                  <a:schemeClr val="accent6"/>
                </a:solidFill>
              </a:rPr>
              <a:t>Think: Lego bricks. Zoom out = big blocks; zoom in = tiny bricks.</a:t>
            </a:r>
          </a:p>
          <a:p>
            <a:pPr marL="12700" marR="5080"/>
            <a:endParaRPr lang="en-US" sz="1400" kern="0" spc="-80" dirty="0">
              <a:solidFill>
                <a:schemeClr val="accent6"/>
              </a:solidFill>
            </a:endParaRPr>
          </a:p>
          <a:p>
            <a:pPr marL="12700" marR="5080"/>
            <a:r>
              <a:rPr lang="en-US" sz="1400" kern="0" spc="-80" dirty="0">
                <a:solidFill>
                  <a:schemeClr val="accent2"/>
                </a:solidFill>
              </a:rPr>
              <a:t>2. Tiles are Loaded Just in Time</a:t>
            </a:r>
          </a:p>
          <a:p>
            <a:pPr marL="12700" marR="5080"/>
            <a:r>
              <a:rPr lang="en-US" sz="1400" kern="0" spc="-80" dirty="0">
                <a:solidFill>
                  <a:schemeClr val="accent6"/>
                </a:solidFill>
              </a:rPr>
              <a:t>As you pan the map, Google Maps:</a:t>
            </a:r>
          </a:p>
          <a:p>
            <a:pPr marL="12700" marR="5080"/>
            <a:r>
              <a:rPr lang="en-US" sz="1400" kern="0" spc="-80" dirty="0">
                <a:solidFill>
                  <a:schemeClr val="accent6"/>
                </a:solidFill>
              </a:rPr>
              <a:t>Predicts the direction you’re moving</a:t>
            </a:r>
          </a:p>
          <a:p>
            <a:pPr marL="12700" marR="5080"/>
            <a:r>
              <a:rPr lang="en-US" sz="1400" kern="0" spc="-80" dirty="0">
                <a:solidFill>
                  <a:schemeClr val="accent6"/>
                </a:solidFill>
              </a:rPr>
              <a:t>Downloads the next set of tiles before they come on screen</a:t>
            </a:r>
          </a:p>
          <a:p>
            <a:pPr marL="12700" marR="5080"/>
            <a:r>
              <a:rPr lang="en-US" sz="1400" kern="0" spc="-80" dirty="0">
                <a:solidFill>
                  <a:schemeClr val="accent6"/>
                </a:solidFill>
              </a:rPr>
              <a:t>Keeps recently viewed tiles cached in memory</a:t>
            </a:r>
          </a:p>
          <a:p>
            <a:pPr marL="12700" marR="5080"/>
            <a:r>
              <a:rPr lang="en-US" sz="1400" kern="0" spc="-80" dirty="0">
                <a:solidFill>
                  <a:schemeClr val="accent6"/>
                </a:solidFill>
              </a:rPr>
              <a:t>This makes the motion feel continuous instead of “chunky”.</a:t>
            </a:r>
          </a:p>
          <a:p>
            <a:pPr marL="12700" marR="5080"/>
            <a:r>
              <a:rPr lang="en-US" sz="1400" kern="0" spc="-80" dirty="0">
                <a:solidFill>
                  <a:schemeClr val="accent6"/>
                </a:solidFill>
              </a:rPr>
              <a:t>🧠 It’s like the map is reading ahead for you.</a:t>
            </a:r>
          </a:p>
          <a:p>
            <a:pPr marL="12700" marR="5080"/>
            <a:endParaRPr lang="en-US" sz="1400" kern="0" spc="-80" dirty="0">
              <a:solidFill>
                <a:schemeClr val="accent6"/>
              </a:solidFill>
            </a:endParaRPr>
          </a:p>
          <a:p>
            <a:pPr marL="12700" marR="5080"/>
            <a:r>
              <a:rPr lang="en-US" sz="1400" kern="0" spc="-80" dirty="0">
                <a:solidFill>
                  <a:schemeClr val="accent2"/>
                </a:solidFill>
              </a:rPr>
              <a:t>3. Vector Tiles (Not Just Images!)</a:t>
            </a:r>
          </a:p>
          <a:p>
            <a:pPr marL="12700" marR="5080"/>
            <a:r>
              <a:rPr lang="en-US" sz="1400" kern="0" spc="-80" dirty="0">
                <a:solidFill>
                  <a:schemeClr val="accent6"/>
                </a:solidFill>
              </a:rPr>
              <a:t>Older Google maps used bitmap images.</a:t>
            </a:r>
          </a:p>
        </p:txBody>
      </p:sp>
    </p:spTree>
    <p:extLst>
      <p:ext uri="{BB962C8B-B14F-4D97-AF65-F5344CB8AC3E}">
        <p14:creationId xmlns:p14="http://schemas.microsoft.com/office/powerpoint/2010/main" val="893019358"/>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A586D-242E-3083-3981-DDD3FF83E2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6F9A448-B884-288D-5AC9-327E2C7949D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A00854-B88D-836D-3DBD-5F0E79DA48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87D626E-A743-2FEA-61F5-745634B7953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D84FBC-6E68-F721-ED9B-2F61ECDB29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072159-E79A-76A6-EB27-D12D0A1138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02AE67A-733F-02D1-2F4D-44DD10F08B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EBE8FC4-FB54-5971-202B-510A08F1C8B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11954E-2FFE-2D3B-73A4-B627C3416C7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2C9C9CA-426D-0AF0-C948-2627B63C98EE}"/>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2"/>
                </a:solidFill>
              </a:rPr>
              <a:t>Modern Maps uses vector tiles:</a:t>
            </a:r>
          </a:p>
          <a:p>
            <a:pPr marL="12700" marR="5080"/>
            <a:r>
              <a:rPr lang="en-US" sz="1400" kern="0" spc="-80" dirty="0">
                <a:solidFill>
                  <a:schemeClr val="accent6"/>
                </a:solidFill>
              </a:rPr>
              <a:t>Lines for roads</a:t>
            </a:r>
          </a:p>
          <a:p>
            <a:pPr marL="12700" marR="5080"/>
            <a:r>
              <a:rPr lang="en-US" sz="1400" kern="0" spc="-80" dirty="0">
                <a:solidFill>
                  <a:schemeClr val="accent6"/>
                </a:solidFill>
              </a:rPr>
              <a:t>Polygons for buildings</a:t>
            </a:r>
          </a:p>
          <a:p>
            <a:pPr marL="12700" marR="5080"/>
            <a:r>
              <a:rPr lang="en-US" sz="1400" kern="0" spc="-80" dirty="0">
                <a:solidFill>
                  <a:schemeClr val="accent6"/>
                </a:solidFill>
              </a:rPr>
              <a:t>Text as labels</a:t>
            </a:r>
          </a:p>
          <a:p>
            <a:pPr marL="12700" marR="5080"/>
            <a:r>
              <a:rPr lang="en-US" sz="1400" kern="0" spc="-80" dirty="0">
                <a:solidFill>
                  <a:schemeClr val="accent6"/>
                </a:solidFill>
              </a:rPr>
              <a:t>Icons for POIs</a:t>
            </a:r>
          </a:p>
          <a:p>
            <a:pPr marL="12700" marR="5080"/>
            <a:r>
              <a:rPr lang="en-US" sz="1400" kern="0" spc="-80" dirty="0">
                <a:solidFill>
                  <a:schemeClr val="accent6"/>
                </a:solidFill>
              </a:rPr>
              <a:t>Your device draws the map in real-time using GPU.</a:t>
            </a:r>
          </a:p>
          <a:p>
            <a:pPr marL="12700" marR="5080"/>
            <a:r>
              <a:rPr lang="en-US" sz="1400" kern="0" spc="-80" dirty="0">
                <a:solidFill>
                  <a:schemeClr val="accent2"/>
                </a:solidFill>
              </a:rPr>
              <a:t>This allows:</a:t>
            </a:r>
          </a:p>
          <a:p>
            <a:pPr marL="12700" marR="5080"/>
            <a:r>
              <a:rPr lang="en-US" sz="1400" kern="0" spc="-80" dirty="0">
                <a:solidFill>
                  <a:schemeClr val="accent2"/>
                </a:solidFill>
              </a:rPr>
              <a:t>Feature	                   Benefit</a:t>
            </a:r>
          </a:p>
          <a:p>
            <a:pPr marL="12700" marR="5080"/>
            <a:r>
              <a:rPr lang="en-US" sz="1400" kern="0" spc="-80" dirty="0">
                <a:solidFill>
                  <a:schemeClr val="accent6"/>
                </a:solidFill>
              </a:rPr>
              <a:t>Rotation	                    Map can tilt/3D smoothly</a:t>
            </a:r>
          </a:p>
          <a:p>
            <a:pPr marL="12700" marR="5080"/>
            <a:r>
              <a:rPr lang="en-US" sz="1400" kern="0" spc="-80" dirty="0">
                <a:solidFill>
                  <a:schemeClr val="accent6"/>
                </a:solidFill>
              </a:rPr>
              <a:t>Styles on the fly	Night modes / highlight routes</a:t>
            </a:r>
          </a:p>
          <a:p>
            <a:pPr marL="12700" marR="5080"/>
            <a:r>
              <a:rPr lang="en-US" sz="1400" kern="0" spc="-80" dirty="0">
                <a:solidFill>
                  <a:schemeClr val="accent6"/>
                </a:solidFill>
              </a:rPr>
              <a:t>Tiny file sizes	Fast loading even on mobile</a:t>
            </a:r>
          </a:p>
          <a:p>
            <a:pPr marL="12700" marR="5080"/>
            <a:r>
              <a:rPr lang="en-US" sz="1400" kern="0" spc="-80" dirty="0">
                <a:solidFill>
                  <a:schemeClr val="accent6"/>
                </a:solidFill>
              </a:rPr>
              <a:t>The map is basically a live illustration, not a photo.</a:t>
            </a:r>
          </a:p>
          <a:p>
            <a:pPr marL="12700" marR="5080"/>
            <a:endParaRPr lang="en-US" sz="1400" kern="0" spc="-80" dirty="0">
              <a:solidFill>
                <a:schemeClr val="accent6"/>
              </a:solidFill>
            </a:endParaRPr>
          </a:p>
          <a:p>
            <a:pPr marL="12700" marR="5080"/>
            <a:r>
              <a:rPr lang="en-US" sz="1400" kern="0" spc="-80" dirty="0">
                <a:solidFill>
                  <a:schemeClr val="accent2"/>
                </a:solidFill>
              </a:rPr>
              <a:t>4. Progressive Rendering</a:t>
            </a:r>
          </a:p>
          <a:p>
            <a:pPr marL="12700" marR="5080"/>
            <a:r>
              <a:rPr lang="en-US" sz="1400" kern="0" spc="-80" dirty="0">
                <a:solidFill>
                  <a:schemeClr val="accent6"/>
                </a:solidFill>
              </a:rPr>
              <a:t>While loading, the map first draws:</a:t>
            </a:r>
          </a:p>
          <a:p>
            <a:pPr marL="12700" marR="5080"/>
            <a:r>
              <a:rPr lang="en-US" sz="1400" kern="0" spc="-80" dirty="0">
                <a:solidFill>
                  <a:schemeClr val="accent6"/>
                </a:solidFill>
              </a:rPr>
              <a:t>Base geometry (roads, land shapes)</a:t>
            </a:r>
          </a:p>
          <a:p>
            <a:pPr marL="12700" marR="5080"/>
            <a:r>
              <a:rPr lang="en-US" sz="1400" kern="0" spc="-80" dirty="0">
                <a:solidFill>
                  <a:schemeClr val="accent6"/>
                </a:solidFill>
              </a:rPr>
              <a:t>Labels and icons</a:t>
            </a:r>
          </a:p>
          <a:p>
            <a:pPr marL="12700" marR="5080"/>
            <a:r>
              <a:rPr lang="en-US" sz="1400" kern="0" spc="-80" dirty="0">
                <a:solidFill>
                  <a:schemeClr val="accent6"/>
                </a:solidFill>
              </a:rPr>
              <a:t>Extra details (shade, building outlines, traffic)</a:t>
            </a:r>
          </a:p>
          <a:p>
            <a:pPr marL="12700" marR="5080"/>
            <a:r>
              <a:rPr lang="en-US" sz="1400" kern="0" spc="-80" dirty="0">
                <a:solidFill>
                  <a:schemeClr val="accent6"/>
                </a:solidFill>
              </a:rPr>
              <a:t>This builds the world around you in layers, like a painter starting with big brush strokes 🎨.</a:t>
            </a:r>
          </a:p>
          <a:p>
            <a:pPr marL="12700" marR="5080"/>
            <a:endParaRPr lang="en-US" sz="1400" kern="0" spc="-80" dirty="0">
              <a:solidFill>
                <a:schemeClr val="accent6"/>
              </a:solidFill>
            </a:endParaRPr>
          </a:p>
          <a:p>
            <a:pPr marL="12700" marR="5080"/>
            <a:r>
              <a:rPr lang="en-US" sz="1400" kern="0" spc="-80" dirty="0">
                <a:solidFill>
                  <a:schemeClr val="accent2"/>
                </a:solidFill>
              </a:rPr>
              <a:t>5. Continuous Flow via “Pan Animation”</a:t>
            </a:r>
          </a:p>
          <a:p>
            <a:pPr marL="12700" marR="5080"/>
            <a:r>
              <a:rPr lang="en-US" sz="1400" kern="0" spc="-80" dirty="0">
                <a:solidFill>
                  <a:schemeClr val="accent2"/>
                </a:solidFill>
              </a:rPr>
              <a:t>When you drag the map:</a:t>
            </a:r>
          </a:p>
        </p:txBody>
      </p:sp>
    </p:spTree>
    <p:extLst>
      <p:ext uri="{BB962C8B-B14F-4D97-AF65-F5344CB8AC3E}">
        <p14:creationId xmlns:p14="http://schemas.microsoft.com/office/powerpoint/2010/main" val="2774036060"/>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9E196-7628-2E64-498C-83FAB40642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8E2441-D482-6D00-4D98-6ADF18AFFE6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D2D086-5C16-0EAB-EF47-B5D78078CED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3A01752-D6C4-3AD9-5711-9144AD1F941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2402AA8-4D95-F73E-B28B-9E0069F0E9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C50646-256C-F5FF-6596-C479822ACF9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C6092A-A9C3-18CF-79EA-CDDB7196323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C6790A9-21DF-171F-9E43-252E4E8D789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B2596A-6DEE-19A3-401C-A6F7ED137AB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6BE2393-4B70-0F4F-6FC3-E5FBEF921BE7}"/>
              </a:ext>
            </a:extLst>
          </p:cNvPr>
          <p:cNvSpPr txBox="1">
            <a:spLocks/>
          </p:cNvSpPr>
          <p:nvPr/>
        </p:nvSpPr>
        <p:spPr>
          <a:xfrm>
            <a:off x="228600" y="7620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6"/>
                </a:solidFill>
              </a:rPr>
              <a:t>The screen moves immediately (no wait)</a:t>
            </a:r>
          </a:p>
          <a:p>
            <a:pPr marL="12700" marR="5080"/>
            <a:r>
              <a:rPr lang="en-US" sz="1400" kern="0" spc="-80" dirty="0">
                <a:solidFill>
                  <a:schemeClr val="accent6"/>
                </a:solidFill>
              </a:rPr>
              <a:t>New tiles fill in after, asynchronously</a:t>
            </a:r>
          </a:p>
          <a:p>
            <a:pPr marL="12700" marR="5080"/>
            <a:r>
              <a:rPr lang="en-US" sz="1400" kern="0" spc="-80" dirty="0">
                <a:solidFill>
                  <a:schemeClr val="accent6"/>
                </a:solidFill>
              </a:rPr>
              <a:t>Motion is eased (easing curves)</a:t>
            </a:r>
          </a:p>
          <a:p>
            <a:pPr marL="12700" marR="5080"/>
            <a:r>
              <a:rPr lang="en-US" sz="1400" kern="0" spc="-80" dirty="0">
                <a:solidFill>
                  <a:schemeClr val="accent6"/>
                </a:solidFill>
              </a:rPr>
              <a:t>This tricks the eye into believing the world is always there.</a:t>
            </a:r>
          </a:p>
          <a:p>
            <a:pPr marL="12700" marR="5080"/>
            <a:endParaRPr lang="en-US" sz="1400" kern="0" spc="-80" dirty="0">
              <a:solidFill>
                <a:schemeClr val="accent6"/>
              </a:solidFill>
            </a:endParaRPr>
          </a:p>
          <a:p>
            <a:pPr marL="12700" marR="5080"/>
            <a:r>
              <a:rPr lang="en-US" sz="1400" kern="0" spc="-80" dirty="0">
                <a:solidFill>
                  <a:schemeClr val="accent2"/>
                </a:solidFill>
              </a:rPr>
              <a:t>6. Smart Caching</a:t>
            </a:r>
          </a:p>
          <a:p>
            <a:pPr marL="12700" marR="5080"/>
            <a:r>
              <a:rPr lang="en-US" sz="1400" kern="0" spc="-80" dirty="0">
                <a:solidFill>
                  <a:schemeClr val="accent6"/>
                </a:solidFill>
              </a:rPr>
              <a:t>Google Maps keeps your:</a:t>
            </a:r>
          </a:p>
          <a:p>
            <a:pPr marL="12700" marR="5080"/>
            <a:r>
              <a:rPr lang="en-US" sz="1400" kern="0" spc="-80" dirty="0">
                <a:solidFill>
                  <a:schemeClr val="accent6"/>
                </a:solidFill>
              </a:rPr>
              <a:t>Last visited area</a:t>
            </a:r>
          </a:p>
          <a:p>
            <a:pPr marL="12700" marR="5080"/>
            <a:r>
              <a:rPr lang="en-US" sz="1400" kern="0" spc="-80" dirty="0">
                <a:solidFill>
                  <a:schemeClr val="accent6"/>
                </a:solidFill>
              </a:rPr>
              <a:t>Most traveled places</a:t>
            </a:r>
          </a:p>
          <a:p>
            <a:pPr marL="12700" marR="5080"/>
            <a:r>
              <a:rPr lang="en-US" sz="1400" kern="0" spc="-80" dirty="0">
                <a:solidFill>
                  <a:schemeClr val="accent6"/>
                </a:solidFill>
              </a:rPr>
              <a:t>Prefetched navigation route tiles</a:t>
            </a:r>
          </a:p>
          <a:p>
            <a:pPr marL="12700" marR="5080"/>
            <a:r>
              <a:rPr lang="en-US" sz="1400" kern="0" spc="-80" dirty="0">
                <a:solidFill>
                  <a:schemeClr val="accent6"/>
                </a:solidFill>
              </a:rPr>
              <a:t>stored in local cache.</a:t>
            </a:r>
          </a:p>
          <a:p>
            <a:pPr marL="12700" marR="5080"/>
            <a:r>
              <a:rPr lang="en-US" sz="1400" kern="0" spc="-80" dirty="0">
                <a:solidFill>
                  <a:schemeClr val="accent6"/>
                </a:solidFill>
              </a:rPr>
              <a:t>So the map feels fast even without perfect network.</a:t>
            </a:r>
          </a:p>
          <a:p>
            <a:pPr marL="12700" marR="5080"/>
            <a:endParaRPr lang="en-US" sz="1400" kern="0" spc="-80" dirty="0">
              <a:solidFill>
                <a:schemeClr val="accent6"/>
              </a:solidFill>
            </a:endParaRPr>
          </a:p>
          <a:p>
            <a:pPr marL="12700" marR="5080"/>
            <a:r>
              <a:rPr lang="en-US" sz="1400" kern="0" spc="-80" dirty="0">
                <a:solidFill>
                  <a:schemeClr val="accent2"/>
                </a:solidFill>
              </a:rPr>
              <a:t>7. Optional 3D via WebGL</a:t>
            </a:r>
          </a:p>
          <a:p>
            <a:pPr marL="12700" marR="5080"/>
            <a:r>
              <a:rPr lang="en-US" sz="1400" kern="0" spc="-80" dirty="0">
                <a:solidFill>
                  <a:schemeClr val="accent6"/>
                </a:solidFill>
              </a:rPr>
              <a:t>Buildings and terrain are rendered using WebGL:</a:t>
            </a:r>
          </a:p>
          <a:p>
            <a:pPr marL="12700" marR="5080"/>
            <a:r>
              <a:rPr lang="en-US" sz="1400" kern="0" spc="-80" dirty="0">
                <a:solidFill>
                  <a:schemeClr val="accent6"/>
                </a:solidFill>
              </a:rPr>
              <a:t>Height maps</a:t>
            </a:r>
          </a:p>
          <a:p>
            <a:pPr marL="12700" marR="5080"/>
            <a:r>
              <a:rPr lang="en-US" sz="1400" kern="0" spc="-80" dirty="0">
                <a:solidFill>
                  <a:schemeClr val="accent6"/>
                </a:solidFill>
              </a:rPr>
              <a:t>3D meshes</a:t>
            </a:r>
          </a:p>
          <a:p>
            <a:pPr marL="12700" marR="5080"/>
            <a:r>
              <a:rPr lang="en-US" sz="1400" kern="0" spc="-80" dirty="0">
                <a:solidFill>
                  <a:schemeClr val="accent6"/>
                </a:solidFill>
              </a:rPr>
              <a:t>Vector extrusion</a:t>
            </a:r>
          </a:p>
          <a:p>
            <a:pPr marL="12700" marR="5080"/>
            <a:r>
              <a:rPr lang="en-US" sz="1400" kern="0" spc="-80" dirty="0">
                <a:solidFill>
                  <a:schemeClr val="accent6"/>
                </a:solidFill>
              </a:rPr>
              <a:t>Mountains appear to rise, cities unfold like origami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089879632"/>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8856F-6A33-37FA-96B4-33A1A57349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511212-7F80-80E4-C425-C4396CB9FBB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C926FFD-8E6D-FE35-9E9C-0FCD71A4DA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EE1F47-B966-F3DA-C981-C70E102F6FA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8D2DC31-683C-7F4B-DAA7-DC81ADF15BD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9AD4DAA-34F2-C931-F4B5-139258781F9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BA0CF6B-6173-331C-5EE8-65CF5F74FC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6D28C7-A905-D546-3A3B-BEF027ECC75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A6A0D5-9B0C-59CB-50E1-1E3CF37AA12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1B65ED48-E460-52E9-73DB-7152546A5209}"/>
              </a:ext>
            </a:extLst>
          </p:cNvPr>
          <p:cNvSpPr txBox="1">
            <a:spLocks/>
          </p:cNvSpPr>
          <p:nvPr/>
        </p:nvSpPr>
        <p:spPr>
          <a:xfrm>
            <a:off x="228600" y="762000"/>
            <a:ext cx="8624937" cy="26930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2"/>
                </a:solidFill>
              </a:rPr>
              <a:t>In Short</a:t>
            </a:r>
          </a:p>
          <a:p>
            <a:pPr marL="12700" marR="5080"/>
            <a:r>
              <a:rPr lang="en-US" sz="1400" kern="0" spc="-80" dirty="0">
                <a:solidFill>
                  <a:schemeClr val="accent2"/>
                </a:solidFill>
              </a:rPr>
              <a:t>Most Maps feels continuous because of:</a:t>
            </a:r>
          </a:p>
          <a:p>
            <a:pPr marL="12700" marR="5080"/>
            <a:r>
              <a:rPr lang="en-US" sz="1400" kern="0" spc="-80" dirty="0">
                <a:solidFill>
                  <a:schemeClr val="accent2"/>
                </a:solidFill>
              </a:rPr>
              <a:t>Component	                   Purpose</a:t>
            </a:r>
          </a:p>
          <a:p>
            <a:pPr marL="12700" marR="5080"/>
            <a:r>
              <a:rPr lang="en-US" sz="1400" kern="0" spc="-80" dirty="0">
                <a:solidFill>
                  <a:schemeClr val="accent6"/>
                </a:solidFill>
              </a:rPr>
              <a:t>Tile-based map system	Break world into manageable pieces</a:t>
            </a:r>
          </a:p>
          <a:p>
            <a:pPr marL="12700" marR="5080"/>
            <a:r>
              <a:rPr lang="en-US" sz="1400" kern="0" spc="-80" dirty="0">
                <a:solidFill>
                  <a:schemeClr val="accent6"/>
                </a:solidFill>
              </a:rPr>
              <a:t>Vector rendering	                   Smooth zoom, rotate, highlight</a:t>
            </a:r>
          </a:p>
          <a:p>
            <a:pPr marL="12700" marR="5080"/>
            <a:r>
              <a:rPr lang="en-US" sz="1400" kern="0" spc="-80" dirty="0">
                <a:solidFill>
                  <a:schemeClr val="accent6"/>
                </a:solidFill>
              </a:rPr>
              <a:t>Prefetching	                   Load what you'll need before you see it</a:t>
            </a:r>
          </a:p>
          <a:p>
            <a:pPr marL="12700" marR="5080"/>
            <a:r>
              <a:rPr lang="en-US" sz="1400" kern="0" spc="-80" dirty="0">
                <a:solidFill>
                  <a:schemeClr val="accent6"/>
                </a:solidFill>
              </a:rPr>
              <a:t>GPU rendering	                   Fast and fluid visuals</a:t>
            </a:r>
          </a:p>
          <a:p>
            <a:pPr marL="12700" marR="5080"/>
            <a:r>
              <a:rPr lang="en-US" sz="1400" kern="0" spc="-80" dirty="0">
                <a:solidFill>
                  <a:schemeClr val="accent6"/>
                </a:solidFill>
              </a:rPr>
              <a:t>Caching	                                       Keeps map available offline/weak network</a:t>
            </a:r>
          </a:p>
          <a:p>
            <a:pPr marL="12700" marR="5080"/>
            <a:endParaRPr lang="en-US" sz="1400" kern="0" spc="-80" dirty="0">
              <a:solidFill>
                <a:schemeClr val="accent6"/>
              </a:solidFill>
            </a:endParaRPr>
          </a:p>
          <a:p>
            <a:pPr marL="12700" marR="5080"/>
            <a:r>
              <a:rPr lang="en-US" sz="1400" kern="0" spc="-80" dirty="0">
                <a:solidFill>
                  <a:schemeClr val="accent6"/>
                </a:solidFill>
              </a:rPr>
              <a:t>It’s not one giant map. It’s a smart stream of tiny map pieces animated like ballet.</a:t>
            </a:r>
          </a:p>
        </p:txBody>
      </p:sp>
    </p:spTree>
    <p:extLst>
      <p:ext uri="{BB962C8B-B14F-4D97-AF65-F5344CB8AC3E}">
        <p14:creationId xmlns:p14="http://schemas.microsoft.com/office/powerpoint/2010/main" val="1681433921"/>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B95E5-DFDA-C1A9-86D8-1FEEE6C0DF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1DE341-4200-A230-F41A-C09C8215C9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7245C1-6D62-8BCE-2B1E-CBEFD0D639D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F21D97-0B15-DA00-6292-5FC2898AF2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22DF329-6613-1979-F5B0-9E8BADB62D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8268A4-6D09-E376-90D1-2EA1E3DA9D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C19A70B-E523-6D52-CB34-B18C5DCDAC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27384B-812E-C2AC-5B97-28E42C9FC48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ED344B-EE92-19D4-C9F2-6322A90FA9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BBC8C22-C906-A63E-9083-308EED67B1C4}"/>
              </a:ext>
            </a:extLst>
          </p:cNvPr>
          <p:cNvSpPr txBox="1">
            <a:spLocks/>
          </p:cNvSpPr>
          <p:nvPr/>
        </p:nvSpPr>
        <p:spPr>
          <a:xfrm>
            <a:off x="228600" y="762000"/>
            <a:ext cx="8624937" cy="39549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For Further Exploration</a:t>
            </a:r>
          </a:p>
          <a:p>
            <a:pPr marL="12700" marR="5080"/>
            <a:r>
              <a:rPr lang="en-US" sz="1400" dirty="0">
                <a:hlinkClick r:id="rId7"/>
              </a:rPr>
              <a:t>Cartography. The Definitive Guide to Making Maps by Kenneth Field | Esri Press</a:t>
            </a:r>
            <a:endParaRPr lang="en-US" sz="1400" kern="0" spc="-80" dirty="0">
              <a:solidFill>
                <a:schemeClr val="accent2"/>
              </a:solidFill>
            </a:endParaRPr>
          </a:p>
          <a:p>
            <a:pPr marL="12700" marR="5080"/>
            <a:r>
              <a:rPr lang="en-US" sz="1400" dirty="0" err="1">
                <a:hlinkClick r:id="rId8"/>
              </a:rPr>
              <a:t>Mapmatics</a:t>
            </a:r>
            <a:r>
              <a:rPr lang="en-US" sz="1400" dirty="0">
                <a:hlinkClick r:id="rId8"/>
              </a:rPr>
              <a:t> - Amazon.in</a:t>
            </a:r>
            <a:endParaRPr lang="en-US" sz="1400" kern="0" spc="-80" dirty="0">
              <a:solidFill>
                <a:schemeClr val="accent2"/>
              </a:solidFill>
            </a:endParaRPr>
          </a:p>
          <a:p>
            <a:pPr marL="12700" marR="5080"/>
            <a:r>
              <a:rPr lang="en-IN" sz="1400" dirty="0">
                <a:hlinkClick r:id="rId9"/>
              </a:rPr>
              <a:t>Elements of Cartography</a:t>
            </a:r>
            <a:endParaRPr lang="en-IN" sz="1400" dirty="0"/>
          </a:p>
          <a:p>
            <a:pPr marL="12700" marR="5080"/>
            <a:r>
              <a:rPr lang="en-IN" sz="1400" dirty="0">
                <a:hlinkClick r:id="rId10"/>
              </a:rPr>
              <a:t>Fundamentals Of Cartography</a:t>
            </a:r>
            <a:endParaRPr lang="en-IN" sz="1400" dirty="0"/>
          </a:p>
          <a:p>
            <a:pPr marL="12700" marR="5080"/>
            <a:r>
              <a:rPr lang="en-IN" sz="1400" dirty="0">
                <a:hlinkClick r:id="rId11"/>
              </a:rPr>
              <a:t>Cartographic Technique (Practical) – Course</a:t>
            </a:r>
            <a:endParaRPr lang="en-IN" sz="1400" dirty="0"/>
          </a:p>
          <a:p>
            <a:pPr marL="12700" marR="5080"/>
            <a:r>
              <a:rPr lang="en-US" sz="1400" dirty="0">
                <a:hlinkClick r:id="rId12"/>
              </a:rPr>
              <a:t>The History of Cartography</a:t>
            </a:r>
            <a:endParaRPr lang="en-US" sz="1400" dirty="0"/>
          </a:p>
          <a:p>
            <a:pPr marL="12700" marR="5080"/>
            <a:r>
              <a:rPr lang="en-IN" sz="1400" dirty="0">
                <a:hlinkClick r:id="rId13"/>
              </a:rPr>
              <a:t>Map projection – Wikipedia</a:t>
            </a:r>
            <a:endParaRPr lang="en-IN" sz="1400" dirty="0"/>
          </a:p>
          <a:p>
            <a:pPr marL="12700" marR="5080"/>
            <a:r>
              <a:rPr lang="en-IN" sz="1400" dirty="0">
                <a:hlinkClick r:id="rId14"/>
              </a:rPr>
              <a:t>Why tiles? - Valhalla Docs</a:t>
            </a:r>
            <a:endParaRPr lang="en-US" sz="1400" dirty="0"/>
          </a:p>
          <a:p>
            <a:pPr marL="12700" marR="5080"/>
            <a:r>
              <a:rPr lang="en-IN" sz="1400" dirty="0">
                <a:hlinkClick r:id="rId15"/>
              </a:rPr>
              <a:t>Prototyping a Smoother Map. A glimpse into how Google Maps works…</a:t>
            </a:r>
          </a:p>
          <a:p>
            <a:pPr marL="12700" marR="5080"/>
            <a:r>
              <a:rPr lang="en-IN" sz="1400" dirty="0">
                <a:hlinkClick r:id="rId16"/>
              </a:rPr>
              <a:t>Vector Map Features</a:t>
            </a:r>
            <a:endParaRPr lang="en-IN" sz="1400" dirty="0"/>
          </a:p>
          <a:p>
            <a:pPr marL="12700" marR="5080"/>
            <a:r>
              <a:rPr lang="en-US" sz="1400" dirty="0">
                <a:hlinkClick r:id="rId17"/>
              </a:rPr>
              <a:t>What is geofencing and how is it used? – TechTarget Definition</a:t>
            </a:r>
            <a:endParaRPr lang="en-US" sz="1400" dirty="0"/>
          </a:p>
          <a:p>
            <a:pPr marL="12700" marR="5080"/>
            <a:r>
              <a:rPr lang="en-US" sz="1400" dirty="0">
                <a:hlinkClick r:id="rId18"/>
              </a:rPr>
              <a:t>Awesome-</a:t>
            </a:r>
            <a:r>
              <a:rPr lang="en-US" sz="1400" dirty="0" err="1">
                <a:hlinkClick r:id="rId18"/>
              </a:rPr>
              <a:t>Openlayers</a:t>
            </a:r>
            <a:endParaRPr lang="en-US" sz="1400" dirty="0"/>
          </a:p>
          <a:p>
            <a:pPr marL="12700" marR="5080"/>
            <a:r>
              <a:rPr lang="en-IN" sz="1400" dirty="0">
                <a:hlinkClick r:id="rId19"/>
              </a:rPr>
              <a:t>OpenStreetMap Wiki</a:t>
            </a:r>
            <a:endParaRPr lang="en-IN" sz="1400" dirty="0"/>
          </a:p>
          <a:p>
            <a:pPr marL="12700" marR="5080"/>
            <a:r>
              <a:rPr lang="en-US" sz="1400" dirty="0">
                <a:hlinkClick r:id="rId20"/>
              </a:rPr>
              <a:t>13 amazing maps to celebrate 13 years of OpenStreetMap | Opensource.com</a:t>
            </a:r>
            <a:endParaRPr lang="en-US" sz="1400" dirty="0"/>
          </a:p>
          <a:p>
            <a:pPr marL="12700" marR="5080"/>
            <a:r>
              <a:rPr lang="en-IN" sz="1400" dirty="0">
                <a:hlinkClick r:id="rId21"/>
              </a:rPr>
              <a:t>Localized OpenStreetMap</a:t>
            </a:r>
            <a:endParaRPr lang="en-IN" sz="1400" dirty="0"/>
          </a:p>
          <a:p>
            <a:pPr marL="12700" marR="5080"/>
            <a:r>
              <a:rPr lang="en-US" sz="1400" dirty="0">
                <a:hlinkClick r:id="rId22"/>
              </a:rPr>
              <a:t>Artificial Intelligence Studies in Cartography</a:t>
            </a:r>
            <a:endParaRPr lang="en-US" sz="1400" dirty="0"/>
          </a:p>
        </p:txBody>
      </p:sp>
    </p:spTree>
    <p:extLst>
      <p:ext uri="{BB962C8B-B14F-4D97-AF65-F5344CB8AC3E}">
        <p14:creationId xmlns:p14="http://schemas.microsoft.com/office/powerpoint/2010/main" val="519676791"/>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AE966-9FE9-F308-BA6C-FC07D24855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4AC9DF-68B8-0F9F-86FD-5BA100985A3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588047-3AED-C37F-79D7-66B291B8ED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D3AEF44-05C3-D9CD-6C59-46CE7E5E407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F13A11-551D-B9E9-00AB-04AF5CE465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D1F7455-E471-A02A-D611-A263526642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ED23894-FE70-A7CD-7EE5-03649096AE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E85F349-CC6A-FEC9-6A77-D5FC4B0D489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E9719D-07CF-4B2B-D93F-A3BE969B009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8034DB-162A-EFD9-EFE7-B8B481079B91}"/>
              </a:ext>
            </a:extLst>
          </p:cNvPr>
          <p:cNvSpPr txBox="1">
            <a:spLocks/>
          </p:cNvSpPr>
          <p:nvPr/>
        </p:nvSpPr>
        <p:spPr>
          <a:xfrm>
            <a:off x="228600" y="762000"/>
            <a:ext cx="8624937" cy="54630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What are Location Based Services (LBS)?</a:t>
            </a:r>
          </a:p>
          <a:p>
            <a:pPr marL="12700" marR="5080"/>
            <a:r>
              <a:rPr lang="en-US" sz="1400" kern="0" spc="-80" dirty="0">
                <a:solidFill>
                  <a:schemeClr val="accent6"/>
                </a:solidFill>
              </a:rPr>
              <a:t>LBS deliver information or actions based on where something is (you, a vehicle, a sensor, a drone, a delivery boy, a lost cow wearing a GPS tag, etc.).</a:t>
            </a:r>
          </a:p>
          <a:p>
            <a:pPr marL="12700" marR="5080"/>
            <a:r>
              <a:rPr lang="en-US" sz="1400" kern="0" spc="-80" dirty="0">
                <a:solidFill>
                  <a:schemeClr val="accent6"/>
                </a:solidFill>
              </a:rPr>
              <a:t>At the core:</a:t>
            </a:r>
          </a:p>
          <a:p>
            <a:pPr marL="12700" marR="5080"/>
            <a:r>
              <a:rPr lang="en-US" sz="1400" kern="0" spc="-80" dirty="0">
                <a:solidFill>
                  <a:schemeClr val="accent6"/>
                </a:solidFill>
              </a:rPr>
              <a:t>       Sensors → Positioning → GIS Data → Spatial Computation → Application Logic → User Interaction</a:t>
            </a:r>
          </a:p>
          <a:p>
            <a:pPr marL="12700" marR="5080"/>
            <a:endParaRPr lang="en-US" sz="1400" kern="0" spc="-80" dirty="0">
              <a:solidFill>
                <a:schemeClr val="accent6"/>
              </a:solidFill>
            </a:endParaRPr>
          </a:p>
          <a:p>
            <a:pPr marL="12700" marR="5080"/>
            <a:r>
              <a:rPr lang="en-US" sz="1400" kern="0" spc="-80" dirty="0">
                <a:solidFill>
                  <a:schemeClr val="accent2"/>
                </a:solidFill>
              </a:rPr>
              <a:t>1) POSITIONING SYSTEMS (How Location is Determined)</a:t>
            </a:r>
          </a:p>
          <a:p>
            <a:pPr marL="12700" marR="5080"/>
            <a:r>
              <a:rPr lang="en-US" sz="1400" kern="0" spc="-80" dirty="0">
                <a:solidFill>
                  <a:schemeClr val="accent2"/>
                </a:solidFill>
              </a:rPr>
              <a:t>A) Satellite-based Positioning</a:t>
            </a:r>
          </a:p>
          <a:p>
            <a:pPr marL="12700" marR="5080"/>
            <a:r>
              <a:rPr lang="en-US" sz="1400" kern="0" spc="-80" dirty="0">
                <a:solidFill>
                  <a:schemeClr val="accent2"/>
                </a:solidFill>
              </a:rPr>
              <a:t>System	Name	Coverage</a:t>
            </a:r>
          </a:p>
          <a:p>
            <a:pPr marL="12700" marR="5080"/>
            <a:r>
              <a:rPr lang="en-US" sz="1400" kern="0" spc="-80" dirty="0">
                <a:solidFill>
                  <a:schemeClr val="accent6"/>
                </a:solidFill>
              </a:rPr>
              <a:t>GPS	US	Global</a:t>
            </a:r>
          </a:p>
          <a:p>
            <a:pPr marL="12700" marR="5080"/>
            <a:r>
              <a:rPr lang="en-US" sz="1400" kern="0" spc="-80" dirty="0">
                <a:solidFill>
                  <a:schemeClr val="accent6"/>
                </a:solidFill>
              </a:rPr>
              <a:t>GLONASS	Russia	Global</a:t>
            </a:r>
          </a:p>
          <a:p>
            <a:pPr marL="12700" marR="5080"/>
            <a:r>
              <a:rPr lang="en-US" sz="1400" kern="0" spc="-80" dirty="0">
                <a:solidFill>
                  <a:schemeClr val="accent6"/>
                </a:solidFill>
              </a:rPr>
              <a:t>Galileo	EU	Global</a:t>
            </a:r>
          </a:p>
          <a:p>
            <a:pPr marL="12700" marR="5080"/>
            <a:r>
              <a:rPr lang="en-US" sz="1400" kern="0" spc="-80" dirty="0">
                <a:solidFill>
                  <a:schemeClr val="accent6"/>
                </a:solidFill>
              </a:rPr>
              <a:t>BeiDou	China	Global</a:t>
            </a:r>
          </a:p>
          <a:p>
            <a:pPr marL="12700" marR="5080"/>
            <a:endParaRPr lang="en-US" sz="1400" kern="0" spc="-80" dirty="0">
              <a:solidFill>
                <a:schemeClr val="accent6"/>
              </a:solidFill>
            </a:endParaRPr>
          </a:p>
          <a:p>
            <a:pPr marL="12700" marR="5080"/>
            <a:r>
              <a:rPr lang="en-US" sz="1400" kern="0" spc="-80" dirty="0">
                <a:solidFill>
                  <a:schemeClr val="accent2"/>
                </a:solidFill>
              </a:rPr>
              <a:t>Math Behind GNSS</a:t>
            </a:r>
          </a:p>
          <a:p>
            <a:pPr marL="12700" marR="5080"/>
            <a:r>
              <a:rPr lang="en-US" sz="1400" kern="0" spc="-80" dirty="0">
                <a:solidFill>
                  <a:schemeClr val="accent2"/>
                </a:solidFill>
              </a:rPr>
              <a:t>Trilateration in 3D:</a:t>
            </a:r>
          </a:p>
          <a:p>
            <a:pPr marL="12700" marR="5080"/>
            <a:r>
              <a:rPr lang="en-US" sz="1400" kern="0" spc="-80" dirty="0">
                <a:solidFill>
                  <a:schemeClr val="accent6"/>
                </a:solidFill>
              </a:rPr>
              <a:t>(x – xi)² + (y – </a:t>
            </a:r>
            <a:r>
              <a:rPr lang="en-US" sz="1400" kern="0" spc="-80" dirty="0" err="1">
                <a:solidFill>
                  <a:schemeClr val="accent6"/>
                </a:solidFill>
              </a:rPr>
              <a:t>yi</a:t>
            </a:r>
            <a:r>
              <a:rPr lang="en-US" sz="1400" kern="0" spc="-80" dirty="0">
                <a:solidFill>
                  <a:schemeClr val="accent6"/>
                </a:solidFill>
              </a:rPr>
              <a:t>)² + (z – zi)² = (c * </a:t>
            </a:r>
            <a:r>
              <a:rPr lang="el-GR" sz="1400" kern="0" spc="-80" dirty="0">
                <a:solidFill>
                  <a:schemeClr val="accent6"/>
                </a:solidFill>
              </a:rPr>
              <a:t>Δ</a:t>
            </a:r>
            <a:r>
              <a:rPr lang="en-US" sz="1400" kern="0" spc="-80" dirty="0" err="1">
                <a:solidFill>
                  <a:schemeClr val="accent6"/>
                </a:solidFill>
              </a:rPr>
              <a:t>ti</a:t>
            </a:r>
            <a:r>
              <a:rPr lang="en-US" sz="1400" kern="0" spc="-80" dirty="0">
                <a:solidFill>
                  <a:schemeClr val="accent6"/>
                </a:solidFill>
              </a:rPr>
              <a:t>)²</a:t>
            </a:r>
          </a:p>
          <a:p>
            <a:pPr marL="12700" marR="5080"/>
            <a:r>
              <a:rPr lang="en-US" sz="1400" kern="0" spc="-80" dirty="0">
                <a:solidFill>
                  <a:schemeClr val="accent2"/>
                </a:solidFill>
              </a:rPr>
              <a:t>where:</a:t>
            </a:r>
          </a:p>
          <a:p>
            <a:pPr marL="12700" marR="5080"/>
            <a:r>
              <a:rPr lang="en-US" sz="1400" kern="0" spc="-80" dirty="0">
                <a:solidFill>
                  <a:schemeClr val="accent6"/>
                </a:solidFill>
              </a:rPr>
              <a:t>(xi, </a:t>
            </a:r>
            <a:r>
              <a:rPr lang="en-US" sz="1400" kern="0" spc="-80" dirty="0" err="1">
                <a:solidFill>
                  <a:schemeClr val="accent6"/>
                </a:solidFill>
              </a:rPr>
              <a:t>yi</a:t>
            </a:r>
            <a:r>
              <a:rPr lang="en-US" sz="1400" kern="0" spc="-80" dirty="0">
                <a:solidFill>
                  <a:schemeClr val="accent6"/>
                </a:solidFill>
              </a:rPr>
              <a:t>, zi) = satellite position</a:t>
            </a:r>
          </a:p>
          <a:p>
            <a:pPr marL="12700" marR="5080"/>
            <a:r>
              <a:rPr lang="en-US" sz="1400" kern="0" spc="-80" dirty="0">
                <a:solidFill>
                  <a:schemeClr val="accent6"/>
                </a:solidFill>
              </a:rPr>
              <a:t>(x, y, z) = receiver location</a:t>
            </a:r>
          </a:p>
          <a:p>
            <a:pPr marL="12700" marR="5080"/>
            <a:r>
              <a:rPr lang="el-GR" sz="1400" kern="0" spc="-80" dirty="0">
                <a:solidFill>
                  <a:schemeClr val="accent6"/>
                </a:solidFill>
              </a:rPr>
              <a:t>Δ</a:t>
            </a:r>
            <a:r>
              <a:rPr lang="en-US" sz="1400" kern="0" spc="-80" dirty="0" err="1">
                <a:solidFill>
                  <a:schemeClr val="accent6"/>
                </a:solidFill>
              </a:rPr>
              <a:t>ti</a:t>
            </a:r>
            <a:r>
              <a:rPr lang="en-US" sz="1400" kern="0" spc="-80" dirty="0">
                <a:solidFill>
                  <a:schemeClr val="accent6"/>
                </a:solidFill>
              </a:rPr>
              <a:t> = time delay between satellite signal sent and received</a:t>
            </a:r>
          </a:p>
          <a:p>
            <a:pPr marL="12700" marR="5080"/>
            <a:r>
              <a:rPr lang="en-US" sz="1400" kern="0" spc="-80" dirty="0">
                <a:solidFill>
                  <a:schemeClr val="accent6"/>
                </a:solidFill>
              </a:rPr>
              <a:t>c = speed of light</a:t>
            </a:r>
          </a:p>
          <a:p>
            <a:pPr marL="12700" marR="5080"/>
            <a:r>
              <a:rPr lang="en-US" sz="1400" kern="0" spc="-80" dirty="0">
                <a:solidFill>
                  <a:schemeClr val="accent2"/>
                </a:solidFill>
              </a:rPr>
              <a:t>Requires 4 satellites to solve for x, y, z, and clock bias.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956927128"/>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65FB9-9321-1B4C-2CE9-3B3068C898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0CD98BE-78F4-0489-7ADE-3DC61EDA32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364786-94BA-1F6D-2866-805143A0FA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6D40E5-ED13-84E3-83B2-5217F07A268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ABBC00B-FABC-0449-011A-173C207D48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3C56B1D-CD9F-173F-252D-07A4C9BB3C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7B76BA-D0D2-701D-8DBD-3D0F4FBD20F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B33056E-1AD2-3A92-C081-473ED76A83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07E3B98-5049-A292-BD43-056A1EBC2CB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AC956C8-5889-D0A6-154B-B9E957FB19C1}"/>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B) Cell Tower Positioning</a:t>
            </a:r>
          </a:p>
          <a:p>
            <a:pPr marL="12700" marR="5080"/>
            <a:r>
              <a:rPr lang="en-US" sz="1400" kern="0" spc="-80" dirty="0">
                <a:solidFill>
                  <a:schemeClr val="accent6"/>
                </a:solidFill>
              </a:rPr>
              <a:t>GSM Triangulation</a:t>
            </a:r>
          </a:p>
          <a:p>
            <a:pPr marL="12700" marR="5080"/>
            <a:r>
              <a:rPr lang="en-US" sz="1400" kern="0" spc="-80" dirty="0">
                <a:solidFill>
                  <a:schemeClr val="accent6"/>
                </a:solidFill>
              </a:rPr>
              <a:t>RSSI (signal strength)</a:t>
            </a:r>
          </a:p>
          <a:p>
            <a:pPr marL="12700" marR="5080"/>
            <a:r>
              <a:rPr lang="en-US" sz="1400" kern="0" spc="-80" dirty="0">
                <a:solidFill>
                  <a:schemeClr val="accent6"/>
                </a:solidFill>
              </a:rPr>
              <a:t>Time Difference of Arrival:</a:t>
            </a:r>
          </a:p>
          <a:p>
            <a:pPr marL="12700" marR="5080"/>
            <a:r>
              <a:rPr lang="en-US" sz="1400" kern="0" spc="-80" dirty="0">
                <a:solidFill>
                  <a:schemeClr val="accent6"/>
                </a:solidFill>
              </a:rPr>
              <a:t>d = c * </a:t>
            </a:r>
            <a:r>
              <a:rPr lang="el-GR" sz="1400" kern="0" spc="-80" dirty="0">
                <a:solidFill>
                  <a:schemeClr val="accent6"/>
                </a:solidFill>
              </a:rPr>
              <a:t>Δ</a:t>
            </a:r>
            <a:r>
              <a:rPr lang="en-US" sz="1400" kern="0" spc="-80" dirty="0">
                <a:solidFill>
                  <a:schemeClr val="accent6"/>
                </a:solidFill>
              </a:rPr>
              <a:t>t</a:t>
            </a:r>
          </a:p>
          <a:p>
            <a:pPr marL="12700" marR="5080"/>
            <a:endParaRPr lang="en-US" sz="1400" kern="0" spc="-80" dirty="0">
              <a:solidFill>
                <a:schemeClr val="accent6"/>
              </a:solidFill>
            </a:endParaRPr>
          </a:p>
          <a:p>
            <a:pPr marL="12700" marR="5080"/>
            <a:r>
              <a:rPr lang="en-US" sz="1400" kern="0" spc="-80" dirty="0">
                <a:solidFill>
                  <a:schemeClr val="accent2"/>
                </a:solidFill>
              </a:rPr>
              <a:t>C) Wi-Fi Positioning</a:t>
            </a:r>
          </a:p>
          <a:p>
            <a:pPr marL="12700" marR="5080"/>
            <a:r>
              <a:rPr lang="en-US" sz="1400" kern="0" spc="-80" dirty="0">
                <a:solidFill>
                  <a:schemeClr val="accent2"/>
                </a:solidFill>
              </a:rPr>
              <a:t>Fingerprinting:</a:t>
            </a:r>
          </a:p>
          <a:p>
            <a:pPr marL="12700" marR="5080"/>
            <a:r>
              <a:rPr lang="en-US" sz="1400" kern="0" spc="-80" dirty="0">
                <a:solidFill>
                  <a:schemeClr val="accent6"/>
                </a:solidFill>
              </a:rPr>
              <a:t>Build a radio map of Wi-Fi signal strengths</a:t>
            </a:r>
          </a:p>
          <a:p>
            <a:pPr marL="12700" marR="5080"/>
            <a:r>
              <a:rPr lang="en-US" sz="1400" kern="0" spc="-80" dirty="0">
                <a:solidFill>
                  <a:schemeClr val="accent6"/>
                </a:solidFill>
              </a:rPr>
              <a:t>Match real-time signal to nearest cluster</a:t>
            </a:r>
          </a:p>
          <a:p>
            <a:pPr marL="12700" marR="5080"/>
            <a:r>
              <a:rPr lang="en-US" sz="1400" kern="0" spc="-80" dirty="0">
                <a:solidFill>
                  <a:schemeClr val="accent2"/>
                </a:solidFill>
              </a:rPr>
              <a:t>Uses</a:t>
            </a:r>
            <a:r>
              <a:rPr lang="en-US" sz="1400" kern="0" spc="-80" dirty="0">
                <a:solidFill>
                  <a:schemeClr val="accent6"/>
                </a:solidFill>
              </a:rPr>
              <a:t> K-NN, Random Forest, Deep Learning.</a:t>
            </a:r>
          </a:p>
          <a:p>
            <a:pPr marL="12700" marR="5080"/>
            <a:endParaRPr lang="en-US" sz="1400" kern="0" spc="-80" dirty="0">
              <a:solidFill>
                <a:schemeClr val="accent6"/>
              </a:solidFill>
            </a:endParaRPr>
          </a:p>
          <a:p>
            <a:pPr marL="12700" marR="5080"/>
            <a:r>
              <a:rPr lang="en-US" sz="1400" kern="0" spc="-80" dirty="0">
                <a:solidFill>
                  <a:schemeClr val="accent2"/>
                </a:solidFill>
              </a:rPr>
              <a:t>D) Bluetooth / BLE (Indoor)</a:t>
            </a:r>
          </a:p>
          <a:p>
            <a:pPr marL="12700" marR="5080"/>
            <a:r>
              <a:rPr lang="en-US" sz="1400" kern="0" spc="-80" dirty="0" err="1">
                <a:solidFill>
                  <a:schemeClr val="accent6"/>
                </a:solidFill>
              </a:rPr>
              <a:t>iBeacons</a:t>
            </a:r>
            <a:endParaRPr lang="en-US" sz="1400" kern="0" spc="-80" dirty="0">
              <a:solidFill>
                <a:schemeClr val="accent6"/>
              </a:solidFill>
            </a:endParaRPr>
          </a:p>
          <a:p>
            <a:pPr marL="12700" marR="5080"/>
            <a:r>
              <a:rPr lang="en-US" sz="1400" kern="0" spc="-80" dirty="0">
                <a:solidFill>
                  <a:schemeClr val="accent6"/>
                </a:solidFill>
              </a:rPr>
              <a:t>Distance estimate via Log-distance path loss model:</a:t>
            </a:r>
          </a:p>
          <a:p>
            <a:pPr marL="12700" marR="5080"/>
            <a:r>
              <a:rPr lang="en-US" sz="1400" kern="0" spc="-80" dirty="0">
                <a:solidFill>
                  <a:schemeClr val="accent6"/>
                </a:solidFill>
              </a:rPr>
              <a:t>d = 10 ^ ((RSSI0 - RSSI) / (10 * n))</a:t>
            </a:r>
          </a:p>
          <a:p>
            <a:pPr marL="12700" marR="5080"/>
            <a:endParaRPr lang="en-US" sz="1400" kern="0" spc="-80" dirty="0">
              <a:solidFill>
                <a:schemeClr val="accent6"/>
              </a:solidFill>
            </a:endParaRPr>
          </a:p>
          <a:p>
            <a:pPr marL="12700" marR="5080"/>
            <a:r>
              <a:rPr lang="en-US" sz="1400" kern="0" spc="-80" dirty="0">
                <a:solidFill>
                  <a:schemeClr val="accent2"/>
                </a:solidFill>
              </a:rPr>
              <a:t>E) Inertial Positioning (Pedestrian Dead Reckoning)</a:t>
            </a:r>
          </a:p>
          <a:p>
            <a:pPr marL="12700" marR="5080"/>
            <a:r>
              <a:rPr lang="en-US" sz="1400" kern="0" spc="-80" dirty="0">
                <a:solidFill>
                  <a:schemeClr val="accent6"/>
                </a:solidFill>
              </a:rPr>
              <a:t>Sensors: accelerometer + gyroscope + magnetometer.</a:t>
            </a:r>
          </a:p>
          <a:p>
            <a:pPr marL="12700" marR="5080"/>
            <a:r>
              <a:rPr lang="en-US" sz="1400" kern="0" spc="-80" dirty="0">
                <a:solidFill>
                  <a:schemeClr val="accent2"/>
                </a:solidFill>
              </a:rPr>
              <a:t>Math:</a:t>
            </a:r>
          </a:p>
          <a:p>
            <a:pPr marL="12700" marR="5080"/>
            <a:r>
              <a:rPr lang="en-US" sz="1400" kern="0" spc="-80" dirty="0">
                <a:solidFill>
                  <a:schemeClr val="accent6"/>
                </a:solidFill>
              </a:rPr>
              <a:t>Step detection → Peak detection</a:t>
            </a:r>
          </a:p>
        </p:txBody>
      </p:sp>
    </p:spTree>
    <p:extLst>
      <p:ext uri="{BB962C8B-B14F-4D97-AF65-F5344CB8AC3E}">
        <p14:creationId xmlns:p14="http://schemas.microsoft.com/office/powerpoint/2010/main" val="3562804445"/>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05-D05B-4699-668C-A1DFD589B2F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3DA3F5-DCFA-A559-7FB9-045C0BC91E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9929A16-6393-990E-70B6-4C73A26AC1C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8594421-9CD8-F98D-3B77-33478336053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5BC330-A031-9DD0-56A0-ED84EB5E1F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C0DD018-808A-8618-0182-575C4FA273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B7DF756-4E48-5AEF-0C11-9AE1C9EF79B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19B8C7-6532-9506-D99C-87D6BE216E4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844CAA-F195-21BF-B361-AE9C16B37B7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0550E9-3C99-FBAB-349D-4319C75A27E3}"/>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6"/>
                </a:solidFill>
              </a:rPr>
              <a:t>Heading → Quaternion rotation matrices</a:t>
            </a:r>
          </a:p>
          <a:p>
            <a:pPr marL="12700" marR="5080"/>
            <a:r>
              <a:rPr lang="en-US" sz="1400" kern="0" spc="-80" dirty="0">
                <a:solidFill>
                  <a:schemeClr val="accent6"/>
                </a:solidFill>
              </a:rPr>
              <a:t>Position = </a:t>
            </a:r>
            <a:r>
              <a:rPr lang="en-US" sz="1400" kern="0" spc="-80" dirty="0" err="1">
                <a:solidFill>
                  <a:schemeClr val="accent6"/>
                </a:solidFill>
              </a:rPr>
              <a:t>previous_position</a:t>
            </a:r>
            <a:r>
              <a:rPr lang="en-US" sz="1400" kern="0" spc="-80" dirty="0">
                <a:solidFill>
                  <a:schemeClr val="accent6"/>
                </a:solidFill>
              </a:rPr>
              <a:t> + </a:t>
            </a:r>
            <a:r>
              <a:rPr lang="en-US" sz="1400" kern="0" spc="-80" dirty="0" err="1">
                <a:solidFill>
                  <a:schemeClr val="accent6"/>
                </a:solidFill>
              </a:rPr>
              <a:t>step_length</a:t>
            </a:r>
            <a:r>
              <a:rPr lang="en-US" sz="1400" kern="0" spc="-80" dirty="0">
                <a:solidFill>
                  <a:schemeClr val="accent6"/>
                </a:solidFill>
              </a:rPr>
              <a:t> * direction</a:t>
            </a:r>
          </a:p>
          <a:p>
            <a:pPr marL="12700" marR="5080"/>
            <a:r>
              <a:rPr lang="en-US" sz="1400" kern="0" spc="-80" dirty="0">
                <a:solidFill>
                  <a:schemeClr val="accent6"/>
                </a:solidFill>
              </a:rPr>
              <a:t>Drift grows over time, corrected using Wi-Fi/BLE anchors.</a:t>
            </a:r>
          </a:p>
          <a:p>
            <a:pPr marL="12700" marR="5080"/>
            <a:endParaRPr lang="en-US" sz="1400" kern="0" spc="-80" dirty="0">
              <a:solidFill>
                <a:schemeClr val="accent6"/>
              </a:solidFill>
            </a:endParaRPr>
          </a:p>
          <a:p>
            <a:pPr marL="12700" marR="5080"/>
            <a:r>
              <a:rPr lang="en-US" sz="1400" kern="0" spc="-80" dirty="0">
                <a:solidFill>
                  <a:schemeClr val="accent2"/>
                </a:solidFill>
              </a:rPr>
              <a:t>2</a:t>
            </a:r>
            <a:r>
              <a:rPr lang="el-GR" sz="1400" kern="0" spc="-80" dirty="0">
                <a:solidFill>
                  <a:schemeClr val="accent2"/>
                </a:solidFill>
              </a:rPr>
              <a:t>) </a:t>
            </a:r>
            <a:r>
              <a:rPr lang="en-US" sz="1400" kern="0" spc="-80" dirty="0">
                <a:solidFill>
                  <a:schemeClr val="accent2"/>
                </a:solidFill>
              </a:rPr>
              <a:t>LOCATION SEMANTICS (Meaning of Place)</a:t>
            </a:r>
          </a:p>
          <a:p>
            <a:pPr marL="12700" marR="5080"/>
            <a:r>
              <a:rPr lang="en-US" sz="1400" kern="0" spc="-80" dirty="0">
                <a:solidFill>
                  <a:schemeClr val="accent6"/>
                </a:solidFill>
              </a:rPr>
              <a:t>POI Categorization (restaurants, hospitals, ATM…)</a:t>
            </a:r>
          </a:p>
          <a:p>
            <a:pPr marL="12700" marR="5080"/>
            <a:r>
              <a:rPr lang="en-US" sz="1400" kern="0" spc="-80" dirty="0">
                <a:solidFill>
                  <a:schemeClr val="accent6"/>
                </a:solidFill>
              </a:rPr>
              <a:t>Reverse Geocoding (coordinates → address)</a:t>
            </a:r>
          </a:p>
          <a:p>
            <a:pPr marL="12700" marR="5080"/>
            <a:r>
              <a:rPr lang="en-US" sz="1400" kern="0" spc="-80" dirty="0">
                <a:solidFill>
                  <a:schemeClr val="accent6"/>
                </a:solidFill>
              </a:rPr>
              <a:t>Geocoding (address → coordinates)</a:t>
            </a:r>
          </a:p>
          <a:p>
            <a:pPr marL="12700" marR="5080"/>
            <a:r>
              <a:rPr lang="en-US" sz="1400" kern="0" spc="-80" dirty="0">
                <a:solidFill>
                  <a:schemeClr val="accent6"/>
                </a:solidFill>
              </a:rPr>
              <a:t>Place Graphs (e.g., Google Places Knowledge Graph)</a:t>
            </a:r>
          </a:p>
          <a:p>
            <a:pPr marL="12700" marR="5080"/>
            <a:endParaRPr lang="en-US" sz="1400" kern="0" spc="-80" dirty="0">
              <a:solidFill>
                <a:schemeClr val="accent6"/>
              </a:solidFill>
            </a:endParaRPr>
          </a:p>
          <a:p>
            <a:pPr marL="12700" marR="5080"/>
            <a:r>
              <a:rPr lang="en-US" sz="1400" kern="0" spc="-80" dirty="0">
                <a:solidFill>
                  <a:schemeClr val="accent2"/>
                </a:solidFill>
              </a:rPr>
              <a:t>3) MOTION + BEHAVIOR MODELING</a:t>
            </a:r>
          </a:p>
          <a:p>
            <a:pPr marL="12700" marR="5080"/>
            <a:r>
              <a:rPr lang="en-US" sz="1400" kern="0" spc="-80" dirty="0">
                <a:solidFill>
                  <a:schemeClr val="accent2"/>
                </a:solidFill>
              </a:rPr>
              <a:t>Used for:</a:t>
            </a:r>
          </a:p>
          <a:p>
            <a:pPr marL="12700" marR="5080"/>
            <a:r>
              <a:rPr lang="en-US" sz="1400" kern="0" spc="-80" dirty="0">
                <a:solidFill>
                  <a:schemeClr val="accent6"/>
                </a:solidFill>
              </a:rPr>
              <a:t>ETA estimation</a:t>
            </a:r>
          </a:p>
          <a:p>
            <a:pPr marL="12700" marR="5080"/>
            <a:r>
              <a:rPr lang="en-US" sz="1400" kern="0" spc="-80" dirty="0">
                <a:solidFill>
                  <a:schemeClr val="accent6"/>
                </a:solidFill>
              </a:rPr>
              <a:t>User activity recognition (running, driving)</a:t>
            </a:r>
          </a:p>
          <a:p>
            <a:pPr marL="12700" marR="5080"/>
            <a:r>
              <a:rPr lang="en-US" sz="1400" kern="0" spc="-80" dirty="0">
                <a:solidFill>
                  <a:schemeClr val="accent2"/>
                </a:solidFill>
              </a:rPr>
              <a:t>Techniques:</a:t>
            </a:r>
          </a:p>
          <a:p>
            <a:pPr marL="12700" marR="5080"/>
            <a:r>
              <a:rPr lang="en-US" sz="1400" kern="0" spc="-80" dirty="0">
                <a:solidFill>
                  <a:schemeClr val="accent6"/>
                </a:solidFill>
              </a:rPr>
              <a:t>Kalman Filter, Particle Filter</a:t>
            </a:r>
          </a:p>
          <a:p>
            <a:pPr marL="12700" marR="5080"/>
            <a:r>
              <a:rPr lang="en-US" sz="1400" kern="0" spc="-80" dirty="0">
                <a:solidFill>
                  <a:schemeClr val="accent6"/>
                </a:solidFill>
              </a:rPr>
              <a:t>Bayesian Inference</a:t>
            </a:r>
          </a:p>
          <a:p>
            <a:pPr marL="12700" marR="5080"/>
            <a:r>
              <a:rPr lang="en-US" sz="1400" kern="0" spc="-80" dirty="0">
                <a:solidFill>
                  <a:schemeClr val="accent6"/>
                </a:solidFill>
              </a:rPr>
              <a:t>Neural trajectory models</a:t>
            </a:r>
          </a:p>
          <a:p>
            <a:pPr marL="12700" marR="5080"/>
            <a:r>
              <a:rPr lang="en-US" sz="1400" kern="0" spc="-80" dirty="0">
                <a:solidFill>
                  <a:schemeClr val="accent6"/>
                </a:solidFill>
              </a:rPr>
              <a:t>Kalman update:</a:t>
            </a:r>
          </a:p>
          <a:p>
            <a:pPr marL="12700" marR="5080"/>
            <a:r>
              <a:rPr lang="en-US" sz="1400" kern="0" spc="-80" dirty="0">
                <a:solidFill>
                  <a:schemeClr val="accent6"/>
                </a:solidFill>
              </a:rPr>
              <a:t>x̂(</a:t>
            </a:r>
            <a:r>
              <a:rPr lang="en-US" sz="1400" kern="0" spc="-80" dirty="0" err="1">
                <a:solidFill>
                  <a:schemeClr val="accent6"/>
                </a:solidFill>
              </a:rPr>
              <a:t>k|k</a:t>
            </a:r>
            <a:r>
              <a:rPr lang="en-US" sz="1400" kern="0" spc="-80" dirty="0">
                <a:solidFill>
                  <a:schemeClr val="accent6"/>
                </a:solidFill>
              </a:rPr>
              <a:t>) = x̂(k|k-1) + K(k)(z(k) - </a:t>
            </a:r>
            <a:r>
              <a:rPr lang="en-US" sz="1400" kern="0" spc="-80" dirty="0" err="1">
                <a:solidFill>
                  <a:schemeClr val="accent6"/>
                </a:solidFill>
              </a:rPr>
              <a:t>Hx</a:t>
            </a:r>
            <a:r>
              <a:rPr lang="en-US" sz="1400" kern="0" spc="-80" dirty="0">
                <a:solidFill>
                  <a:schemeClr val="accent6"/>
                </a:solidFill>
              </a:rPr>
              <a:t>̂(k|k-1))</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316922"/>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1252A-73D5-D11B-41E0-71C1031081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29C577-1642-5F62-9CE2-966B60CD70E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D44427-58A3-82A1-4152-A43AAE36303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3138D5-67F7-9A8C-8BE0-76AC87F861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AC3E77E-FAE8-58F5-0F4A-4179138E5D7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0C12AA-A3C9-3D57-01B5-8146E9FC23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FE08C8D-BC90-7B08-2ECE-7C3E927EF6D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98CA7B-70B5-D1AD-94DD-8E82A96B987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8534F2-0405-2521-9090-248D0A5EEBE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57DCB74-19D3-374D-8E42-52EE1F564E15}"/>
              </a:ext>
            </a:extLst>
          </p:cNvPr>
          <p:cNvSpPr txBox="1">
            <a:spLocks/>
          </p:cNvSpPr>
          <p:nvPr/>
        </p:nvSpPr>
        <p:spPr>
          <a:xfrm>
            <a:off x="228600" y="76200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4) LBS APPLICATION LAYERS</a:t>
            </a:r>
          </a:p>
          <a:p>
            <a:pPr marL="12700" marR="5080"/>
            <a:r>
              <a:rPr lang="en-US" sz="1400" kern="0" spc="-80" dirty="0">
                <a:solidFill>
                  <a:schemeClr val="accent2"/>
                </a:solidFill>
              </a:rPr>
              <a:t>Category                       Examples	                          Logic</a:t>
            </a:r>
          </a:p>
          <a:p>
            <a:pPr marL="12700" marR="5080"/>
            <a:r>
              <a:rPr lang="en-US" sz="1400" kern="0" spc="-80" dirty="0">
                <a:solidFill>
                  <a:schemeClr val="accent6"/>
                </a:solidFill>
              </a:rPr>
              <a:t>Navigation	                    Google Maps, Waze	       Routing + ETA prediction</a:t>
            </a:r>
          </a:p>
          <a:p>
            <a:pPr marL="12700" marR="5080"/>
            <a:r>
              <a:rPr lang="en-US" sz="1400" kern="0" spc="-80" dirty="0">
                <a:solidFill>
                  <a:schemeClr val="accent6"/>
                </a:solidFill>
              </a:rPr>
              <a:t>Delivery / Mobility	Uber, Swiggy	       Real-time location + optimization</a:t>
            </a:r>
          </a:p>
          <a:p>
            <a:pPr marL="12700" marR="5080"/>
            <a:r>
              <a:rPr lang="en-US" sz="1400" kern="0" spc="-80" dirty="0">
                <a:solidFill>
                  <a:schemeClr val="accent6"/>
                </a:solidFill>
              </a:rPr>
              <a:t>Tracking	                    Fleet systems	       Geofencing + route deviation</a:t>
            </a:r>
          </a:p>
          <a:p>
            <a:pPr marL="12700" marR="5080"/>
            <a:r>
              <a:rPr lang="en-US" sz="1400" kern="0" spc="-80" dirty="0">
                <a:solidFill>
                  <a:schemeClr val="accent6"/>
                </a:solidFill>
              </a:rPr>
              <a:t>AR Location	Pokémon GO	       Camera pose + SLAM + GPS</a:t>
            </a:r>
          </a:p>
          <a:p>
            <a:pPr marL="12700" marR="5080"/>
            <a:r>
              <a:rPr lang="en-US" sz="1400" kern="0" spc="-80" dirty="0">
                <a:solidFill>
                  <a:schemeClr val="accent6"/>
                </a:solidFill>
              </a:rPr>
              <a:t>IoT Location	Asset tracking sensors      BLE + Edge computation</a:t>
            </a:r>
          </a:p>
          <a:p>
            <a:pPr marL="12700" marR="5080"/>
            <a:endParaRPr lang="en-US" sz="1400" kern="0" spc="-80" dirty="0">
              <a:solidFill>
                <a:schemeClr val="accent6"/>
              </a:solidFill>
            </a:endParaRPr>
          </a:p>
          <a:p>
            <a:pPr marL="12700" marR="5080"/>
            <a:r>
              <a:rPr lang="en-US" sz="1400" kern="0" spc="-80" dirty="0">
                <a:solidFill>
                  <a:schemeClr val="accent2"/>
                </a:solidFill>
              </a:rPr>
              <a:t>5) PIPELINE SUMMARY</a:t>
            </a:r>
          </a:p>
          <a:p>
            <a:pPr marL="12700" marR="5080"/>
            <a:r>
              <a:rPr lang="en-US" sz="1400" kern="0" spc="-80" dirty="0">
                <a:solidFill>
                  <a:schemeClr val="accent6"/>
                </a:solidFill>
              </a:rPr>
              <a:t>GPS/Cell/Wi-Fi/BLE → Sensor Fusion → Map Matching → GIS Spatial Operations → Application Logic → UI/UX</a:t>
            </a:r>
          </a:p>
          <a:p>
            <a:pPr marL="12700" marR="5080"/>
            <a:endParaRPr lang="en-US" sz="1400" kern="0" spc="-80" dirty="0">
              <a:solidFill>
                <a:schemeClr val="accent6"/>
              </a:solidFill>
            </a:endParaRPr>
          </a:p>
          <a:p>
            <a:pPr marL="12700" marR="5080"/>
            <a:r>
              <a:rPr lang="en-US" sz="1400" kern="0" spc="-80" dirty="0">
                <a:solidFill>
                  <a:schemeClr val="accent2"/>
                </a:solidFill>
              </a:rPr>
              <a:t>6) THE GRAND MATH SUMMARY</a:t>
            </a:r>
          </a:p>
          <a:p>
            <a:pPr marL="12700" marR="5080"/>
            <a:r>
              <a:rPr lang="en-US" sz="1400" kern="0" spc="-80" dirty="0">
                <a:solidFill>
                  <a:schemeClr val="accent6"/>
                </a:solidFill>
              </a:rPr>
              <a:t>Trilateration (GNSS)</a:t>
            </a:r>
          </a:p>
          <a:p>
            <a:pPr marL="12700" marR="5080"/>
            <a:r>
              <a:rPr lang="en-US" sz="1400" kern="0" spc="-80" dirty="0">
                <a:solidFill>
                  <a:schemeClr val="accent6"/>
                </a:solidFill>
              </a:rPr>
              <a:t>Triangulation (Cell, BLE)</a:t>
            </a:r>
          </a:p>
          <a:p>
            <a:pPr marL="12700" marR="5080"/>
            <a:r>
              <a:rPr lang="en-US" sz="1400" kern="0" spc="-80" dirty="0">
                <a:solidFill>
                  <a:schemeClr val="accent6"/>
                </a:solidFill>
              </a:rPr>
              <a:t>Quaternion Rotations (IMU motion)</a:t>
            </a:r>
          </a:p>
          <a:p>
            <a:pPr marL="12700" marR="5080"/>
            <a:r>
              <a:rPr lang="en-US" sz="1400" kern="0" spc="-80" dirty="0">
                <a:solidFill>
                  <a:schemeClr val="accent6"/>
                </a:solidFill>
              </a:rPr>
              <a:t>Haversine &amp; Spherical Geometry (distances)</a:t>
            </a:r>
          </a:p>
          <a:p>
            <a:pPr marL="12700" marR="5080"/>
            <a:r>
              <a:rPr lang="en-US" sz="1400" kern="0" spc="-80" dirty="0">
                <a:solidFill>
                  <a:schemeClr val="accent6"/>
                </a:solidFill>
              </a:rPr>
              <a:t>Graph Theory (routing)</a:t>
            </a:r>
          </a:p>
          <a:p>
            <a:pPr marL="12700" marR="5080"/>
            <a:r>
              <a:rPr lang="en-US" sz="1400" kern="0" spc="-80" dirty="0">
                <a:solidFill>
                  <a:schemeClr val="accent6"/>
                </a:solidFill>
              </a:rPr>
              <a:t>Bayesian Inference &amp; Kalman Filters (motion smoothing)</a:t>
            </a:r>
          </a:p>
          <a:p>
            <a:pPr marL="12700" marR="5080"/>
            <a:r>
              <a:rPr lang="en-US" sz="1400" kern="0" spc="-80" dirty="0">
                <a:solidFill>
                  <a:schemeClr val="accent6"/>
                </a:solidFill>
              </a:rPr>
              <a:t>R-trees / KD-Trees (spatial indexing)</a:t>
            </a:r>
          </a:p>
          <a:p>
            <a:pPr marL="12700" marR="5080"/>
            <a:r>
              <a:rPr lang="en-US" sz="1400" kern="0" spc="-80" dirty="0">
                <a:solidFill>
                  <a:schemeClr val="accent6"/>
                </a:solidFill>
              </a:rPr>
              <a:t>Hidden Markov Models (map matching)</a:t>
            </a:r>
          </a:p>
          <a:p>
            <a:pPr marL="12700" marR="5080"/>
            <a:r>
              <a:rPr lang="en-US" sz="1400" kern="0" spc="-80" dirty="0">
                <a:solidFill>
                  <a:schemeClr val="accent6"/>
                </a:solidFill>
              </a:rPr>
              <a:t>Deep Learning (Wi-Fi fingerprinting, ETA prediction).</a:t>
            </a:r>
          </a:p>
          <a:p>
            <a:pPr marL="12700" marR="5080"/>
            <a:endParaRPr lang="en-US" sz="1900" kern="0" spc="-80" dirty="0">
              <a:solidFill>
                <a:schemeClr val="accent2"/>
              </a:solidFill>
            </a:endParaRPr>
          </a:p>
        </p:txBody>
      </p:sp>
    </p:spTree>
    <p:extLst>
      <p:ext uri="{BB962C8B-B14F-4D97-AF65-F5344CB8AC3E}">
        <p14:creationId xmlns:p14="http://schemas.microsoft.com/office/powerpoint/2010/main" val="1400375768"/>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C1F25-73B1-0041-7F96-583C174292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0549D2-0418-D71E-5ED5-D9385A09BF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9AE30C-3B07-4B44-0EB5-D8412A959DB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57AB5D-B8D8-AC62-5A44-9772B6669AF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234BC2-6F76-A7AC-CF0A-904D807A8D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7007D8-7CDB-AC8C-8495-4870F316A51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53AE0E-DBEA-9A58-2B33-8FDD5B8DFA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582A8A-B9CD-F05F-6825-8D31BD4AB1C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3EAB021-D89E-C944-37F0-943FBD115DF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C90F285-2CAA-40F6-CF10-6FF489AF361B}"/>
              </a:ext>
            </a:extLst>
          </p:cNvPr>
          <p:cNvSpPr txBox="1">
            <a:spLocks/>
          </p:cNvSpPr>
          <p:nvPr/>
        </p:nvSpPr>
        <p:spPr>
          <a:xfrm>
            <a:off x="228600" y="762000"/>
            <a:ext cx="8624937" cy="158504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For Further Exploration</a:t>
            </a:r>
          </a:p>
          <a:p>
            <a:pPr marL="12700" marR="5080"/>
            <a:r>
              <a:rPr lang="en-US" sz="1400" dirty="0">
                <a:hlinkClick r:id="rId7"/>
              </a:rPr>
              <a:t>Location-Based Services and Geo-Information Engineering </a:t>
            </a:r>
            <a:endParaRPr lang="en-US" sz="1400" dirty="0"/>
          </a:p>
          <a:p>
            <a:pPr marL="12700" marR="5080"/>
            <a:r>
              <a:rPr lang="en-US" sz="1400" dirty="0">
                <a:hlinkClick r:id="rId8"/>
              </a:rPr>
              <a:t>Location-based services and GIS in perspective - ScienceDirect</a:t>
            </a:r>
            <a:endParaRPr lang="en-US" sz="1400" kern="0" spc="-80" dirty="0">
              <a:solidFill>
                <a:schemeClr val="accent2"/>
              </a:solidFill>
            </a:endParaRPr>
          </a:p>
          <a:p>
            <a:pPr marL="12700" marR="5080"/>
            <a:r>
              <a:rPr lang="en-US" sz="1400" dirty="0">
                <a:hlinkClick r:id="rId9"/>
              </a:rPr>
              <a:t>Location based services: ongoing evolution and research agenda</a:t>
            </a:r>
            <a:endParaRPr lang="en-US" sz="1400" kern="0" spc="-80" dirty="0">
              <a:solidFill>
                <a:schemeClr val="accent6"/>
              </a:solidFill>
            </a:endParaRPr>
          </a:p>
          <a:p>
            <a:pPr marL="12700" marR="5080"/>
            <a:r>
              <a:rPr lang="en-US" sz="1400" dirty="0">
                <a:hlinkClick r:id="rId10"/>
              </a:rPr>
              <a:t>Location-Enabled IoT (LE-IoT)</a:t>
            </a:r>
            <a:endParaRPr lang="en-US" sz="1400" dirty="0"/>
          </a:p>
          <a:p>
            <a:pPr marL="12700" marR="5080"/>
            <a:r>
              <a:rPr lang="en-US" sz="1400" dirty="0">
                <a:hlinkClick r:id="rId11"/>
              </a:rPr>
              <a:t>A Review of Indoor/Outdoor Localization Solutions in IoT era</a:t>
            </a:r>
            <a:endParaRPr lang="en-US" sz="1400" kern="0" spc="-80" dirty="0">
              <a:solidFill>
                <a:schemeClr val="accent2"/>
              </a:solidFill>
            </a:endParaRPr>
          </a:p>
        </p:txBody>
      </p:sp>
    </p:spTree>
    <p:extLst>
      <p:ext uri="{BB962C8B-B14F-4D97-AF65-F5344CB8AC3E}">
        <p14:creationId xmlns:p14="http://schemas.microsoft.com/office/powerpoint/2010/main" val="3447337970"/>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F43E3-DC77-26EE-0EC1-50DAEC8127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6639F90-807D-FEFF-F686-7FC826F2323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B510B9-69EB-4A1C-249E-1D49590961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42CC24-DF2D-8531-9BCD-550606DDFAF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79B8111-1BDD-4333-0734-C0B775AD923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CB4AE2D-D361-CC21-82D1-79A39BA8FF4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17384-2FB3-756B-0331-0FD3C8CA730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AFF48DC-3276-F9F8-3728-9275D7EE39E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C06CF5-7167-B700-27F7-FEE8D8F737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C62CF13-0CC2-B17C-C63E-F762590D0968}"/>
              </a:ext>
            </a:extLst>
          </p:cNvPr>
          <p:cNvSpPr txBox="1">
            <a:spLocks/>
          </p:cNvSpPr>
          <p:nvPr/>
        </p:nvSpPr>
        <p:spPr>
          <a:xfrm>
            <a:off x="228600" y="7620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2"/>
                </a:solidFill>
              </a:rPr>
              <a:t>Mobile App Development</a:t>
            </a:r>
          </a:p>
          <a:p>
            <a:pPr marL="12700" marR="5080"/>
            <a:r>
              <a:rPr lang="en-US" sz="1400" kern="0" spc="-80" dirty="0">
                <a:solidFill>
                  <a:schemeClr val="accent2"/>
                </a:solidFill>
              </a:rPr>
              <a:t>Platforms</a:t>
            </a:r>
          </a:p>
          <a:p>
            <a:pPr marL="12700" marR="5080"/>
            <a:r>
              <a:rPr lang="en-US" sz="1400" kern="0" spc="-80" dirty="0">
                <a:solidFill>
                  <a:schemeClr val="accent6"/>
                </a:solidFill>
              </a:rPr>
              <a:t>iOS (Swift, </a:t>
            </a:r>
            <a:r>
              <a:rPr lang="en-US" sz="1400" kern="0" spc="-80" dirty="0" err="1">
                <a:solidFill>
                  <a:schemeClr val="accent6"/>
                </a:solidFill>
              </a:rPr>
              <a:t>CoreLocation</a:t>
            </a:r>
            <a:r>
              <a:rPr lang="en-US" sz="1400" kern="0" spc="-80" dirty="0">
                <a:solidFill>
                  <a:schemeClr val="accent6"/>
                </a:solidFill>
              </a:rPr>
              <a:t>, </a:t>
            </a:r>
            <a:r>
              <a:rPr lang="en-US" sz="1400" kern="0" spc="-80" dirty="0" err="1">
                <a:solidFill>
                  <a:schemeClr val="accent6"/>
                </a:solidFill>
              </a:rPr>
              <a:t>MapKit</a:t>
            </a:r>
            <a:r>
              <a:rPr lang="en-US" sz="1400" kern="0" spc="-80" dirty="0">
                <a:solidFill>
                  <a:schemeClr val="accent6"/>
                </a:solidFill>
              </a:rPr>
              <a:t>)</a:t>
            </a:r>
          </a:p>
          <a:p>
            <a:pPr marL="12700" marR="5080"/>
            <a:r>
              <a:rPr lang="en-US" sz="1400" kern="0" spc="-80" dirty="0">
                <a:solidFill>
                  <a:schemeClr val="accent6"/>
                </a:solidFill>
              </a:rPr>
              <a:t>Android (Kotlin/Java, </a:t>
            </a:r>
            <a:r>
              <a:rPr lang="en-US" sz="1400" kern="0" spc="-80" dirty="0" err="1">
                <a:solidFill>
                  <a:schemeClr val="accent6"/>
                </a:solidFill>
              </a:rPr>
              <a:t>LocationManager</a:t>
            </a:r>
            <a:r>
              <a:rPr lang="en-US" sz="1400" kern="0" spc="-80" dirty="0">
                <a:solidFill>
                  <a:schemeClr val="accent6"/>
                </a:solidFill>
              </a:rPr>
              <a:t>, </a:t>
            </a:r>
            <a:r>
              <a:rPr lang="en-US" sz="1400" kern="0" spc="-80" dirty="0" err="1">
                <a:solidFill>
                  <a:schemeClr val="accent6"/>
                </a:solidFill>
              </a:rPr>
              <a:t>FusedLocationProvider</a:t>
            </a:r>
            <a:r>
              <a:rPr lang="en-US" sz="1400" kern="0" spc="-80" dirty="0">
                <a:solidFill>
                  <a:schemeClr val="accent6"/>
                </a:solidFill>
              </a:rPr>
              <a:t>)</a:t>
            </a:r>
          </a:p>
          <a:p>
            <a:pPr marL="12700" marR="5080"/>
            <a:r>
              <a:rPr lang="en-US" sz="1400" kern="0" spc="-80" dirty="0">
                <a:solidFill>
                  <a:schemeClr val="accent6"/>
                </a:solidFill>
              </a:rPr>
              <a:t>Cross-platform (Flutter, React Native, Xamarin, Unity)</a:t>
            </a:r>
          </a:p>
          <a:p>
            <a:pPr marL="12700" marR="5080"/>
            <a:r>
              <a:rPr lang="en-US" sz="1400" kern="0" spc="-80" dirty="0">
                <a:solidFill>
                  <a:schemeClr val="accent2"/>
                </a:solidFill>
              </a:rPr>
              <a:t>Permissions &amp; Privacy</a:t>
            </a:r>
          </a:p>
          <a:p>
            <a:pPr marL="12700" marR="5080"/>
            <a:r>
              <a:rPr lang="en-US" sz="1400" kern="0" spc="-80" dirty="0">
                <a:solidFill>
                  <a:schemeClr val="accent6"/>
                </a:solidFill>
              </a:rPr>
              <a:t>Runtime location permissions (foreground &amp; background)</a:t>
            </a:r>
          </a:p>
          <a:p>
            <a:pPr marL="12700" marR="5080"/>
            <a:r>
              <a:rPr lang="en-US" sz="1400" kern="0" spc="-80" dirty="0">
                <a:solidFill>
                  <a:schemeClr val="accent6"/>
                </a:solidFill>
              </a:rPr>
              <a:t>Privacy policies and GDPR compliance</a:t>
            </a:r>
          </a:p>
          <a:p>
            <a:pPr marL="12700" marR="5080"/>
            <a:r>
              <a:rPr lang="en-US" sz="1400" kern="0" spc="-80" dirty="0">
                <a:solidFill>
                  <a:schemeClr val="accent6"/>
                </a:solidFill>
              </a:rPr>
              <a:t>Best practices for minimal location data usage</a:t>
            </a:r>
          </a:p>
          <a:p>
            <a:pPr marL="12700" marR="5080"/>
            <a:r>
              <a:rPr lang="en-US" sz="1400" kern="0" spc="-80" dirty="0">
                <a:solidFill>
                  <a:schemeClr val="accent2"/>
                </a:solidFill>
              </a:rPr>
              <a:t>Sensors &amp; Device Integration</a:t>
            </a:r>
          </a:p>
          <a:p>
            <a:pPr marL="12700" marR="5080"/>
            <a:r>
              <a:rPr lang="en-US" sz="1400" kern="0" spc="-80" dirty="0">
                <a:solidFill>
                  <a:schemeClr val="accent6"/>
                </a:solidFill>
              </a:rPr>
              <a:t>Accelerometer, gyroscope (for movement detection)</a:t>
            </a:r>
          </a:p>
          <a:p>
            <a:pPr marL="12700" marR="5080"/>
            <a:r>
              <a:rPr lang="en-US" sz="1400" kern="0" spc="-80" dirty="0">
                <a:solidFill>
                  <a:schemeClr val="accent6"/>
                </a:solidFill>
              </a:rPr>
              <a:t>Compass (orientation)</a:t>
            </a:r>
          </a:p>
          <a:p>
            <a:pPr marL="12700" marR="5080"/>
            <a:r>
              <a:rPr lang="en-US" sz="1400" kern="0" spc="-80" dirty="0">
                <a:solidFill>
                  <a:schemeClr val="accent6"/>
                </a:solidFill>
              </a:rPr>
              <a:t>NFC/Beacon integration for proximity features</a:t>
            </a:r>
          </a:p>
          <a:p>
            <a:pPr marL="12700" marR="5080"/>
            <a:endParaRPr lang="en-US" sz="1900" kern="0" spc="-80" dirty="0">
              <a:solidFill>
                <a:schemeClr val="accent2"/>
              </a:solidFill>
            </a:endParaRPr>
          </a:p>
          <a:p>
            <a:pPr marL="12700" marR="5080"/>
            <a:r>
              <a:rPr lang="en-US" sz="1400" kern="0" spc="-80" dirty="0">
                <a:solidFill>
                  <a:schemeClr val="accent2"/>
                </a:solidFill>
              </a:rPr>
              <a:t>User Experience &amp; UI</a:t>
            </a:r>
          </a:p>
          <a:p>
            <a:pPr marL="12700" marR="5080"/>
            <a:r>
              <a:rPr lang="en-US" sz="1400" kern="0" spc="-80" dirty="0">
                <a:solidFill>
                  <a:schemeClr val="accent6"/>
                </a:solidFill>
              </a:rPr>
              <a:t>Map interaction design</a:t>
            </a:r>
          </a:p>
          <a:p>
            <a:pPr marL="12700" marR="5080"/>
            <a:r>
              <a:rPr lang="en-US" sz="1400" kern="0" spc="-80" dirty="0">
                <a:solidFill>
                  <a:schemeClr val="accent6"/>
                </a:solidFill>
              </a:rPr>
              <a:t>Panning, zooming, rotation</a:t>
            </a:r>
          </a:p>
          <a:p>
            <a:pPr marL="12700" marR="5080"/>
            <a:r>
              <a:rPr lang="en-US" sz="1400" kern="0" spc="-80" dirty="0">
                <a:solidFill>
                  <a:schemeClr val="accent6"/>
                </a:solidFill>
              </a:rPr>
              <a:t>Custom markers and overlays</a:t>
            </a:r>
          </a:p>
          <a:p>
            <a:pPr marL="12700" marR="5080"/>
            <a:r>
              <a:rPr lang="en-US" sz="1400" kern="0" spc="-80" dirty="0">
                <a:solidFill>
                  <a:schemeClr val="accent6"/>
                </a:solidFill>
              </a:rPr>
              <a:t>Heatmaps and choropleth maps</a:t>
            </a:r>
          </a:p>
          <a:p>
            <a:pPr marL="12700" marR="5080"/>
            <a:r>
              <a:rPr lang="en-US" sz="1400" kern="0" spc="-80" dirty="0">
                <a:solidFill>
                  <a:schemeClr val="accent6"/>
                </a:solidFill>
              </a:rPr>
              <a:t>Location feedback</a:t>
            </a:r>
          </a:p>
          <a:p>
            <a:pPr marL="12700" marR="5080"/>
            <a:r>
              <a:rPr lang="en-US" sz="1400" kern="0" spc="-80" dirty="0">
                <a:solidFill>
                  <a:schemeClr val="accent6"/>
                </a:solidFill>
              </a:rPr>
              <a:t>Turn-by-turn navigation</a:t>
            </a:r>
          </a:p>
          <a:p>
            <a:pPr marL="12700" marR="5080"/>
            <a:r>
              <a:rPr lang="en-US" sz="1400" kern="0" spc="-80" dirty="0">
                <a:solidFill>
                  <a:schemeClr val="accent6"/>
                </a:solidFill>
              </a:rPr>
              <a:t>Distance alerts</a:t>
            </a:r>
          </a:p>
        </p:txBody>
      </p:sp>
    </p:spTree>
    <p:extLst>
      <p:ext uri="{BB962C8B-B14F-4D97-AF65-F5344CB8AC3E}">
        <p14:creationId xmlns:p14="http://schemas.microsoft.com/office/powerpoint/2010/main" val="1223955383"/>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274FA-8872-BEFC-1C91-77B2B3E2E33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4905E6-F3D4-51A1-2EC5-1798F9FA41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6B9C27-2A82-E565-2C82-1700F3085F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FFE6D0-8D06-E3CF-CE31-08B4CBA2D2A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C9FAE13-999E-87C8-2624-AA6128BD0C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E40610-597E-09B3-A57A-7EF611754F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0ECC022-E620-A420-655B-E4F4133F193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9DD2F3-FB34-5B0A-D9FC-CDB83F58DB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D76268-31A9-C0D6-FA69-9AAD12479CB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6BAAE88-02BA-AA42-4622-07C5899C87FC}"/>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6"/>
                </a:solidFill>
              </a:rPr>
              <a:t>Activity recognition (walking, driving, cycling)</a:t>
            </a:r>
          </a:p>
          <a:p>
            <a:pPr marL="12700" marR="5080"/>
            <a:r>
              <a:rPr lang="en-US" sz="1400" kern="0" spc="-80" dirty="0">
                <a:solidFill>
                  <a:schemeClr val="accent6"/>
                </a:solidFill>
              </a:rPr>
              <a:t>Offline maps</a:t>
            </a:r>
          </a:p>
          <a:p>
            <a:pPr marL="12700" marR="5080"/>
            <a:r>
              <a:rPr lang="en-US" sz="1400" kern="0" spc="-80" dirty="0">
                <a:solidFill>
                  <a:schemeClr val="accent6"/>
                </a:solidFill>
              </a:rPr>
              <a:t>Map tiles caching</a:t>
            </a:r>
          </a:p>
          <a:p>
            <a:pPr marL="12700" marR="5080"/>
            <a:r>
              <a:rPr lang="en-US" sz="1400" kern="0" spc="-80" dirty="0">
                <a:solidFill>
                  <a:schemeClr val="accent6"/>
                </a:solidFill>
              </a:rPr>
              <a:t>Offline routing</a:t>
            </a:r>
          </a:p>
          <a:p>
            <a:pPr marL="12700" marR="5080"/>
            <a:endParaRPr lang="en-US" sz="1400" kern="0" spc="-80" dirty="0">
              <a:solidFill>
                <a:schemeClr val="accent6"/>
              </a:solidFill>
            </a:endParaRPr>
          </a:p>
          <a:p>
            <a:pPr marL="12700" marR="5080"/>
            <a:r>
              <a:rPr lang="en-US" sz="1400" kern="0" spc="-80" dirty="0">
                <a:solidFill>
                  <a:schemeClr val="accent2"/>
                </a:solidFill>
              </a:rPr>
              <a:t>Security &amp; Performance</a:t>
            </a:r>
          </a:p>
          <a:p>
            <a:pPr marL="12700" marR="5080"/>
            <a:r>
              <a:rPr lang="en-US" sz="1400" kern="0" spc="-80" dirty="0">
                <a:solidFill>
                  <a:schemeClr val="accent6"/>
                </a:solidFill>
              </a:rPr>
              <a:t>Secure location data transmission (HTTPS, encryption)</a:t>
            </a:r>
          </a:p>
          <a:p>
            <a:pPr marL="12700" marR="5080"/>
            <a:r>
              <a:rPr lang="en-US" sz="1400" kern="0" spc="-80" dirty="0">
                <a:solidFill>
                  <a:schemeClr val="accent6"/>
                </a:solidFill>
              </a:rPr>
              <a:t>Rate limiting for API calls (e.g., Google Maps API limits)</a:t>
            </a:r>
          </a:p>
          <a:p>
            <a:pPr marL="12700" marR="5080"/>
            <a:r>
              <a:rPr lang="en-US" sz="1400" kern="0" spc="-80" dirty="0">
                <a:solidFill>
                  <a:schemeClr val="accent6"/>
                </a:solidFill>
              </a:rPr>
              <a:t>Battery optimization for continuous location tracking</a:t>
            </a:r>
          </a:p>
          <a:p>
            <a:pPr marL="12700" marR="5080"/>
            <a:r>
              <a:rPr lang="en-US" sz="1400" kern="0" spc="-80" dirty="0">
                <a:solidFill>
                  <a:schemeClr val="accent6"/>
                </a:solidFill>
              </a:rPr>
              <a:t>Data anonymization for privacy</a:t>
            </a:r>
          </a:p>
          <a:p>
            <a:pPr marL="12700" marR="5080"/>
            <a:endParaRPr lang="en-US" sz="1400" kern="0" spc="-80" dirty="0">
              <a:solidFill>
                <a:schemeClr val="accent6"/>
              </a:solidFill>
            </a:endParaRPr>
          </a:p>
          <a:p>
            <a:pPr marL="12700" marR="5080"/>
            <a:r>
              <a:rPr lang="en-US" sz="1400" kern="0" spc="-80" dirty="0">
                <a:solidFill>
                  <a:schemeClr val="accent2"/>
                </a:solidFill>
              </a:rPr>
              <a:t>Advanced Concepts</a:t>
            </a:r>
          </a:p>
          <a:p>
            <a:pPr marL="12700" marR="5080"/>
            <a:r>
              <a:rPr lang="en-US" sz="1400" kern="0" spc="-80" dirty="0">
                <a:solidFill>
                  <a:schemeClr val="accent6"/>
                </a:solidFill>
              </a:rPr>
              <a:t>Machine Learning / AI</a:t>
            </a:r>
          </a:p>
          <a:p>
            <a:pPr marL="12700" marR="5080"/>
            <a:r>
              <a:rPr lang="en-US" sz="1400" kern="0" spc="-80" dirty="0">
                <a:solidFill>
                  <a:schemeClr val="accent6"/>
                </a:solidFill>
              </a:rPr>
              <a:t>Predictive location (next probable location)</a:t>
            </a:r>
          </a:p>
          <a:p>
            <a:pPr marL="12700" marR="5080"/>
            <a:r>
              <a:rPr lang="en-US" sz="1400" kern="0" spc="-80" dirty="0">
                <a:solidFill>
                  <a:schemeClr val="accent6"/>
                </a:solidFill>
              </a:rPr>
              <a:t>POI recommendation based on user behavior</a:t>
            </a:r>
          </a:p>
          <a:p>
            <a:pPr marL="12700" marR="5080"/>
            <a:r>
              <a:rPr lang="en-US" sz="1400" kern="0" spc="-80" dirty="0">
                <a:solidFill>
                  <a:schemeClr val="accent6"/>
                </a:solidFill>
              </a:rPr>
              <a:t>Context-aware notifications</a:t>
            </a:r>
          </a:p>
          <a:p>
            <a:pPr marL="12700" marR="5080"/>
            <a:r>
              <a:rPr lang="en-US" sz="1400" kern="0" spc="-80" dirty="0">
                <a:solidFill>
                  <a:schemeClr val="accent6"/>
                </a:solidFill>
              </a:rPr>
              <a:t>Augmented Reality</a:t>
            </a:r>
          </a:p>
          <a:p>
            <a:pPr marL="12700" marR="5080"/>
            <a:r>
              <a:rPr lang="en-US" sz="1400" kern="0" spc="-80" dirty="0">
                <a:solidFill>
                  <a:schemeClr val="accent6"/>
                </a:solidFill>
              </a:rPr>
              <a:t>AR navigation overlays (ARKit for iOS, </a:t>
            </a:r>
            <a:r>
              <a:rPr lang="en-US" sz="1400" kern="0" spc="-80" dirty="0" err="1">
                <a:solidFill>
                  <a:schemeClr val="accent6"/>
                </a:solidFill>
              </a:rPr>
              <a:t>ARCore</a:t>
            </a:r>
            <a:r>
              <a:rPr lang="en-US" sz="1400" kern="0" spc="-80" dirty="0">
                <a:solidFill>
                  <a:schemeClr val="accent6"/>
                </a:solidFill>
              </a:rPr>
              <a:t> for Android)</a:t>
            </a:r>
          </a:p>
          <a:p>
            <a:pPr marL="12700" marR="5080"/>
            <a:r>
              <a:rPr lang="en-US" sz="1400" kern="0" spc="-80" dirty="0">
                <a:solidFill>
                  <a:schemeClr val="accent6"/>
                </a:solidFill>
              </a:rPr>
              <a:t>Indoor AR positioning</a:t>
            </a:r>
          </a:p>
          <a:p>
            <a:pPr marL="12700" marR="5080"/>
            <a:r>
              <a:rPr lang="en-US" sz="1400" kern="0" spc="-80" dirty="0">
                <a:solidFill>
                  <a:schemeClr val="accent6"/>
                </a:solidFill>
              </a:rPr>
              <a:t>Integration with IoT</a:t>
            </a:r>
          </a:p>
          <a:p>
            <a:pPr marL="12700" marR="5080"/>
            <a:r>
              <a:rPr lang="en-US" sz="1400" kern="0" spc="-80" dirty="0">
                <a:solidFill>
                  <a:schemeClr val="accent6"/>
                </a:solidFill>
              </a:rPr>
              <a:t>Smart devices and wearables</a:t>
            </a:r>
          </a:p>
          <a:p>
            <a:pPr marL="12700" marR="5080"/>
            <a:r>
              <a:rPr lang="en-US" sz="1400" kern="0" spc="-80" dirty="0">
                <a:solidFill>
                  <a:schemeClr val="accent6"/>
                </a:solidFill>
              </a:rPr>
              <a:t>Geofenced automation (e.g., smart home triggers)</a:t>
            </a:r>
          </a:p>
          <a:p>
            <a:pPr marL="12700" marR="5080"/>
            <a:r>
              <a:rPr lang="en-US" sz="1400" kern="0" spc="-80" dirty="0">
                <a:solidFill>
                  <a:schemeClr val="accent6"/>
                </a:solidFill>
              </a:rPr>
              <a:t>Big Data &amp; Analytics</a:t>
            </a:r>
          </a:p>
        </p:txBody>
      </p:sp>
    </p:spTree>
    <p:extLst>
      <p:ext uri="{BB962C8B-B14F-4D97-AF65-F5344CB8AC3E}">
        <p14:creationId xmlns:p14="http://schemas.microsoft.com/office/powerpoint/2010/main" val="1332571963"/>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B2859-26FE-4CDB-0F86-F8D57D925B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5BD797F-9635-A670-FC8C-17A805C6A8A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935CDB-6139-AD55-7A80-0016915F2E4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8F55FC-C071-A293-13D7-A84708AFC29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C470AF6-A293-828C-F69B-2EDFE6A480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D06EFB-E28F-962A-75AE-7974D7494C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795177-389E-344A-97D7-0A6CE65374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72E31C2-CF06-BCAC-AFC8-CEBFDC286B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21A011A-B4BA-220E-F593-045E0957F8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4AFD6F9-50C4-840D-D0F0-3B635283D1F2}"/>
              </a:ext>
            </a:extLst>
          </p:cNvPr>
          <p:cNvSpPr txBox="1">
            <a:spLocks/>
          </p:cNvSpPr>
          <p:nvPr/>
        </p:nvSpPr>
        <p:spPr>
          <a:xfrm>
            <a:off x="228600" y="762000"/>
            <a:ext cx="8624937" cy="266226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6"/>
                </a:solidFill>
              </a:rPr>
              <a:t>Heatmaps of user movements</a:t>
            </a:r>
          </a:p>
          <a:p>
            <a:pPr marL="12700" marR="5080"/>
            <a:r>
              <a:rPr lang="en-US" sz="1400" kern="0" spc="-80" dirty="0">
                <a:solidFill>
                  <a:schemeClr val="accent6"/>
                </a:solidFill>
              </a:rPr>
              <a:t>Geospatial analytics for business insights</a:t>
            </a:r>
          </a:p>
          <a:p>
            <a:pPr marL="12700" marR="5080"/>
            <a:r>
              <a:rPr lang="en-US" sz="1400" kern="0" spc="-80" dirty="0">
                <a:solidFill>
                  <a:schemeClr val="accent6"/>
                </a:solidFill>
              </a:rPr>
              <a:t>Real-time event tracking and alerts</a:t>
            </a:r>
          </a:p>
          <a:p>
            <a:pPr marL="12700" marR="5080"/>
            <a:endParaRPr lang="en-US" sz="1400" kern="0" spc="-80" dirty="0">
              <a:solidFill>
                <a:schemeClr val="accent6"/>
              </a:solidFill>
            </a:endParaRPr>
          </a:p>
          <a:p>
            <a:pPr marL="12700" marR="5080"/>
            <a:r>
              <a:rPr lang="en-US" sz="1400" kern="0" spc="-80" dirty="0">
                <a:solidFill>
                  <a:schemeClr val="accent2"/>
                </a:solidFill>
              </a:rPr>
              <a:t>Testing &amp; Monitoring</a:t>
            </a:r>
          </a:p>
          <a:p>
            <a:pPr marL="12700" marR="5080"/>
            <a:r>
              <a:rPr lang="en-US" sz="1400" kern="0" spc="-80" dirty="0">
                <a:solidFill>
                  <a:schemeClr val="accent6"/>
                </a:solidFill>
              </a:rPr>
              <a:t>Location mocking/simulation for testing</a:t>
            </a:r>
          </a:p>
          <a:p>
            <a:pPr marL="12700" marR="5080"/>
            <a:r>
              <a:rPr lang="en-US" sz="1400" kern="0" spc="-80" dirty="0">
                <a:solidFill>
                  <a:schemeClr val="accent6"/>
                </a:solidFill>
              </a:rPr>
              <a:t>Real-world field testing for accuracy</a:t>
            </a:r>
          </a:p>
          <a:p>
            <a:pPr marL="12700" marR="5080"/>
            <a:r>
              <a:rPr lang="en-US" sz="1400" kern="0" spc="-80" dirty="0">
                <a:solidFill>
                  <a:schemeClr val="accent6"/>
                </a:solidFill>
              </a:rPr>
              <a:t>Analytics of location-based events</a:t>
            </a:r>
          </a:p>
          <a:p>
            <a:pPr marL="12700" marR="5080"/>
            <a:r>
              <a:rPr lang="en-US" sz="1400" kern="0" spc="-80" dirty="0">
                <a:solidFill>
                  <a:schemeClr val="accent6"/>
                </a:solidFill>
              </a:rPr>
              <a:t>Crash reporting &amp; network monitoring</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088224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5073737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System Design Example 1 -  </a:t>
            </a:r>
            <a:r>
              <a:rPr lang="en-US" sz="2000" kern="0" spc="-80" dirty="0">
                <a:solidFill>
                  <a:schemeClr val="accent2"/>
                </a:solidFill>
              </a:rPr>
              <a:t>Proximity Services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13" name="Picture 12">
            <a:extLst>
              <a:ext uri="{FF2B5EF4-FFF2-40B4-BE49-F238E27FC236}">
                <a16:creationId xmlns:a16="http://schemas.microsoft.com/office/drawing/2014/main" id="{05B1C1C2-7006-C82F-DFBE-2BA3EEF4AD08}"/>
              </a:ext>
            </a:extLst>
          </p:cNvPr>
          <p:cNvPicPr>
            <a:picLocks noChangeAspect="1"/>
          </p:cNvPicPr>
          <p:nvPr/>
        </p:nvPicPr>
        <p:blipFill>
          <a:blip r:embed="rId7"/>
          <a:stretch>
            <a:fillRect/>
          </a:stretch>
        </p:blipFill>
        <p:spPr>
          <a:xfrm>
            <a:off x="166737" y="1143001"/>
            <a:ext cx="8748661" cy="3505200"/>
          </a:xfrm>
          <a:prstGeom prst="rect">
            <a:avLst/>
          </a:prstGeom>
        </p:spPr>
      </p:pic>
      <p:sp>
        <p:nvSpPr>
          <p:cNvPr id="10" name="object 2">
            <a:extLst>
              <a:ext uri="{FF2B5EF4-FFF2-40B4-BE49-F238E27FC236}">
                <a16:creationId xmlns:a16="http://schemas.microsoft.com/office/drawing/2014/main" id="{31552197-9D51-7A0D-E708-C85C6D23B6AC}"/>
              </a:ext>
            </a:extLst>
          </p:cNvPr>
          <p:cNvSpPr txBox="1">
            <a:spLocks/>
          </p:cNvSpPr>
          <p:nvPr/>
        </p:nvSpPr>
        <p:spPr>
          <a:xfrm>
            <a:off x="228598" y="457972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Example APIs– </a:t>
            </a:r>
          </a:p>
          <a:p>
            <a:pPr marL="355600" marR="5080" indent="-342900">
              <a:buAutoNum type="alphaLcParenR"/>
            </a:pPr>
            <a:r>
              <a:rPr lang="en-US" sz="1500" kern="0" spc="-80" dirty="0">
                <a:solidFill>
                  <a:schemeClr val="accent6"/>
                </a:solidFill>
              </a:rPr>
              <a:t>GET /v1/search/nearby with request parms viz </a:t>
            </a:r>
            <a:r>
              <a:rPr lang="en-US" sz="1500" kern="0" spc="-80" dirty="0" err="1">
                <a:solidFill>
                  <a:schemeClr val="accent6"/>
                </a:solidFill>
              </a:rPr>
              <a:t>lat</a:t>
            </a:r>
            <a:r>
              <a:rPr lang="en-US" sz="1500" kern="0" spc="-80" dirty="0">
                <a:solidFill>
                  <a:schemeClr val="accent6"/>
                </a:solidFill>
              </a:rPr>
              <a:t>, long &amp; radius</a:t>
            </a:r>
          </a:p>
          <a:p>
            <a:pPr marL="355600" marR="5080" indent="-342900">
              <a:buAutoNum type="alphaLcParenR"/>
            </a:pPr>
            <a:r>
              <a:rPr lang="en-US" sz="1500" kern="0" spc="-80" dirty="0">
                <a:solidFill>
                  <a:schemeClr val="accent6"/>
                </a:solidFill>
              </a:rPr>
              <a:t>GET  /v1/businesses/:id</a:t>
            </a:r>
          </a:p>
          <a:p>
            <a:pPr marL="355600" marR="5080" indent="-342900">
              <a:buFontTx/>
              <a:buAutoNum type="alphaLcParenR"/>
            </a:pPr>
            <a:r>
              <a:rPr lang="en-US" sz="1500" kern="0" spc="-80" dirty="0">
                <a:solidFill>
                  <a:schemeClr val="accent6"/>
                </a:solidFill>
              </a:rPr>
              <a:t>POST  /v1/businesses/</a:t>
            </a:r>
          </a:p>
          <a:p>
            <a:pPr marL="355600" marR="5080" indent="-342900">
              <a:buAutoNum type="alphaLcParenR"/>
            </a:pPr>
            <a:r>
              <a:rPr lang="en-US" sz="1500" kern="0" spc="-80" dirty="0">
                <a:solidFill>
                  <a:schemeClr val="accent6"/>
                </a:solidFill>
              </a:rPr>
              <a:t>PUT /v1/businesses/:id</a:t>
            </a:r>
          </a:p>
          <a:p>
            <a:pPr marL="355600" marR="5080" indent="-342900">
              <a:buAutoNum type="alphaLcParenR"/>
            </a:pPr>
            <a:r>
              <a:rPr lang="en-US" sz="1500" kern="0" spc="-80" dirty="0">
                <a:solidFill>
                  <a:schemeClr val="accent6"/>
                </a:solidFill>
              </a:rPr>
              <a:t>DELETE /v1/businesses/:id</a:t>
            </a:r>
          </a:p>
        </p:txBody>
      </p:sp>
    </p:spTree>
    <p:extLst>
      <p:ext uri="{BB962C8B-B14F-4D97-AF65-F5344CB8AC3E}">
        <p14:creationId xmlns:p14="http://schemas.microsoft.com/office/powerpoint/2010/main" val="2251754976"/>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700751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System Design Example 2 -  </a:t>
            </a:r>
            <a:r>
              <a:rPr lang="en-US" sz="2000" kern="0" spc="-80" dirty="0">
                <a:solidFill>
                  <a:schemeClr val="accent2"/>
                </a:solidFill>
              </a:rPr>
              <a:t>Nearby Friends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2050" name="Picture 2" descr="Near By Friends Offline Case">
            <a:extLst>
              <a:ext uri="{FF2B5EF4-FFF2-40B4-BE49-F238E27FC236}">
                <a16:creationId xmlns:a16="http://schemas.microsoft.com/office/drawing/2014/main" id="{6E3A7476-4B93-8E9E-B490-E1FCD5FDE12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162050"/>
            <a:ext cx="8777337" cy="4095750"/>
          </a:xfrm>
          <a:prstGeom prst="rect">
            <a:avLst/>
          </a:prstGeom>
          <a:noFill/>
          <a:extLst>
            <a:ext uri="{909E8E84-426E-40DD-AFC4-6F175D3DCCD1}">
              <a14:hiddenFill xmlns:a14="http://schemas.microsoft.com/office/drawing/2010/main">
                <a:solidFill>
                  <a:srgbClr val="FFFFFF"/>
                </a:solidFill>
              </a14:hiddenFill>
            </a:ext>
          </a:extLst>
        </p:spPr>
      </p:pic>
      <p:sp>
        <p:nvSpPr>
          <p:cNvPr id="10" name="object 2">
            <a:extLst>
              <a:ext uri="{FF2B5EF4-FFF2-40B4-BE49-F238E27FC236}">
                <a16:creationId xmlns:a16="http://schemas.microsoft.com/office/drawing/2014/main" id="{4EA84694-218B-41C1-C857-971EE4F8F759}"/>
              </a:ext>
            </a:extLst>
          </p:cNvPr>
          <p:cNvSpPr txBox="1">
            <a:spLocks/>
          </p:cNvSpPr>
          <p:nvPr/>
        </p:nvSpPr>
        <p:spPr>
          <a:xfrm>
            <a:off x="100422" y="5269468"/>
            <a:ext cx="8624937" cy="6924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Might seem similar to the Proximity service example earlier but actually here the business equivalents i.e. the nearby friends can change location &amp; so the scenario is very dynamic in nature. </a:t>
            </a:r>
            <a:r>
              <a:rPr lang="en-US" sz="1500" kern="0" spc="-80" dirty="0" err="1">
                <a:solidFill>
                  <a:schemeClr val="accent6"/>
                </a:solidFill>
              </a:rPr>
              <a:t>WebSockets</a:t>
            </a:r>
            <a:r>
              <a:rPr lang="en-US" sz="1500" kern="0" spc="-80" dirty="0">
                <a:solidFill>
                  <a:schemeClr val="accent6"/>
                </a:solidFill>
              </a:rPr>
              <a:t>(e.g. using </a:t>
            </a:r>
            <a:r>
              <a:rPr lang="en-US" sz="1500" kern="0" spc="-80" dirty="0" err="1">
                <a:solidFill>
                  <a:schemeClr val="accent6"/>
                </a:solidFill>
              </a:rPr>
              <a:t>SignalR</a:t>
            </a:r>
            <a:r>
              <a:rPr lang="en-US" sz="1500" kern="0" spc="-80" dirty="0">
                <a:solidFill>
                  <a:schemeClr val="accent6"/>
                </a:solidFill>
              </a:rPr>
              <a:t>)  based implementation is ideal to be used here.</a:t>
            </a:r>
          </a:p>
        </p:txBody>
      </p:sp>
    </p:spTree>
    <p:extLst>
      <p:ext uri="{BB962C8B-B14F-4D97-AF65-F5344CB8AC3E}">
        <p14:creationId xmlns:p14="http://schemas.microsoft.com/office/powerpoint/2010/main" val="2415887764"/>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2367435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22467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 </a:t>
            </a:r>
          </a:p>
          <a:p>
            <a:pPr marL="12700" marR="5080"/>
            <a:r>
              <a:rPr lang="en-US" sz="1400" dirty="0">
                <a:hlinkClick r:id="rId8"/>
              </a:rPr>
              <a:t>Computational Geometry: Algorithms and Applications | SpringerLink</a:t>
            </a:r>
            <a:endParaRPr lang="en-US" sz="1400" dirty="0"/>
          </a:p>
          <a:p>
            <a:pPr marL="12700" marR="5080"/>
            <a:r>
              <a:rPr lang="en-US" sz="1400" dirty="0">
                <a:hlinkClick r:id="rId9"/>
              </a:rPr>
              <a:t>Computational Geometry in Python – Deep Learning Garden</a:t>
            </a:r>
            <a:r>
              <a:rPr lang="en-US" sz="1400" kern="0" spc="-80" dirty="0">
                <a:solidFill>
                  <a:schemeClr val="accent2"/>
                </a:solidFill>
              </a:rPr>
              <a:t>  </a:t>
            </a:r>
          </a:p>
          <a:p>
            <a:pPr marL="12700" marR="5080"/>
            <a:r>
              <a:rPr lang="en-US" sz="1400" dirty="0">
                <a:hlinkClick r:id="rId10"/>
              </a:rPr>
              <a:t>Math for Security | No Starch Press</a:t>
            </a:r>
            <a:r>
              <a:rPr lang="en-US" sz="1400" kern="0" spc="-80" dirty="0">
                <a:solidFill>
                  <a:schemeClr val="accent2"/>
                </a:solidFill>
              </a:rPr>
              <a:t>  </a:t>
            </a:r>
          </a:p>
          <a:p>
            <a:pPr marL="12700" marR="5080"/>
            <a:r>
              <a:rPr lang="en-IN" sz="1400" dirty="0">
                <a:hlinkClick r:id="rId11"/>
              </a:rPr>
              <a:t>Uber System Design</a:t>
            </a:r>
            <a:endParaRPr lang="en-US" sz="1400" dirty="0"/>
          </a:p>
          <a:p>
            <a:pPr marL="12700" marR="5080"/>
            <a:r>
              <a:rPr lang="en-IN" sz="1400" dirty="0" err="1">
                <a:hlinkClick r:id="rId12"/>
              </a:rPr>
              <a:t>OpenTripPlanner</a:t>
            </a:r>
            <a:endParaRPr lang="en-IN" sz="1400" dirty="0"/>
          </a:p>
          <a:p>
            <a:pPr marL="12700" marR="5080"/>
            <a:r>
              <a:rPr lang="en-US" sz="1400" dirty="0" err="1">
                <a:hlinkClick r:id="rId13"/>
              </a:rPr>
              <a:t>RoutePlanner</a:t>
            </a:r>
            <a:r>
              <a:rPr lang="en-US" sz="1400" dirty="0">
                <a:hlinkClick r:id="rId13"/>
              </a:rPr>
              <a:t>: Simple free and open source tool for planning routes</a:t>
            </a:r>
            <a:endParaRPr lang="en-US" sz="1400" dirty="0"/>
          </a:p>
          <a:p>
            <a:pPr marL="12700" marR="5080"/>
            <a:r>
              <a:rPr lang="en-US" sz="1400" dirty="0">
                <a:hlinkClick r:id="rId14"/>
              </a:rPr>
              <a:t>End-to-End Google Earth Engine (Full Course)</a:t>
            </a:r>
            <a:endParaRPr lang="en-US" sz="1400" dirty="0"/>
          </a:p>
          <a:p>
            <a:pPr marL="12700" marR="5080"/>
            <a:r>
              <a:rPr lang="en-IN" sz="1400" dirty="0">
                <a:hlinkClick r:id="rId15"/>
              </a:rPr>
              <a:t>Open Geospatial Solutions · GitHub</a:t>
            </a:r>
            <a:endParaRPr lang="en-IN" sz="1400" dirty="0"/>
          </a:p>
          <a:p>
            <a:pPr marL="12700" marR="5080"/>
            <a:r>
              <a:rPr lang="en-IN" sz="1400" dirty="0">
                <a:hlinkClick r:id="rId16"/>
              </a:rPr>
              <a:t>System Design on Location Based Apps| LinkedIn</a:t>
            </a:r>
            <a:endParaRPr lang="en-IN" sz="1400" dirty="0"/>
          </a:p>
        </p:txBody>
      </p:sp>
    </p:spTree>
    <p:extLst>
      <p:ext uri="{BB962C8B-B14F-4D97-AF65-F5344CB8AC3E}">
        <p14:creationId xmlns:p14="http://schemas.microsoft.com/office/powerpoint/2010/main" val="3175509102"/>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23634</TotalTime>
  <Words>51623</Words>
  <Application>Microsoft Office PowerPoint</Application>
  <PresentationFormat>Custom</PresentationFormat>
  <Paragraphs>7000</Paragraphs>
  <Slides>380</Slides>
  <Notes>66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380</vt:i4>
      </vt:variant>
    </vt:vector>
  </HeadingPairs>
  <TitlesOfParts>
    <vt:vector size="388" baseType="lpstr">
      <vt:lpstr>-apple-system</vt:lpstr>
      <vt:lpstr>Aptos</vt:lpstr>
      <vt:lpstr>Arial</vt:lpstr>
      <vt:lpstr>Calibri</vt:lpstr>
      <vt:lpstr>Google Sans</vt:lpstr>
      <vt:lpstr>Lucida Sans</vt:lpstr>
      <vt:lpstr>UICTFontTextStyleBody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3115</cp:revision>
  <dcterms:created xsi:type="dcterms:W3CDTF">2020-11-03T17:16:52Z</dcterms:created>
  <dcterms:modified xsi:type="dcterms:W3CDTF">2025-11-25T03:10:17Z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