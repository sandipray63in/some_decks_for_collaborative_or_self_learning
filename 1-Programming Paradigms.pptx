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27"/>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562" r:id="rId33"/>
    <p:sldId id="563" r:id="rId34"/>
    <p:sldId id="564" r:id="rId35"/>
    <p:sldId id="340" r:id="rId36"/>
    <p:sldId id="341" r:id="rId37"/>
    <p:sldId id="557" r:id="rId38"/>
    <p:sldId id="558" r:id="rId39"/>
    <p:sldId id="559" r:id="rId40"/>
    <p:sldId id="560" r:id="rId41"/>
    <p:sldId id="561" r:id="rId42"/>
    <p:sldId id="344" r:id="rId43"/>
    <p:sldId id="345" r:id="rId44"/>
    <p:sldId id="346" r:id="rId45"/>
    <p:sldId id="347" r:id="rId46"/>
    <p:sldId id="348" r:id="rId47"/>
    <p:sldId id="351" r:id="rId48"/>
    <p:sldId id="352" r:id="rId49"/>
    <p:sldId id="349" r:id="rId50"/>
    <p:sldId id="350" r:id="rId51"/>
    <p:sldId id="353" r:id="rId52"/>
    <p:sldId id="354" r:id="rId53"/>
    <p:sldId id="355" r:id="rId54"/>
    <p:sldId id="356" r:id="rId55"/>
    <p:sldId id="366" r:id="rId56"/>
    <p:sldId id="357" r:id="rId57"/>
    <p:sldId id="358" r:id="rId58"/>
    <p:sldId id="359" r:id="rId59"/>
    <p:sldId id="526" r:id="rId60"/>
    <p:sldId id="382" r:id="rId61"/>
    <p:sldId id="384" r:id="rId62"/>
    <p:sldId id="385" r:id="rId63"/>
    <p:sldId id="383" r:id="rId64"/>
    <p:sldId id="387" r:id="rId65"/>
    <p:sldId id="524" r:id="rId66"/>
    <p:sldId id="388" r:id="rId67"/>
    <p:sldId id="386" r:id="rId68"/>
    <p:sldId id="389" r:id="rId69"/>
    <p:sldId id="525" r:id="rId70"/>
    <p:sldId id="390" r:id="rId71"/>
    <p:sldId id="391" r:id="rId72"/>
    <p:sldId id="392" r:id="rId73"/>
    <p:sldId id="360" r:id="rId74"/>
    <p:sldId id="530" r:id="rId75"/>
    <p:sldId id="531" r:id="rId76"/>
    <p:sldId id="532" r:id="rId77"/>
    <p:sldId id="533" r:id="rId78"/>
    <p:sldId id="534" r:id="rId79"/>
    <p:sldId id="535" r:id="rId80"/>
    <p:sldId id="536" r:id="rId81"/>
    <p:sldId id="537" r:id="rId82"/>
    <p:sldId id="538" r:id="rId83"/>
    <p:sldId id="361" r:id="rId84"/>
    <p:sldId id="362" r:id="rId85"/>
    <p:sldId id="363" r:id="rId86"/>
    <p:sldId id="364" r:id="rId87"/>
    <p:sldId id="367" r:id="rId88"/>
    <p:sldId id="368" r:id="rId89"/>
    <p:sldId id="370" r:id="rId90"/>
    <p:sldId id="541" r:id="rId91"/>
    <p:sldId id="369" r:id="rId92"/>
    <p:sldId id="393" r:id="rId93"/>
    <p:sldId id="371" r:id="rId94"/>
    <p:sldId id="372" r:id="rId95"/>
    <p:sldId id="377" r:id="rId96"/>
    <p:sldId id="373" r:id="rId97"/>
    <p:sldId id="374" r:id="rId98"/>
    <p:sldId id="528" r:id="rId99"/>
    <p:sldId id="376" r:id="rId100"/>
    <p:sldId id="529" r:id="rId101"/>
    <p:sldId id="375" r:id="rId102"/>
    <p:sldId id="381" r:id="rId103"/>
    <p:sldId id="379" r:id="rId104"/>
    <p:sldId id="521" r:id="rId105"/>
    <p:sldId id="523" r:id="rId106"/>
    <p:sldId id="542" r:id="rId107"/>
    <p:sldId id="543" r:id="rId108"/>
    <p:sldId id="544" r:id="rId109"/>
    <p:sldId id="545" r:id="rId110"/>
    <p:sldId id="546" r:id="rId111"/>
    <p:sldId id="547" r:id="rId112"/>
    <p:sldId id="548" r:id="rId113"/>
    <p:sldId id="549" r:id="rId114"/>
    <p:sldId id="550" r:id="rId115"/>
    <p:sldId id="551" r:id="rId116"/>
    <p:sldId id="552" r:id="rId117"/>
    <p:sldId id="553" r:id="rId118"/>
    <p:sldId id="554" r:id="rId119"/>
    <p:sldId id="555" r:id="rId120"/>
    <p:sldId id="556" r:id="rId121"/>
    <p:sldId id="380" r:id="rId122"/>
    <p:sldId id="527" r:id="rId123"/>
    <p:sldId id="539" r:id="rId124"/>
    <p:sldId id="540" r:id="rId125"/>
    <p:sldId id="294" r:id="rId126"/>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commentAuthors" Target="commentAuthors.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presProps" Target="presProps.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viewProps" Target="viewProp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theme" Target="theme/theme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tableStyles" Target="tableStyles.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notesMaster" Target="notesMasters/notesMaster1.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Classes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Value Type vs Reference Type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Value Type vs Reference Type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Value Type vs Reference Type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Topics </a:t>
          </a:r>
          <a:r>
            <a:rPr lang="en-US" dirty="0"/>
            <a:t>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000"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000" dirty="0"/>
            <a:t>Coding &amp; Low Level Design Katas &amp; Beyond </a:t>
          </a:r>
          <a:r>
            <a:rPr lang="en-US" sz="2000" dirty="0" err="1"/>
            <a:t>contd</a:t>
          </a:r>
          <a:r>
            <a:rPr lang="en-US" sz="2000"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Classes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Value Type vs Reference Type</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Value Type vs Reference Type</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Value Type vs Reference Type</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7520"/>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Topics </a:t>
          </a:r>
          <a:r>
            <a:rPr lang="en-US" sz="3100" kern="1200" dirty="0"/>
            <a:t>Not Covered</a:t>
          </a:r>
        </a:p>
      </dsp:txBody>
      <dsp:txXfrm>
        <a:off x="36296" y="36296"/>
        <a:ext cx="8643708" cy="670943"/>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30449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Coding &amp; Low Level Design Katas &amp; Beyond</a:t>
          </a:r>
        </a:p>
      </dsp:txBody>
      <dsp:txXfrm>
        <a:off x="14864" y="14864"/>
        <a:ext cx="8686572" cy="27476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30449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Coding &amp; Low Level Design Katas &amp; Beyond </a:t>
          </a:r>
          <a:r>
            <a:rPr lang="en-US" sz="2000" kern="1200" dirty="0" err="1"/>
            <a:t>contd</a:t>
          </a:r>
          <a:r>
            <a:rPr lang="en-US" sz="2000" kern="1200" dirty="0"/>
            <a:t>…</a:t>
          </a:r>
        </a:p>
      </dsp:txBody>
      <dsp:txXfrm>
        <a:off x="14864" y="14864"/>
        <a:ext cx="8686572" cy="27476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11/21/2025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ww.packtpub.com/en-us/product/functional-programming-with-c-9781805128939?srsltid=AfmBOootm9AeF1S1FKnAQEpZ1FvCm8vQXO4vjkpWXCegMOeBsKNC4FTa" TargetMode="External"/><Relationship Id="rId3" Type="http://schemas.openxmlformats.org/officeDocument/2006/relationships/diagramLayout" Target="../diagrams/layout21.xml"/><Relationship Id="rId7" Type="http://schemas.openxmlformats.org/officeDocument/2006/relationships/hyperlink" Target="https://www.linkedin.com/advice/1/whats-best-way-balance-functional-programming-design" TargetMode="External"/><Relationship Id="rId12" Type="http://schemas.openxmlformats.org/officeDocument/2006/relationships/hyperlink" Target="https://fsharpforfunandprofit.com/fppattern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11" Type="http://schemas.openxmlformats.org/officeDocument/2006/relationships/hyperlink" Target="https://github.com/caiorss/Functional-Programming/blob/master/haskell/Functional_Programming_Concepts.org" TargetMode="External"/><Relationship Id="rId5" Type="http://schemas.openxmlformats.org/officeDocument/2006/relationships/diagramColors" Target="../diagrams/colors21.xml"/><Relationship Id="rId10" Type="http://schemas.openxmlformats.org/officeDocument/2006/relationships/hyperlink" Target="https://weblogs.asp.net/dixin/category-theory-via-csharp-2-monoid" TargetMode="External"/><Relationship Id="rId4" Type="http://schemas.openxmlformats.org/officeDocument/2006/relationships/diagramQuickStyle" Target="../diagrams/quickStyle21.xml"/><Relationship Id="rId9" Type="http://schemas.openxmlformats.org/officeDocument/2006/relationships/hyperlink" Target="https://functionalprogrammingcsharp.com/functors-monads"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image" Target="../media/image3.png"/><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7" Type="http://schemas.openxmlformats.org/officeDocument/2006/relationships/image" Target="../media/image4.png"/><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41.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5.xm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5" Type="http://schemas.openxmlformats.org/officeDocument/2006/relationships/diagramColors" Target="../diagrams/colors45.xml"/><Relationship Id="rId4" Type="http://schemas.openxmlformats.org/officeDocument/2006/relationships/diagramQuickStyle" Target="../diagrams/quickStyle45.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46.xm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4" Type="http://schemas.openxmlformats.org/officeDocument/2006/relationships/diagramQuickStyle" Target="../diagrams/quickStyle46.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8.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8.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8.xml"/><Relationship Id="rId9" Type="http://schemas.openxmlformats.org/officeDocument/2006/relationships/hyperlink" Target="https://github.com/sandipray63in/DDD-Based-Enterprise-Application-Framework/tree/master/Testing.FluentRepository" TargetMode="Externa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49.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7" Type="http://schemas.openxmlformats.org/officeDocument/2006/relationships/hyperlink" Target="https://gist.github.com/sandipray63in/448c197d9a6af1b7c1621e2857294075" TargetMode="Externa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52.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11" Type="http://schemas.openxmlformats.org/officeDocument/2006/relationships/hyperlink" Target="https://paulstovell.com/weakevents/" TargetMode="External"/><Relationship Id="rId5" Type="http://schemas.openxmlformats.org/officeDocument/2006/relationships/diagramColors" Target="../diagrams/colors52.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52.xml"/><Relationship Id="rId9" Type="http://schemas.openxmlformats.org/officeDocument/2006/relationships/hyperlink" Target="https://www.codeproject.com/Articles/664282/Understanding-weak-references-in-NET" TargetMode="External"/></Relationships>
</file>

<file path=ppt/slides/_rels/slide53.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53.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53.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53.xml"/><Relationship Id="rId9" Type="http://schemas.openxmlformats.org/officeDocument/2006/relationships/hyperlink" Target="https://blog.bytebytego.com/p/ep125-how-does-garbage-collection?open=false#%C2%A7how-does-garbage-collection-work" TargetMode="Externa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3" Type="http://schemas.openxmlformats.org/officeDocument/2006/relationships/diagramLayout" Target="../diagrams/layout55.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6.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56.xml"/><Relationship Id="rId7" Type="http://schemas.openxmlformats.org/officeDocument/2006/relationships/image" Target="../media/image5.jpe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google_vignette" TargetMode="External"/><Relationship Id="rId3" Type="http://schemas.openxmlformats.org/officeDocument/2006/relationships/diagramLayout" Target="../diagrams/layout57.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7.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7.xml"/><Relationship Id="rId9" Type="http://schemas.openxmlformats.org/officeDocument/2006/relationships/hyperlink" Target="https://learn.microsoft.com/en-us/windows/win32/procthread/thread-pools"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Layout" Target="../diagrams/layout59.xml"/><Relationship Id="rId7" Type="http://schemas.openxmlformats.org/officeDocument/2006/relationships/hyperlink" Target="https://www.wallarm.com/what/what-is-a-race-condition" TargetMode="External"/><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 Id="rId9" Type="http://schemas.openxmlformats.org/officeDocument/2006/relationships/hyperlink" Target="https://blog.bytebytego.com/p/ep112-what-is-a-deadlock" TargetMode="External"/></Relationships>
</file>

<file path=ppt/slides/_rels/slide60.xml.rels><?xml version="1.0" encoding="UTF-8" standalone="yes"?>
<Relationships xmlns="http://schemas.openxmlformats.org/package/2006/relationships"><Relationship Id="rId3" Type="http://schemas.openxmlformats.org/officeDocument/2006/relationships/diagramLayout" Target="../diagrams/layout60.xm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s>
</file>

<file path=ppt/slides/_rels/slide61.xml.rels><?xml version="1.0" encoding="UTF-8" standalone="yes"?>
<Relationships xmlns="http://schemas.openxmlformats.org/package/2006/relationships"><Relationship Id="rId3" Type="http://schemas.openxmlformats.org/officeDocument/2006/relationships/diagramLayout" Target="../diagrams/layout61.xml"/><Relationship Id="rId7" Type="http://schemas.openxmlformats.org/officeDocument/2006/relationships/image" Target="../media/image7.png"/><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4" Type="http://schemas.openxmlformats.org/officeDocument/2006/relationships/diagramQuickStyle" Target="../diagrams/quickStyle61.xm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1795143/synchronization-between-two-processes-in-c" TargetMode="External"/><Relationship Id="rId3" Type="http://schemas.openxmlformats.org/officeDocument/2006/relationships/diagramLayout" Target="../diagrams/layout62.xml"/><Relationship Id="rId7" Type="http://schemas.openxmlformats.org/officeDocument/2006/relationships/image" Target="../media/image8.png"/><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4" Type="http://schemas.openxmlformats.org/officeDocument/2006/relationships/diagramQuickStyle" Target="../diagrams/quickStyle62.xml"/><Relationship Id="rId9" Type="http://schemas.openxmlformats.org/officeDocument/2006/relationships/hyperlink" Target="https://iq.direct/blog/54-using-c-mutexes-for-inter-interprocess-synchronization.html" TargetMode="Externa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63.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5" Type="http://schemas.openxmlformats.org/officeDocument/2006/relationships/diagramColors" Target="../diagrams/colors63.xml"/><Relationship Id="rId4" Type="http://schemas.openxmlformats.org/officeDocument/2006/relationships/diagramQuickStyle" Target="../diagrams/quickStyle63.xml"/></Relationships>
</file>

<file path=ppt/slides/_rels/slide64.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64.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10" Type="http://schemas.openxmlformats.org/officeDocument/2006/relationships/hyperlink" Target="https://www.infoworld.com/article/2336878/how-to-use-cancellation-tokens-in-aspnet-core-7.html" TargetMode="External"/><Relationship Id="rId4" Type="http://schemas.openxmlformats.org/officeDocument/2006/relationships/diagramQuickStyle" Target="../diagrams/quickStyle64.xml"/><Relationship Id="rId9" Type="http://schemas.openxmlformats.org/officeDocument/2006/relationships/hyperlink" Target="https://www.albahari.com/threading/part3.aspx#_Safe_Cancellation" TargetMode="Externa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7" Type="http://schemas.openxmlformats.org/officeDocument/2006/relationships/image" Target="../media/image10.png"/><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19459905/locks-vs-compare-and-swap" TargetMode="External"/><Relationship Id="rId13" Type="http://schemas.openxmlformats.org/officeDocument/2006/relationships/hyperlink" Target="https://github.com/Wintellect/PowerThreading" TargetMode="External"/><Relationship Id="rId18" Type="http://schemas.openxmlformats.org/officeDocument/2006/relationships/hyperlink" Target="https://dev.to/lucasnscr/multithreading-and-patterns-4nmk" TargetMode="External"/><Relationship Id="rId3" Type="http://schemas.openxmlformats.org/officeDocument/2006/relationships/diagramLayout" Target="../diagrams/layout67.xml"/><Relationship Id="rId21" Type="http://schemas.openxmlformats.org/officeDocument/2006/relationships/hyperlink" Target="https://www.udemy.com/course/multithreading-design-patterns/" TargetMode="Externa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MikeMKH/concurrency-in-csharp-cookbook" TargetMode="External"/><Relationship Id="rId17" Type="http://schemas.openxmlformats.org/officeDocument/2006/relationships/hyperlink" Target="https://tamerlan.dev/multithreading-principles-and-patterns/" TargetMode="External"/><Relationship Id="rId25" Type="http://schemas.openxmlformats.org/officeDocument/2006/relationships/hyperlink" Target="https://stackoverflow.com/questions/4153118/list-of-concurrency-models" TargetMode="External"/><Relationship Id="rId2" Type="http://schemas.openxmlformats.org/officeDocument/2006/relationships/diagramData" Target="../diagrams/data67.xml"/><Relationship Id="rId16" Type="http://schemas.openxmlformats.org/officeDocument/2006/relationships/hyperlink" Target="https://github.com/rikace/fConcBook" TargetMode="External"/><Relationship Id="rId20" Type="http://schemas.openxmlformats.org/officeDocument/2006/relationships/hyperlink" Target="https://learn.microsoft.com/en-us/visualstudio/profiling/common-patterns-for-poorly-behaved-multithreaded-applications?view=vs-2022&amp;viewFallbackFrom=vs-202" TargetMode="External"/><Relationship Id="rId1" Type="http://schemas.openxmlformats.org/officeDocument/2006/relationships/slideLayout" Target="../slideLayouts/slideLayout2.xml"/><Relationship Id="rId6" Type="http://schemas.microsoft.com/office/2007/relationships/diagramDrawing" Target="../diagrams/drawing67.xml"/><Relationship Id="rId11" Type="http://schemas.openxmlformats.org/officeDocument/2006/relationships/hyperlink" Target="https://stackoverflow.com/questions/37787954/check-the-number-of-threads-available-in-threadpool-at-any-time" TargetMode="External"/><Relationship Id="rId24" Type="http://schemas.openxmlformats.org/officeDocument/2006/relationships/hyperlink" Target="https://pragprog.com/titles/pb7con/seven-concurrency-models-in-seven-weeks/" TargetMode="External"/><Relationship Id="rId5" Type="http://schemas.openxmlformats.org/officeDocument/2006/relationships/diagramColors" Target="../diagrams/colors67.xml"/><Relationship Id="rId15" Type="http://schemas.openxmlformats.org/officeDocument/2006/relationships/hyperlink" Target="https://github.com/2DGD-F0TH/2DGD_F0TH/blob/master/chapters/001_Introduction/001_Introduction.md" TargetMode="External"/><Relationship Id="rId23" Type="http://schemas.openxmlformats.org/officeDocument/2006/relationships/hyperlink" Target="https://github.com/sundaygeek/design-patterns-for-embedded-system-in-c" TargetMode="External"/><Relationship Id="rId10" Type="http://schemas.openxmlformats.org/officeDocument/2006/relationships/hyperlink" Target="https://github.com/PacktPublishing/MultithreadingwithCSharpCookbookSecondEdition_Code" TargetMode="External"/><Relationship Id="rId19" Type="http://schemas.openxmlformats.org/officeDocument/2006/relationships/hyperlink" Target="https://web.stanford.edu/class/archive/cs/cs110/cs110.1202/static/lectures/12-multithreading-patterns-data-structures.pdf" TargetMode="External"/><Relationship Id="rId4" Type="http://schemas.openxmlformats.org/officeDocument/2006/relationships/diagramQuickStyle" Target="../diagrams/quickStyle67.xml"/><Relationship Id="rId9" Type="http://schemas.openxmlformats.org/officeDocument/2006/relationships/hyperlink" Target="https://stackoverflow.com/questions/44123180/lock-splitting-vs-lock-striping" TargetMode="External"/><Relationship Id="rId14" Type="http://schemas.openxmlformats.org/officeDocument/2006/relationships/hyperlink" Target="https://www.syncfusion.com/succinctly-free-ebooks/webservers" TargetMode="External"/><Relationship Id="rId22" Type="http://schemas.openxmlformats.org/officeDocument/2006/relationships/hyperlink" Target="https://www.amazon.in/gp/product/B0BWSHK2M5/ref=ox_sc_act_title_?smid=A3SI5I1JWQ14PC&amp;psc=1"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8.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8.xml"/><Relationship Id="rId9" Type="http://schemas.openxmlformats.org/officeDocument/2006/relationships/hyperlink" Target="https://www.albahari.com/threading/part5.aspx#_The_Parallel_Class" TargetMode="External"/></Relationships>
</file>

<file path=ppt/slides/_rels/slide69.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69.xml"/><Relationship Id="rId21" Type="http://schemas.openxmlformats.org/officeDocument/2006/relationships/hyperlink" Target="https://www.udemy.com/course/rtos-building-from-ground-up-on-arm-processors/?couponCode=NVDIN35"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69.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69.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69.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NVDIN35"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69.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70.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70.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70.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70.xml"/><Relationship Id="rId9" Type="http://schemas.openxmlformats.org/officeDocument/2006/relationships/hyperlink" Target="https://devblogs.microsoft.com/pfxteam/await-anything/" TargetMode="Externa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71.xml"/><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3" Type="http://schemas.openxmlformats.org/officeDocument/2006/relationships/diagramLayout" Target="../diagrams/layout72.xml"/><Relationship Id="rId7" Type="http://schemas.openxmlformats.org/officeDocument/2006/relationships/image" Target="../media/image11.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4" Type="http://schemas.openxmlformats.org/officeDocument/2006/relationships/diagramQuickStyle" Target="../diagrams/quickStyle72.xm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74.xml"/><Relationship Id="rId7" Type="http://schemas.openxmlformats.org/officeDocument/2006/relationships/image" Target="../media/image12.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 Id="rId9" Type="http://schemas.openxmlformats.org/officeDocument/2006/relationships/hyperlink" Target="https://learn.microsoft.com/en-us/dotnet/api/system.io.streamreader.peek?view=net-8.0" TargetMode="External"/></Relationships>
</file>

<file path=ppt/slides/_rels/slide75.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75.xml"/><Relationship Id="rId7" Type="http://schemas.openxmlformats.org/officeDocument/2006/relationships/image" Target="../media/image13.PNG"/><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6.xml"/><Relationship Id="rId7" Type="http://schemas.openxmlformats.org/officeDocument/2006/relationships/image" Target="../media/image14.PNG"/><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77.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7.xml"/><Relationship Id="rId7" Type="http://schemas.openxmlformats.org/officeDocument/2006/relationships/image" Target="../media/image15.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7.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7.xml"/><Relationship Id="rId9" Type="http://schemas.openxmlformats.org/officeDocument/2006/relationships/hyperlink" Target="https://learn.microsoft.com/en-us/dotnet/api/system.io?view=net-8.0" TargetMode="External"/></Relationships>
</file>

<file path=ppt/slides/_rels/slide78.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8.xml"/><Relationship Id="rId7" Type="http://schemas.openxmlformats.org/officeDocument/2006/relationships/image" Target="../media/image16.gif"/><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blog.bytebytego.com/p/http1-vs-http2-vs-http3-a-deep-dive" TargetMode="External"/><Relationship Id="rId13" Type="http://schemas.openxmlformats.org/officeDocument/2006/relationships/hyperlink" Target="https://github.com/VasanthVanan/computer-networking-top-down-approach-notes" TargetMode="External"/><Relationship Id="rId18" Type="http://schemas.openxmlformats.org/officeDocument/2006/relationships/hyperlink" Target="https://stackoverflow.com/questions/4263116/wireshark-vs-firebug-vs-fiddler-pros-and-cons" TargetMode="External"/><Relationship Id="rId3" Type="http://schemas.openxmlformats.org/officeDocument/2006/relationships/diagramLayout" Target="../diagrams/layout79.xml"/><Relationship Id="rId7" Type="http://schemas.openxmlformats.org/officeDocument/2006/relationships/image" Target="../media/image17.png"/><Relationship Id="rId12" Type="http://schemas.openxmlformats.org/officeDocument/2006/relationships/hyperlink" Target="https://www.oreilly.com/library/view/head-first-networking/9780596804398/" TargetMode="External"/><Relationship Id="rId17" Type="http://schemas.openxmlformats.org/officeDocument/2006/relationships/hyperlink" Target="https://www.simplilearn.com/tutorials/cyber-security-tutorial/what-is-checksum" TargetMode="External"/><Relationship Id="rId2" Type="http://schemas.openxmlformats.org/officeDocument/2006/relationships/diagramData" Target="../diagrams/data79.xml"/><Relationship Id="rId16" Type="http://schemas.openxmlformats.org/officeDocument/2006/relationships/hyperlink" Target="https://hpbn.co/" TargetMode="External"/><Relationship Id="rId1" Type="http://schemas.openxmlformats.org/officeDocument/2006/relationships/slideLayout" Target="../slideLayouts/slideLayout2.xml"/><Relationship Id="rId6" Type="http://schemas.microsoft.com/office/2007/relationships/diagramDrawing" Target="../diagrams/drawing79.xml"/><Relationship Id="rId11" Type="http://schemas.openxmlformats.org/officeDocument/2006/relationships/hyperlink" Target="https://stackoverflow.com/questions/107668/what-do-you-use-when-you-need-reliable-udp" TargetMode="External"/><Relationship Id="rId5" Type="http://schemas.openxmlformats.org/officeDocument/2006/relationships/diagramColors" Target="../diagrams/colors79.xml"/><Relationship Id="rId15" Type="http://schemas.openxmlformats.org/officeDocument/2006/relationships/hyperlink" Target="https://learn.microsoft.com/en-us/dotnet/fundamentals/networking/overview" TargetMode="External"/><Relationship Id="rId10" Type="http://schemas.openxmlformats.org/officeDocument/2006/relationships/hyperlink" Target="https://en.wikipedia.org/wiki/Reliable_User_Datagram_Protocol" TargetMode="External"/><Relationship Id="rId4" Type="http://schemas.openxmlformats.org/officeDocument/2006/relationships/diagramQuickStyle" Target="../diagrams/quickStyle79.xml"/><Relationship Id="rId9" Type="http://schemas.openxmlformats.org/officeDocument/2006/relationships/hyperlink" Target="https://www.linkedin.com/posts/curiouslearner_softwaredevelopment-network-technology-activity-7186228909519077376-PMns/" TargetMode="External"/><Relationship Id="rId14" Type="http://schemas.openxmlformats.org/officeDocument/2006/relationships/hyperlink" Target="https://github.com/PacktPublishing/Hands-On-Network-Programming-with-CSharp-and-.NET-Core" TargetMode="External"/></Relationships>
</file>

<file path=ppt/slides/_rels/slide80.xml.rels><?xml version="1.0" encoding="UTF-8" standalone="yes"?>
<Relationships xmlns="http://schemas.openxmlformats.org/package/2006/relationships"><Relationship Id="rId3" Type="http://schemas.openxmlformats.org/officeDocument/2006/relationships/diagramLayout" Target="../diagrams/layout80.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81.xm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82.xml.rels><?xml version="1.0" encoding="UTF-8" standalone="yes"?>
<Relationships xmlns="http://schemas.openxmlformats.org/package/2006/relationships"><Relationship Id="rId8" Type="http://schemas.openxmlformats.org/officeDocument/2006/relationships/hyperlink" Target="https://stackoverflow.com/questions/2366921/reflection-emit-vs-codedom"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82.xml"/><Relationship Id="rId7" Type="http://schemas.openxmlformats.org/officeDocument/2006/relationships/hyperlink" Target="https://topic.alibabacloud.com/a/code-generation-technology-codedom-vs-t4_8_8_32071393.html" TargetMode="External"/><Relationship Id="rId12" Type="http://schemas.openxmlformats.org/officeDocument/2006/relationships/hyperlink" Target="https://www.codeproject.com/Articles/5253617/CodeDOM-Go-Kit-The-CodeDOM-is-Dead-Long-Live-the-C"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11" Type="http://schemas.openxmlformats.org/officeDocument/2006/relationships/hyperlink" Target="https://www.syncfusion.com/succinctly-free-ebooks/t4succinctly" TargetMode="External"/><Relationship Id="rId5" Type="http://schemas.openxmlformats.org/officeDocument/2006/relationships/diagramColors" Target="../diagrams/colors82.xml"/><Relationship Id="rId15" Type="http://schemas.openxmlformats.org/officeDocument/2006/relationships/hyperlink" Target="https://stackoverflow.com/questions/683620/what-is-the-best-resource-for-learning-c-sharp-expression-trees-in-depth" TargetMode="External"/><Relationship Id="rId10" Type="http://schemas.openxmlformats.org/officeDocument/2006/relationships/hyperlink" Target="https://www.hanselman.com/blog/t4-text-template-transformation-toolkit-code-generation-best-kept-visual-studio-secret" TargetMode="External"/><Relationship Id="rId4" Type="http://schemas.openxmlformats.org/officeDocument/2006/relationships/diagramQuickStyle" Target="../diagrams/quickStyle82.xml"/><Relationship Id="rId9" Type="http://schemas.openxmlformats.org/officeDocument/2006/relationships/hyperlink" Target="https://jeremydmiller.com/2015/11/11/using-roslyn-for-runtime-code-generation-in-marten/" TargetMode="External"/><Relationship Id="rId14" Type="http://schemas.openxmlformats.org/officeDocument/2006/relationships/hyperlink" Target="https://bagoum.medium.com/dynamic-code-generation-in-c-with-expression-trees-2ec4eebcb8ec" TargetMode="External"/></Relationships>
</file>

<file path=ppt/slides/_rels/slide83.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83.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www.freecodecamp.org/news/how-to-automatically-generate-code-snippets-visual-studio/"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11" Type="http://schemas.openxmlformats.org/officeDocument/2006/relationships/hyperlink" Target="https://www.syncfusion.com/succinctly-free-ebooks/roslyn" TargetMode="External"/><Relationship Id="rId5" Type="http://schemas.openxmlformats.org/officeDocument/2006/relationships/diagramColors" Target="../diagrams/colors83.xml"/><Relationship Id="rId15" Type="http://schemas.openxmlformats.org/officeDocument/2006/relationships/hyperlink" Target="http://www.voelter.de/data/pub/ProgramGeneration.pdf" TargetMode="External"/><Relationship Id="rId10" Type="http://schemas.openxmlformats.org/officeDocument/2006/relationships/hyperlink" Target="https://learn.microsoft.com/en-us/dotnet/csharp/roslyn-sdk/#source-generators" TargetMode="External"/><Relationship Id="rId4" Type="http://schemas.openxmlformats.org/officeDocument/2006/relationships/diagramQuickStyle" Target="../diagrams/quickStyle83.xml"/><Relationship Id="rId9" Type="http://schemas.openxmlformats.org/officeDocument/2006/relationships/hyperlink" Target="https://thecodeman.net/posts/source-generators-deep-dive" TargetMode="External"/><Relationship Id="rId14" Type="http://schemas.openxmlformats.org/officeDocument/2006/relationships/hyperlink" Target="https://stackoverflow.com/questions/44435759/automapper-map-if-source-member-is-null" TargetMode="Externa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 TargetMode="External"/><Relationship Id="rId3" Type="http://schemas.openxmlformats.org/officeDocument/2006/relationships/diagramLayout" Target="../diagrams/layout84.xml"/><Relationship Id="rId7" Type="http://schemas.openxmlformats.org/officeDocument/2006/relationships/hyperlink" Target="https://blog.georgekosmidis.net/early-vs-late-binding-reflection-and-type-dynamic-in-csharp.html"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85.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86.xml.rels><?xml version="1.0" encoding="UTF-8" standalone="yes"?>
<Relationships xmlns="http://schemas.openxmlformats.org/package/2006/relationships"><Relationship Id="rId8" Type="http://schemas.openxmlformats.org/officeDocument/2006/relationships/hyperlink" Target="https://www.postsharp.net/solutions/msil-rewriting" TargetMode="External"/><Relationship Id="rId3" Type="http://schemas.openxmlformats.org/officeDocument/2006/relationships/diagramLayout" Target="../diagrams/layout86.xml"/><Relationship Id="rId7" Type="http://schemas.openxmlformats.org/officeDocument/2006/relationships/hyperlink" Target="https://www.jot.fm/issues/issue_2007_03/article1/"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6.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6.xml"/><Relationship Id="rId9" Type="http://schemas.openxmlformats.org/officeDocument/2006/relationships/hyperlink" Target="https://www.postsharp.net/solutions/middleware"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www.manning.com/books/metaprogramming-in-dot-net" TargetMode="External"/><Relationship Id="rId3" Type="http://schemas.openxmlformats.org/officeDocument/2006/relationships/diagramLayout" Target="../diagrams/layout87.xml"/><Relationship Id="rId7" Type="http://schemas.openxmlformats.org/officeDocument/2006/relationships/hyperlink" Target="https://github.com/PacktPublishing/Metaprogramming-in-C-Sharp"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88.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88.xml"/><Relationship Id="rId9" Type="http://schemas.openxmlformats.org/officeDocument/2006/relationships/hyperlink" Target="https://stackoverflow.com/questions/49288920/net-use-application-config-file-to-load-an-assembly-that-is-referenced-by-anoth"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9.xml"/><Relationship Id="rId7" Type="http://schemas.openxmlformats.org/officeDocument/2006/relationships/image" Target="../media/image18.jpeg"/><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medium.com/@heytherewill/rx-net-in-the-real-world-be61e0287a93" TargetMode="Externa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90.xml"/><Relationship Id="rId7" Type="http://schemas.openxmlformats.org/officeDocument/2006/relationships/hyperlink" Target="https://www.baeldung.com/solid-principles"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91.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91.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 Id="rId9" Type="http://schemas.openxmlformats.org/officeDocument/2006/relationships/hyperlink" Target="https://www.boldare.com/blog/solid-cupid-grasp-principles-object-oriented-design/"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92.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3.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Lazy_initialization" TargetMode="External"/><Relationship Id="rId3" Type="http://schemas.openxmlformats.org/officeDocument/2006/relationships/diagramLayout" Target="../diagrams/layout93.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Abstract_factory_pattern" TargetMode="External"/><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11" Type="http://schemas.openxmlformats.org/officeDocument/2006/relationships/hyperlink" Target="https://en.wikipedia.org/wiki/Prototype_pattern" TargetMode="External"/><Relationship Id="rId5" Type="http://schemas.openxmlformats.org/officeDocument/2006/relationships/diagramColors" Target="../diagrams/colors93.xml"/><Relationship Id="rId10" Type="http://schemas.openxmlformats.org/officeDocument/2006/relationships/hyperlink" Target="https://en.wikipedia.org/wiki/Multiton_pattern" TargetMode="External"/><Relationship Id="rId4" Type="http://schemas.openxmlformats.org/officeDocument/2006/relationships/diagramQuickStyle" Target="../diagrams/quickStyle93.xml"/><Relationship Id="rId9" Type="http://schemas.openxmlformats.org/officeDocument/2006/relationships/hyperlink" Target="https://github.com/sandipray63in/DDD-Based-Enterprise-Application-Framework/blob/master/Infrastructure/DI/Container.cs" TargetMode="External"/><Relationship Id="rId14" Type="http://schemas.openxmlformats.org/officeDocument/2006/relationships/hyperlink" Target="https://en.wikipedia.org/wiki/Object_pool_pattern" TargetMode="External"/></Relationships>
</file>

<file path=ppt/slides/_rels/slide94.xml.rels><?xml version="1.0" encoding="UTF-8" standalone="yes"?>
<Relationships xmlns="http://schemas.openxmlformats.org/package/2006/relationships"><Relationship Id="rId8" Type="http://schemas.openxmlformats.org/officeDocument/2006/relationships/hyperlink" Target="https://refactoring.guru/design-patterns/bridge" TargetMode="External"/><Relationship Id="rId13" Type="http://schemas.openxmlformats.org/officeDocument/2006/relationships/hyperlink" Target="https://stackoverflow.com/questions/4380658/what-is-the-reason-for-the-name-of-the-flyweight-design-pattern" TargetMode="External"/><Relationship Id="rId3" Type="http://schemas.openxmlformats.org/officeDocument/2006/relationships/diagramLayout" Target="../diagrams/layout94.xml"/><Relationship Id="rId7" Type="http://schemas.openxmlformats.org/officeDocument/2006/relationships/hyperlink" Target="https://en.wikipedia.org/wiki/Adapter_pattern" TargetMode="External"/><Relationship Id="rId12" Type="http://schemas.openxmlformats.org/officeDocument/2006/relationships/hyperlink" Target="https://en.wikipedia.org/wiki/Flyweight_pattern"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en.wikipedia.org/wiki/Decorator_pattern" TargetMode="External"/><Relationship Id="rId5" Type="http://schemas.openxmlformats.org/officeDocument/2006/relationships/diagramColors" Target="../diagrams/colors94.xml"/><Relationship Id="rId15" Type="http://schemas.openxmlformats.org/officeDocument/2006/relationships/hyperlink" Target="https://en.wikipedia.org/wiki/Proxy_pattern" TargetMode="External"/><Relationship Id="rId10" Type="http://schemas.openxmlformats.org/officeDocument/2006/relationships/hyperlink" Target="https://refactoring.guru/design-patterns/composite" TargetMode="External"/><Relationship Id="rId4" Type="http://schemas.openxmlformats.org/officeDocument/2006/relationships/diagramQuickStyle" Target="../diagrams/quickStyle94.xml"/><Relationship Id="rId9" Type="http://schemas.openxmlformats.org/officeDocument/2006/relationships/hyperlink" Target="https://github.com/sandipray63in/DDD-Based-Enterprise-Application-Framework/blob/master/Repository/Base/IQueryableRepository.cs" TargetMode="External"/><Relationship Id="rId14" Type="http://schemas.openxmlformats.org/officeDocument/2006/relationships/hyperlink" Target="https://en.wikipedia.org/wiki/Facade_pattern" TargetMode="External"/></Relationships>
</file>

<file path=ppt/slides/_rels/slide95.xml.rels><?xml version="1.0" encoding="UTF-8" standalone="yes"?>
<Relationships xmlns="http://schemas.openxmlformats.org/package/2006/relationships"><Relationship Id="rId8" Type="http://schemas.openxmlformats.org/officeDocument/2006/relationships/hyperlink" Target="https://thecodeman.net/posts/chain-responsibility-pattern" TargetMode="External"/><Relationship Id="rId3" Type="http://schemas.openxmlformats.org/officeDocument/2006/relationships/diagramLayout" Target="../diagrams/layout95.xml"/><Relationship Id="rId7" Type="http://schemas.openxmlformats.org/officeDocument/2006/relationships/hyperlink" Target="https://en.wikipedia.org/wiki/Chain-of-responsibility_pattern" TargetMode="External"/><Relationship Id="rId12" Type="http://schemas.openxmlformats.org/officeDocument/2006/relationships/hyperlink" Target="https://github.com/sandipray63in/DDD-Based-Enterprise-Application-Framework/blob/master/ApplicationAndInfrastructureServices/BatchProcessing/BaseBatchSeedSelector.cs"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11" Type="http://schemas.openxmlformats.org/officeDocument/2006/relationships/hyperlink" Target="https://en.wikipedia.org/wiki/Aggregate_pattern" TargetMode="External"/><Relationship Id="rId5" Type="http://schemas.openxmlformats.org/officeDocument/2006/relationships/diagramColors" Target="../diagrams/colors95.xml"/><Relationship Id="rId10" Type="http://schemas.openxmlformats.org/officeDocument/2006/relationships/hyperlink" Target="https://en.wikipedia.org/wiki/Interpreter_pattern" TargetMode="External"/><Relationship Id="rId4" Type="http://schemas.openxmlformats.org/officeDocument/2006/relationships/diagramQuickStyle" Target="../diagrams/quickStyle95.xml"/><Relationship Id="rId9" Type="http://schemas.openxmlformats.org/officeDocument/2006/relationships/hyperlink" Target="https://refactoring.guru/design-patterns/command" TargetMode="External"/></Relationships>
</file>

<file path=ppt/slides/_rels/slide96.xml.rels><?xml version="1.0" encoding="UTF-8" standalone="yes"?>
<Relationships xmlns="http://schemas.openxmlformats.org/package/2006/relationships"><Relationship Id="rId8" Type="http://schemas.openxmlformats.org/officeDocument/2006/relationships/hyperlink" Target="https://www.milanjovanovic.tech/blog/cqrs-pattern-with-mediatr" TargetMode="External"/><Relationship Id="rId13" Type="http://schemas.openxmlformats.org/officeDocument/2006/relationships/hyperlink" Target="https://refactoring.guru/design-patterns/state" TargetMode="External"/><Relationship Id="rId18" Type="http://schemas.openxmlformats.org/officeDocument/2006/relationships/hyperlink" Target="https://en.wikipedia.org/wiki/Strategy_pattern" TargetMode="External"/><Relationship Id="rId3" Type="http://schemas.openxmlformats.org/officeDocument/2006/relationships/diagramLayout" Target="../diagrams/layout96.xml"/><Relationship Id="rId7" Type="http://schemas.openxmlformats.org/officeDocument/2006/relationships/hyperlink" Target="https://refactoring.guru/design-patterns/mediator" TargetMode="External"/><Relationship Id="rId12" Type="http://schemas.openxmlformats.org/officeDocument/2006/relationships/hyperlink" Target="https://www.codeproject.com/Articles/851437/SignalR-plus-RX-Streaming-Data-Demo-App-of" TargetMode="External"/><Relationship Id="rId17" Type="http://schemas.openxmlformats.org/officeDocument/2006/relationships/hyperlink" Target="https://www.udemy.com/course/embedded-system-design-using-uml-state-machines/" TargetMode="External"/><Relationship Id="rId2" Type="http://schemas.openxmlformats.org/officeDocument/2006/relationships/diagramData" Target="../diagrams/data96.xml"/><Relationship Id="rId16" Type="http://schemas.openxmlformats.org/officeDocument/2006/relationships/hyperlink" Target="https://www.informit.com/articles/article.aspx?p=1592379" TargetMode="External"/><Relationship Id="rId20" Type="http://schemas.openxmlformats.org/officeDocument/2006/relationships/hyperlink" Target="https://www.linkedin.com/pulse/book-review-software-architecture-juval-lowy-michael-rarela-fiabf/"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sandipray63in/DDD-Based-Enterprise-Application-Framework/tree/master/Infrastructure/Observers" TargetMode="External"/><Relationship Id="rId5" Type="http://schemas.openxmlformats.org/officeDocument/2006/relationships/diagramColors" Target="../diagrams/colors96.xml"/><Relationship Id="rId15" Type="http://schemas.openxmlformats.org/officeDocument/2006/relationships/hyperlink" Target="https://docs.mlrun.org/en/latest/serving/realtime-pipelines.html" TargetMode="External"/><Relationship Id="rId10" Type="http://schemas.openxmlformats.org/officeDocument/2006/relationships/hyperlink" Target="https://refactoring.guru/design-patterns/observer" TargetMode="External"/><Relationship Id="rId19" Type="http://schemas.openxmlformats.org/officeDocument/2006/relationships/hyperlink" Target="https://www.linkedin.com/pulse/book-review-software-architecture-juval-lowy-michael-rarela-fiabf" TargetMode="External"/><Relationship Id="rId4" Type="http://schemas.openxmlformats.org/officeDocument/2006/relationships/diagramQuickStyle" Target="../diagrams/quickStyle96.xml"/><Relationship Id="rId9" Type="http://schemas.openxmlformats.org/officeDocument/2006/relationships/hyperlink" Target="https://refactoring.guru/design-patterns/memento" TargetMode="External"/><Relationship Id="rId14" Type="http://schemas.openxmlformats.org/officeDocument/2006/relationships/hyperlink" Target="https://blog.ploeh.dk/2015/08/10/type-driven-development/" TargetMode="External"/></Relationships>
</file>

<file path=ppt/slides/_rels/slide97.xml.rels><?xml version="1.0" encoding="UTF-8" standalone="yes"?>
<Relationships xmlns="http://schemas.openxmlformats.org/package/2006/relationships"><Relationship Id="rId8" Type="http://schemas.openxmlformats.org/officeDocument/2006/relationships/hyperlink" Target="https://refactoring.guru/design-patterns/visitor" TargetMode="External"/><Relationship Id="rId3" Type="http://schemas.openxmlformats.org/officeDocument/2006/relationships/diagramLayout" Target="../diagrams/layout97.xml"/><Relationship Id="rId7" Type="http://schemas.openxmlformats.org/officeDocument/2006/relationships/hyperlink" Target="https://en.wikipedia.org/wiki/Template_method_pattern"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11" Type="http://schemas.openxmlformats.org/officeDocument/2006/relationships/hyperlink" Target="https://www.linkedin.com/posts/dinesh-varyani_design-patterns-ugcPost-7273302040896823296-fJyN/?utm_source=share&amp;utm_medium=member_desktop" TargetMode="External"/><Relationship Id="rId5" Type="http://schemas.openxmlformats.org/officeDocument/2006/relationships/diagramColors" Target="../diagrams/colors97.xml"/><Relationship Id="rId10" Type="http://schemas.openxmlformats.org/officeDocument/2006/relationships/hyperlink" Target="https://refactoring.guru/design-patterns" TargetMode="External"/><Relationship Id="rId4" Type="http://schemas.openxmlformats.org/officeDocument/2006/relationships/diagramQuickStyle" Target="../diagrams/quickStyle97.xml"/><Relationship Id="rId9" Type="http://schemas.openxmlformats.org/officeDocument/2006/relationships/hyperlink" Target="https://en.wikipedia.org/wiki/Software_design_pattern" TargetMode="External"/></Relationships>
</file>

<file path=ppt/slides/_rels/slide98.xml.rels><?xml version="1.0" encoding="UTF-8" standalone="yes"?>
<Relationships xmlns="http://schemas.openxmlformats.org/package/2006/relationships"><Relationship Id="rId8" Type="http://schemas.openxmlformats.org/officeDocument/2006/relationships/hyperlink" Target="https://stackoverflow.com/questions/42582758/asp-net-core-middleware-vs-filters" TargetMode="External"/><Relationship Id="rId3" Type="http://schemas.openxmlformats.org/officeDocument/2006/relationships/diagramLayout" Target="../diagrams/layout98.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10" Type="http://schemas.openxmlformats.org/officeDocument/2006/relationships/hyperlink" Target="https://learn.microsoft.com/en-us/aspnet/core/grpc/interceptors?view=aspnetcore-8.0" TargetMode="External"/><Relationship Id="rId4" Type="http://schemas.openxmlformats.org/officeDocument/2006/relationships/diagramQuickStyle" Target="../diagrams/quickStyle98.xml"/><Relationship Id="rId9" Type="http://schemas.openxmlformats.org/officeDocument/2006/relationships/hyperlink" Target="https://www.asp.net/media/4071077/aspnet-web-api-poster.pdf" TargetMode="External"/></Relationships>
</file>

<file path=ppt/slides/_rels/slide99.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9.xml"/><Relationship Id="rId7" Type="http://schemas.openxmlformats.org/officeDocument/2006/relationships/hyperlink" Target="https://www.infoq.com/news/2011/04/WCF-Extensibility/" TargetMode="External"/><Relationship Id="rId12" Type="http://schemas.openxmlformats.org/officeDocument/2006/relationships/hyperlink" Target="https://www.syncfusion.com/succinctly-free-ebooks?category=all&amp;searchkey=Simone%20Chiaretta%20and%20Ugo%20Lattanzi&amp;type=all" TargetMode="Externa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11" Type="http://schemas.openxmlformats.org/officeDocument/2006/relationships/hyperlink" Target="https://learn.microsoft.com/en-us/previous-versions/aspnet/hh833994(v=vs.108)" TargetMode="External"/><Relationship Id="rId5" Type="http://schemas.openxmlformats.org/officeDocument/2006/relationships/diagramColors" Target="../diagrams/colors99.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9.xml"/><Relationship Id="rId9" Type="http://schemas.openxmlformats.org/officeDocument/2006/relationships/hyperlink" Target="https://stackoverflow.com/questions/6449132/http-handler-vs-http-module" TargetMode="External"/></Relationships>
</file>

<file path=ppt/slides/_rels/slide100.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100.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11" Type="http://schemas.openxmlformats.org/officeDocument/2006/relationships/hyperlink" Target="https://anuraj.dev/blog/using-mef-in-dotnet-core/" TargetMode="External"/><Relationship Id="rId5" Type="http://schemas.openxmlformats.org/officeDocument/2006/relationships/diagramColors" Target="../diagrams/colors100.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100.xml"/><Relationship Id="rId9" Type="http://schemas.openxmlformats.org/officeDocument/2006/relationships/hyperlink" Target="https://stackoverflow.com/questions/59019761/does-assemblyloadcontext-isolate-static-variables" TargetMode="Externa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1.xml"/><Relationship Id="rId7" Type="http://schemas.openxmlformats.org/officeDocument/2006/relationships/image" Target="../media/image19.png"/><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5" Type="http://schemas.openxmlformats.org/officeDocument/2006/relationships/diagramColors" Target="../diagrams/colors101.xml"/><Relationship Id="rId4" Type="http://schemas.openxmlformats.org/officeDocument/2006/relationships/diagramQuickStyle" Target="../diagrams/quickStyle101.xml"/></Relationships>
</file>

<file path=ppt/slides/_rels/slide102.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102.xml"/><Relationship Id="rId7" Type="http://schemas.openxmlformats.org/officeDocument/2006/relationships/hyperlink" Target="https://en.wikipedia.org/wiki/Language_workbench" TargetMode="Externa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 Id="rId9" Type="http://schemas.openxmlformats.org/officeDocument/2006/relationships/hyperlink" Target="https://medium.com/@rajeshdavid/how-does-a-graphql-service-work-internally-496dc9264096" TargetMode="Externa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03.xm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4.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05.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06.xml.rels><?xml version="1.0" encoding="UTF-8" standalone="yes"?>
<Relationships xmlns="http://schemas.openxmlformats.org/package/2006/relationships"><Relationship Id="rId3" Type="http://schemas.openxmlformats.org/officeDocument/2006/relationships/diagramLayout" Target="../diagrams/layout106.xm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07.xm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4" Type="http://schemas.openxmlformats.org/officeDocument/2006/relationships/diagramQuickStyle" Target="../diagrams/quickStyle107.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08.xm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5" Type="http://schemas.openxmlformats.org/officeDocument/2006/relationships/diagramColors" Target="../diagrams/colors108.xml"/><Relationship Id="rId4" Type="http://schemas.openxmlformats.org/officeDocument/2006/relationships/diagramQuickStyle" Target="../diagrams/quickStyle108.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09.xml"/><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10.xml"/><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11.xm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12.xml.rels><?xml version="1.0" encoding="UTF-8" standalone="yes"?>
<Relationships xmlns="http://schemas.openxmlformats.org/package/2006/relationships"><Relationship Id="rId3" Type="http://schemas.openxmlformats.org/officeDocument/2006/relationships/diagramLayout" Target="../diagrams/layout112.xml"/><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13.xm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115.xm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5" Type="http://schemas.openxmlformats.org/officeDocument/2006/relationships/diagramColors" Target="../diagrams/colors115.xml"/><Relationship Id="rId4" Type="http://schemas.openxmlformats.org/officeDocument/2006/relationships/diagramQuickStyle" Target="../diagrams/quickStyle115.xml"/></Relationships>
</file>

<file path=ppt/slides/_rels/slide116.xml.rels><?xml version="1.0" encoding="UTF-8" standalone="yes"?>
<Relationships xmlns="http://schemas.openxmlformats.org/package/2006/relationships"><Relationship Id="rId3" Type="http://schemas.openxmlformats.org/officeDocument/2006/relationships/diagramLayout" Target="../diagrams/layout116.xml"/><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17.xml.rels><?xml version="1.0" encoding="UTF-8" standalone="yes"?>
<Relationships xmlns="http://schemas.openxmlformats.org/package/2006/relationships"><Relationship Id="rId8" Type="http://schemas.openxmlformats.org/officeDocument/2006/relationships/hyperlink" Target="https://blog.klipse.tech/dop/2022/06/22/principles-of-dop.html" TargetMode="External"/><Relationship Id="rId3" Type="http://schemas.openxmlformats.org/officeDocument/2006/relationships/diagramLayout" Target="../diagrams/layout117.xml"/><Relationship Id="rId7" Type="http://schemas.openxmlformats.org/officeDocument/2006/relationships/hyperlink" Target="https://www.orientsoftware.com/blog/dod-programming/" TargetMode="External"/><Relationship Id="rId12" Type="http://schemas.openxmlformats.org/officeDocument/2006/relationships/hyperlink" Target="https://github.com/bugzmanov/mechanical_sympathy" TargetMode="External"/><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11" Type="http://schemas.openxmlformats.org/officeDocument/2006/relationships/hyperlink" Target="https://github.com/dbartolini/data-oriented-design" TargetMode="External"/><Relationship Id="rId5" Type="http://schemas.openxmlformats.org/officeDocument/2006/relationships/diagramColors" Target="../diagrams/colors117.xml"/><Relationship Id="rId10" Type="http://schemas.openxmlformats.org/officeDocument/2006/relationships/hyperlink" Target="https://giannisakritidis.com/blog/Data-Driven-Code-Design/" TargetMode="External"/><Relationship Id="rId4" Type="http://schemas.openxmlformats.org/officeDocument/2006/relationships/diagramQuickStyle" Target="../diagrams/quickStyle117.xml"/><Relationship Id="rId9" Type="http://schemas.openxmlformats.org/officeDocument/2006/relationships/hyperlink" Target="https://learn.unity.com/course/dots-best-practices/tutorial/part-1-understand-data-oriented-design?version=2022.3" TargetMode="Externa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18.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19.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4" Type="http://schemas.openxmlformats.org/officeDocument/2006/relationships/diagramQuickStyle" Target="../diagrams/quickStyle119.xml"/></Relationships>
</file>

<file path=ppt/slides/_rels/slide120.xml.rels><?xml version="1.0" encoding="UTF-8" standalone="yes"?>
<Relationships xmlns="http://schemas.openxmlformats.org/package/2006/relationships"><Relationship Id="rId8" Type="http://schemas.openxmlformats.org/officeDocument/2006/relationships/hyperlink" Target="https://inventwithpython.com/" TargetMode="External"/><Relationship Id="rId13" Type="http://schemas.openxmlformats.org/officeDocument/2006/relationships/hyperlink" Target="https://www.linkedin.com/posts/ray-rahul_%3F%3F%3F%3F%3F-%3F%3F%3F%3F%3F%3F%3F%3F-%3F%3F%3F%3F-%3F%3F-activity-7231616658820251651-FMD-/" TargetMode="External"/><Relationship Id="rId18" Type="http://schemas.openxmlformats.org/officeDocument/2006/relationships/hyperlink" Target="https://github.com/jwasham/coding-interview-university" TargetMode="External"/><Relationship Id="rId26" Type="http://schemas.openxmlformats.org/officeDocument/2006/relationships/hyperlink" Target="https://antondevtips.com/blog/how-to-write-elegant-code-with-csharp-switch-expressions" TargetMode="External"/><Relationship Id="rId3" Type="http://schemas.openxmlformats.org/officeDocument/2006/relationships/diagramLayout" Target="../diagrams/layout120.xml"/><Relationship Id="rId21" Type="http://schemas.openxmlformats.org/officeDocument/2006/relationships/hyperlink" Target="https://github.com/markjprice?tab=repositories" TargetMode="External"/><Relationship Id="rId7" Type="http://schemas.openxmlformats.org/officeDocument/2006/relationships/hyperlink" Target="https://www.amazon.in/Essential-Algorithms-Practical-Approach-Computer-ebook/dp/B07SD76KLH?ref_=ast_author_dp&amp;dib=eyJ2IjoiMSJ9.KhacNmZT1UWK494bJbL8asH_MUpAbYJxVjNSBUfWLokwMsDmlcBzPndfOoWLBQnrYiUr66U_8717ArH8VEU1Jo-mZYSZicie2RjxkjWn0K-_DcCxAYFrBC6XXaUpJje6tHaeA3J76maEx-Nl_E0EPM17j1YQ70rYi85saR75Rmkl0Eh2Rivw-KWfy8isBIp0rZSmUhfwv3m3n7ZgUDG4QAe7Z0xES7Ooe95vlvJhb24.WrTF3eXgo0eb-XUyVTJ_0FrTZ0zR2MKcXb3W6qkMqww&amp;dib_tag=AUTHOR" TargetMode="External"/><Relationship Id="rId12" Type="http://schemas.openxmlformats.org/officeDocument/2006/relationships/hyperlink" Target="https://blog.algomaster.io/p/20-patterns-to-master-dynamic-programming" TargetMode="External"/><Relationship Id="rId17" Type="http://schemas.openxmlformats.org/officeDocument/2006/relationships/hyperlink" Target="https://github.com/ashishps1/awesome-leetcode-resources" TargetMode="External"/><Relationship Id="rId25" Type="http://schemas.openxmlformats.org/officeDocument/2006/relationships/hyperlink" Target="https://stackoverflow.com/questions/12389203/how-do-i-chunk-an-enumerable" TargetMode="External"/><Relationship Id="rId2" Type="http://schemas.openxmlformats.org/officeDocument/2006/relationships/diagramData" Target="../diagrams/data120.xml"/><Relationship Id="rId16" Type="http://schemas.openxmlformats.org/officeDocument/2006/relationships/hyperlink" Target="https://www.linkedin.com/posts/akashsinnghh_dsa-dsaquestions-datastructures-activity-7231521586510479361-hTqM/?utm_source=share&amp;utm_medium=member_desktop" TargetMode="External"/><Relationship Id="rId20" Type="http://schemas.openxmlformats.org/officeDocument/2006/relationships/hyperlink" Target="https://www.albahari.com/nutshell/" TargetMode="External"/><Relationship Id="rId29" Type="http://schemas.openxmlformats.org/officeDocument/2006/relationships/hyperlink" Target="https://stackoverflow.com/questions/43000520/why-would-one-use-taskt-over-valuetaskt-in-c" TargetMode="External"/><Relationship Id="rId1" Type="http://schemas.openxmlformats.org/officeDocument/2006/relationships/slideLayout" Target="../slideLayouts/slideLayout2.xml"/><Relationship Id="rId6" Type="http://schemas.microsoft.com/office/2007/relationships/diagramDrawing" Target="../diagrams/drawing120.xml"/><Relationship Id="rId11" Type="http://schemas.openxmlformats.org/officeDocument/2006/relationships/hyperlink" Target="https://github.com/careermonk/data-structures-and-algorithms-made-easy-in-java" TargetMode="External"/><Relationship Id="rId24" Type="http://schemas.openxmlformats.org/officeDocument/2006/relationships/hyperlink" Target="https://learn.microsoft.com/en-us/dotnet/csharp/whats-new/csharp-13" TargetMode="External"/><Relationship Id="rId5" Type="http://schemas.openxmlformats.org/officeDocument/2006/relationships/diagramColors" Target="../diagrams/colors120.xml"/><Relationship Id="rId15" Type="http://schemas.openxmlformats.org/officeDocument/2006/relationships/hyperlink" Target="https://github.com/ByteByteGoHq/coding-interview-patterns" TargetMode="External"/><Relationship Id="rId23" Type="http://schemas.openxmlformats.org/officeDocument/2006/relationships/hyperlink" Target="https://rosettacode.org/wiki/Category:Programming_Tasks" TargetMode="External"/><Relationship Id="rId28" Type="http://schemas.openxmlformats.org/officeDocument/2006/relationships/hyperlink" Target="https://learn.microsoft.com/en-us/dotnet/csharp/fundamentals/functional/deconstruct" TargetMode="External"/><Relationship Id="rId10" Type="http://schemas.openxmlformats.org/officeDocument/2006/relationships/hyperlink" Target="https://www.amazon.in/Dynamic-Programming-Python-William-Smith/dp/1964899486" TargetMode="External"/><Relationship Id="rId19" Type="http://schemas.openxmlformats.org/officeDocument/2006/relationships/hyperlink" Target="https://www.techinterviewhandbook.org/" TargetMode="External"/><Relationship Id="rId4" Type="http://schemas.openxmlformats.org/officeDocument/2006/relationships/diagramQuickStyle" Target="../diagrams/quickStyle120.xml"/><Relationship Id="rId9" Type="http://schemas.openxmlformats.org/officeDocument/2006/relationships/hyperlink" Target="https://github.com/ericlippert/FabulousAdventures" TargetMode="External"/><Relationship Id="rId14" Type="http://schemas.openxmlformats.org/officeDocument/2006/relationships/hyperlink" Target="https://roadmap.sh/datastructures-and-algorithms" TargetMode="External"/><Relationship Id="rId22" Type="http://schemas.openxmlformats.org/officeDocument/2006/relationships/hyperlink" Target="https://www.geeksforgeeks.org/c-sharp-version-history/" TargetMode="External"/><Relationship Id="rId27" Type="http://schemas.openxmlformats.org/officeDocument/2006/relationships/hyperlink" Target="https://learn.microsoft.com/en-us/dotnet/csharp/whats-new/tutorials/primary-constructors" TargetMode="External"/><Relationship Id="rId30" Type="http://schemas.openxmlformats.org/officeDocument/2006/relationships/hyperlink" Target="https://medium.com/@KeyurRamoliya/c-optimize-performance-with-span-and-memory-84c3e6583885" TargetMode="External"/></Relationships>
</file>

<file path=ppt/slides/_rels/slide121.xml.rels><?xml version="1.0" encoding="UTF-8" standalone="yes"?>
<Relationships xmlns="http://schemas.openxmlformats.org/package/2006/relationships"><Relationship Id="rId13" Type="http://schemas.openxmlformats.org/officeDocument/2006/relationships/hyperlink" Target="https://learn.microsoft.com/en-us/dotnet/standard/native-interop/" TargetMode="External"/><Relationship Id="rId18" Type="http://schemas.openxmlformats.org/officeDocument/2006/relationships/hyperlink" Target="https://www.linkedin.com/posts/shivkoirala_200-c-interview-questions-ugcPost-7285626212419325954-8zyj/" TargetMode="External"/><Relationship Id="rId26" Type="http://schemas.openxmlformats.org/officeDocument/2006/relationships/hyperlink" Target="https://rosettacode.org/wiki/Category:Programming_Tasks" TargetMode="External"/><Relationship Id="rId3" Type="http://schemas.openxmlformats.org/officeDocument/2006/relationships/diagramLayout" Target="../diagrams/layout121.xml"/><Relationship Id="rId21" Type="http://schemas.openxmlformats.org/officeDocument/2006/relationships/hyperlink" Target="https://postgrespro.com/community/books/internals" TargetMode="External"/><Relationship Id="rId7" Type="http://schemas.openxmlformats.org/officeDocument/2006/relationships/hyperlink" Target="https://github.com/miholler/NSpecifications" TargetMode="External"/><Relationship Id="rId12" Type="http://schemas.openxmlformats.org/officeDocument/2006/relationships/hyperlink" Target="https://github.com/PacktPublishing/Systems-Programming-with-C-Sharp-and-.NET" TargetMode="External"/><Relationship Id="rId17" Type="http://schemas.openxmlformats.org/officeDocument/2006/relationships/hyperlink" Target="https://github.com/PacktPublishing/High-Performance-Programming-in-C-Sharp-and-.NET" TargetMode="External"/><Relationship Id="rId25" Type="http://schemas.openxmlformats.org/officeDocument/2006/relationships/hyperlink" Target="https://www.packtpub.com/en-cy/product/the-modern-c-challenge-9781789535426?srsltid=AfmBOoobJhK3ev4UwfO5ecLJyJXJpKJZWaNgRdcaTNnoCNF7CeyPbQY_" TargetMode="External"/><Relationship Id="rId33" Type="http://schemas.openxmlformats.org/officeDocument/2006/relationships/hyperlink" Target="https://gist.github.com/sandipray63in/6b73afdaa67c87b8a7c1bbbb883a5ea8" TargetMode="External"/><Relationship Id="rId2" Type="http://schemas.openxmlformats.org/officeDocument/2006/relationships/diagramData" Target="../diagrams/data121.xml"/><Relationship Id="rId16" Type="http://schemas.openxmlformats.org/officeDocument/2006/relationships/hyperlink" Target="https://www.oreilly.com/library/view/regular-expressions-cookbook/9781449327453/" TargetMode="External"/><Relationship Id="rId20" Type="http://schemas.openxmlformats.org/officeDocument/2006/relationships/hyperlink" Target="https://www.linkedin.com/posts/maheshma_postgresql-sql-systemdesign-activity-7167707514266996736-HqMi/" TargetMode="External"/><Relationship Id="rId29" Type="http://schemas.openxmlformats.org/officeDocument/2006/relationships/hyperlink" Target="https://www.planetgeek.ch/2013/06/05/clean-code-cheat-sheet/" TargetMode="External"/><Relationship Id="rId1" Type="http://schemas.openxmlformats.org/officeDocument/2006/relationships/slideLayout" Target="../slideLayouts/slideLayout2.xml"/><Relationship Id="rId6" Type="http://schemas.microsoft.com/office/2007/relationships/diagramDrawing" Target="../diagrams/drawing121.xml"/><Relationship Id="rId11" Type="http://schemas.openxmlformats.org/officeDocument/2006/relationships/hyperlink" Target="https://cronitor.io/guides/kubernetes-cron-jobs" TargetMode="External"/><Relationship Id="rId24" Type="http://schemas.openxmlformats.org/officeDocument/2006/relationships/hyperlink" Target="https://roadmap.sh/computer-science" TargetMode="External"/><Relationship Id="rId32" Type="http://schemas.openxmlformats.org/officeDocument/2006/relationships/hyperlink" Target="https://build-your-own-x.vercel.app/" TargetMode="External"/><Relationship Id="rId5" Type="http://schemas.openxmlformats.org/officeDocument/2006/relationships/diagramColors" Target="../diagrams/colors121.xml"/><Relationship Id="rId15" Type="http://schemas.openxmlformats.org/officeDocument/2006/relationships/hyperlink" Target="https://books.goalkicker.com/" TargetMode="External"/><Relationship Id="rId23" Type="http://schemas.openxmlformats.org/officeDocument/2006/relationships/hyperlink" Target="https://en.wikipedia.org/wiki/Automata_theory" TargetMode="External"/><Relationship Id="rId28" Type="http://schemas.openxmlformats.org/officeDocument/2006/relationships/hyperlink" Target="https://github.com/gamontal/awesome-katas" TargetMode="External"/><Relationship Id="rId10" Type="http://schemas.openxmlformats.org/officeDocument/2006/relationships/hyperlink" Target="https://benbrougher.tech/posts/kubernetes-cron-job/" TargetMode="External"/><Relationship Id="rId19" Type="http://schemas.openxmlformats.org/officeDocument/2006/relationships/hyperlink" Target="https://github.com/milanm/DotNet-Developer-Roadmap" TargetMode="External"/><Relationship Id="rId31" Type="http://schemas.openxmlformats.org/officeDocument/2006/relationships/hyperlink" Target="https://github.com/prasadgujar/low-level-design-primer" TargetMode="External"/><Relationship Id="rId4" Type="http://schemas.openxmlformats.org/officeDocument/2006/relationships/diagramQuickStyle" Target="../diagrams/quickStyle121.xml"/><Relationship Id="rId9" Type="http://schemas.openxmlformats.org/officeDocument/2006/relationships/hyperlink" Target="https://github.com/PacktPublishing/Building-CLI-Applications-with-C-Sharp-and-.NET" TargetMode="External"/><Relationship Id="rId14" Type="http://schemas.openxmlformats.org/officeDocument/2006/relationships/hyperlink" Target="https://github.com/ziishaned/learn-regex" TargetMode="External"/><Relationship Id="rId22" Type="http://schemas.openxmlformats.org/officeDocument/2006/relationships/hyperlink" Target="https://www.geeksforgeeks.org/gate-cs-notes-gq/" TargetMode="External"/><Relationship Id="rId27" Type="http://schemas.openxmlformats.org/officeDocument/2006/relationships/hyperlink" Target="https://codingchallenges.substack.com/" TargetMode="External"/><Relationship Id="rId30" Type="http://schemas.openxmlformats.org/officeDocument/2006/relationships/hyperlink" Target="https://github.com/ashishps1/awesome-low-level-design" TargetMode="External"/><Relationship Id="rId8" Type="http://schemas.openxmlformats.org/officeDocument/2006/relationships/hyperlink" Target="https://stackoverflow.com/questions/65585395/specification-pattern-vs-fluent-validation" TargetMode="Externa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IN" sz="1200" dirty="0">
                <a:hlinkClick r:id="rId7"/>
              </a:rPr>
              <a:t> Software Principles Post | LinkedIn</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Immutability in C# using Record Type</a:t>
            </a:r>
          </a:p>
          <a:p>
            <a:pPr marL="12700" marR="5080"/>
            <a:r>
              <a:rPr lang="en-US" sz="1200" dirty="0">
                <a:hlinkClick r:id="rId7"/>
              </a:rPr>
              <a:t>Immutability, Record types and with keyword in C# | LinkedIn</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59531" y="268525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 vs Immutable Collections –</a:t>
            </a:r>
            <a:r>
              <a:rPr lang="en-US" sz="2400" kern="0" spc="-220" dirty="0">
                <a:solidFill>
                  <a:schemeClr val="accent6"/>
                </a:solidFill>
              </a:rPr>
              <a:t> </a:t>
            </a:r>
          </a:p>
          <a:p>
            <a:pPr marL="12700" marR="5080"/>
            <a:r>
              <a:rPr lang="en-US" sz="1200" dirty="0" err="1">
                <a:hlinkClick r:id="rId8"/>
              </a:rPr>
              <a:t>c#</a:t>
            </a:r>
            <a:r>
              <a:rPr lang="en-US" sz="1200" dirty="0">
                <a:hlinkClick r:id="rId8"/>
              </a:rPr>
              <a:t> - Why use </a:t>
            </a:r>
            <a:r>
              <a:rPr lang="en-US" sz="1200" dirty="0" err="1">
                <a:hlinkClick r:id="rId8"/>
              </a:rPr>
              <a:t>ImmutableList</a:t>
            </a:r>
            <a:r>
              <a:rPr lang="en-US" sz="1200" dirty="0">
                <a:hlinkClick r:id="rId8"/>
              </a:rPr>
              <a:t> over </a:t>
            </a:r>
            <a:r>
              <a:rPr lang="en-US" sz="1200" dirty="0" err="1">
                <a:hlinkClick r:id="rId8"/>
              </a:rPr>
              <a:t>ReadOnlyCollection</a:t>
            </a:r>
            <a:r>
              <a:rPr lang="en-US" sz="1200" dirty="0">
                <a:hlinkClick r:id="rId8"/>
              </a:rPr>
              <a:t>? - Stack Overflow</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Eric Lippert’s Immutability Series –</a:t>
            </a:r>
          </a:p>
          <a:p>
            <a:pPr marL="12700" marR="5080"/>
            <a:r>
              <a:rPr lang="en-IN" sz="1200" dirty="0">
                <a:hlinkClick r:id="rId9"/>
              </a:rPr>
              <a:t>Immutability | Fabulous adventures in coding | Page 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a:t>
            </a:r>
            <a:r>
              <a:rPr lang="en-US" sz="2400" kern="0" spc="-220" dirty="0">
                <a:solidFill>
                  <a:schemeClr val="accent6"/>
                </a:solidFill>
              </a:rPr>
              <a:t>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2"/>
                </a:solidFill>
              </a:rPr>
              <a:t>Currying –</a:t>
            </a:r>
            <a:r>
              <a:rPr lang="en-US" sz="2400" kern="0" spc="-220" dirty="0">
                <a:solidFill>
                  <a:schemeClr val="accent6"/>
                </a:solidFill>
              </a:rPr>
              <a:t>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 </a:t>
            </a:r>
          </a:p>
          <a:p>
            <a:pPr marL="12700" marR="5080"/>
            <a:r>
              <a:rPr lang="en-IN" sz="1200" dirty="0">
                <a:hlinkClick r:id="rId7"/>
              </a:rPr>
              <a:t>DDD-Based-Enterprise-Application-Framework/Infrastructure/Concurrency/Synchronization/</a:t>
            </a:r>
            <a:r>
              <a:rPr lang="en-IN" sz="1200" dirty="0" err="1">
                <a:hlinkClick r:id="rId7"/>
              </a:rPr>
              <a:t>SharedDataProtection</a:t>
            </a:r>
            <a:r>
              <a:rPr lang="en-IN" sz="1200" dirty="0">
                <a:hlinkClick r:id="rId7"/>
              </a:rPr>
              <a:t>/</a:t>
            </a:r>
            <a:r>
              <a:rPr lang="en-IN" sz="1200" dirty="0" err="1">
                <a:hlinkClick r:id="rId7"/>
              </a:rPr>
              <a:t>BaseLocking.cs</a:t>
            </a:r>
            <a:r>
              <a:rPr lang="en-IN" sz="1200" dirty="0">
                <a:hlinkClick r:id="rId7"/>
              </a:rPr>
              <a:t> at master · sandipray63in/DDD-Based-Enterprise-Application-Framework · GitHub</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366663" y="2971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US" sz="1200" dirty="0" err="1">
                <a:hlinkClick r:id="rId7"/>
              </a:rPr>
              <a:t>Memoization</a:t>
            </a:r>
            <a:r>
              <a:rPr lang="en-US" sz="1200" dirty="0">
                <a:hlinkClick r:id="rId7"/>
              </a:rPr>
              <a:t>, a useful pattern for quick optimization - Event-Driven.io</a:t>
            </a:r>
            <a:r>
              <a:rPr lang="en-US" sz="1200" dirty="0"/>
              <a:t> </a:t>
            </a:r>
            <a:endParaRPr lang="en-US" sz="2400" kern="0" spc="-220" dirty="0">
              <a:solidFill>
                <a:schemeClr val="accent6"/>
              </a:solidFill>
            </a:endParaRP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References – </a:t>
            </a:r>
          </a:p>
          <a:p>
            <a:pPr marL="12700" marR="5080"/>
            <a:r>
              <a:rPr lang="en-US" sz="2400" kern="0" spc="-220" dirty="0">
                <a:solidFill>
                  <a:schemeClr val="accent2"/>
                </a:solidFill>
              </a:rPr>
              <a:t> </a:t>
            </a:r>
            <a:r>
              <a:rPr lang="en-US" sz="1400" dirty="0">
                <a:hlinkClick r:id="rId7"/>
              </a:rPr>
              <a:t>What's the best way to balance functional programming design trade-offs?</a:t>
            </a:r>
            <a:r>
              <a:rPr lang="en-US" sz="1400" dirty="0"/>
              <a:t>             </a:t>
            </a:r>
          </a:p>
          <a:p>
            <a:pPr marL="12700" marR="5080"/>
            <a:r>
              <a:rPr lang="en-US" sz="1400" dirty="0"/>
              <a:t>                                                                                      </a:t>
            </a:r>
          </a:p>
          <a:p>
            <a:pPr marL="12700" marR="5080"/>
            <a:r>
              <a:rPr lang="en-US" sz="1400" kern="0" spc="-220" dirty="0">
                <a:solidFill>
                  <a:schemeClr val="accent2"/>
                </a:solidFill>
              </a:rPr>
              <a:t> </a:t>
            </a:r>
            <a:r>
              <a:rPr lang="en-US" sz="1400" dirty="0">
                <a:hlinkClick r:id="rId8"/>
              </a:rPr>
              <a:t>Functional Programming with C#</a:t>
            </a:r>
            <a:endParaRPr lang="en-US" sz="1400" dirty="0"/>
          </a:p>
          <a:p>
            <a:pPr marL="12700" marR="5080"/>
            <a:endParaRPr lang="en-US" sz="2400" kern="0" spc="-220" dirty="0">
              <a:solidFill>
                <a:schemeClr val="accent2"/>
              </a:solidFill>
            </a:endParaRPr>
          </a:p>
          <a:p>
            <a:pPr marL="12700" marR="5080"/>
            <a:r>
              <a:rPr lang="en-US" sz="2000" kern="0" spc="-220" dirty="0">
                <a:solidFill>
                  <a:schemeClr val="accent6"/>
                </a:solidFill>
              </a:rPr>
              <a:t> </a:t>
            </a:r>
            <a:r>
              <a:rPr lang="en-US" sz="1500" dirty="0">
                <a:hlinkClick r:id="rId9"/>
              </a:rPr>
              <a:t>Functors and Monads in C#</a:t>
            </a:r>
            <a:endParaRPr lang="en-US" sz="1500" dirty="0"/>
          </a:p>
          <a:p>
            <a:pPr marL="12700" marR="5080"/>
            <a:endParaRPr lang="en-US" sz="1500" kern="0" spc="-220" dirty="0">
              <a:solidFill>
                <a:schemeClr val="accent6"/>
              </a:solidFill>
            </a:endParaRPr>
          </a:p>
          <a:p>
            <a:pPr marL="12700" marR="5080"/>
            <a:r>
              <a:rPr lang="en-US" sz="1500" kern="0" spc="-220" dirty="0">
                <a:solidFill>
                  <a:schemeClr val="accent6"/>
                </a:solidFill>
              </a:rPr>
              <a:t>  </a:t>
            </a:r>
            <a:r>
              <a:rPr lang="en-US" sz="1500" dirty="0" err="1">
                <a:hlinkClick r:id="rId10"/>
              </a:rPr>
              <a:t>Dixin's</a:t>
            </a:r>
            <a:r>
              <a:rPr lang="en-US" sz="1500" dirty="0">
                <a:hlinkClick r:id="rId10"/>
              </a:rPr>
              <a:t> Blog - Category Theory via C# (2) Monoid</a:t>
            </a:r>
            <a:endParaRPr lang="en-US" sz="1500" dirty="0"/>
          </a:p>
          <a:p>
            <a:pPr marL="12700" marR="5080"/>
            <a:endParaRPr lang="en-US" sz="1500" dirty="0"/>
          </a:p>
          <a:p>
            <a:pPr marL="12700" marR="5080"/>
            <a:r>
              <a:rPr lang="en-US" sz="1500" kern="0" spc="-220" dirty="0">
                <a:solidFill>
                  <a:schemeClr val="accent6"/>
                </a:solidFill>
              </a:rPr>
              <a:t>  </a:t>
            </a:r>
            <a:r>
              <a:rPr lang="en-IN" sz="1500" dirty="0">
                <a:hlinkClick r:id="rId11"/>
              </a:rPr>
              <a:t>Functional-Programming/haskell/Functional_Programming_Concepts.org at master · </a:t>
            </a:r>
            <a:r>
              <a:rPr lang="en-IN" sz="1500" dirty="0" err="1">
                <a:hlinkClick r:id="rId11"/>
              </a:rPr>
              <a:t>caiorss</a:t>
            </a:r>
            <a:r>
              <a:rPr lang="en-IN" sz="1500" dirty="0">
                <a:hlinkClick r:id="rId11"/>
              </a:rPr>
              <a:t>/Functional-Programming · GitHub</a:t>
            </a:r>
            <a:endParaRPr lang="en-IN" sz="1500" dirty="0"/>
          </a:p>
          <a:p>
            <a:pPr marL="12700" marR="5080"/>
            <a:endParaRPr lang="en-US" sz="1500" kern="0" spc="-220" dirty="0">
              <a:solidFill>
                <a:schemeClr val="accent6"/>
              </a:solidFill>
            </a:endParaRPr>
          </a:p>
          <a:p>
            <a:pPr marL="12700" marR="5080"/>
            <a:r>
              <a:rPr lang="en-US" sz="1500" dirty="0">
                <a:hlinkClick r:id="rId12"/>
              </a:rPr>
              <a:t> Functional Programming Design Patterns | F# for fun and profit</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Const –</a:t>
            </a:r>
            <a:r>
              <a:rPr lang="en-US" sz="2400" kern="0" spc="-220" dirty="0">
                <a:solidFill>
                  <a:schemeClr val="accent6"/>
                </a:solidFill>
              </a:rPr>
              <a:t>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custom </a:t>
            </a:r>
            <a:r>
              <a:rPr lang="en-US" sz="2400" kern="0" spc="-220" dirty="0" err="1">
                <a:solidFill>
                  <a:schemeClr val="accent2"/>
                </a:solidFill>
              </a:rPr>
              <a:t>AppDomain</a:t>
            </a:r>
            <a:r>
              <a:rPr lang="en-US" sz="2400" kern="0" spc="-220" dirty="0">
                <a:solidFill>
                  <a:schemeClr val="accent2"/>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7"/>
              </a:rPr>
              <a:t>c#</a:t>
            </a:r>
            <a:r>
              <a:rPr lang="en-US" sz="1500" dirty="0">
                <a:hlinkClick r:id="rId7"/>
              </a:rPr>
              <a:t> - Loading Assembly in sandbox </a:t>
            </a:r>
            <a:r>
              <a:rPr lang="en-US" sz="1500" dirty="0" err="1">
                <a:hlinkClick r:id="rId7"/>
              </a:rPr>
              <a:t>Appdomain</a:t>
            </a:r>
            <a:r>
              <a:rPr lang="en-US" sz="1500" dirty="0">
                <a:hlinkClick r:id="rId7"/>
              </a:rPr>
              <a:t> - </a:t>
            </a:r>
            <a:r>
              <a:rPr lang="en-US" sz="1500" dirty="0" err="1">
                <a:hlinkClick r:id="rId7"/>
              </a:rPr>
              <a:t>SecurityException</a:t>
            </a:r>
            <a:r>
              <a:rPr lang="en-US" sz="1500" dirty="0">
                <a:hlinkClick r:id="rId7"/>
              </a:rPr>
              <a:t>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how to 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1273585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mutable private 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5BAC0-0F1D-222D-352F-8883298BBC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7742BE-6260-015A-FB4C-5FAB290273C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930B31-927F-0B44-F004-AC6023E6FE7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9C0AB4-A94F-B9DA-B6C4-0847AFC8D378}"/>
              </a:ext>
            </a:extLst>
          </p:cNvPr>
          <p:cNvGraphicFramePr/>
          <p:nvPr>
            <p:extLst>
              <p:ext uri="{D42A27DB-BD31-4B8C-83A1-F6EECF244321}">
                <p14:modId xmlns:p14="http://schemas.microsoft.com/office/powerpoint/2010/main" val="184134157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descr="A screenshot of a computer&#10;&#10;AI-generated content may be incorrect.">
            <a:extLst>
              <a:ext uri="{FF2B5EF4-FFF2-40B4-BE49-F238E27FC236}">
                <a16:creationId xmlns:a16="http://schemas.microsoft.com/office/drawing/2014/main" id="{7E4BE7D0-DA5A-1654-544B-6E067B52522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143000"/>
            <a:ext cx="8915400" cy="4724400"/>
          </a:xfrm>
          <a:prstGeom prst="rect">
            <a:avLst/>
          </a:prstGeom>
        </p:spPr>
      </p:pic>
    </p:spTree>
    <p:extLst>
      <p:ext uri="{BB962C8B-B14F-4D97-AF65-F5344CB8AC3E}">
        <p14:creationId xmlns:p14="http://schemas.microsoft.com/office/powerpoint/2010/main" val="3584200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5238B-1A66-0456-0283-E3A14AF76BC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2840B2-0214-E463-0928-7FFDB96F06B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5A75166-6A70-74A6-EB6E-71CA9983953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69852CA-E000-6FF6-D07D-1F69038DF605}"/>
              </a:ext>
            </a:extLst>
          </p:cNvPr>
          <p:cNvGraphicFramePr/>
          <p:nvPr>
            <p:extLst>
              <p:ext uri="{D42A27DB-BD31-4B8C-83A1-F6EECF244321}">
                <p14:modId xmlns:p14="http://schemas.microsoft.com/office/powerpoint/2010/main" val="307761452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6" descr="A screenshot of a computer&#10;&#10;AI-generated content may be incorrect.">
            <a:extLst>
              <a:ext uri="{FF2B5EF4-FFF2-40B4-BE49-F238E27FC236}">
                <a16:creationId xmlns:a16="http://schemas.microsoft.com/office/drawing/2014/main" id="{234686B1-3D20-F408-4737-281DB1BEB23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149131"/>
            <a:ext cx="8915400" cy="4718269"/>
          </a:xfrm>
          <a:prstGeom prst="rect">
            <a:avLst/>
          </a:prstGeom>
        </p:spPr>
      </p:pic>
    </p:spTree>
    <p:extLst>
      <p:ext uri="{BB962C8B-B14F-4D97-AF65-F5344CB8AC3E}">
        <p14:creationId xmlns:p14="http://schemas.microsoft.com/office/powerpoint/2010/main" val="10658804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04DE3-349C-BE2F-E8E8-0D45B9EF24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F27644-13B5-C7B9-28AD-4E377FCE26E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C6680A0-7D1F-A999-554C-ADB39AB8820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3C8498-E650-A728-7B7E-373FA84DFC7E}"/>
              </a:ext>
            </a:extLst>
          </p:cNvPr>
          <p:cNvGraphicFramePr/>
          <p:nvPr>
            <p:extLst>
              <p:ext uri="{D42A27DB-BD31-4B8C-83A1-F6EECF244321}">
                <p14:modId xmlns:p14="http://schemas.microsoft.com/office/powerpoint/2010/main" val="373722789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944C89B-59EC-DD4D-A9F9-A9819B321E94}"/>
              </a:ext>
            </a:extLst>
          </p:cNvPr>
          <p:cNvSpPr txBox="1">
            <a:spLocks/>
          </p:cNvSpPr>
          <p:nvPr/>
        </p:nvSpPr>
        <p:spPr>
          <a:xfrm>
            <a:off x="275300" y="11656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Quick Summary</a:t>
            </a:r>
          </a:p>
          <a:p>
            <a:pPr marL="12700" marR="5080"/>
            <a:r>
              <a:rPr lang="en-US" sz="2400" kern="0" spc="-220" dirty="0">
                <a:solidFill>
                  <a:schemeClr val="accent2"/>
                </a:solidFill>
              </a:rPr>
              <a:t>Value Types</a:t>
            </a:r>
          </a:p>
          <a:p>
            <a:pPr marL="12700" marR="5080"/>
            <a:r>
              <a:rPr lang="en-US" sz="2400" kern="0" spc="-220" dirty="0">
                <a:solidFill>
                  <a:schemeClr val="accent6"/>
                </a:solidFill>
              </a:rPr>
              <a:t>Hold data directly</a:t>
            </a:r>
          </a:p>
          <a:p>
            <a:pPr marL="12700" marR="5080"/>
            <a:r>
              <a:rPr lang="en-US" sz="2400" kern="0" spc="-220" dirty="0">
                <a:solidFill>
                  <a:schemeClr val="accent6"/>
                </a:solidFill>
              </a:rPr>
              <a:t>Copied by value</a:t>
            </a:r>
          </a:p>
          <a:p>
            <a:pPr marL="12700" marR="5080"/>
            <a:r>
              <a:rPr lang="en-US" sz="2400" kern="0" spc="-220" dirty="0">
                <a:solidFill>
                  <a:schemeClr val="accent6"/>
                </a:solidFill>
              </a:rPr>
              <a:t>Fast</a:t>
            </a:r>
          </a:p>
          <a:p>
            <a:pPr marL="12700" marR="5080"/>
            <a:r>
              <a:rPr lang="en-US" sz="2400" kern="0" spc="-220" dirty="0">
                <a:solidFill>
                  <a:schemeClr val="accent6"/>
                </a:solidFill>
              </a:rPr>
              <a:t>No inheritance</a:t>
            </a:r>
          </a:p>
          <a:p>
            <a:pPr marL="12700" marR="5080"/>
            <a:r>
              <a:rPr lang="en-US" sz="2400" kern="0" spc="-220" dirty="0">
                <a:solidFill>
                  <a:schemeClr val="accent6"/>
                </a:solidFill>
              </a:rPr>
              <a:t>Stored in stack</a:t>
            </a:r>
          </a:p>
          <a:p>
            <a:pPr marL="12700" marR="5080"/>
            <a:r>
              <a:rPr lang="en-US" sz="2400" kern="0" spc="-220" dirty="0">
                <a:solidFill>
                  <a:schemeClr val="accent2"/>
                </a:solidFill>
              </a:rPr>
              <a:t>Reference Types</a:t>
            </a:r>
          </a:p>
          <a:p>
            <a:pPr marL="12700" marR="5080"/>
            <a:r>
              <a:rPr lang="en-US" sz="2400" kern="0" spc="-220" dirty="0">
                <a:solidFill>
                  <a:schemeClr val="accent6"/>
                </a:solidFill>
              </a:rPr>
              <a:t>Hold address of data</a:t>
            </a:r>
          </a:p>
          <a:p>
            <a:pPr marL="12700" marR="5080"/>
            <a:r>
              <a:rPr lang="en-US" sz="2400" kern="0" spc="-220" dirty="0">
                <a:solidFill>
                  <a:schemeClr val="accent6"/>
                </a:solidFill>
              </a:rPr>
              <a:t>Copied by reference</a:t>
            </a:r>
          </a:p>
          <a:p>
            <a:pPr marL="12700" marR="5080"/>
            <a:r>
              <a:rPr lang="en-US" sz="2400" kern="0" spc="-220" dirty="0">
                <a:solidFill>
                  <a:schemeClr val="accent6"/>
                </a:solidFill>
              </a:rPr>
              <a:t>Garbage collected</a:t>
            </a:r>
          </a:p>
          <a:p>
            <a:pPr marL="12700" marR="5080"/>
            <a:r>
              <a:rPr lang="en-US" sz="2400" kern="0" spc="-220" dirty="0">
                <a:solidFill>
                  <a:schemeClr val="accent6"/>
                </a:solidFill>
              </a:rPr>
              <a:t>Support inheritance</a:t>
            </a:r>
          </a:p>
          <a:p>
            <a:pPr marL="12700" marR="5080"/>
            <a:r>
              <a:rPr lang="en-US" sz="2400" kern="0" spc="-220" dirty="0">
                <a:solidFill>
                  <a:schemeClr val="accent6"/>
                </a:solidFill>
              </a:rPr>
              <a:t>Stored in heap.     </a:t>
            </a:r>
          </a:p>
          <a:p>
            <a:pPr marL="12700" marR="5080"/>
            <a:endParaRPr lang="en-US" sz="2400" kern="0" spc="-220" dirty="0">
              <a:solidFill>
                <a:schemeClr val="accent2"/>
              </a:solidFill>
            </a:endParaRPr>
          </a:p>
        </p:txBody>
      </p:sp>
    </p:spTree>
    <p:extLst>
      <p:ext uri="{BB962C8B-B14F-4D97-AF65-F5344CB8AC3E}">
        <p14:creationId xmlns:p14="http://schemas.microsoft.com/office/powerpoint/2010/main" val="22863462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9559BD1-4DCA-53E0-1EF1-95DA64603471}"/>
              </a:ext>
            </a:extLst>
          </p:cNvPr>
          <p:cNvPicPr>
            <a:picLocks noChangeAspect="1"/>
          </p:cNvPicPr>
          <p:nvPr/>
        </p:nvPicPr>
        <p:blipFill>
          <a:blip r:embed="rId7"/>
          <a:stretch>
            <a:fillRect/>
          </a:stretch>
        </p:blipFill>
        <p:spPr>
          <a:xfrm>
            <a:off x="76200" y="1143000"/>
            <a:ext cx="8915400" cy="4800600"/>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a:t>
            </a:r>
            <a:r>
              <a:rPr lang="en-US" sz="2000" kern="0" spc="-220" dirty="0" err="1">
                <a:solidFill>
                  <a:schemeClr val="accent6"/>
                </a:solidFill>
              </a:rPr>
              <a:t>chatGPT</a:t>
            </a:r>
            <a:r>
              <a:rPr lang="en-US" sz="2000" kern="0" spc="-220" dirty="0">
                <a:solidFill>
                  <a:schemeClr val="accent6"/>
                </a:solidFill>
              </a:rPr>
              <a:t>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2"/>
                </a:solidFill>
              </a:rPr>
              <a:t>A practical Example – </a:t>
            </a:r>
          </a:p>
          <a:p>
            <a:pPr marL="12700" marR="5080"/>
            <a:r>
              <a:rPr lang="en-US" sz="2400" kern="0" spc="-220" dirty="0">
                <a:solidFill>
                  <a:schemeClr val="accent6"/>
                </a:solidFill>
              </a:rPr>
              <a:t> </a:t>
            </a:r>
            <a:r>
              <a:rPr lang="en-IN" sz="1200" dirty="0">
                <a:hlinkClick r:id="rId7"/>
              </a:rPr>
              <a:t>DDD-Based-Enterprise-Application-Framework/Repository/</a:t>
            </a:r>
            <a:r>
              <a:rPr lang="en-IN" sz="1200" dirty="0" err="1">
                <a:hlinkClick r:id="rId7"/>
              </a:rPr>
              <a:t>UnitOfWork</a:t>
            </a:r>
            <a:r>
              <a:rPr lang="en-IN" sz="1200" dirty="0">
                <a:hlinkClick r:id="rId7"/>
              </a:rPr>
              <a:t>/</a:t>
            </a:r>
            <a:r>
              <a:rPr lang="en-IN" sz="1200" dirty="0" err="1">
                <a:hlinkClick r:id="rId7"/>
              </a:rPr>
              <a:t>IUnitOfWork.cs</a:t>
            </a:r>
            <a:r>
              <a:rPr lang="en-IN" sz="1200" dirty="0">
                <a:hlinkClick r:id="rId7"/>
              </a:rPr>
              <a:t> at master · sandipray63in/DDD-Based-Enterprise-Application-Framework · GitHub</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E4690-6E07-9F1B-E796-B2A849CF564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C89B89-AE36-BC5C-C37F-6DFC2A2035D0}"/>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C9CFD1-DD52-2092-A8B3-44F10528054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BEFE985-E6AC-8522-26AC-956B0955167F}"/>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3C2DBBA-2AA3-551F-5E58-3705BD5558F4}"/>
              </a:ext>
            </a:extLst>
          </p:cNvPr>
          <p:cNvSpPr txBox="1">
            <a:spLocks/>
          </p:cNvSpPr>
          <p:nvPr/>
        </p:nvSpPr>
        <p:spPr>
          <a:xfrm>
            <a:off x="259531" y="122751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base class or interface</a:t>
            </a:r>
          </a:p>
        </p:txBody>
      </p:sp>
      <p:sp>
        <p:nvSpPr>
          <p:cNvPr id="3" name="object 2">
            <a:extLst>
              <a:ext uri="{FF2B5EF4-FFF2-40B4-BE49-F238E27FC236}">
                <a16:creationId xmlns:a16="http://schemas.microsoft.com/office/drawing/2014/main" id="{52F8FE2E-16B6-CBE0-66BD-CD97D7CC4FA2}"/>
              </a:ext>
            </a:extLst>
          </p:cNvPr>
          <p:cNvSpPr txBox="1">
            <a:spLocks/>
          </p:cNvSpPr>
          <p:nvPr/>
        </p:nvSpPr>
        <p:spPr>
          <a:xfrm>
            <a:off x="259530" y="2537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IN" sz="1200" dirty="0">
                <a:hlinkClick r:id="rId7"/>
              </a:rPr>
              <a:t>DDD-Based-Enterprise-Application-Framework/Repository/Base/</a:t>
            </a:r>
            <a:r>
              <a:rPr lang="en-IN" sz="1200" dirty="0" err="1">
                <a:hlinkClick r:id="rId7"/>
              </a:rPr>
              <a:t>BaseUnitOfWorkRepository.cs</a:t>
            </a:r>
            <a:r>
              <a:rPr lang="en-IN" sz="1200" dirty="0">
                <a:hlinkClick r:id="rId7"/>
              </a:rPr>
              <a:t> at master · sandipray63in/DDD-Based-Enterprise-Application-Framework · GitHub</a:t>
            </a:r>
            <a:endParaRPr lang="en-US" sz="2000" kern="0" spc="-220" dirty="0">
              <a:solidFill>
                <a:schemeClr val="accent6"/>
              </a:solidFill>
            </a:endParaRPr>
          </a:p>
        </p:txBody>
      </p:sp>
      <p:sp>
        <p:nvSpPr>
          <p:cNvPr id="7" name="object 2">
            <a:extLst>
              <a:ext uri="{FF2B5EF4-FFF2-40B4-BE49-F238E27FC236}">
                <a16:creationId xmlns:a16="http://schemas.microsoft.com/office/drawing/2014/main" id="{56E5038C-D2A8-DA45-4EA0-CF8486C9A9D3}"/>
              </a:ext>
            </a:extLst>
          </p:cNvPr>
          <p:cNvSpPr txBox="1">
            <a:spLocks/>
          </p:cNvSpPr>
          <p:nvPr/>
        </p:nvSpPr>
        <p:spPr>
          <a:xfrm>
            <a:off x="275300" y="3468140"/>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000" kern="0" spc="-220" dirty="0">
                <a:solidFill>
                  <a:schemeClr val="accent6"/>
                </a:solidFill>
              </a:rPr>
              <a:t>C# has no built-in constraint like:</a:t>
            </a:r>
          </a:p>
          <a:p>
            <a:pPr marL="12700" marR="5080"/>
            <a:r>
              <a:rPr lang="en-US" sz="2000" kern="0" spc="-220" dirty="0">
                <a:solidFill>
                  <a:schemeClr val="accent6"/>
                </a:solidFill>
              </a:rPr>
              <a:t>where T : primitive  // ❌ not possible</a:t>
            </a:r>
          </a:p>
          <a:p>
            <a:pPr marL="12700" marR="5080"/>
            <a:r>
              <a:rPr lang="en-US" sz="2000" kern="0" spc="-220" dirty="0">
                <a:solidFill>
                  <a:schemeClr val="accent2"/>
                </a:solidFill>
              </a:rPr>
              <a:t>But you can approximate it:</a:t>
            </a:r>
          </a:p>
          <a:p>
            <a:pPr marL="12700" marR="5080"/>
            <a:r>
              <a:rPr lang="en-US" sz="2000" kern="0" spc="-220" dirty="0">
                <a:solidFill>
                  <a:schemeClr val="accent2"/>
                </a:solidFill>
              </a:rPr>
              <a:t>Option A — Restrict to value types</a:t>
            </a:r>
          </a:p>
          <a:p>
            <a:pPr marL="12700" marR="5080"/>
            <a:r>
              <a:rPr lang="en-US" sz="2000" kern="0" spc="-220" dirty="0">
                <a:solidFill>
                  <a:schemeClr val="accent6"/>
                </a:solidFill>
              </a:rPr>
              <a:t>public class </a:t>
            </a:r>
            <a:r>
              <a:rPr lang="en-US" sz="2000" kern="0" spc="-220" dirty="0" err="1">
                <a:solidFill>
                  <a:schemeClr val="accent6"/>
                </a:solidFill>
              </a:rPr>
              <a:t>MyNumeric</a:t>
            </a:r>
            <a:r>
              <a:rPr lang="en-US" sz="2000" kern="0" spc="-220" dirty="0">
                <a:solidFill>
                  <a:schemeClr val="accent6"/>
                </a:solidFill>
              </a:rPr>
              <a:t>&lt;T&gt; where T : struct</a:t>
            </a:r>
          </a:p>
          <a:p>
            <a:pPr marL="12700" marR="5080"/>
            <a:r>
              <a:rPr lang="en-US" sz="2000" kern="0" spc="-220" dirty="0">
                <a:solidFill>
                  <a:schemeClr val="accent6"/>
                </a:solidFill>
              </a:rPr>
              <a:t>{</a:t>
            </a:r>
          </a:p>
          <a:p>
            <a:pPr marL="12700" marR="5080"/>
            <a:r>
              <a:rPr lang="en-US" sz="2000" kern="0" spc="-220" dirty="0">
                <a:solidFill>
                  <a:schemeClr val="accent6"/>
                </a:solidFill>
              </a:rPr>
              <a:t>}</a:t>
            </a:r>
          </a:p>
        </p:txBody>
      </p:sp>
    </p:spTree>
    <p:extLst>
      <p:ext uri="{BB962C8B-B14F-4D97-AF65-F5344CB8AC3E}">
        <p14:creationId xmlns:p14="http://schemas.microsoft.com/office/powerpoint/2010/main" val="34463378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D320F-5C51-9A30-3E77-483A703620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9577A3-9A7F-8FCC-815A-B4ADC0B717A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D692CE5-3888-54A1-5CEB-E81B0B3020B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2B72AA-8EFA-D723-3044-25F0223BE87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8FC60A0-DDCC-2B74-C810-883BDB15FE81}"/>
              </a:ext>
            </a:extLst>
          </p:cNvPr>
          <p:cNvSpPr txBox="1">
            <a:spLocks/>
          </p:cNvSpPr>
          <p:nvPr/>
        </p:nvSpPr>
        <p:spPr>
          <a:xfrm>
            <a:off x="152400" y="1143000"/>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400" kern="0" spc="-220" dirty="0">
                <a:solidFill>
                  <a:schemeClr val="accent2"/>
                </a:solidFill>
              </a:rPr>
              <a:t>Option A — Restrict to value types</a:t>
            </a:r>
          </a:p>
          <a:p>
            <a:pPr marL="12700" marR="5080"/>
            <a:r>
              <a:rPr lang="en-US" sz="2000" kern="0" spc="-220" dirty="0">
                <a:solidFill>
                  <a:schemeClr val="accent6"/>
                </a:solidFill>
              </a:rPr>
              <a:t>Allows int/float/double…</a:t>
            </a:r>
          </a:p>
          <a:p>
            <a:pPr marL="12700" marR="5080"/>
            <a:r>
              <a:rPr lang="en-US" sz="2000" kern="0" spc="-220" dirty="0">
                <a:solidFill>
                  <a:schemeClr val="accent6"/>
                </a:solidFill>
              </a:rPr>
              <a:t>Also allows </a:t>
            </a:r>
            <a:r>
              <a:rPr lang="en-US" sz="2000" kern="0" spc="-220" dirty="0" err="1">
                <a:solidFill>
                  <a:schemeClr val="accent6"/>
                </a:solidFill>
              </a:rPr>
              <a:t>DateTime</a:t>
            </a:r>
            <a:r>
              <a:rPr lang="en-US" sz="2000" kern="0" spc="-220" dirty="0">
                <a:solidFill>
                  <a:schemeClr val="accent6"/>
                </a:solidFill>
              </a:rPr>
              <a:t>/</a:t>
            </a:r>
            <a:r>
              <a:rPr lang="en-US" sz="2000" kern="0" spc="-220" dirty="0" err="1">
                <a:solidFill>
                  <a:schemeClr val="accent6"/>
                </a:solidFill>
              </a:rPr>
              <a:t>Guid</a:t>
            </a:r>
            <a:r>
              <a:rPr lang="en-US" sz="2000" kern="0" spc="-220" dirty="0">
                <a:solidFill>
                  <a:schemeClr val="accent6"/>
                </a:solidFill>
              </a:rPr>
              <a:t> (not ideal).</a:t>
            </a:r>
          </a:p>
          <a:p>
            <a:pPr marL="12700" marR="5080"/>
            <a:endParaRPr lang="en-US" sz="2000" kern="0" spc="-220" dirty="0">
              <a:solidFill>
                <a:schemeClr val="accent6"/>
              </a:solidFill>
            </a:endParaRPr>
          </a:p>
          <a:p>
            <a:pPr marL="12700" marR="5080"/>
            <a:r>
              <a:rPr lang="en-US" sz="2000" kern="0" spc="-220" dirty="0">
                <a:solidFill>
                  <a:schemeClr val="accent2"/>
                </a:solidFill>
              </a:rPr>
              <a:t>Option B — Restrict to unmanaged types (best for primitives)</a:t>
            </a:r>
          </a:p>
          <a:p>
            <a:pPr marL="12700" marR="5080"/>
            <a:r>
              <a:rPr lang="en-US" sz="2000" kern="0" spc="-220" dirty="0">
                <a:solidFill>
                  <a:schemeClr val="accent2"/>
                </a:solidFill>
              </a:rPr>
              <a:t>C# 7.3+ provides:</a:t>
            </a:r>
          </a:p>
          <a:p>
            <a:pPr marL="12700" marR="5080"/>
            <a:r>
              <a:rPr lang="en-US" sz="2000" kern="0" spc="-220" dirty="0">
                <a:solidFill>
                  <a:schemeClr val="accent6"/>
                </a:solidFill>
              </a:rPr>
              <a:t>public class </a:t>
            </a:r>
            <a:r>
              <a:rPr lang="en-US" sz="2000" kern="0" spc="-220" dirty="0" err="1">
                <a:solidFill>
                  <a:schemeClr val="accent6"/>
                </a:solidFill>
              </a:rPr>
              <a:t>MyPrimitiveOnly</a:t>
            </a:r>
            <a:r>
              <a:rPr lang="en-US" sz="2000" kern="0" spc="-220" dirty="0">
                <a:solidFill>
                  <a:schemeClr val="accent6"/>
                </a:solidFill>
              </a:rPr>
              <a:t>&lt;T&gt; where T : unmanaged</a:t>
            </a:r>
          </a:p>
          <a:p>
            <a:pPr marL="12700" marR="5080"/>
            <a:r>
              <a:rPr lang="en-US" sz="2000" kern="0" spc="-220" dirty="0">
                <a:solidFill>
                  <a:schemeClr val="accent6"/>
                </a:solidFill>
              </a:rPr>
              <a:t>{</a:t>
            </a:r>
          </a:p>
          <a:p>
            <a:pPr marL="12700" marR="5080"/>
            <a:r>
              <a:rPr lang="en-US" sz="2000" kern="0" spc="-220" dirty="0">
                <a:solidFill>
                  <a:schemeClr val="accent6"/>
                </a:solidFill>
              </a:rPr>
              <a:t>}</a:t>
            </a:r>
          </a:p>
          <a:p>
            <a:pPr marL="12700" marR="5080"/>
            <a:r>
              <a:rPr lang="en-US" sz="2000" kern="0" spc="-220" dirty="0">
                <a:solidFill>
                  <a:schemeClr val="accent6"/>
                </a:solidFill>
              </a:rPr>
              <a:t>✔ Allows: int, float, double, bool, char, long, byte</a:t>
            </a:r>
          </a:p>
          <a:p>
            <a:pPr marL="12700" marR="5080"/>
            <a:r>
              <a:rPr lang="en-US" sz="2000" kern="0" spc="-220" dirty="0">
                <a:solidFill>
                  <a:schemeClr val="accent6"/>
                </a:solidFill>
              </a:rPr>
              <a:t>✔ Allows user-defined structs with only primitives</a:t>
            </a:r>
          </a:p>
          <a:p>
            <a:pPr marL="12700" marR="5080"/>
            <a:r>
              <a:rPr lang="en-US" sz="2000" kern="0" spc="-220" dirty="0">
                <a:solidFill>
                  <a:schemeClr val="accent6"/>
                </a:solidFill>
              </a:rPr>
              <a:t>❌ Does NOT allow reference types</a:t>
            </a:r>
          </a:p>
          <a:p>
            <a:pPr marL="12700" marR="5080"/>
            <a:r>
              <a:rPr lang="en-US" sz="2000" kern="0" spc="-220" dirty="0">
                <a:solidFill>
                  <a:schemeClr val="accent6"/>
                </a:solidFill>
              </a:rPr>
              <a:t>❌ Does NOT allow structs containing reference fields</a:t>
            </a:r>
          </a:p>
        </p:txBody>
      </p:sp>
    </p:spTree>
    <p:extLst>
      <p:ext uri="{BB962C8B-B14F-4D97-AF65-F5344CB8AC3E}">
        <p14:creationId xmlns:p14="http://schemas.microsoft.com/office/powerpoint/2010/main" val="37240473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A59D4-019D-E510-BD91-36B917A98D8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AD01D9-14D0-D0B7-CC80-0730F9531B6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9A091D3-09B8-C6F3-6B64-AD3B29CE158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2074CF-0EAD-56FE-B759-52CBB343480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4C6E2057-25EF-EF88-93FC-E856FD3DEA74}"/>
              </a:ext>
            </a:extLst>
          </p:cNvPr>
          <p:cNvSpPr txBox="1">
            <a:spLocks/>
          </p:cNvSpPr>
          <p:nvPr/>
        </p:nvSpPr>
        <p:spPr>
          <a:xfrm>
            <a:off x="152400" y="11430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400" kern="0" spc="-220" dirty="0">
                <a:solidFill>
                  <a:schemeClr val="accent2"/>
                </a:solidFill>
              </a:rPr>
              <a:t>Option B — Restrict to unmanaged types (best for primitives)</a:t>
            </a:r>
          </a:p>
          <a:p>
            <a:pPr marL="12700" marR="5080"/>
            <a:r>
              <a:rPr lang="en-US" sz="2000" kern="0" spc="-220" dirty="0">
                <a:solidFill>
                  <a:schemeClr val="accent2"/>
                </a:solidFill>
              </a:rPr>
              <a:t>Example:</a:t>
            </a:r>
          </a:p>
          <a:p>
            <a:pPr marL="12700" marR="5080"/>
            <a:r>
              <a:rPr lang="en-US" sz="2000" kern="0" spc="-220" dirty="0">
                <a:solidFill>
                  <a:schemeClr val="accent6"/>
                </a:solidFill>
              </a:rPr>
              <a:t>public class </a:t>
            </a:r>
            <a:r>
              <a:rPr lang="en-US" sz="2000" kern="0" spc="-220" dirty="0" err="1">
                <a:solidFill>
                  <a:schemeClr val="accent6"/>
                </a:solidFill>
              </a:rPr>
              <a:t>MathOps</a:t>
            </a:r>
            <a:r>
              <a:rPr lang="en-US" sz="2000" kern="0" spc="-220" dirty="0">
                <a:solidFill>
                  <a:schemeClr val="accent6"/>
                </a:solidFill>
              </a:rPr>
              <a:t>&lt;T&gt; where T : unmanaged</a:t>
            </a:r>
          </a:p>
          <a:p>
            <a:pPr marL="12700" marR="5080"/>
            <a:r>
              <a:rPr lang="en-US" sz="2000" kern="0" spc="-220" dirty="0">
                <a:solidFill>
                  <a:schemeClr val="accent6"/>
                </a:solidFill>
              </a:rPr>
              <a:t>{</a:t>
            </a:r>
          </a:p>
          <a:p>
            <a:pPr marL="12700" marR="5080"/>
            <a:r>
              <a:rPr lang="en-US" sz="2000" kern="0" spc="-220" dirty="0">
                <a:solidFill>
                  <a:schemeClr val="accent6"/>
                </a:solidFill>
              </a:rPr>
              <a:t>    public T Add(T a, T b)</a:t>
            </a:r>
          </a:p>
          <a:p>
            <a:pPr marL="12700" marR="5080"/>
            <a:r>
              <a:rPr lang="en-US" sz="2000" kern="0" spc="-220" dirty="0">
                <a:solidFill>
                  <a:schemeClr val="accent6"/>
                </a:solidFill>
              </a:rPr>
              <a:t>    {</a:t>
            </a:r>
          </a:p>
          <a:p>
            <a:pPr marL="12700" marR="5080"/>
            <a:r>
              <a:rPr lang="en-US" sz="2000" kern="0" spc="-220" dirty="0">
                <a:solidFill>
                  <a:schemeClr val="accent6"/>
                </a:solidFill>
              </a:rPr>
              <a:t>        dynamic x = a;</a:t>
            </a:r>
          </a:p>
          <a:p>
            <a:pPr marL="12700" marR="5080"/>
            <a:r>
              <a:rPr lang="en-US" sz="2000" kern="0" spc="-220" dirty="0">
                <a:solidFill>
                  <a:schemeClr val="accent6"/>
                </a:solidFill>
              </a:rPr>
              <a:t>        dynamic y = b;</a:t>
            </a:r>
          </a:p>
          <a:p>
            <a:pPr marL="12700" marR="5080"/>
            <a:r>
              <a:rPr lang="en-US" sz="2000" kern="0" spc="-220" dirty="0">
                <a:solidFill>
                  <a:schemeClr val="accent6"/>
                </a:solidFill>
              </a:rPr>
              <a:t>        return x + y;</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2"/>
                </a:solidFill>
              </a:rPr>
              <a:t>Usage:</a:t>
            </a:r>
          </a:p>
          <a:p>
            <a:pPr marL="12700" marR="5080"/>
            <a:r>
              <a:rPr lang="en-US" sz="2000" kern="0" spc="-220" dirty="0">
                <a:solidFill>
                  <a:schemeClr val="accent6"/>
                </a:solidFill>
              </a:rPr>
              <a:t>var ops = new </a:t>
            </a:r>
            <a:r>
              <a:rPr lang="en-US" sz="2000" kern="0" spc="-220" dirty="0" err="1">
                <a:solidFill>
                  <a:schemeClr val="accent6"/>
                </a:solidFill>
              </a:rPr>
              <a:t>MathOps</a:t>
            </a:r>
            <a:r>
              <a:rPr lang="en-US" sz="2000" kern="0" spc="-220" dirty="0">
                <a:solidFill>
                  <a:schemeClr val="accent6"/>
                </a:solidFill>
              </a:rPr>
              <a:t>&lt;int&gt;();</a:t>
            </a:r>
          </a:p>
          <a:p>
            <a:pPr marL="12700" marR="5080"/>
            <a:r>
              <a:rPr lang="en-US" sz="2000" kern="0" spc="-220" dirty="0" err="1">
                <a:solidFill>
                  <a:schemeClr val="accent6"/>
                </a:solidFill>
              </a:rPr>
              <a:t>Console.WriteLine</a:t>
            </a:r>
            <a:r>
              <a:rPr lang="en-US" sz="2000" kern="0" spc="-220" dirty="0">
                <a:solidFill>
                  <a:schemeClr val="accent6"/>
                </a:solidFill>
              </a:rPr>
              <a:t>(</a:t>
            </a:r>
            <a:r>
              <a:rPr lang="en-US" sz="2000" kern="0" spc="-220" dirty="0" err="1">
                <a:solidFill>
                  <a:schemeClr val="accent6"/>
                </a:solidFill>
              </a:rPr>
              <a:t>ops.Add</a:t>
            </a:r>
            <a:r>
              <a:rPr lang="en-US" sz="2000" kern="0" spc="-220" dirty="0">
                <a:solidFill>
                  <a:schemeClr val="accent6"/>
                </a:solidFill>
              </a:rPr>
              <a:t>(10, 20));</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15221729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D4425-B676-38FC-5FEF-3144ACE284A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88D450B-D47D-23D9-777C-182303D10D3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2FC34D-E6C7-52CD-DD75-2ED5A4AECC8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89CCD50-C6D9-B205-B723-6062C88C293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534BEF94-01B9-2C87-BD07-8466EC3F4E77}"/>
              </a:ext>
            </a:extLst>
          </p:cNvPr>
          <p:cNvSpPr txBox="1">
            <a:spLocks/>
          </p:cNvSpPr>
          <p:nvPr/>
        </p:nvSpPr>
        <p:spPr>
          <a:xfrm>
            <a:off x="152400" y="1143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000" kern="0" spc="-220" dirty="0">
                <a:solidFill>
                  <a:schemeClr val="accent2"/>
                </a:solidFill>
              </a:rPr>
              <a:t>Option C — Hardcode allowed primitive types (runtime check)</a:t>
            </a:r>
          </a:p>
          <a:p>
            <a:pPr marL="12700" marR="5080"/>
            <a:r>
              <a:rPr lang="en-US" sz="2000" kern="0" spc="-220" dirty="0">
                <a:solidFill>
                  <a:schemeClr val="accent2"/>
                </a:solidFill>
              </a:rPr>
              <a:t>If you want exactly only primitive types, do:</a:t>
            </a:r>
          </a:p>
          <a:p>
            <a:pPr marL="12700" marR="5080"/>
            <a:r>
              <a:rPr lang="en-US" sz="2000" kern="0" spc="-220" dirty="0">
                <a:solidFill>
                  <a:schemeClr val="accent6"/>
                </a:solidFill>
              </a:rPr>
              <a:t>public class </a:t>
            </a:r>
            <a:r>
              <a:rPr lang="en-US" sz="2000" kern="0" spc="-220" dirty="0" err="1">
                <a:solidFill>
                  <a:schemeClr val="accent6"/>
                </a:solidFill>
              </a:rPr>
              <a:t>PrimitiveOnly</a:t>
            </a:r>
            <a:r>
              <a:rPr lang="en-US" sz="2000" kern="0" spc="-220" dirty="0">
                <a:solidFill>
                  <a:schemeClr val="accent6"/>
                </a:solidFill>
              </a:rPr>
              <a:t>&lt;T&gt;</a:t>
            </a:r>
          </a:p>
          <a:p>
            <a:pPr marL="12700" marR="5080"/>
            <a:r>
              <a:rPr lang="en-US" sz="2000" kern="0" spc="-220" dirty="0">
                <a:solidFill>
                  <a:schemeClr val="accent6"/>
                </a:solidFill>
              </a:rPr>
              <a:t>{</a:t>
            </a:r>
          </a:p>
          <a:p>
            <a:pPr marL="12700" marR="5080"/>
            <a:r>
              <a:rPr lang="en-US" sz="2000" kern="0" spc="-220" dirty="0">
                <a:solidFill>
                  <a:schemeClr val="accent6"/>
                </a:solidFill>
              </a:rPr>
              <a:t>    static </a:t>
            </a:r>
            <a:r>
              <a:rPr lang="en-US" sz="2000" kern="0" spc="-220" dirty="0" err="1">
                <a:solidFill>
                  <a:schemeClr val="accent6"/>
                </a:solidFill>
              </a:rPr>
              <a:t>PrimitiveOnly</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        var t = </a:t>
            </a:r>
            <a:r>
              <a:rPr lang="en-US" sz="2000" kern="0" spc="-220" dirty="0" err="1">
                <a:solidFill>
                  <a:schemeClr val="accent6"/>
                </a:solidFill>
              </a:rPr>
              <a:t>typeof</a:t>
            </a:r>
            <a:r>
              <a:rPr lang="en-US" sz="2000" kern="0" spc="-220" dirty="0">
                <a:solidFill>
                  <a:schemeClr val="accent6"/>
                </a:solidFill>
              </a:rPr>
              <a:t>(T);</a:t>
            </a:r>
          </a:p>
          <a:p>
            <a:pPr marL="12700" marR="5080"/>
            <a:endParaRPr lang="en-US" sz="2000" kern="0" spc="-220" dirty="0">
              <a:solidFill>
                <a:schemeClr val="accent6"/>
              </a:solidFill>
            </a:endParaRPr>
          </a:p>
          <a:p>
            <a:pPr marL="12700" marR="5080"/>
            <a:r>
              <a:rPr lang="en-US" sz="2000" kern="0" spc="-220" dirty="0">
                <a:solidFill>
                  <a:schemeClr val="accent6"/>
                </a:solidFill>
              </a:rPr>
              <a:t>        if (t != </a:t>
            </a:r>
            <a:r>
              <a:rPr lang="en-US" sz="2000" kern="0" spc="-220" dirty="0" err="1">
                <a:solidFill>
                  <a:schemeClr val="accent6"/>
                </a:solidFill>
              </a:rPr>
              <a:t>typeof</a:t>
            </a:r>
            <a:r>
              <a:rPr lang="en-US" sz="2000" kern="0" spc="-220" dirty="0">
                <a:solidFill>
                  <a:schemeClr val="accent6"/>
                </a:solidFill>
              </a:rPr>
              <a:t>(int)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(float)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(double)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(long)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(short)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(byte) &amp;&amp;</a:t>
            </a:r>
          </a:p>
          <a:p>
            <a:pPr marL="12700" marR="5080"/>
            <a:r>
              <a:rPr lang="en-US" sz="2000" kern="0" spc="-220" dirty="0">
                <a:solidFill>
                  <a:schemeClr val="accent6"/>
                </a:solidFill>
              </a:rPr>
              <a:t>           </a:t>
            </a:r>
          </a:p>
        </p:txBody>
      </p:sp>
    </p:spTree>
    <p:extLst>
      <p:ext uri="{BB962C8B-B14F-4D97-AF65-F5344CB8AC3E}">
        <p14:creationId xmlns:p14="http://schemas.microsoft.com/office/powerpoint/2010/main" val="9486634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ED2EC-98DA-D110-C3DC-ECDF08478E3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71C934-CE10-30AA-4265-20D7D4DBA09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8933D5D-4E24-AC53-F279-E2965C55484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088299-48EA-5898-6304-7FBFE16C8E9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05F112C-F411-377D-21C4-B81DD22ABFA0}"/>
              </a:ext>
            </a:extLst>
          </p:cNvPr>
          <p:cNvSpPr txBox="1">
            <a:spLocks/>
          </p:cNvSpPr>
          <p:nvPr/>
        </p:nvSpPr>
        <p:spPr>
          <a:xfrm>
            <a:off x="152400" y="1143000"/>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000" kern="0" spc="-220" dirty="0">
                <a:solidFill>
                  <a:schemeClr val="accent2"/>
                </a:solidFill>
              </a:rPr>
              <a:t>Option C — Hardcode allowed primitive types (runtime check)</a:t>
            </a:r>
          </a:p>
          <a:p>
            <a:pPr marL="12700" marR="5080"/>
            <a:r>
              <a:rPr lang="en-US" sz="2000" kern="0" spc="-220" dirty="0">
                <a:solidFill>
                  <a:schemeClr val="accent6"/>
                </a:solidFill>
              </a:rPr>
              <a:t>t != </a:t>
            </a:r>
            <a:r>
              <a:rPr lang="en-US" sz="2000" kern="0" spc="-220" dirty="0" err="1">
                <a:solidFill>
                  <a:schemeClr val="accent6"/>
                </a:solidFill>
              </a:rPr>
              <a:t>typeof</a:t>
            </a:r>
            <a:r>
              <a:rPr lang="en-US" sz="2000" kern="0" spc="-220" dirty="0">
                <a:solidFill>
                  <a:schemeClr val="accent6"/>
                </a:solidFill>
              </a:rPr>
              <a:t>(char))</a:t>
            </a:r>
          </a:p>
          <a:p>
            <a:pPr marL="12700" marR="5080"/>
            <a:r>
              <a:rPr lang="en-US" sz="2000" kern="0" spc="-220" dirty="0">
                <a:solidFill>
                  <a:schemeClr val="accent6"/>
                </a:solidFill>
              </a:rPr>
              <a:t>        {</a:t>
            </a:r>
          </a:p>
          <a:p>
            <a:pPr marL="12700" marR="5080"/>
            <a:r>
              <a:rPr lang="en-US" sz="2000" kern="0" spc="-220" dirty="0">
                <a:solidFill>
                  <a:schemeClr val="accent6"/>
                </a:solidFill>
              </a:rPr>
              <a:t>            throw new </a:t>
            </a:r>
            <a:r>
              <a:rPr lang="en-US" sz="2000" kern="0" spc="-220" dirty="0" err="1">
                <a:solidFill>
                  <a:schemeClr val="accent6"/>
                </a:solidFill>
              </a:rPr>
              <a:t>InvalidOperationException</a:t>
            </a:r>
            <a:r>
              <a:rPr lang="en-US" sz="2000" kern="0" spc="-220" dirty="0">
                <a:solidFill>
                  <a:schemeClr val="accent6"/>
                </a:solidFill>
              </a:rPr>
              <a:t>("T must be a primitive type.");</a:t>
            </a:r>
          </a:p>
          <a:p>
            <a:pPr marL="12700" marR="5080"/>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a:t>
            </a:r>
          </a:p>
        </p:txBody>
      </p:sp>
    </p:spTree>
    <p:extLst>
      <p:ext uri="{BB962C8B-B14F-4D97-AF65-F5344CB8AC3E}">
        <p14:creationId xmlns:p14="http://schemas.microsoft.com/office/powerpoint/2010/main" val="33088699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2"/>
                </a:solidFill>
              </a:rPr>
              <a:t>Multicast Delegates &amp; Events Example –</a:t>
            </a:r>
            <a:r>
              <a:rPr lang="en-US" sz="2400" kern="0" spc="-220" dirty="0">
                <a:solidFill>
                  <a:schemeClr val="accent6"/>
                </a:solidFill>
              </a:rPr>
              <a:t>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Binary –</a:t>
            </a:r>
            <a:r>
              <a:rPr lang="en-US" sz="2400" kern="0" spc="-220" dirty="0">
                <a:solidFill>
                  <a:schemeClr val="accent6"/>
                </a:solidFill>
              </a:rPr>
              <a:t>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2"/>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same 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2"/>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2"/>
                </a:solidFill>
              </a:rPr>
              <a:t>Cloning(/Prototype Pattern) – </a:t>
            </a:r>
          </a:p>
          <a:p>
            <a:pPr marL="12700" marR="5080"/>
            <a:r>
              <a:rPr lang="en-US" sz="1500" dirty="0" err="1">
                <a:hlinkClick r:id="rId7"/>
              </a:rPr>
              <a:t>c#</a:t>
            </a:r>
            <a:r>
              <a:rPr lang="en-US" sz="1500" dirty="0">
                <a:hlinkClick r:id="rId7"/>
              </a:rPr>
              <a:t> - How do you do a deep copy of an object in .NET? - Stack Overflow</a:t>
            </a:r>
            <a:r>
              <a:rPr lang="en-US" sz="1200" dirty="0"/>
              <a:t> </a:t>
            </a:r>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2"/>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2"/>
                </a:solidFill>
              </a:rPr>
              <a:t>Example –</a:t>
            </a:r>
            <a:r>
              <a:rPr lang="en-US" sz="2200" kern="0" spc="-220" dirty="0">
                <a:solidFill>
                  <a:schemeClr val="accent6"/>
                </a:solidFill>
              </a:rPr>
              <a:t>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2"/>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in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2"/>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p:txBody>
      </p:sp>
    </p:spTree>
    <p:extLst>
      <p:ext uri="{BB962C8B-B14F-4D97-AF65-F5344CB8AC3E}">
        <p14:creationId xmlns:p14="http://schemas.microsoft.com/office/powerpoint/2010/main" val="1637109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400" kern="0" spc="-220" dirty="0">
                <a:solidFill>
                  <a:schemeClr val="accent2"/>
                </a:solidFill>
              </a:rPr>
              <a:t>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r>
              <a:rPr lang="en-US" sz="2400" kern="0" spc="-220" dirty="0" err="1">
                <a:solidFill>
                  <a:schemeClr val="accent2"/>
                </a:solidFill>
              </a:rPr>
              <a:t>contd</a:t>
            </a:r>
            <a:r>
              <a:rPr lang="en-US" sz="2400" kern="0" spc="-220" dirty="0">
                <a:solidFill>
                  <a:schemeClr val="accent2"/>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a:t>
            </a:r>
            <a:r>
              <a:rPr lang="en-US" sz="2400" kern="0" spc="-220" dirty="0" err="1">
                <a:solidFill>
                  <a:schemeClr val="accent2"/>
                </a:solidFill>
              </a:rPr>
              <a:t>contd</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Extension Method Implementation – </a:t>
            </a:r>
          </a:p>
          <a:p>
            <a:pPr marL="12700" marR="5080"/>
            <a:r>
              <a:rPr lang="en-US" sz="1500" dirty="0">
                <a:hlinkClick r:id="rId7"/>
              </a:rPr>
              <a:t>Using Extension Methods in C# to Build Fluent Code - Kill All Defects</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087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real world example built using Fluent API –</a:t>
            </a:r>
          </a:p>
          <a:p>
            <a:pPr marL="12700" marR="5080"/>
            <a:r>
              <a:rPr lang="en-US" sz="2000" kern="0" spc="-220" dirty="0">
                <a:solidFill>
                  <a:schemeClr val="accent6"/>
                </a:solidFill>
              </a:rPr>
              <a:t> </a:t>
            </a:r>
            <a:r>
              <a:rPr lang="en-US" sz="1500" dirty="0">
                <a:hlinkClick r:id="rId8"/>
              </a:rPr>
              <a:t>DDD-Based-Enterprise-Application-Framework/</a:t>
            </a:r>
            <a:r>
              <a:rPr lang="en-US" sz="1500" dirty="0" err="1">
                <a:hlinkClick r:id="rId8"/>
              </a:rPr>
              <a:t>FluentRepository</a:t>
            </a:r>
            <a:r>
              <a:rPr lang="en-US" sz="1500" dirty="0">
                <a:hlinkClick r:id="rId8"/>
              </a:rPr>
              <a:t> at master · sandipray63in/DDD-Based-Enterprise-Application-Framework · GitHub</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2"/>
                </a:solidFill>
              </a:rPr>
              <a:t>Corresponding Unit Tests for Fluent </a:t>
            </a:r>
            <a:r>
              <a:rPr lang="en-US" sz="2400" kern="0" spc="-220" dirty="0" err="1">
                <a:solidFill>
                  <a:schemeClr val="accent2"/>
                </a:solidFill>
              </a:rPr>
              <a:t>Repositoy</a:t>
            </a:r>
            <a:r>
              <a:rPr lang="en-US" sz="2400" kern="0" spc="-220" dirty="0">
                <a:solidFill>
                  <a:schemeClr val="accent2"/>
                </a:solidFill>
              </a:rPr>
              <a:t>- </a:t>
            </a:r>
          </a:p>
          <a:p>
            <a:pPr marL="12700" marR="5080"/>
            <a:r>
              <a:rPr lang="en-US" sz="1500" kern="0" spc="-220" dirty="0">
                <a:solidFill>
                  <a:schemeClr val="accent6"/>
                </a:solidFill>
              </a:rPr>
              <a:t> </a:t>
            </a:r>
            <a:r>
              <a:rPr lang="en-US" sz="1500" dirty="0">
                <a:hlinkClick r:id="rId9"/>
              </a:rPr>
              <a:t>DDD-Based-Enterprise-Application-Framework/</a:t>
            </a:r>
            <a:r>
              <a:rPr lang="en-US" sz="1500" dirty="0" err="1">
                <a:hlinkClick r:id="rId9"/>
              </a:rPr>
              <a:t>Testing.FluentRepository</a:t>
            </a:r>
            <a:r>
              <a:rPr lang="en-US" sz="1500" dirty="0">
                <a:hlinkClick r:id="rId9"/>
              </a:rPr>
              <a:t> at master · sandipray63in/DDD-Based-Enterprise-Application-Framework · GitHub</a:t>
            </a:r>
            <a:endParaRPr lang="en-US" sz="1500" kern="0" spc="-220" dirty="0">
              <a:solidFill>
                <a:schemeClr val="accent6"/>
              </a:solidFill>
            </a:endParaRP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IN" sz="1500" dirty="0" err="1">
                <a:hlinkClick r:id="rId10"/>
              </a:rPr>
              <a:t>FluentValidation</a:t>
            </a:r>
            <a:r>
              <a:rPr lang="en-IN" sz="1500" dirty="0">
                <a:hlinkClick r:id="rId10"/>
              </a:rPr>
              <a:t> — </a:t>
            </a:r>
            <a:r>
              <a:rPr lang="en-IN" sz="1500" dirty="0" err="1">
                <a:hlinkClick r:id="rId10"/>
              </a:rPr>
              <a:t>FluentValidation</a:t>
            </a:r>
            <a:r>
              <a:rPr lang="en-IN" sz="1500" dirty="0">
                <a:hlinkClick r:id="rId10"/>
              </a:rPr>
              <a:t> documentation</a:t>
            </a:r>
            <a:r>
              <a:rPr lang="en-US" sz="1600" kern="0" spc="-220" dirty="0">
                <a:solidFill>
                  <a:schemeClr val="accent6"/>
                </a:solidFill>
              </a:rPr>
              <a:t>)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workarounds for the same &amp; for that an example that can be referred is</a:t>
            </a:r>
          </a:p>
          <a:p>
            <a:pPr marL="12700" marR="5080"/>
            <a:r>
              <a:rPr lang="en-US" sz="1500" dirty="0">
                <a:hlinkClick r:id="rId11"/>
              </a:rPr>
              <a:t>Making </a:t>
            </a:r>
            <a:r>
              <a:rPr lang="en-US" sz="1500" dirty="0" err="1">
                <a:hlinkClick r:id="rId11"/>
              </a:rPr>
              <a:t>FluentValidation</a:t>
            </a:r>
            <a:r>
              <a:rPr lang="en-US" sz="1500" dirty="0">
                <a:hlinkClick r:id="rId11"/>
              </a:rPr>
              <a:t> compatible with Swagger including Enum or fixed List support</a:t>
            </a:r>
            <a:endParaRPr lang="en-US" sz="1500" kern="0" spc="-220" dirty="0">
              <a:solidFill>
                <a:schemeClr val="accent6"/>
              </a:solidFill>
            </a:endParaRPr>
          </a:p>
        </p:txBody>
      </p:sp>
    </p:spTree>
    <p:extLst>
      <p:ext uri="{BB962C8B-B14F-4D97-AF65-F5344CB8AC3E}">
        <p14:creationId xmlns:p14="http://schemas.microsoft.com/office/powerpoint/2010/main" val="248918163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 For the interfaces, which provides the </a:t>
            </a:r>
            <a:r>
              <a:rPr lang="en-US" sz="2000" kern="0" spc="-220" dirty="0" err="1">
                <a:solidFill>
                  <a:schemeClr val="accent6"/>
                </a:solidFill>
              </a:rPr>
              <a:t>mixin's</a:t>
            </a:r>
            <a:r>
              <a:rPr lang="en-US" sz="2000" kern="0" spc="-220" dirty="0">
                <a:solidFill>
                  <a:schemeClr val="accent6"/>
                </a:solidFill>
              </a:rPr>
              <a:t> actual methods, </a:t>
            </a:r>
            <a:r>
              <a:rPr lang="en-US" sz="2000" kern="0" spc="-220" dirty="0" err="1">
                <a:solidFill>
                  <a:schemeClr val="accent6"/>
                </a:solidFill>
              </a:rPr>
              <a:t>mixins</a:t>
            </a:r>
            <a:r>
              <a:rPr lang="en-US" sz="2000" kern="0" spc="-220" dirty="0">
                <a:solidFill>
                  <a:schemeClr val="accent6"/>
                </a:solidFill>
              </a:rPr>
              <a:t>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2"/>
                </a:solidFill>
              </a:rPr>
              <a:t>Example –</a:t>
            </a:r>
          </a:p>
          <a:p>
            <a:pPr marL="12700" marR="5080"/>
            <a:r>
              <a:rPr lang="en-US" sz="1500" kern="0" spc="-220" dirty="0">
                <a:solidFill>
                  <a:schemeClr val="accent6"/>
                </a:solidFill>
              </a:rPr>
              <a:t> </a:t>
            </a:r>
            <a:r>
              <a:rPr lang="en-US" sz="1500" dirty="0">
                <a:hlinkClick r:id="rId7"/>
              </a:rPr>
              <a:t>How To Create </a:t>
            </a:r>
            <a:r>
              <a:rPr lang="en-US" sz="1500" dirty="0" err="1">
                <a:hlinkClick r:id="rId7"/>
              </a:rPr>
              <a:t>Mixin</a:t>
            </a:r>
            <a:r>
              <a:rPr lang="en-US" sz="1500" dirty="0">
                <a:hlinkClick r:id="rId7"/>
              </a:rPr>
              <a:t> Using C# 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Implementing </a:t>
            </a:r>
            <a:r>
              <a:rPr lang="en-US" sz="2400" kern="0" spc="-220" dirty="0" err="1">
                <a:solidFill>
                  <a:schemeClr val="accent2"/>
                </a:solidFill>
              </a:rPr>
              <a:t>Mixin</a:t>
            </a:r>
            <a:r>
              <a:rPr lang="en-US" sz="2400" kern="0" spc="-220" dirty="0">
                <a:solidFill>
                  <a:schemeClr val="accent2"/>
                </a:solidFill>
              </a:rPr>
              <a:t> in &gt; C# 8 –</a:t>
            </a:r>
          </a:p>
          <a:p>
            <a:pPr algn="l"/>
            <a:endParaRPr lang="en-US" sz="2400" kern="0" spc="-220" dirty="0">
              <a:solidFill>
                <a:schemeClr val="accent6"/>
              </a:solidFill>
            </a:endParaRPr>
          </a:p>
          <a:p>
            <a:pPr algn="l"/>
            <a:r>
              <a:rPr lang="en-US" sz="2400" kern="0" spc="-220" dirty="0">
                <a:solidFill>
                  <a:schemeClr val="accent2"/>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2"/>
                </a:solidFill>
              </a:rPr>
              <a:t>Mixin</a:t>
            </a:r>
            <a:r>
              <a:rPr lang="en-US" sz="2400" kern="0" spc="-220" dirty="0">
                <a:solidFill>
                  <a:schemeClr val="accent2"/>
                </a:solidFill>
              </a:rPr>
              <a:t> Implementation Example Using Default Interfaces Implementations– </a:t>
            </a:r>
          </a:p>
          <a:p>
            <a:pPr algn="l"/>
            <a:r>
              <a:rPr lang="en-US" sz="1500" dirty="0">
                <a:hlinkClick r:id="rId7"/>
              </a:rPr>
              <a:t>Create </a:t>
            </a:r>
            <a:r>
              <a:rPr lang="en-US" sz="1500" dirty="0" err="1">
                <a:hlinkClick r:id="rId7"/>
              </a:rPr>
              <a:t>mixin</a:t>
            </a:r>
            <a:r>
              <a:rPr lang="en-US" sz="1500" dirty="0">
                <a:hlinkClick r:id="rId7"/>
              </a:rPr>
              <a:t> types using default interface methods - C# | Microsoft Learn</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20981" y="2868136"/>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An Example(with explanation) - </a:t>
            </a:r>
          </a:p>
          <a:p>
            <a:r>
              <a:rPr lang="en-IN" sz="1600" dirty="0">
                <a:hlinkClick r:id="rId7"/>
              </a:rPr>
              <a:t>Descriptor Pattern · GitHub</a:t>
            </a:r>
            <a:endParaRPr lang="en-US" sz="15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Leaks in Managed Code- </a:t>
            </a:r>
          </a:p>
          <a:p>
            <a:pPr algn="l"/>
            <a:r>
              <a:rPr lang="en-US" sz="1500" kern="0" spc="-220" dirty="0">
                <a:solidFill>
                  <a:schemeClr val="accent6"/>
                </a:solidFill>
              </a:rPr>
              <a:t> </a:t>
            </a:r>
            <a:r>
              <a:rPr lang="en-US" sz="1500" dirty="0">
                <a:hlinkClick r:id="rId7"/>
              </a:rPr>
              <a:t>Find, Fix, and Avoid Memory Leaks in C# .NET: 8 Best Practices | Michael's Coding Spot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An </a:t>
            </a:r>
            <a:r>
              <a:rPr lang="en-US" sz="2000" kern="0" spc="-220" dirty="0" err="1">
                <a:solidFill>
                  <a:schemeClr val="accent2"/>
                </a:solidFill>
              </a:rPr>
              <a:t>IDisposable</a:t>
            </a:r>
            <a:r>
              <a:rPr lang="en-US" sz="2000" kern="0" spc="-220" dirty="0">
                <a:solidFill>
                  <a:schemeClr val="accent2"/>
                </a:solidFill>
              </a:rPr>
              <a:t> Example - </a:t>
            </a:r>
          </a:p>
          <a:p>
            <a:pPr algn="l"/>
            <a:r>
              <a:rPr lang="en-US" sz="1800" kern="0" spc="-220" dirty="0">
                <a:solidFill>
                  <a:schemeClr val="accent6"/>
                </a:solidFill>
              </a:rPr>
              <a:t> </a:t>
            </a:r>
            <a:r>
              <a:rPr lang="en-IN" sz="1500" dirty="0">
                <a:hlinkClick r:id="rId8"/>
              </a:rPr>
              <a:t>DDD-Based-Enterprise-Application-Framework/Infrastructure/</a:t>
            </a:r>
            <a:r>
              <a:rPr lang="en-IN" sz="1500" dirty="0" err="1">
                <a:hlinkClick r:id="rId8"/>
              </a:rPr>
              <a:t>DisposableClass.cs</a:t>
            </a:r>
            <a:r>
              <a:rPr lang="en-IN" sz="1500" dirty="0">
                <a:hlinkClick r:id="rId8"/>
              </a:rPr>
              <a:t> at master · sandipray63in/DDD-Based-Enterprise-Application-Framework · GitHub</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a:t>
            </a:r>
          </a:p>
          <a:p>
            <a:pPr algn="l"/>
            <a:r>
              <a:rPr lang="en-US" sz="1500" kern="0" spc="-220" dirty="0">
                <a:solidFill>
                  <a:schemeClr val="accent6"/>
                </a:solidFill>
              </a:rPr>
              <a:t> </a:t>
            </a:r>
            <a:r>
              <a:rPr lang="en-IN" sz="1500" dirty="0">
                <a:hlinkClick r:id="rId9"/>
              </a:rPr>
              <a:t>Understanding weak references in .NET- </a:t>
            </a:r>
            <a:r>
              <a:rPr lang="en-IN" sz="1500" dirty="0" err="1">
                <a:hlinkClick r:id="rId9"/>
              </a:rPr>
              <a:t>CodeProject</a:t>
            </a:r>
            <a:endParaRPr lang="en-IN" sz="1500" dirty="0"/>
          </a:p>
          <a:p>
            <a:pPr algn="l"/>
            <a:r>
              <a:rPr lang="en-IN" sz="1500" kern="0" spc="-220" dirty="0">
                <a:solidFill>
                  <a:schemeClr val="accent6"/>
                </a:solidFill>
              </a:rPr>
              <a:t>  </a:t>
            </a:r>
            <a:r>
              <a:rPr lang="en-US" sz="1500" dirty="0" err="1">
                <a:hlinkClick r:id="rId10"/>
              </a:rPr>
              <a:t>.net</a:t>
            </a:r>
            <a:r>
              <a:rPr lang="en-US" sz="1500" dirty="0">
                <a:hlinkClick r:id="rId10"/>
              </a:rPr>
              <a:t> - Understanding </a:t>
            </a:r>
            <a:r>
              <a:rPr lang="en-US" sz="1500" dirty="0" err="1">
                <a:hlinkClick r:id="rId10"/>
              </a:rPr>
              <a:t>ConditionalWeakTable</a:t>
            </a:r>
            <a:r>
              <a:rPr lang="en-US" sz="1500" dirty="0">
                <a:hlinkClick r:id="rId10"/>
              </a:rPr>
              <a:t> - Stack Overflow</a:t>
            </a:r>
            <a:endParaRPr lang="en-US" sz="1500" dirty="0"/>
          </a:p>
          <a:p>
            <a:pPr algn="l"/>
            <a:r>
              <a:rPr lang="en-US" sz="1500" kern="0" spc="-220" dirty="0">
                <a:solidFill>
                  <a:schemeClr val="accent6"/>
                </a:solidFill>
              </a:rPr>
              <a:t>  </a:t>
            </a:r>
            <a:r>
              <a:rPr lang="en-IN" sz="1500" dirty="0" err="1">
                <a:hlinkClick r:id="rId11"/>
              </a:rPr>
              <a:t>WeakReference</a:t>
            </a:r>
            <a:r>
              <a:rPr lang="en-IN" sz="1500" dirty="0">
                <a:hlinkClick r:id="rId11"/>
              </a:rPr>
              <a:t> Event Handlers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Cache (An alternative to “</a:t>
            </a:r>
            <a:r>
              <a:rPr lang="en-US" sz="2000" kern="0" spc="-220" dirty="0" err="1">
                <a:solidFill>
                  <a:schemeClr val="accent2"/>
                </a:solidFill>
              </a:rPr>
              <a:t>ConditionalWeakTable</a:t>
            </a:r>
            <a:r>
              <a:rPr lang="en-US" sz="2000" kern="0" spc="-220" dirty="0">
                <a:solidFill>
                  <a:schemeClr val="accent2"/>
                </a:solidFill>
              </a:rPr>
              <a:t> based cache”) - </a:t>
            </a:r>
          </a:p>
          <a:p>
            <a:pPr algn="l"/>
            <a:r>
              <a:rPr lang="en-US" sz="1500" dirty="0">
                <a:hlinkClick r:id="rId12"/>
              </a:rPr>
              <a:t>In-memory caching in </a:t>
            </a:r>
            <a:r>
              <a:rPr lang="en-US" sz="1500" dirty="0" err="1">
                <a:hlinkClick r:id="rId12"/>
              </a:rPr>
              <a:t>.Net</a:t>
            </a:r>
            <a:r>
              <a:rPr lang="en-US" sz="1500" dirty="0">
                <a:hlinkClick r:id="rId12"/>
              </a:rPr>
              <a:t>. In-memory caching is a common technique… | by Josiah T Mahachi | Medium</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Resurrection- </a:t>
            </a:r>
          </a:p>
          <a:p>
            <a:pPr algn="l"/>
            <a:r>
              <a:rPr lang="en-US" sz="1500" dirty="0" err="1">
                <a:hlinkClick r:id="rId7"/>
              </a:rPr>
              <a:t>c#</a:t>
            </a:r>
            <a:r>
              <a:rPr lang="en-US" sz="1500" dirty="0">
                <a:hlinkClick r:id="rId7"/>
              </a:rPr>
              <a:t> - Usages of object resurrection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7697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Mark &amp; Sweep Algorithm- </a:t>
            </a:r>
          </a:p>
          <a:p>
            <a:pPr algn="l"/>
            <a:r>
              <a:rPr lang="en-US" sz="1500" dirty="0">
                <a:hlinkClick r:id="rId8"/>
              </a:rPr>
              <a:t>Mark and Sweep Garbage Collection Algorithm | LinkedIn</a:t>
            </a:r>
            <a:endParaRPr lang="en-US" sz="1500" dirty="0"/>
          </a:p>
          <a:p>
            <a:pPr algn="l"/>
            <a:r>
              <a:rPr lang="en-US" sz="1800" kern="0" spc="-220" dirty="0">
                <a:solidFill>
                  <a:schemeClr val="accent6"/>
                </a:solidFill>
              </a:rPr>
              <a:t>By the way, in the above article, it’s pretty funny how Tom is applying “Sweep Algorithm” in 3 ways without marking anything , all in parallel </a:t>
            </a:r>
            <a:r>
              <a:rPr lang="en-US" sz="1800" kern="0" spc="-220" dirty="0">
                <a:solidFill>
                  <a:schemeClr val="accent6"/>
                </a:solidFill>
                <a:sym typeface="Wingdings" panose="05000000000000000000" pitchFamily="2" charset="2"/>
              </a:rPr>
              <a:t></a:t>
            </a:r>
            <a:endParaRPr lang="en-US" sz="1800" kern="0" spc="-220" dirty="0">
              <a:solidFill>
                <a:schemeClr val="accent6"/>
              </a:solidFill>
            </a:endParaRP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259531" y="2353559"/>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 Garbage Collection &amp; Generations- </a:t>
            </a:r>
          </a:p>
          <a:p>
            <a:pPr algn="l"/>
            <a:r>
              <a:rPr lang="en-US" sz="2000" kern="0" spc="-220" dirty="0">
                <a:solidFill>
                  <a:schemeClr val="accent6"/>
                </a:solidFill>
              </a:rPr>
              <a:t> </a:t>
            </a:r>
            <a:r>
              <a:rPr lang="en-US" sz="1500" dirty="0">
                <a:hlinkClick r:id="rId9"/>
              </a:rPr>
              <a:t>EP125: How does Garbage Collection work?</a:t>
            </a:r>
            <a:r>
              <a:rPr lang="en-US" sz="1500" dirty="0"/>
              <a:t> </a:t>
            </a:r>
            <a:r>
              <a:rPr lang="en-US" sz="1500" kern="0" spc="-220" dirty="0">
                <a:solidFill>
                  <a:schemeClr val="accent6"/>
                </a:solidFill>
              </a:rPr>
              <a:t> </a:t>
            </a:r>
          </a:p>
          <a:p>
            <a:pPr algn="l"/>
            <a:r>
              <a:rPr lang="en-US" sz="1500" kern="0" spc="-220" dirty="0">
                <a:solidFill>
                  <a:schemeClr val="accent6"/>
                </a:solidFill>
              </a:rPr>
              <a:t> </a:t>
            </a:r>
            <a:r>
              <a:rPr lang="en-IN" sz="1500" dirty="0">
                <a:hlinkClick r:id="rId10"/>
              </a:rPr>
              <a:t>C# Garbage Collection Tutorial – </a:t>
            </a:r>
            <a:r>
              <a:rPr lang="en-IN" sz="1500" dirty="0" err="1">
                <a:hlinkClick r:id="rId10"/>
              </a:rPr>
              <a:t>Stackify</a:t>
            </a:r>
            <a:r>
              <a:rPr lang="en-US" sz="1500" kern="0" spc="-220" dirty="0">
                <a:solidFill>
                  <a:schemeClr val="accent6"/>
                </a:solidFill>
              </a:rPr>
              <a:t> </a:t>
            </a:r>
          </a:p>
          <a:p>
            <a:pPr algn="l"/>
            <a:r>
              <a:rPr lang="en-US" sz="1500" kern="0" spc="-220" dirty="0">
                <a:solidFill>
                  <a:schemeClr val="accent6"/>
                </a:solidFill>
              </a:rPr>
              <a:t> </a:t>
            </a:r>
            <a:r>
              <a:rPr lang="en-US" sz="1500" dirty="0" err="1">
                <a:hlinkClick r:id="rId11"/>
              </a:rPr>
              <a:t>.net</a:t>
            </a:r>
            <a:r>
              <a:rPr lang="en-US" sz="1500" dirty="0">
                <a:hlinkClick r:id="rId11"/>
              </a:rPr>
              <a:t> - What are the Generations in Garbage Collection? - Stack Overflow</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331369194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IEnumerable</a:t>
            </a:r>
            <a:r>
              <a:rPr lang="en-US" sz="2000" kern="0" spc="-220" dirty="0">
                <a:solidFill>
                  <a:schemeClr val="accent2"/>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Fluent Syntax vs Query Syntax - </a:t>
            </a:r>
            <a:r>
              <a:rPr lang="en-US" sz="2000" kern="0" spc="-220" dirty="0">
                <a:solidFill>
                  <a:schemeClr val="accent6"/>
                </a:solidFill>
              </a:rPr>
              <a:t>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IN" sz="1500" dirty="0" err="1">
                <a:hlinkClick r:id="rId7"/>
              </a:rPr>
              <a:t>Mehfuz's</a:t>
            </a:r>
            <a:r>
              <a:rPr lang="en-IN" sz="1500" dirty="0">
                <a:hlinkClick r:id="rId7"/>
              </a:rPr>
              <a:t> </a:t>
            </a:r>
            <a:r>
              <a:rPr lang="en-IN" sz="1500" dirty="0" err="1">
                <a:hlinkClick r:id="rId7"/>
              </a:rPr>
              <a:t>WebLog</a:t>
            </a:r>
            <a:r>
              <a:rPr lang="en-IN" sz="1500" dirty="0">
                <a:hlinkClick r:id="rId7"/>
              </a:rPr>
              <a:t> - Creating </a:t>
            </a:r>
            <a:r>
              <a:rPr lang="en-IN" sz="1500" dirty="0" err="1">
                <a:hlinkClick r:id="rId7"/>
              </a:rPr>
              <a:t>LINQToTwitter</a:t>
            </a:r>
            <a:r>
              <a:rPr lang="en-IN" sz="1500" dirty="0">
                <a:hlinkClick r:id="rId7"/>
              </a:rPr>
              <a:t> library using </a:t>
            </a:r>
            <a:r>
              <a:rPr lang="en-IN" sz="1500" dirty="0" err="1">
                <a:hlinkClick r:id="rId7"/>
              </a:rPr>
              <a:t>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8"/>
              </a:rPr>
              <a:t>Processes, Threads, </a:t>
            </a:r>
            <a:r>
              <a:rPr lang="en-US" sz="1500" dirty="0" err="1">
                <a:hlinkClick r:id="rId8"/>
              </a:rPr>
              <a:t>AppDomains</a:t>
            </a:r>
            <a:r>
              <a:rPr lang="en-US" sz="1500" dirty="0">
                <a:hlinkClick r:id="rId8"/>
              </a:rPr>
              <a:t> And Object Contexts | </a:t>
            </a:r>
            <a:r>
              <a:rPr lang="en-US" sz="1500" dirty="0" err="1">
                <a:hlinkClick r:id="rId8"/>
              </a:rPr>
              <a:t>luke</a:t>
            </a:r>
            <a:r>
              <a:rPr lang="en-US" sz="1500" dirty="0">
                <a:hlinkClick r:id="rId8"/>
              </a:rPr>
              <a:t> </a:t>
            </a:r>
            <a:r>
              <a:rPr lang="en-US" sz="1500" dirty="0" err="1">
                <a:hlinkClick r:id="rId8"/>
              </a:rPr>
              <a:t>wickstead</a:t>
            </a:r>
            <a:endParaRPr lang="en-US" sz="15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787147295"/>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US" sz="1600" dirty="0">
                          <a:hlinkClick r:id="rId7"/>
                        </a:rPr>
                        <a:t>How to Pass Data Thread Function in Type-Safe Manner in C#</a:t>
                      </a:r>
                      <a:endParaRPr lang="en-US" sz="1600" dirty="0"/>
                    </a:p>
                    <a:p>
                      <a:r>
                        <a:rPr lang="en-US" sz="1600" dirty="0">
                          <a:hlinkClick r:id="rId8"/>
                        </a:rPr>
                        <a:t>How to Retrieve Data from a Thread Function in C# - Dot Net Tutorials</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US" sz="1600" dirty="0">
                          <a:hlinkClick r:id="rId9"/>
                        </a:rPr>
                        <a:t>Thread Pools - Win32 apps | Microsoft Learn</a:t>
                      </a:r>
                      <a:endParaRPr lang="en-IN" sz="1600" dirty="0"/>
                    </a:p>
                    <a:p>
                      <a:r>
                        <a:rPr lang="en-IN" sz="1600" dirty="0"/>
                        <a:t>(check/google/</a:t>
                      </a:r>
                      <a:r>
                        <a:rPr lang="en-IN" sz="1600" dirty="0" err="1"/>
                        <a:t>chaptGPT</a:t>
                      </a:r>
                      <a:r>
                        <a:rPr lang="en-IN" sz="1600" dirty="0"/>
                        <a:t>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 by default.</a:t>
                      </a:r>
                    </a:p>
                    <a:p>
                      <a:endParaRPr lang="en-IN" sz="1600" dirty="0"/>
                    </a:p>
                  </a:txBody>
                  <a:tcPr/>
                </a:tc>
                <a:tc>
                  <a:txBody>
                    <a:bodyPr/>
                    <a:lstStyle/>
                    <a:p>
                      <a:r>
                        <a:rPr lang="en-US" sz="1600" dirty="0" err="1">
                          <a:hlinkClick r:id="rId10"/>
                        </a:rPr>
                        <a:t>c#</a:t>
                      </a:r>
                      <a:r>
                        <a:rPr lang="en-US" sz="1600" dirty="0">
                          <a:hlinkClick r:id="rId10"/>
                        </a:rPr>
                        <a:t> - What is the difference between task and thread? - Stack Overflow</a:t>
                      </a:r>
                      <a:endParaRPr lang="en-US" sz="1600" dirty="0"/>
                    </a:p>
                    <a:p>
                      <a:r>
                        <a:rPr lang="en-US" sz="1600" dirty="0">
                          <a:hlinkClick r:id="rId11"/>
                        </a:rPr>
                        <a:t>Task Class (</a:t>
                      </a:r>
                      <a:r>
                        <a:rPr lang="en-US" sz="1600" dirty="0" err="1">
                          <a:hlinkClick r:id="rId11"/>
                        </a:rPr>
                        <a:t>System.Threading.Tasks</a:t>
                      </a:r>
                      <a:r>
                        <a:rPr lang="en-US" sz="1600" dirty="0">
                          <a:hlinkClick r:id="rId11"/>
                        </a:rPr>
                        <a:t>) | Microsoft Learn</a:t>
                      </a:r>
                      <a:endParaRPr lang="en-IN" sz="1600" dirty="0"/>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(check/google/</a:t>
                      </a:r>
                      <a:r>
                        <a:rPr lang="en-IN" sz="1600" dirty="0" err="1"/>
                        <a:t>chatGPT</a:t>
                      </a:r>
                      <a:r>
                        <a:rPr lang="en-IN" sz="1600" dirty="0"/>
                        <a:t>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20774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1500" dirty="0">
                <a:hlinkClick r:id="rId7"/>
              </a:rPr>
              <a:t>What is a Race Condition? Vulnerability and Attack</a:t>
            </a:r>
            <a:endParaRPr lang="en-US" sz="1500" dirty="0"/>
          </a:p>
          <a:p>
            <a:pPr algn="l"/>
            <a:r>
              <a:rPr lang="en-US" sz="2000" kern="0" spc="-220" dirty="0">
                <a:solidFill>
                  <a:schemeClr val="accent2"/>
                </a:solidFill>
              </a:rPr>
              <a:t>Dead Lock – </a:t>
            </a:r>
          </a:p>
          <a:p>
            <a:pPr algn="l"/>
            <a:r>
              <a:rPr lang="en-US" sz="2000" kern="0" spc="-220" dirty="0">
                <a:solidFill>
                  <a:schemeClr val="accent6"/>
                </a:solidFill>
              </a:rPr>
              <a:t>Mainly happens when multiple threads are waiting for other threads to release some shared resource</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3144292"/>
            <a:ext cx="5639090" cy="248906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66040" y="5653444"/>
            <a:ext cx="8915400" cy="369332"/>
          </a:xfrm>
          <a:prstGeom prst="rect">
            <a:avLst/>
          </a:prstGeom>
          <a:noFill/>
        </p:spPr>
        <p:txBody>
          <a:bodyPr wrap="square">
            <a:spAutoFit/>
          </a:bodyPr>
          <a:lstStyle/>
          <a:p>
            <a:r>
              <a:rPr lang="en-US" dirty="0">
                <a:hlinkClick r:id="rId9"/>
              </a:rPr>
              <a:t>EP112: What is a deadlock? - </a:t>
            </a:r>
            <a:r>
              <a:rPr lang="en-US" dirty="0" err="1">
                <a:hlinkClick r:id="rId9"/>
              </a:rPr>
              <a:t>ByteByteGo</a:t>
            </a:r>
            <a:r>
              <a:rPr lang="en-US" dirty="0">
                <a:hlinkClick r:id="rId9"/>
              </a:rPr>
              <a:t> Newsletter</a:t>
            </a:r>
            <a:endParaRPr lang="en-IN" dirty="0"/>
          </a:p>
        </p:txBody>
      </p:sp>
    </p:spTree>
    <p:extLst>
      <p:ext uri="{BB962C8B-B14F-4D97-AF65-F5344CB8AC3E}">
        <p14:creationId xmlns:p14="http://schemas.microsoft.com/office/powerpoint/2010/main" val="207461572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8915400"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500" dirty="0" err="1">
                <a:hlinkClick r:id="rId8"/>
              </a:rPr>
              <a:t>.net</a:t>
            </a:r>
            <a:r>
              <a:rPr lang="en-US" sz="1500" dirty="0">
                <a:hlinkClick r:id="rId8"/>
              </a:rPr>
              <a:t> - Synchronization between two processes in C#.? - Stack Overflow</a:t>
            </a:r>
            <a:endParaRPr lang="en-US" sz="1500" dirty="0"/>
          </a:p>
          <a:p>
            <a:pPr algn="just" fontAlgn="base"/>
            <a:r>
              <a:rPr lang="en-US" sz="1500" dirty="0">
                <a:hlinkClick r:id="rId9"/>
              </a:rPr>
              <a:t>Using C# Mutexes for </a:t>
            </a:r>
            <a:r>
              <a:rPr lang="en-US" sz="1500" dirty="0" err="1">
                <a:hlinkClick r:id="rId9"/>
              </a:rPr>
              <a:t>interprocess</a:t>
            </a:r>
            <a:r>
              <a:rPr lang="en-US" sz="1500" dirty="0">
                <a:hlinkClick r:id="rId9"/>
              </a:rPr>
              <a:t> synchronization</a:t>
            </a:r>
            <a:endParaRPr lang="en-US" sz="15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2934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1500" dirty="0">
                <a:hlinkClick r:id="rId7"/>
              </a:rPr>
              <a:t>Lock vs monitor in c#. Lock:- In C#, the lock keyword is used… | by Kamlesh Singh | Medium</a:t>
            </a:r>
            <a:endParaRPr lang="en-US" sz="15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can use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IN" sz="1500" dirty="0">
                <a:hlinkClick r:id="rId8"/>
              </a:rPr>
              <a:t>Async Waiting inside C# 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500" dirty="0">
                <a:hlinkClick r:id="rId9"/>
              </a:rPr>
              <a:t>Threading in C# - Part 3 - Using Threads</a:t>
            </a:r>
            <a:r>
              <a:rPr lang="en-US" sz="1500" kern="0" spc="-220" dirty="0">
                <a:solidFill>
                  <a:schemeClr val="accent2"/>
                </a:solidFill>
              </a:rPr>
              <a:t>  </a:t>
            </a:r>
          </a:p>
          <a:p>
            <a:pPr algn="just" fontAlgn="base"/>
            <a:r>
              <a:rPr lang="en-US" sz="1500" dirty="0">
                <a:hlinkClick r:id="rId10"/>
              </a:rPr>
              <a:t>How to use cancellation tokens in ASP.NET Core 7 | InfoWorld</a:t>
            </a:r>
            <a:endParaRPr lang="en-US" sz="1500" dirty="0"/>
          </a:p>
          <a:p>
            <a:pPr algn="just" fontAlgn="base"/>
            <a:r>
              <a:rPr lang="en-US" sz="1900" kern="0" spc="-220" dirty="0">
                <a:solidFill>
                  <a:schemeClr val="accent6"/>
                </a:solidFill>
              </a:rPr>
              <a:t>For Web API, if the client is some Web UI or Non .NET 3rd party API, use a custom Middleware[or Filter] based on command(‘cancel’) pattern </a:t>
            </a:r>
            <a:r>
              <a:rPr lang="en-US" sz="1900" kern="0" spc="-220" dirty="0" err="1">
                <a:solidFill>
                  <a:schemeClr val="accent6"/>
                </a:solidFill>
              </a:rPr>
              <a:t>alongwith</a:t>
            </a:r>
            <a:r>
              <a:rPr lang="en-US" sz="1900" kern="0" spc="-220" dirty="0">
                <a:solidFill>
                  <a:schemeClr val="accent6"/>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t>
            </a:r>
            <a:r>
              <a:rPr lang="en-US" sz="2000" kern="0" spc="-220">
                <a:solidFill>
                  <a:schemeClr val="accent2"/>
                </a:solidFill>
              </a:rPr>
              <a:t>&amp; most Orchestrations </a:t>
            </a:r>
            <a:r>
              <a:rPr lang="en-US" sz="2000" kern="0" spc="-220" dirty="0">
                <a:solidFill>
                  <a:schemeClr val="accent2"/>
                </a:solidFill>
              </a:rPr>
              <a:t>can be implemented using FSM(Finite State Machine) Techniques.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971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
            </a:r>
            <a:r>
              <a:rPr lang="en-US" sz="1500" kern="0" spc="-220" dirty="0">
                <a:solidFill>
                  <a:schemeClr val="accent2"/>
                </a:solidFill>
              </a:rPr>
              <a:t>Atomic Operations – </a:t>
            </a:r>
            <a:r>
              <a:rPr lang="en-US" sz="1500" kern="0" spc="-220" dirty="0">
                <a:solidFill>
                  <a:schemeClr val="accent6"/>
                </a:solidFill>
              </a:rPr>
              <a:t>operations that cannot occur concurrently &amp; should always occur in a sequence only(</a:t>
            </a:r>
            <a:r>
              <a:rPr lang="en-US" sz="1500" dirty="0">
                <a:hlinkClick r:id="rId7"/>
              </a:rPr>
              <a:t>multithreading - What are atomic operations for newbies? - Stack Overflow</a:t>
            </a:r>
            <a:r>
              <a:rPr lang="en-US" sz="1500" kern="0" spc="-220" dirty="0">
                <a:solidFill>
                  <a:schemeClr val="accent6"/>
                </a:solidFill>
              </a:rPr>
              <a:t>)</a:t>
            </a:r>
          </a:p>
          <a:p>
            <a:pPr algn="just" fontAlgn="base"/>
            <a:r>
              <a:rPr lang="en-US" sz="1500" kern="0" spc="-220" dirty="0">
                <a:solidFill>
                  <a:schemeClr val="accent2"/>
                </a:solidFill>
              </a:rPr>
              <a:t>    Compare And Swap - </a:t>
            </a:r>
            <a:r>
              <a:rPr lang="en-US" sz="1500" dirty="0" err="1">
                <a:hlinkClick r:id="rId8"/>
              </a:rPr>
              <a:t>c#</a:t>
            </a:r>
            <a:r>
              <a:rPr lang="en-US" sz="1500" dirty="0">
                <a:hlinkClick r:id="rId8"/>
              </a:rPr>
              <a:t> - Locks vs Compare-and-swap - Stack Overflow</a:t>
            </a:r>
            <a:endParaRPr lang="en-US" sz="1500" kern="0" spc="-220" dirty="0">
              <a:solidFill>
                <a:schemeClr val="accent2"/>
              </a:solidFill>
            </a:endParaRPr>
          </a:p>
          <a:p>
            <a:pPr algn="just" fontAlgn="base"/>
            <a:r>
              <a:rPr lang="en-US" sz="1500" kern="0" spc="-220" dirty="0">
                <a:solidFill>
                  <a:schemeClr val="accent2"/>
                </a:solidFill>
              </a:rPr>
              <a:t>Lock Splitting vs Lock Stripping – </a:t>
            </a:r>
          </a:p>
          <a:p>
            <a:pPr algn="just" fontAlgn="base"/>
            <a:r>
              <a:rPr lang="en-US" sz="1500" dirty="0">
                <a:hlinkClick r:id="rId9"/>
              </a:rPr>
              <a:t>java - Lock splitting vs lock striping - Stack Overflow</a:t>
            </a:r>
            <a:endParaRPr lang="en-US" sz="1500" dirty="0"/>
          </a:p>
          <a:p>
            <a:pPr algn="just" fontAlgn="base"/>
            <a:endParaRPr lang="en-US" sz="1500" dirty="0"/>
          </a:p>
          <a:p>
            <a:pPr algn="just" fontAlgn="base"/>
            <a:r>
              <a:rPr lang="en-US" sz="1200" kern="0" spc="-220" dirty="0">
                <a:solidFill>
                  <a:schemeClr val="accent2"/>
                </a:solidFill>
              </a:rPr>
              <a:t>For Further Exploration – </a:t>
            </a:r>
          </a:p>
          <a:p>
            <a:pPr algn="just" fontAlgn="base"/>
            <a:r>
              <a:rPr lang="en-US" sz="1100" dirty="0" err="1">
                <a:hlinkClick r:id="rId10"/>
              </a:rPr>
              <a:t>MultithreadingwithCSharpCookbook</a:t>
            </a:r>
            <a:endParaRPr lang="en-US" sz="1100" dirty="0"/>
          </a:p>
          <a:p>
            <a:pPr algn="just" fontAlgn="base"/>
            <a:r>
              <a:rPr lang="en-US" sz="1100" dirty="0" err="1">
                <a:hlinkClick r:id="rId11"/>
              </a:rPr>
              <a:t>c#</a:t>
            </a:r>
            <a:r>
              <a:rPr lang="en-US" sz="1100" dirty="0">
                <a:hlinkClick r:id="rId11"/>
              </a:rPr>
              <a:t> - Check the Number of threads available in </a:t>
            </a:r>
            <a:r>
              <a:rPr lang="en-US" sz="1100" dirty="0" err="1">
                <a:hlinkClick r:id="rId11"/>
              </a:rPr>
              <a:t>ThreadPool</a:t>
            </a:r>
            <a:r>
              <a:rPr lang="en-US" sz="1100" dirty="0">
                <a:hlinkClick r:id="rId11"/>
              </a:rPr>
              <a:t> at any time - Stack Overflow</a:t>
            </a:r>
            <a:endParaRPr lang="en-US" sz="1100" dirty="0"/>
          </a:p>
          <a:p>
            <a:pPr algn="just" fontAlgn="base"/>
            <a:r>
              <a:rPr lang="en-US" sz="1100" dirty="0">
                <a:hlinkClick r:id="rId12"/>
              </a:rPr>
              <a:t>Concurrency-in-</a:t>
            </a:r>
            <a:r>
              <a:rPr lang="en-US" sz="1100" dirty="0" err="1">
                <a:hlinkClick r:id="rId12"/>
              </a:rPr>
              <a:t>csharp</a:t>
            </a:r>
            <a:r>
              <a:rPr lang="en-US" sz="1100" dirty="0">
                <a:hlinkClick r:id="rId12"/>
              </a:rPr>
              <a:t>-cookbook</a:t>
            </a:r>
            <a:endParaRPr lang="en-US" sz="1100" dirty="0"/>
          </a:p>
          <a:p>
            <a:pPr algn="just" fontAlgn="base"/>
            <a:r>
              <a:rPr lang="en-US" sz="1100" dirty="0" err="1">
                <a:hlinkClick r:id="rId13"/>
              </a:rPr>
              <a:t>PowerThreading</a:t>
            </a:r>
            <a:r>
              <a:rPr lang="en-US" sz="1100" dirty="0">
                <a:hlinkClick r:id="rId13"/>
              </a:rPr>
              <a:t>: Jeffrey Richter's Power Threading Library</a:t>
            </a:r>
            <a:endParaRPr lang="en-US" sz="1100" dirty="0"/>
          </a:p>
          <a:p>
            <a:pPr algn="just" fontAlgn="base"/>
            <a:r>
              <a:rPr lang="en-US" sz="1100" dirty="0">
                <a:hlinkClick r:id="rId14"/>
              </a:rPr>
              <a:t>Web Servers Succinctly</a:t>
            </a:r>
            <a:endParaRPr lang="en-US" sz="1100" dirty="0"/>
          </a:p>
          <a:p>
            <a:pPr algn="just" fontAlgn="base"/>
            <a:r>
              <a:rPr lang="en-US" sz="1100" dirty="0">
                <a:hlinkClick r:id="rId15"/>
              </a:rPr>
              <a:t>Compendium of Community Knowledge on Game Design and Development</a:t>
            </a:r>
            <a:endParaRPr lang="en-US" sz="1100" dirty="0"/>
          </a:p>
          <a:p>
            <a:pPr algn="just" fontAlgn="base"/>
            <a:r>
              <a:rPr lang="en-US" sz="1100" dirty="0" err="1">
                <a:hlinkClick r:id="rId16"/>
              </a:rPr>
              <a:t>FConcBook</a:t>
            </a:r>
            <a:r>
              <a:rPr lang="en-US" sz="1100" dirty="0">
                <a:hlinkClick r:id="rId16"/>
              </a:rPr>
              <a:t>: Source code for "Concurrency in .NET" book Manning publisher</a:t>
            </a:r>
            <a:endParaRPr lang="en-US" sz="1100" dirty="0"/>
          </a:p>
          <a:p>
            <a:pPr algn="just" fontAlgn="base"/>
            <a:r>
              <a:rPr lang="en-IN" sz="1100" dirty="0">
                <a:hlinkClick r:id="rId17"/>
              </a:rPr>
              <a:t>Multithreading Principles and Patterns</a:t>
            </a:r>
            <a:endParaRPr lang="en-IN" sz="1100" dirty="0"/>
          </a:p>
          <a:p>
            <a:pPr algn="just" fontAlgn="base"/>
            <a:r>
              <a:rPr lang="en-US" sz="1100" dirty="0">
                <a:hlinkClick r:id="rId18"/>
              </a:rPr>
              <a:t>Multithreading and Patterns - DEV Community</a:t>
            </a:r>
            <a:endParaRPr lang="en-US" sz="1100" dirty="0"/>
          </a:p>
          <a:p>
            <a:pPr algn="just" fontAlgn="base"/>
            <a:r>
              <a:rPr lang="en-IN" sz="1100" dirty="0">
                <a:hlinkClick r:id="rId19"/>
              </a:rPr>
              <a:t>web.stanford.edu/class/archive/cs/cs110/cs110.1202/static/lectures/12-multithreading-patterns-data-structures.pdf</a:t>
            </a:r>
            <a:endParaRPr lang="en-IN" sz="1100" dirty="0"/>
          </a:p>
          <a:p>
            <a:pPr algn="just" fontAlgn="base"/>
            <a:r>
              <a:rPr lang="en-US" sz="1100" dirty="0">
                <a:hlinkClick r:id="rId20"/>
              </a:rPr>
              <a:t>Common patterns for poorly-behaved multithreaded apps - Visual Studio (Windows) | Microsoft Learn</a:t>
            </a:r>
            <a:endParaRPr lang="en-US" sz="1100" dirty="0"/>
          </a:p>
          <a:p>
            <a:pPr algn="just" fontAlgn="base"/>
            <a:r>
              <a:rPr lang="en-US" sz="1100" dirty="0">
                <a:hlinkClick r:id="rId21"/>
              </a:rPr>
              <a:t>Part B (ADVANCE) Multithreading Design Patterns ( </a:t>
            </a:r>
            <a:r>
              <a:rPr lang="en-US" sz="1100" dirty="0" err="1">
                <a:hlinkClick r:id="rId21"/>
              </a:rPr>
              <a:t>pthreads</a:t>
            </a:r>
            <a:r>
              <a:rPr lang="en-US" sz="1100" dirty="0">
                <a:hlinkClick r:id="rId21"/>
              </a:rPr>
              <a:t> ) | Udemy</a:t>
            </a:r>
            <a:endParaRPr lang="en-US" sz="1100" dirty="0"/>
          </a:p>
          <a:p>
            <a:pPr algn="just" fontAlgn="base"/>
            <a:r>
              <a:rPr lang="en-IN" sz="1100" dirty="0">
                <a:hlinkClick r:id="rId22"/>
              </a:rPr>
              <a:t>Embedded C Programming Design Patterns</a:t>
            </a:r>
            <a:endParaRPr lang="en-IN" sz="1100" dirty="0"/>
          </a:p>
          <a:p>
            <a:pPr algn="just" fontAlgn="base"/>
            <a:r>
              <a:rPr lang="en-IN" sz="1100" dirty="0">
                <a:hlinkClick r:id="rId23"/>
              </a:rPr>
              <a:t>Design-Patterns-For-Embedded-system-in-c</a:t>
            </a:r>
            <a:endParaRPr lang="en-IN" sz="1100" dirty="0"/>
          </a:p>
          <a:p>
            <a:pPr algn="just" fontAlgn="base"/>
            <a:r>
              <a:rPr lang="en-US" sz="1100" dirty="0">
                <a:hlinkClick r:id="rId24"/>
              </a:rPr>
              <a:t>Seven Concurrency Models in Seven Weeks: When Threads Unravel by Paul Butcher</a:t>
            </a:r>
            <a:endParaRPr lang="en-US" sz="1100" dirty="0"/>
          </a:p>
          <a:p>
            <a:pPr algn="just" fontAlgn="base"/>
            <a:r>
              <a:rPr lang="en-US" sz="1100" dirty="0">
                <a:hlinkClick r:id="rId25"/>
              </a:rPr>
              <a:t>List of concurrency models - Stack Overflow</a:t>
            </a:r>
            <a:endParaRPr lang="en-US" sz="1100" dirty="0"/>
          </a:p>
          <a:p>
            <a:pPr algn="just" fontAlgn="base"/>
            <a:endParaRPr lang="en-IN" sz="1000" dirty="0"/>
          </a:p>
        </p:txBody>
      </p:sp>
    </p:spTree>
    <p:extLst>
      <p:ext uri="{BB962C8B-B14F-4D97-AF65-F5344CB8AC3E}">
        <p14:creationId xmlns:p14="http://schemas.microsoft.com/office/powerpoint/2010/main" val="13993907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500" dirty="0" err="1">
                <a:hlinkClick r:id="rId7"/>
              </a:rPr>
              <a:t>c#</a:t>
            </a:r>
            <a:r>
              <a:rPr lang="en-US" sz="1500" dirty="0">
                <a:hlinkClick r:id="rId7"/>
              </a:rPr>
              <a:t> - How can I set processor affinity to a thread or a Task in .NET? - Stack Overflow</a:t>
            </a:r>
            <a:endParaRPr lang="en-US" sz="1500" dirty="0"/>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500" dirty="0">
                <a:hlinkClick r:id="rId8"/>
              </a:rPr>
              <a:t>Threading in C# - Part 5 - Parallel Programming</a:t>
            </a:r>
            <a:endParaRPr lang="en-US" sz="15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500" dirty="0">
                <a:hlinkClick r:id="rId9"/>
              </a:rPr>
              <a:t>Threading in C# - Part 5 - Parallel Programming</a:t>
            </a:r>
            <a:endParaRPr lang="en-US" sz="1500" dirty="0"/>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500" dirty="0">
                <a:hlinkClick r:id="rId10"/>
              </a:rPr>
              <a:t>Threading in C# - Part 5 - Parallel Programming</a:t>
            </a:r>
            <a:endParaRPr lang="en-US" sz="1500" kern="0" spc="-220" dirty="0">
              <a:solidFill>
                <a:schemeClr val="accent6"/>
              </a:solidFill>
            </a:endParaRPr>
          </a:p>
        </p:txBody>
      </p:sp>
    </p:spTree>
    <p:extLst>
      <p:ext uri="{BB962C8B-B14F-4D97-AF65-F5344CB8AC3E}">
        <p14:creationId xmlns:p14="http://schemas.microsoft.com/office/powerpoint/2010/main" val="424196146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dirty="0">
                <a:hlinkClick r:id="rId7"/>
              </a:rPr>
              <a:t>Threading in C# - Part 5 - Parallel Programming</a:t>
            </a:r>
            <a:endParaRPr lang="en-US" sz="1500" dirty="0"/>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dirty="0" err="1">
                <a:hlinkClick r:id="rId8"/>
              </a:rPr>
              <a:t>c#</a:t>
            </a:r>
            <a:r>
              <a:rPr lang="en-US" sz="1500" dirty="0">
                <a:hlinkClick r:id="rId8"/>
              </a:rPr>
              <a:t> - When immutable collections are preferable than concurrent - Stack Overflow</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dirty="0">
                <a:hlinkClick r:id="rId9"/>
              </a:rPr>
              <a:t>Hands-On-Parallel-Programming-with-C-8-and-.NET-Core-3</a:t>
            </a:r>
            <a:endParaRPr lang="en-US" sz="1200" dirty="0"/>
          </a:p>
          <a:p>
            <a:pPr algn="just" fontAlgn="base"/>
            <a:r>
              <a:rPr lang="en-US" sz="1200" dirty="0">
                <a:hlinkClick r:id="rId10"/>
              </a:rPr>
              <a:t>Parallel-Programming-and-Concurrency-with-C-sharp-10-and-.NET-6</a:t>
            </a:r>
            <a:endParaRPr lang="en-US" sz="1200" dirty="0"/>
          </a:p>
          <a:p>
            <a:pPr algn="just" fontAlgn="base"/>
            <a:r>
              <a:rPr lang="en-US" sz="1200" dirty="0" err="1">
                <a:hlinkClick r:id="rId11"/>
              </a:rPr>
              <a:t>c#</a:t>
            </a:r>
            <a:r>
              <a:rPr lang="en-US" sz="1200" dirty="0">
                <a:hlinkClick r:id="rId11"/>
              </a:rPr>
              <a:t> - How do I spawn threads on different CPU cores? - Stack Overflow</a:t>
            </a:r>
            <a:endParaRPr lang="en-US" sz="1200" dirty="0"/>
          </a:p>
          <a:p>
            <a:pPr algn="just" fontAlgn="base"/>
            <a:r>
              <a:rPr lang="en-US" sz="1200" dirty="0" err="1">
                <a:hlinkClick r:id="rId12"/>
              </a:rPr>
              <a:t>c#</a:t>
            </a:r>
            <a:r>
              <a:rPr lang="en-US" sz="1200" dirty="0">
                <a:hlinkClick r:id="rId12"/>
              </a:rPr>
              <a:t> - Can you force </a:t>
            </a:r>
            <a:r>
              <a:rPr lang="en-US" sz="1200" dirty="0" err="1">
                <a:hlinkClick r:id="rId12"/>
              </a:rPr>
              <a:t>Parallel.Invoke</a:t>
            </a:r>
            <a:r>
              <a:rPr lang="en-US" sz="1200" dirty="0">
                <a:hlinkClick r:id="rId12"/>
              </a:rPr>
              <a:t> to use multiple threads? - Stack Overflow</a:t>
            </a:r>
            <a:endParaRPr lang="en-US" sz="1200" dirty="0"/>
          </a:p>
          <a:p>
            <a:pPr algn="just" fontAlgn="base"/>
            <a:r>
              <a:rPr lang="en-US" sz="1200" dirty="0" err="1">
                <a:hlinkClick r:id="rId13"/>
              </a:rPr>
              <a:t>c#</a:t>
            </a:r>
            <a:r>
              <a:rPr lang="en-US" sz="1200" dirty="0">
                <a:hlinkClick r:id="rId13"/>
              </a:rPr>
              <a:t> - How to set maximum concurrent threads using Task - Stack Overflow</a:t>
            </a:r>
            <a:endParaRPr lang="en-US" sz="1200" dirty="0"/>
          </a:p>
          <a:p>
            <a:pPr algn="just" fontAlgn="base"/>
            <a:r>
              <a:rPr lang="en-US" sz="1200" dirty="0">
                <a:hlinkClick r:id="rId14"/>
              </a:rPr>
              <a:t>Limiting concurrency for faster and more responsive apps - Developer Support</a:t>
            </a:r>
            <a:endParaRPr lang="en-US" sz="1200" dirty="0"/>
          </a:p>
          <a:p>
            <a:pPr algn="just" fontAlgn="base"/>
            <a:r>
              <a:rPr lang="en-US" sz="1200" dirty="0" err="1">
                <a:hlinkClick r:id="rId15"/>
              </a:rPr>
              <a:t>c#</a:t>
            </a:r>
            <a:r>
              <a:rPr lang="en-US" sz="1200" dirty="0">
                <a:hlinkClick r:id="rId15"/>
              </a:rPr>
              <a:t> - Limited concurrency </a:t>
            </a:r>
            <a:r>
              <a:rPr lang="en-US" sz="1200" dirty="0" err="1">
                <a:hlinkClick r:id="rId15"/>
              </a:rPr>
              <a:t>TaskScheduler</a:t>
            </a:r>
            <a:r>
              <a:rPr lang="en-US" sz="1200" dirty="0">
                <a:hlinkClick r:id="rId15"/>
              </a:rPr>
              <a:t> that can interleave tasks to be explicitly ordered - Stack Overflow</a:t>
            </a:r>
            <a:endParaRPr lang="en-US" sz="1200" dirty="0"/>
          </a:p>
          <a:p>
            <a:pPr algn="just" fontAlgn="base"/>
            <a:r>
              <a:rPr lang="en-IN" sz="1200" dirty="0">
                <a:hlinkClick r:id="rId16"/>
              </a:rPr>
              <a:t>A Tour of </a:t>
            </a:r>
            <a:r>
              <a:rPr lang="en-IN" sz="1200" dirty="0" err="1">
                <a:hlinkClick r:id="rId16"/>
              </a:rPr>
              <a:t>ParallelExtensionsExtras</a:t>
            </a:r>
            <a:r>
              <a:rPr lang="en-IN" sz="1200" dirty="0">
                <a:hlinkClick r:id="rId16"/>
              </a:rPr>
              <a:t> - .NET Parallel Programming</a:t>
            </a:r>
            <a:endParaRPr lang="en-IN" sz="1200" dirty="0"/>
          </a:p>
          <a:p>
            <a:pPr algn="just" fontAlgn="base"/>
            <a:r>
              <a:rPr lang="en-IN" sz="1200" dirty="0">
                <a:hlinkClick r:id="rId17"/>
              </a:rPr>
              <a:t>Parallel-Extensions-Extras</a:t>
            </a:r>
            <a:endParaRPr lang="en-IN" sz="1200" dirty="0"/>
          </a:p>
          <a:p>
            <a:pPr algn="just" fontAlgn="base"/>
            <a:r>
              <a:rPr lang="en-US" sz="1200" dirty="0">
                <a:hlinkClick r:id="rId18"/>
              </a:rPr>
              <a:t>For Further Reading (Parallel Programming) - .NET | Microsoft Learn</a:t>
            </a:r>
            <a:endParaRPr lang="en-US" sz="1200" dirty="0"/>
          </a:p>
          <a:p>
            <a:pPr algn="just" fontAlgn="base"/>
            <a:r>
              <a:rPr lang="en-IN" sz="1200" dirty="0">
                <a:hlinkClick r:id="rId19"/>
              </a:rPr>
              <a:t>Parallel-Patterns</a:t>
            </a:r>
            <a:endParaRPr lang="en-IN" sz="1200" dirty="0"/>
          </a:p>
          <a:p>
            <a:pPr algn="just" fontAlgn="base"/>
            <a:r>
              <a:rPr lang="en-IN" sz="1200" dirty="0">
                <a:hlinkClick r:id="rId20"/>
              </a:rPr>
              <a:t>Patterns for Parallel Programming[Book]</a:t>
            </a:r>
            <a:endParaRPr lang="en-IN" sz="1200" dirty="0"/>
          </a:p>
          <a:p>
            <a:pPr algn="just" fontAlgn="base"/>
            <a:r>
              <a:rPr lang="en-US" sz="1200" dirty="0">
                <a:hlinkClick r:id="rId21"/>
              </a:rPr>
              <a:t>Build Your Own RealTime OS (RTOS) From Ground Up™ on ARM 1 | Udemy</a:t>
            </a:r>
            <a:endParaRPr lang="en-US" sz="1200" dirty="0"/>
          </a:p>
          <a:p>
            <a:pPr algn="just" fontAlgn="base"/>
            <a:r>
              <a:rPr lang="en-US" sz="1200" dirty="0">
                <a:hlinkClick r:id="rId22"/>
              </a:rPr>
              <a:t>Build Your Own RealTime OS (RTOS) From Ground Up™ on ARM 2 | Udemy</a:t>
            </a:r>
            <a:endParaRPr lang="en-US" sz="1200" dirty="0"/>
          </a:p>
          <a:p>
            <a:pPr algn="just" fontAlgn="base"/>
            <a:r>
              <a:rPr lang="en-IN" sz="1200" dirty="0">
                <a:hlinkClick r:id="rId23"/>
              </a:rPr>
              <a:t>"DIY RTOS Made Easy: Mastering Microcontrollers " | Udemy</a:t>
            </a:r>
            <a:endParaRPr lang="en-US" sz="12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Async Programming Best Practices -  </a:t>
            </a:r>
          </a:p>
          <a:p>
            <a:pPr algn="l"/>
            <a:r>
              <a:rPr lang="en-US" sz="1500" dirty="0">
                <a:hlinkClick r:id="rId7"/>
              </a:rPr>
              <a:t>Async/Await - Best Practices in Asynchronous Programming | Microsoft Learn</a:t>
            </a:r>
            <a:endParaRPr lang="en-US" sz="1500" kern="0" spc="-220" dirty="0">
              <a:solidFill>
                <a:schemeClr val="accent6"/>
              </a:solidFill>
            </a:endParaRPr>
          </a:p>
          <a:p>
            <a:pPr algn="l"/>
            <a:r>
              <a:rPr lang="en-IN" sz="1500" dirty="0">
                <a:hlinkClick r:id="rId8"/>
              </a:rPr>
              <a:t>Patterns &amp; Practices for efficiently handling C# async/await cancel processing and timeouts | by Yoshifumi Kawai | Medium</a:t>
            </a:r>
            <a:endParaRPr lang="en-US" sz="1500" kern="0" spc="-220" dirty="0">
              <a:solidFill>
                <a:schemeClr val="accent6"/>
              </a:solidFill>
            </a:endParaRP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Advantages -</a:t>
            </a:r>
            <a:r>
              <a:rPr lang="en-US" sz="1800" kern="0" spc="-220" dirty="0">
                <a:solidFill>
                  <a:schemeClr val="accent6"/>
                </a:solidFill>
              </a:rPr>
              <a:t>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Custom </a:t>
            </a:r>
            <a:r>
              <a:rPr lang="en-US" sz="1800" kern="0" spc="-220" dirty="0" err="1">
                <a:solidFill>
                  <a:schemeClr val="accent2"/>
                </a:solidFill>
              </a:rPr>
              <a:t>Awaitables</a:t>
            </a:r>
            <a:r>
              <a:rPr lang="en-US" sz="1800" kern="0" spc="-220" dirty="0">
                <a:solidFill>
                  <a:schemeClr val="accent2"/>
                </a:solidFill>
              </a:rPr>
              <a:t> -</a:t>
            </a:r>
            <a:r>
              <a:rPr lang="en-US" sz="1800" kern="0" spc="-220" dirty="0">
                <a:solidFill>
                  <a:schemeClr val="accent6"/>
                </a:solidFill>
              </a:rPr>
              <a:t>  </a:t>
            </a:r>
          </a:p>
          <a:p>
            <a:pPr algn="l"/>
            <a:r>
              <a:rPr lang="en-US" sz="1500" dirty="0">
                <a:hlinkClick r:id="rId9"/>
              </a:rPr>
              <a:t>await anything; - .NET Parallel Programming</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26873" y="3462783"/>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Asynchronous Patterns -  </a:t>
            </a:r>
          </a:p>
          <a:p>
            <a:pPr algn="l"/>
            <a:r>
              <a:rPr lang="en-IN" sz="1500" dirty="0">
                <a:hlinkClick r:id="rId10"/>
              </a:rPr>
              <a:t>Asynchronous programming patterns - .NET | Microsoft Learn</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11"/>
              </a:rPr>
              <a:t>Async in C# 5.0[Book]</a:t>
            </a:r>
            <a:endParaRPr lang="en-US" sz="1500" dirty="0"/>
          </a:p>
          <a:p>
            <a:pPr algn="l"/>
            <a:r>
              <a:rPr lang="en-US" sz="1500" dirty="0" err="1">
                <a:hlinkClick r:id="rId12"/>
              </a:rPr>
              <a:t>Parallel.ForEachAsync</a:t>
            </a:r>
            <a:r>
              <a:rPr lang="en-US" sz="1500" dirty="0">
                <a:hlinkClick r:id="rId12"/>
              </a:rPr>
              <a:t>() and </a:t>
            </a:r>
            <a:r>
              <a:rPr lang="en-US" sz="1500" dirty="0" err="1">
                <a:hlinkClick r:id="rId12"/>
              </a:rPr>
              <a:t>Task.Run</a:t>
            </a:r>
            <a:r>
              <a:rPr lang="en-US" sz="1500" dirty="0">
                <a:hlinkClick r:id="rId12"/>
              </a:rPr>
              <a:t>() With </a:t>
            </a:r>
            <a:r>
              <a:rPr lang="en-US" sz="1500" dirty="0" err="1">
                <a:hlinkClick r:id="rId12"/>
              </a:rPr>
              <a:t>When.All</a:t>
            </a:r>
            <a:r>
              <a:rPr lang="en-US" sz="1500" dirty="0">
                <a:hlinkClick r:id="rId12"/>
              </a:rPr>
              <a:t> in C# - Code Maze</a:t>
            </a:r>
            <a:endParaRPr lang="en-US" sz="1500" kern="0" spc="-220" dirty="0">
              <a:solidFill>
                <a:schemeClr val="accent6"/>
              </a:solidFill>
            </a:endParaRPr>
          </a:p>
        </p:txBody>
      </p:sp>
    </p:spTree>
    <p:extLst>
      <p:ext uri="{BB962C8B-B14F-4D97-AF65-F5344CB8AC3E}">
        <p14:creationId xmlns:p14="http://schemas.microsoft.com/office/powerpoint/2010/main" val="24887862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500" dirty="0" err="1">
                <a:hlinkClick r:id="rId8"/>
              </a:rPr>
              <a:t>c#</a:t>
            </a:r>
            <a:r>
              <a:rPr lang="en-US" sz="1500" dirty="0">
                <a:hlinkClick r:id="rId8"/>
              </a:rPr>
              <a:t> - </a:t>
            </a:r>
            <a:r>
              <a:rPr lang="en-US" sz="1500" dirty="0" err="1">
                <a:hlinkClick r:id="rId8"/>
              </a:rPr>
              <a:t>Stream.Seek</a:t>
            </a:r>
            <a:r>
              <a:rPr lang="en-US" sz="1500" dirty="0">
                <a:hlinkClick r:id="rId8"/>
              </a:rPr>
              <a:t>(0, </a:t>
            </a:r>
            <a:r>
              <a:rPr lang="en-US" sz="1500" dirty="0" err="1">
                <a:hlinkClick r:id="rId8"/>
              </a:rPr>
              <a:t>SeekOrigin.Begin</a:t>
            </a:r>
            <a:r>
              <a:rPr lang="en-US" sz="1500" dirty="0">
                <a:hlinkClick r:id="rId8"/>
              </a:rPr>
              <a:t>) or Position = 0 - Stack Overflow</a:t>
            </a:r>
            <a:endParaRPr lang="en-US" sz="1500" dirty="0"/>
          </a:p>
          <a:p>
            <a:pPr algn="l"/>
            <a:r>
              <a:rPr lang="en-IN" sz="1500" dirty="0" err="1">
                <a:hlinkClick r:id="rId9"/>
              </a:rPr>
              <a:t>StreamReader.Peek</a:t>
            </a:r>
            <a:r>
              <a:rPr lang="en-IN" sz="1500" dirty="0">
                <a:hlinkClick r:id="rId9"/>
              </a:rPr>
              <a:t> Method (System.IO) | Microsoft Learn</a:t>
            </a:r>
            <a:endParaRPr lang="en-US" sz="1500" kern="0" spc="-220" dirty="0">
              <a:solidFill>
                <a:schemeClr val="accent2"/>
              </a:solidFill>
            </a:endParaRPr>
          </a:p>
        </p:txBody>
      </p:sp>
    </p:spTree>
    <p:extLst>
      <p:ext uri="{BB962C8B-B14F-4D97-AF65-F5344CB8AC3E}">
        <p14:creationId xmlns:p14="http://schemas.microsoft.com/office/powerpoint/2010/main" val="44548390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Anonymous Pipes Made Easy- </a:t>
            </a:r>
            <a:r>
              <a:rPr lang="en-US" sz="1500" dirty="0" err="1">
                <a:hlinkClick r:id="rId8"/>
              </a:rPr>
              <a:t>CodeProject</a:t>
            </a:r>
            <a:endParaRPr lang="en-US" sz="1500" kern="0" spc="-220" dirty="0">
              <a:solidFill>
                <a:schemeClr val="accent2"/>
              </a:solidFill>
            </a:endParaRPr>
          </a:p>
        </p:txBody>
      </p:sp>
    </p:spTree>
    <p:extLst>
      <p:ext uri="{BB962C8B-B14F-4D97-AF65-F5344CB8AC3E}">
        <p14:creationId xmlns:p14="http://schemas.microsoft.com/office/powerpoint/2010/main" val="37731346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300" dirty="0">
                <a:hlinkClick r:id="rId8"/>
              </a:rPr>
              <a:t>Reading large text files with streams in C# - Stack Overflow</a:t>
            </a:r>
            <a:endParaRPr lang="en-US" sz="1300" dirty="0"/>
          </a:p>
          <a:p>
            <a:pPr algn="l"/>
            <a:r>
              <a:rPr lang="en-IN" sz="1300" dirty="0">
                <a:hlinkClick r:id="rId9"/>
              </a:rPr>
              <a:t>System.IO Namespace | Microsoft Learn</a:t>
            </a:r>
            <a:endParaRPr lang="en-IN" sz="1300" dirty="0"/>
          </a:p>
          <a:p>
            <a:pPr algn="l"/>
            <a:r>
              <a:rPr lang="en-IN" sz="1300" dirty="0" err="1">
                <a:hlinkClick r:id="rId10"/>
              </a:rPr>
              <a:t>Environment.SpecialFolder</a:t>
            </a:r>
            <a:r>
              <a:rPr lang="en-IN" sz="1300" dirty="0">
                <a:hlinkClick r:id="rId10"/>
              </a:rPr>
              <a:t> Enum (System) | Microsoft Learn</a:t>
            </a:r>
            <a:endParaRPr lang="en-IN" sz="1300" dirty="0"/>
          </a:p>
          <a:p>
            <a:pPr algn="l"/>
            <a:r>
              <a:rPr lang="en-US" sz="1300" dirty="0">
                <a:hlinkClick r:id="rId11"/>
              </a:rPr>
              <a:t>Memory-Mapped Files - .NET | Microsoft Learn</a:t>
            </a:r>
            <a:endParaRPr lang="en-US" sz="1300" kern="0" spc="-220" dirty="0">
              <a:solidFill>
                <a:schemeClr val="accent2"/>
              </a:solidFill>
            </a:endParaRPr>
          </a:p>
        </p:txBody>
      </p:sp>
    </p:spTree>
    <p:extLst>
      <p:ext uri="{BB962C8B-B14F-4D97-AF65-F5344CB8AC3E}">
        <p14:creationId xmlns:p14="http://schemas.microsoft.com/office/powerpoint/2010/main" val="23876729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In the OSI layers, in what format would the data or message be in each layer? - Quora</a:t>
            </a:r>
            <a:endParaRPr lang="en-US" sz="1500" kern="0" spc="-220" dirty="0">
              <a:solidFill>
                <a:schemeClr val="accent2"/>
              </a:solidFill>
            </a:endParaRPr>
          </a:p>
        </p:txBody>
      </p:sp>
    </p:spTree>
    <p:extLst>
      <p:ext uri="{BB962C8B-B14F-4D97-AF65-F5344CB8AC3E}">
        <p14:creationId xmlns:p14="http://schemas.microsoft.com/office/powerpoint/2010/main" val="405373423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465176"/>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3921948"/>
            <a:ext cx="8624937" cy="20621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IN" sz="1000" dirty="0">
                <a:hlinkClick r:id="rId8"/>
              </a:rPr>
              <a:t>HTTP1 vs HTTP2 vs HTTP3 - A Deep Dive</a:t>
            </a:r>
            <a:endParaRPr lang="en-US" sz="1000" kern="0" spc="-220" dirty="0">
              <a:solidFill>
                <a:schemeClr val="accent2"/>
              </a:solidFill>
            </a:endParaRPr>
          </a:p>
          <a:p>
            <a:pPr algn="l"/>
            <a:r>
              <a:rPr lang="en-IN" sz="1000" dirty="0">
                <a:hlinkClick r:id="rId9"/>
              </a:rPr>
              <a:t>TCP vs UDP | LinkedIn</a:t>
            </a:r>
            <a:endParaRPr lang="en-IN" sz="1000" dirty="0"/>
          </a:p>
          <a:p>
            <a:pPr algn="l"/>
            <a:r>
              <a:rPr lang="pt-BR" sz="1000" dirty="0">
                <a:hlinkClick r:id="rId10"/>
              </a:rPr>
              <a:t>Reliable User Datagram Protocol – Wikipedia</a:t>
            </a:r>
            <a:endParaRPr lang="pt-BR" sz="1000" dirty="0"/>
          </a:p>
          <a:p>
            <a:pPr algn="l"/>
            <a:r>
              <a:rPr lang="en-US" sz="1000" dirty="0">
                <a:hlinkClick r:id="rId11"/>
              </a:rPr>
              <a:t>Sockets - What do you use when you need reliable UDP? - Stack Overflow</a:t>
            </a:r>
            <a:endParaRPr lang="en-US" sz="1000" dirty="0"/>
          </a:p>
          <a:p>
            <a:r>
              <a:rPr lang="en-IN" sz="1000" dirty="0">
                <a:hlinkClick r:id="rId12"/>
              </a:rPr>
              <a:t>Head First Networking[Book]</a:t>
            </a:r>
            <a:endParaRPr lang="en-IN" sz="1000" dirty="0"/>
          </a:p>
          <a:p>
            <a:pPr algn="l"/>
            <a:r>
              <a:rPr lang="en-US" sz="1000" dirty="0">
                <a:hlinkClick r:id="rId13"/>
              </a:rPr>
              <a:t>Computer-Networking-Top-Down-Approach-notes</a:t>
            </a:r>
            <a:endParaRPr lang="en-US" sz="1000" dirty="0"/>
          </a:p>
          <a:p>
            <a:pPr algn="l"/>
            <a:r>
              <a:rPr lang="en-US" sz="1000" dirty="0">
                <a:hlinkClick r:id="rId14"/>
              </a:rPr>
              <a:t>Hands-On-Network-Programming-with-CSharp-and-.NET-Core</a:t>
            </a:r>
            <a:endParaRPr lang="en-US" sz="1000" dirty="0"/>
          </a:p>
          <a:p>
            <a:pPr algn="l"/>
            <a:r>
              <a:rPr lang="nl-NL" sz="1000" dirty="0">
                <a:hlinkClick r:id="rId15"/>
              </a:rPr>
              <a:t>Network programming in .NET - .NET | Microsoft Learn</a:t>
            </a:r>
            <a:endParaRPr lang="nl-NL" sz="1000" dirty="0"/>
          </a:p>
          <a:p>
            <a:pPr algn="l"/>
            <a:r>
              <a:rPr lang="en-US" sz="1000" dirty="0">
                <a:hlinkClick r:id="rId16"/>
              </a:rPr>
              <a:t>High Performance Browser Networking (O'Reilly)</a:t>
            </a:r>
            <a:endParaRPr lang="en-US" sz="1000" dirty="0"/>
          </a:p>
          <a:p>
            <a:pPr algn="l"/>
            <a:r>
              <a:rPr lang="en-US" sz="1000" dirty="0">
                <a:hlinkClick r:id="rId17"/>
              </a:rPr>
              <a:t>What Is Checksum? Guide to Learn Checksum | Simplilearn</a:t>
            </a:r>
            <a:endParaRPr lang="en-US" sz="1000" dirty="0"/>
          </a:p>
          <a:p>
            <a:pPr algn="l"/>
            <a:r>
              <a:rPr lang="en-IN" sz="1000" dirty="0">
                <a:hlinkClick r:id="rId18"/>
              </a:rPr>
              <a:t>Debugging - Wireshark vs Firebug vs Fiddler - pros and cons? - Stack Overflow</a:t>
            </a:r>
            <a:endParaRPr lang="en-US" sz="10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5731235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23520" y="3716178"/>
            <a:ext cx="8624937" cy="24006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Some Reflection Use Cases –</a:t>
            </a:r>
            <a:r>
              <a:rPr lang="en-US" sz="2000" kern="0" spc="-220" dirty="0">
                <a:solidFill>
                  <a:schemeClr val="accent6"/>
                </a:solidFill>
              </a:rPr>
              <a:t> </a:t>
            </a:r>
          </a:p>
          <a:p>
            <a:pPr marL="457200" indent="-457200" algn="l">
              <a:buAutoNum type="arabicParenR"/>
            </a:pPr>
            <a:r>
              <a:rPr lang="en-US" sz="1700" kern="0" spc="-220" dirty="0">
                <a:solidFill>
                  <a:schemeClr val="accent6"/>
                </a:solidFill>
              </a:rPr>
              <a:t>To execute a private member(/get/set) of the class</a:t>
            </a:r>
          </a:p>
          <a:p>
            <a:pPr marL="457200" indent="-457200" algn="l">
              <a:buAutoNum type="arabicParenR"/>
            </a:pPr>
            <a:r>
              <a:rPr lang="en-US" sz="1700" kern="0" spc="-220" dirty="0">
                <a:solidFill>
                  <a:schemeClr val="accent6"/>
                </a:solidFill>
              </a:rPr>
              <a:t>Determining dependencies of an assembly </a:t>
            </a:r>
          </a:p>
          <a:p>
            <a:pPr marL="457200" indent="-457200" algn="l">
              <a:buAutoNum type="arabicParenR"/>
            </a:pPr>
            <a:r>
              <a:rPr lang="en-US" sz="1700" kern="0" spc="-220" dirty="0">
                <a:solidFill>
                  <a:schemeClr val="accent6"/>
                </a:solidFill>
              </a:rPr>
              <a:t>Locating types which conform to an interface, derive from a base / abstract class, and searching for members by attributes</a:t>
            </a:r>
          </a:p>
          <a:p>
            <a:pPr marL="457200" indent="-457200" algn="l">
              <a:buAutoNum type="arabicParenR"/>
            </a:pPr>
            <a:r>
              <a:rPr lang="en-US" sz="1700" kern="0" spc="-220" dirty="0">
                <a:solidFill>
                  <a:schemeClr val="accent6"/>
                </a:solidFill>
              </a:rPr>
              <a:t>Building Unit Testing, Mocking &amp; BDD Frameworks</a:t>
            </a:r>
          </a:p>
          <a:p>
            <a:pPr marL="457200" indent="-457200" algn="l">
              <a:buAutoNum type="arabicParenR"/>
            </a:pPr>
            <a:r>
              <a:rPr lang="en-US" sz="1700" kern="0" spc="-220" dirty="0">
                <a:solidFill>
                  <a:schemeClr val="accent6"/>
                </a:solidFill>
              </a:rPr>
              <a:t>Building Code Analysis Tools</a:t>
            </a:r>
          </a:p>
          <a:p>
            <a:pPr marL="457200" indent="-457200" algn="l">
              <a:buAutoNum type="arabicParenR"/>
            </a:pPr>
            <a:r>
              <a:rPr lang="en-US" sz="1700" kern="0" spc="-220" dirty="0">
                <a:solidFill>
                  <a:schemeClr val="accent6"/>
                </a:solidFill>
              </a:rPr>
              <a:t>Building </a:t>
            </a:r>
            <a:r>
              <a:rPr lang="en-US" sz="1700" kern="0" spc="-220" dirty="0" err="1">
                <a:solidFill>
                  <a:schemeClr val="accent6"/>
                </a:solidFill>
              </a:rPr>
              <a:t>AoP</a:t>
            </a:r>
            <a:r>
              <a:rPr lang="en-US" sz="1700" kern="0" spc="-220" dirty="0">
                <a:solidFill>
                  <a:schemeClr val="accent6"/>
                </a:solidFill>
              </a:rPr>
              <a:t> Frameworks</a:t>
            </a:r>
          </a:p>
          <a:p>
            <a:pPr algn="l"/>
            <a:r>
              <a:rPr lang="en-US" sz="17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Reflection Overview –</a:t>
            </a:r>
          </a:p>
          <a:p>
            <a:pPr algn="l"/>
            <a:r>
              <a:rPr lang="en-IN" sz="1500" dirty="0">
                <a:hlinkClick r:id="rId7"/>
              </a:rPr>
              <a:t>Reflection Overview | Microsoft Learn</a:t>
            </a:r>
            <a:endParaRPr lang="en-US" sz="1500" kern="0" spc="-220" dirty="0">
              <a:solidFill>
                <a:schemeClr val="accent6"/>
              </a:solidFill>
            </a:endParaRPr>
          </a:p>
        </p:txBody>
      </p:sp>
    </p:spTree>
    <p:extLst>
      <p:ext uri="{BB962C8B-B14F-4D97-AF65-F5344CB8AC3E}">
        <p14:creationId xmlns:p14="http://schemas.microsoft.com/office/powerpoint/2010/main" val="311287244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9975529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3751397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57092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Comparison –</a:t>
            </a:r>
          </a:p>
          <a:p>
            <a:pPr algn="l"/>
            <a:r>
              <a:rPr lang="en-IN" sz="1500" dirty="0">
                <a:hlinkClick r:id="rId7"/>
              </a:rPr>
              <a:t>Code Generation Technology-</a:t>
            </a:r>
            <a:r>
              <a:rPr lang="en-IN" sz="1500" dirty="0" err="1">
                <a:hlinkClick r:id="rId7"/>
              </a:rPr>
              <a:t>CodeDom</a:t>
            </a:r>
            <a:r>
              <a:rPr lang="en-IN" sz="1500" dirty="0">
                <a:hlinkClick r:id="rId7"/>
              </a:rPr>
              <a:t> VS T4</a:t>
            </a:r>
            <a:endParaRPr lang="en-IN" sz="1500" dirty="0"/>
          </a:p>
          <a:p>
            <a:pPr algn="l"/>
            <a:r>
              <a:rPr lang="en-IN" sz="1500" dirty="0" err="1">
                <a:hlinkClick r:id="rId8"/>
              </a:rPr>
              <a:t>c#</a:t>
            </a:r>
            <a:r>
              <a:rPr lang="en-IN" sz="1500" dirty="0">
                <a:hlinkClick r:id="rId8"/>
              </a:rPr>
              <a:t> - </a:t>
            </a:r>
            <a:r>
              <a:rPr lang="en-IN" sz="1500" dirty="0" err="1">
                <a:hlinkClick r:id="rId8"/>
              </a:rPr>
              <a:t>Reflection.Emit</a:t>
            </a:r>
            <a:r>
              <a:rPr lang="en-IN" sz="1500" dirty="0">
                <a:hlinkClick r:id="rId8"/>
              </a:rPr>
              <a:t> vs </a:t>
            </a:r>
            <a:r>
              <a:rPr lang="en-IN" sz="1500" dirty="0" err="1">
                <a:hlinkClick r:id="rId8"/>
              </a:rPr>
              <a:t>CodeDOM</a:t>
            </a:r>
            <a:r>
              <a:rPr lang="en-IN" sz="1500" dirty="0">
                <a:hlinkClick r:id="rId8"/>
              </a:rPr>
              <a:t> - Stack Overflow</a:t>
            </a:r>
            <a:endParaRPr lang="en-IN" sz="1500" dirty="0"/>
          </a:p>
          <a:p>
            <a:pPr algn="l"/>
            <a:r>
              <a:rPr lang="en-US" sz="1500" dirty="0">
                <a:hlinkClick r:id="rId9"/>
              </a:rPr>
              <a:t>Using Roslyn for Runtime Code Generation in Marten – The Shade Tree Developer</a:t>
            </a:r>
            <a:endParaRPr lang="en-US" sz="1500" dirty="0"/>
          </a:p>
          <a:p>
            <a:pPr algn="l"/>
            <a:endParaRPr lang="en-US" sz="1500" kern="0" spc="-220" dirty="0">
              <a:solidFill>
                <a:schemeClr val="accent6"/>
              </a:solidFill>
            </a:endParaRPr>
          </a:p>
          <a:p>
            <a:r>
              <a:rPr lang="en-US" sz="2000" kern="0" spc="-220" dirty="0">
                <a:solidFill>
                  <a:schemeClr val="accent2"/>
                </a:solidFill>
              </a:rPr>
              <a:t>T4 Template – </a:t>
            </a:r>
          </a:p>
          <a:p>
            <a:r>
              <a:rPr lang="en-IN" sz="1500" dirty="0">
                <a:hlinkClick r:id="rId10"/>
              </a:rPr>
              <a:t>T4 (Text Template Transformation Toolkit) Code Generation - Best Kept Visual Studio Secret - Scott Hanselman's Blog</a:t>
            </a:r>
            <a:endParaRPr lang="en-IN" sz="1500" dirty="0"/>
          </a:p>
          <a:p>
            <a:r>
              <a:rPr lang="en-IN" sz="1500" dirty="0">
                <a:hlinkClick r:id="rId11"/>
              </a:rPr>
              <a:t>Free </a:t>
            </a:r>
            <a:r>
              <a:rPr lang="en-IN" sz="1500" dirty="0" err="1">
                <a:hlinkClick r:id="rId11"/>
              </a:rPr>
              <a:t>Ebook</a:t>
            </a:r>
            <a:r>
              <a:rPr lang="en-IN" sz="1500" dirty="0">
                <a:hlinkClick r:id="rId11"/>
              </a:rPr>
              <a:t> - T4 Succinctly</a:t>
            </a:r>
            <a:endParaRPr lang="en-IN" sz="1500" dirty="0"/>
          </a:p>
          <a:p>
            <a:endParaRPr lang="en-IN" sz="1500" kern="0" spc="-220" dirty="0">
              <a:solidFill>
                <a:schemeClr val="accent6"/>
              </a:solidFill>
            </a:endParaRPr>
          </a:p>
          <a:p>
            <a:r>
              <a:rPr lang="en-US" sz="2000" kern="0" spc="-220" dirty="0" err="1">
                <a:solidFill>
                  <a:schemeClr val="accent2"/>
                </a:solidFill>
              </a:rPr>
              <a:t>CodeDom</a:t>
            </a:r>
            <a:r>
              <a:rPr lang="en-US" sz="2000" kern="0" spc="-220" dirty="0">
                <a:solidFill>
                  <a:schemeClr val="accent2"/>
                </a:solidFill>
              </a:rPr>
              <a:t> – </a:t>
            </a:r>
          </a:p>
          <a:p>
            <a:r>
              <a:rPr lang="en-US" sz="1500" dirty="0" err="1">
                <a:hlinkClick r:id="rId12"/>
              </a:rPr>
              <a:t>CodeDOM</a:t>
            </a:r>
            <a:r>
              <a:rPr lang="en-US" sz="1500" dirty="0">
                <a:hlinkClick r:id="rId12"/>
              </a:rPr>
              <a:t> Go Kit: The </a:t>
            </a:r>
            <a:r>
              <a:rPr lang="en-US" sz="1500" dirty="0" err="1">
                <a:hlinkClick r:id="rId12"/>
              </a:rPr>
              <a:t>CodeDOM</a:t>
            </a:r>
            <a:r>
              <a:rPr lang="en-US" sz="1500" dirty="0">
                <a:hlinkClick r:id="rId12"/>
              </a:rPr>
              <a:t> is Dead, Long Live the </a:t>
            </a:r>
            <a:r>
              <a:rPr lang="en-US" sz="1500" dirty="0" err="1">
                <a:hlinkClick r:id="rId12"/>
              </a:rPr>
              <a:t>CodeDOM</a:t>
            </a:r>
            <a:r>
              <a:rPr lang="en-US" sz="1500" dirty="0">
                <a:hlinkClick r:id="rId12"/>
              </a:rPr>
              <a:t>- </a:t>
            </a:r>
            <a:r>
              <a:rPr lang="en-US" sz="1500" dirty="0" err="1">
                <a:hlinkClick r:id="rId12"/>
              </a:rPr>
              <a:t>CodeProject</a:t>
            </a:r>
            <a:endParaRPr lang="en-US" sz="1500" dirty="0"/>
          </a:p>
          <a:p>
            <a:endParaRPr lang="en-US" sz="1500" kern="0" spc="-220" dirty="0">
              <a:solidFill>
                <a:schemeClr val="accent6"/>
              </a:solidFill>
            </a:endParaRPr>
          </a:p>
          <a:p>
            <a:r>
              <a:rPr lang="en-US" sz="2000" kern="0" spc="-220" dirty="0" err="1">
                <a:solidFill>
                  <a:schemeClr val="accent2"/>
                </a:solidFill>
              </a:rPr>
              <a:t>Reflection.Emit</a:t>
            </a:r>
            <a:r>
              <a:rPr lang="en-US" sz="2000" kern="0" spc="-220" dirty="0">
                <a:solidFill>
                  <a:schemeClr val="accent2"/>
                </a:solidFill>
              </a:rPr>
              <a:t> –</a:t>
            </a:r>
            <a:r>
              <a:rPr lang="en-US" sz="2000" kern="0" spc="-220" dirty="0">
                <a:solidFill>
                  <a:schemeClr val="accent6"/>
                </a:solidFill>
              </a:rPr>
              <a:t> </a:t>
            </a:r>
          </a:p>
          <a:p>
            <a:r>
              <a:rPr lang="en-US" sz="1500" dirty="0">
                <a:hlinkClick r:id="rId13"/>
              </a:rPr>
              <a:t>DOT NET TRICKS: DLR using </a:t>
            </a:r>
            <a:r>
              <a:rPr lang="en-US" sz="1500" dirty="0" err="1">
                <a:hlinkClick r:id="rId13"/>
              </a:rPr>
              <a:t>Reflection.Emit</a:t>
            </a:r>
            <a:r>
              <a:rPr lang="en-US" sz="1500" dirty="0">
                <a:hlinkClick r:id="rId13"/>
              </a:rPr>
              <a:t> (In Depth) Part 2</a:t>
            </a:r>
            <a:endParaRPr lang="en-US" sz="1500" dirty="0"/>
          </a:p>
          <a:p>
            <a:endParaRPr lang="en-US" sz="1500" kern="0" spc="-220" dirty="0">
              <a:solidFill>
                <a:schemeClr val="accent6"/>
              </a:solidFill>
            </a:endParaRPr>
          </a:p>
          <a:p>
            <a:r>
              <a:rPr lang="en-US" sz="1800" kern="0" spc="-220" dirty="0" err="1">
                <a:solidFill>
                  <a:schemeClr val="accent2"/>
                </a:solidFill>
              </a:rPr>
              <a:t>ExpressionTree</a:t>
            </a:r>
            <a:r>
              <a:rPr lang="en-US" sz="1800" kern="0" spc="-220" dirty="0">
                <a:solidFill>
                  <a:schemeClr val="accent2"/>
                </a:solidFill>
              </a:rPr>
              <a:t>–</a:t>
            </a:r>
            <a:r>
              <a:rPr lang="en-US" sz="2000" kern="0" spc="-220" dirty="0">
                <a:solidFill>
                  <a:schemeClr val="accent2"/>
                </a:solidFill>
              </a:rPr>
              <a:t> </a:t>
            </a:r>
          </a:p>
          <a:p>
            <a:r>
              <a:rPr lang="en-US" sz="1500" dirty="0">
                <a:hlinkClick r:id="rId14"/>
              </a:rPr>
              <a:t>Dynamic Code Generation in C# With Expression Trees | by </a:t>
            </a:r>
            <a:r>
              <a:rPr lang="en-US" sz="1500" dirty="0" err="1">
                <a:hlinkClick r:id="rId14"/>
              </a:rPr>
              <a:t>Bagoum</a:t>
            </a:r>
            <a:r>
              <a:rPr lang="en-US" sz="1500" dirty="0">
                <a:hlinkClick r:id="rId14"/>
              </a:rPr>
              <a:t> | Medium</a:t>
            </a:r>
            <a:endParaRPr lang="en-US" sz="1500" dirty="0"/>
          </a:p>
          <a:p>
            <a:r>
              <a:rPr lang="en-US" sz="1600" dirty="0">
                <a:hlinkClick r:id="rId15"/>
              </a:rPr>
              <a:t>What is the best resource for learning C# expression trees in depth</a:t>
            </a:r>
            <a:endParaRPr lang="en-US" sz="1500" dirty="0"/>
          </a:p>
          <a:p>
            <a:endParaRPr lang="en-US" sz="1500" kern="0" spc="-220" dirty="0">
              <a:solidFill>
                <a:schemeClr val="accent6"/>
              </a:solidFill>
            </a:endParaRPr>
          </a:p>
          <a:p>
            <a:endParaRPr lang="en-US" sz="1500" kern="0" spc="-220" dirty="0">
              <a:solidFill>
                <a:schemeClr val="accent6"/>
              </a:solidFill>
            </a:endParaRPr>
          </a:p>
          <a:p>
            <a:endParaRPr lang="en-US" sz="1500" kern="0" spc="-220" dirty="0">
              <a:solidFill>
                <a:schemeClr val="accent6"/>
              </a:solidFill>
            </a:endParaRPr>
          </a:p>
          <a:p>
            <a:pPr algn="l"/>
            <a:endParaRPr lang="en-US" sz="1500" kern="0" spc="-220" dirty="0">
              <a:solidFill>
                <a:schemeClr val="accent6"/>
              </a:solidFill>
            </a:endParaRPr>
          </a:p>
        </p:txBody>
      </p:sp>
    </p:spTree>
    <p:extLst>
      <p:ext uri="{BB962C8B-B14F-4D97-AF65-F5344CB8AC3E}">
        <p14:creationId xmlns:p14="http://schemas.microsoft.com/office/powerpoint/2010/main" val="52060940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4363434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314960" y="1313288"/>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500" kern="0" spc="-220" dirty="0">
                <a:solidFill>
                  <a:schemeClr val="accent2"/>
                </a:solidFill>
              </a:rPr>
              <a:t>Roslyn API/ Source Generators– </a:t>
            </a:r>
          </a:p>
          <a:p>
            <a:pPr algn="l"/>
            <a:r>
              <a:rPr lang="en-US" sz="1500" dirty="0">
                <a:hlinkClick r:id="rId7"/>
              </a:rPr>
              <a:t>Incremental Roslyn Source Generators In .NET 6: Code Sharing Of The Future - Part 1 - </a:t>
            </a:r>
            <a:r>
              <a:rPr lang="en-US" sz="1500" dirty="0" err="1">
                <a:hlinkClick r:id="rId7"/>
              </a:rPr>
              <a:t>Thinktecture</a:t>
            </a:r>
            <a:r>
              <a:rPr lang="en-US" sz="1500" dirty="0">
                <a:hlinkClick r:id="rId7"/>
              </a:rPr>
              <a:t> AG</a:t>
            </a:r>
            <a:endParaRPr lang="en-US" sz="1500" dirty="0"/>
          </a:p>
          <a:p>
            <a:pPr algn="l"/>
            <a:r>
              <a:rPr lang="en-IN" sz="1500" dirty="0">
                <a:hlinkClick r:id="rId8"/>
              </a:rPr>
              <a:t>Source Generators in C#</a:t>
            </a:r>
            <a:endParaRPr lang="en-IN" sz="1500" dirty="0"/>
          </a:p>
          <a:p>
            <a:pPr algn="l"/>
            <a:r>
              <a:rPr lang="en-US" sz="1500" dirty="0">
                <a:hlinkClick r:id="rId9"/>
              </a:rPr>
              <a:t>Deep dive into Source Generators | </a:t>
            </a:r>
            <a:r>
              <a:rPr lang="en-US" sz="1500" dirty="0" err="1">
                <a:hlinkClick r:id="rId9"/>
              </a:rPr>
              <a:t>TheCodeMan</a:t>
            </a:r>
            <a:endParaRPr lang="en-IN" sz="1500" dirty="0"/>
          </a:p>
          <a:p>
            <a:pPr algn="l"/>
            <a:r>
              <a:rPr lang="en-IN" sz="1500" dirty="0">
                <a:hlinkClick r:id="rId10"/>
              </a:rPr>
              <a:t>The .NET Compiler Platform SDK (Roslyn APIs) - C# | Microsoft Learn</a:t>
            </a:r>
            <a:endParaRPr lang="en-IN" sz="1500" dirty="0"/>
          </a:p>
          <a:p>
            <a:pPr algn="l"/>
            <a:r>
              <a:rPr lang="en-IN" sz="1500" dirty="0">
                <a:hlinkClick r:id="rId11"/>
              </a:rPr>
              <a:t>Free </a:t>
            </a:r>
            <a:r>
              <a:rPr lang="en-IN" sz="1500" dirty="0" err="1">
                <a:hlinkClick r:id="rId11"/>
              </a:rPr>
              <a:t>Ebook</a:t>
            </a:r>
            <a:r>
              <a:rPr lang="en-IN" sz="1500" dirty="0">
                <a:hlinkClick r:id="rId11"/>
              </a:rPr>
              <a:t> - Roslyn Succinctly</a:t>
            </a:r>
            <a:endParaRPr lang="en-IN" sz="1500" dirty="0"/>
          </a:p>
          <a:p>
            <a:pPr algn="l"/>
            <a:endParaRPr lang="en-IN" sz="1500" kern="0" spc="-220" dirty="0">
              <a:solidFill>
                <a:schemeClr val="accent6"/>
              </a:solidFill>
            </a:endParaRPr>
          </a:p>
          <a:p>
            <a:r>
              <a:rPr lang="en-US" sz="1500" kern="0" spc="-220" dirty="0">
                <a:solidFill>
                  <a:schemeClr val="accent2"/>
                </a:solidFill>
              </a:rPr>
              <a:t>Code Snippets(more used as VS Plugin rather than for Application) –</a:t>
            </a:r>
          </a:p>
          <a:p>
            <a:r>
              <a:rPr lang="en-US" sz="1500" dirty="0">
                <a:hlinkClick r:id="rId12"/>
              </a:rPr>
              <a:t>How to Automatically Generate C# Code Snippets in Visual Studio</a:t>
            </a:r>
            <a:endParaRPr lang="en-US" sz="1500" dirty="0"/>
          </a:p>
          <a:p>
            <a:endParaRPr lang="en-US" sz="1500" kern="0" spc="-220" dirty="0">
              <a:solidFill>
                <a:schemeClr val="accent6"/>
              </a:solidFill>
            </a:endParaRPr>
          </a:p>
          <a:p>
            <a:r>
              <a:rPr lang="en-US" sz="1500" kern="0" spc="-220" dirty="0">
                <a:solidFill>
                  <a:schemeClr val="accent2"/>
                </a:solidFill>
              </a:rPr>
              <a:t>Code Generation Performance Improvement –</a:t>
            </a:r>
          </a:p>
          <a:p>
            <a:r>
              <a:rPr lang="en-US" sz="1500" kern="0" spc="-220" dirty="0">
                <a:solidFill>
                  <a:schemeClr val="accent6"/>
                </a:solidFill>
              </a:rPr>
              <a:t>Mainly done via some In-Memory Caching </a:t>
            </a:r>
          </a:p>
          <a:p>
            <a:r>
              <a:rPr lang="en-US" sz="1500" kern="0" spc="-220" dirty="0">
                <a:solidFill>
                  <a:schemeClr val="accent6"/>
                </a:solidFill>
              </a:rPr>
              <a:t>By the way, </a:t>
            </a:r>
            <a:r>
              <a:rPr lang="en-US" sz="1500" kern="0" spc="-220" dirty="0" err="1">
                <a:solidFill>
                  <a:schemeClr val="accent6"/>
                </a:solidFill>
              </a:rPr>
              <a:t>Automapper</a:t>
            </a:r>
            <a:r>
              <a:rPr lang="en-US" sz="1500" kern="0" spc="-220" dirty="0">
                <a:solidFill>
                  <a:schemeClr val="accent6"/>
                </a:solidFill>
              </a:rPr>
              <a:t> is a  pretty cool library w.r.t object mapping,  which is build using mainly Reflection. Refer </a:t>
            </a:r>
            <a:r>
              <a:rPr lang="en-US" sz="1500" dirty="0">
                <a:hlinkClick r:id="rId13"/>
              </a:rPr>
              <a:t>Mastering </a:t>
            </a:r>
            <a:r>
              <a:rPr lang="en-US" sz="1500" dirty="0" err="1">
                <a:hlinkClick r:id="rId13"/>
              </a:rPr>
              <a:t>AutoMapper</a:t>
            </a:r>
            <a:r>
              <a:rPr lang="en-US" sz="1500" dirty="0">
                <a:hlinkClick r:id="rId13"/>
              </a:rPr>
              <a:t> in C#: A Comprehensive Guide - </a:t>
            </a:r>
            <a:r>
              <a:rPr lang="en-US" sz="1500" dirty="0" err="1">
                <a:hlinkClick r:id="rId13"/>
              </a:rPr>
              <a:t>ByteHide</a:t>
            </a:r>
            <a:r>
              <a:rPr lang="en-US" sz="1500" kern="0" spc="-220" dirty="0">
                <a:solidFill>
                  <a:schemeClr val="accent6"/>
                </a:solidFill>
              </a:rPr>
              <a:t> &amp; </a:t>
            </a:r>
            <a:r>
              <a:rPr lang="en-US" sz="1500" dirty="0" err="1">
                <a:hlinkClick r:id="rId14"/>
              </a:rPr>
              <a:t>c#</a:t>
            </a:r>
            <a:r>
              <a:rPr lang="en-US" sz="1500" dirty="0">
                <a:hlinkClick r:id="rId14"/>
              </a:rPr>
              <a:t> - </a:t>
            </a:r>
            <a:r>
              <a:rPr lang="en-US" sz="1500" dirty="0" err="1">
                <a:hlinkClick r:id="rId14"/>
              </a:rPr>
              <a:t>Automapper</a:t>
            </a:r>
            <a:r>
              <a:rPr lang="en-US" sz="1500" dirty="0">
                <a:hlinkClick r:id="rId14"/>
              </a:rPr>
              <a:t>. Map if source member is null - Stack Overflow</a:t>
            </a:r>
            <a:r>
              <a:rPr lang="en-US" sz="1500" kern="0" spc="-220" dirty="0">
                <a:solidFill>
                  <a:schemeClr val="accent6"/>
                </a:solidFill>
              </a:rPr>
              <a:t>  for further details around the same.</a:t>
            </a:r>
          </a:p>
          <a:p>
            <a:endParaRPr lang="en-US" sz="1500" kern="0" spc="-220" dirty="0">
              <a:solidFill>
                <a:schemeClr val="accent2"/>
              </a:solidFill>
            </a:endParaRPr>
          </a:p>
          <a:p>
            <a:endParaRPr lang="en-US" sz="1500" kern="0" spc="-220" dirty="0">
              <a:solidFill>
                <a:schemeClr val="accent2"/>
              </a:solidFill>
            </a:endParaRPr>
          </a:p>
          <a:p>
            <a:r>
              <a:rPr lang="en-US" sz="1500" kern="0" spc="-220" dirty="0">
                <a:solidFill>
                  <a:schemeClr val="accent2"/>
                </a:solidFill>
              </a:rPr>
              <a:t>For Further Exploration – </a:t>
            </a:r>
          </a:p>
          <a:p>
            <a:r>
              <a:rPr lang="en-IN" sz="1500" dirty="0">
                <a:hlinkClick r:id="rId15"/>
              </a:rPr>
              <a:t>ProgramGeneration_Trennung.PDF</a:t>
            </a:r>
            <a:endParaRPr lang="en-IN" sz="1500" dirty="0"/>
          </a:p>
          <a:p>
            <a:endParaRPr lang="en-US" sz="1400" kern="0" spc="-220" dirty="0">
              <a:solidFill>
                <a:schemeClr val="accent6"/>
              </a:solidFill>
            </a:endParaRPr>
          </a:p>
          <a:p>
            <a:pPr algn="l"/>
            <a:endParaRPr lang="en-US" sz="1300" kern="0" spc="-220" dirty="0">
              <a:solidFill>
                <a:schemeClr val="accent6"/>
              </a:solidFill>
            </a:endParaRPr>
          </a:p>
        </p:txBody>
      </p:sp>
    </p:spTree>
    <p:extLst>
      <p:ext uri="{BB962C8B-B14F-4D97-AF65-F5344CB8AC3E}">
        <p14:creationId xmlns:p14="http://schemas.microsoft.com/office/powerpoint/2010/main" val="286352337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54340647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var vs dynamic – </a:t>
            </a:r>
          </a:p>
          <a:p>
            <a:pPr algn="l"/>
            <a:r>
              <a:rPr lang="en-US" sz="2400" kern="0" spc="-220" dirty="0">
                <a:solidFill>
                  <a:schemeClr val="accent6"/>
                </a:solidFill>
              </a:rPr>
              <a:t> var says “Let the compiler figure out the type”</a:t>
            </a:r>
          </a:p>
          <a:p>
            <a:pPr algn="l"/>
            <a:r>
              <a:rPr lang="en-US" sz="2400" kern="0" spc="-220" dirty="0">
                <a:solidFill>
                  <a:schemeClr val="accent6"/>
                </a:solidFill>
              </a:rPr>
              <a:t> dynamic says “Let the runtime figure out the type”</a:t>
            </a:r>
          </a:p>
          <a:p>
            <a:pPr algn="l"/>
            <a:endParaRPr lang="en-US" sz="2400" kern="0" spc="-220" dirty="0">
              <a:solidFill>
                <a:schemeClr val="accent6"/>
              </a:solidFill>
            </a:endParaRPr>
          </a:p>
          <a:p>
            <a:r>
              <a:rPr lang="en-US" sz="2400" kern="0" spc="-220" dirty="0">
                <a:solidFill>
                  <a:schemeClr val="accent2"/>
                </a:solidFill>
              </a:rPr>
              <a:t>Late Binding And Doing That using Reflection – </a:t>
            </a:r>
          </a:p>
          <a:p>
            <a:r>
              <a:rPr lang="en-US" sz="2400" dirty="0">
                <a:hlinkClick r:id="rId7"/>
              </a:rPr>
              <a:t>Early vs Late Binding, reflection, and type dynamic in C#</a:t>
            </a:r>
            <a:r>
              <a:rPr lang="en-US" sz="2400" kern="0" spc="-220" dirty="0">
                <a:solidFill>
                  <a:schemeClr val="accent6"/>
                </a:solidFill>
              </a:rPr>
              <a:t> </a:t>
            </a:r>
          </a:p>
          <a:p>
            <a:endParaRPr lang="en-US" sz="2400" kern="0" spc="-220" dirty="0">
              <a:solidFill>
                <a:schemeClr val="accent6"/>
              </a:solidFill>
            </a:endParaRPr>
          </a:p>
          <a:p>
            <a:r>
              <a:rPr lang="en-US" sz="2400" kern="0" spc="-220" dirty="0">
                <a:solidFill>
                  <a:schemeClr val="accent2"/>
                </a:solidFill>
              </a:rPr>
              <a:t>Simplifying Late Binding Using dynamic – </a:t>
            </a:r>
          </a:p>
          <a:p>
            <a:r>
              <a:rPr lang="en-US" sz="2400" dirty="0">
                <a:hlinkClick r:id="rId8"/>
              </a:rPr>
              <a:t>Understanding Late Binding: Dynamic Objects and Reflection in C# .NET | LinkedIn</a:t>
            </a:r>
            <a:endParaRPr lang="en-US" sz="2400" kern="0" spc="-220" dirty="0">
              <a:solidFill>
                <a:schemeClr val="accent6"/>
              </a:solidFill>
            </a:endParaRPr>
          </a:p>
          <a:p>
            <a:endParaRPr lang="en-US" sz="2400" kern="0" spc="-220" dirty="0">
              <a:solidFill>
                <a:schemeClr val="accent6"/>
              </a:solidFill>
            </a:endParaRPr>
          </a:p>
          <a:p>
            <a:pPr algn="l"/>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903228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20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2000" kern="0" spc="-220" dirty="0">
              <a:solidFill>
                <a:schemeClr val="accent6"/>
              </a:solidFill>
            </a:endParaRPr>
          </a:p>
          <a:p>
            <a:pPr algn="l"/>
            <a:r>
              <a:rPr lang="en-US" sz="2000" dirty="0">
                <a:hlinkClick r:id="rId7"/>
              </a:rPr>
              <a:t>The Visitor Pattern and dynamic in C# 4 — </a:t>
            </a:r>
            <a:r>
              <a:rPr lang="en-US" sz="2000" dirty="0" err="1">
                <a:hlinkClick r:id="rId7"/>
              </a:rPr>
              <a:t>Faithlife</a:t>
            </a:r>
            <a:r>
              <a:rPr lang="en-US" sz="2000" dirty="0">
                <a:hlinkClick r:id="rId7"/>
              </a:rPr>
              <a:t> Code Blog</a:t>
            </a:r>
            <a:endParaRPr lang="en-US" sz="2000" dirty="0"/>
          </a:p>
          <a:p>
            <a:pPr algn="l"/>
            <a:endParaRPr lang="en-US" sz="20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a:p>
            <a:pPr algn="l"/>
            <a:endParaRPr lang="en-US" sz="2000" kern="0" spc="-220" dirty="0">
              <a:solidFill>
                <a:schemeClr val="accent1"/>
              </a:solidFill>
            </a:endParaRPr>
          </a:p>
          <a:p>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r>
              <a:rPr lang="en-US" sz="2000" dirty="0" err="1">
                <a:hlinkClick r:id="rId8"/>
              </a:rPr>
              <a:t>c#</a:t>
            </a:r>
            <a:r>
              <a:rPr lang="en-US" sz="2000" dirty="0">
                <a:hlinkClick r:id="rId8"/>
              </a:rPr>
              <a:t> - Differences between </a:t>
            </a:r>
            <a:r>
              <a:rPr lang="en-US" sz="2000" dirty="0" err="1">
                <a:hlinkClick r:id="rId8"/>
              </a:rPr>
              <a:t>ExpandoObject</a:t>
            </a:r>
            <a:r>
              <a:rPr lang="en-US" sz="2000" dirty="0">
                <a:hlinkClick r:id="rId8"/>
              </a:rPr>
              <a:t>, </a:t>
            </a:r>
            <a:r>
              <a:rPr lang="en-US" sz="2000" dirty="0" err="1">
                <a:hlinkClick r:id="rId8"/>
              </a:rPr>
              <a:t>DynamicObject</a:t>
            </a:r>
            <a:r>
              <a:rPr lang="en-US" sz="2000" dirty="0">
                <a:hlinkClick r:id="rId8"/>
              </a:rPr>
              <a:t> and dynamic - Stack Overflow</a:t>
            </a:r>
            <a:endParaRPr lang="en-US" sz="2000" kern="0" spc="-220" dirty="0">
              <a:solidFill>
                <a:schemeClr val="accent6"/>
              </a:solidFill>
            </a:endParaRPr>
          </a:p>
          <a:p>
            <a:pPr algn="l"/>
            <a:endParaRPr lang="en-US" sz="2000" kern="0" spc="-220" dirty="0">
              <a:solidFill>
                <a:schemeClr val="accent1"/>
              </a:solidFill>
            </a:endParaRPr>
          </a:p>
        </p:txBody>
      </p:sp>
    </p:spTree>
    <p:extLst>
      <p:ext uri="{BB962C8B-B14F-4D97-AF65-F5344CB8AC3E}">
        <p14:creationId xmlns:p14="http://schemas.microsoft.com/office/powerpoint/2010/main" val="299100897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727460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14263" y="1114961"/>
            <a:ext cx="8624937" cy="58631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err="1">
                <a:solidFill>
                  <a:schemeClr val="accent2"/>
                </a:solidFill>
              </a:rPr>
              <a:t>AoP</a:t>
            </a:r>
            <a:r>
              <a:rPr lang="en-US" sz="1800" kern="0" spc="-220" dirty="0">
                <a:solidFill>
                  <a:schemeClr val="accent2"/>
                </a:solidFill>
              </a:rPr>
              <a:t>(Aspect Oriented Programming)</a:t>
            </a:r>
          </a:p>
          <a:p>
            <a:pPr marL="12700" marR="5080"/>
            <a:endParaRPr lang="en-US" sz="1800" kern="0" spc="-220" dirty="0">
              <a:solidFill>
                <a:schemeClr val="accent2"/>
              </a:solidFill>
            </a:endParaRPr>
          </a:p>
          <a:p>
            <a:pPr marL="12700" marR="5080"/>
            <a:r>
              <a:rPr lang="en-US" sz="1800" kern="0" spc="-220" dirty="0">
                <a:solidFill>
                  <a:schemeClr val="accent2"/>
                </a:solidFill>
              </a:rPr>
              <a:t> Doing </a:t>
            </a:r>
            <a:r>
              <a:rPr lang="en-US" sz="1800" kern="0" spc="-220" dirty="0" err="1">
                <a:solidFill>
                  <a:schemeClr val="accent2"/>
                </a:solidFill>
              </a:rPr>
              <a:t>AoP</a:t>
            </a:r>
            <a:r>
              <a:rPr lang="en-US" sz="1800" kern="0" spc="-220" dirty="0">
                <a:solidFill>
                  <a:schemeClr val="accent2"/>
                </a:solidFill>
              </a:rPr>
              <a:t> using Attributes in .NET –</a:t>
            </a:r>
            <a:r>
              <a:rPr lang="en-US" sz="1800" kern="0" spc="-220" dirty="0">
                <a:solidFill>
                  <a:schemeClr val="accent6"/>
                </a:solidFill>
              </a:rPr>
              <a:t> </a:t>
            </a:r>
          </a:p>
          <a:p>
            <a:pPr marL="12700" marR="5080"/>
            <a:r>
              <a:rPr lang="en-US" sz="1800" dirty="0">
                <a:hlinkClick r:id="rId7"/>
              </a:rPr>
              <a:t>jot.fm/issues/issue_2007_03/article1/</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Compile -Time Weaving Techniques in .NET –</a:t>
            </a:r>
            <a:r>
              <a:rPr lang="en-US" sz="1800" kern="0" spc="-220" dirty="0">
                <a:solidFill>
                  <a:schemeClr val="accent6"/>
                </a:solidFill>
              </a:rPr>
              <a:t> </a:t>
            </a:r>
          </a:p>
          <a:p>
            <a:pPr marL="12700" marR="5080"/>
            <a:r>
              <a:rPr lang="en-IN" sz="1800" dirty="0">
                <a:hlinkClick r:id="rId8"/>
              </a:rPr>
              <a:t>MSIL Rewriting – </a:t>
            </a:r>
            <a:r>
              <a:rPr lang="en-IN" sz="1800" dirty="0" err="1">
                <a:hlinkClick r:id="rId8"/>
              </a:rPr>
              <a:t>PostSharp</a:t>
            </a:r>
            <a:r>
              <a:rPr lang="en-IN" sz="1800" dirty="0">
                <a:hlinkClick r:id="rId8"/>
              </a:rPr>
              <a:t> Technologies</a:t>
            </a:r>
            <a:endParaRPr lang="en-IN" sz="1800" dirty="0"/>
          </a:p>
          <a:p>
            <a:pPr marL="12700" marR="5080"/>
            <a:endParaRPr lang="en-IN" sz="1800" kern="0" spc="-220" dirty="0">
              <a:solidFill>
                <a:schemeClr val="accent6"/>
              </a:solidFill>
            </a:endParaRPr>
          </a:p>
          <a:p>
            <a:pPr marL="12700" marR="5080"/>
            <a:r>
              <a:rPr lang="en-US" sz="1800" kern="0" spc="-220" dirty="0">
                <a:solidFill>
                  <a:schemeClr val="accent2"/>
                </a:solidFill>
              </a:rPr>
              <a:t>Run -Time Weaving Techniques in .NET – </a:t>
            </a:r>
          </a:p>
          <a:p>
            <a:pPr marL="12700" marR="5080"/>
            <a:r>
              <a:rPr lang="en-US" sz="1800" dirty="0">
                <a:hlinkClick r:id="rId9"/>
              </a:rPr>
              <a:t>Middleware and Dependency Injection – </a:t>
            </a:r>
            <a:r>
              <a:rPr lang="en-US" sz="1800" dirty="0" err="1">
                <a:hlinkClick r:id="rId9"/>
              </a:rPr>
              <a:t>PostSharp</a:t>
            </a:r>
            <a:r>
              <a:rPr lang="en-US" sz="1800" dirty="0">
                <a:hlinkClick r:id="rId9"/>
              </a:rPr>
              <a:t> Technologies</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 A Generic Example Using MS Unity – </a:t>
            </a:r>
          </a:p>
          <a:p>
            <a:pPr marL="12700" marR="5080"/>
            <a:r>
              <a:rPr lang="en-US" sz="1800" dirty="0">
                <a:hlinkClick r:id="rId10"/>
              </a:rPr>
              <a:t>DDD-Based-Enterprise-Application-Framework/Infrastructure/</a:t>
            </a:r>
            <a:r>
              <a:rPr lang="en-US" sz="1800" dirty="0" err="1">
                <a:hlinkClick r:id="rId10"/>
              </a:rPr>
              <a:t>AoP</a:t>
            </a:r>
            <a:r>
              <a:rPr lang="en-US" sz="1800" dirty="0">
                <a:hlinkClick r:id="rId10"/>
              </a:rPr>
              <a:t> at master · sandipray63in/DDD-Based-Enterprise-Application-Framework · GitHub</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For Further Exploration – </a:t>
            </a:r>
          </a:p>
          <a:p>
            <a:pPr marL="12700" marR="5080"/>
            <a:r>
              <a:rPr lang="en-US" sz="1800" dirty="0">
                <a:hlinkClick r:id="rId11"/>
              </a:rPr>
              <a:t>Aspect-Oriented Programming (AOP) - Microsoft Unity Succinctly </a:t>
            </a:r>
            <a:r>
              <a:rPr lang="en-US" sz="1800" dirty="0" err="1">
                <a:hlinkClick r:id="rId11"/>
              </a:rPr>
              <a:t>Ebook</a:t>
            </a:r>
            <a:endParaRPr lang="en-US" sz="1800" kern="0" spc="-220" dirty="0">
              <a:solidFill>
                <a:schemeClr val="accent6"/>
              </a:solidFill>
            </a:endParaRPr>
          </a:p>
          <a:p>
            <a:pPr marL="12700" marR="5080"/>
            <a:endParaRPr lang="en-US" sz="1400" kern="0" spc="-220" dirty="0">
              <a:solidFill>
                <a:schemeClr val="accent6"/>
              </a:solidFill>
            </a:endParaRPr>
          </a:p>
          <a:p>
            <a:pPr marL="12700" marR="5080"/>
            <a:endParaRPr lang="en-US" sz="1400" kern="0" spc="-220" dirty="0">
              <a:solidFill>
                <a:schemeClr val="accent6"/>
              </a:solidFill>
            </a:endParaRPr>
          </a:p>
          <a:p>
            <a:pPr marL="12700" marR="5080"/>
            <a:endParaRPr lang="en-US" sz="1400" kern="0" spc="-220" dirty="0">
              <a:solidFill>
                <a:schemeClr val="accent6"/>
              </a:solidFill>
            </a:endParaRPr>
          </a:p>
          <a:p>
            <a:pPr marL="12700" marR="5080"/>
            <a:endParaRPr lang="en-US" sz="15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50717508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91821-126B-D20D-5553-B39CCF6417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A66D0-85DD-4299-89DC-B0C8B3FE2F4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0CB82F-EF6C-6A08-43BF-D9E528CBEC1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08E2897-06C5-D092-1F54-C745A9DD05C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CCD14E3-C71B-06EE-3F51-753DF361BD89}"/>
              </a:ext>
            </a:extLst>
          </p:cNvPr>
          <p:cNvSpPr txBox="1">
            <a:spLocks/>
          </p:cNvSpPr>
          <p:nvPr/>
        </p:nvSpPr>
        <p:spPr>
          <a:xfrm>
            <a:off x="214263" y="111496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220" dirty="0">
                <a:solidFill>
                  <a:schemeClr val="accent2"/>
                </a:solidFill>
              </a:rPr>
              <a:t>For Further Exploration – </a:t>
            </a:r>
          </a:p>
          <a:p>
            <a:r>
              <a:rPr lang="en-US" sz="1800" dirty="0">
                <a:hlinkClick r:id="rId7"/>
              </a:rPr>
              <a:t>Metaprogramming-in-C-Sharp</a:t>
            </a:r>
            <a:endParaRPr lang="en-US" sz="1800" kern="0" spc="-220" dirty="0">
              <a:solidFill>
                <a:schemeClr val="accent6"/>
              </a:solidFill>
            </a:endParaRPr>
          </a:p>
          <a:p>
            <a:pPr marL="12700" marR="5080"/>
            <a:r>
              <a:rPr lang="nl-NL" sz="1800" dirty="0">
                <a:hlinkClick r:id="rId8"/>
              </a:rPr>
              <a:t>Metaprogramming in .NET</a:t>
            </a:r>
            <a:endParaRPr lang="en-US" sz="1800" kern="0" spc="-220" dirty="0">
              <a:solidFill>
                <a:schemeClr val="accent6"/>
              </a:solidFill>
            </a:endParaRPr>
          </a:p>
          <a:p>
            <a:pPr marL="12700" marR="5080"/>
            <a:endParaRPr lang="en-US" sz="1500" kern="0" spc="-220" dirty="0">
              <a:solidFill>
                <a:schemeClr val="accent6"/>
              </a:solidFill>
            </a:endParaRPr>
          </a:p>
        </p:txBody>
      </p:sp>
      <p:sp>
        <p:nvSpPr>
          <p:cNvPr id="2" name="object 2">
            <a:extLst>
              <a:ext uri="{FF2B5EF4-FFF2-40B4-BE49-F238E27FC236}">
                <a16:creationId xmlns:a16="http://schemas.microsoft.com/office/drawing/2014/main" id="{1BAAE56E-4231-B5A0-C760-3045C2862152}"/>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83906310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GAC &amp; Strong Naming – </a:t>
            </a:r>
          </a:p>
          <a:p>
            <a:pPr algn="l"/>
            <a:r>
              <a:rPr lang="en-US" sz="1500" dirty="0" err="1">
                <a:hlinkClick r:id="rId7"/>
              </a:rPr>
              <a:t>c#</a:t>
            </a:r>
            <a:r>
              <a:rPr lang="en-US" sz="1500" dirty="0">
                <a:hlinkClick r:id="rId7"/>
              </a:rPr>
              <a:t> - Why use strong named assemblies?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259531" y="2598498"/>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Assembly Loading Order– </a:t>
            </a:r>
          </a:p>
          <a:p>
            <a:pPr algn="l"/>
            <a:r>
              <a:rPr lang="en-US" sz="1500" dirty="0" err="1">
                <a:hlinkClick r:id="rId8"/>
              </a:rPr>
              <a:t>.net</a:t>
            </a:r>
            <a:r>
              <a:rPr lang="en-US" sz="1500" dirty="0">
                <a:hlinkClick r:id="rId8"/>
              </a:rPr>
              <a:t> - In what order are locations searched to load referenced DLLs? - Stack Overflow</a:t>
            </a:r>
            <a:endParaRPr lang="en-US" sz="1500" dirty="0"/>
          </a:p>
          <a:p>
            <a:pPr algn="l"/>
            <a:r>
              <a:rPr lang="en-US" sz="1500" dirty="0" err="1">
                <a:hlinkClick r:id="rId9"/>
              </a:rPr>
              <a:t>c#</a:t>
            </a:r>
            <a:r>
              <a:rPr lang="en-US" sz="1500" dirty="0">
                <a:hlinkClick r:id="rId9"/>
              </a:rPr>
              <a:t> - .NET use application config file to load an assembly that is referenced by another assembly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Satellite Assembly– </a:t>
            </a:r>
          </a:p>
          <a:p>
            <a:pPr algn="l"/>
            <a:r>
              <a:rPr lang="en-US" sz="1500" dirty="0" err="1">
                <a:hlinkClick r:id="rId10"/>
              </a:rPr>
              <a:t>.net</a:t>
            </a:r>
            <a:r>
              <a:rPr lang="en-US" sz="1500" dirty="0">
                <a:hlinkClick r:id="rId10"/>
              </a:rPr>
              <a:t> - What is a satellite assembly? - Stack Overflow</a:t>
            </a:r>
            <a:endParaRPr lang="en-US" sz="1500" kern="0" spc="-220" dirty="0">
              <a:solidFill>
                <a:schemeClr val="accent6"/>
              </a:solidFill>
            </a:endParaRPr>
          </a:p>
        </p:txBody>
      </p:sp>
    </p:spTree>
    <p:extLst>
      <p:ext uri="{BB962C8B-B14F-4D97-AF65-F5344CB8AC3E}">
        <p14:creationId xmlns:p14="http://schemas.microsoft.com/office/powerpoint/2010/main" val="395388193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For Further Exploration –</a:t>
            </a:r>
            <a:r>
              <a:rPr lang="en-US" sz="2000" kern="0" spc="-220" dirty="0">
                <a:solidFill>
                  <a:schemeClr val="accent6"/>
                </a:solidFill>
              </a:rPr>
              <a:t> </a:t>
            </a:r>
          </a:p>
          <a:p>
            <a:pPr marL="12700" marR="5080"/>
            <a:r>
              <a:rPr lang="en-US" sz="1500" dirty="0" err="1">
                <a:hlinkClick r:id="rId8"/>
              </a:rPr>
              <a:t>SignalR</a:t>
            </a:r>
            <a:r>
              <a:rPr lang="en-US" sz="1500" dirty="0">
                <a:hlinkClick r:id="rId8"/>
              </a:rPr>
              <a:t> + RX (Streaming Data Demo App 1 of 2)- </a:t>
            </a:r>
            <a:r>
              <a:rPr lang="en-US" sz="1500" dirty="0" err="1">
                <a:hlinkClick r:id="rId8"/>
              </a:rPr>
              <a:t>CodeProject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Some High Level Examples – </a:t>
            </a:r>
          </a:p>
          <a:p>
            <a:pPr marL="12700" marR="5080"/>
            <a:r>
              <a:rPr lang="en-US" sz="1500" dirty="0">
                <a:hlinkClick r:id="rId9"/>
              </a:rPr>
              <a:t>Rx.NET in the real world. Lessons that can help you when marbles… | by William Barbosa | Medium</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220" dirty="0">
                <a:solidFill>
                  <a:schemeClr val="accent2"/>
                </a:solidFill>
              </a:rPr>
              <a:t>    Intro to SOLID Principles – </a:t>
            </a:r>
          </a:p>
          <a:p>
            <a:pPr marL="12700" marR="5080"/>
            <a:r>
              <a:rPr lang="en-US" sz="1600" kern="0" spc="-220" dirty="0">
                <a:solidFill>
                  <a:schemeClr val="accent6"/>
                </a:solidFill>
              </a:rPr>
              <a:t>     </a:t>
            </a:r>
            <a:r>
              <a:rPr lang="en-US" sz="1600" dirty="0">
                <a:hlinkClick r:id="rId7"/>
              </a:rPr>
              <a:t>A Solid Guide to SOLID Principles | </a:t>
            </a:r>
            <a:r>
              <a:rPr lang="en-US" sz="1600" dirty="0" err="1">
                <a:hlinkClick r:id="rId7"/>
              </a:rPr>
              <a:t>Baeldung</a:t>
            </a:r>
            <a:endParaRPr lang="en-US" sz="16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76200" y="1788421"/>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220" dirty="0">
                <a:solidFill>
                  <a:schemeClr val="accent6"/>
                </a:solidFill>
              </a:rPr>
              <a:t>  </a:t>
            </a:r>
            <a:r>
              <a:rPr lang="en-US" sz="1600" kern="0" spc="-220" dirty="0">
                <a:solidFill>
                  <a:schemeClr val="accent2"/>
                </a:solidFill>
              </a:rPr>
              <a:t>SRP vs ISP</a:t>
            </a:r>
          </a:p>
          <a:p>
            <a:pPr marL="12700" marR="5080"/>
            <a:r>
              <a:rPr lang="en-US" sz="1600" kern="0" spc="-220" dirty="0">
                <a:solidFill>
                  <a:schemeClr val="accent2"/>
                </a:solidFill>
              </a:rPr>
              <a:t>   </a:t>
            </a:r>
            <a:r>
              <a:rPr lang="en-US" sz="1600" kern="0" spc="-220" dirty="0">
                <a:solidFill>
                  <a:schemeClr val="accent6"/>
                </a:solidFill>
              </a:rPr>
              <a:t>They both care about avoiding unnecessary responsibility and keeping things clean and clear. But they tackle different kinds of “too much responsibility”. SRP asks “Is this class doing more than one job?” &amp; if yes, suggests to break classes into smaller ones while ISP asks “Is this interface forcing clients to depend on stuff they don't use?” &amp; if yes, split interfaces into smaller ones.</a:t>
            </a:r>
          </a:p>
          <a:p>
            <a:pPr marL="12700" marR="5080"/>
            <a:r>
              <a:rPr lang="en-US" sz="1600" kern="0" spc="-220" dirty="0">
                <a:solidFill>
                  <a:schemeClr val="accent2"/>
                </a:solidFill>
              </a:rPr>
              <a:t>   In Short – </a:t>
            </a:r>
          </a:p>
          <a:p>
            <a:pPr marL="12700" marR="5080"/>
            <a:r>
              <a:rPr lang="en-US" sz="1600" kern="0" spc="-220" dirty="0">
                <a:solidFill>
                  <a:schemeClr val="accent2"/>
                </a:solidFill>
              </a:rPr>
              <a:t>    SRP </a:t>
            </a:r>
            <a:r>
              <a:rPr lang="en-US" sz="1600" kern="0" spc="-220" dirty="0">
                <a:solidFill>
                  <a:schemeClr val="accent6"/>
                </a:solidFill>
              </a:rPr>
              <a:t>- Don’t give one class multiple jobs </a:t>
            </a:r>
          </a:p>
          <a:p>
            <a:pPr marL="12700" marR="5080"/>
            <a:r>
              <a:rPr lang="en-US" sz="1600" kern="0" spc="-220" dirty="0">
                <a:solidFill>
                  <a:schemeClr val="accent2"/>
                </a:solidFill>
              </a:rPr>
              <a:t>    ISP</a:t>
            </a:r>
            <a:r>
              <a:rPr lang="en-US" sz="1600" kern="0" spc="-220" dirty="0">
                <a:solidFill>
                  <a:schemeClr val="accent6"/>
                </a:solidFill>
              </a:rPr>
              <a:t> -  Don’t give one interface multiple purposes </a:t>
            </a:r>
          </a:p>
          <a:p>
            <a:pPr marL="12700" marR="5080"/>
            <a:r>
              <a:rPr lang="en-US" sz="1600" kern="0" spc="-220" dirty="0">
                <a:solidFill>
                  <a:schemeClr val="accent6"/>
                </a:solidFill>
              </a:rPr>
              <a:t>   </a:t>
            </a:r>
            <a:r>
              <a:rPr lang="en-US" sz="1600" kern="0" spc="-220" dirty="0">
                <a:solidFill>
                  <a:schemeClr val="accent2"/>
                </a:solidFill>
              </a:rPr>
              <a:t>Or more playfully: </a:t>
            </a:r>
          </a:p>
          <a:p>
            <a:pPr marL="12700" marR="5080"/>
            <a:r>
              <a:rPr lang="en-US" sz="1600" kern="0" spc="-220" dirty="0">
                <a:solidFill>
                  <a:schemeClr val="accent2"/>
                </a:solidFill>
              </a:rPr>
              <a:t>    SRP: </a:t>
            </a:r>
            <a:r>
              <a:rPr lang="en-US" sz="1600" kern="0" spc="-220" dirty="0">
                <a:solidFill>
                  <a:schemeClr val="accent6"/>
                </a:solidFill>
              </a:rPr>
              <a:t>“One employee should have one role.” </a:t>
            </a:r>
          </a:p>
          <a:p>
            <a:pPr marL="12700" marR="5080"/>
            <a:r>
              <a:rPr lang="en-US" sz="1600" kern="0" spc="-220" dirty="0">
                <a:solidFill>
                  <a:schemeClr val="accent6"/>
                </a:solidFill>
              </a:rPr>
              <a:t>    </a:t>
            </a:r>
            <a:r>
              <a:rPr lang="en-US" sz="1600" kern="0" spc="-220" dirty="0">
                <a:solidFill>
                  <a:schemeClr val="accent2"/>
                </a:solidFill>
              </a:rPr>
              <a:t>ISP: </a:t>
            </a:r>
            <a:r>
              <a:rPr lang="en-US" sz="1600" kern="0" spc="-220" dirty="0">
                <a:solidFill>
                  <a:schemeClr val="accent6"/>
                </a:solidFill>
              </a:rPr>
              <a:t>“Don’t give employees tools they don’t need for that role.”</a:t>
            </a:r>
          </a:p>
          <a:p>
            <a:pPr marL="12700" marR="5080"/>
            <a:r>
              <a:rPr lang="en-US" sz="1600" kern="0" spc="-220" dirty="0">
                <a:solidFill>
                  <a:schemeClr val="accent6"/>
                </a:solidFill>
              </a:rPr>
              <a:t>  </a:t>
            </a:r>
          </a:p>
          <a:p>
            <a:pPr marL="12700" marR="5080"/>
            <a:r>
              <a:rPr lang="en-US" sz="1600" kern="0" spc="-220" dirty="0">
                <a:solidFill>
                  <a:schemeClr val="accent2"/>
                </a:solidFill>
              </a:rPr>
              <a:t>  Some concepts related to SOLID– </a:t>
            </a:r>
          </a:p>
          <a:p>
            <a:pPr marL="12700" marR="5080"/>
            <a:r>
              <a:rPr lang="en-US" sz="1600" kern="0" spc="-220" dirty="0">
                <a:solidFill>
                  <a:schemeClr val="accent6"/>
                </a:solidFill>
              </a:rPr>
              <a:t>   </a:t>
            </a:r>
            <a:r>
              <a:rPr lang="en-US" sz="1600" kern="0" spc="-220" dirty="0">
                <a:solidFill>
                  <a:schemeClr val="tx2">
                    <a:lumMod val="60000"/>
                    <a:lumOff val="40000"/>
                  </a:schemeClr>
                </a:solidFill>
              </a:rPr>
              <a:t>D of SOLID is Dependency Inversion &amp; Not Dependency Injection</a:t>
            </a:r>
          </a:p>
          <a:p>
            <a:pPr marL="12700" marR="5080"/>
            <a:r>
              <a:rPr lang="en-US" sz="1600" kern="0" spc="-220" dirty="0">
                <a:solidFill>
                  <a:schemeClr val="accent6"/>
                </a:solidFill>
              </a:rPr>
              <a:t>   How .NET Extension Methods follows OCP by default</a:t>
            </a:r>
          </a:p>
          <a:p>
            <a:pPr marL="12700" marR="5080"/>
            <a:r>
              <a:rPr lang="en-US" sz="1600" kern="0" spc="-220" dirty="0">
                <a:solidFill>
                  <a:schemeClr val="accent6"/>
                </a:solidFill>
              </a:rPr>
              <a:t>   </a:t>
            </a:r>
            <a:r>
              <a:rPr lang="en-US" sz="1600" kern="0" spc="-220" dirty="0" err="1">
                <a:solidFill>
                  <a:schemeClr val="accent6"/>
                </a:solidFill>
              </a:rPr>
              <a:t>Liskuv</a:t>
            </a:r>
            <a:r>
              <a:rPr lang="en-US" sz="1600" kern="0" spc="-220" dirty="0">
                <a:solidFill>
                  <a:schemeClr val="accent6"/>
                </a:solidFill>
              </a:rPr>
              <a:t> Substitution principle can be applied to all types of Abstractions in .NET(</a:t>
            </a:r>
            <a:r>
              <a:rPr lang="en-US" sz="1600" kern="0" spc="-220" dirty="0">
                <a:solidFill>
                  <a:schemeClr val="tx2">
                    <a:lumMod val="60000"/>
                    <a:lumOff val="40000"/>
                  </a:schemeClr>
                </a:solidFill>
              </a:rPr>
              <a:t>next slide</a:t>
            </a:r>
            <a:r>
              <a:rPr lang="en-US" sz="1600" kern="0" spc="-220" dirty="0">
                <a:solidFill>
                  <a:schemeClr val="accent6"/>
                </a:solidFill>
              </a:rPr>
              <a:t>)</a:t>
            </a:r>
          </a:p>
          <a:p>
            <a:pPr marL="12700" marR="5080"/>
            <a:r>
              <a:rPr lang="en-US" sz="1600" kern="0" spc="-220" dirty="0">
                <a:solidFill>
                  <a:schemeClr val="accent6"/>
                </a:solidFill>
              </a:rPr>
              <a:t>   ISP(Interface Segregation Principle) &amp; its relation to Microservices   </a:t>
            </a:r>
          </a:p>
          <a:p>
            <a:pPr marL="12700" marR="5080"/>
            <a:endParaRPr lang="en-US" sz="1600" kern="0" spc="-220" dirty="0">
              <a:solidFill>
                <a:schemeClr val="accent6"/>
              </a:solidFill>
            </a:endParaRPr>
          </a:p>
        </p:txBody>
      </p:sp>
    </p:spTree>
    <p:extLst>
      <p:ext uri="{BB962C8B-B14F-4D97-AF65-F5344CB8AC3E}">
        <p14:creationId xmlns:p14="http://schemas.microsoft.com/office/powerpoint/2010/main" val="106935625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endParaRPr lang="en-US" sz="1800" kern="0" spc="-220" dirty="0">
              <a:solidFill>
                <a:schemeClr val="accent6"/>
              </a:solidFill>
            </a:endParaRPr>
          </a:p>
          <a:p>
            <a:pPr marL="12700" marR="5080"/>
            <a:r>
              <a:rPr lang="en-US" sz="2000" kern="0" spc="-220" dirty="0">
                <a:solidFill>
                  <a:schemeClr val="accent2"/>
                </a:solidFill>
              </a:rPr>
              <a:t>For Further Exploration – </a:t>
            </a:r>
          </a:p>
          <a:p>
            <a:pPr marL="12700" marR="5080"/>
            <a:r>
              <a:rPr lang="en-US" sz="1500" kern="0" spc="-220" dirty="0">
                <a:solidFill>
                  <a:schemeClr val="accent6"/>
                </a:solidFill>
              </a:rPr>
              <a:t> </a:t>
            </a:r>
            <a:r>
              <a:rPr lang="en-IN" sz="1500" dirty="0">
                <a:hlinkClick r:id="rId7"/>
              </a:rPr>
              <a:t> Pros &amp; Cons of SOLID Principles | LinkedIn</a:t>
            </a:r>
            <a:endParaRPr lang="en-US" sz="1500" kern="0" spc="-220" dirty="0">
              <a:solidFill>
                <a:schemeClr val="accent6"/>
              </a:solidFill>
            </a:endParaRPr>
          </a:p>
          <a:p>
            <a:pPr marL="12700" marR="5080"/>
            <a:r>
              <a:rPr lang="en-US" sz="1500" kern="0" spc="-220" dirty="0">
                <a:solidFill>
                  <a:schemeClr val="accent6"/>
                </a:solidFill>
              </a:rPr>
              <a:t>  </a:t>
            </a:r>
            <a:r>
              <a:rPr lang="en-US" sz="1500" dirty="0">
                <a:hlinkClick r:id="rId8"/>
              </a:rPr>
              <a:t>Free </a:t>
            </a:r>
            <a:r>
              <a:rPr lang="en-US" sz="1500" dirty="0" err="1">
                <a:hlinkClick r:id="rId8"/>
              </a:rPr>
              <a:t>Ebook</a:t>
            </a:r>
            <a:r>
              <a:rPr lang="en-US" sz="1500" dirty="0">
                <a:hlinkClick r:id="rId8"/>
              </a:rPr>
              <a:t> - SOLID Principles Succinctly</a:t>
            </a:r>
            <a:endParaRPr lang="en-US" sz="1500" dirty="0"/>
          </a:p>
          <a:p>
            <a:pPr marL="12700" marR="5080"/>
            <a:r>
              <a:rPr lang="en-US" sz="1500" kern="0" spc="-220" dirty="0">
                <a:solidFill>
                  <a:schemeClr val="accent6"/>
                </a:solidFill>
              </a:rPr>
              <a:t>  </a:t>
            </a:r>
            <a:r>
              <a:rPr lang="en-US" sz="1500" dirty="0">
                <a:hlinkClick r:id="rId9"/>
              </a:rPr>
              <a:t>SOLID, CUPID, GRASP Principles of Object-Oriented Design</a:t>
            </a:r>
            <a:endParaRPr lang="en-US" sz="1500" kern="0" spc="-220" dirty="0">
              <a:solidFill>
                <a:schemeClr val="accent6"/>
              </a:solidFill>
            </a:endParaRPr>
          </a:p>
        </p:txBody>
      </p:sp>
    </p:spTree>
    <p:extLst>
      <p:ext uri="{BB962C8B-B14F-4D97-AF65-F5344CB8AC3E}">
        <p14:creationId xmlns:p14="http://schemas.microsoft.com/office/powerpoint/2010/main" val="206901811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7480" y="203041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157479" y="388345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Is DI the same as IoC?</a:t>
            </a:r>
          </a:p>
          <a:p>
            <a:pPr marL="12700" marR="5080"/>
            <a:r>
              <a:rPr lang="en-US" sz="1500" dirty="0">
                <a:hlinkClick r:id="rId7"/>
              </a:rPr>
              <a:t>Inversion of Control vs Dependency Injection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138062" y="4918392"/>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To or Not to DI?</a:t>
            </a:r>
          </a:p>
          <a:p>
            <a:pPr marL="12700" marR="5080"/>
            <a:r>
              <a:rPr lang="en-US" sz="1500" kern="0" spc="-220" dirty="0">
                <a:solidFill>
                  <a:schemeClr val="accent6"/>
                </a:solidFill>
              </a:rPr>
              <a:t> </a:t>
            </a:r>
            <a:r>
              <a:rPr lang="en-IN" sz="1500" dirty="0">
                <a:hlinkClick r:id="rId8"/>
              </a:rPr>
              <a:t> To or Not To DI | LinkedIn</a:t>
            </a:r>
            <a:endParaRPr lang="en-US" sz="15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1183008363"/>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US" sz="1100" dirty="0" err="1">
                          <a:hlinkClick r:id="rId7"/>
                        </a:rPr>
                        <a:t>WeatherForecastAzureFunctionAndAngularSample</a:t>
                      </a:r>
                      <a:r>
                        <a:rPr lang="en-US" sz="1100" dirty="0">
                          <a:hlinkClick r:id="rId7"/>
                        </a:rPr>
                        <a:t>/</a:t>
                      </a:r>
                      <a:r>
                        <a:rPr lang="en-US" sz="1100" dirty="0" err="1">
                          <a:hlinkClick r:id="rId7"/>
                        </a:rPr>
                        <a:t>WeatherForecastAPI</a:t>
                      </a:r>
                      <a:r>
                        <a:rPr lang="en-US" sz="1100" dirty="0">
                          <a:hlinkClick r:id="rId7"/>
                        </a:rPr>
                        <a:t>/</a:t>
                      </a:r>
                      <a:r>
                        <a:rPr lang="en-US" sz="1100" dirty="0" err="1">
                          <a:hlinkClick r:id="rId7"/>
                        </a:rPr>
                        <a:t>DomainServices</a:t>
                      </a:r>
                      <a:r>
                        <a:rPr lang="en-US" sz="1100" dirty="0">
                          <a:hlinkClick r:id="rId7"/>
                        </a:rPr>
                        <a:t> at master · sandipray63in/</a:t>
                      </a:r>
                      <a:r>
                        <a:rPr lang="en-US" sz="1100" dirty="0" err="1">
                          <a:hlinkClick r:id="rId7"/>
                        </a:rPr>
                        <a:t>WeatherForecastAzureFunctionAndAngularSample</a:t>
                      </a:r>
                      <a:r>
                        <a:rPr lang="en-US" sz="1100" dirty="0">
                          <a:hlinkClick r:id="rId7"/>
                        </a:rPr>
                        <a:t> · GitHub</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dirty="0">
                          <a:hlinkClick r:id="rId8"/>
                        </a:rPr>
                        <a:t>Refactoring </a:t>
                      </a:r>
                      <a:r>
                        <a:rPr lang="en-IN" sz="1100" dirty="0" err="1">
                          <a:hlinkClick r:id="rId8"/>
                        </a:rPr>
                        <a:t>Guru|Builder</a:t>
                      </a:r>
                      <a:r>
                        <a:rPr lang="en-IN" sz="1100" dirty="0">
                          <a:hlinkClick r:id="rId8"/>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dirty="0">
                          <a:hlinkClick r:id="rId9"/>
                        </a:rPr>
                        <a:t>DDD-Based-Enterprise-Application-Framework/Infrastructure/DI/</a:t>
                      </a:r>
                      <a:r>
                        <a:rPr lang="en-IN" sz="1100" dirty="0" err="1">
                          <a:hlinkClick r:id="rId9"/>
                        </a:rPr>
                        <a:t>Container.cs</a:t>
                      </a:r>
                      <a:r>
                        <a:rPr lang="en-IN" sz="1100" dirty="0">
                          <a:hlinkClick r:id="rId9"/>
                        </a:rPr>
                        <a:t> at master · sandipray63in/DDD-Based-Enterprise-Application-Framework · GitHub</a:t>
                      </a:r>
                      <a:r>
                        <a:rPr lang="en-IN" sz="1100" b="0" i="0" u="sng" strike="noStrike" dirty="0">
                          <a:solidFill>
                            <a:srgbClr val="0563C1"/>
                          </a:solidFill>
                          <a:effectLst/>
                          <a:latin typeface="Calibri" panose="020F0502020204030204" pitchFamily="34" charset="0"/>
                          <a:hlinkClick r:id="rId9"/>
                        </a:rPr>
                        <a:t>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a:t>
                      </a:r>
                      <a:r>
                        <a:rPr lang="en-IN" sz="1100" dirty="0" err="1">
                          <a:hlinkClick r:id="rId10"/>
                        </a:rPr>
                        <a:t>Multiton</a:t>
                      </a:r>
                      <a:r>
                        <a:rPr lang="en-IN" sz="1100" dirty="0">
                          <a:hlinkClick r:id="rId10"/>
                        </a:rPr>
                        <a:t> pattern - Wikipedia</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dirty="0">
                          <a:hlinkClick r:id="rId11"/>
                        </a:rPr>
                        <a:t>Prototype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 if needed)</a:t>
                      </a:r>
                    </a:p>
                  </a:txBody>
                  <a:tcPr marL="6350" marR="6350" marT="6350" marB="0" anchor="b"/>
                </a:tc>
                <a:tc>
                  <a:txBody>
                    <a:bodyPr/>
                    <a:lstStyle/>
                    <a:p>
                      <a:pPr algn="l" fontAlgn="b"/>
                      <a:r>
                        <a:rPr lang="en-IN" sz="1100" dirty="0">
                          <a:hlinkClick r:id="rId12"/>
                        </a:rPr>
                        <a:t>Abstract factory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dirty="0">
                          <a:hlinkClick r:id="rId13"/>
                        </a:rPr>
                        <a:t>Lazy initialization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dirty="0">
                          <a:hlinkClick r:id="rId14"/>
                        </a:rPr>
                        <a:t>Object pool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379859739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dirty="0">
                          <a:hlinkClick r:id="rId7"/>
                        </a:rPr>
                        <a:t>Adapter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dirty="0">
                          <a:hlinkClick r:id="rId8"/>
                        </a:rPr>
                        <a:t>Refactoring Guru | Bridge Pattern </a:t>
                      </a:r>
                      <a:endParaRPr lang="en-IN" sz="1100" dirty="0"/>
                    </a:p>
                    <a:p>
                      <a:pPr algn="l" fontAlgn="b"/>
                      <a:r>
                        <a:rPr lang="en-IN" sz="1100" dirty="0">
                          <a:hlinkClick r:id="rId9"/>
                        </a:rPr>
                        <a:t>DDD-Based-Enterprise-Application-Framework/Repository/Base/</a:t>
                      </a:r>
                      <a:r>
                        <a:rPr lang="en-IN" sz="1100" dirty="0" err="1">
                          <a:hlinkClick r:id="rId9"/>
                        </a:rPr>
                        <a:t>IQueryableRepository.cs</a:t>
                      </a:r>
                      <a:r>
                        <a:rPr lang="en-IN" sz="1100" dirty="0">
                          <a:hlinkClick r:id="rId9"/>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implemented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dirty="0">
                          <a:hlinkClick r:id="rId10"/>
                        </a:rPr>
                        <a:t>Refactoring Guru | Composite 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dirty="0">
                          <a:hlinkClick r:id="rId11"/>
                        </a:rPr>
                        <a:t>Decorator pattern - Wikipedia</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2"/>
                        </a:rPr>
                        <a:t>Flyweight pattern - Wikipedia</a:t>
                      </a:r>
                      <a:endParaRPr lang="en-US" sz="1100" b="0" i="0" u="sng" strike="noStrike" dirty="0">
                        <a:solidFill>
                          <a:srgbClr val="0563C1"/>
                        </a:solidFill>
                        <a:effectLst/>
                        <a:latin typeface="Calibri" panose="020F0502020204030204" pitchFamily="34" charset="0"/>
                      </a:endParaRPr>
                    </a:p>
                    <a:p>
                      <a:pPr algn="l" fontAlgn="b"/>
                      <a:r>
                        <a:rPr lang="en-US" sz="1100" dirty="0">
                          <a:hlinkClick r:id="rId13"/>
                        </a:rPr>
                        <a:t>What is the reason for the name of the Flyweight Design Pattern? - Stack Overflow</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dirty="0">
                          <a:hlinkClick r:id="rId14"/>
                        </a:rPr>
                        <a:t>Facade pattern - Wikipedia</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algn="l"/>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dirty="0">
                          <a:hlinkClick r:id="rId15"/>
                        </a:rPr>
                        <a:t>Proxy pattern - Wikipedia</a:t>
                      </a:r>
                      <a:endParaRPr lang="en-IN" sz="1100" b="0" i="0" u="none" strike="noStrike" dirty="0">
                        <a:solidFill>
                          <a:srgbClr val="000000"/>
                        </a:solidFill>
                        <a:effectLst/>
                        <a:latin typeface="Calibri" panose="020F0502020204030204" pitchFamily="34" charset="0"/>
                        <a:ea typeface="+mn-ea"/>
                        <a:cs typeface="+mn-cs"/>
                      </a:endParaRP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2918481044"/>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dirty="0">
                          <a:hlinkClick r:id="rId7"/>
                        </a:rPr>
                        <a:t>Chain-of-responsibility pattern – Wikipedia</a:t>
                      </a:r>
                      <a:endParaRPr lang="en-IN" sz="1100" dirty="0"/>
                    </a:p>
                    <a:p>
                      <a:pPr algn="l" fontAlgn="b"/>
                      <a:r>
                        <a:rPr lang="en-IN" sz="1100" dirty="0">
                          <a:hlinkClick r:id="rId8"/>
                        </a:rPr>
                        <a:t>Chain Responsibility Pattern | </a:t>
                      </a:r>
                      <a:r>
                        <a:rPr lang="en-IN" sz="1100" dirty="0" err="1">
                          <a:hlinkClick r:id="rId8"/>
                        </a:rPr>
                        <a:t>TheCodeMan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dirty="0" err="1">
                          <a:hlinkClick r:id="rId9"/>
                        </a:rPr>
                        <a:t>RefatoringGuru</a:t>
                      </a:r>
                      <a:r>
                        <a:rPr lang="en-IN" sz="1100" dirty="0">
                          <a:hlinkClick r:id="rId9"/>
                        </a:rPr>
                        <a:t> | Command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dirty="0">
                          <a:hlinkClick r:id="rId10"/>
                        </a:rPr>
                        <a:t>Interpreter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11"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dirty="0">
                          <a:hlinkClick r:id="rId12"/>
                        </a:rPr>
                        <a:t>DDD-Based-Enterprise-Application-Framework/</a:t>
                      </a:r>
                      <a:r>
                        <a:rPr lang="en-IN" sz="1100" dirty="0" err="1">
                          <a:hlinkClick r:id="rId12"/>
                        </a:rPr>
                        <a:t>ApplicationAndInfrastructureServices</a:t>
                      </a:r>
                      <a:r>
                        <a:rPr lang="en-IN" sz="1100" dirty="0">
                          <a:hlinkClick r:id="rId12"/>
                        </a:rPr>
                        <a:t>/</a:t>
                      </a:r>
                      <a:r>
                        <a:rPr lang="en-IN" sz="1100" dirty="0" err="1">
                          <a:hlinkClick r:id="rId12"/>
                        </a:rPr>
                        <a:t>BatchProcessing</a:t>
                      </a:r>
                      <a:r>
                        <a:rPr lang="en-IN" sz="1100" dirty="0">
                          <a:hlinkClick r:id="rId12"/>
                        </a:rPr>
                        <a:t>/</a:t>
                      </a:r>
                      <a:r>
                        <a:rPr lang="en-IN" sz="1100" dirty="0" err="1">
                          <a:hlinkClick r:id="rId12"/>
                        </a:rPr>
                        <a:t>BaseBatchSeedSelector.cs</a:t>
                      </a:r>
                      <a:r>
                        <a:rPr lang="en-IN" sz="1100" dirty="0">
                          <a:hlinkClick r:id="rId12"/>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rPr>
                        <a:t>Multi-Threading based Iterator?</a:t>
                      </a: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1479285240"/>
              </p:ext>
            </p:extLst>
          </p:nvPr>
        </p:nvGraphicFramePr>
        <p:xfrm>
          <a:off x="275300" y="666446"/>
          <a:ext cx="8716299" cy="5292394"/>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dirty="0">
                          <a:hlinkClick r:id="rId7"/>
                        </a:rPr>
                        <a:t>Refactoring </a:t>
                      </a:r>
                      <a:r>
                        <a:rPr lang="en-IN" sz="1100" dirty="0" err="1">
                          <a:hlinkClick r:id="rId7"/>
                        </a:rPr>
                        <a:t>Guru|Mediator</a:t>
                      </a:r>
                      <a:r>
                        <a:rPr lang="en-IN" sz="1100" dirty="0">
                          <a:hlinkClick r:id="rId7"/>
                        </a:rPr>
                        <a:t> Pattern</a:t>
                      </a:r>
                      <a:endParaRPr lang="en-IN" sz="1100" dirty="0"/>
                    </a:p>
                    <a:p>
                      <a:pPr algn="l" fontAlgn="b"/>
                      <a:r>
                        <a:rPr lang="en-IN" sz="1100" dirty="0">
                          <a:hlinkClick r:id="rId8"/>
                        </a:rPr>
                        <a:t>CQRS Pattern With </a:t>
                      </a:r>
                      <a:r>
                        <a:rPr lang="en-IN" sz="1100" dirty="0" err="1">
                          <a:hlinkClick r:id="rId8"/>
                        </a:rPr>
                        <a:t>MediatR</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9"/>
                        </a:rPr>
                        <a:t>Refactoring </a:t>
                      </a:r>
                      <a:r>
                        <a:rPr lang="en-IN" sz="1100" dirty="0" err="1">
                          <a:hlinkClick r:id="rId9"/>
                        </a:rPr>
                        <a:t>Guru|Memento</a:t>
                      </a:r>
                      <a:r>
                        <a:rPr lang="en-IN" sz="1100" dirty="0">
                          <a:hlinkClick r:id="rId9"/>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dirty="0">
                          <a:hlinkClick r:id="rId10"/>
                        </a:rPr>
                        <a:t>Refactoring Guru | Observer</a:t>
                      </a:r>
                      <a:endParaRPr lang="en-IN" sz="1100" dirty="0"/>
                    </a:p>
                    <a:p>
                      <a:pPr algn="l" fontAlgn="b"/>
                      <a:r>
                        <a:rPr lang="en-US" sz="1100" dirty="0">
                          <a:hlinkClick r:id="rId11"/>
                        </a:rPr>
                        <a:t>DDD-Based-Enterprise-Application-Framework/Infrastructure/Observers at master · sandipray63in/DDD-Based-Enterprise-Application-Framework · GitHub</a:t>
                      </a:r>
                      <a:endParaRPr lang="en-US" sz="1100" dirty="0"/>
                    </a:p>
                    <a:p>
                      <a:pPr algn="l" fontAlgn="b"/>
                      <a:r>
                        <a:rPr lang="en-US" sz="1100" dirty="0" err="1">
                          <a:hlinkClick r:id="rId12"/>
                        </a:rPr>
                        <a:t>SignalR</a:t>
                      </a:r>
                      <a:r>
                        <a:rPr lang="en-US" sz="1100" dirty="0">
                          <a:hlinkClick r:id="rId12"/>
                        </a:rPr>
                        <a:t> + RX (Streaming Data Demo App 1 of 2)- </a:t>
                      </a:r>
                      <a:r>
                        <a:rPr lang="en-US" sz="1100" dirty="0" err="1">
                          <a:hlinkClick r:id="rId12"/>
                        </a:rPr>
                        <a:t>CodeProject</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dirty="0">
                          <a:hlinkClick r:id="rId13"/>
                        </a:rPr>
                        <a:t>Refactoring Guru | State Pattern</a:t>
                      </a:r>
                      <a:endParaRPr lang="en-IN" sz="900" dirty="0"/>
                    </a:p>
                    <a:p>
                      <a:pPr algn="l" fontAlgn="b"/>
                      <a:r>
                        <a:rPr lang="en-IN" sz="900" dirty="0">
                          <a:hlinkClick r:id="rId14"/>
                        </a:rPr>
                        <a:t>Type Driven Development</a:t>
                      </a:r>
                      <a:endParaRPr lang="en-IN" sz="900" dirty="0"/>
                    </a:p>
                    <a:p>
                      <a:pPr algn="l" fontAlgn="b"/>
                      <a:r>
                        <a:rPr lang="en-IN" sz="900" b="0" i="0" dirty="0">
                          <a:solidFill>
                            <a:schemeClr val="dk1"/>
                          </a:solidFill>
                          <a:effectLst/>
                          <a:latin typeface="+mn-lt"/>
                          <a:ea typeface="+mn-ea"/>
                          <a:cs typeface="+mn-cs"/>
                        </a:rPr>
                        <a:t>Permissible States Rules Engine</a:t>
                      </a:r>
                    </a:p>
                    <a:p>
                      <a:pPr algn="l" fontAlgn="b"/>
                      <a:r>
                        <a:rPr lang="en-US" sz="900" dirty="0">
                          <a:hlinkClick r:id="rId15"/>
                        </a:rPr>
                        <a:t>Graph concepts and state machine</a:t>
                      </a:r>
                      <a:endParaRPr lang="en-US" sz="900" dirty="0"/>
                    </a:p>
                    <a:p>
                      <a:pPr algn="l" fontAlgn="b"/>
                      <a:r>
                        <a:rPr lang="en-US" sz="900" dirty="0">
                          <a:hlinkClick r:id="rId16"/>
                        </a:rPr>
                        <a:t>Domain-Specific Languages: An Introductory Example | 1.1 Gothic Security | </a:t>
                      </a:r>
                      <a:r>
                        <a:rPr lang="en-US" sz="900" dirty="0" err="1">
                          <a:hlinkClick r:id="rId16"/>
                        </a:rPr>
                        <a:t>InformIT</a:t>
                      </a:r>
                      <a:endParaRPr lang="en-IN" sz="900" b="0" i="0" dirty="0">
                        <a:solidFill>
                          <a:schemeClr val="dk1"/>
                        </a:solidFill>
                        <a:effectLst/>
                        <a:latin typeface="+mn-lt"/>
                        <a:ea typeface="+mn-ea"/>
                        <a:cs typeface="+mn-cs"/>
                      </a:endParaRPr>
                    </a:p>
                    <a:p>
                      <a:pPr algn="l" fontAlgn="b"/>
                      <a:r>
                        <a:rPr lang="en-US" sz="900" dirty="0">
                          <a:hlinkClick r:id="rId17"/>
                        </a:rPr>
                        <a:t>Embedded System Design using UML State Machines | Udemy</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8"/>
                        </a:rPr>
                        <a:t>Strategy pattern </a:t>
                      </a:r>
                      <a:r>
                        <a:rPr lang="en-IN" sz="1100" dirty="0">
                          <a:hlinkClick r:id="rId19"/>
                        </a:rPr>
                        <a:t>–</a:t>
                      </a:r>
                      <a:r>
                        <a:rPr lang="en-IN" sz="1100" dirty="0">
                          <a:hlinkClick r:id="rId18"/>
                        </a:rPr>
                        <a:t> Wikipedia</a:t>
                      </a:r>
                      <a:endParaRPr lang="en-IN" sz="1100" dirty="0"/>
                    </a:p>
                    <a:p>
                      <a:pPr algn="l" fontAlgn="b"/>
                      <a:r>
                        <a:rPr lang="en-US" sz="1100" dirty="0">
                          <a:hlinkClick r:id="rId20"/>
                        </a:rPr>
                        <a:t>Book Review: Software Architecture, by Juval Lowy | LinkedIn</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2429504784"/>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dirty="0">
                          <a:hlinkClick r:id="rId7"/>
                        </a:rPr>
                        <a:t>Template method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r>
                        <a:rPr lang="en-IN" sz="1100" dirty="0">
                          <a:hlinkClick r:id="rId8"/>
                        </a:rPr>
                        <a:t>Refactoring Guru | Visitor Pattern</a:t>
                      </a:r>
                      <a:endParaRPr lang="en-IN" sz="1100" b="0" i="0" u="sng" strike="noStrike" dirty="0">
                        <a:solidFill>
                          <a:srgbClr val="0563C1"/>
                        </a:solidFill>
                        <a:effectLst/>
                        <a:latin typeface="Calibri" panose="020F0502020204030204" pitchFamily="34" charset="0"/>
                        <a:ea typeface="+mn-ea"/>
                        <a:cs typeface="+mn-cs"/>
                      </a:endParaRP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6927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For Further Exploration – </a:t>
            </a:r>
          </a:p>
          <a:p>
            <a:pPr marL="12700" marR="5080"/>
            <a:r>
              <a:rPr lang="en-IN" sz="1400" dirty="0">
                <a:hlinkClick r:id="rId9"/>
              </a:rPr>
              <a:t>Software design pattern - Wikipedia</a:t>
            </a:r>
            <a:r>
              <a:rPr lang="en-US" sz="2400" kern="0" spc="-220" dirty="0">
                <a:solidFill>
                  <a:schemeClr val="accent6"/>
                </a:solidFill>
              </a:rPr>
              <a:t> </a:t>
            </a:r>
          </a:p>
          <a:p>
            <a:pPr marL="12700" marR="5080"/>
            <a:r>
              <a:rPr lang="en-IN" sz="1400" dirty="0">
                <a:hlinkClick r:id="rId10"/>
              </a:rPr>
              <a:t>Refactoring Guru | Design Patterns</a:t>
            </a:r>
            <a:r>
              <a:rPr lang="en-US" sz="2400" kern="0" spc="-220" dirty="0">
                <a:solidFill>
                  <a:schemeClr val="accent6"/>
                </a:solidFill>
              </a:rPr>
              <a:t> </a:t>
            </a:r>
          </a:p>
          <a:p>
            <a:pPr marL="12700" marR="5080"/>
            <a:r>
              <a:rPr lang="en-IN" sz="1400" dirty="0">
                <a:hlinkClick r:id="rId11"/>
              </a:rPr>
              <a:t>Dinesh </a:t>
            </a:r>
            <a:r>
              <a:rPr lang="en-IN" sz="1400" dirty="0" err="1">
                <a:hlinkClick r:id="rId11"/>
              </a:rPr>
              <a:t>Variyani’s</a:t>
            </a:r>
            <a:r>
              <a:rPr lang="en-IN" sz="1400" dirty="0">
                <a:hlinkClick r:id="rId11"/>
              </a:rPr>
              <a:t> Design Patterns Post </a:t>
            </a:r>
            <a:r>
              <a:rPr lang="en-IN" sz="1400">
                <a:hlinkClick r:id="rId11"/>
              </a:rPr>
              <a:t>| LinkedIn</a:t>
            </a:r>
            <a:endParaRPr lang="en-IN" sz="1400"/>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7075940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Core </a:t>
            </a:r>
            <a:r>
              <a:rPr lang="en-US" sz="2400" kern="0" spc="-220" dirty="0" err="1">
                <a:solidFill>
                  <a:schemeClr val="accent2"/>
                </a:solidFill>
              </a:rPr>
              <a:t>MiddleWares</a:t>
            </a:r>
            <a:endParaRPr lang="en-US" sz="2400" kern="0" spc="-220" dirty="0">
              <a:solidFill>
                <a:schemeClr val="accent2"/>
              </a:solidFill>
            </a:endParaRPr>
          </a:p>
          <a:p>
            <a:pPr marL="12700" marR="5080"/>
            <a:r>
              <a:rPr lang="en-US" sz="1500" dirty="0">
                <a:hlinkClick r:id="rId7"/>
              </a:rPr>
              <a:t>ASP.NET Core Middleware | Microsoft Learn</a:t>
            </a:r>
            <a:endParaRPr lang="en-US" sz="1500" dirty="0"/>
          </a:p>
          <a:p>
            <a:pPr marL="12700" marR="5080"/>
            <a:r>
              <a:rPr lang="en-US" sz="1600" dirty="0" err="1">
                <a:hlinkClick r:id="rId8"/>
              </a:rPr>
              <a:t>c#</a:t>
            </a:r>
            <a:r>
              <a:rPr lang="en-US" sz="1600" dirty="0">
                <a:hlinkClick r:id="rId8"/>
              </a:rPr>
              <a:t> - ASP.NET Core middleware vs filters - Stack Overflow</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Web API Pipeline and Extensibility</a:t>
            </a:r>
          </a:p>
          <a:p>
            <a:pPr marL="12700" marR="5080"/>
            <a:r>
              <a:rPr lang="en-IN" sz="1500" dirty="0">
                <a:hlinkClick r:id="rId9"/>
              </a:rPr>
              <a:t>Web API_revised2</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gRPC</a:t>
            </a:r>
            <a:r>
              <a:rPr lang="en-US" sz="2400" kern="0" spc="-220" dirty="0">
                <a:solidFill>
                  <a:schemeClr val="accent2"/>
                </a:solidFill>
              </a:rPr>
              <a:t> Interceptors in .NET</a:t>
            </a:r>
          </a:p>
          <a:p>
            <a:pPr marL="12700" marR="5080"/>
            <a:r>
              <a:rPr lang="en-IN" sz="1500" dirty="0" err="1">
                <a:hlinkClick r:id="rId10"/>
              </a:rPr>
              <a:t>gRPC</a:t>
            </a:r>
            <a:r>
              <a:rPr lang="en-IN" sz="1500" dirty="0">
                <a:hlinkClick r:id="rId10"/>
              </a:rPr>
              <a:t> interceptors on .NET | Microsoft Learn</a:t>
            </a:r>
            <a:endParaRPr lang="en-US" sz="1500" kern="0" spc="-220" dirty="0">
              <a:solidFill>
                <a:schemeClr val="accent6"/>
              </a:solidFill>
            </a:endParaRP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WCF(/WWF Services) Extensibility</a:t>
            </a:r>
          </a:p>
          <a:p>
            <a:pPr marL="12700" marR="5080"/>
            <a:r>
              <a:rPr lang="pt-BR" sz="1500" dirty="0">
                <a:hlinkClick r:id="rId7"/>
              </a:rPr>
              <a:t>Carlos Figueira Explains WCF Extensibility - InfoQ</a:t>
            </a:r>
            <a:endParaRPr lang="en-US" sz="1500" kern="0" spc="-220" dirty="0">
              <a:solidFill>
                <a:schemeClr val="accent6"/>
              </a:solidFill>
            </a:endParaRPr>
          </a:p>
          <a:p>
            <a:pPr marL="12700" marR="5080"/>
            <a:r>
              <a:rPr lang="en-US" sz="1500" dirty="0">
                <a:hlinkClick r:id="rId8"/>
              </a:rPr>
              <a:t>DDD-Based-Enterprise-Application-Framework/Infrastructure/</a:t>
            </a:r>
            <a:r>
              <a:rPr lang="en-US" sz="1500" dirty="0" err="1">
                <a:hlinkClick r:id="rId8"/>
              </a:rPr>
              <a:t>WCFExtensibility</a:t>
            </a:r>
            <a:r>
              <a:rPr lang="en-US" sz="1500" dirty="0">
                <a:hlinkClick r:id="rId8"/>
              </a:rPr>
              <a:t> at master · sandipray63in/DDD-Based-Enterprise-Application-Framework · GitHub</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Http(/ Web Services) Interceptors(Handlers &amp; Modules)</a:t>
            </a:r>
          </a:p>
          <a:p>
            <a:pPr marL="12700" marR="5080"/>
            <a:r>
              <a:rPr lang="en-IN" sz="1500" dirty="0">
                <a:hlinkClick r:id="rId9"/>
              </a:rPr>
              <a:t>asp.net - HTTP handler vs HTTP module - Stack Overflow</a:t>
            </a:r>
            <a:endParaRPr lang="en-IN" sz="1500" dirty="0"/>
          </a:p>
          <a:p>
            <a:pPr marL="12700" marR="5080"/>
            <a:r>
              <a:rPr lang="en-US" sz="1500" dirty="0">
                <a:hlinkClick r:id="rId10"/>
              </a:rPr>
              <a:t>The Two Interceptors: </a:t>
            </a:r>
            <a:r>
              <a:rPr lang="en-US" sz="1500" dirty="0" err="1">
                <a:hlinkClick r:id="rId10"/>
              </a:rPr>
              <a:t>HttpModule</a:t>
            </a:r>
            <a:r>
              <a:rPr lang="en-US" sz="1500" dirty="0">
                <a:hlinkClick r:id="rId10"/>
              </a:rPr>
              <a:t> and </a:t>
            </a:r>
            <a:r>
              <a:rPr lang="en-US" sz="1500" dirty="0" err="1">
                <a:hlinkClick r:id="rId10"/>
              </a:rPr>
              <a:t>HttpHandlers</a:t>
            </a:r>
            <a:r>
              <a:rPr lang="en-US" sz="1500" dirty="0">
                <a:hlinkClick r:id="rId10"/>
              </a:rPr>
              <a:t>- </a:t>
            </a:r>
            <a:r>
              <a:rPr lang="en-US" sz="1500" dirty="0" err="1">
                <a:hlinkClick r:id="rId10"/>
              </a:rPr>
              <a:t>CodeProject</a:t>
            </a:r>
            <a:endParaRPr lang="en-US" sz="1500" dirty="0"/>
          </a:p>
          <a:p>
            <a:pPr marL="12700" marR="5080"/>
            <a:endParaRPr lang="en-US" sz="1500" kern="0" spc="-220" dirty="0">
              <a:solidFill>
                <a:schemeClr val="accent6"/>
              </a:solidFill>
            </a:endParaRPr>
          </a:p>
          <a:p>
            <a:pPr marL="12700" marR="5080"/>
            <a:endParaRPr lang="en-US" sz="1500" kern="0" spc="-220" dirty="0">
              <a:solidFill>
                <a:schemeClr val="accent6"/>
              </a:solidFill>
            </a:endParaRPr>
          </a:p>
          <a:p>
            <a:pPr marL="12700" marR="5080"/>
            <a:r>
              <a:rPr lang="en-US" sz="2400" kern="0" spc="-220">
                <a:solidFill>
                  <a:schemeClr val="accent2"/>
                </a:solidFill>
              </a:rPr>
              <a:t>For Further </a:t>
            </a:r>
            <a:r>
              <a:rPr lang="en-US" sz="2400" kern="0" spc="-220" dirty="0">
                <a:solidFill>
                  <a:schemeClr val="accent2"/>
                </a:solidFill>
              </a:rPr>
              <a:t>Exploration</a:t>
            </a:r>
          </a:p>
          <a:p>
            <a:pPr marL="12700" marR="5080"/>
            <a:r>
              <a:rPr lang="en-IN" sz="1600" dirty="0">
                <a:hlinkClick r:id="rId11"/>
              </a:rPr>
              <a:t>ASP.NET Web API | Microsoft Learn</a:t>
            </a:r>
            <a:r>
              <a:rPr lang="en-IN" sz="1600" dirty="0"/>
              <a:t> </a:t>
            </a:r>
            <a:r>
              <a:rPr lang="en-IN" sz="1800" kern="0" spc="-220" dirty="0">
                <a:solidFill>
                  <a:schemeClr val="accent6"/>
                </a:solidFill>
              </a:rPr>
              <a:t>(specifically check the Web API posters)</a:t>
            </a:r>
          </a:p>
          <a:p>
            <a:pPr marL="12700" marR="5080"/>
            <a:r>
              <a:rPr lang="en-US" sz="1800" dirty="0">
                <a:hlinkClick r:id="rId12"/>
              </a:rPr>
              <a:t>ASP.NET Core Succinctly Books | </a:t>
            </a:r>
            <a:r>
              <a:rPr lang="en-US" sz="1800" dirty="0" err="1">
                <a:hlinkClick r:id="rId12"/>
              </a:rPr>
              <a:t>Syncfusion</a:t>
            </a:r>
            <a:r>
              <a:rPr lang="en-US" sz="1800" dirty="0">
                <a:hlinkClick r:id="rId12"/>
              </a:rPr>
              <a:t>®</a:t>
            </a:r>
            <a:endParaRPr lang="en-US" sz="18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1500" dirty="0">
                <a:hlinkClick r:id="rId7"/>
              </a:rPr>
              <a:t>Understand Advanced </a:t>
            </a:r>
            <a:r>
              <a:rPr lang="en-US" sz="1500" dirty="0" err="1">
                <a:hlinkClick r:id="rId7"/>
              </a:rPr>
              <a:t>AssemblyLoadContext</a:t>
            </a:r>
            <a:r>
              <a:rPr lang="en-US" sz="1500" dirty="0">
                <a:hlinkClick r:id="rId7"/>
              </a:rPr>
              <a:t> with C# | by Tsuyoshi Ushio | Medium</a:t>
            </a:r>
            <a:endParaRPr lang="en-US" sz="1500" dirty="0"/>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8"/>
              </a:rPr>
              <a:t>c#</a:t>
            </a:r>
            <a:r>
              <a:rPr lang="en-US" sz="1500" dirty="0">
                <a:hlinkClick r:id="rId8"/>
              </a:rPr>
              <a:t> - Replacing .NET </a:t>
            </a:r>
            <a:r>
              <a:rPr lang="en-US" sz="1500" dirty="0" err="1">
                <a:hlinkClick r:id="rId8"/>
              </a:rPr>
              <a:t>AppDomains</a:t>
            </a:r>
            <a:r>
              <a:rPr lang="en-US" sz="1500" dirty="0">
                <a:hlinkClick r:id="rId8"/>
              </a:rPr>
              <a:t> with </a:t>
            </a:r>
            <a:r>
              <a:rPr lang="en-US" sz="1500" dirty="0" err="1">
                <a:hlinkClick r:id="rId8"/>
              </a:rPr>
              <a:t>AssemblyLoadContexts</a:t>
            </a:r>
            <a:r>
              <a:rPr lang="en-US" sz="1500" dirty="0">
                <a:hlinkClick r:id="rId8"/>
              </a:rPr>
              <a:t> - Stack Overflow</a:t>
            </a:r>
            <a:endParaRPr lang="en-US" sz="1500" dirty="0"/>
          </a:p>
          <a:p>
            <a:pPr marL="12700" marR="5080"/>
            <a:r>
              <a:rPr lang="en-US" sz="1500" kern="0" spc="-220" dirty="0">
                <a:solidFill>
                  <a:schemeClr val="accent6"/>
                </a:solidFill>
              </a:rPr>
              <a:t>         </a:t>
            </a:r>
            <a:r>
              <a:rPr lang="en-US" sz="1500" dirty="0" err="1">
                <a:hlinkClick r:id="rId9"/>
              </a:rPr>
              <a:t>c#</a:t>
            </a:r>
            <a:r>
              <a:rPr lang="en-US" sz="1500" dirty="0">
                <a:hlinkClick r:id="rId9"/>
              </a:rPr>
              <a:t> - Does </a:t>
            </a:r>
            <a:r>
              <a:rPr lang="en-US" sz="1500" dirty="0" err="1">
                <a:hlinkClick r:id="rId9"/>
              </a:rPr>
              <a:t>AssemblyLoadContext</a:t>
            </a:r>
            <a:r>
              <a:rPr lang="en-US" sz="1500" dirty="0">
                <a:hlinkClick r:id="rId9"/>
              </a:rPr>
              <a:t> isolate static variables?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1500" dirty="0">
                <a:hlinkClick r:id="rId10"/>
              </a:rPr>
              <a:t>From Zero to Proficient with MEF- </a:t>
            </a:r>
            <a:r>
              <a:rPr lang="en-US" sz="1500" dirty="0" err="1">
                <a:hlinkClick r:id="rId10"/>
              </a:rPr>
              <a:t>CodeProject</a:t>
            </a:r>
            <a:endParaRPr lang="en-US" sz="1500" dirty="0"/>
          </a:p>
          <a:p>
            <a:pPr marL="12700" marR="5080"/>
            <a:r>
              <a:rPr lang="en-IN" sz="1500" dirty="0" err="1">
                <a:hlinkClick r:id="rId11"/>
              </a:rPr>
              <a:t>Anuraj</a:t>
            </a:r>
            <a:r>
              <a:rPr lang="en-IN" sz="1500" dirty="0">
                <a:hlinkClick r:id="rId11"/>
              </a:rPr>
              <a:t> - Using MEF in .NET Core</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359545664"/>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Language workbench - Wikipedia</a:t>
                      </a:r>
                      <a:endParaRPr lang="en-IN" sz="1400" dirty="0"/>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59531" y="407027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An External DSL Example –</a:t>
            </a:r>
            <a:r>
              <a:rPr lang="en-US" sz="1800" kern="0" spc="-80" dirty="0">
                <a:solidFill>
                  <a:schemeClr val="accent6"/>
                </a:solidFill>
              </a:rPr>
              <a:t> </a:t>
            </a:r>
          </a:p>
          <a:p>
            <a:pPr marL="12700" marR="5080"/>
            <a:r>
              <a:rPr lang="en-US" sz="1500" dirty="0">
                <a:hlinkClick r:id="rId8"/>
              </a:rPr>
              <a:t>GitHub - sandipray63in/</a:t>
            </a:r>
            <a:r>
              <a:rPr lang="en-US" sz="1500" dirty="0" err="1">
                <a:hlinkClick r:id="rId8"/>
              </a:rPr>
              <a:t>MerchantsGuideToGalaxy</a:t>
            </a:r>
            <a:r>
              <a:rPr lang="en-US" sz="1500" dirty="0">
                <a:hlinkClick r:id="rId8"/>
              </a:rPr>
              <a:t>: Merchant's Guide to Galaxy Solution</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28600" y="51170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 - </a:t>
            </a:r>
          </a:p>
          <a:p>
            <a:pPr marL="12700" marR="5080"/>
            <a:r>
              <a:rPr lang="en-US" sz="1500" dirty="0">
                <a:hlinkClick r:id="rId9"/>
              </a:rPr>
              <a:t>How does </a:t>
            </a:r>
            <a:r>
              <a:rPr lang="en-US" sz="1500" dirty="0" err="1">
                <a:hlinkClick r:id="rId9"/>
              </a:rPr>
              <a:t>graphQL</a:t>
            </a:r>
            <a:r>
              <a:rPr lang="en-US" sz="1500" dirty="0">
                <a:hlinkClick r:id="rId9"/>
              </a:rPr>
              <a:t> work anyway?. Understand how </a:t>
            </a:r>
            <a:r>
              <a:rPr lang="en-US" sz="1500" dirty="0" err="1">
                <a:hlinkClick r:id="rId9"/>
              </a:rPr>
              <a:t>graphQL</a:t>
            </a:r>
            <a:r>
              <a:rPr lang="en-US" sz="1500" dirty="0">
                <a:hlinkClick r:id="rId9"/>
              </a:rPr>
              <a:t> query execution… | by Rajesh Babu | Medium</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B85B8-C760-3819-52D0-E637A7DEC7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2C3F23-88E4-FCF8-7536-2759993F47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232042-A1B5-5203-EDA4-FB1CE4F433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587AB4-7CEC-F2AC-B9A6-F80BD5E03ADE}"/>
              </a:ext>
            </a:extLst>
          </p:cNvPr>
          <p:cNvGraphicFramePr/>
          <p:nvPr>
            <p:extLst>
              <p:ext uri="{D42A27DB-BD31-4B8C-83A1-F6EECF244321}">
                <p14:modId xmlns:p14="http://schemas.microsoft.com/office/powerpoint/2010/main" val="3895360206"/>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76182B-3F14-72C1-E45B-20EB5C3EE3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A44D2F-A178-925C-A9D1-53196F0BD2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7E3C0A-918A-3E8A-2841-23E7761D0B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2ACC3FC-7837-6206-0D60-547EF92C4E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4FF3EFA-FFA8-415F-2737-3F6E418DB6B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B0EEC33-484A-1238-8FA5-0D1583DA839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49DBD213-F8AF-18F6-1859-9376C1C9C6C6}"/>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1. What is Data-Oriented Programming (DOP)?</a:t>
            </a:r>
          </a:p>
          <a:p>
            <a:pPr marL="12700" marR="5080"/>
            <a:r>
              <a:rPr lang="en-US" sz="1800" kern="0" spc="-220" dirty="0">
                <a:solidFill>
                  <a:schemeClr val="accent6"/>
                </a:solidFill>
              </a:rPr>
              <a:t>Most programming taught traditionally is Object-Oriented Programming (OOP):</a:t>
            </a: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r>
              <a:rPr lang="en-US" sz="1800" kern="0" spc="-220" dirty="0">
                <a:solidFill>
                  <a:schemeClr val="accent2"/>
                </a:solidFill>
              </a:rPr>
              <a:t>DOP’s core idea: </a:t>
            </a:r>
            <a:r>
              <a:rPr lang="en-US" sz="1800" kern="0" spc="-220" dirty="0">
                <a:solidFill>
                  <a:schemeClr val="accent6"/>
                </a:solidFill>
              </a:rPr>
              <a:t>Structure data so that the CPU can process it efficiently with minimal cache misses.</a:t>
            </a:r>
          </a:p>
          <a:p>
            <a:pPr marL="12700" marR="5080"/>
            <a:endParaRPr lang="en-US" sz="1800" kern="0" spc="-220" dirty="0">
              <a:solidFill>
                <a:schemeClr val="accent6"/>
              </a:solidFill>
            </a:endParaRPr>
          </a:p>
          <a:p>
            <a:pPr marL="12700" marR="5080"/>
            <a:r>
              <a:rPr lang="en-US" sz="1800" kern="0" spc="-220" dirty="0">
                <a:solidFill>
                  <a:schemeClr val="accent2"/>
                </a:solidFill>
              </a:rPr>
              <a:t>2. Why DOP Matters (Performance Example)</a:t>
            </a:r>
          </a:p>
          <a:p>
            <a:pPr marL="12700" marR="5080"/>
            <a:r>
              <a:rPr lang="en-US" sz="1800" kern="0" spc="-220" dirty="0">
                <a:solidFill>
                  <a:schemeClr val="accent6"/>
                </a:solidFill>
              </a:rPr>
              <a:t>CPU fetches memory in cache lines (usually ~64 bytes).</a:t>
            </a:r>
          </a:p>
          <a:p>
            <a:pPr marL="12700" marR="5080"/>
            <a:r>
              <a:rPr lang="en-US" sz="1800" kern="0" spc="-220" dirty="0">
                <a:solidFill>
                  <a:schemeClr val="accent6"/>
                </a:solidFill>
              </a:rPr>
              <a:t>If your data is scattered across heap (typical OOP objects), CPU keeps doing cache misses → slow.</a:t>
            </a:r>
          </a:p>
          <a:p>
            <a:pPr marL="12700" marR="5080"/>
            <a:r>
              <a:rPr lang="en-US" sz="1800" kern="0" spc="-220" dirty="0">
                <a:solidFill>
                  <a:schemeClr val="accent6"/>
                </a:solidFill>
              </a:rPr>
              <a:t>If your data is in arrays of structs, CPU loads many elements in one go → fast.</a:t>
            </a:r>
          </a:p>
        </p:txBody>
      </p:sp>
      <p:graphicFrame>
        <p:nvGraphicFramePr>
          <p:cNvPr id="18" name="Table 17">
            <a:extLst>
              <a:ext uri="{FF2B5EF4-FFF2-40B4-BE49-F238E27FC236}">
                <a16:creationId xmlns:a16="http://schemas.microsoft.com/office/drawing/2014/main" id="{1F56829E-C687-40E9-3E51-03260296A19D}"/>
              </a:ext>
            </a:extLst>
          </p:cNvPr>
          <p:cNvGraphicFramePr>
            <a:graphicFrameLocks noGrp="1"/>
          </p:cNvGraphicFramePr>
          <p:nvPr>
            <p:extLst>
              <p:ext uri="{D42A27DB-BD31-4B8C-83A1-F6EECF244321}">
                <p14:modId xmlns:p14="http://schemas.microsoft.com/office/powerpoint/2010/main" val="3811726676"/>
              </p:ext>
            </p:extLst>
          </p:nvPr>
        </p:nvGraphicFramePr>
        <p:xfrm>
          <a:off x="228599" y="1254760"/>
          <a:ext cx="8686800" cy="2402840"/>
        </p:xfrm>
        <a:graphic>
          <a:graphicData uri="http://schemas.openxmlformats.org/drawingml/2006/table">
            <a:tbl>
              <a:tblPr firstRow="1" bandRow="1">
                <a:tableStyleId>{5C22544A-7EE6-4342-B048-85BDC9FD1C3A}</a:tableStyleId>
              </a:tblPr>
              <a:tblGrid>
                <a:gridCol w="4343400">
                  <a:extLst>
                    <a:ext uri="{9D8B030D-6E8A-4147-A177-3AD203B41FA5}">
                      <a16:colId xmlns:a16="http://schemas.microsoft.com/office/drawing/2014/main" val="2229932811"/>
                    </a:ext>
                  </a:extLst>
                </a:gridCol>
                <a:gridCol w="4343400">
                  <a:extLst>
                    <a:ext uri="{9D8B030D-6E8A-4147-A177-3AD203B41FA5}">
                      <a16:colId xmlns:a16="http://schemas.microsoft.com/office/drawing/2014/main" val="3503887089"/>
                    </a:ext>
                  </a:extLst>
                </a:gridCol>
              </a:tblGrid>
              <a:tr h="440722">
                <a:tc>
                  <a:txBody>
                    <a:bodyPr/>
                    <a:lstStyle/>
                    <a:p>
                      <a:r>
                        <a:rPr lang="en-US" dirty="0"/>
                        <a:t>OOP Focus</a:t>
                      </a:r>
                      <a:endParaRPr lang="en-IN" dirty="0"/>
                    </a:p>
                  </a:txBody>
                  <a:tcPr/>
                </a:tc>
                <a:tc>
                  <a:txBody>
                    <a:bodyPr/>
                    <a:lstStyle/>
                    <a:p>
                      <a:r>
                        <a:rPr lang="en-US" dirty="0"/>
                        <a:t>DOP Focus</a:t>
                      </a:r>
                      <a:endParaRPr lang="en-IN" dirty="0"/>
                    </a:p>
                  </a:txBody>
                  <a:tcPr/>
                </a:tc>
                <a:extLst>
                  <a:ext uri="{0D108BD9-81ED-4DB2-BD59-A6C34878D82A}">
                    <a16:rowId xmlns:a16="http://schemas.microsoft.com/office/drawing/2014/main" val="3919833186"/>
                  </a:ext>
                </a:extLst>
              </a:tr>
              <a:tr h="760698">
                <a:tc>
                  <a:txBody>
                    <a:bodyPr/>
                    <a:lstStyle/>
                    <a:p>
                      <a:r>
                        <a:rPr lang="en-US" dirty="0"/>
                        <a:t>Organize code around objects and behavior</a:t>
                      </a:r>
                      <a:endParaRPr lang="en-IN" dirty="0"/>
                    </a:p>
                  </a:txBody>
                  <a:tcPr/>
                </a:tc>
                <a:tc>
                  <a:txBody>
                    <a:bodyPr/>
                    <a:lstStyle/>
                    <a:p>
                      <a:r>
                        <a:rPr lang="en-US" dirty="0"/>
                        <a:t>Organize memory layout around how data is accessed</a:t>
                      </a:r>
                      <a:endParaRPr lang="en-IN" dirty="0"/>
                    </a:p>
                  </a:txBody>
                  <a:tcPr/>
                </a:tc>
                <a:extLst>
                  <a:ext uri="{0D108BD9-81ED-4DB2-BD59-A6C34878D82A}">
                    <a16:rowId xmlns:a16="http://schemas.microsoft.com/office/drawing/2014/main" val="3694955032"/>
                  </a:ext>
                </a:extLst>
              </a:tr>
              <a:tr h="760698">
                <a:tc>
                  <a:txBody>
                    <a:bodyPr/>
                    <a:lstStyle/>
                    <a:p>
                      <a:r>
                        <a:rPr lang="en-US" dirty="0"/>
                        <a:t>Concerned with abstraction, inheritance, encapsulation</a:t>
                      </a:r>
                      <a:endParaRPr lang="en-IN" dirty="0"/>
                    </a:p>
                  </a:txBody>
                  <a:tcPr/>
                </a:tc>
                <a:tc>
                  <a:txBody>
                    <a:bodyPr/>
                    <a:lstStyle/>
                    <a:p>
                      <a:r>
                        <a:rPr lang="en-US" dirty="0"/>
                        <a:t>Concerned with CPU cache efficiency, batching, data pipelines</a:t>
                      </a:r>
                      <a:endParaRPr lang="en-IN" dirty="0"/>
                    </a:p>
                  </a:txBody>
                  <a:tcPr/>
                </a:tc>
                <a:extLst>
                  <a:ext uri="{0D108BD9-81ED-4DB2-BD59-A6C34878D82A}">
                    <a16:rowId xmlns:a16="http://schemas.microsoft.com/office/drawing/2014/main" val="1943906742"/>
                  </a:ext>
                </a:extLst>
              </a:tr>
              <a:tr h="440722">
                <a:tc>
                  <a:txBody>
                    <a:bodyPr/>
                    <a:lstStyle/>
                    <a:p>
                      <a:r>
                        <a:rPr lang="en-US" dirty="0"/>
                        <a:t>Data often scattered in heap</a:t>
                      </a:r>
                      <a:endParaRPr lang="en-IN" dirty="0"/>
                    </a:p>
                  </a:txBody>
                  <a:tcPr/>
                </a:tc>
                <a:tc>
                  <a:txBody>
                    <a:bodyPr/>
                    <a:lstStyle/>
                    <a:p>
                      <a:r>
                        <a:rPr lang="en-US" dirty="0"/>
                        <a:t>Data is stored contiguously, cache-friendly</a:t>
                      </a:r>
                      <a:endParaRPr lang="en-IN" dirty="0"/>
                    </a:p>
                  </a:txBody>
                  <a:tcPr/>
                </a:tc>
                <a:extLst>
                  <a:ext uri="{0D108BD9-81ED-4DB2-BD59-A6C34878D82A}">
                    <a16:rowId xmlns:a16="http://schemas.microsoft.com/office/drawing/2014/main" val="874138950"/>
                  </a:ext>
                </a:extLst>
              </a:tr>
            </a:tbl>
          </a:graphicData>
        </a:graphic>
      </p:graphicFrame>
    </p:spTree>
    <p:extLst>
      <p:ext uri="{BB962C8B-B14F-4D97-AF65-F5344CB8AC3E}">
        <p14:creationId xmlns:p14="http://schemas.microsoft.com/office/powerpoint/2010/main" val="1454485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86ADB-21D1-FFE2-0CFE-6729018658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FD4EE-7B2C-6B25-0500-03197332A6D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7F0CA7E-C6B2-2E95-D13D-18C63EA6F3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544C1BF-C048-FCF6-565B-F8FF68BF9014}"/>
              </a:ext>
            </a:extLst>
          </p:cNvPr>
          <p:cNvGraphicFramePr/>
          <p:nvPr>
            <p:extLst>
              <p:ext uri="{D42A27DB-BD31-4B8C-83A1-F6EECF244321}">
                <p14:modId xmlns:p14="http://schemas.microsoft.com/office/powerpoint/2010/main" val="9033458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42CA859-3CE3-4B26-B374-FE705D7D98C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E95E35-DF4D-C404-CEDD-AB149E0533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CAEA1F-29DE-2788-4AD2-9007D3DB5F9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FFD25DA-F29D-8F90-69BE-87348EB2122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054F518-844A-85F6-C286-FAFF5D2CFF1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6D7F32D-80ED-A009-FC3D-6949D233B8AC}"/>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DCD22B98-206D-DD23-2BC4-7CABD750B769}"/>
              </a:ext>
            </a:extLst>
          </p:cNvPr>
          <p:cNvSpPr txBox="1">
            <a:spLocks/>
          </p:cNvSpPr>
          <p:nvPr/>
        </p:nvSpPr>
        <p:spPr>
          <a:xfrm>
            <a:off x="228600" y="6858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3. Traditional OOP vs DOP Example</a:t>
            </a:r>
          </a:p>
          <a:p>
            <a:pPr marL="12700" marR="5080"/>
            <a:r>
              <a:rPr lang="en-US" sz="1800" kern="0" spc="-220" dirty="0">
                <a:solidFill>
                  <a:schemeClr val="accent2"/>
                </a:solidFill>
              </a:rPr>
              <a:t>OOP Version</a:t>
            </a:r>
          </a:p>
          <a:p>
            <a:pPr marL="12700" marR="5080"/>
            <a:endParaRPr lang="en-US" sz="1800" kern="0" spc="-220" dirty="0">
              <a:solidFill>
                <a:schemeClr val="accent2"/>
              </a:solidFill>
            </a:endParaRPr>
          </a:p>
          <a:p>
            <a:pPr marL="12700" marR="5080"/>
            <a:r>
              <a:rPr lang="en-US" sz="1800" kern="0" spc="-220" dirty="0">
                <a:solidFill>
                  <a:schemeClr val="accent6"/>
                </a:solidFill>
              </a:rPr>
              <a:t>class Enemy</a:t>
            </a:r>
          </a:p>
          <a:p>
            <a:pPr marL="12700" marR="5080"/>
            <a:r>
              <a:rPr lang="en-US" sz="1800" kern="0" spc="-220" dirty="0">
                <a:solidFill>
                  <a:schemeClr val="accent6"/>
                </a:solidFill>
              </a:rPr>
              <a:t>{</a:t>
            </a:r>
          </a:p>
          <a:p>
            <a:pPr marL="12700" marR="5080"/>
            <a:r>
              <a:rPr lang="en-US" sz="1800" kern="0" spc="-220" dirty="0">
                <a:solidFill>
                  <a:schemeClr val="accent6"/>
                </a:solidFill>
              </a:rPr>
              <a:t>    public float X;</a:t>
            </a:r>
          </a:p>
          <a:p>
            <a:pPr marL="12700" marR="5080"/>
            <a:r>
              <a:rPr lang="en-US" sz="1800" kern="0" spc="-220" dirty="0">
                <a:solidFill>
                  <a:schemeClr val="accent6"/>
                </a:solidFill>
              </a:rPr>
              <a:t>    public float Y;</a:t>
            </a:r>
          </a:p>
          <a:p>
            <a:pPr marL="12700" marR="5080"/>
            <a:r>
              <a:rPr lang="en-US" sz="1800" kern="0" spc="-220" dirty="0">
                <a:solidFill>
                  <a:schemeClr val="accent6"/>
                </a:solidFill>
              </a:rPr>
              <a:t>    public float Speed;</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List&lt;Enemy&gt; enemies = new List&lt;Enemy&gt;();</a:t>
            </a:r>
          </a:p>
          <a:p>
            <a:pPr marL="12700" marR="5080"/>
            <a:r>
              <a:rPr lang="en-US" sz="1800" kern="0" spc="-220" dirty="0">
                <a:solidFill>
                  <a:schemeClr val="accent6"/>
                </a:solidFill>
              </a:rPr>
              <a:t>foreach (var enemy in enemies)</a:t>
            </a: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enemy.X</a:t>
            </a:r>
            <a:r>
              <a:rPr lang="en-US" sz="1800" kern="0" spc="-220" dirty="0">
                <a:solidFill>
                  <a:schemeClr val="accent6"/>
                </a:solidFill>
              </a:rPr>
              <a:t> += </a:t>
            </a:r>
            <a:r>
              <a:rPr lang="en-US" sz="1800" kern="0" spc="-220" dirty="0" err="1">
                <a:solidFill>
                  <a:schemeClr val="accent6"/>
                </a:solidFill>
              </a:rPr>
              <a:t>enemy.Speed</a:t>
            </a:r>
            <a:r>
              <a:rPr lang="en-US" sz="1800" kern="0" spc="-220" dirty="0">
                <a:solidFill>
                  <a:schemeClr val="accent6"/>
                </a:solidFill>
              </a:rPr>
              <a:t>;</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2"/>
                </a:solidFill>
              </a:rPr>
              <a:t>Problem: </a:t>
            </a:r>
            <a:r>
              <a:rPr lang="en-US" sz="1800" kern="0" spc="-220" dirty="0">
                <a:solidFill>
                  <a:schemeClr val="accent6"/>
                </a:solidFill>
              </a:rPr>
              <a:t>Each Enemy is a separate heap object → scattered memory → CPU cache misses.</a:t>
            </a:r>
          </a:p>
        </p:txBody>
      </p:sp>
    </p:spTree>
    <p:extLst>
      <p:ext uri="{BB962C8B-B14F-4D97-AF65-F5344CB8AC3E}">
        <p14:creationId xmlns:p14="http://schemas.microsoft.com/office/powerpoint/2010/main" val="273653860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F8A74-55F5-16A7-62BB-B485540CD8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463B7F-ABBE-0A3C-664C-A2E3DF1121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C8EF2C-CB4E-6558-971E-70726519DC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C1FC33-F925-8F37-BC8B-1AC7819C0ECE}"/>
              </a:ext>
            </a:extLst>
          </p:cNvPr>
          <p:cNvGraphicFramePr/>
          <p:nvPr>
            <p:extLst>
              <p:ext uri="{D42A27DB-BD31-4B8C-83A1-F6EECF244321}">
                <p14:modId xmlns:p14="http://schemas.microsoft.com/office/powerpoint/2010/main" val="2798695354"/>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2A6086-939F-852C-5B05-1736117AAD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88826E-4340-346B-8D8C-30BCD4BDD0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311C45E-1B47-31E9-BA23-A9937AB2AF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9647057-7579-0446-688C-0F1D6A695E8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D8AEB4-91C0-A4E2-3FED-2A6EF413737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F4823FF-F7E3-D9F2-1413-8BE2191094B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6CEB44B-4947-A39E-64A4-1A3802FA2FEC}"/>
              </a:ext>
            </a:extLst>
          </p:cNvPr>
          <p:cNvSpPr txBox="1">
            <a:spLocks/>
          </p:cNvSpPr>
          <p:nvPr/>
        </p:nvSpPr>
        <p:spPr>
          <a:xfrm>
            <a:off x="228600" y="685800"/>
            <a:ext cx="8624937" cy="53322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50" kern="0" spc="-220" dirty="0">
                <a:solidFill>
                  <a:schemeClr val="accent2"/>
                </a:solidFill>
              </a:rPr>
              <a:t>Data Oriented Version</a:t>
            </a:r>
          </a:p>
          <a:p>
            <a:pPr marL="12700" marR="5080"/>
            <a:r>
              <a:rPr lang="en-US" sz="1650" kern="0" spc="-220" dirty="0">
                <a:solidFill>
                  <a:schemeClr val="accent6"/>
                </a:solidFill>
              </a:rPr>
              <a:t>Instead of list of objects → structure of arrays:</a:t>
            </a:r>
          </a:p>
          <a:p>
            <a:pPr marL="12700" marR="5080"/>
            <a:r>
              <a:rPr lang="en-US" sz="1650" kern="0" spc="-220" dirty="0">
                <a:solidFill>
                  <a:schemeClr val="accent6"/>
                </a:solidFill>
              </a:rPr>
              <a:t>float[] X = new float[100000];</a:t>
            </a:r>
          </a:p>
          <a:p>
            <a:pPr marL="12700" marR="5080"/>
            <a:r>
              <a:rPr lang="en-US" sz="1650" kern="0" spc="-220" dirty="0">
                <a:solidFill>
                  <a:schemeClr val="accent6"/>
                </a:solidFill>
              </a:rPr>
              <a:t>float[] Y = new float[100000];</a:t>
            </a:r>
          </a:p>
          <a:p>
            <a:pPr marL="12700" marR="5080"/>
            <a:r>
              <a:rPr lang="en-US" sz="1650" kern="0" spc="-220" dirty="0">
                <a:solidFill>
                  <a:schemeClr val="accent6"/>
                </a:solidFill>
              </a:rPr>
              <a:t>float[] Speed = new float[100000];</a:t>
            </a:r>
          </a:p>
          <a:p>
            <a:pPr marL="12700" marR="5080"/>
            <a:endParaRPr lang="en-US" sz="1650" kern="0" spc="-220" dirty="0">
              <a:solidFill>
                <a:schemeClr val="accent6"/>
              </a:solidFill>
            </a:endParaRPr>
          </a:p>
          <a:p>
            <a:pPr marL="12700" marR="5080"/>
            <a:r>
              <a:rPr lang="en-US" sz="1650" kern="0" spc="-220" dirty="0">
                <a:solidFill>
                  <a:schemeClr val="accent6"/>
                </a:solidFill>
              </a:rPr>
              <a:t>for (int </a:t>
            </a:r>
            <a:r>
              <a:rPr lang="en-US" sz="1650" kern="0" spc="-220" dirty="0" err="1">
                <a:solidFill>
                  <a:schemeClr val="accent6"/>
                </a:solidFill>
              </a:rPr>
              <a:t>i</a:t>
            </a:r>
            <a:r>
              <a:rPr lang="en-US" sz="1650" kern="0" spc="-220" dirty="0">
                <a:solidFill>
                  <a:schemeClr val="accent6"/>
                </a:solidFill>
              </a:rPr>
              <a:t> = 0; </a:t>
            </a:r>
            <a:r>
              <a:rPr lang="en-US" sz="1650" kern="0" spc="-220" dirty="0" err="1">
                <a:solidFill>
                  <a:schemeClr val="accent6"/>
                </a:solidFill>
              </a:rPr>
              <a:t>i</a:t>
            </a:r>
            <a:r>
              <a:rPr lang="en-US" sz="1650" kern="0" spc="-220" dirty="0">
                <a:solidFill>
                  <a:schemeClr val="accent6"/>
                </a:solidFill>
              </a:rPr>
              <a:t> &lt; </a:t>
            </a:r>
            <a:r>
              <a:rPr lang="en-US" sz="1650" kern="0" spc="-220" dirty="0" err="1">
                <a:solidFill>
                  <a:schemeClr val="accent6"/>
                </a:solidFill>
              </a:rPr>
              <a:t>X.Length</a:t>
            </a:r>
            <a:r>
              <a:rPr lang="en-US" sz="1650" kern="0" spc="-220" dirty="0">
                <a:solidFill>
                  <a:schemeClr val="accent6"/>
                </a:solidFill>
              </a:rPr>
              <a:t>; </a:t>
            </a:r>
            <a:r>
              <a:rPr lang="en-US" sz="1650" kern="0" spc="-220" dirty="0" err="1">
                <a:solidFill>
                  <a:schemeClr val="accent6"/>
                </a:solidFill>
              </a:rPr>
              <a:t>i</a:t>
            </a:r>
            <a:r>
              <a:rPr lang="en-US" sz="1650" kern="0" spc="-220" dirty="0">
                <a:solidFill>
                  <a:schemeClr val="accent6"/>
                </a:solidFill>
              </a:rPr>
              <a:t>++)</a:t>
            </a:r>
          </a:p>
          <a:p>
            <a:pPr marL="12700" marR="5080"/>
            <a:r>
              <a:rPr lang="en-US" sz="1650" kern="0" spc="-220" dirty="0">
                <a:solidFill>
                  <a:schemeClr val="accent6"/>
                </a:solidFill>
              </a:rPr>
              <a:t>{</a:t>
            </a:r>
          </a:p>
          <a:p>
            <a:pPr marL="12700" marR="5080"/>
            <a:r>
              <a:rPr lang="en-US" sz="1650" kern="0" spc="-220" dirty="0">
                <a:solidFill>
                  <a:schemeClr val="accent6"/>
                </a:solidFill>
              </a:rPr>
              <a:t>    X[</a:t>
            </a:r>
            <a:r>
              <a:rPr lang="en-US" sz="1650" kern="0" spc="-220" dirty="0" err="1">
                <a:solidFill>
                  <a:schemeClr val="accent6"/>
                </a:solidFill>
              </a:rPr>
              <a:t>i</a:t>
            </a:r>
            <a:r>
              <a:rPr lang="en-US" sz="1650" kern="0" spc="-220" dirty="0">
                <a:solidFill>
                  <a:schemeClr val="accent6"/>
                </a:solidFill>
              </a:rPr>
              <a:t>] += Speed[</a:t>
            </a:r>
            <a:r>
              <a:rPr lang="en-US" sz="1650" kern="0" spc="-220" dirty="0" err="1">
                <a:solidFill>
                  <a:schemeClr val="accent6"/>
                </a:solidFill>
              </a:rPr>
              <a:t>i</a:t>
            </a:r>
            <a:r>
              <a:rPr lang="en-US" sz="1650" kern="0" spc="-220" dirty="0">
                <a:solidFill>
                  <a:schemeClr val="accent6"/>
                </a:solidFill>
              </a:rPr>
              <a:t>]; // blazing fast - contiguous memory</a:t>
            </a:r>
          </a:p>
          <a:p>
            <a:pPr marL="12700" marR="5080"/>
            <a:r>
              <a:rPr lang="en-US" sz="1650" kern="0" spc="-220" dirty="0">
                <a:solidFill>
                  <a:schemeClr val="accent6"/>
                </a:solidFill>
              </a:rPr>
              <a:t>}</a:t>
            </a:r>
          </a:p>
          <a:p>
            <a:pPr marL="12700" marR="5080"/>
            <a:r>
              <a:rPr lang="en-US" sz="1650" kern="0" spc="-220" dirty="0">
                <a:solidFill>
                  <a:schemeClr val="accent2"/>
                </a:solidFill>
              </a:rPr>
              <a:t>Benefit: </a:t>
            </a:r>
            <a:r>
              <a:rPr lang="en-US" sz="1650" kern="0" spc="-220" dirty="0">
                <a:solidFill>
                  <a:schemeClr val="accent6"/>
                </a:solidFill>
              </a:rPr>
              <a:t>Access pattern is linear and cache-friendly.</a:t>
            </a:r>
          </a:p>
          <a:p>
            <a:pPr marL="12700" marR="5080"/>
            <a:endParaRPr lang="en-US" sz="1650" kern="0" spc="-220" dirty="0">
              <a:solidFill>
                <a:schemeClr val="accent6"/>
              </a:solidFill>
            </a:endParaRPr>
          </a:p>
          <a:p>
            <a:pPr marL="12700" marR="5080"/>
            <a:r>
              <a:rPr lang="en-US" sz="1650" kern="0" spc="-220" dirty="0">
                <a:solidFill>
                  <a:schemeClr val="accent2"/>
                </a:solidFill>
              </a:rPr>
              <a:t>4. Struct of Arrays (</a:t>
            </a:r>
            <a:r>
              <a:rPr lang="en-US" sz="1650" kern="0" spc="-220" dirty="0" err="1">
                <a:solidFill>
                  <a:schemeClr val="accent2"/>
                </a:solidFill>
              </a:rPr>
              <a:t>SoA</a:t>
            </a:r>
            <a:r>
              <a:rPr lang="en-US" sz="1650" kern="0" spc="-220" dirty="0">
                <a:solidFill>
                  <a:schemeClr val="accent2"/>
                </a:solidFill>
              </a:rPr>
              <a:t>) vs Array of Structs (</a:t>
            </a:r>
            <a:r>
              <a:rPr lang="en-US" sz="1650" kern="0" spc="-220" dirty="0" err="1">
                <a:solidFill>
                  <a:schemeClr val="accent2"/>
                </a:solidFill>
              </a:rPr>
              <a:t>AoS</a:t>
            </a:r>
            <a:r>
              <a:rPr lang="en-US" sz="1650" kern="0" spc="-220" dirty="0">
                <a:solidFill>
                  <a:schemeClr val="accent2"/>
                </a:solidFill>
              </a:rPr>
              <a:t>)</a:t>
            </a:r>
          </a:p>
          <a:p>
            <a:pPr marL="12700" marR="5080"/>
            <a:r>
              <a:rPr lang="en-US" sz="1650" kern="0" spc="-220" dirty="0">
                <a:solidFill>
                  <a:schemeClr val="accent2"/>
                </a:solidFill>
              </a:rPr>
              <a:t>Array of Structs (</a:t>
            </a:r>
            <a:r>
              <a:rPr lang="en-US" sz="1650" kern="0" spc="-220" dirty="0" err="1">
                <a:solidFill>
                  <a:schemeClr val="accent2"/>
                </a:solidFill>
              </a:rPr>
              <a:t>AoS</a:t>
            </a:r>
            <a:r>
              <a:rPr lang="en-US" sz="1650" kern="0" spc="-220" dirty="0">
                <a:solidFill>
                  <a:schemeClr val="accent2"/>
                </a:solidFill>
              </a:rPr>
              <a:t>) (Classic)</a:t>
            </a:r>
          </a:p>
          <a:p>
            <a:pPr marL="12700" marR="5080"/>
            <a:r>
              <a:rPr lang="en-US" sz="1650" kern="0" spc="-220" dirty="0">
                <a:solidFill>
                  <a:schemeClr val="accent6"/>
                </a:solidFill>
              </a:rPr>
              <a:t>struct Enemy { public float X, Y, Speed; }</a:t>
            </a:r>
          </a:p>
          <a:p>
            <a:pPr marL="12700" marR="5080"/>
            <a:r>
              <a:rPr lang="en-US" sz="1650" kern="0" spc="-220" dirty="0">
                <a:solidFill>
                  <a:schemeClr val="accent6"/>
                </a:solidFill>
              </a:rPr>
              <a:t>Enemy[] enemies;</a:t>
            </a:r>
          </a:p>
          <a:p>
            <a:pPr marL="12700" marR="5080"/>
            <a:r>
              <a:rPr lang="en-US" sz="1650" kern="0" spc="-220" dirty="0">
                <a:solidFill>
                  <a:schemeClr val="accent2"/>
                </a:solidFill>
              </a:rPr>
              <a:t>Struct of Arrays (</a:t>
            </a:r>
            <a:r>
              <a:rPr lang="en-US" sz="1650" kern="0" spc="-220" dirty="0" err="1">
                <a:solidFill>
                  <a:schemeClr val="accent2"/>
                </a:solidFill>
              </a:rPr>
              <a:t>SoA</a:t>
            </a:r>
            <a:r>
              <a:rPr lang="en-US" sz="1650" kern="0" spc="-220" dirty="0">
                <a:solidFill>
                  <a:schemeClr val="accent2"/>
                </a:solidFill>
              </a:rPr>
              <a:t>) (Data-Oriented)</a:t>
            </a:r>
          </a:p>
          <a:p>
            <a:pPr marL="12700" marR="5080"/>
            <a:r>
              <a:rPr lang="en-US" sz="1650" kern="0" spc="-220" dirty="0">
                <a:solidFill>
                  <a:schemeClr val="accent6"/>
                </a:solidFill>
              </a:rPr>
              <a:t>float[] X;</a:t>
            </a:r>
          </a:p>
          <a:p>
            <a:pPr marL="12700" marR="5080"/>
            <a:r>
              <a:rPr lang="en-US" sz="1650" kern="0" spc="-220" dirty="0">
                <a:solidFill>
                  <a:schemeClr val="accent6"/>
                </a:solidFill>
              </a:rPr>
              <a:t>float[] Y;</a:t>
            </a:r>
          </a:p>
          <a:p>
            <a:pPr marL="12700" marR="5080"/>
            <a:r>
              <a:rPr lang="en-US" sz="1650" kern="0" spc="-220" dirty="0">
                <a:solidFill>
                  <a:schemeClr val="accent6"/>
                </a:solidFill>
              </a:rPr>
              <a:t>float[] Speed;</a:t>
            </a:r>
          </a:p>
          <a:p>
            <a:pPr marL="12700" marR="5080"/>
            <a:r>
              <a:rPr lang="en-US" sz="1650" kern="0" spc="-220" dirty="0" err="1">
                <a:solidFill>
                  <a:schemeClr val="accent6"/>
                </a:solidFill>
              </a:rPr>
              <a:t>SoA</a:t>
            </a:r>
            <a:r>
              <a:rPr lang="en-US" sz="1650" kern="0" spc="-220" dirty="0">
                <a:solidFill>
                  <a:schemeClr val="accent6"/>
                </a:solidFill>
              </a:rPr>
              <a:t> is usually faster when processing individual fields across many items.</a:t>
            </a:r>
          </a:p>
        </p:txBody>
      </p:sp>
    </p:spTree>
    <p:extLst>
      <p:ext uri="{BB962C8B-B14F-4D97-AF65-F5344CB8AC3E}">
        <p14:creationId xmlns:p14="http://schemas.microsoft.com/office/powerpoint/2010/main" val="204490798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FAC6B-2081-35FA-E9F5-5AA5B6935A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B1812F-7453-693E-6CEC-C3D4E231B9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210A91-EF41-EA73-5D09-24B75FE035D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8B657F-03FE-FF20-0312-6D079418D7B9}"/>
              </a:ext>
            </a:extLst>
          </p:cNvPr>
          <p:cNvGraphicFramePr/>
          <p:nvPr>
            <p:extLst>
              <p:ext uri="{D42A27DB-BD31-4B8C-83A1-F6EECF244321}">
                <p14:modId xmlns:p14="http://schemas.microsoft.com/office/powerpoint/2010/main" val="4121709774"/>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FF84D8-7BDE-BCC9-7453-6123C5AF7E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FF33E-C5F9-514F-E9C2-BC79244C33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F5352E6-6BAA-C67D-F2D3-EAC17380CF4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14B82C-A906-F825-4680-8548799E6A6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FAAC72E-3C99-7782-4D5E-5127141A1BC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D7EE2C0-52A6-29A0-02CB-3E1532A52F0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8FEBDA8C-7D60-129C-4D06-9902700E9098}"/>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5. Real Use Case: Physics Simulation</a:t>
            </a:r>
          </a:p>
          <a:p>
            <a:pPr marL="12700" marR="5080"/>
            <a:r>
              <a:rPr lang="en-US" sz="1800" kern="0" spc="-220" dirty="0">
                <a:solidFill>
                  <a:schemeClr val="accent2"/>
                </a:solidFill>
              </a:rPr>
              <a:t>Not that Good Performance Wise(OOP):</a:t>
            </a:r>
          </a:p>
          <a:p>
            <a:pPr marL="12700" marR="5080"/>
            <a:r>
              <a:rPr lang="en-US" sz="1800" kern="0" spc="-220" dirty="0">
                <a:solidFill>
                  <a:schemeClr val="accent6"/>
                </a:solidFill>
              </a:rPr>
              <a:t>class Particle { public Vector3 pos, vel; }</a:t>
            </a:r>
          </a:p>
          <a:p>
            <a:pPr marL="12700" marR="5080"/>
            <a:endParaRPr lang="en-US" sz="1800" kern="0" spc="-220" dirty="0">
              <a:solidFill>
                <a:schemeClr val="accent6"/>
              </a:solidFill>
            </a:endParaRPr>
          </a:p>
          <a:p>
            <a:pPr marL="12700" marR="5080"/>
            <a:r>
              <a:rPr lang="en-US" sz="1800" kern="0" spc="-220" dirty="0">
                <a:solidFill>
                  <a:schemeClr val="accent6"/>
                </a:solidFill>
              </a:rPr>
              <a:t>foreach (var p in particles)</a:t>
            </a:r>
          </a:p>
          <a:p>
            <a:pPr marL="12700" marR="5080"/>
            <a:r>
              <a:rPr lang="en-US" sz="1800" kern="0" spc="-220" dirty="0">
                <a:solidFill>
                  <a:schemeClr val="accent6"/>
                </a:solidFill>
              </a:rPr>
              <a:t>    </a:t>
            </a:r>
            <a:r>
              <a:rPr lang="en-US" sz="1800" kern="0" spc="-220" dirty="0" err="1">
                <a:solidFill>
                  <a:schemeClr val="accent6"/>
                </a:solidFill>
              </a:rPr>
              <a:t>p.pos</a:t>
            </a:r>
            <a:r>
              <a:rPr lang="en-US" sz="1800" kern="0" spc="-220" dirty="0">
                <a:solidFill>
                  <a:schemeClr val="accent6"/>
                </a:solidFill>
              </a:rPr>
              <a:t> += </a:t>
            </a:r>
            <a:r>
              <a:rPr lang="en-US" sz="1800" kern="0" spc="-220" dirty="0" err="1">
                <a:solidFill>
                  <a:schemeClr val="accent6"/>
                </a:solidFill>
              </a:rPr>
              <a:t>p.vel</a:t>
            </a:r>
            <a:r>
              <a:rPr lang="en-US" sz="1800" kern="0" spc="-220" dirty="0">
                <a:solidFill>
                  <a:schemeClr val="accent6"/>
                </a:solidFill>
              </a:rPr>
              <a:t> * dt;</a:t>
            </a:r>
          </a:p>
          <a:p>
            <a:pPr marL="12700" marR="5080"/>
            <a:r>
              <a:rPr lang="en-US" sz="1800" kern="0" spc="-220" dirty="0">
                <a:solidFill>
                  <a:schemeClr val="accent2"/>
                </a:solidFill>
              </a:rPr>
              <a:t>Good (DOP):</a:t>
            </a:r>
          </a:p>
          <a:p>
            <a:pPr marL="12700" marR="5080"/>
            <a:r>
              <a:rPr lang="en-US" sz="1800" kern="0" spc="-220" dirty="0">
                <a:solidFill>
                  <a:schemeClr val="accent6"/>
                </a:solidFill>
              </a:rPr>
              <a:t>Vector3[] pos;</a:t>
            </a:r>
          </a:p>
          <a:p>
            <a:pPr marL="12700" marR="5080"/>
            <a:r>
              <a:rPr lang="en-US" sz="1800" kern="0" spc="-220" dirty="0">
                <a:solidFill>
                  <a:schemeClr val="accent6"/>
                </a:solidFill>
              </a:rPr>
              <a:t>Vector3[] vel;</a:t>
            </a:r>
          </a:p>
          <a:p>
            <a:pPr marL="12700" marR="5080"/>
            <a:endParaRPr lang="en-US" sz="1800" kern="0" spc="-220" dirty="0">
              <a:solidFill>
                <a:schemeClr val="accent6"/>
              </a:solidFill>
            </a:endParaRP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pos.Length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 += vel[</a:t>
            </a:r>
            <a:r>
              <a:rPr lang="en-US" sz="1800" kern="0" spc="-220" dirty="0" err="1">
                <a:solidFill>
                  <a:schemeClr val="accent6"/>
                </a:solidFill>
              </a:rPr>
              <a:t>i</a:t>
            </a:r>
            <a:r>
              <a:rPr lang="en-US" sz="1800" kern="0" spc="-220" dirty="0">
                <a:solidFill>
                  <a:schemeClr val="accent6"/>
                </a:solidFill>
              </a:rPr>
              <a:t>] * dt;</a:t>
            </a:r>
          </a:p>
          <a:p>
            <a:pPr marL="12700" marR="5080"/>
            <a:r>
              <a:rPr lang="en-US" sz="1800" kern="0" spc="-220" dirty="0">
                <a:solidFill>
                  <a:schemeClr val="accent2"/>
                </a:solidFill>
              </a:rPr>
              <a:t>6. Using DOP in C# (with Span&lt;T&gt;, ref struct, Memory&lt;T&gt;)</a:t>
            </a:r>
          </a:p>
          <a:p>
            <a:pPr marL="12700" marR="5080"/>
            <a:r>
              <a:rPr lang="en-US" sz="1800" kern="0" spc="-220" dirty="0">
                <a:solidFill>
                  <a:schemeClr val="accent6"/>
                </a:solidFill>
              </a:rPr>
              <a:t>Example using Span&lt;T&gt; for contiguous memory:</a:t>
            </a:r>
          </a:p>
          <a:p>
            <a:pPr marL="12700" marR="5080"/>
            <a:r>
              <a:rPr lang="en-US" sz="1800" kern="0" spc="-220" dirty="0">
                <a:solidFill>
                  <a:schemeClr val="accent6"/>
                </a:solidFill>
              </a:rPr>
              <a:t>Span&lt;float&gt; </a:t>
            </a:r>
            <a:r>
              <a:rPr lang="en-US" sz="1800" kern="0" spc="-220" dirty="0" err="1">
                <a:solidFill>
                  <a:schemeClr val="accent6"/>
                </a:solidFill>
              </a:rPr>
              <a:t>xs</a:t>
            </a:r>
            <a:r>
              <a:rPr lang="en-US" sz="1800" kern="0" spc="-220" dirty="0">
                <a:solidFill>
                  <a:schemeClr val="accent6"/>
                </a:solidFill>
              </a:rPr>
              <a:t> = </a:t>
            </a:r>
            <a:r>
              <a:rPr lang="en-US" sz="1800" kern="0" spc="-220" dirty="0" err="1">
                <a:solidFill>
                  <a:schemeClr val="accent6"/>
                </a:solidFill>
              </a:rPr>
              <a:t>stackalloc</a:t>
            </a:r>
            <a:r>
              <a:rPr lang="en-US" sz="1800" kern="0" spc="-220" dirty="0">
                <a:solidFill>
                  <a:schemeClr val="accent6"/>
                </a:solidFill>
              </a:rPr>
              <a:t> float[1000];</a:t>
            </a:r>
          </a:p>
          <a:p>
            <a:pPr marL="12700" marR="5080"/>
            <a:r>
              <a:rPr lang="en-US" sz="1800" kern="0" spc="-220" dirty="0">
                <a:solidFill>
                  <a:schemeClr val="accent6"/>
                </a:solidFill>
              </a:rPr>
              <a:t>Span&lt;float&gt; speeds = </a:t>
            </a:r>
            <a:r>
              <a:rPr lang="en-US" sz="1800" kern="0" spc="-220" dirty="0" err="1">
                <a:solidFill>
                  <a:schemeClr val="accent6"/>
                </a:solidFill>
              </a:rPr>
              <a:t>stackalloc</a:t>
            </a:r>
            <a:r>
              <a:rPr lang="en-US" sz="1800" kern="0" spc="-220" dirty="0">
                <a:solidFill>
                  <a:schemeClr val="accent6"/>
                </a:solidFill>
              </a:rPr>
              <a:t> float[1000];</a:t>
            </a:r>
          </a:p>
          <a:p>
            <a:pPr marL="12700" marR="5080"/>
            <a:endParaRPr lang="en-US" sz="1800" kern="0" spc="-220" dirty="0">
              <a:solidFill>
                <a:schemeClr val="accent6"/>
              </a:solidFill>
            </a:endParaRP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xs.Length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xs</a:t>
            </a:r>
            <a:r>
              <a:rPr lang="en-US" sz="1800" kern="0" spc="-220" dirty="0">
                <a:solidFill>
                  <a:schemeClr val="accent6"/>
                </a:solidFill>
              </a:rPr>
              <a:t>[</a:t>
            </a:r>
            <a:r>
              <a:rPr lang="en-US" sz="1800" kern="0" spc="-220" dirty="0" err="1">
                <a:solidFill>
                  <a:schemeClr val="accent6"/>
                </a:solidFill>
              </a:rPr>
              <a:t>i</a:t>
            </a:r>
            <a:r>
              <a:rPr lang="en-US" sz="1800" kern="0" spc="-220" dirty="0">
                <a:solidFill>
                  <a:schemeClr val="accent6"/>
                </a:solidFill>
              </a:rPr>
              <a:t>] += speeds[</a:t>
            </a:r>
            <a:r>
              <a:rPr lang="en-US" sz="1800" kern="0" spc="-220" dirty="0" err="1">
                <a:solidFill>
                  <a:schemeClr val="accent6"/>
                </a:solidFill>
              </a:rPr>
              <a:t>i</a:t>
            </a:r>
            <a:r>
              <a:rPr lang="en-US" sz="1800" kern="0" spc="-220" dirty="0">
                <a:solidFill>
                  <a:schemeClr val="accent6"/>
                </a:solidFill>
              </a:rPr>
              <a:t>];</a:t>
            </a:r>
          </a:p>
        </p:txBody>
      </p:sp>
    </p:spTree>
    <p:extLst>
      <p:ext uri="{BB962C8B-B14F-4D97-AF65-F5344CB8AC3E}">
        <p14:creationId xmlns:p14="http://schemas.microsoft.com/office/powerpoint/2010/main" val="353257452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38243-0AD7-09DE-A345-F43B909618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88BFC1-B01E-F438-7CA3-CA849A3F4CF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93A605-CA7E-60AD-96DC-F8D91C69FF2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1D63B9-AF4E-5D5A-D581-B34C6C4A767D}"/>
              </a:ext>
            </a:extLst>
          </p:cNvPr>
          <p:cNvGraphicFramePr/>
          <p:nvPr>
            <p:extLst>
              <p:ext uri="{D42A27DB-BD31-4B8C-83A1-F6EECF244321}">
                <p14:modId xmlns:p14="http://schemas.microsoft.com/office/powerpoint/2010/main" val="258465143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6C8AFB-FAE7-6DDE-C656-CBFEEE8A46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ADC094-61D9-3C5F-C76B-0E75141C12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96DBD5C-03FD-AE4E-16C1-DF5783B8DB7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31D079-9F61-87A8-823F-FF9EF34E8A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739108-107A-93C1-505D-211551A699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9FB4050-1703-0FD2-A51E-5301C7843AAB}"/>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2693A8C2-E889-A865-ACCA-8D8A7A181C6C}"/>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7. Data-Oriented Design + Multithreading</a:t>
            </a:r>
          </a:p>
          <a:p>
            <a:pPr marL="12700" marR="5080"/>
            <a:r>
              <a:rPr lang="en-US" sz="1800" kern="0" spc="-220" dirty="0">
                <a:solidFill>
                  <a:schemeClr val="accent6"/>
                </a:solidFill>
              </a:rPr>
              <a:t>DOP simplifies parallelization, because each index is independent.</a:t>
            </a:r>
          </a:p>
          <a:p>
            <a:pPr marL="12700" marR="5080"/>
            <a:r>
              <a:rPr lang="en-US" sz="1800" kern="0" spc="-220" dirty="0" err="1">
                <a:solidFill>
                  <a:schemeClr val="accent6"/>
                </a:solidFill>
              </a:rPr>
              <a:t>Parallel.For</a:t>
            </a:r>
            <a:r>
              <a:rPr lang="en-US" sz="1800" kern="0" spc="-220" dirty="0">
                <a:solidFill>
                  <a:schemeClr val="accent6"/>
                </a:solidFill>
              </a:rPr>
              <a:t>(0, </a:t>
            </a:r>
            <a:r>
              <a:rPr lang="en-US" sz="1800" kern="0" spc="-220" dirty="0" err="1">
                <a:solidFill>
                  <a:schemeClr val="accent6"/>
                </a:solidFill>
              </a:rPr>
              <a:t>X.Length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 =&gt;</a:t>
            </a:r>
          </a:p>
          <a:p>
            <a:pPr marL="12700" marR="5080"/>
            <a:r>
              <a:rPr lang="en-US" sz="1800" kern="0" spc="-220" dirty="0">
                <a:solidFill>
                  <a:schemeClr val="accent6"/>
                </a:solidFill>
              </a:rPr>
              <a:t>{</a:t>
            </a:r>
          </a:p>
          <a:p>
            <a:pPr marL="12700" marR="5080"/>
            <a:r>
              <a:rPr lang="en-US" sz="1800" kern="0" spc="-220" dirty="0">
                <a:solidFill>
                  <a:schemeClr val="accent6"/>
                </a:solidFill>
              </a:rPr>
              <a:t>    X[</a:t>
            </a:r>
            <a:r>
              <a:rPr lang="en-US" sz="1800" kern="0" spc="-220" dirty="0" err="1">
                <a:solidFill>
                  <a:schemeClr val="accent6"/>
                </a:solidFill>
              </a:rPr>
              <a:t>i</a:t>
            </a:r>
            <a:r>
              <a:rPr lang="en-US" sz="1800" kern="0" spc="-220" dirty="0">
                <a:solidFill>
                  <a:schemeClr val="accent6"/>
                </a:solidFill>
              </a:rPr>
              <a:t>] += Speed[</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No data races because no shared mutable objects — data is flat.</a:t>
            </a:r>
          </a:p>
          <a:p>
            <a:pPr marL="12700" marR="5080"/>
            <a:endParaRPr lang="en-US" sz="1800" kern="0" spc="-220" dirty="0">
              <a:solidFill>
                <a:schemeClr val="accent6"/>
              </a:solidFill>
            </a:endParaRPr>
          </a:p>
          <a:p>
            <a:pPr marL="12700" marR="5080"/>
            <a:r>
              <a:rPr lang="en-US" sz="1800" kern="0" spc="-220" dirty="0">
                <a:solidFill>
                  <a:schemeClr val="accent2"/>
                </a:solidFill>
              </a:rPr>
              <a:t>8. Unity DOTS (ECS + Burst + Job System) — The Gold Standard</a:t>
            </a:r>
          </a:p>
          <a:p>
            <a:pPr marL="12700" marR="5080"/>
            <a:r>
              <a:rPr lang="en-US" sz="1800" kern="0" spc="-220" dirty="0">
                <a:solidFill>
                  <a:schemeClr val="accent2"/>
                </a:solidFill>
              </a:rPr>
              <a:t>Unity’s DOTS framework is pure DOP-based:</a:t>
            </a:r>
          </a:p>
          <a:p>
            <a:pPr marL="12700" marR="5080"/>
            <a:r>
              <a:rPr lang="en-US" sz="1800" kern="0" spc="-220" dirty="0">
                <a:solidFill>
                  <a:schemeClr val="accent2"/>
                </a:solidFill>
              </a:rPr>
              <a:t>Component	                                         Description</a:t>
            </a:r>
          </a:p>
          <a:p>
            <a:pPr marL="12700" marR="5080"/>
            <a:r>
              <a:rPr lang="en-US" sz="1800" kern="0" spc="-220" dirty="0">
                <a:solidFill>
                  <a:schemeClr val="accent6"/>
                </a:solidFill>
              </a:rPr>
              <a:t>ECS (Entity Component System)	Data organized in contiguous memory chunks.</a:t>
            </a:r>
          </a:p>
          <a:p>
            <a:pPr marL="12700" marR="5080"/>
            <a:r>
              <a:rPr lang="en-US" sz="1800" kern="0" spc="-220" dirty="0">
                <a:solidFill>
                  <a:schemeClr val="accent6"/>
                </a:solidFill>
              </a:rPr>
              <a:t>Jobs System	                                         Automatic multi-core parallelization.</a:t>
            </a:r>
          </a:p>
          <a:p>
            <a:pPr marL="12700" marR="5080"/>
            <a:r>
              <a:rPr lang="en-US" sz="1800" kern="0" spc="-220" dirty="0">
                <a:solidFill>
                  <a:schemeClr val="accent6"/>
                </a:solidFill>
              </a:rPr>
              <a:t>Burst Compiler	                                         Auto SIMD optimizations (very fast).</a:t>
            </a:r>
          </a:p>
          <a:p>
            <a:pPr marL="12700" marR="5080"/>
            <a:endParaRPr lang="en-US" sz="1800" kern="0" spc="-220" dirty="0">
              <a:solidFill>
                <a:schemeClr val="accent6"/>
              </a:solidFill>
            </a:endParaRPr>
          </a:p>
        </p:txBody>
      </p:sp>
    </p:spTree>
    <p:extLst>
      <p:ext uri="{BB962C8B-B14F-4D97-AF65-F5344CB8AC3E}">
        <p14:creationId xmlns:p14="http://schemas.microsoft.com/office/powerpoint/2010/main" val="91915236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09C21-860A-9AF5-C599-17389EC7B75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BED590-25E6-A3F9-0637-7485AD12E2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6E3428-5703-A756-5E28-6CC98703C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11EE715-9373-A8AB-3B26-74016FAA2C67}"/>
              </a:ext>
            </a:extLst>
          </p:cNvPr>
          <p:cNvGraphicFramePr/>
          <p:nvPr>
            <p:extLst>
              <p:ext uri="{D42A27DB-BD31-4B8C-83A1-F6EECF244321}">
                <p14:modId xmlns:p14="http://schemas.microsoft.com/office/powerpoint/2010/main" val="203195088"/>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4E2FE1-3983-6E7F-F7FB-759449D91B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1217D5-3A10-E19B-7889-943F15BD22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48A6839-4940-29FF-DE8C-4D2F341857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1CAA50-3E0A-6B16-DAF4-DB1B24695E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AF4022-6539-6068-A5CD-F48FB6EF62E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8D82162-40A9-FF8C-A678-F5EF334BF7C1}"/>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3F13C24C-EAF6-5463-814A-2E6A17C1E665}"/>
              </a:ext>
            </a:extLst>
          </p:cNvPr>
          <p:cNvSpPr txBox="1">
            <a:spLocks/>
          </p:cNvSpPr>
          <p:nvPr/>
        </p:nvSpPr>
        <p:spPr>
          <a:xfrm>
            <a:off x="2286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Example ECS Component:</a:t>
            </a:r>
          </a:p>
          <a:p>
            <a:pPr marL="12700" marR="5080"/>
            <a:r>
              <a:rPr lang="en-US" sz="1800" kern="0" spc="-220" dirty="0">
                <a:solidFill>
                  <a:schemeClr val="accent6"/>
                </a:solidFill>
              </a:rPr>
              <a:t>public struct </a:t>
            </a:r>
            <a:r>
              <a:rPr lang="en-US" sz="1800" kern="0" spc="-220" dirty="0" err="1">
                <a:solidFill>
                  <a:schemeClr val="accent6"/>
                </a:solidFill>
              </a:rPr>
              <a:t>MoveSpeed</a:t>
            </a:r>
            <a:r>
              <a:rPr lang="en-US" sz="1800" kern="0" spc="-220" dirty="0">
                <a:solidFill>
                  <a:schemeClr val="accent6"/>
                </a:solidFill>
              </a:rPr>
              <a:t> : </a:t>
            </a:r>
            <a:r>
              <a:rPr lang="en-US" sz="1800" kern="0" spc="-220" dirty="0" err="1">
                <a:solidFill>
                  <a:schemeClr val="accent6"/>
                </a:solidFill>
              </a:rPr>
              <a:t>IComponentData</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public float Value;</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System:</a:t>
            </a:r>
          </a:p>
          <a:p>
            <a:pPr marL="12700" marR="5080"/>
            <a:r>
              <a:rPr lang="en-US" sz="1800" kern="0" spc="-220" dirty="0">
                <a:solidFill>
                  <a:schemeClr val="accent6"/>
                </a:solidFill>
              </a:rPr>
              <a:t>public partial struct </a:t>
            </a:r>
            <a:r>
              <a:rPr lang="en-US" sz="1800" kern="0" spc="-220" dirty="0" err="1">
                <a:solidFill>
                  <a:schemeClr val="accent6"/>
                </a:solidFill>
              </a:rPr>
              <a:t>MoveSystem</a:t>
            </a:r>
            <a:r>
              <a:rPr lang="en-US" sz="1800" kern="0" spc="-220" dirty="0">
                <a:solidFill>
                  <a:schemeClr val="accent6"/>
                </a:solidFill>
              </a:rPr>
              <a:t> : </a:t>
            </a:r>
            <a:r>
              <a:rPr lang="en-US" sz="1800" kern="0" spc="-220" dirty="0" err="1">
                <a:solidFill>
                  <a:schemeClr val="accent6"/>
                </a:solidFill>
              </a:rPr>
              <a:t>ISystem</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public void </a:t>
            </a:r>
            <a:r>
              <a:rPr lang="en-US" sz="1800" kern="0" spc="-220" dirty="0" err="1">
                <a:solidFill>
                  <a:schemeClr val="accent6"/>
                </a:solidFill>
              </a:rPr>
              <a:t>OnUpdate</a:t>
            </a:r>
            <a:r>
              <a:rPr lang="en-US" sz="1800" kern="0" spc="-220" dirty="0">
                <a:solidFill>
                  <a:schemeClr val="accent6"/>
                </a:solidFill>
              </a:rPr>
              <a:t>(ref </a:t>
            </a:r>
            <a:r>
              <a:rPr lang="en-US" sz="1800" kern="0" spc="-220" dirty="0" err="1">
                <a:solidFill>
                  <a:schemeClr val="accent6"/>
                </a:solidFill>
              </a:rPr>
              <a:t>SystemState</a:t>
            </a:r>
            <a:r>
              <a:rPr lang="en-US" sz="1800" kern="0" spc="-220" dirty="0">
                <a:solidFill>
                  <a:schemeClr val="accent6"/>
                </a:solidFill>
              </a:rPr>
              <a:t> state)</a:t>
            </a:r>
          </a:p>
          <a:p>
            <a:pPr marL="12700" marR="5080"/>
            <a:r>
              <a:rPr lang="en-US" sz="1800" kern="0" spc="-220" dirty="0">
                <a:solidFill>
                  <a:schemeClr val="accent6"/>
                </a:solidFill>
              </a:rPr>
              <a:t>    {</a:t>
            </a:r>
          </a:p>
          <a:p>
            <a:pPr marL="12700" marR="5080"/>
            <a:r>
              <a:rPr lang="en-US" sz="1800" kern="0" spc="-220" dirty="0">
                <a:solidFill>
                  <a:schemeClr val="accent6"/>
                </a:solidFill>
              </a:rPr>
              <a:t>        foreach (var (speed, position) in </a:t>
            </a:r>
          </a:p>
          <a:p>
            <a:pPr marL="12700" marR="5080"/>
            <a:r>
              <a:rPr lang="en-US" sz="1800" kern="0" spc="-220" dirty="0">
                <a:solidFill>
                  <a:schemeClr val="accent6"/>
                </a:solidFill>
              </a:rPr>
              <a:t>                 </a:t>
            </a:r>
            <a:r>
              <a:rPr lang="en-US" sz="1800" kern="0" spc="-220" dirty="0" err="1">
                <a:solidFill>
                  <a:schemeClr val="accent6"/>
                </a:solidFill>
              </a:rPr>
              <a:t>SystemAPI.Query</a:t>
            </a:r>
            <a:r>
              <a:rPr lang="en-US" sz="1800" kern="0" spc="-220" dirty="0">
                <a:solidFill>
                  <a:schemeClr val="accent6"/>
                </a:solidFill>
              </a:rPr>
              <a:t>&lt;</a:t>
            </a:r>
            <a:r>
              <a:rPr lang="en-US" sz="1800" kern="0" spc="-220" dirty="0" err="1">
                <a:solidFill>
                  <a:schemeClr val="accent6"/>
                </a:solidFill>
              </a:rPr>
              <a:t>RefRO</a:t>
            </a:r>
            <a:r>
              <a:rPr lang="en-US" sz="1800" kern="0" spc="-220" dirty="0">
                <a:solidFill>
                  <a:schemeClr val="accent6"/>
                </a:solidFill>
              </a:rPr>
              <a:t>&lt;</a:t>
            </a:r>
            <a:r>
              <a:rPr lang="en-US" sz="1800" kern="0" spc="-220" dirty="0" err="1">
                <a:solidFill>
                  <a:schemeClr val="accent6"/>
                </a:solidFill>
              </a:rPr>
              <a:t>MoveSpeed</a:t>
            </a:r>
            <a:r>
              <a:rPr lang="en-US" sz="1800" kern="0" spc="-220" dirty="0">
                <a:solidFill>
                  <a:schemeClr val="accent6"/>
                </a:solidFill>
              </a:rPr>
              <a:t>&gt;, </a:t>
            </a:r>
            <a:r>
              <a:rPr lang="en-US" sz="1800" kern="0" spc="-220" dirty="0" err="1">
                <a:solidFill>
                  <a:schemeClr val="accent6"/>
                </a:solidFill>
              </a:rPr>
              <a:t>RefRW</a:t>
            </a:r>
            <a:r>
              <a:rPr lang="en-US" sz="1800" kern="0" spc="-220" dirty="0">
                <a:solidFill>
                  <a:schemeClr val="accent6"/>
                </a:solidFill>
              </a:rPr>
              <a:t>&lt;</a:t>
            </a:r>
            <a:r>
              <a:rPr lang="en-US" sz="1800" kern="0" spc="-220" dirty="0" err="1">
                <a:solidFill>
                  <a:schemeClr val="accent6"/>
                </a:solidFill>
              </a:rPr>
              <a:t>LocalTransform</a:t>
            </a:r>
            <a:r>
              <a:rPr lang="en-US" sz="1800" kern="0" spc="-220" dirty="0">
                <a:solidFill>
                  <a:schemeClr val="accent6"/>
                </a:solidFill>
              </a:rPr>
              <a:t>&gt;&gt;())</a:t>
            </a:r>
          </a:p>
          <a:p>
            <a:pPr marL="12700" marR="5080"/>
            <a:r>
              <a:rPr lang="en-US" sz="1800" kern="0" spc="-220" dirty="0">
                <a:solidFill>
                  <a:schemeClr val="accent6"/>
                </a:solidFill>
              </a:rPr>
              <a:t>        {</a:t>
            </a:r>
          </a:p>
          <a:p>
            <a:pPr marL="12700" marR="5080"/>
            <a:r>
              <a:rPr lang="en-US" sz="1800" kern="0" spc="-220" dirty="0">
                <a:solidFill>
                  <a:schemeClr val="accent6"/>
                </a:solidFill>
              </a:rPr>
              <a:t>            </a:t>
            </a:r>
            <a:r>
              <a:rPr lang="en-US" sz="1800" kern="0" spc="-220" dirty="0" err="1">
                <a:solidFill>
                  <a:schemeClr val="accent6"/>
                </a:solidFill>
              </a:rPr>
              <a:t>position.ValueRW.Position.x</a:t>
            </a:r>
            <a:r>
              <a:rPr lang="en-US" sz="1800" kern="0" spc="-220" dirty="0">
                <a:solidFill>
                  <a:schemeClr val="accent6"/>
                </a:solidFill>
              </a:rPr>
              <a:t> += </a:t>
            </a:r>
            <a:r>
              <a:rPr lang="en-US" sz="1800" kern="0" spc="-220" dirty="0" err="1">
                <a:solidFill>
                  <a:schemeClr val="accent6"/>
                </a:solidFill>
              </a:rPr>
              <a:t>speed.ValueRO.Value</a:t>
            </a:r>
            <a:r>
              <a:rPr lang="en-US" sz="1800" kern="0" spc="-220" dirty="0">
                <a:solidFill>
                  <a:schemeClr val="accent6"/>
                </a:solidFill>
              </a:rPr>
              <a:t>;</a:t>
            </a:r>
          </a:p>
          <a:p>
            <a:pPr marL="12700" marR="5080"/>
            <a:r>
              <a:rPr lang="en-US" sz="1800" kern="0" spc="-220" dirty="0">
                <a:solidFill>
                  <a:schemeClr val="accent6"/>
                </a:solidFill>
              </a:rPr>
              <a:t>        }</a:t>
            </a:r>
          </a:p>
          <a:p>
            <a:pPr marL="12700" marR="5080"/>
            <a:r>
              <a:rPr lang="en-US" sz="1800" kern="0" spc="-220" dirty="0">
                <a:solidFill>
                  <a:schemeClr val="accent6"/>
                </a:solidFill>
              </a:rPr>
              <a:t>    }</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195020604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BD080-1BA2-8493-631E-CF82371EC6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546632-9919-002B-6CC0-FC0A65BBC42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3CC0EF4-4E2C-39A1-8C2A-2CBFA8A660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7EDFE0-4AFC-FE84-835D-37EDF37B3AAE}"/>
              </a:ext>
            </a:extLst>
          </p:cNvPr>
          <p:cNvGraphicFramePr/>
          <p:nvPr>
            <p:extLst>
              <p:ext uri="{D42A27DB-BD31-4B8C-83A1-F6EECF244321}">
                <p14:modId xmlns:p14="http://schemas.microsoft.com/office/powerpoint/2010/main" val="225304791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ABACD1-E61B-B3FD-2DFD-EA07D0DE6D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3756B95-C36F-E71F-CC5A-72CDD00D36F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81B093-0C6F-D64C-F3C4-EB34A3F4FB0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3FAC229-2998-7A4C-D14B-79A6CAA4C8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9E445B-9883-D917-44CB-FEB1CA48E6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3ED122-4618-80D2-D056-5005A8F7ABC1}"/>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F286B4F1-7D48-965B-DEA1-931E502400C7}"/>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9. When Should You Use DOP ?</a:t>
            </a:r>
          </a:p>
          <a:p>
            <a:pPr marL="12700" marR="5080"/>
            <a:r>
              <a:rPr lang="en-US" sz="1800" kern="0" spc="-220" dirty="0">
                <a:solidFill>
                  <a:schemeClr val="accent6"/>
                </a:solidFill>
              </a:rPr>
              <a:t>✅ High-performance systems</a:t>
            </a:r>
          </a:p>
          <a:p>
            <a:pPr marL="12700" marR="5080"/>
            <a:r>
              <a:rPr lang="en-US" sz="1800" kern="0" spc="-220" dirty="0">
                <a:solidFill>
                  <a:schemeClr val="accent6"/>
                </a:solidFill>
              </a:rPr>
              <a:t>✅ Game engines</a:t>
            </a:r>
          </a:p>
          <a:p>
            <a:pPr marL="12700" marR="5080"/>
            <a:r>
              <a:rPr lang="en-US" sz="1800" kern="0" spc="-220" dirty="0">
                <a:solidFill>
                  <a:schemeClr val="accent6"/>
                </a:solidFill>
              </a:rPr>
              <a:t>✅ Simulation loops</a:t>
            </a:r>
          </a:p>
          <a:p>
            <a:pPr marL="12700" marR="5080"/>
            <a:r>
              <a:rPr lang="en-US" sz="1800" kern="0" spc="-220" dirty="0">
                <a:solidFill>
                  <a:schemeClr val="accent6"/>
                </a:solidFill>
              </a:rPr>
              <a:t>✅ Vectorized math workloads</a:t>
            </a:r>
          </a:p>
          <a:p>
            <a:pPr marL="12700" marR="5080"/>
            <a:r>
              <a:rPr lang="en-US" sz="1800" kern="0" spc="-220" dirty="0">
                <a:solidFill>
                  <a:schemeClr val="accent6"/>
                </a:solidFill>
              </a:rPr>
              <a:t>✅ Real-time analytics</a:t>
            </a:r>
          </a:p>
          <a:p>
            <a:pPr marL="12700" marR="5080"/>
            <a:r>
              <a:rPr lang="en-US" sz="1800" kern="0" spc="-220" dirty="0">
                <a:solidFill>
                  <a:schemeClr val="accent6"/>
                </a:solidFill>
              </a:rPr>
              <a:t>✅ Machine learning preprocessing</a:t>
            </a:r>
          </a:p>
          <a:p>
            <a:pPr marL="12700" marR="5080"/>
            <a:r>
              <a:rPr lang="en-US" sz="1800" kern="0" spc="-220" dirty="0">
                <a:solidFill>
                  <a:schemeClr val="accent6"/>
                </a:solidFill>
              </a:rPr>
              <a:t>❌ Regular business apps (DOP overkills things here)</a:t>
            </a:r>
          </a:p>
          <a:p>
            <a:pPr marL="12700" marR="5080"/>
            <a:r>
              <a:rPr lang="en-US" sz="1800" kern="0" spc="-220" dirty="0">
                <a:solidFill>
                  <a:schemeClr val="accent6"/>
                </a:solidFill>
              </a:rPr>
              <a:t>❌ Code where readability &gt; performance</a:t>
            </a:r>
          </a:p>
          <a:p>
            <a:pPr marL="12700" marR="5080"/>
            <a:endParaRPr lang="en-US" sz="1800" kern="0" spc="-220" dirty="0">
              <a:solidFill>
                <a:schemeClr val="accent6"/>
              </a:solidFill>
            </a:endParaRPr>
          </a:p>
          <a:p>
            <a:pPr marL="12700" marR="5080"/>
            <a:r>
              <a:rPr lang="en-US" sz="1800" kern="0" spc="-220" dirty="0">
                <a:solidFill>
                  <a:schemeClr val="accent2"/>
                </a:solidFill>
              </a:rPr>
              <a:t>10. Key Takeaways</a:t>
            </a:r>
          </a:p>
          <a:p>
            <a:pPr marL="12700" marR="5080"/>
            <a:r>
              <a:rPr lang="en-US" sz="1800" kern="0" spc="-220" dirty="0">
                <a:solidFill>
                  <a:schemeClr val="accent6"/>
                </a:solidFill>
              </a:rPr>
              <a:t>DOP is not a replacement for OOP — it’s a tool for performance-critical code.</a:t>
            </a:r>
          </a:p>
          <a:p>
            <a:pPr marL="12700" marR="5080"/>
            <a:r>
              <a:rPr lang="en-US" sz="1800" kern="0" spc="-220" dirty="0">
                <a:solidFill>
                  <a:schemeClr val="accent6"/>
                </a:solidFill>
              </a:rPr>
              <a:t>It focuses on memory layout, cache efficiency, batch processing.</a:t>
            </a:r>
          </a:p>
          <a:p>
            <a:pPr marL="12700" marR="5080"/>
            <a:r>
              <a:rPr lang="en-US" sz="1800" kern="0" spc="-220" dirty="0">
                <a:solidFill>
                  <a:schemeClr val="accent6"/>
                </a:solidFill>
              </a:rPr>
              <a:t>Use </a:t>
            </a:r>
            <a:r>
              <a:rPr lang="en-US" sz="1800" kern="0" spc="-220" dirty="0" err="1">
                <a:solidFill>
                  <a:schemeClr val="accent6"/>
                </a:solidFill>
              </a:rPr>
              <a:t>SoA</a:t>
            </a:r>
            <a:r>
              <a:rPr lang="en-US" sz="1800" kern="0" spc="-220" dirty="0">
                <a:solidFill>
                  <a:schemeClr val="accent6"/>
                </a:solidFill>
              </a:rPr>
              <a:t> layouts, value types, arrays, spans, and job parallelism.</a:t>
            </a:r>
          </a:p>
          <a:p>
            <a:pPr marL="12700" marR="5080"/>
            <a:endParaRPr lang="en-US" sz="1800" kern="0" spc="-220" dirty="0">
              <a:solidFill>
                <a:schemeClr val="accent6"/>
              </a:solidFill>
            </a:endParaRPr>
          </a:p>
        </p:txBody>
      </p:sp>
    </p:spTree>
    <p:extLst>
      <p:ext uri="{BB962C8B-B14F-4D97-AF65-F5344CB8AC3E}">
        <p14:creationId xmlns:p14="http://schemas.microsoft.com/office/powerpoint/2010/main" val="301706158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44D74-6DD7-8B60-FF81-05F2A3ACF55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8EB0B90-6821-4841-7022-846FF2321CB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443E97-D368-8AC3-E32B-115999D5415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DDAD8B-EDAB-4A11-21C2-6B6BEE36B699}"/>
              </a:ext>
            </a:extLst>
          </p:cNvPr>
          <p:cNvGraphicFramePr/>
          <p:nvPr>
            <p:extLst>
              <p:ext uri="{D42A27DB-BD31-4B8C-83A1-F6EECF244321}">
                <p14:modId xmlns:p14="http://schemas.microsoft.com/office/powerpoint/2010/main" val="180929640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81023BE-31F9-0CD1-FB5B-95EA0671B0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050BD3-BA68-B213-8E68-31419446FC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1B4CB8-D293-C6C7-8CE4-CC0DA141EA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A7BF76-853F-CCC6-4826-018C4A33E0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866C8B-FF5F-138F-D4B6-5EE320D4471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595C0B1-A3CE-BFFD-7CF1-E7A28F0D7820}"/>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45BF214D-3CEB-6048-3DDD-4353AE8036FF}"/>
              </a:ext>
            </a:extLst>
          </p:cNvPr>
          <p:cNvSpPr txBox="1">
            <a:spLocks/>
          </p:cNvSpPr>
          <p:nvPr/>
        </p:nvSpPr>
        <p:spPr>
          <a:xfrm>
            <a:off x="228600" y="6858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How to think like the CPU in C#.</a:t>
            </a:r>
          </a:p>
          <a:p>
            <a:pPr marL="355600" marR="5080" indent="-342900">
              <a:buAutoNum type="arabicPeriod"/>
            </a:pPr>
            <a:r>
              <a:rPr lang="en-US" sz="1800" kern="0" spc="-220" dirty="0">
                <a:solidFill>
                  <a:schemeClr val="accent2"/>
                </a:solidFill>
              </a:rPr>
              <a:t>CPU Architecture Rules Your Code</a:t>
            </a:r>
          </a:p>
          <a:p>
            <a:pPr marL="12700" marR="5080"/>
            <a:endParaRPr lang="en-US" sz="1800" kern="0" spc="-220" dirty="0">
              <a:solidFill>
                <a:schemeClr val="accent2"/>
              </a:solidFill>
            </a:endParaRPr>
          </a:p>
          <a:p>
            <a:pPr marL="12700" marR="5080"/>
            <a:r>
              <a:rPr lang="en-US" sz="1800" kern="0" spc="-220" dirty="0">
                <a:solidFill>
                  <a:schemeClr val="accent2"/>
                </a:solidFill>
              </a:rPr>
              <a:t>Key Hardware Facts</a:t>
            </a:r>
          </a:p>
          <a:p>
            <a:pPr marL="12700" marR="5080"/>
            <a:endParaRPr lang="en-US" sz="1800" kern="0" spc="-220" dirty="0">
              <a:solidFill>
                <a:schemeClr val="accent2"/>
              </a:solidFill>
            </a:endParaRPr>
          </a:p>
          <a:p>
            <a:pPr marL="12700" marR="5080"/>
            <a:r>
              <a:rPr lang="en-US" sz="1800" kern="0" spc="-220" dirty="0">
                <a:solidFill>
                  <a:schemeClr val="accent2"/>
                </a:solidFill>
              </a:rPr>
              <a:t>Concept	                     Size	                                        Why It Matters</a:t>
            </a:r>
          </a:p>
          <a:p>
            <a:pPr marL="12700" marR="5080"/>
            <a:r>
              <a:rPr lang="en-US" sz="1800" kern="0" spc="-220" dirty="0">
                <a:solidFill>
                  <a:schemeClr val="accent6"/>
                </a:solidFill>
              </a:rPr>
              <a:t>Cache line                    ~64 bytes	                    Data is moved in chunks, not per-variable.</a:t>
            </a:r>
          </a:p>
          <a:p>
            <a:pPr marL="12700" marR="5080"/>
            <a:r>
              <a:rPr lang="en-US" sz="1800" kern="0" spc="-220" dirty="0">
                <a:solidFill>
                  <a:schemeClr val="accent6"/>
                </a:solidFill>
              </a:rPr>
              <a:t>Registers	                    128–512 bits (SIMD)	                    CPU can operate on multiple values at once.</a:t>
            </a:r>
          </a:p>
          <a:p>
            <a:pPr marL="12700" marR="5080"/>
            <a:r>
              <a:rPr lang="en-US" sz="1800" kern="0" spc="-220" dirty="0">
                <a:solidFill>
                  <a:schemeClr val="accent6"/>
                </a:solidFill>
              </a:rPr>
              <a:t>Memory latency	100x slower than L1 cache	Scattered objects destroy performance.</a:t>
            </a:r>
          </a:p>
          <a:p>
            <a:pPr marL="12700" marR="5080"/>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2"/>
                </a:solidFill>
              </a:rPr>
              <a:t>What DOP optimizes:</a:t>
            </a:r>
          </a:p>
          <a:p>
            <a:pPr marL="12700" marR="5080"/>
            <a:r>
              <a:rPr lang="en-US" sz="1800" kern="0" spc="-220" dirty="0">
                <a:solidFill>
                  <a:schemeClr val="accent6"/>
                </a:solidFill>
              </a:rPr>
              <a:t>Spatial locality (nearby data is stored together)</a:t>
            </a:r>
          </a:p>
          <a:p>
            <a:pPr marL="12700" marR="5080"/>
            <a:r>
              <a:rPr lang="en-US" sz="1800" kern="0" spc="-220" dirty="0">
                <a:solidFill>
                  <a:schemeClr val="accent6"/>
                </a:solidFill>
              </a:rPr>
              <a:t>Linear iteration</a:t>
            </a:r>
          </a:p>
          <a:p>
            <a:pPr marL="12700" marR="5080"/>
            <a:r>
              <a:rPr lang="en-US" sz="1800" kern="0" spc="-220" dirty="0">
                <a:solidFill>
                  <a:schemeClr val="accent6"/>
                </a:solidFill>
              </a:rPr>
              <a:t>Branch-free loops</a:t>
            </a:r>
          </a:p>
          <a:p>
            <a:pPr marL="12700" marR="5080"/>
            <a:r>
              <a:rPr lang="en-US" sz="1800" kern="0" spc="-220" dirty="0">
                <a:solidFill>
                  <a:schemeClr val="accent6"/>
                </a:solidFill>
              </a:rPr>
              <a:t>SIMD vectorization</a:t>
            </a:r>
          </a:p>
          <a:p>
            <a:pPr marL="12700" marR="5080"/>
            <a:r>
              <a:rPr lang="en-US" sz="1800" kern="0" spc="-220" dirty="0">
                <a:solidFill>
                  <a:schemeClr val="accent6"/>
                </a:solidFill>
              </a:rPr>
              <a:t>No pointer-chasing</a:t>
            </a:r>
          </a:p>
        </p:txBody>
      </p:sp>
    </p:spTree>
    <p:extLst>
      <p:ext uri="{BB962C8B-B14F-4D97-AF65-F5344CB8AC3E}">
        <p14:creationId xmlns:p14="http://schemas.microsoft.com/office/powerpoint/2010/main" val="298832594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E7994-5A7B-AC3B-C311-D3491102884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54C33E-B34E-E638-A8D2-9FE8F23140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58ACD9-79A6-A1D9-877E-74B4A5CB8F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A67497-D371-AAC9-5296-204978307AA1}"/>
              </a:ext>
            </a:extLst>
          </p:cNvPr>
          <p:cNvGraphicFramePr/>
          <p:nvPr>
            <p:extLst>
              <p:ext uri="{D42A27DB-BD31-4B8C-83A1-F6EECF244321}">
                <p14:modId xmlns:p14="http://schemas.microsoft.com/office/powerpoint/2010/main" val="985694402"/>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642C70C-4757-9EF6-0985-9970074E247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6812F29-4BC0-8927-7EBA-C66AFE9735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B1BECA-89D9-F588-1E99-90E922A5DC0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D05359-2A5F-4B9C-D659-2155D1D97C7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EEEF5AC-5597-D86E-51AC-14413B3AF1F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949C0F9-20DB-0C51-9640-907D2D086B30}"/>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3924C0E9-7519-EFCC-9A81-627450490AFB}"/>
              </a:ext>
            </a:extLst>
          </p:cNvPr>
          <p:cNvSpPr txBox="1">
            <a:spLocks/>
          </p:cNvSpPr>
          <p:nvPr/>
        </p:nvSpPr>
        <p:spPr>
          <a:xfrm>
            <a:off x="2286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2. </a:t>
            </a:r>
            <a:r>
              <a:rPr lang="en-US" sz="1800" kern="0" spc="-220" dirty="0" err="1">
                <a:solidFill>
                  <a:schemeClr val="accent2"/>
                </a:solidFill>
              </a:rPr>
              <a:t>AoS</a:t>
            </a:r>
            <a:r>
              <a:rPr lang="en-US" sz="1800" kern="0" spc="-220" dirty="0">
                <a:solidFill>
                  <a:schemeClr val="accent2"/>
                </a:solidFill>
              </a:rPr>
              <a:t> vs </a:t>
            </a:r>
            <a:r>
              <a:rPr lang="en-US" sz="1800" kern="0" spc="-220" dirty="0" err="1">
                <a:solidFill>
                  <a:schemeClr val="accent2"/>
                </a:solidFill>
              </a:rPr>
              <a:t>SoA</a:t>
            </a:r>
            <a:r>
              <a:rPr lang="en-US" sz="1800" kern="0" spc="-220" dirty="0">
                <a:solidFill>
                  <a:schemeClr val="accent2"/>
                </a:solidFill>
              </a:rPr>
              <a:t>: The Deep Impact</a:t>
            </a:r>
          </a:p>
          <a:p>
            <a:pPr marL="12700" marR="5080"/>
            <a:r>
              <a:rPr lang="en-US" sz="1800" kern="0" spc="-220" dirty="0">
                <a:solidFill>
                  <a:schemeClr val="accent2"/>
                </a:solidFill>
              </a:rPr>
              <a:t>Array of Structs (</a:t>
            </a:r>
            <a:r>
              <a:rPr lang="en-US" sz="1800" kern="0" spc="-220" dirty="0" err="1">
                <a:solidFill>
                  <a:schemeClr val="accent2"/>
                </a:solidFill>
              </a:rPr>
              <a:t>AoS</a:t>
            </a:r>
            <a:r>
              <a:rPr lang="en-US" sz="1800" kern="0" spc="-220" dirty="0">
                <a:solidFill>
                  <a:schemeClr val="accent2"/>
                </a:solidFill>
              </a:rPr>
              <a:t>)</a:t>
            </a:r>
          </a:p>
          <a:p>
            <a:pPr marL="12700" marR="5080"/>
            <a:r>
              <a:rPr lang="en-US" sz="1800" kern="0" spc="-220" dirty="0">
                <a:solidFill>
                  <a:schemeClr val="accent6"/>
                </a:solidFill>
              </a:rPr>
              <a:t>struct Enemy { public float X, Y, Speed; }</a:t>
            </a:r>
          </a:p>
          <a:p>
            <a:pPr marL="12700" marR="5080"/>
            <a:r>
              <a:rPr lang="en-US" sz="1800" kern="0" spc="-220" dirty="0">
                <a:solidFill>
                  <a:schemeClr val="accent6"/>
                </a:solidFill>
              </a:rPr>
              <a:t>Enemy[] enemies;</a:t>
            </a:r>
          </a:p>
          <a:p>
            <a:pPr marL="12700" marR="5080"/>
            <a:r>
              <a:rPr lang="en-US" sz="1800" kern="0" spc="-220" dirty="0">
                <a:solidFill>
                  <a:schemeClr val="accent2"/>
                </a:solidFill>
              </a:rPr>
              <a:t>Memory Layout (</a:t>
            </a:r>
            <a:r>
              <a:rPr lang="en-US" sz="1800" kern="0" spc="-220" dirty="0" err="1">
                <a:solidFill>
                  <a:schemeClr val="accent2"/>
                </a:solidFill>
              </a:rPr>
              <a:t>approx</a:t>
            </a:r>
            <a:r>
              <a:rPr lang="en-US" sz="1800" kern="0" spc="-220" dirty="0">
                <a:solidFill>
                  <a:schemeClr val="accent2"/>
                </a:solidFill>
              </a:rPr>
              <a:t>):</a:t>
            </a:r>
          </a:p>
          <a:p>
            <a:pPr marL="12700" marR="5080"/>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 ...</a:t>
            </a:r>
          </a:p>
          <a:p>
            <a:pPr marL="12700" marR="5080"/>
            <a:r>
              <a:rPr lang="en-US" sz="1800" kern="0" spc="-220" dirty="0">
                <a:solidFill>
                  <a:schemeClr val="accent6"/>
                </a:solidFill>
              </a:rPr>
              <a:t>If only Speed is used → CPU loads Wasteful cache.</a:t>
            </a:r>
          </a:p>
          <a:p>
            <a:pPr marL="12700" marR="5080"/>
            <a:r>
              <a:rPr lang="en-US" sz="1800" kern="0" spc="-220" dirty="0">
                <a:solidFill>
                  <a:schemeClr val="accent2"/>
                </a:solidFill>
              </a:rPr>
              <a:t>Struct of Arrays (</a:t>
            </a:r>
            <a:r>
              <a:rPr lang="en-US" sz="1800" kern="0" spc="-220" dirty="0" err="1">
                <a:solidFill>
                  <a:schemeClr val="accent2"/>
                </a:solidFill>
              </a:rPr>
              <a:t>SoA</a:t>
            </a:r>
            <a:r>
              <a:rPr lang="en-US" sz="1800" kern="0" spc="-220" dirty="0">
                <a:solidFill>
                  <a:schemeClr val="accent2"/>
                </a:solidFill>
              </a:rPr>
              <a:t>)</a:t>
            </a:r>
          </a:p>
          <a:p>
            <a:pPr marL="12700" marR="5080"/>
            <a:r>
              <a:rPr lang="en-US" sz="1800" kern="0" spc="-220" dirty="0">
                <a:solidFill>
                  <a:schemeClr val="accent6"/>
                </a:solidFill>
              </a:rPr>
              <a:t>float[] X;</a:t>
            </a:r>
          </a:p>
          <a:p>
            <a:pPr marL="12700" marR="5080"/>
            <a:r>
              <a:rPr lang="en-US" sz="1800" kern="0" spc="-220" dirty="0">
                <a:solidFill>
                  <a:schemeClr val="accent6"/>
                </a:solidFill>
              </a:rPr>
              <a:t>float[] Y;</a:t>
            </a:r>
          </a:p>
          <a:p>
            <a:pPr marL="12700" marR="5080"/>
            <a:r>
              <a:rPr lang="en-US" sz="1800" kern="0" spc="-220" dirty="0">
                <a:solidFill>
                  <a:schemeClr val="accent6"/>
                </a:solidFill>
              </a:rPr>
              <a:t>float[] Speed;</a:t>
            </a:r>
          </a:p>
          <a:p>
            <a:pPr marL="12700" marR="5080"/>
            <a:r>
              <a:rPr lang="en-US" sz="1800" kern="0" spc="-220" dirty="0">
                <a:solidFill>
                  <a:schemeClr val="accent2"/>
                </a:solidFill>
              </a:rPr>
              <a:t>Memory:</a:t>
            </a:r>
          </a:p>
          <a:p>
            <a:pPr marL="12700" marR="5080"/>
            <a:r>
              <a:rPr lang="en-US" sz="1800" kern="0" spc="-220" dirty="0">
                <a:solidFill>
                  <a:schemeClr val="accent6"/>
                </a:solidFill>
              </a:rPr>
              <a:t>[X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p>
          <a:p>
            <a:pPr marL="12700" marR="5080"/>
            <a:r>
              <a:rPr lang="en-US" sz="1800" kern="0" spc="-220" dirty="0">
                <a:solidFill>
                  <a:schemeClr val="accent6"/>
                </a:solidFill>
              </a:rPr>
              <a:t>[Y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p>
          <a:p>
            <a:pPr marL="12700" marR="5080"/>
            <a:r>
              <a:rPr lang="en-US" sz="1800" kern="0" spc="-220" dirty="0">
                <a:solidFill>
                  <a:schemeClr val="accent2"/>
                </a:solidFill>
              </a:rPr>
              <a:t>When processing position update:</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X.Length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X[</a:t>
            </a:r>
            <a:r>
              <a:rPr lang="en-US" sz="1800" kern="0" spc="-220" dirty="0" err="1">
                <a:solidFill>
                  <a:schemeClr val="accent6"/>
                </a:solidFill>
              </a:rPr>
              <a:t>i</a:t>
            </a:r>
            <a:r>
              <a:rPr lang="en-US" sz="1800" kern="0" spc="-220" dirty="0">
                <a:solidFill>
                  <a:schemeClr val="accent6"/>
                </a:solidFill>
              </a:rPr>
              <a:t>] += Speed[</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Perfect sequential memory → sequential prefetch → full SIMD auto-vectorization.</a:t>
            </a:r>
          </a:p>
        </p:txBody>
      </p:sp>
    </p:spTree>
    <p:extLst>
      <p:ext uri="{BB962C8B-B14F-4D97-AF65-F5344CB8AC3E}">
        <p14:creationId xmlns:p14="http://schemas.microsoft.com/office/powerpoint/2010/main" val="158676630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9293A-99C3-5E7F-77CC-DC43D0CD4F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6D5833-CF92-4DE0-BD24-83E3EB3ADC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E487AE5-4F9D-CD8C-5999-C5AD1A2889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6897CF-C21A-181B-F413-378E1B6D4F6A}"/>
              </a:ext>
            </a:extLst>
          </p:cNvPr>
          <p:cNvGraphicFramePr/>
          <p:nvPr>
            <p:extLst>
              <p:ext uri="{D42A27DB-BD31-4B8C-83A1-F6EECF244321}">
                <p14:modId xmlns:p14="http://schemas.microsoft.com/office/powerpoint/2010/main" val="245990656"/>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A9133CC-7677-9DF5-9B61-4C80349C737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E60A0C-C327-9589-A62D-C9A135B072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C2B746-F713-9043-007D-2CEFE2DAE0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A8A2D3D-ED4D-EC4A-5539-4F5891032C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D67644-0559-0F96-B5C2-8E1E24F4196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074E31E-9D68-0787-C00C-0E4CC4453C0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017DB41E-8D4D-3118-147C-DB07C3ECBD30}"/>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3. SIMD Superiority (C# </a:t>
            </a:r>
            <a:r>
              <a:rPr lang="en-US" sz="1800" kern="0" spc="-220" dirty="0" err="1">
                <a:solidFill>
                  <a:schemeClr val="accent2"/>
                </a:solidFill>
              </a:rPr>
              <a:t>System.Numerics</a:t>
            </a:r>
            <a:r>
              <a:rPr lang="en-US" sz="1800" kern="0" spc="-220" dirty="0">
                <a:solidFill>
                  <a:schemeClr val="accent2"/>
                </a:solidFill>
              </a:rPr>
              <a:t>)</a:t>
            </a:r>
          </a:p>
          <a:p>
            <a:pPr marL="12700" marR="5080"/>
            <a:r>
              <a:rPr lang="en-US" sz="1800" kern="0" spc="-220" dirty="0">
                <a:solidFill>
                  <a:schemeClr val="accent6"/>
                </a:solidFill>
              </a:rPr>
              <a:t>using </a:t>
            </a:r>
            <a:r>
              <a:rPr lang="en-US" sz="1800" kern="0" spc="-220" dirty="0" err="1">
                <a:solidFill>
                  <a:schemeClr val="accent6"/>
                </a:solidFill>
              </a:rPr>
              <a:t>System.Numerics</a:t>
            </a:r>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void Move(Vector&lt;float&gt; </a:t>
            </a:r>
            <a:r>
              <a:rPr lang="en-US" sz="1800" kern="0" spc="-220" dirty="0" err="1">
                <a:solidFill>
                  <a:schemeClr val="accent6"/>
                </a:solidFill>
              </a:rPr>
              <a:t>xs</a:t>
            </a:r>
            <a:r>
              <a:rPr lang="en-US" sz="1800" kern="0" spc="-220" dirty="0">
                <a:solidFill>
                  <a:schemeClr val="accent6"/>
                </a:solidFill>
              </a:rPr>
              <a:t>, Vector&lt;float&gt; speeds)</a:t>
            </a: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xs</a:t>
            </a:r>
            <a:r>
              <a:rPr lang="en-US" sz="1800" kern="0" spc="-220" dirty="0">
                <a:solidFill>
                  <a:schemeClr val="accent6"/>
                </a:solidFill>
              </a:rPr>
              <a:t> += speeds; // CPU does 8–16 operations in 1 instruction</a:t>
            </a:r>
          </a:p>
          <a:p>
            <a:pPr marL="12700" marR="5080"/>
            <a:r>
              <a:rPr lang="en-US" sz="1800" kern="0" spc="-220" dirty="0">
                <a:solidFill>
                  <a:schemeClr val="accent6"/>
                </a:solidFill>
              </a:rPr>
              <a:t>}</a:t>
            </a:r>
          </a:p>
          <a:p>
            <a:pPr marL="12700" marR="5080"/>
            <a:r>
              <a:rPr lang="en-US" sz="1800" kern="0" spc="-220" dirty="0">
                <a:solidFill>
                  <a:schemeClr val="accent6"/>
                </a:solidFill>
              </a:rPr>
              <a:t>Compiled down to:</a:t>
            </a:r>
          </a:p>
          <a:p>
            <a:pPr marL="12700" marR="5080"/>
            <a:r>
              <a:rPr lang="en-US" sz="1800" kern="0" spc="-220" dirty="0" err="1">
                <a:solidFill>
                  <a:schemeClr val="accent6"/>
                </a:solidFill>
              </a:rPr>
              <a:t>addps</a:t>
            </a:r>
            <a:r>
              <a:rPr lang="en-US" sz="1800" kern="0" spc="-220" dirty="0">
                <a:solidFill>
                  <a:schemeClr val="accent6"/>
                </a:solidFill>
              </a:rPr>
              <a:t> xmm0, xmm1 </a:t>
            </a:r>
          </a:p>
          <a:p>
            <a:pPr marL="12700" marR="5080"/>
            <a:r>
              <a:rPr lang="en-US" sz="1800" kern="0" spc="-220" dirty="0">
                <a:solidFill>
                  <a:schemeClr val="accent6"/>
                </a:solidFill>
              </a:rPr>
              <a:t>(A single SSE/AVX vector floating-point add instruction.)</a:t>
            </a:r>
          </a:p>
          <a:p>
            <a:pPr marL="12700" marR="5080"/>
            <a:r>
              <a:rPr lang="en-US" sz="1800" kern="0" spc="-220" dirty="0">
                <a:solidFill>
                  <a:schemeClr val="accent6"/>
                </a:solidFill>
              </a:rPr>
              <a:t>DOP unlocks SIMD. OOP does not.</a:t>
            </a:r>
          </a:p>
          <a:p>
            <a:pPr marL="12700" marR="5080"/>
            <a:r>
              <a:rPr lang="en-US" sz="1800" kern="0" spc="-220" dirty="0">
                <a:solidFill>
                  <a:schemeClr val="accent2"/>
                </a:solidFill>
              </a:rPr>
              <a:t>4. Branch Optimization (Branchless Programming)</a:t>
            </a:r>
          </a:p>
          <a:p>
            <a:pPr marL="12700" marR="5080"/>
            <a:r>
              <a:rPr lang="en-US" sz="1800" kern="0" spc="-220" dirty="0">
                <a:solidFill>
                  <a:schemeClr val="accent2"/>
                </a:solidFill>
              </a:rPr>
              <a:t>Not that Good (branch </a:t>
            </a:r>
            <a:r>
              <a:rPr lang="en-US" sz="1800" kern="0" spc="-220" dirty="0" err="1">
                <a:solidFill>
                  <a:schemeClr val="accent2"/>
                </a:solidFill>
              </a:rPr>
              <a:t>mispredict</a:t>
            </a:r>
            <a:r>
              <a:rPr lang="en-US" sz="1800" kern="0" spc="-220" dirty="0">
                <a:solidFill>
                  <a:schemeClr val="accent2"/>
                </a:solidFill>
              </a:rPr>
              <a:t> explosions):</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N;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    if (alive[</a:t>
            </a:r>
            <a:r>
              <a:rPr lang="en-US" sz="1800" kern="0" spc="-220" dirty="0" err="1">
                <a:solidFill>
                  <a:schemeClr val="accent6"/>
                </a:solidFill>
              </a:rPr>
              <a:t>i</a:t>
            </a:r>
            <a:r>
              <a:rPr lang="en-US" sz="1800" kern="0" spc="-220" dirty="0">
                <a:solidFill>
                  <a:schemeClr val="accent6"/>
                </a:solidFill>
              </a:rPr>
              <a:t>]) { // unpredictable per element</a:t>
            </a:r>
          </a:p>
          <a:p>
            <a:pPr marL="12700" marR="5080"/>
            <a:r>
              <a:rPr lang="en-US" sz="1800" kern="0" spc="-220" dirty="0">
                <a:solidFill>
                  <a:schemeClr val="accent6"/>
                </a:solidFill>
              </a:rPr>
              <a:t>        health[</a:t>
            </a:r>
            <a:r>
              <a:rPr lang="en-US" sz="1800" kern="0" spc="-220" dirty="0" err="1">
                <a:solidFill>
                  <a:schemeClr val="accent6"/>
                </a:solidFill>
              </a:rPr>
              <a:t>i</a:t>
            </a:r>
            <a:r>
              <a:rPr lang="en-US" sz="1800" kern="0" spc="-220" dirty="0">
                <a:solidFill>
                  <a:schemeClr val="accent6"/>
                </a:solidFill>
              </a:rPr>
              <a:t>] -= damage;</a:t>
            </a:r>
          </a:p>
          <a:p>
            <a:pPr marL="12700" marR="5080"/>
            <a:r>
              <a:rPr lang="en-US" sz="1800" kern="0" spc="-220" dirty="0">
                <a:solidFill>
                  <a:schemeClr val="accent6"/>
                </a:solidFill>
              </a:rPr>
              <a:t>    }</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250942958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A0A60-8059-2B0D-9191-4F3F9264A7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30F1ED-2B9A-530C-E4C8-7793F2CE85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6946B8-A11D-CF02-4439-D74B410608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B34655-50DC-D96C-B1D8-B424E44C5250}"/>
              </a:ext>
            </a:extLst>
          </p:cNvPr>
          <p:cNvGraphicFramePr/>
          <p:nvPr>
            <p:extLst>
              <p:ext uri="{D42A27DB-BD31-4B8C-83A1-F6EECF244321}">
                <p14:modId xmlns:p14="http://schemas.microsoft.com/office/powerpoint/2010/main" val="535371383"/>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DD7293E-FD18-9A35-653C-C948D7C75B9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F980AA-42A0-6E99-C283-28EADBF1A8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3930E6-0E78-E6B8-42D7-82E6C8A72F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27CD49-FBB8-C248-7FDC-61BF6A8423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0E493DB-BA41-FCD2-A9F9-311DE1B1C0D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0D7F741-2EA3-CA88-B229-2E8C10680628}"/>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129E811-4BF5-7D1F-1EA0-CB683F7D603B}"/>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Good (separate active data → branch removed):</a:t>
            </a:r>
          </a:p>
          <a:p>
            <a:pPr marL="12700" marR="5080"/>
            <a:r>
              <a:rPr lang="en-US" sz="1800" kern="0" spc="-220" dirty="0">
                <a:solidFill>
                  <a:schemeClr val="accent6"/>
                </a:solidFill>
              </a:rPr>
              <a:t>int </a:t>
            </a:r>
            <a:r>
              <a:rPr lang="en-US" sz="1800" kern="0" spc="-220" dirty="0" err="1">
                <a:solidFill>
                  <a:schemeClr val="accent6"/>
                </a:solidFill>
              </a:rPr>
              <a:t>aliveCount</a:t>
            </a:r>
            <a:r>
              <a:rPr lang="en-US" sz="1800" kern="0" spc="-220" dirty="0">
                <a:solidFill>
                  <a:schemeClr val="accent6"/>
                </a:solidFill>
              </a:rPr>
              <a:t> = </a:t>
            </a:r>
            <a:r>
              <a:rPr lang="en-US" sz="1800" kern="0" spc="-220" dirty="0" err="1">
                <a:solidFill>
                  <a:schemeClr val="accent6"/>
                </a:solidFill>
              </a:rPr>
              <a:t>PackAlive</a:t>
            </a:r>
            <a:r>
              <a:rPr lang="en-US" sz="1800" kern="0" spc="-220" dirty="0">
                <a:solidFill>
                  <a:schemeClr val="accent6"/>
                </a:solidFill>
              </a:rPr>
              <a:t>(alive, indices); // tight </a:t>
            </a:r>
            <a:r>
              <a:rPr lang="en-US" sz="1800" kern="0" spc="-220" dirty="0" err="1">
                <a:solidFill>
                  <a:schemeClr val="accent6"/>
                </a:solidFill>
              </a:rPr>
              <a:t>SoA</a:t>
            </a:r>
            <a:r>
              <a:rPr lang="en-US" sz="1800" kern="0" spc="-220" dirty="0">
                <a:solidFill>
                  <a:schemeClr val="accent6"/>
                </a:solidFill>
              </a:rPr>
              <a:t> packing</a:t>
            </a:r>
          </a:p>
          <a:p>
            <a:pPr marL="12700" marR="5080"/>
            <a:r>
              <a:rPr lang="en-US" sz="1800" kern="0" spc="-220" dirty="0">
                <a:solidFill>
                  <a:schemeClr val="accent6"/>
                </a:solidFill>
              </a:rPr>
              <a:t>for (int k = 0; k &lt; </a:t>
            </a:r>
            <a:r>
              <a:rPr lang="en-US" sz="1800" kern="0" spc="-220" dirty="0" err="1">
                <a:solidFill>
                  <a:schemeClr val="accent6"/>
                </a:solidFill>
              </a:rPr>
              <a:t>aliveCount</a:t>
            </a:r>
            <a:r>
              <a:rPr lang="en-US" sz="1800" kern="0" spc="-220" dirty="0">
                <a:solidFill>
                  <a:schemeClr val="accent6"/>
                </a:solidFill>
              </a:rPr>
              <a:t>; k++)</a:t>
            </a:r>
          </a:p>
          <a:p>
            <a:pPr marL="12700" marR="5080"/>
            <a:r>
              <a:rPr lang="en-US" sz="1800" kern="0" spc="-220" dirty="0">
                <a:solidFill>
                  <a:schemeClr val="accent6"/>
                </a:solidFill>
              </a:rPr>
              <a:t>{</a:t>
            </a:r>
          </a:p>
          <a:p>
            <a:pPr marL="12700" marR="5080"/>
            <a:r>
              <a:rPr lang="en-US" sz="1800" kern="0" spc="-220" dirty="0">
                <a:solidFill>
                  <a:schemeClr val="accent6"/>
                </a:solidFill>
              </a:rPr>
              <a:t>    int </a:t>
            </a:r>
            <a:r>
              <a:rPr lang="en-US" sz="1800" kern="0" spc="-220" dirty="0" err="1">
                <a:solidFill>
                  <a:schemeClr val="accent6"/>
                </a:solidFill>
              </a:rPr>
              <a:t>i</a:t>
            </a:r>
            <a:r>
              <a:rPr lang="en-US" sz="1800" kern="0" spc="-220" dirty="0">
                <a:solidFill>
                  <a:schemeClr val="accent6"/>
                </a:solidFill>
              </a:rPr>
              <a:t> = indices[k];</a:t>
            </a:r>
          </a:p>
          <a:p>
            <a:pPr marL="12700" marR="5080"/>
            <a:r>
              <a:rPr lang="en-US" sz="1800" kern="0" spc="-220" dirty="0">
                <a:solidFill>
                  <a:schemeClr val="accent6"/>
                </a:solidFill>
              </a:rPr>
              <a:t>    health[</a:t>
            </a:r>
            <a:r>
              <a:rPr lang="en-US" sz="1800" kern="0" spc="-220" dirty="0" err="1">
                <a:solidFill>
                  <a:schemeClr val="accent6"/>
                </a:solidFill>
              </a:rPr>
              <a:t>i</a:t>
            </a:r>
            <a:r>
              <a:rPr lang="en-US" sz="1800" kern="0" spc="-220" dirty="0">
                <a:solidFill>
                  <a:schemeClr val="accent6"/>
                </a:solidFill>
              </a:rPr>
              <a:t>] -= damage; // no branch → CPU pipeline 100% efficient</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2"/>
                </a:solidFill>
              </a:rPr>
              <a:t>5. Multithreading &amp; False Sharing</a:t>
            </a:r>
          </a:p>
          <a:p>
            <a:pPr marL="12700" marR="5080"/>
            <a:r>
              <a:rPr lang="en-US" sz="1800" kern="0" spc="-220" dirty="0">
                <a:solidFill>
                  <a:schemeClr val="accent6"/>
                </a:solidFill>
              </a:rPr>
              <a:t>False Sharing</a:t>
            </a:r>
          </a:p>
          <a:p>
            <a:pPr marL="12700" marR="5080"/>
            <a:r>
              <a:rPr lang="en-US" sz="1800" kern="0" spc="-220" dirty="0">
                <a:solidFill>
                  <a:schemeClr val="accent6"/>
                </a:solidFill>
              </a:rPr>
              <a:t>Occurs when two threads modify different variables but same cache line.</a:t>
            </a:r>
          </a:p>
          <a:p>
            <a:pPr marL="12700" marR="5080"/>
            <a:r>
              <a:rPr lang="en-US" sz="1800" kern="0" spc="-220" dirty="0">
                <a:solidFill>
                  <a:schemeClr val="accent6"/>
                </a:solidFill>
              </a:rPr>
              <a:t>struct </a:t>
            </a:r>
            <a:r>
              <a:rPr lang="en-US" sz="1800" kern="0" spc="-220" dirty="0" err="1">
                <a:solidFill>
                  <a:schemeClr val="accent6"/>
                </a:solidFill>
              </a:rPr>
              <a:t>WorkItem</a:t>
            </a:r>
            <a:r>
              <a:rPr lang="en-US" sz="1800" kern="0" spc="-220" dirty="0">
                <a:solidFill>
                  <a:schemeClr val="accent6"/>
                </a:solidFill>
              </a:rPr>
              <a:t> { public long A; public long B; } // Danger</a:t>
            </a:r>
          </a:p>
          <a:p>
            <a:pPr marL="12700" marR="5080"/>
            <a:r>
              <a:rPr lang="en-US" sz="1800" kern="0" spc="-220" dirty="0">
                <a:solidFill>
                  <a:schemeClr val="accent6"/>
                </a:solidFill>
              </a:rPr>
              <a:t>Fix by aligning each thread’s data to cache line size:</a:t>
            </a:r>
          </a:p>
          <a:p>
            <a:pPr marL="12700" marR="5080"/>
            <a:r>
              <a:rPr lang="en-US" sz="1800" kern="0" spc="-220" dirty="0">
                <a:solidFill>
                  <a:schemeClr val="accent6"/>
                </a:solidFill>
              </a:rPr>
              <a:t>[</a:t>
            </a:r>
            <a:r>
              <a:rPr lang="en-US" sz="1800" kern="0" spc="-220" dirty="0" err="1">
                <a:solidFill>
                  <a:schemeClr val="accent6"/>
                </a:solidFill>
              </a:rPr>
              <a:t>StructLayout</a:t>
            </a:r>
            <a:r>
              <a:rPr lang="en-US" sz="1800" kern="0" spc="-220" dirty="0">
                <a:solidFill>
                  <a:schemeClr val="accent6"/>
                </a:solidFill>
              </a:rPr>
              <a:t>(</a:t>
            </a:r>
            <a:r>
              <a:rPr lang="en-US" sz="1800" kern="0" spc="-220" dirty="0" err="1">
                <a:solidFill>
                  <a:schemeClr val="accent6"/>
                </a:solidFill>
              </a:rPr>
              <a:t>LayoutKind.Explicit</a:t>
            </a:r>
            <a:r>
              <a:rPr lang="en-US" sz="1800" kern="0" spc="-220" dirty="0">
                <a:solidFill>
                  <a:schemeClr val="accent6"/>
                </a:solidFill>
              </a:rPr>
              <a:t>, Size = 64)] // &lt;-- padded to cache line</a:t>
            </a:r>
          </a:p>
          <a:p>
            <a:pPr marL="12700" marR="5080"/>
            <a:r>
              <a:rPr lang="en-US" sz="1800" kern="0" spc="-220" dirty="0">
                <a:solidFill>
                  <a:schemeClr val="accent6"/>
                </a:solidFill>
              </a:rPr>
              <a:t>struct </a:t>
            </a:r>
            <a:r>
              <a:rPr lang="en-US" sz="1800" kern="0" spc="-220" dirty="0" err="1">
                <a:solidFill>
                  <a:schemeClr val="accent6"/>
                </a:solidFill>
              </a:rPr>
              <a:t>CacheLinePaddedLong</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FieldOffset</a:t>
            </a:r>
            <a:r>
              <a:rPr lang="en-US" sz="1800" kern="0" spc="-220" dirty="0">
                <a:solidFill>
                  <a:schemeClr val="accent6"/>
                </a:solidFill>
              </a:rPr>
              <a:t>(0)]</a:t>
            </a:r>
          </a:p>
          <a:p>
            <a:pPr marL="12700" marR="5080"/>
            <a:r>
              <a:rPr lang="en-US" sz="1800" kern="0" spc="-220" dirty="0">
                <a:solidFill>
                  <a:schemeClr val="accent6"/>
                </a:solidFill>
              </a:rPr>
              <a:t>    public long Value;</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362351545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15EA7-B8DA-7DE1-9D39-F667113E93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290956-AE1E-FD68-EC0C-4031030BCD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D5495E-2A6A-796E-2D31-02F1B61F6D4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4BA82B-7C8A-D441-6152-72AD6AB7A349}"/>
              </a:ext>
            </a:extLst>
          </p:cNvPr>
          <p:cNvGraphicFramePr/>
          <p:nvPr>
            <p:extLst>
              <p:ext uri="{D42A27DB-BD31-4B8C-83A1-F6EECF244321}">
                <p14:modId xmlns:p14="http://schemas.microsoft.com/office/powerpoint/2010/main" val="3825543998"/>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AFA71CB-68CD-55BD-4F42-BF243F917E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9E77DC-0C09-3730-7162-D60845DBE00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415A39-9A44-DC9D-26DC-6EF70177F2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8F7AF4-1086-1503-5FA8-C9DA4F9EA2F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809ABA9-C0EF-DCC1-A117-0ED46D5496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D5742DB-8256-E2C6-212F-5D1A4451ACF3}"/>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E7D33F4B-E50F-6667-2325-165F3A4908F2}"/>
              </a:ext>
            </a:extLst>
          </p:cNvPr>
          <p:cNvSpPr txBox="1">
            <a:spLocks/>
          </p:cNvSpPr>
          <p:nvPr/>
        </p:nvSpPr>
        <p:spPr>
          <a:xfrm>
            <a:off x="228600"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6. The Real Pattern: The “Hot Loop”</a:t>
            </a:r>
          </a:p>
          <a:p>
            <a:pPr marL="12700" marR="5080"/>
            <a:r>
              <a:rPr lang="en-US" sz="1400" kern="0" spc="-220" dirty="0">
                <a:solidFill>
                  <a:schemeClr val="accent6"/>
                </a:solidFill>
              </a:rPr>
              <a:t>Your performance is determined by one core loop.</a:t>
            </a:r>
          </a:p>
          <a:p>
            <a:pPr marL="12700" marR="5080"/>
            <a:r>
              <a:rPr lang="en-US" sz="1400" kern="0" spc="-220" dirty="0">
                <a:solidFill>
                  <a:schemeClr val="accent6"/>
                </a:solidFill>
              </a:rPr>
              <a:t>Example: Moving 100k particles / frame</a:t>
            </a:r>
          </a:p>
          <a:p>
            <a:pPr marL="12700" marR="5080"/>
            <a:r>
              <a:rPr lang="en-US" sz="1400" kern="0" spc="-220" dirty="0">
                <a:solidFill>
                  <a:schemeClr val="accent6"/>
                </a:solidFill>
              </a:rPr>
              <a:t>OOP → scattered heap → ~</a:t>
            </a:r>
            <a:r>
              <a:rPr lang="en-US" sz="1400" kern="0" spc="-220" dirty="0" err="1">
                <a:solidFill>
                  <a:schemeClr val="accent6"/>
                </a:solidFill>
              </a:rPr>
              <a:t>ms</a:t>
            </a:r>
            <a:r>
              <a:rPr lang="en-US" sz="1400" kern="0" spc="-220" dirty="0">
                <a:solidFill>
                  <a:schemeClr val="accent6"/>
                </a:solidFill>
              </a:rPr>
              <a:t>-level stalls</a:t>
            </a:r>
          </a:p>
          <a:p>
            <a:pPr marL="12700" marR="5080"/>
            <a:r>
              <a:rPr lang="en-US" sz="1400" kern="0" spc="-220" dirty="0">
                <a:solidFill>
                  <a:schemeClr val="accent6"/>
                </a:solidFill>
              </a:rPr>
              <a:t>DOP→ contiguous </a:t>
            </a:r>
            <a:r>
              <a:rPr lang="en-US" sz="1400" kern="0" spc="-220" dirty="0" err="1">
                <a:solidFill>
                  <a:schemeClr val="accent6"/>
                </a:solidFill>
              </a:rPr>
              <a:t>SoA</a:t>
            </a:r>
            <a:r>
              <a:rPr lang="en-US" sz="1400" kern="0" spc="-220" dirty="0">
                <a:solidFill>
                  <a:schemeClr val="accent6"/>
                </a:solidFill>
              </a:rPr>
              <a:t> + SIMD → µs-level throughput</a:t>
            </a:r>
          </a:p>
          <a:p>
            <a:pPr marL="12700" marR="5080"/>
            <a:r>
              <a:rPr lang="en-US" sz="1400" kern="0" spc="-220" dirty="0">
                <a:solidFill>
                  <a:schemeClr val="accent6"/>
                </a:solidFill>
              </a:rPr>
              <a:t>public static unsafe void Update(float* </a:t>
            </a:r>
            <a:r>
              <a:rPr lang="en-US" sz="1400" kern="0" spc="-220" dirty="0" err="1">
                <a:solidFill>
                  <a:schemeClr val="accent6"/>
                </a:solidFill>
              </a:rPr>
              <a:t>posX</a:t>
            </a:r>
            <a:r>
              <a:rPr lang="en-US" sz="1400" kern="0" spc="-220" dirty="0">
                <a:solidFill>
                  <a:schemeClr val="accent6"/>
                </a:solidFill>
              </a:rPr>
              <a:t>, float* </a:t>
            </a:r>
            <a:r>
              <a:rPr lang="en-US" sz="1400" kern="0" spc="-220" dirty="0" err="1">
                <a:solidFill>
                  <a:schemeClr val="accent6"/>
                </a:solidFill>
              </a:rPr>
              <a:t>velX</a:t>
            </a:r>
            <a:r>
              <a:rPr lang="en-US" sz="1400" kern="0" spc="-220" dirty="0">
                <a:solidFill>
                  <a:schemeClr val="accent6"/>
                </a:solidFill>
              </a:rPr>
              <a:t>, int count, float dt)</a:t>
            </a:r>
          </a:p>
          <a:p>
            <a:pPr marL="12700" marR="5080"/>
            <a:r>
              <a:rPr lang="en-US" sz="1400" kern="0" spc="-220" dirty="0">
                <a:solidFill>
                  <a:schemeClr val="accent6"/>
                </a:solidFill>
              </a:rPr>
              <a:t>{</a:t>
            </a:r>
          </a:p>
          <a:p>
            <a:pPr marL="12700" marR="5080"/>
            <a:r>
              <a:rPr lang="en-US" sz="1400" kern="0" spc="-220" dirty="0">
                <a:solidFill>
                  <a:schemeClr val="accent6"/>
                </a:solidFill>
              </a:rPr>
              <a:t>    int </a:t>
            </a:r>
            <a:r>
              <a:rPr lang="en-US" sz="1400" kern="0" spc="-220" dirty="0" err="1">
                <a:solidFill>
                  <a:schemeClr val="accent6"/>
                </a:solidFill>
              </a:rPr>
              <a:t>i</a:t>
            </a:r>
            <a:r>
              <a:rPr lang="en-US" sz="1400" kern="0" spc="-220" dirty="0">
                <a:solidFill>
                  <a:schemeClr val="accent6"/>
                </a:solidFill>
              </a:rPr>
              <a:t> = 0;</a:t>
            </a:r>
          </a:p>
          <a:p>
            <a:pPr marL="12700" marR="5080"/>
            <a:r>
              <a:rPr lang="en-US" sz="1400" kern="0" spc="-220" dirty="0">
                <a:solidFill>
                  <a:schemeClr val="accent6"/>
                </a:solidFill>
              </a:rPr>
              <a:t>    int </a:t>
            </a:r>
            <a:r>
              <a:rPr lang="en-US" sz="1400" kern="0" spc="-220" dirty="0" err="1">
                <a:solidFill>
                  <a:schemeClr val="accent6"/>
                </a:solidFill>
              </a:rPr>
              <a:t>simdCount</a:t>
            </a:r>
            <a:r>
              <a:rPr lang="en-US" sz="1400" kern="0" spc="-220" dirty="0">
                <a:solidFill>
                  <a:schemeClr val="accent6"/>
                </a:solidFill>
              </a:rPr>
              <a:t> = count - (count % Vector&lt;float&gt;.Count);</a:t>
            </a:r>
          </a:p>
          <a:p>
            <a:pPr marL="12700" marR="5080"/>
            <a:endParaRPr lang="en-US" sz="1400" kern="0" spc="-220" dirty="0">
              <a:solidFill>
                <a:schemeClr val="accent6"/>
              </a:solidFill>
            </a:endParaRPr>
          </a:p>
          <a:p>
            <a:pPr marL="12700" marR="5080"/>
            <a:r>
              <a:rPr lang="en-US" sz="1400" kern="0" spc="-220" dirty="0">
                <a:solidFill>
                  <a:schemeClr val="accent6"/>
                </a:solidFill>
              </a:rPr>
              <a:t>    var </a:t>
            </a:r>
            <a:r>
              <a:rPr lang="en-US" sz="1400" kern="0" spc="-220" dirty="0" err="1">
                <a:solidFill>
                  <a:schemeClr val="accent6"/>
                </a:solidFill>
              </a:rPr>
              <a:t>vdt</a:t>
            </a:r>
            <a:r>
              <a:rPr lang="en-US" sz="1400" kern="0" spc="-220" dirty="0">
                <a:solidFill>
                  <a:schemeClr val="accent6"/>
                </a:solidFill>
              </a:rPr>
              <a:t> = new Vector&lt;float&gt;(dt);</a:t>
            </a:r>
          </a:p>
          <a:p>
            <a:pPr marL="12700" marR="5080"/>
            <a:endParaRPr lang="en-US" sz="1400" kern="0" spc="-220" dirty="0">
              <a:solidFill>
                <a:schemeClr val="accent6"/>
              </a:solidFill>
            </a:endParaRPr>
          </a:p>
          <a:p>
            <a:pPr marL="12700" marR="5080"/>
            <a:r>
              <a:rPr lang="en-US" sz="1400" kern="0" spc="-220" dirty="0">
                <a:solidFill>
                  <a:schemeClr val="accent6"/>
                </a:solidFill>
              </a:rPr>
              <a:t>    for (; </a:t>
            </a:r>
            <a:r>
              <a:rPr lang="en-US" sz="1400" kern="0" spc="-220" dirty="0" err="1">
                <a:solidFill>
                  <a:schemeClr val="accent6"/>
                </a:solidFill>
              </a:rPr>
              <a:t>i</a:t>
            </a:r>
            <a:r>
              <a:rPr lang="en-US" sz="1400" kern="0" spc="-220" dirty="0">
                <a:solidFill>
                  <a:schemeClr val="accent6"/>
                </a:solidFill>
              </a:rPr>
              <a:t> &lt; </a:t>
            </a:r>
            <a:r>
              <a:rPr lang="en-US" sz="1400" kern="0" spc="-220" dirty="0" err="1">
                <a:solidFill>
                  <a:schemeClr val="accent6"/>
                </a:solidFill>
              </a:rPr>
              <a:t>simdCount</a:t>
            </a:r>
            <a:r>
              <a:rPr lang="en-US" sz="1400" kern="0" spc="-220" dirty="0">
                <a:solidFill>
                  <a:schemeClr val="accent6"/>
                </a:solidFill>
              </a:rPr>
              <a:t>; </a:t>
            </a:r>
            <a:r>
              <a:rPr lang="en-US" sz="1400" kern="0" spc="-220" dirty="0" err="1">
                <a:solidFill>
                  <a:schemeClr val="accent6"/>
                </a:solidFill>
              </a:rPr>
              <a:t>i</a:t>
            </a:r>
            <a:r>
              <a:rPr lang="en-US" sz="1400" kern="0" spc="-220" dirty="0">
                <a:solidFill>
                  <a:schemeClr val="accent6"/>
                </a:solidFill>
              </a:rPr>
              <a:t> += Vector&lt;float&gt;.Count)</a:t>
            </a:r>
          </a:p>
          <a:p>
            <a:pPr marL="12700" marR="5080"/>
            <a:r>
              <a:rPr lang="en-US" sz="1400" kern="0" spc="-220" dirty="0">
                <a:solidFill>
                  <a:schemeClr val="accent6"/>
                </a:solidFill>
              </a:rPr>
              <a:t>    {</a:t>
            </a:r>
          </a:p>
          <a:p>
            <a:pPr marL="12700" marR="5080"/>
            <a:r>
              <a:rPr lang="en-US" sz="1400" kern="0" spc="-220" dirty="0">
                <a:solidFill>
                  <a:schemeClr val="accent6"/>
                </a:solidFill>
              </a:rPr>
              <a:t>        var </a:t>
            </a:r>
            <a:r>
              <a:rPr lang="en-US" sz="1400" kern="0" spc="-220" dirty="0" err="1">
                <a:solidFill>
                  <a:schemeClr val="accent6"/>
                </a:solidFill>
              </a:rPr>
              <a:t>px</a:t>
            </a:r>
            <a:r>
              <a:rPr lang="en-US" sz="1400" kern="0" spc="-220" dirty="0">
                <a:solidFill>
                  <a:schemeClr val="accent6"/>
                </a:solidFill>
              </a:rPr>
              <a:t> = new Vector&lt;float&gt;(</a:t>
            </a:r>
            <a:r>
              <a:rPr lang="en-US" sz="1400" kern="0" spc="-220" dirty="0" err="1">
                <a:solidFill>
                  <a:schemeClr val="accent6"/>
                </a:solidFill>
              </a:rPr>
              <a:t>posX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var </a:t>
            </a:r>
            <a:r>
              <a:rPr lang="en-US" sz="1400" kern="0" spc="-220" dirty="0" err="1">
                <a:solidFill>
                  <a:schemeClr val="accent6"/>
                </a:solidFill>
              </a:rPr>
              <a:t>vx</a:t>
            </a:r>
            <a:r>
              <a:rPr lang="en-US" sz="1400" kern="0" spc="-220" dirty="0">
                <a:solidFill>
                  <a:schemeClr val="accent6"/>
                </a:solidFill>
              </a:rPr>
              <a:t> = new Vector&lt;float&gt;(</a:t>
            </a:r>
            <a:r>
              <a:rPr lang="en-US" sz="1400" kern="0" spc="-220" dirty="0" err="1">
                <a:solidFill>
                  <a:schemeClr val="accent6"/>
                </a:solidFill>
              </a:rPr>
              <a:t>velX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px</a:t>
            </a:r>
            <a:r>
              <a:rPr lang="en-US" sz="1400" kern="0" spc="-220" dirty="0">
                <a:solidFill>
                  <a:schemeClr val="accent6"/>
                </a:solidFill>
              </a:rPr>
              <a:t> += </a:t>
            </a:r>
            <a:r>
              <a:rPr lang="en-US" sz="1400" kern="0" spc="-220" dirty="0" err="1">
                <a:solidFill>
                  <a:schemeClr val="accent6"/>
                </a:solidFill>
              </a:rPr>
              <a:t>vx</a:t>
            </a:r>
            <a:r>
              <a:rPr lang="en-US" sz="1400" kern="0" spc="-220" dirty="0">
                <a:solidFill>
                  <a:schemeClr val="accent6"/>
                </a:solidFill>
              </a:rPr>
              <a:t> * </a:t>
            </a:r>
            <a:r>
              <a:rPr lang="en-US" sz="1400" kern="0" spc="-220" dirty="0" err="1">
                <a:solidFill>
                  <a:schemeClr val="accent6"/>
                </a:solidFill>
              </a:rPr>
              <a:t>vdt</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px.CopyTo</a:t>
            </a:r>
            <a:r>
              <a:rPr lang="en-US" sz="1400" kern="0" spc="-220" dirty="0">
                <a:solidFill>
                  <a:schemeClr val="accent6"/>
                </a:solidFill>
              </a:rPr>
              <a:t>(</a:t>
            </a:r>
            <a:r>
              <a:rPr lang="en-US" sz="1400" kern="0" spc="-220" dirty="0" err="1">
                <a:solidFill>
                  <a:schemeClr val="accent6"/>
                </a:solidFill>
              </a:rPr>
              <a:t>posX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p>
          <a:p>
            <a:pPr marL="12700" marR="5080"/>
            <a:endParaRPr lang="en-US" sz="1400" kern="0" spc="-220" dirty="0">
              <a:solidFill>
                <a:schemeClr val="accent6"/>
              </a:solidFill>
            </a:endParaRPr>
          </a:p>
          <a:p>
            <a:pPr marL="12700" marR="5080"/>
            <a:r>
              <a:rPr lang="en-US" sz="1400" kern="0" spc="-220" dirty="0">
                <a:solidFill>
                  <a:schemeClr val="accent6"/>
                </a:solidFill>
              </a:rPr>
              <a:t>    for (; </a:t>
            </a:r>
            <a:r>
              <a:rPr lang="en-US" sz="1400" kern="0" spc="-220" dirty="0" err="1">
                <a:solidFill>
                  <a:schemeClr val="accent6"/>
                </a:solidFill>
              </a:rPr>
              <a:t>i</a:t>
            </a:r>
            <a:r>
              <a:rPr lang="en-US" sz="1400" kern="0" spc="-220" dirty="0">
                <a:solidFill>
                  <a:schemeClr val="accent6"/>
                </a:solidFill>
              </a:rPr>
              <a:t> &lt; count;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posX</a:t>
            </a:r>
            <a:r>
              <a:rPr lang="en-US" sz="1400" kern="0" spc="-220" dirty="0">
                <a:solidFill>
                  <a:schemeClr val="accent6"/>
                </a:solidFill>
              </a:rPr>
              <a:t>[</a:t>
            </a:r>
            <a:r>
              <a:rPr lang="en-US" sz="1400" kern="0" spc="-220" dirty="0" err="1">
                <a:solidFill>
                  <a:schemeClr val="accent6"/>
                </a:solidFill>
              </a:rPr>
              <a:t>i</a:t>
            </a:r>
            <a:r>
              <a:rPr lang="en-US" sz="1400" kern="0" spc="-220" dirty="0">
                <a:solidFill>
                  <a:schemeClr val="accent6"/>
                </a:solidFill>
              </a:rPr>
              <a:t>] += </a:t>
            </a:r>
            <a:r>
              <a:rPr lang="en-US" sz="1400" kern="0" spc="-220" dirty="0" err="1">
                <a:solidFill>
                  <a:schemeClr val="accent6"/>
                </a:solidFill>
              </a:rPr>
              <a:t>velX</a:t>
            </a:r>
            <a:r>
              <a:rPr lang="en-US" sz="1400" kern="0" spc="-220" dirty="0">
                <a:solidFill>
                  <a:schemeClr val="accent6"/>
                </a:solidFill>
              </a:rPr>
              <a:t>[</a:t>
            </a:r>
            <a:r>
              <a:rPr lang="en-US" sz="1400" kern="0" spc="-220" dirty="0" err="1">
                <a:solidFill>
                  <a:schemeClr val="accent6"/>
                </a:solidFill>
              </a:rPr>
              <a:t>i</a:t>
            </a:r>
            <a:r>
              <a:rPr lang="en-US" sz="1400" kern="0" spc="-220" dirty="0">
                <a:solidFill>
                  <a:schemeClr val="accent6"/>
                </a:solidFill>
              </a:rPr>
              <a:t>] * dt;</a:t>
            </a:r>
          </a:p>
          <a:p>
            <a:pPr marL="12700" marR="5080"/>
            <a:r>
              <a:rPr lang="en-US" sz="1400" kern="0" spc="-220" dirty="0">
                <a:solidFill>
                  <a:schemeClr val="accent6"/>
                </a:solidFill>
              </a:rPr>
              <a:t>}</a:t>
            </a:r>
          </a:p>
          <a:p>
            <a:pPr marL="12700" marR="5080"/>
            <a:r>
              <a:rPr lang="en-US" sz="1400" kern="0" spc="-220" dirty="0">
                <a:solidFill>
                  <a:schemeClr val="accent6"/>
                </a:solidFill>
              </a:rPr>
              <a:t>This is basically what Unity Burst does automatically.</a:t>
            </a:r>
          </a:p>
        </p:txBody>
      </p:sp>
    </p:spTree>
    <p:extLst>
      <p:ext uri="{BB962C8B-B14F-4D97-AF65-F5344CB8AC3E}">
        <p14:creationId xmlns:p14="http://schemas.microsoft.com/office/powerpoint/2010/main" val="303343893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E9537-2B83-8E5E-DE1E-36A494E0E1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6A2278-CA1B-90CF-8890-6BFF0928143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831BF8-AF52-33EA-0F71-E6E1F40546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00092-784C-F1BE-B396-D6715C7E99AD}"/>
              </a:ext>
            </a:extLst>
          </p:cNvPr>
          <p:cNvGraphicFramePr/>
          <p:nvPr>
            <p:extLst>
              <p:ext uri="{D42A27DB-BD31-4B8C-83A1-F6EECF244321}">
                <p14:modId xmlns:p14="http://schemas.microsoft.com/office/powerpoint/2010/main" val="429082979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B3EE92-8EC1-52D9-1591-748971EC43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7C37985-351C-4996-168E-DA17A8A9C3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817B41-6036-9355-24FA-1E1AB1D1FE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9DF974-59A0-7B78-1CDE-E583889E0D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ED50551-5BF5-2865-E6BC-FB2E3BF7EC4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2660E40-B59C-7E1C-584A-040A83FC54E3}"/>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7A614567-643B-FD9B-0598-2C1A3CBD50BF}"/>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7. Entity Component System in Pure C# (No Unity)</a:t>
            </a:r>
          </a:p>
          <a:p>
            <a:pPr marL="12700" marR="5080"/>
            <a:r>
              <a:rPr lang="en-US" sz="1800" kern="0" spc="-220" dirty="0">
                <a:solidFill>
                  <a:schemeClr val="accent6"/>
                </a:solidFill>
              </a:rPr>
              <a:t>struct Position { public float X, Y; }</a:t>
            </a:r>
          </a:p>
          <a:p>
            <a:pPr marL="12700" marR="5080"/>
            <a:r>
              <a:rPr lang="en-US" sz="1800" kern="0" spc="-220" dirty="0">
                <a:solidFill>
                  <a:schemeClr val="accent6"/>
                </a:solidFill>
              </a:rPr>
              <a:t>struct Velocity { public float X, Y; }</a:t>
            </a:r>
          </a:p>
          <a:p>
            <a:pPr marL="12700" marR="5080"/>
            <a:endParaRPr lang="en-US" sz="1800" kern="0" spc="-220" dirty="0">
              <a:solidFill>
                <a:schemeClr val="accent6"/>
              </a:solidFill>
            </a:endParaRPr>
          </a:p>
          <a:p>
            <a:pPr marL="12700" marR="5080"/>
            <a:r>
              <a:rPr lang="en-US" sz="1800" kern="0" spc="-220" dirty="0">
                <a:solidFill>
                  <a:schemeClr val="accent6"/>
                </a:solidFill>
              </a:rPr>
              <a:t>Position[] pos;</a:t>
            </a:r>
          </a:p>
          <a:p>
            <a:pPr marL="12700" marR="5080"/>
            <a:r>
              <a:rPr lang="en-US" sz="1800" kern="0" spc="-220" dirty="0">
                <a:solidFill>
                  <a:schemeClr val="accent6"/>
                </a:solidFill>
              </a:rPr>
              <a:t>Velocity[] vel;</a:t>
            </a:r>
          </a:p>
          <a:p>
            <a:pPr marL="12700" marR="5080"/>
            <a:endParaRPr lang="en-US" sz="1800" kern="0" spc="-220" dirty="0">
              <a:solidFill>
                <a:schemeClr val="accent6"/>
              </a:solidFill>
            </a:endParaRPr>
          </a:p>
          <a:p>
            <a:pPr marL="12700" marR="5080"/>
            <a:r>
              <a:rPr lang="en-US" sz="1800" kern="0" spc="-220" dirty="0">
                <a:solidFill>
                  <a:schemeClr val="accent6"/>
                </a:solidFill>
              </a:rPr>
              <a:t>// Systems operate on "archetype-matched" arrays.</a:t>
            </a:r>
          </a:p>
          <a:p>
            <a:pPr marL="12700" marR="5080"/>
            <a:r>
              <a:rPr lang="en-US" sz="1800" kern="0" spc="-220" dirty="0">
                <a:solidFill>
                  <a:schemeClr val="accent6"/>
                </a:solidFill>
              </a:rPr>
              <a:t>// No object pointers. No indirection. Pure </a:t>
            </a:r>
            <a:r>
              <a:rPr lang="en-US" sz="1800" kern="0" spc="-220" dirty="0" err="1">
                <a:solidFill>
                  <a:schemeClr val="accent6"/>
                </a:solidFill>
              </a:rPr>
              <a:t>SoA</a:t>
            </a:r>
            <a:r>
              <a:rPr lang="en-US" sz="1800" kern="0" spc="-220" dirty="0">
                <a:solidFill>
                  <a:schemeClr val="accent6"/>
                </a:solidFill>
              </a:rPr>
              <a:t> access.</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pos.Length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].X += vel[</a:t>
            </a:r>
            <a:r>
              <a:rPr lang="en-US" sz="1800" kern="0" spc="-220" dirty="0" err="1">
                <a:solidFill>
                  <a:schemeClr val="accent6"/>
                </a:solidFill>
              </a:rPr>
              <a:t>i</a:t>
            </a:r>
            <a:r>
              <a:rPr lang="en-US" sz="1800" kern="0" spc="-220" dirty="0">
                <a:solidFill>
                  <a:schemeClr val="accent6"/>
                </a:solidFill>
              </a:rPr>
              <a:t>].X;</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].Y += vel[</a:t>
            </a:r>
            <a:r>
              <a:rPr lang="en-US" sz="1800" kern="0" spc="-220" dirty="0" err="1">
                <a:solidFill>
                  <a:schemeClr val="accent6"/>
                </a:solidFill>
              </a:rPr>
              <a:t>i</a:t>
            </a:r>
            <a:r>
              <a:rPr lang="en-US" sz="1800" kern="0" spc="-220" dirty="0">
                <a:solidFill>
                  <a:schemeClr val="accent6"/>
                </a:solidFill>
              </a:rPr>
              <a:t>].Y;</a:t>
            </a:r>
          </a:p>
          <a:p>
            <a:pPr marL="12700" marR="5080"/>
            <a:r>
              <a:rPr lang="en-US" sz="1800" kern="0" spc="-220" dirty="0">
                <a:solidFill>
                  <a:schemeClr val="accent6"/>
                </a:solidFill>
              </a:rPr>
              <a:t>}</a:t>
            </a:r>
          </a:p>
          <a:p>
            <a:pPr marL="12700" marR="5080"/>
            <a:r>
              <a:rPr lang="en-US" sz="1800" kern="0" spc="-220" dirty="0">
                <a:solidFill>
                  <a:schemeClr val="accent6"/>
                </a:solidFill>
              </a:rPr>
              <a:t>This is ECS, but you're not using Unity ECS — just the principles.</a:t>
            </a:r>
          </a:p>
        </p:txBody>
      </p:sp>
    </p:spTree>
    <p:extLst>
      <p:ext uri="{BB962C8B-B14F-4D97-AF65-F5344CB8AC3E}">
        <p14:creationId xmlns:p14="http://schemas.microsoft.com/office/powerpoint/2010/main" val="2528209146"/>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F78A1-E3B8-A52A-B42F-D2C53D68AD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53CAB3-6468-3E74-27F6-51EB3618C6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6A3B66-4524-8D0C-5A90-1CE75BB3EB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C50557-C3EF-5AF2-751A-88BA612D1C5E}"/>
              </a:ext>
            </a:extLst>
          </p:cNvPr>
          <p:cNvGraphicFramePr/>
          <p:nvPr>
            <p:extLst>
              <p:ext uri="{D42A27DB-BD31-4B8C-83A1-F6EECF244321}">
                <p14:modId xmlns:p14="http://schemas.microsoft.com/office/powerpoint/2010/main" val="393002112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8B2FCE-7238-DF03-8BF1-433164E9EEB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61003A-91CA-8832-4098-61540560D7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6E1C90-D2AF-8D06-4E96-D3407EFADF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A6BD1DF-EB01-95F6-57E4-1654536316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E27B933-427A-B3E0-78B8-1FC1F4477AA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5A51F5F-0D33-68AC-136C-65A54B4E36AA}"/>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90831625-C892-6A5A-A464-744C0C17BA45}"/>
              </a:ext>
            </a:extLst>
          </p:cNvPr>
          <p:cNvSpPr txBox="1">
            <a:spLocks/>
          </p:cNvSpPr>
          <p:nvPr/>
        </p:nvSpPr>
        <p:spPr>
          <a:xfrm>
            <a:off x="228600" y="685800"/>
            <a:ext cx="8624937" cy="36009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8. When to Not Use DOP</a:t>
            </a:r>
          </a:p>
          <a:p>
            <a:pPr marL="12700" marR="5080"/>
            <a:r>
              <a:rPr lang="en-US" sz="1800" kern="0" spc="-220" dirty="0">
                <a:solidFill>
                  <a:schemeClr val="accent2"/>
                </a:solidFill>
              </a:rPr>
              <a:t>Situation	                                         Verdict</a:t>
            </a:r>
          </a:p>
          <a:p>
            <a:pPr marL="12700" marR="5080"/>
            <a:r>
              <a:rPr lang="en-US" sz="1800" kern="0" spc="-220" dirty="0">
                <a:solidFill>
                  <a:schemeClr val="accent6"/>
                </a:solidFill>
              </a:rPr>
              <a:t>Performance-critical loops	✅ DO DOP</a:t>
            </a:r>
          </a:p>
          <a:p>
            <a:pPr marL="12700" marR="5080"/>
            <a:r>
              <a:rPr lang="en-US" sz="1800" kern="0" spc="-220" dirty="0">
                <a:solidFill>
                  <a:schemeClr val="accent6"/>
                </a:solidFill>
              </a:rPr>
              <a:t>UIs, APIs, business logic	❌ Stick to OOP</a:t>
            </a:r>
          </a:p>
          <a:p>
            <a:pPr marL="12700" marR="5080"/>
            <a:r>
              <a:rPr lang="en-US" sz="1800" kern="0" spc="-220" dirty="0">
                <a:solidFill>
                  <a:schemeClr val="accent6"/>
                </a:solidFill>
              </a:rPr>
              <a:t>Hybrid systems	                     ✅ Mix them: OOP externally, DOP internally</a:t>
            </a:r>
          </a:p>
          <a:p>
            <a:pPr marL="12700" marR="5080"/>
            <a:endParaRPr lang="en-US" sz="1800" kern="0" spc="-220" dirty="0">
              <a:solidFill>
                <a:schemeClr val="accent6"/>
              </a:solidFill>
            </a:endParaRPr>
          </a:p>
          <a:p>
            <a:pPr marL="12700" marR="5080"/>
            <a:r>
              <a:rPr lang="en-US" sz="1800" kern="0" spc="-220" dirty="0">
                <a:solidFill>
                  <a:schemeClr val="accent2"/>
                </a:solidFill>
              </a:rPr>
              <a:t>How to Practice (The Real Skill Path)</a:t>
            </a:r>
          </a:p>
          <a:p>
            <a:pPr marL="12700" marR="5080"/>
            <a:r>
              <a:rPr lang="en-US" sz="1800" kern="0" spc="-220" dirty="0">
                <a:solidFill>
                  <a:schemeClr val="accent2"/>
                </a:solidFill>
              </a:rPr>
              <a:t>Level	Task	                                                            Target Skills Developed</a:t>
            </a:r>
          </a:p>
          <a:p>
            <a:pPr marL="12700" marR="5080"/>
            <a:r>
              <a:rPr lang="en-US" sz="1800" kern="0" spc="-220" dirty="0">
                <a:solidFill>
                  <a:schemeClr val="accent6"/>
                </a:solidFill>
              </a:rPr>
              <a:t>1	Convert </a:t>
            </a:r>
            <a:r>
              <a:rPr lang="en-US" sz="1800" kern="0" spc="-220" dirty="0" err="1">
                <a:solidFill>
                  <a:schemeClr val="accent6"/>
                </a:solidFill>
              </a:rPr>
              <a:t>AoS</a:t>
            </a:r>
            <a:r>
              <a:rPr lang="en-US" sz="1800" kern="0" spc="-220" dirty="0">
                <a:solidFill>
                  <a:schemeClr val="accent6"/>
                </a:solidFill>
              </a:rPr>
              <a:t> → </a:t>
            </a:r>
            <a:r>
              <a:rPr lang="en-US" sz="1800" kern="0" spc="-220" dirty="0" err="1">
                <a:solidFill>
                  <a:schemeClr val="accent6"/>
                </a:solidFill>
              </a:rPr>
              <a:t>SoA</a:t>
            </a:r>
            <a:r>
              <a:rPr lang="en-US" sz="1800" kern="0" spc="-220" dirty="0">
                <a:solidFill>
                  <a:schemeClr val="accent6"/>
                </a:solidFill>
              </a:rPr>
              <a:t>	                                         Memory layout awareness</a:t>
            </a:r>
          </a:p>
          <a:p>
            <a:pPr marL="12700" marR="5080"/>
            <a:r>
              <a:rPr lang="en-US" sz="1800" kern="0" spc="-220" dirty="0">
                <a:solidFill>
                  <a:schemeClr val="accent6"/>
                </a:solidFill>
              </a:rPr>
              <a:t>2	Remove branches from core loops	Pipeline efficiency</a:t>
            </a:r>
          </a:p>
          <a:p>
            <a:pPr marL="12700" marR="5080"/>
            <a:r>
              <a:rPr lang="en-US" sz="1800" kern="0" spc="-220" dirty="0">
                <a:solidFill>
                  <a:schemeClr val="accent6"/>
                </a:solidFill>
              </a:rPr>
              <a:t>3	Use Vector&lt;T&gt; and Burst-like patterns	Auto-SIMD recognition</a:t>
            </a:r>
          </a:p>
          <a:p>
            <a:pPr marL="12700" marR="5080"/>
            <a:r>
              <a:rPr lang="en-US" sz="1800" kern="0" spc="-220" dirty="0">
                <a:solidFill>
                  <a:schemeClr val="accent6"/>
                </a:solidFill>
              </a:rPr>
              <a:t>4	Parallelize with no false sharing	Multicore scaling</a:t>
            </a:r>
          </a:p>
          <a:p>
            <a:pPr marL="12700" marR="5080"/>
            <a:r>
              <a:rPr lang="en-US" sz="1800" kern="0" spc="-220" dirty="0">
                <a:solidFill>
                  <a:schemeClr val="accent6"/>
                </a:solidFill>
              </a:rPr>
              <a:t>5	Build a mini ECS framework	                     Data grouping + scheduling</a:t>
            </a:r>
          </a:p>
        </p:txBody>
      </p:sp>
    </p:spTree>
    <p:extLst>
      <p:ext uri="{BB962C8B-B14F-4D97-AF65-F5344CB8AC3E}">
        <p14:creationId xmlns:p14="http://schemas.microsoft.com/office/powerpoint/2010/main" val="369757795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A8380-0190-F061-73A1-F0258668AA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44A7C7-DF9A-ECAA-10F0-C8D0F5B9D8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EF7BEC7-A16A-D5AD-16EC-4F5BA7FBA84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E3978B6-1643-BD54-4C5F-F3E15FA2A6F0}"/>
              </a:ext>
            </a:extLst>
          </p:cNvPr>
          <p:cNvGraphicFramePr/>
          <p:nvPr>
            <p:extLst>
              <p:ext uri="{D42A27DB-BD31-4B8C-83A1-F6EECF244321}">
                <p14:modId xmlns:p14="http://schemas.microsoft.com/office/powerpoint/2010/main" val="85708689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65304E0-4CFD-3473-3517-352FD40CBC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5DAA3A9-5425-E947-3511-23ECA37A9E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76D7E6-F57E-2B5A-58E5-CF26480E0C5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14C3F2-31EE-06D7-0356-A276ABB8AA9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6120FBC-4DBE-E82D-2FCC-D213582C922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DE89086-240B-8826-7601-138AE0AD0E4A}"/>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5226333E-60F4-5C32-7F34-8645E9CE343F}"/>
              </a:ext>
            </a:extLst>
          </p:cNvPr>
          <p:cNvSpPr txBox="1">
            <a:spLocks/>
          </p:cNvSpPr>
          <p:nvPr/>
        </p:nvSpPr>
        <p:spPr>
          <a:xfrm>
            <a:off x="228600" y="685800"/>
            <a:ext cx="8624937" cy="19389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a:t>
            </a:r>
          </a:p>
          <a:p>
            <a:pPr marL="12700" marR="5080"/>
            <a:r>
              <a:rPr lang="en-US" sz="1800" dirty="0">
                <a:hlinkClick r:id="rId7"/>
              </a:rPr>
              <a:t>The Magic of Data-oriented Design (DOD) Programming</a:t>
            </a:r>
            <a:endParaRPr lang="en-US" sz="1800" dirty="0"/>
          </a:p>
          <a:p>
            <a:pPr marL="12700" marR="5080"/>
            <a:r>
              <a:rPr lang="en-US" sz="1800" dirty="0">
                <a:hlinkClick r:id="rId8"/>
              </a:rPr>
              <a:t>Principles of Data-Oriented Programming | </a:t>
            </a:r>
            <a:r>
              <a:rPr lang="en-US" sz="1800" dirty="0" err="1">
                <a:hlinkClick r:id="rId8"/>
              </a:rPr>
              <a:t>Yehonathan</a:t>
            </a:r>
            <a:r>
              <a:rPr lang="en-US" sz="1800" dirty="0">
                <a:hlinkClick r:id="rId8"/>
              </a:rPr>
              <a:t> </a:t>
            </a:r>
            <a:r>
              <a:rPr lang="en-US" sz="1800" dirty="0" err="1">
                <a:hlinkClick r:id="rId8"/>
              </a:rPr>
              <a:t>Sharvit</a:t>
            </a:r>
            <a:endParaRPr lang="en-US" sz="1800" kern="0" spc="-220" dirty="0">
              <a:solidFill>
                <a:schemeClr val="accent2"/>
              </a:solidFill>
            </a:endParaRPr>
          </a:p>
          <a:p>
            <a:pPr marL="12700" marR="5080"/>
            <a:r>
              <a:rPr lang="en-US" sz="1800" dirty="0">
                <a:hlinkClick r:id="rId9"/>
              </a:rPr>
              <a:t>Understand data-oriented design - Unity Learn</a:t>
            </a:r>
            <a:endParaRPr lang="en-US" sz="1800" dirty="0"/>
          </a:p>
          <a:p>
            <a:pPr marL="12700" marR="5080"/>
            <a:r>
              <a:rPr lang="en-US" sz="1800" dirty="0">
                <a:hlinkClick r:id="rId10"/>
              </a:rPr>
              <a:t>Data Driven Code Design - C# and Unity development</a:t>
            </a:r>
            <a:endParaRPr lang="en-US" sz="1800" dirty="0"/>
          </a:p>
          <a:p>
            <a:pPr marL="12700" marR="5080"/>
            <a:r>
              <a:rPr lang="en-US" sz="1800" dirty="0">
                <a:hlinkClick r:id="rId11"/>
              </a:rPr>
              <a:t>Awesome-Data-Oriented-Design</a:t>
            </a:r>
            <a:endParaRPr lang="en-US" sz="1800" dirty="0"/>
          </a:p>
          <a:p>
            <a:pPr marL="12700" marR="5080"/>
            <a:r>
              <a:rPr lang="en-US" sz="1800">
                <a:hlinkClick r:id="rId12"/>
              </a:rPr>
              <a:t>Mechanical Sympathy</a:t>
            </a:r>
            <a:endParaRPr lang="en-US" sz="1800" kern="0" spc="-220" dirty="0">
              <a:solidFill>
                <a:schemeClr val="accent2"/>
              </a:solidFill>
            </a:endParaRPr>
          </a:p>
        </p:txBody>
      </p:sp>
    </p:spTree>
    <p:extLst>
      <p:ext uri="{BB962C8B-B14F-4D97-AF65-F5344CB8AC3E}">
        <p14:creationId xmlns:p14="http://schemas.microsoft.com/office/powerpoint/2010/main" val="240512892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1500" dirty="0">
                <a:hlinkClick r:id="rId7"/>
              </a:rPr>
              <a:t>Free </a:t>
            </a:r>
            <a:r>
              <a:rPr lang="en-US" sz="1500" dirty="0" err="1">
                <a:hlinkClick r:id="rId7"/>
              </a:rPr>
              <a:t>Ebook</a:t>
            </a:r>
            <a:r>
              <a:rPr lang="en-US" sz="1500" dirty="0">
                <a:hlinkClick r:id="rId7"/>
              </a:rPr>
              <a:t> - NuGet </a:t>
            </a:r>
            <a:r>
              <a:rPr lang="en-US" sz="1500">
                <a:hlinkClick r:id="rId7"/>
              </a:rPr>
              <a:t>In-House Succinctly</a:t>
            </a:r>
            <a:r>
              <a:rPr lang="en-US" sz="2400" kern="0" spc="-220">
                <a:solidFill>
                  <a:schemeClr val="accent6"/>
                </a:solidFill>
              </a:rPr>
              <a:t>)</a:t>
            </a:r>
            <a:endParaRPr lang="en-US" sz="2400" kern="0" spc="-220" dirty="0">
              <a:solidFill>
                <a:schemeClr val="accent6"/>
              </a:solidFill>
            </a:endParaRP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939150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220" dirty="0">
                <a:solidFill>
                  <a:schemeClr val="accent2"/>
                </a:solidFill>
              </a:rPr>
              <a:t>COM </a:t>
            </a:r>
            <a:r>
              <a:rPr lang="en-US" sz="1600" kern="0" spc="-220" dirty="0" err="1">
                <a:solidFill>
                  <a:schemeClr val="accent2"/>
                </a:solidFill>
              </a:rPr>
              <a:t>InterOperability</a:t>
            </a:r>
            <a:r>
              <a:rPr lang="en-US" sz="1600" kern="0" spc="-220" dirty="0">
                <a:solidFill>
                  <a:schemeClr val="accent2"/>
                </a:solidFill>
              </a:rPr>
              <a:t> - </a:t>
            </a:r>
            <a:r>
              <a:rPr lang="en-US" sz="1600" kern="0" spc="-220" dirty="0">
                <a:solidFill>
                  <a:schemeClr val="accent6"/>
                </a:solidFill>
              </a:rPr>
              <a:t>fetch as much data as possible from COM  into RAM (memory) &amp; then do further processing .If needed use </a:t>
            </a:r>
            <a:r>
              <a:rPr lang="en-US" sz="1600" kern="0" spc="-220" dirty="0" err="1">
                <a:solidFill>
                  <a:schemeClr val="accent6"/>
                </a:solidFill>
              </a:rPr>
              <a:t>chunking.This</a:t>
            </a:r>
            <a:r>
              <a:rPr lang="en-US" sz="1600" kern="0" spc="-220" dirty="0">
                <a:solidFill>
                  <a:schemeClr val="accent6"/>
                </a:solidFill>
              </a:rPr>
              <a:t> is needed mainly to improve performance since COM calls are pretty slow.</a:t>
            </a:r>
          </a:p>
          <a:p>
            <a:pPr marL="12700" marR="5080"/>
            <a:endParaRPr lang="en-US" sz="1600" kern="0" spc="-220" dirty="0">
              <a:solidFill>
                <a:schemeClr val="accent6"/>
              </a:solidFill>
            </a:endParaRPr>
          </a:p>
          <a:p>
            <a:pPr marL="12700" marR="5080"/>
            <a:r>
              <a:rPr lang="en-US" sz="1600" kern="0" spc="-220" dirty="0" err="1">
                <a:solidFill>
                  <a:schemeClr val="accent2"/>
                </a:solidFill>
              </a:rPr>
              <a:t>NodeJs</a:t>
            </a:r>
            <a:r>
              <a:rPr lang="en-US" sz="1600" kern="0" spc="-220" dirty="0">
                <a:solidFill>
                  <a:schemeClr val="accent2"/>
                </a:solidFill>
              </a:rPr>
              <a:t> - </a:t>
            </a:r>
            <a:r>
              <a:rPr lang="en-US" sz="16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600" kern="0" spc="-220" dirty="0">
              <a:solidFill>
                <a:schemeClr val="accent6"/>
              </a:solidFill>
            </a:endParaRPr>
          </a:p>
          <a:p>
            <a:pPr marL="12700" marR="5080"/>
            <a:r>
              <a:rPr lang="en-US" sz="1600" kern="0" spc="-220" dirty="0">
                <a:solidFill>
                  <a:schemeClr val="accent2"/>
                </a:solidFill>
              </a:rPr>
              <a:t>Python – </a:t>
            </a:r>
            <a:r>
              <a:rPr lang="en-US" sz="1600" kern="0" spc="-220" dirty="0">
                <a:solidFill>
                  <a:schemeClr val="accent6"/>
                </a:solidFill>
              </a:rPr>
              <a:t>check List (&amp; Dictionary) Comprehension &amp; </a:t>
            </a:r>
            <a:r>
              <a:rPr lang="en-US" sz="1600" kern="0" spc="-220" dirty="0" err="1">
                <a:solidFill>
                  <a:schemeClr val="accent6"/>
                </a:solidFill>
              </a:rPr>
              <a:t>Numpy</a:t>
            </a:r>
            <a:r>
              <a:rPr lang="en-US" sz="1600" kern="0" spc="-220" dirty="0">
                <a:solidFill>
                  <a:schemeClr val="accent6"/>
                </a:solidFill>
              </a:rPr>
              <a:t> Multi-Dimensional Array.</a:t>
            </a:r>
          </a:p>
          <a:p>
            <a:pPr marL="12700" marR="5080"/>
            <a:endParaRPr lang="en-US" sz="1600" kern="0" spc="-220" dirty="0">
              <a:solidFill>
                <a:schemeClr val="accent6"/>
              </a:solidFill>
            </a:endParaRPr>
          </a:p>
          <a:p>
            <a:pPr marL="12700" marR="5080"/>
            <a:r>
              <a:rPr lang="en-US" sz="1600" kern="0" spc="-220" dirty="0">
                <a:solidFill>
                  <a:schemeClr val="accent2"/>
                </a:solidFill>
              </a:rPr>
              <a:t>Java - </a:t>
            </a:r>
            <a:r>
              <a:rPr lang="en-US" sz="1600" kern="0" spc="-220" dirty="0">
                <a:solidFill>
                  <a:schemeClr val="accent6"/>
                </a:solidFill>
              </a:rPr>
              <a:t>doesn’t have Exception Bubbling &amp; async-await </a:t>
            </a:r>
            <a:r>
              <a:rPr lang="en-US" sz="1600" kern="0" spc="-220" dirty="0">
                <a:solidFill>
                  <a:schemeClr val="tx2">
                    <a:lumMod val="60000"/>
                    <a:lumOff val="40000"/>
                  </a:schemeClr>
                </a:solidFill>
              </a:rPr>
              <a:t>by default</a:t>
            </a:r>
            <a:r>
              <a:rPr lang="en-US" sz="1600" kern="0" spc="-220" dirty="0">
                <a:solidFill>
                  <a:schemeClr val="accent6"/>
                </a:solidFill>
              </a:rPr>
              <a:t>. But I love 1 thing in Java compared to  .NET &amp;  that’s that Java has only one generic argument equivalent of Action&lt;T&gt; &amp; Func&lt;T&gt; while .NET has  Action&lt;T1&gt;/Func&lt;T1&gt; till Action&lt;T1, T2,…….T16&gt;/Func&lt;T1,T2,……T16.&gt;. Although Action&lt;T&gt;/Func&lt;T&gt;/Action&lt;T1&gt;/Func&lt;T1&gt; should  suffice  but not sure why the .NET Language Designers opted to support till T16  (although tomorrow I may need T17 or more &amp; all such T1 till T16 or more can be wrapped into a single  “T” class as properties &amp; then processed further) . </a:t>
            </a:r>
            <a:r>
              <a:rPr lang="en-US" sz="1600" kern="0" spc="-220" dirty="0">
                <a:solidFill>
                  <a:schemeClr val="accent2"/>
                </a:solidFill>
              </a:rPr>
              <a:t>Also SL4J and Lombok are 2 cool frameworks from the Java world.</a:t>
            </a:r>
          </a:p>
          <a:p>
            <a:pPr marL="12700" marR="5080"/>
            <a:endParaRPr lang="en-US" sz="1600" kern="0" spc="-220" dirty="0">
              <a:solidFill>
                <a:schemeClr val="accent6"/>
              </a:solidFill>
            </a:endParaRPr>
          </a:p>
          <a:p>
            <a:pPr marL="12700" marR="5080"/>
            <a:r>
              <a:rPr lang="en-US" sz="1600" kern="0" spc="-220" dirty="0">
                <a:solidFill>
                  <a:schemeClr val="accent2"/>
                </a:solidFill>
              </a:rPr>
              <a:t>C++ - </a:t>
            </a:r>
            <a:r>
              <a:rPr lang="en-US" sz="1600" kern="0" spc="-220" dirty="0">
                <a:solidFill>
                  <a:schemeClr val="accent6"/>
                </a:solidFill>
              </a:rPr>
              <a:t>One might think that C++ is now obsolete but its still used like anything, for real high performance code[e.g. Financial Risk modelling] or Embedded Systems[in IoT{Internet of Things}, the “Things” are in general some nominal or full fledged Embedded Systems.), A good free C++ reference for .NET Developers is  </a:t>
            </a:r>
            <a:r>
              <a:rPr lang="en-IN" sz="1600" dirty="0">
                <a:hlinkClick r:id="rId7"/>
              </a:rPr>
              <a:t>Free </a:t>
            </a:r>
            <a:r>
              <a:rPr lang="en-IN" sz="1600" dirty="0" err="1">
                <a:hlinkClick r:id="rId7"/>
              </a:rPr>
              <a:t>Ebook</a:t>
            </a:r>
            <a:r>
              <a:rPr lang="en-IN" sz="1600" dirty="0">
                <a:hlinkClick r:id="rId7"/>
              </a:rPr>
              <a:t> - C++ Succinctly</a:t>
            </a:r>
            <a:endParaRPr lang="en-US" sz="1600" kern="0" spc="-220" dirty="0">
              <a:solidFill>
                <a:schemeClr val="accent6"/>
              </a:solidFill>
            </a:endParaRPr>
          </a:p>
        </p:txBody>
      </p:sp>
    </p:spTree>
    <p:extLst>
      <p:ext uri="{BB962C8B-B14F-4D97-AF65-F5344CB8AC3E}">
        <p14:creationId xmlns:p14="http://schemas.microsoft.com/office/powerpoint/2010/main" val="58349214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7924118"/>
              </p:ext>
            </p:extLst>
          </p:nvPr>
        </p:nvGraphicFramePr>
        <p:xfrm>
          <a:off x="218516" y="1"/>
          <a:ext cx="8716300" cy="304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209184" y="304800"/>
            <a:ext cx="8624937" cy="57708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500" dirty="0">
                <a:hlinkClick r:id="rId7"/>
              </a:rPr>
              <a:t>Essential Algorithms</a:t>
            </a:r>
            <a:endParaRPr lang="en-IN" sz="1500" dirty="0"/>
          </a:p>
          <a:p>
            <a:pPr marL="12700" marR="5080"/>
            <a:r>
              <a:rPr lang="en-US" sz="1500" dirty="0">
                <a:hlinkClick r:id="rId8"/>
              </a:rPr>
              <a:t>Learn to program. For free. - Invent with Python</a:t>
            </a:r>
            <a:endParaRPr lang="en-US" sz="1500" dirty="0"/>
          </a:p>
          <a:p>
            <a:pPr marL="12700" marR="5080"/>
            <a:r>
              <a:rPr lang="en-US" sz="1500" dirty="0">
                <a:hlinkClick r:id="rId9"/>
              </a:rPr>
              <a:t>Fabulous Adventures in Data Structures and Algorithms</a:t>
            </a:r>
            <a:endParaRPr lang="en-US" sz="1500" dirty="0"/>
          </a:p>
          <a:p>
            <a:pPr marL="12700" marR="5080"/>
            <a:r>
              <a:rPr lang="en-US" sz="1500" dirty="0">
                <a:hlinkClick r:id="rId10"/>
              </a:rPr>
              <a:t>Dynamic Programming in Python : William Smith</a:t>
            </a:r>
            <a:endParaRPr lang="en-US" sz="1500" dirty="0"/>
          </a:p>
          <a:p>
            <a:pPr marL="12700" marR="5080"/>
            <a:r>
              <a:rPr lang="en-US" sz="1500" dirty="0">
                <a:hlinkClick r:id="rId11"/>
              </a:rPr>
              <a:t>Data-Structures-And-Algorithms-Made-Easy-In-Java</a:t>
            </a:r>
            <a:endParaRPr lang="en-US" sz="1500" dirty="0"/>
          </a:p>
          <a:p>
            <a:pPr marL="12700" marR="5080"/>
            <a:r>
              <a:rPr lang="en-IN" sz="1500" dirty="0">
                <a:hlinkClick r:id="rId12"/>
              </a:rPr>
              <a:t>20 Patterns to Master Dynamic Programming</a:t>
            </a:r>
            <a:endParaRPr lang="en-IN" sz="1500" dirty="0"/>
          </a:p>
          <a:p>
            <a:pPr marL="12700" marR="5080"/>
            <a:r>
              <a:rPr lang="en-IN" sz="1500" dirty="0">
                <a:hlinkClick r:id="rId13"/>
              </a:rPr>
              <a:t>Must Know Data Structures | LinkedIn</a:t>
            </a:r>
            <a:endParaRPr lang="en-IN" sz="1500" dirty="0"/>
          </a:p>
          <a:p>
            <a:pPr marL="12700" marR="5080"/>
            <a:r>
              <a:rPr lang="en-US" sz="1500" dirty="0">
                <a:hlinkClick r:id="rId14"/>
              </a:rPr>
              <a:t>Data Structures and Algorithms Roadmap</a:t>
            </a:r>
            <a:endParaRPr lang="en-IN" sz="1500" dirty="0"/>
          </a:p>
          <a:p>
            <a:pPr marL="12700" marR="5080"/>
            <a:r>
              <a:rPr lang="en-IN" sz="1500" dirty="0">
                <a:hlinkClick r:id="rId15"/>
              </a:rPr>
              <a:t>Coding-Interview-Patterns</a:t>
            </a:r>
            <a:endParaRPr lang="en-IN" sz="1500" dirty="0"/>
          </a:p>
          <a:p>
            <a:pPr marL="12700" marR="5080"/>
            <a:r>
              <a:rPr lang="en-IN" sz="1500" dirty="0">
                <a:hlinkClick r:id="rId16"/>
              </a:rPr>
              <a:t>Coding Problems Patterns | LinkedIn</a:t>
            </a:r>
            <a:endParaRPr lang="en-IN" sz="1500" dirty="0"/>
          </a:p>
          <a:p>
            <a:pPr marL="12700" marR="5080"/>
            <a:r>
              <a:rPr lang="en-US" sz="1500" dirty="0">
                <a:hlinkClick r:id="rId17"/>
              </a:rPr>
              <a:t>Awesome-</a:t>
            </a:r>
            <a:r>
              <a:rPr lang="en-US" sz="1500" dirty="0" err="1">
                <a:hlinkClick r:id="rId17"/>
              </a:rPr>
              <a:t>Leetcode</a:t>
            </a:r>
            <a:r>
              <a:rPr lang="en-US" sz="1500" dirty="0">
                <a:hlinkClick r:id="rId17"/>
              </a:rPr>
              <a:t>-Resources </a:t>
            </a:r>
          </a:p>
          <a:p>
            <a:pPr marL="12700" marR="5080"/>
            <a:r>
              <a:rPr lang="en-US" sz="1500" dirty="0">
                <a:hlinkClick r:id="rId18"/>
              </a:rPr>
              <a:t>Coding-Interview-University</a:t>
            </a:r>
            <a:endParaRPr lang="en-US" sz="1500" dirty="0"/>
          </a:p>
          <a:p>
            <a:pPr marL="12700" marR="5080"/>
            <a:r>
              <a:rPr lang="en-US" sz="1500" dirty="0">
                <a:hlinkClick r:id="rId17"/>
              </a:rPr>
              <a:t>Algorithms and prepare for Coding Interviews.</a:t>
            </a:r>
            <a:endParaRPr lang="en-US" sz="1500" dirty="0"/>
          </a:p>
          <a:p>
            <a:pPr marL="12700" marR="5080"/>
            <a:r>
              <a:rPr lang="en-US" sz="1500" dirty="0">
                <a:hlinkClick r:id="rId19"/>
              </a:rPr>
              <a:t>Technical Interview Guide for Busy Engineers | Tech Interview Handbook</a:t>
            </a:r>
            <a:r>
              <a:rPr lang="en-US" sz="1500" dirty="0"/>
              <a:t> </a:t>
            </a:r>
            <a:endParaRPr lang="en-IN" sz="1500" dirty="0"/>
          </a:p>
          <a:p>
            <a:pPr marL="12700" marR="5080"/>
            <a:r>
              <a:rPr lang="en-IN" sz="1500" dirty="0">
                <a:hlinkClick r:id="rId20"/>
              </a:rPr>
              <a:t>C# in a Nutshell</a:t>
            </a:r>
            <a:endParaRPr lang="en-US" sz="1500" dirty="0"/>
          </a:p>
          <a:p>
            <a:pPr marL="12700" marR="5080"/>
            <a:r>
              <a:rPr lang="en-IN" sz="1500" dirty="0" err="1">
                <a:hlinkClick r:id="rId21"/>
              </a:rPr>
              <a:t>MarkJPrice</a:t>
            </a:r>
            <a:r>
              <a:rPr lang="en-IN" sz="1500" dirty="0">
                <a:hlinkClick r:id="rId21"/>
              </a:rPr>
              <a:t>/Repositories</a:t>
            </a:r>
            <a:endParaRPr lang="en-IN" sz="1500" dirty="0"/>
          </a:p>
          <a:p>
            <a:pPr marL="12700" marR="5080"/>
            <a:r>
              <a:rPr lang="en-IN" sz="1500" dirty="0">
                <a:hlinkClick r:id="rId22"/>
              </a:rPr>
              <a:t>C# | Version History </a:t>
            </a:r>
            <a:r>
              <a:rPr lang="en-IN" sz="1500" dirty="0">
                <a:hlinkClick r:id="rId23"/>
              </a:rPr>
              <a:t>–</a:t>
            </a:r>
            <a:r>
              <a:rPr lang="en-IN" sz="1500" dirty="0">
                <a:hlinkClick r:id="rId22"/>
              </a:rPr>
              <a:t> </a:t>
            </a:r>
            <a:r>
              <a:rPr lang="en-IN" sz="1500" dirty="0" err="1">
                <a:hlinkClick r:id="rId22"/>
              </a:rPr>
              <a:t>GeeksforGeeks</a:t>
            </a:r>
            <a:endParaRPr lang="en-IN" sz="1500" dirty="0"/>
          </a:p>
          <a:p>
            <a:pPr marL="12700" marR="5080"/>
            <a:r>
              <a:rPr lang="en-US" sz="1500" dirty="0">
                <a:hlinkClick r:id="rId24"/>
              </a:rPr>
              <a:t>What's new in C# 13 | Microsoft Learn</a:t>
            </a:r>
            <a:endParaRPr lang="en-IN" sz="1500" dirty="0"/>
          </a:p>
          <a:p>
            <a:pPr marL="12700" marR="5080"/>
            <a:r>
              <a:rPr lang="en-US" sz="1500" dirty="0">
                <a:hlinkClick r:id="rId25"/>
              </a:rPr>
              <a:t>How do I chunk an enumerable? - Stack Overflow</a:t>
            </a:r>
            <a:endParaRPr lang="en-US" sz="1500" dirty="0"/>
          </a:p>
          <a:p>
            <a:pPr marL="12700" marR="5080"/>
            <a:r>
              <a:rPr lang="en-US" sz="1500" dirty="0">
                <a:hlinkClick r:id="rId26"/>
              </a:rPr>
              <a:t>How To Write Elegant Code with C# Switch Expressions</a:t>
            </a:r>
            <a:endParaRPr lang="en-US" sz="1500" dirty="0"/>
          </a:p>
          <a:p>
            <a:pPr marL="12700" marR="5080"/>
            <a:r>
              <a:rPr lang="en-US" sz="1500" dirty="0">
                <a:hlinkClick r:id="rId27"/>
              </a:rPr>
              <a:t>Declare and use C# primary constructors in classes and structs | Microsoft Learn</a:t>
            </a:r>
            <a:endParaRPr lang="en-US" sz="1500" dirty="0"/>
          </a:p>
          <a:p>
            <a:pPr marL="12700" marR="5080"/>
            <a:r>
              <a:rPr lang="en-US" sz="1500" dirty="0">
                <a:hlinkClick r:id="rId28"/>
              </a:rPr>
              <a:t>Deconstructing tuples and other types - C# | Microsoft Learn</a:t>
            </a:r>
            <a:endParaRPr lang="en-US" sz="1500" dirty="0"/>
          </a:p>
          <a:p>
            <a:pPr marL="12700" marR="5080"/>
            <a:r>
              <a:rPr lang="en-US" sz="1500" dirty="0">
                <a:hlinkClick r:id="rId29"/>
              </a:rPr>
              <a:t>Asynchronous - Why would one use Task&lt;T&gt; over </a:t>
            </a:r>
            <a:r>
              <a:rPr lang="en-US" sz="1500" dirty="0" err="1">
                <a:hlinkClick r:id="rId29"/>
              </a:rPr>
              <a:t>ValueTask</a:t>
            </a:r>
            <a:r>
              <a:rPr lang="en-US" sz="1500" dirty="0">
                <a:hlinkClick r:id="rId29"/>
              </a:rPr>
              <a:t>&lt;T&gt; in C#? - Stack Overflow</a:t>
            </a:r>
            <a:endParaRPr lang="en-US" sz="1500" dirty="0"/>
          </a:p>
          <a:p>
            <a:pPr marL="12700" marR="5080"/>
            <a:r>
              <a:rPr lang="en-US" sz="1500" dirty="0">
                <a:hlinkClick r:id="rId30"/>
              </a:rPr>
              <a:t>C# — Optimize Performance with Span and Memory | by Keyur </a:t>
            </a:r>
            <a:r>
              <a:rPr lang="en-US" sz="1500" dirty="0" err="1">
                <a:hlinkClick r:id="rId30"/>
              </a:rPr>
              <a:t>Ramoliya</a:t>
            </a:r>
            <a:r>
              <a:rPr lang="en-US" sz="1500" dirty="0">
                <a:hlinkClick r:id="rId30"/>
              </a:rPr>
              <a:t> | Medium</a:t>
            </a:r>
            <a:endParaRPr lang="en-US" sz="1500" dirty="0"/>
          </a:p>
        </p:txBody>
      </p:sp>
    </p:spTree>
    <p:extLst>
      <p:ext uri="{BB962C8B-B14F-4D97-AF65-F5344CB8AC3E}">
        <p14:creationId xmlns:p14="http://schemas.microsoft.com/office/powerpoint/2010/main" val="323585720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83D1F-30BE-2EA7-BD28-5BE469FA3627}"/>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62200573-CDB1-3F2D-7876-8AAFCED24015}"/>
              </a:ext>
            </a:extLst>
          </p:cNvPr>
          <p:cNvGraphicFramePr/>
          <p:nvPr>
            <p:extLst>
              <p:ext uri="{D42A27DB-BD31-4B8C-83A1-F6EECF244321}">
                <p14:modId xmlns:p14="http://schemas.microsoft.com/office/powerpoint/2010/main" val="2604141565"/>
              </p:ext>
            </p:extLst>
          </p:nvPr>
        </p:nvGraphicFramePr>
        <p:xfrm>
          <a:off x="218516" y="1"/>
          <a:ext cx="8716300" cy="304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7E1568A1-4753-5EB0-67C3-7805AB3A2C32}"/>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4C5F7279-6F62-F375-27F5-5E1A986C96EB}"/>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DE958F33-0668-171B-5247-F4D0AD0CB0A4}"/>
              </a:ext>
            </a:extLst>
          </p:cNvPr>
          <p:cNvSpPr txBox="1">
            <a:spLocks/>
          </p:cNvSpPr>
          <p:nvPr/>
        </p:nvSpPr>
        <p:spPr>
          <a:xfrm>
            <a:off x="209184" y="304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dirty="0" err="1">
                <a:hlinkClick r:id="rId7"/>
              </a:rPr>
              <a:t>NSpecifications</a:t>
            </a:r>
            <a:r>
              <a:rPr lang="en-US" sz="1400" dirty="0">
                <a:hlinkClick r:id="rId7"/>
              </a:rPr>
              <a:t>: Specification Pattern for </a:t>
            </a:r>
            <a:r>
              <a:rPr lang="en-US" sz="1400" dirty="0" err="1">
                <a:hlinkClick r:id="rId7"/>
              </a:rPr>
              <a:t>.Net</a:t>
            </a:r>
            <a:endParaRPr lang="en-US" sz="1400" dirty="0"/>
          </a:p>
          <a:p>
            <a:pPr marL="12700" marR="5080"/>
            <a:r>
              <a:rPr lang="en-US" sz="1400" dirty="0">
                <a:hlinkClick r:id="rId8"/>
              </a:rPr>
              <a:t>Specification Pattern vs (Fluent) Validation</a:t>
            </a:r>
            <a:endParaRPr lang="en-US" sz="1400" dirty="0"/>
          </a:p>
          <a:p>
            <a:pPr marL="12700" marR="5080"/>
            <a:r>
              <a:rPr lang="en-US" sz="1400" dirty="0">
                <a:hlinkClick r:id="rId9"/>
              </a:rPr>
              <a:t>Building-CLI-Applications-with-C-Sharp-and-.NET</a:t>
            </a:r>
            <a:endParaRPr lang="en-US" sz="1400" dirty="0"/>
          </a:p>
          <a:p>
            <a:pPr marL="12700" marR="5080"/>
            <a:r>
              <a:rPr lang="en-US" sz="1400" dirty="0">
                <a:hlinkClick r:id="rId10"/>
              </a:rPr>
              <a:t>Creating a .NET Cron Job for Kubernetes | </a:t>
            </a:r>
            <a:r>
              <a:rPr lang="en-US" sz="1400" dirty="0" err="1">
                <a:hlinkClick r:id="rId10"/>
              </a:rPr>
              <a:t>benbrougher.tech</a:t>
            </a:r>
            <a:endParaRPr lang="en-US" sz="1400" dirty="0"/>
          </a:p>
          <a:p>
            <a:pPr marL="12700" marR="5080"/>
            <a:r>
              <a:rPr lang="en-IN" sz="1400" dirty="0">
                <a:hlinkClick r:id="rId11"/>
              </a:rPr>
              <a:t>The Ultimate Kubernetes </a:t>
            </a:r>
            <a:r>
              <a:rPr lang="en-IN" sz="1400" dirty="0" err="1">
                <a:hlinkClick r:id="rId11"/>
              </a:rPr>
              <a:t>CronJob</a:t>
            </a:r>
            <a:r>
              <a:rPr lang="en-IN" sz="1400" dirty="0">
                <a:hlinkClick r:id="rId11"/>
              </a:rPr>
              <a:t> Guide</a:t>
            </a:r>
            <a:endParaRPr lang="en-IN" sz="1400" dirty="0"/>
          </a:p>
          <a:p>
            <a:pPr marL="12700" marR="5080"/>
            <a:r>
              <a:rPr lang="en-US" sz="1400" dirty="0">
                <a:hlinkClick r:id="rId12"/>
              </a:rPr>
              <a:t>Systems-Programming-with-C-Sharp-and-.NET</a:t>
            </a:r>
            <a:endParaRPr lang="en-US" sz="1400" dirty="0"/>
          </a:p>
          <a:p>
            <a:pPr marL="12700" marR="5080"/>
            <a:r>
              <a:rPr lang="it-IT" sz="1400" dirty="0">
                <a:hlinkClick r:id="rId13"/>
              </a:rPr>
              <a:t>Native interoperability - .NET | Microsoft Learn</a:t>
            </a:r>
            <a:endParaRPr lang="it-IT" sz="1400" dirty="0"/>
          </a:p>
          <a:p>
            <a:pPr marL="12700" marR="5080"/>
            <a:r>
              <a:rPr lang="en-US" sz="1400" dirty="0">
                <a:hlinkClick r:id="rId14"/>
              </a:rPr>
              <a:t>Learn-regex: Learn regex the easy way</a:t>
            </a:r>
            <a:endParaRPr lang="en-US" sz="1400" dirty="0"/>
          </a:p>
          <a:p>
            <a:pPr marL="12700" marR="5080"/>
            <a:r>
              <a:rPr lang="en-US" sz="1400" dirty="0">
                <a:hlinkClick r:id="rId15"/>
              </a:rPr>
              <a:t>Free Programming Books – GoalKicker.com</a:t>
            </a:r>
            <a:r>
              <a:rPr lang="en-US" sz="1400" dirty="0"/>
              <a:t> </a:t>
            </a:r>
          </a:p>
          <a:p>
            <a:pPr marL="12700" marR="5080"/>
            <a:r>
              <a:rPr lang="en-US" sz="1400" dirty="0">
                <a:hlinkClick r:id="rId16"/>
              </a:rPr>
              <a:t>Regular Expressions Cookbook, 2nd Edition[Book]</a:t>
            </a:r>
            <a:endParaRPr lang="en-US" sz="1400" dirty="0"/>
          </a:p>
          <a:p>
            <a:pPr marL="12700" marR="5080"/>
            <a:r>
              <a:rPr lang="en-IN" sz="1400" dirty="0">
                <a:hlinkClick r:id="rId17"/>
              </a:rPr>
              <a:t>High-Performance-Programming-in-C-Sharp-and-.NET</a:t>
            </a:r>
            <a:endParaRPr lang="en-IN" sz="1400" dirty="0"/>
          </a:p>
          <a:p>
            <a:pPr marL="12700" marR="5080"/>
            <a:r>
              <a:rPr lang="en-IN" sz="1400" dirty="0">
                <a:hlinkClick r:id="rId18"/>
              </a:rPr>
              <a:t>C# Interview Questions | LinkedIn</a:t>
            </a:r>
            <a:endParaRPr lang="en-IN" sz="1400" dirty="0"/>
          </a:p>
          <a:p>
            <a:pPr marL="12700" marR="5080"/>
            <a:r>
              <a:rPr lang="en-US" sz="1400" dirty="0" err="1">
                <a:hlinkClick r:id="rId19"/>
              </a:rPr>
              <a:t>DotNet</a:t>
            </a:r>
            <a:r>
              <a:rPr lang="en-US" sz="1400" dirty="0">
                <a:hlinkClick r:id="rId19"/>
              </a:rPr>
              <a:t>-Developer-Roadmap.</a:t>
            </a:r>
            <a:endParaRPr lang="en-US" sz="1400" dirty="0"/>
          </a:p>
          <a:p>
            <a:pPr marL="12700" marR="5080"/>
            <a:r>
              <a:rPr lang="en-IN" sz="1400" dirty="0" err="1">
                <a:hlinkClick r:id="rId20"/>
              </a:rPr>
              <a:t>Postgre</a:t>
            </a:r>
            <a:r>
              <a:rPr lang="en-IN" sz="1400" dirty="0">
                <a:hlinkClick r:id="rId20"/>
              </a:rPr>
              <a:t> </a:t>
            </a:r>
            <a:r>
              <a:rPr lang="en-IN" sz="1400" dirty="0" err="1">
                <a:hlinkClick r:id="rId20"/>
              </a:rPr>
              <a:t>Sql</a:t>
            </a:r>
            <a:r>
              <a:rPr lang="en-IN" sz="1400" dirty="0">
                <a:hlinkClick r:id="rId20"/>
              </a:rPr>
              <a:t> Query Execution Flow| LinkedIn</a:t>
            </a:r>
            <a:endParaRPr lang="en-IN" sz="1400" dirty="0"/>
          </a:p>
          <a:p>
            <a:pPr marL="12700" marR="5080"/>
            <a:r>
              <a:rPr lang="en-IN" sz="1400" dirty="0">
                <a:hlinkClick r:id="rId21"/>
              </a:rPr>
              <a:t>Free Postgres SQL Internals Book </a:t>
            </a:r>
            <a:endParaRPr lang="en-IN" sz="1400" dirty="0"/>
          </a:p>
          <a:p>
            <a:pPr marL="12700" marR="5080"/>
            <a:r>
              <a:rPr lang="en-US" sz="1400" dirty="0">
                <a:hlinkClick r:id="rId22"/>
              </a:rPr>
              <a:t>GATE CS Notes (According to GATE 2025 Syllabus) </a:t>
            </a:r>
            <a:r>
              <a:rPr lang="en-US" sz="1400" dirty="0">
                <a:hlinkClick r:id="rId23"/>
              </a:rPr>
              <a:t>–</a:t>
            </a:r>
            <a:r>
              <a:rPr lang="en-US" sz="1400" dirty="0">
                <a:hlinkClick r:id="rId22"/>
              </a:rPr>
              <a:t> </a:t>
            </a:r>
            <a:r>
              <a:rPr lang="en-US" sz="1400" dirty="0" err="1">
                <a:hlinkClick r:id="rId22"/>
              </a:rPr>
              <a:t>GeeksforGeeks</a:t>
            </a:r>
            <a:endParaRPr lang="en-US" sz="1400" dirty="0"/>
          </a:p>
          <a:p>
            <a:pPr marL="12700" marR="5080"/>
            <a:r>
              <a:rPr lang="en-US" sz="1400" dirty="0">
                <a:hlinkClick r:id="rId24"/>
              </a:rPr>
              <a:t>Computer Science Roadmap: Curriculum for the self taught developer</a:t>
            </a:r>
            <a:endParaRPr lang="en-US" sz="1400" dirty="0"/>
          </a:p>
          <a:p>
            <a:pPr marL="12700" marR="5080"/>
            <a:r>
              <a:rPr lang="en-US" sz="1400" dirty="0">
                <a:hlinkClick r:id="rId25"/>
              </a:rPr>
              <a:t>The Modern C# Challenge | Web Development | Paperback</a:t>
            </a:r>
            <a:endParaRPr lang="en-IN" sz="1400" dirty="0"/>
          </a:p>
          <a:p>
            <a:pPr marL="12700" marR="5080"/>
            <a:r>
              <a:rPr lang="en-IN" sz="1400" dirty="0" err="1">
                <a:hlinkClick r:id="rId26"/>
              </a:rPr>
              <a:t>Category:Programming</a:t>
            </a:r>
            <a:r>
              <a:rPr lang="en-IN" sz="1400" dirty="0">
                <a:hlinkClick r:id="rId26"/>
              </a:rPr>
              <a:t> Tasks - Rosetta Code</a:t>
            </a:r>
            <a:r>
              <a:rPr lang="en-US" sz="1400" kern="0" spc="-220" dirty="0">
                <a:solidFill>
                  <a:schemeClr val="accent6"/>
                </a:solidFill>
              </a:rPr>
              <a:t> </a:t>
            </a:r>
          </a:p>
          <a:p>
            <a:pPr marL="12700" marR="5080"/>
            <a:r>
              <a:rPr lang="en-US" sz="1400" dirty="0">
                <a:hlinkClick r:id="rId27"/>
              </a:rPr>
              <a:t>Coding Challenges | John Crickett | Substack</a:t>
            </a:r>
            <a:endParaRPr lang="en-US" sz="1400" dirty="0"/>
          </a:p>
          <a:p>
            <a:pPr marL="12700" marR="5080"/>
            <a:r>
              <a:rPr lang="en-US" sz="1400" dirty="0">
                <a:hlinkClick r:id="rId28"/>
              </a:rPr>
              <a:t>Awesome-Katas</a:t>
            </a:r>
            <a:endParaRPr lang="en-US" sz="1400" dirty="0"/>
          </a:p>
          <a:p>
            <a:pPr marL="12700" marR="5080"/>
            <a:r>
              <a:rPr lang="en-US" sz="1400" dirty="0">
                <a:hlinkClick r:id="rId29"/>
              </a:rPr>
              <a:t>Clean Code Cheat Sheet – planetgeek.ch</a:t>
            </a:r>
            <a:endParaRPr lang="en-US" sz="1400" dirty="0"/>
          </a:p>
          <a:p>
            <a:pPr marL="12700" marR="5080"/>
            <a:r>
              <a:rPr lang="en-US" sz="1400" dirty="0">
                <a:hlinkClick r:id="rId30"/>
              </a:rPr>
              <a:t>Awesome-Low-Level-Design</a:t>
            </a:r>
            <a:endParaRPr lang="en-US" sz="1400" dirty="0"/>
          </a:p>
          <a:p>
            <a:pPr marL="12700" marR="5080"/>
            <a:r>
              <a:rPr lang="en-US" sz="1400" dirty="0">
                <a:hlinkClick r:id="rId31"/>
              </a:rPr>
              <a:t>Low-Level-Design-Primer</a:t>
            </a:r>
            <a:endParaRPr lang="en-US" sz="1400" dirty="0"/>
          </a:p>
          <a:p>
            <a:pPr marL="12700" marR="5080"/>
            <a:r>
              <a:rPr lang="en-IN" sz="1400" dirty="0">
                <a:hlinkClick r:id="rId32"/>
              </a:rPr>
              <a:t>Build Your Own X</a:t>
            </a:r>
            <a:endParaRPr lang="en-IN" sz="1400" dirty="0"/>
          </a:p>
          <a:p>
            <a:pPr marL="12700" marR="5080"/>
            <a:r>
              <a:rPr lang="en-US" sz="1400">
                <a:hlinkClick r:id="rId33"/>
              </a:rPr>
              <a:t>Making .NET Framework and .NET Core Code Work Together</a:t>
            </a:r>
            <a:endParaRPr lang="en-IN" sz="1400" dirty="0"/>
          </a:p>
        </p:txBody>
      </p:sp>
    </p:spTree>
    <p:extLst>
      <p:ext uri="{BB962C8B-B14F-4D97-AF65-F5344CB8AC3E}">
        <p14:creationId xmlns:p14="http://schemas.microsoft.com/office/powerpoint/2010/main" val="260669416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16343</TotalTime>
  <Words>11662</Words>
  <Application>Microsoft Office PowerPoint</Application>
  <PresentationFormat>Custom</PresentationFormat>
  <Paragraphs>1654</Paragraphs>
  <Slides>122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122</vt:i4>
      </vt:variant>
    </vt:vector>
  </HeadingPairs>
  <TitlesOfParts>
    <vt:vector size="131" baseType="lpstr">
      <vt:lpstr>Aptos Narrow</vt:lpstr>
      <vt:lpstr>Arial</vt:lpstr>
      <vt:lpstr>Arial</vt:lpstr>
      <vt:lpstr>Calibri</vt:lpstr>
      <vt:lpstr>Lucida Sans</vt:lpstr>
      <vt:lpstr>Monaco</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1339</cp:revision>
  <dcterms:created xsi:type="dcterms:W3CDTF">2020-11-03T17:16:52Z</dcterms:created>
  <dcterms:modified xsi:type="dcterms:W3CDTF">2025-11-21T11:36:02Z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