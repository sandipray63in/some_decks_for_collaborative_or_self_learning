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7"/>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562" r:id="rId33"/>
    <p:sldId id="563" r:id="rId34"/>
    <p:sldId id="564" r:id="rId35"/>
    <p:sldId id="340" r:id="rId36"/>
    <p:sldId id="341" r:id="rId37"/>
    <p:sldId id="557" r:id="rId38"/>
    <p:sldId id="558" r:id="rId39"/>
    <p:sldId id="559" r:id="rId40"/>
    <p:sldId id="560" r:id="rId41"/>
    <p:sldId id="561" r:id="rId42"/>
    <p:sldId id="344" r:id="rId43"/>
    <p:sldId id="345" r:id="rId44"/>
    <p:sldId id="346" r:id="rId45"/>
    <p:sldId id="347" r:id="rId46"/>
    <p:sldId id="348" r:id="rId47"/>
    <p:sldId id="351" r:id="rId48"/>
    <p:sldId id="352" r:id="rId49"/>
    <p:sldId id="349" r:id="rId50"/>
    <p:sldId id="350" r:id="rId51"/>
    <p:sldId id="353" r:id="rId52"/>
    <p:sldId id="354" r:id="rId53"/>
    <p:sldId id="355" r:id="rId54"/>
    <p:sldId id="356" r:id="rId55"/>
    <p:sldId id="366" r:id="rId56"/>
    <p:sldId id="357" r:id="rId57"/>
    <p:sldId id="358" r:id="rId58"/>
    <p:sldId id="359" r:id="rId59"/>
    <p:sldId id="526" r:id="rId60"/>
    <p:sldId id="382" r:id="rId61"/>
    <p:sldId id="384" r:id="rId62"/>
    <p:sldId id="385" r:id="rId63"/>
    <p:sldId id="383" r:id="rId64"/>
    <p:sldId id="387" r:id="rId65"/>
    <p:sldId id="524" r:id="rId66"/>
    <p:sldId id="388" r:id="rId67"/>
    <p:sldId id="386" r:id="rId68"/>
    <p:sldId id="389" r:id="rId69"/>
    <p:sldId id="525" r:id="rId70"/>
    <p:sldId id="390" r:id="rId71"/>
    <p:sldId id="391" r:id="rId72"/>
    <p:sldId id="392" r:id="rId73"/>
    <p:sldId id="360" r:id="rId74"/>
    <p:sldId id="530" r:id="rId75"/>
    <p:sldId id="531" r:id="rId76"/>
    <p:sldId id="532" r:id="rId77"/>
    <p:sldId id="533" r:id="rId78"/>
    <p:sldId id="534" r:id="rId79"/>
    <p:sldId id="535" r:id="rId80"/>
    <p:sldId id="536" r:id="rId81"/>
    <p:sldId id="537" r:id="rId82"/>
    <p:sldId id="538" r:id="rId83"/>
    <p:sldId id="361" r:id="rId84"/>
    <p:sldId id="362" r:id="rId85"/>
    <p:sldId id="363" r:id="rId86"/>
    <p:sldId id="364" r:id="rId87"/>
    <p:sldId id="367" r:id="rId88"/>
    <p:sldId id="368" r:id="rId89"/>
    <p:sldId id="370" r:id="rId90"/>
    <p:sldId id="541" r:id="rId91"/>
    <p:sldId id="369" r:id="rId92"/>
    <p:sldId id="393" r:id="rId93"/>
    <p:sldId id="371" r:id="rId94"/>
    <p:sldId id="372" r:id="rId95"/>
    <p:sldId id="377" r:id="rId96"/>
    <p:sldId id="373" r:id="rId97"/>
    <p:sldId id="374" r:id="rId98"/>
    <p:sldId id="528" r:id="rId99"/>
    <p:sldId id="376" r:id="rId100"/>
    <p:sldId id="529" r:id="rId101"/>
    <p:sldId id="375" r:id="rId102"/>
    <p:sldId id="381" r:id="rId103"/>
    <p:sldId id="379" r:id="rId104"/>
    <p:sldId id="521" r:id="rId105"/>
    <p:sldId id="523" r:id="rId106"/>
    <p:sldId id="542" r:id="rId107"/>
    <p:sldId id="543" r:id="rId108"/>
    <p:sldId id="544" r:id="rId109"/>
    <p:sldId id="545" r:id="rId110"/>
    <p:sldId id="546" r:id="rId111"/>
    <p:sldId id="547" r:id="rId112"/>
    <p:sldId id="548" r:id="rId113"/>
    <p:sldId id="549" r:id="rId114"/>
    <p:sldId id="550" r:id="rId115"/>
    <p:sldId id="551" r:id="rId116"/>
    <p:sldId id="552" r:id="rId117"/>
    <p:sldId id="553" r:id="rId118"/>
    <p:sldId id="554" r:id="rId119"/>
    <p:sldId id="555" r:id="rId120"/>
    <p:sldId id="556" r:id="rId121"/>
    <p:sldId id="380" r:id="rId122"/>
    <p:sldId id="527" r:id="rId123"/>
    <p:sldId id="539" r:id="rId124"/>
    <p:sldId id="540" r:id="rId125"/>
    <p:sldId id="294" r:id="rId12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404" y="3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commentAuthors" Target="commentAuthor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viewProps" Target="viewProp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tableStyles" Target="tableStyle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 </a:t>
          </a:r>
          <a:r>
            <a:rPr lang="en-US" sz="2000" dirty="0" err="1"/>
            <a:t>contd</a:t>
          </a:r>
          <a:r>
            <a:rPr lang="en-US" sz="2000"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7520"/>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a:t>
          </a:r>
        </a:p>
      </dsp:txBody>
      <dsp:txXfrm>
        <a:off x="14864" y="14864"/>
        <a:ext cx="8686572" cy="27476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 </a:t>
          </a:r>
          <a:r>
            <a:rPr lang="en-US" sz="2000" kern="1200" dirty="0" err="1"/>
            <a:t>contd</a:t>
          </a:r>
          <a:r>
            <a:rPr lang="en-US" sz="2000" kern="1200" dirty="0"/>
            <a:t>…</a:t>
          </a:r>
        </a:p>
      </dsp:txBody>
      <dsp:txXfrm>
        <a:off x="14864" y="14864"/>
        <a:ext cx="8686572" cy="27476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11/30/2025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11/30/2025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ww.packtpub.com/en-us/product/functional-programming-with-c-9781805128939?srsltid=AfmBOootm9AeF1S1FKnAQEpZ1FvCm8vQXO4vjkpWXCegMOeBsKNC4FTa"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12" Type="http://schemas.openxmlformats.org/officeDocument/2006/relationships/hyperlink" Target="https://fsharpforfunandprofit.com/fppattern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caiorss/Functional-Programming/blob/master/haskell/Functional_Programming_Concepts.org" TargetMode="External"/><Relationship Id="rId5" Type="http://schemas.openxmlformats.org/officeDocument/2006/relationships/diagramColors" Target="../diagrams/colors21.xml"/><Relationship Id="rId10" Type="http://schemas.openxmlformats.org/officeDocument/2006/relationships/hyperlink" Target="https://weblogs.asp.net/dixin/category-theory-via-csharp-2-monoid" TargetMode="External"/><Relationship Id="rId4" Type="http://schemas.openxmlformats.org/officeDocument/2006/relationships/diagramQuickStyle" Target="../diagrams/quickStyle21.xml"/><Relationship Id="rId9" Type="http://schemas.openxmlformats.org/officeDocument/2006/relationships/hyperlink" Target="https://functionalprogrammingcsharp.com/functors-monad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image" Target="../media/image3.png"/><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7" Type="http://schemas.openxmlformats.org/officeDocument/2006/relationships/image" Target="../media/image4.png"/><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5.xm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8.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8.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8.xml"/><Relationship Id="rId9" Type="http://schemas.openxmlformats.org/officeDocument/2006/relationships/hyperlink" Target="https://github.com/sandipray63in/DDD-Based-Enterprise-Application-Framework/tree/master/Testing.FluentRepository" TargetMode="Externa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hyperlink" Target="https://gist.github.com/sandipray63in/448c197d9a6af1b7c1621e2857294075" TargetMode="Externa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52.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11" Type="http://schemas.openxmlformats.org/officeDocument/2006/relationships/hyperlink" Target="https://paulstovell.com/weakevents/" TargetMode="External"/><Relationship Id="rId5" Type="http://schemas.openxmlformats.org/officeDocument/2006/relationships/diagramColors" Target="../diagrams/colors52.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52.xml"/><Relationship Id="rId9" Type="http://schemas.openxmlformats.org/officeDocument/2006/relationships/hyperlink" Target="https://www.codeproject.com/Articles/664282/Understanding-weak-references-in-NET"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53.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53.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53.xml"/><Relationship Id="rId9" Type="http://schemas.openxmlformats.org/officeDocument/2006/relationships/hyperlink" Target="https://blog.bytebytego.com/p/ep125-how-does-garbage-collection?open=false#%C2%A7how-does-garbage-collection-work" TargetMode="Externa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5.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56.xml"/><Relationship Id="rId7" Type="http://schemas.openxmlformats.org/officeDocument/2006/relationships/image" Target="../media/image5.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7.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7.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7.xml"/><Relationship Id="rId9" Type="http://schemas.openxmlformats.org/officeDocument/2006/relationships/hyperlink" Target="https://learn.microsoft.com/en-us/windows/win32/procthread/thread-pools"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59.xml"/><Relationship Id="rId7" Type="http://schemas.openxmlformats.org/officeDocument/2006/relationships/hyperlink" Target="https://www.wallarm.com/what/what-is-a-race-condition" TargetMode="External"/><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blog.bytebytego.com/p/ep112-what-is-a-deadlock" TargetMode="Externa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60.xm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7.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62.xml"/><Relationship Id="rId7" Type="http://schemas.openxmlformats.org/officeDocument/2006/relationships/image" Target="../media/image8.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 Id="rId9" Type="http://schemas.openxmlformats.org/officeDocument/2006/relationships/hyperlink" Target="https://iq.direct/blog/54-using-c-mutexes-for-inter-interprocess-synchronization.html" TargetMode="Externa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64.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64.xml"/><Relationship Id="rId9" Type="http://schemas.openxmlformats.org/officeDocument/2006/relationships/hyperlink" Target="https://www.albahari.com/threading/part3.aspx#_Safe_Cancellation" TargetMode="Externa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10.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tamerlan.dev/multithreading-principles-and-patterns/" TargetMode="External"/><Relationship Id="rId26" Type="http://schemas.openxmlformats.org/officeDocument/2006/relationships/hyperlink" Target="https://stackoverflow.com/questions/4153118/list-of-concurrency-models" TargetMode="External"/><Relationship Id="rId3" Type="http://schemas.openxmlformats.org/officeDocument/2006/relationships/diagramLayout" Target="../diagrams/layout67.xml"/><Relationship Id="rId21" Type="http://schemas.openxmlformats.org/officeDocument/2006/relationships/hyperlink" Target="https://learn.microsoft.com/en-us/visualstudio/profiling/common-patterns-for-poorly-behaved-multithreaded-applications?view=vs-2022&amp;viewFallbackFrom=vs-202"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github.com/rikace/fConcBook" TargetMode="External"/><Relationship Id="rId25" Type="http://schemas.openxmlformats.org/officeDocument/2006/relationships/hyperlink" Target="https://pragprog.com/titles/pb7con/seven-concurrency-models-in-seven-weeks/" TargetMode="External"/><Relationship Id="rId2" Type="http://schemas.openxmlformats.org/officeDocument/2006/relationships/diagramData" Target="../diagrams/data67.xml"/><Relationship Id="rId16" Type="http://schemas.openxmlformats.org/officeDocument/2006/relationships/hyperlink" Target="https://github.com/2DGD-F0TH/2DGD_F0TH/blob/master/chapters/001_Introduction/001_Introduction.md" TargetMode="External"/><Relationship Id="rId20" Type="http://schemas.openxmlformats.org/officeDocument/2006/relationships/hyperlink" Target="https://web.stanford.edu/class/archive/cs/cs110/cs110.1202/static/lectures/12-multithreading-patterns-data-structures.pdf" TargetMode="External"/><Relationship Id="rId1" Type="http://schemas.openxmlformats.org/officeDocument/2006/relationships/slideLayout" Target="../slideLayouts/slideLayout2.xml"/><Relationship Id="rId6" Type="http://schemas.microsoft.com/office/2007/relationships/diagramDrawing" Target="../diagrams/drawing67.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github.com/sundaygeek/design-patterns-for-embedded-system-in-c" TargetMode="External"/><Relationship Id="rId5" Type="http://schemas.openxmlformats.org/officeDocument/2006/relationships/diagramColors" Target="../diagrams/colors67.xml"/><Relationship Id="rId15" Type="http://schemas.openxmlformats.org/officeDocument/2006/relationships/hyperlink" Target="https://learn.microsoft.com/en-us/aspnet/core/fundamentals/servers/?view=aspnetcore-10.0&amp;tabs=windows" TargetMode="External"/><Relationship Id="rId23" Type="http://schemas.openxmlformats.org/officeDocument/2006/relationships/hyperlink" Target="https://www.amazon.in/gp/product/B0BWSHK2M5/ref=ox_sc_act_title_?smid=A3SI5I1JWQ14PC&amp;psc=1"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dev.to/lucasnscr/multithreading-and-patterns-4nmk" TargetMode="External"/><Relationship Id="rId4" Type="http://schemas.openxmlformats.org/officeDocument/2006/relationships/diagramQuickStyle" Target="../diagrams/quickStyle67.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udemy.com/course/multithreading-design-patterns/"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8.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8.xml"/><Relationship Id="rId9" Type="http://schemas.openxmlformats.org/officeDocument/2006/relationships/hyperlink" Target="https://www.albahari.com/threading/part5.aspx#_The_Parallel_Class" TargetMode="External"/></Relationships>
</file>

<file path=ppt/slides/_rels/slide69.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9.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9.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9.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9.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9.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70.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70.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70.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70.xml"/><Relationship Id="rId9" Type="http://schemas.openxmlformats.org/officeDocument/2006/relationships/hyperlink" Target="https://devblogs.microsoft.com/pfxteam/await-anything/" TargetMode="Externa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11.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74.xml"/><Relationship Id="rId7" Type="http://schemas.openxmlformats.org/officeDocument/2006/relationships/image" Target="../media/image12.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 Id="rId9" Type="http://schemas.openxmlformats.org/officeDocument/2006/relationships/hyperlink" Target="https://learn.microsoft.com/en-us/dotnet/api/system.io.streamreader.peek?view=net-8.0"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75.xml"/><Relationship Id="rId7" Type="http://schemas.openxmlformats.org/officeDocument/2006/relationships/image" Target="../media/image13.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14.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7.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7.xml"/><Relationship Id="rId7" Type="http://schemas.openxmlformats.org/officeDocument/2006/relationships/image" Target="../media/image1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7.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7.xml"/><Relationship Id="rId9" Type="http://schemas.openxmlformats.org/officeDocument/2006/relationships/hyperlink" Target="https://learn.microsoft.com/en-us/dotnet/api/system.io?view=net-8.0" TargetMode="External"/></Relationships>
</file>

<file path=ppt/slides/_rels/slide78.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8.xml"/><Relationship Id="rId7" Type="http://schemas.openxmlformats.org/officeDocument/2006/relationships/image" Target="../media/image16.gif"/><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VasanthVanan/computer-networking-top-down-approach-notes"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9.xml"/><Relationship Id="rId7" Type="http://schemas.openxmlformats.org/officeDocument/2006/relationships/image" Target="../media/image17.png"/><Relationship Id="rId12" Type="http://schemas.openxmlformats.org/officeDocument/2006/relationships/hyperlink" Target="https://www.oreilly.com/library/view/head-first-networking/9780596804398/"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79.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9.xml"/><Relationship Id="rId15" Type="http://schemas.openxmlformats.org/officeDocument/2006/relationships/hyperlink" Target="https://learn.microsoft.com/en-us/dotnet/fundamentals/networking/overview"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9.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github.com/PacktPublishing/Hands-On-Network-Programming-with-CSharp-and-.NET-Core" TargetMode="Externa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8" Type="http://schemas.openxmlformats.org/officeDocument/2006/relationships/hyperlink" Target="https://stackoverflow.com/questions/2366921/reflection-emit-vs-codedom"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82.xml"/><Relationship Id="rId7" Type="http://schemas.openxmlformats.org/officeDocument/2006/relationships/hyperlink" Target="https://topic.alibabacloud.com/a/code-generation-technology-codedom-vs-t4_8_8_32071393.html" TargetMode="External"/><Relationship Id="rId12" Type="http://schemas.openxmlformats.org/officeDocument/2006/relationships/hyperlink" Target="https://www.codeproject.com/Articles/5253617/CodeDOM-Go-Kit-The-CodeDOM-is-Dead-Long-Live-the-C"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11" Type="http://schemas.openxmlformats.org/officeDocument/2006/relationships/hyperlink" Target="https://www.syncfusion.com/succinctly-free-ebooks/t4succinctly" TargetMode="External"/><Relationship Id="rId5" Type="http://schemas.openxmlformats.org/officeDocument/2006/relationships/diagramColors" Target="../diagrams/colors82.xml"/><Relationship Id="rId15" Type="http://schemas.openxmlformats.org/officeDocument/2006/relationships/hyperlink" Target="https://stackoverflow.com/questions/683620/what-is-the-best-resource-for-learning-c-sharp-expression-trees-in-depth" TargetMode="External"/><Relationship Id="rId10" Type="http://schemas.openxmlformats.org/officeDocument/2006/relationships/hyperlink" Target="https://www.hanselman.com/blog/t4-text-template-transformation-toolkit-code-generation-best-kept-visual-studio-secret" TargetMode="External"/><Relationship Id="rId4" Type="http://schemas.openxmlformats.org/officeDocument/2006/relationships/diagramQuickStyle" Target="../diagrams/quickStyle82.xml"/><Relationship Id="rId9" Type="http://schemas.openxmlformats.org/officeDocument/2006/relationships/hyperlink" Target="https://jeremydmiller.com/2015/11/11/using-roslyn-for-runtime-code-generation-in-marten/" TargetMode="External"/><Relationship Id="rId14" Type="http://schemas.openxmlformats.org/officeDocument/2006/relationships/hyperlink" Target="https://bagoum.medium.com/dynamic-code-generation-in-c-with-expression-trees-2ec4eebcb8ec"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83.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83.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83.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84.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85.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6.xml"/><Relationship Id="rId7" Type="http://schemas.openxmlformats.org/officeDocument/2006/relationships/hyperlink" Target="https://www.jot.fm/issues/issue_2007_03/article1/"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6.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6.xml"/><Relationship Id="rId9" Type="http://schemas.openxmlformats.org/officeDocument/2006/relationships/hyperlink" Target="https://www.postsharp.net/solutions/middleware"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www.manning.com/books/metaprogramming-in-dot-net" TargetMode="External"/><Relationship Id="rId3" Type="http://schemas.openxmlformats.org/officeDocument/2006/relationships/diagramLayout" Target="../diagrams/layout87.xml"/><Relationship Id="rId7" Type="http://schemas.openxmlformats.org/officeDocument/2006/relationships/hyperlink" Target="https://github.com/PacktPublishing/Metaprogramming-in-C-Sharp"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88.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88.xml"/><Relationship Id="rId9" Type="http://schemas.openxmlformats.org/officeDocument/2006/relationships/hyperlink" Target="https://stackoverflow.com/questions/49288920/net-use-application-config-file-to-load-an-assembly-that-is-referenced-by-anoth"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9.xml"/><Relationship Id="rId7" Type="http://schemas.openxmlformats.org/officeDocument/2006/relationships/image" Target="../media/image18.jpe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medium.com/@heytherewill/rx-net-in-the-real-world-be61e0287a93" TargetMode="Externa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hyperlink" Target="https://www.baeldung.com/solid-principles"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91.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www.boldare.com/blog/solid-cupid-grasp-principles-object-oriented-design/"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92.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3.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93.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en.wikipedia.org/wiki/Prototype_pattern" TargetMode="External"/><Relationship Id="rId5" Type="http://schemas.openxmlformats.org/officeDocument/2006/relationships/diagramColors" Target="../diagrams/colors93.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93.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94.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94.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en.wikipedia.org/wiki/Decorator_pattern" TargetMode="External"/><Relationship Id="rId5" Type="http://schemas.openxmlformats.org/officeDocument/2006/relationships/diagramColors" Target="../diagrams/colors94.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94.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95.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11" Type="http://schemas.openxmlformats.org/officeDocument/2006/relationships/hyperlink" Target="https://en.wikipedia.org/wiki/Aggregate_pattern" TargetMode="External"/><Relationship Id="rId5" Type="http://schemas.openxmlformats.org/officeDocument/2006/relationships/diagramColors" Target="../diagrams/colors95.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95.xml"/><Relationship Id="rId9" Type="http://schemas.openxmlformats.org/officeDocument/2006/relationships/hyperlink" Target="https://refactoring.guru/design-patterns/command" TargetMode="External"/></Relationships>
</file>

<file path=ppt/slides/_rels/slide96.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96.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96.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96.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96.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97.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97.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97.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97.xml"/><Relationship Id="rId9" Type="http://schemas.openxmlformats.org/officeDocument/2006/relationships/hyperlink" Target="https://en.wikipedia.org/wiki/Software_design_pattern"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stackoverflow.com/questions/42582758/asp-net-core-middleware-vs-filters" TargetMode="External"/><Relationship Id="rId3" Type="http://schemas.openxmlformats.org/officeDocument/2006/relationships/diagramLayout" Target="../diagrams/layout98.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10" Type="http://schemas.openxmlformats.org/officeDocument/2006/relationships/hyperlink" Target="https://learn.microsoft.com/en-us/aspnet/core/grpc/interceptors?view=aspnetcore-8.0" TargetMode="External"/><Relationship Id="rId4" Type="http://schemas.openxmlformats.org/officeDocument/2006/relationships/diagramQuickStyle" Target="../diagrams/quickStyle98.xml"/><Relationship Id="rId9" Type="http://schemas.openxmlformats.org/officeDocument/2006/relationships/hyperlink" Target="https://www.asp.net/media/4071077/aspnet-web-api-poster.pdf"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9.xml"/><Relationship Id="rId7" Type="http://schemas.openxmlformats.org/officeDocument/2006/relationships/hyperlink" Target="https://www.infoq.com/news/2011/04/WCF-Extensibility/" TargetMode="External"/><Relationship Id="rId12" Type="http://schemas.openxmlformats.org/officeDocument/2006/relationships/hyperlink" Target="https://www.syncfusion.com/succinctly-free-ebooks?category=all&amp;searchkey=Simone%20Chiaretta%20and%20Ugo%20Lattanzi&amp;type=all"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learn.microsoft.com/en-us/previous-versions/aspnet/hh833994(v=vs.108)" TargetMode="External"/><Relationship Id="rId5" Type="http://schemas.openxmlformats.org/officeDocument/2006/relationships/diagramColors" Target="../diagrams/colors99.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9.xml"/><Relationship Id="rId9" Type="http://schemas.openxmlformats.org/officeDocument/2006/relationships/hyperlink" Target="https://stackoverflow.com/questions/6449132/http-handler-vs-http-module" TargetMode="External"/></Relationships>
</file>

<file path=ppt/slides/_rels/slide100.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100.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anuraj.dev/blog/using-mef-in-dotnet-core/" TargetMode="External"/><Relationship Id="rId5" Type="http://schemas.openxmlformats.org/officeDocument/2006/relationships/diagramColors" Target="../diagrams/colors100.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100.xml"/><Relationship Id="rId9" Type="http://schemas.openxmlformats.org/officeDocument/2006/relationships/hyperlink" Target="https://stackoverflow.com/questions/59019761/does-assemblyloadcontext-isolate-static-variables" TargetMode="Externa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7" Type="http://schemas.openxmlformats.org/officeDocument/2006/relationships/image" Target="../media/image19.png"/><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102.xml"/><Relationship Id="rId7" Type="http://schemas.openxmlformats.org/officeDocument/2006/relationships/hyperlink" Target="https://en.wikipedia.org/wiki/Language_workbench"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 Id="rId9" Type="http://schemas.openxmlformats.org/officeDocument/2006/relationships/hyperlink" Target="https://medium.com/@rajeshdavid/how-does-a-graphql-service-work-internally-496dc9264096" TargetMode="Externa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0.xm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5.xm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7.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13" Type="http://schemas.openxmlformats.org/officeDocument/2006/relationships/hyperlink" Target="https://gist.github.com/sandipray63in/424cecd9bd417d6509eea17a0f3fd61e" TargetMode="External"/><Relationship Id="rId3" Type="http://schemas.openxmlformats.org/officeDocument/2006/relationships/diagramLayout" Target="../diagrams/layout117.xml"/><Relationship Id="rId7" Type="http://schemas.openxmlformats.org/officeDocument/2006/relationships/hyperlink" Target="https://www.orientsoftware.com/blog/dod-programming/" TargetMode="External"/><Relationship Id="rId12" Type="http://schemas.openxmlformats.org/officeDocument/2006/relationships/hyperlink" Target="https://gist.github.com/sandipray63in/19e4a48e6a30de846e740ebfa906ef23" TargetMode="Externa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7.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7.xml"/><Relationship Id="rId9" Type="http://schemas.openxmlformats.org/officeDocument/2006/relationships/hyperlink" Target="https://learn.unity.com/course/dots-best-practices/tutorial/part-1-understand-data-oriented-design?version=2022.3" TargetMode="External"/><Relationship Id="rId14" Type="http://schemas.openxmlformats.org/officeDocument/2006/relationships/hyperlink" Target="https://gist.github.com/sandipray63in/e910afff28f37b4f6dc0d55027c1ad04"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0.xml.rels><?xml version="1.0" encoding="UTF-8" standalone="yes"?>
<Relationships xmlns="http://schemas.openxmlformats.org/package/2006/relationships"><Relationship Id="rId8" Type="http://schemas.openxmlformats.org/officeDocument/2006/relationships/hyperlink" Target="https://inventwithpython.com/" TargetMode="External"/><Relationship Id="rId13" Type="http://schemas.openxmlformats.org/officeDocument/2006/relationships/hyperlink" Target="https://www.linkedin.com/posts/ray-rahul_%3F%3F%3F%3F%3F-%3F%3F%3F%3F%3F%3F%3F%3F-%3F%3F%3F%3F-%3F%3F-activity-7231616658820251651-FMD-/" TargetMode="External"/><Relationship Id="rId18" Type="http://schemas.openxmlformats.org/officeDocument/2006/relationships/hyperlink" Target="https://github.com/jwasham/coding-interview-university" TargetMode="External"/><Relationship Id="rId26" Type="http://schemas.openxmlformats.org/officeDocument/2006/relationships/hyperlink" Target="https://antondevtips.com/blog/how-to-write-elegant-code-with-csharp-switch-expressions" TargetMode="External"/><Relationship Id="rId3" Type="http://schemas.openxmlformats.org/officeDocument/2006/relationships/diagramLayout" Target="../diagrams/layout120.xml"/><Relationship Id="rId21" Type="http://schemas.openxmlformats.org/officeDocument/2006/relationships/hyperlink" Target="https://github.com/markjprice?tab=repositories" TargetMode="External"/><Relationship Id="rId7" Type="http://schemas.openxmlformats.org/officeDocument/2006/relationships/hyperlink" Target="https://www.amazon.in/Essential-Algorithms-Practical-Approach-Computer-ebook/dp/B07SD76KLH?ref_=ast_author_dp&amp;dib=eyJ2IjoiMSJ9.KhacNmZT1UWK494bJbL8asH_MUpAbYJxVjNSBUfWLokwMsDmlcBzPndfOoWLBQnrYiUr66U_8717ArH8VEU1Jo-mZYSZicie2RjxkjWn0K-_DcCxAYFrBC6XXaUpJje6tHaeA3J76maEx-Nl_E0EPM17j1YQ70rYi85saR75Rmkl0Eh2Rivw-KWfy8isBIp0rZSmUhfwv3m3n7ZgUDG4QAe7Z0xES7Ooe95vlvJhb24.WrTF3eXgo0eb-XUyVTJ_0FrTZ0zR2MKcXb3W6qkMqww&amp;dib_tag=AUTHOR" TargetMode="External"/><Relationship Id="rId12" Type="http://schemas.openxmlformats.org/officeDocument/2006/relationships/hyperlink" Target="https://blog.algomaster.io/p/20-patterns-to-master-dynamic-programming" TargetMode="External"/><Relationship Id="rId17" Type="http://schemas.openxmlformats.org/officeDocument/2006/relationships/hyperlink" Target="https://github.com/ashishps1/awesome-leetcode-resources" TargetMode="External"/><Relationship Id="rId25" Type="http://schemas.openxmlformats.org/officeDocument/2006/relationships/hyperlink" Target="https://stackoverflow.com/questions/12389203/how-do-i-chunk-an-enumerable" TargetMode="External"/><Relationship Id="rId2" Type="http://schemas.openxmlformats.org/officeDocument/2006/relationships/diagramData" Target="../diagrams/data120.xml"/><Relationship Id="rId16" Type="http://schemas.openxmlformats.org/officeDocument/2006/relationships/hyperlink" Target="https://www.linkedin.com/posts/akashsinnghh_dsa-dsaquestions-datastructures-activity-7231521586510479361-hTqM/?utm_source=share&amp;utm_medium=member_desktop" TargetMode="External"/><Relationship Id="rId20" Type="http://schemas.openxmlformats.org/officeDocument/2006/relationships/hyperlink" Target="https://www.albahari.com/nutshell/" TargetMode="External"/><Relationship Id="rId29" Type="http://schemas.openxmlformats.org/officeDocument/2006/relationships/hyperlink" Target="https://stackoverflow.com/questions/43000520/why-would-one-use-taskt-over-valuetaskt-in-c" TargetMode="Externa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github.com/careermonk/data-structures-and-algorithms-made-easy-in-java" TargetMode="External"/><Relationship Id="rId24" Type="http://schemas.openxmlformats.org/officeDocument/2006/relationships/hyperlink" Target="https://learn.microsoft.com/en-us/dotnet/csharp/whats-new/csharp-13" TargetMode="External"/><Relationship Id="rId5" Type="http://schemas.openxmlformats.org/officeDocument/2006/relationships/diagramColors" Target="../diagrams/colors120.xml"/><Relationship Id="rId15" Type="http://schemas.openxmlformats.org/officeDocument/2006/relationships/hyperlink" Target="https://github.com/ByteByteGoHq/coding-interview-patterns" TargetMode="External"/><Relationship Id="rId23" Type="http://schemas.openxmlformats.org/officeDocument/2006/relationships/hyperlink" Target="https://rosettacode.org/wiki/Category:Programming_Tasks" TargetMode="External"/><Relationship Id="rId28" Type="http://schemas.openxmlformats.org/officeDocument/2006/relationships/hyperlink" Target="https://learn.microsoft.com/en-us/dotnet/csharp/fundamentals/functional/deconstruct" TargetMode="External"/><Relationship Id="rId10" Type="http://schemas.openxmlformats.org/officeDocument/2006/relationships/hyperlink" Target="https://www.amazon.in/Dynamic-Programming-Python-William-Smith/dp/1964899486" TargetMode="External"/><Relationship Id="rId19" Type="http://schemas.openxmlformats.org/officeDocument/2006/relationships/hyperlink" Target="https://www.techinterviewhandbook.org/" TargetMode="External"/><Relationship Id="rId4" Type="http://schemas.openxmlformats.org/officeDocument/2006/relationships/diagramQuickStyle" Target="../diagrams/quickStyle120.xml"/><Relationship Id="rId9" Type="http://schemas.openxmlformats.org/officeDocument/2006/relationships/hyperlink" Target="https://github.com/ericlippert/FabulousAdventures" TargetMode="External"/><Relationship Id="rId14" Type="http://schemas.openxmlformats.org/officeDocument/2006/relationships/hyperlink" Target="https://roadmap.sh/datastructures-and-algorithms" TargetMode="External"/><Relationship Id="rId22" Type="http://schemas.openxmlformats.org/officeDocument/2006/relationships/hyperlink" Target="https://www.geeksforgeeks.org/c-sharp-version-history/" TargetMode="External"/><Relationship Id="rId27" Type="http://schemas.openxmlformats.org/officeDocument/2006/relationships/hyperlink" Target="https://learn.microsoft.com/en-us/dotnet/csharp/whats-new/tutorials/primary-constructors" TargetMode="External"/><Relationship Id="rId30" Type="http://schemas.openxmlformats.org/officeDocument/2006/relationships/hyperlink" Target="https://medium.com/@KeyurRamoliya/c-optimize-performance-with-span-and-memory-84c3e6583885" TargetMode="External"/></Relationships>
</file>

<file path=ppt/slides/_rels/slide121.xml.rels><?xml version="1.0" encoding="UTF-8" standalone="yes"?>
<Relationships xmlns="http://schemas.openxmlformats.org/package/2006/relationships"><Relationship Id="rId13" Type="http://schemas.openxmlformats.org/officeDocument/2006/relationships/hyperlink" Target="https://learn.microsoft.com/en-us/dotnet/standard/native-interop/" TargetMode="External"/><Relationship Id="rId18" Type="http://schemas.openxmlformats.org/officeDocument/2006/relationships/hyperlink" Target="https://www.linkedin.com/posts/shivkoirala_200-c-interview-questions-ugcPost-7285626212419325954-8zyj/" TargetMode="External"/><Relationship Id="rId26" Type="http://schemas.openxmlformats.org/officeDocument/2006/relationships/hyperlink" Target="https://rosettacode.org/wiki/Category:Programming_Tasks" TargetMode="External"/><Relationship Id="rId3" Type="http://schemas.openxmlformats.org/officeDocument/2006/relationships/diagramLayout" Target="../diagrams/layout121.xml"/><Relationship Id="rId21" Type="http://schemas.openxmlformats.org/officeDocument/2006/relationships/hyperlink" Target="https://postgrespro.com/community/books/internals" TargetMode="External"/><Relationship Id="rId7" Type="http://schemas.openxmlformats.org/officeDocument/2006/relationships/hyperlink" Target="https://github.com/miholler/NSpecifications" TargetMode="External"/><Relationship Id="rId12" Type="http://schemas.openxmlformats.org/officeDocument/2006/relationships/hyperlink" Target="https://github.com/PacktPublishing/Systems-Programming-with-C-Sharp-and-.NET" TargetMode="External"/><Relationship Id="rId17" Type="http://schemas.openxmlformats.org/officeDocument/2006/relationships/hyperlink" Target="https://github.com/PacktPublishing/High-Performance-Programming-in-C-Sharp-and-.NET" TargetMode="External"/><Relationship Id="rId25" Type="http://schemas.openxmlformats.org/officeDocument/2006/relationships/hyperlink" Target="https://www.packtpub.com/en-cy/product/the-modern-c-challenge-9781789535426?srsltid=AfmBOoobJhK3ev4UwfO5ecLJyJXJpKJZWaNgRdcaTNnoCNF7CeyPbQY_" TargetMode="External"/><Relationship Id="rId33" Type="http://schemas.openxmlformats.org/officeDocument/2006/relationships/hyperlink" Target="https://gist.github.com/sandipray63in/6b73afdaa67c87b8a7c1bbbb883a5ea8" TargetMode="External"/><Relationship Id="rId2" Type="http://schemas.openxmlformats.org/officeDocument/2006/relationships/diagramData" Target="../diagrams/data121.xml"/><Relationship Id="rId16" Type="http://schemas.openxmlformats.org/officeDocument/2006/relationships/hyperlink" Target="https://www.oreilly.com/library/view/regular-expressions-cookbook/9781449327453/" TargetMode="External"/><Relationship Id="rId20" Type="http://schemas.openxmlformats.org/officeDocument/2006/relationships/hyperlink" Target="https://www.linkedin.com/posts/maheshma_postgresql-sql-systemdesign-activity-7167707514266996736-HqMi/" TargetMode="External"/><Relationship Id="rId29" Type="http://schemas.openxmlformats.org/officeDocument/2006/relationships/hyperlink" Target="https://www.planetgeek.ch/2013/06/05/clean-code-cheat-shee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cronitor.io/guides/kubernetes-cron-jobs" TargetMode="External"/><Relationship Id="rId24" Type="http://schemas.openxmlformats.org/officeDocument/2006/relationships/hyperlink" Target="https://roadmap.sh/computer-science" TargetMode="External"/><Relationship Id="rId32" Type="http://schemas.openxmlformats.org/officeDocument/2006/relationships/hyperlink" Target="https://build-your-own-x.vercel.app/" TargetMode="External"/><Relationship Id="rId5" Type="http://schemas.openxmlformats.org/officeDocument/2006/relationships/diagramColors" Target="../diagrams/colors121.xml"/><Relationship Id="rId15" Type="http://schemas.openxmlformats.org/officeDocument/2006/relationships/hyperlink" Target="https://books.goalkicker.com/" TargetMode="External"/><Relationship Id="rId23" Type="http://schemas.openxmlformats.org/officeDocument/2006/relationships/hyperlink" Target="https://en.wikipedia.org/wiki/Automata_theory" TargetMode="External"/><Relationship Id="rId28" Type="http://schemas.openxmlformats.org/officeDocument/2006/relationships/hyperlink" Target="https://github.com/gamontal/awesome-katas" TargetMode="External"/><Relationship Id="rId10" Type="http://schemas.openxmlformats.org/officeDocument/2006/relationships/hyperlink" Target="https://benbrougher.tech/posts/kubernetes-cron-job/" TargetMode="External"/><Relationship Id="rId19" Type="http://schemas.openxmlformats.org/officeDocument/2006/relationships/hyperlink" Target="https://github.com/milanm/DotNet-Developer-Roadmap" TargetMode="External"/><Relationship Id="rId31" Type="http://schemas.openxmlformats.org/officeDocument/2006/relationships/hyperlink" Target="https://github.com/prasadgujar/low-level-design-primer" TargetMode="External"/><Relationship Id="rId4" Type="http://schemas.openxmlformats.org/officeDocument/2006/relationships/diagramQuickStyle" Target="../diagrams/quickStyle121.xml"/><Relationship Id="rId9" Type="http://schemas.openxmlformats.org/officeDocument/2006/relationships/hyperlink" Target="https://github.com/PacktPublishing/Building-CLI-Applications-with-C-Sharp-and-.NET" TargetMode="External"/><Relationship Id="rId14" Type="http://schemas.openxmlformats.org/officeDocument/2006/relationships/hyperlink" Target="https://github.com/ziishaned/learn-regex" TargetMode="External"/><Relationship Id="rId22" Type="http://schemas.openxmlformats.org/officeDocument/2006/relationships/hyperlink" Target="https://www.geeksforgeeks.org/gate-cs-notes-gq/" TargetMode="External"/><Relationship Id="rId27" Type="http://schemas.openxmlformats.org/officeDocument/2006/relationships/hyperlink" Target="https://codingchallenges.substack.com/" TargetMode="External"/><Relationship Id="rId30" Type="http://schemas.openxmlformats.org/officeDocument/2006/relationships/hyperlink" Target="https://github.com/ashishps1/awesome-low-level-design" TargetMode="External"/><Relationship Id="rId8" Type="http://schemas.openxmlformats.org/officeDocument/2006/relationships/hyperlink" Target="https://stackoverflow.com/questions/65585395/specification-pattern-vs-fluent-validation"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p>
          <a:p>
            <a:pPr marL="12700" marR="5080"/>
            <a:r>
              <a:rPr lang="en-US" sz="1400" dirty="0"/>
              <a:t>                                                                                      </a:t>
            </a:r>
          </a:p>
          <a:p>
            <a:pPr marL="12700" marR="5080"/>
            <a:r>
              <a:rPr lang="en-US" sz="1400" kern="0" spc="-220" dirty="0">
                <a:solidFill>
                  <a:schemeClr val="accent2"/>
                </a:solidFill>
              </a:rPr>
              <a:t> </a:t>
            </a:r>
            <a:r>
              <a:rPr lang="en-US" sz="1400" dirty="0">
                <a:hlinkClick r:id="rId8"/>
              </a:rPr>
              <a:t>Functional Programming with C#</a:t>
            </a:r>
            <a:endParaRPr lang="en-US" sz="1400" dirty="0"/>
          </a:p>
          <a:p>
            <a:pPr marL="12700" marR="5080"/>
            <a:endParaRPr lang="en-US" sz="2400" kern="0" spc="-220" dirty="0">
              <a:solidFill>
                <a:schemeClr val="accent2"/>
              </a:solidFill>
            </a:endParaRPr>
          </a:p>
          <a:p>
            <a:pPr marL="12700" marR="5080"/>
            <a:r>
              <a:rPr lang="en-US" sz="2000" kern="0" spc="-220" dirty="0">
                <a:solidFill>
                  <a:schemeClr val="accent6"/>
                </a:solidFill>
              </a:rPr>
              <a:t> </a:t>
            </a:r>
            <a:r>
              <a:rPr lang="en-US" sz="1500" dirty="0">
                <a:hlinkClick r:id="rId9"/>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10"/>
              </a:rPr>
              <a:t>Dixin's</a:t>
            </a:r>
            <a:r>
              <a:rPr lang="en-US" sz="1500" dirty="0">
                <a:hlinkClick r:id="rId10"/>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1"/>
              </a:rPr>
              <a:t>Functional-Programming/haskell/Functional_Programming_Concepts.org at master · </a:t>
            </a:r>
            <a:r>
              <a:rPr lang="en-IN" sz="1500" dirty="0" err="1">
                <a:hlinkClick r:id="rId11"/>
              </a:rPr>
              <a:t>caiorss</a:t>
            </a:r>
            <a:r>
              <a:rPr lang="en-IN" sz="1500" dirty="0">
                <a:hlinkClick r:id="rId11"/>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2"/>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5BAC0-0F1D-222D-352F-8883298BB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7742BE-6260-015A-FB4C-5FAB290273C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930B31-927F-0B44-F004-AC6023E6FE7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9C0AB4-A94F-B9DA-B6C4-0847AFC8D378}"/>
              </a:ext>
            </a:extLst>
          </p:cNvPr>
          <p:cNvGraphicFramePr/>
          <p:nvPr>
            <p:extLst>
              <p:ext uri="{D42A27DB-BD31-4B8C-83A1-F6EECF244321}">
                <p14:modId xmlns:p14="http://schemas.microsoft.com/office/powerpoint/2010/main" val="184134157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descr="A screenshot of a computer&#10;&#10;AI-generated content may be incorrect.">
            <a:extLst>
              <a:ext uri="{FF2B5EF4-FFF2-40B4-BE49-F238E27FC236}">
                <a16:creationId xmlns:a16="http://schemas.microsoft.com/office/drawing/2014/main" id="{7E4BE7D0-DA5A-1654-544B-6E067B5252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3000"/>
            <a:ext cx="8915400" cy="4724400"/>
          </a:xfrm>
          <a:prstGeom prst="rect">
            <a:avLst/>
          </a:prstGeom>
        </p:spPr>
      </p:pic>
    </p:spTree>
    <p:extLst>
      <p:ext uri="{BB962C8B-B14F-4D97-AF65-F5344CB8AC3E}">
        <p14:creationId xmlns:p14="http://schemas.microsoft.com/office/powerpoint/2010/main" val="358420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5238B-1A66-0456-0283-E3A14AF76B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2840B2-0214-E463-0928-7FFDB96F06B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A75166-6A70-74A6-EB6E-71CA9983953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9852CA-E000-6FF6-D07D-1F69038DF605}"/>
              </a:ext>
            </a:extLst>
          </p:cNvPr>
          <p:cNvGraphicFramePr/>
          <p:nvPr>
            <p:extLst>
              <p:ext uri="{D42A27DB-BD31-4B8C-83A1-F6EECF244321}">
                <p14:modId xmlns:p14="http://schemas.microsoft.com/office/powerpoint/2010/main" val="307761452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shot of a computer&#10;&#10;AI-generated content may be incorrect.">
            <a:extLst>
              <a:ext uri="{FF2B5EF4-FFF2-40B4-BE49-F238E27FC236}">
                <a16:creationId xmlns:a16="http://schemas.microsoft.com/office/drawing/2014/main" id="{234686B1-3D20-F408-4737-281DB1BEB2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9131"/>
            <a:ext cx="8915400" cy="4718269"/>
          </a:xfrm>
          <a:prstGeom prst="rect">
            <a:avLst/>
          </a:prstGeom>
        </p:spPr>
      </p:pic>
    </p:spTree>
    <p:extLst>
      <p:ext uri="{BB962C8B-B14F-4D97-AF65-F5344CB8AC3E}">
        <p14:creationId xmlns:p14="http://schemas.microsoft.com/office/powerpoint/2010/main" val="1065880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4DE3-349C-BE2F-E8E8-0D45B9EF24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F27644-13B5-C7B9-28AD-4E377FCE26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6680A0-7D1F-A999-554C-ADB39AB8820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C8498-E650-A728-7B7E-373FA84DFC7E}"/>
              </a:ext>
            </a:extLst>
          </p:cNvPr>
          <p:cNvGraphicFramePr/>
          <p:nvPr>
            <p:extLst>
              <p:ext uri="{D42A27DB-BD31-4B8C-83A1-F6EECF244321}">
                <p14:modId xmlns:p14="http://schemas.microsoft.com/office/powerpoint/2010/main" val="373722789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944C89B-59EC-DD4D-A9F9-A9819B321E94}"/>
              </a:ext>
            </a:extLst>
          </p:cNvPr>
          <p:cNvSpPr txBox="1">
            <a:spLocks/>
          </p:cNvSpPr>
          <p:nvPr/>
        </p:nvSpPr>
        <p:spPr>
          <a:xfrm>
            <a:off x="275300" y="11656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Quick Summary</a:t>
            </a:r>
          </a:p>
          <a:p>
            <a:pPr marL="12700" marR="5080"/>
            <a:r>
              <a:rPr lang="en-US" sz="2400" kern="0" spc="-220" dirty="0">
                <a:solidFill>
                  <a:schemeClr val="accent2"/>
                </a:solidFill>
              </a:rPr>
              <a:t>Value Types</a:t>
            </a:r>
          </a:p>
          <a:p>
            <a:pPr marL="12700" marR="5080"/>
            <a:r>
              <a:rPr lang="en-US" sz="2400" kern="0" spc="-220" dirty="0">
                <a:solidFill>
                  <a:schemeClr val="accent6"/>
                </a:solidFill>
              </a:rPr>
              <a:t>Hold data directly</a:t>
            </a:r>
          </a:p>
          <a:p>
            <a:pPr marL="12700" marR="5080"/>
            <a:r>
              <a:rPr lang="en-US" sz="2400" kern="0" spc="-220" dirty="0">
                <a:solidFill>
                  <a:schemeClr val="accent6"/>
                </a:solidFill>
              </a:rPr>
              <a:t>Copied by value</a:t>
            </a:r>
          </a:p>
          <a:p>
            <a:pPr marL="12700" marR="5080"/>
            <a:r>
              <a:rPr lang="en-US" sz="2400" kern="0" spc="-220" dirty="0">
                <a:solidFill>
                  <a:schemeClr val="accent6"/>
                </a:solidFill>
              </a:rPr>
              <a:t>Fast</a:t>
            </a:r>
          </a:p>
          <a:p>
            <a:pPr marL="12700" marR="5080"/>
            <a:r>
              <a:rPr lang="en-US" sz="2400" kern="0" spc="-220" dirty="0">
                <a:solidFill>
                  <a:schemeClr val="accent6"/>
                </a:solidFill>
              </a:rPr>
              <a:t>No inheritance</a:t>
            </a:r>
          </a:p>
          <a:p>
            <a:pPr marL="12700" marR="5080"/>
            <a:r>
              <a:rPr lang="en-US" sz="2400" kern="0" spc="-220" dirty="0">
                <a:solidFill>
                  <a:schemeClr val="accent6"/>
                </a:solidFill>
              </a:rPr>
              <a:t>Stored in stack</a:t>
            </a:r>
          </a:p>
          <a:p>
            <a:pPr marL="12700" marR="5080"/>
            <a:r>
              <a:rPr lang="en-US" sz="2400" kern="0" spc="-220" dirty="0">
                <a:solidFill>
                  <a:schemeClr val="accent2"/>
                </a:solidFill>
              </a:rPr>
              <a:t>Reference Types</a:t>
            </a:r>
          </a:p>
          <a:p>
            <a:pPr marL="12700" marR="5080"/>
            <a:r>
              <a:rPr lang="en-US" sz="2400" kern="0" spc="-220" dirty="0">
                <a:solidFill>
                  <a:schemeClr val="accent6"/>
                </a:solidFill>
              </a:rPr>
              <a:t>Hold address of data</a:t>
            </a:r>
          </a:p>
          <a:p>
            <a:pPr marL="12700" marR="5080"/>
            <a:r>
              <a:rPr lang="en-US" sz="2400" kern="0" spc="-220" dirty="0">
                <a:solidFill>
                  <a:schemeClr val="accent6"/>
                </a:solidFill>
              </a:rPr>
              <a:t>Copied by reference</a:t>
            </a:r>
          </a:p>
          <a:p>
            <a:pPr marL="12700" marR="5080"/>
            <a:r>
              <a:rPr lang="en-US" sz="2400" kern="0" spc="-220" dirty="0">
                <a:solidFill>
                  <a:schemeClr val="accent6"/>
                </a:solidFill>
              </a:rPr>
              <a:t>Garbage collected</a:t>
            </a:r>
          </a:p>
          <a:p>
            <a:pPr marL="12700" marR="5080"/>
            <a:r>
              <a:rPr lang="en-US" sz="2400" kern="0" spc="-220" dirty="0">
                <a:solidFill>
                  <a:schemeClr val="accent6"/>
                </a:solidFill>
              </a:rPr>
              <a:t>Support inheritance</a:t>
            </a:r>
          </a:p>
          <a:p>
            <a:pPr marL="12700" marR="5080"/>
            <a:r>
              <a:rPr lang="en-US" sz="2400" kern="0" spc="-220" dirty="0">
                <a:solidFill>
                  <a:schemeClr val="accent6"/>
                </a:solidFill>
              </a:rPr>
              <a:t>Stored in heap.     </a:t>
            </a:r>
          </a:p>
          <a:p>
            <a:pPr marL="12700" marR="5080"/>
            <a:endParaRPr lang="en-US" sz="2400" kern="0" spc="-220" dirty="0">
              <a:solidFill>
                <a:schemeClr val="accent2"/>
              </a:solidFill>
            </a:endParaRPr>
          </a:p>
        </p:txBody>
      </p:sp>
    </p:spTree>
    <p:extLst>
      <p:ext uri="{BB962C8B-B14F-4D97-AF65-F5344CB8AC3E}">
        <p14:creationId xmlns:p14="http://schemas.microsoft.com/office/powerpoint/2010/main" val="2286346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E4690-6E07-9F1B-E796-B2A849CF56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C89B89-AE36-BC5C-C37F-6DFC2A2035D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C9CFD1-DD52-2092-A8B3-44F10528054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EFE985-E6AC-8522-26AC-956B0955167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3C2DBBA-2AA3-551F-5E58-3705BD5558F4}"/>
              </a:ext>
            </a:extLst>
          </p:cNvPr>
          <p:cNvSpPr txBox="1">
            <a:spLocks/>
          </p:cNvSpPr>
          <p:nvPr/>
        </p:nvSpPr>
        <p:spPr>
          <a:xfrm>
            <a:off x="259531" y="122751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base class or interface</a:t>
            </a:r>
          </a:p>
        </p:txBody>
      </p:sp>
      <p:sp>
        <p:nvSpPr>
          <p:cNvPr id="3" name="object 2">
            <a:extLst>
              <a:ext uri="{FF2B5EF4-FFF2-40B4-BE49-F238E27FC236}">
                <a16:creationId xmlns:a16="http://schemas.microsoft.com/office/drawing/2014/main" id="{52F8FE2E-16B6-CBE0-66BD-CD97D7CC4FA2}"/>
              </a:ext>
            </a:extLst>
          </p:cNvPr>
          <p:cNvSpPr txBox="1">
            <a:spLocks/>
          </p:cNvSpPr>
          <p:nvPr/>
        </p:nvSpPr>
        <p:spPr>
          <a:xfrm>
            <a:off x="259530" y="2537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p:txBody>
      </p:sp>
      <p:sp>
        <p:nvSpPr>
          <p:cNvPr id="7" name="object 2">
            <a:extLst>
              <a:ext uri="{FF2B5EF4-FFF2-40B4-BE49-F238E27FC236}">
                <a16:creationId xmlns:a16="http://schemas.microsoft.com/office/drawing/2014/main" id="{56E5038C-D2A8-DA45-4EA0-CF8486C9A9D3}"/>
              </a:ext>
            </a:extLst>
          </p:cNvPr>
          <p:cNvSpPr txBox="1">
            <a:spLocks/>
          </p:cNvSpPr>
          <p:nvPr/>
        </p:nvSpPr>
        <p:spPr>
          <a:xfrm>
            <a:off x="275300" y="346814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6"/>
                </a:solidFill>
              </a:rPr>
              <a:t>C# has no built-in constraint like:</a:t>
            </a:r>
          </a:p>
          <a:p>
            <a:pPr marL="12700" marR="5080"/>
            <a:r>
              <a:rPr lang="en-US" sz="2000" kern="0" spc="-220" dirty="0">
                <a:solidFill>
                  <a:schemeClr val="accent6"/>
                </a:solidFill>
              </a:rPr>
              <a:t>where T : primitive  // ❌ not possible</a:t>
            </a:r>
          </a:p>
          <a:p>
            <a:pPr marL="12700" marR="5080"/>
            <a:r>
              <a:rPr lang="en-US" sz="2000" kern="0" spc="-220" dirty="0">
                <a:solidFill>
                  <a:schemeClr val="accent2"/>
                </a:solidFill>
              </a:rPr>
              <a:t>But you can approximate it:</a:t>
            </a:r>
          </a:p>
          <a:p>
            <a:pPr marL="12700" marR="5080"/>
            <a:r>
              <a:rPr lang="en-US" sz="2000" kern="0" spc="-220" dirty="0">
                <a:solidFill>
                  <a:schemeClr val="accent2"/>
                </a:solidFill>
              </a:rPr>
              <a:t>Option A — Restrict to value types</a:t>
            </a:r>
          </a:p>
          <a:p>
            <a:pPr marL="12700" marR="5080"/>
            <a:r>
              <a:rPr lang="en-US" sz="2000" kern="0" spc="-220" dirty="0">
                <a:solidFill>
                  <a:schemeClr val="accent6"/>
                </a:solidFill>
              </a:rPr>
              <a:t>public class </a:t>
            </a:r>
            <a:r>
              <a:rPr lang="en-US" sz="2000" kern="0" spc="-220" dirty="0" err="1">
                <a:solidFill>
                  <a:schemeClr val="accent6"/>
                </a:solidFill>
              </a:rPr>
              <a:t>MyNumeric</a:t>
            </a:r>
            <a:r>
              <a:rPr lang="en-US" sz="2000" kern="0" spc="-220" dirty="0">
                <a:solidFill>
                  <a:schemeClr val="accent6"/>
                </a:solidFill>
              </a:rPr>
              <a:t>&lt;T&gt; where T : struct</a:t>
            </a:r>
          </a:p>
          <a:p>
            <a:pPr marL="12700" marR="5080"/>
            <a:r>
              <a:rPr lang="en-US" sz="2000" kern="0" spc="-220" dirty="0">
                <a:solidFill>
                  <a:schemeClr val="accent6"/>
                </a:solidFill>
              </a:rPr>
              <a:t>{</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446337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D320F-5C51-9A30-3E77-483A703620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9577A3-9A7F-8FCC-815A-B4ADC0B717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692CE5-3888-54A1-5CEB-E81B0B3020B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2B72AA-8EFA-D723-3044-25F0223BE87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8FC60A0-DDCC-2B74-C810-883BDB15FE81}"/>
              </a:ext>
            </a:extLst>
          </p:cNvPr>
          <p:cNvSpPr txBox="1">
            <a:spLocks/>
          </p:cNvSpPr>
          <p:nvPr/>
        </p:nvSpPr>
        <p:spPr>
          <a:xfrm>
            <a:off x="152400" y="11430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A — Restrict to value types</a:t>
            </a:r>
          </a:p>
          <a:p>
            <a:pPr marL="12700" marR="5080"/>
            <a:r>
              <a:rPr lang="en-US" sz="2000" kern="0" spc="-220" dirty="0">
                <a:solidFill>
                  <a:schemeClr val="accent6"/>
                </a:solidFill>
              </a:rPr>
              <a:t>Allows int/float/double…</a:t>
            </a:r>
          </a:p>
          <a:p>
            <a:pPr marL="12700" marR="5080"/>
            <a:r>
              <a:rPr lang="en-US" sz="2000" kern="0" spc="-220" dirty="0">
                <a:solidFill>
                  <a:schemeClr val="accent6"/>
                </a:solidFill>
              </a:rPr>
              <a:t>Also allows </a:t>
            </a:r>
            <a:r>
              <a:rPr lang="en-US" sz="2000" kern="0" spc="-220" dirty="0" err="1">
                <a:solidFill>
                  <a:schemeClr val="accent6"/>
                </a:solidFill>
              </a:rPr>
              <a:t>DateTime</a:t>
            </a:r>
            <a:r>
              <a:rPr lang="en-US" sz="2000" kern="0" spc="-220" dirty="0">
                <a:solidFill>
                  <a:schemeClr val="accent6"/>
                </a:solidFill>
              </a:rPr>
              <a:t>/</a:t>
            </a:r>
            <a:r>
              <a:rPr lang="en-US" sz="2000" kern="0" spc="-220" dirty="0" err="1">
                <a:solidFill>
                  <a:schemeClr val="accent6"/>
                </a:solidFill>
              </a:rPr>
              <a:t>Guid</a:t>
            </a:r>
            <a:r>
              <a:rPr lang="en-US" sz="2000" kern="0" spc="-220" dirty="0">
                <a:solidFill>
                  <a:schemeClr val="accent6"/>
                </a:solidFill>
              </a:rPr>
              <a:t> (not ideal).</a:t>
            </a:r>
          </a:p>
          <a:p>
            <a:pPr marL="12700" marR="5080"/>
            <a:endParaRPr lang="en-US" sz="2000" kern="0" spc="-220" dirty="0">
              <a:solidFill>
                <a:schemeClr val="accent6"/>
              </a:solidFill>
            </a:endParaRPr>
          </a:p>
          <a:p>
            <a:pPr marL="12700" marR="5080"/>
            <a:r>
              <a:rPr lang="en-US" sz="2000" kern="0" spc="-220" dirty="0">
                <a:solidFill>
                  <a:schemeClr val="accent2"/>
                </a:solidFill>
              </a:rPr>
              <a:t>Option B — Restrict to unmanaged types (best for primitives)</a:t>
            </a:r>
          </a:p>
          <a:p>
            <a:pPr marL="12700" marR="5080"/>
            <a:r>
              <a:rPr lang="en-US" sz="2000" kern="0" spc="-220" dirty="0">
                <a:solidFill>
                  <a:schemeClr val="accent2"/>
                </a:solidFill>
              </a:rPr>
              <a:t>C# 7.3+ provides:</a:t>
            </a:r>
          </a:p>
          <a:p>
            <a:pPr marL="12700" marR="5080"/>
            <a:r>
              <a:rPr lang="en-US" sz="2000" kern="0" spc="-220" dirty="0">
                <a:solidFill>
                  <a:schemeClr val="accent6"/>
                </a:solidFill>
              </a:rPr>
              <a:t>public class </a:t>
            </a:r>
            <a:r>
              <a:rPr lang="en-US" sz="2000" kern="0" spc="-220" dirty="0" err="1">
                <a:solidFill>
                  <a:schemeClr val="accent6"/>
                </a:solidFill>
              </a:rPr>
              <a:t>MyPrimitiveOnly</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a:t>
            </a:r>
          </a:p>
          <a:p>
            <a:pPr marL="12700" marR="5080"/>
            <a:r>
              <a:rPr lang="en-US" sz="2000" kern="0" spc="-220" dirty="0">
                <a:solidFill>
                  <a:schemeClr val="accent6"/>
                </a:solidFill>
              </a:rPr>
              <a:t>✔ Allows: int, float, double, bool, char, long, byte</a:t>
            </a:r>
          </a:p>
          <a:p>
            <a:pPr marL="12700" marR="5080"/>
            <a:r>
              <a:rPr lang="en-US" sz="2000" kern="0" spc="-220" dirty="0">
                <a:solidFill>
                  <a:schemeClr val="accent6"/>
                </a:solidFill>
              </a:rPr>
              <a:t>✔ Allows user-defined structs with only primitives</a:t>
            </a:r>
          </a:p>
          <a:p>
            <a:pPr marL="12700" marR="5080"/>
            <a:r>
              <a:rPr lang="en-US" sz="2000" kern="0" spc="-220" dirty="0">
                <a:solidFill>
                  <a:schemeClr val="accent6"/>
                </a:solidFill>
              </a:rPr>
              <a:t>❌ Does NOT allow reference types</a:t>
            </a:r>
          </a:p>
          <a:p>
            <a:pPr marL="12700" marR="5080"/>
            <a:r>
              <a:rPr lang="en-US" sz="2000" kern="0" spc="-220" dirty="0">
                <a:solidFill>
                  <a:schemeClr val="accent6"/>
                </a:solidFill>
              </a:rPr>
              <a:t>❌ Does NOT allow structs containing reference fields</a:t>
            </a:r>
          </a:p>
        </p:txBody>
      </p:sp>
    </p:spTree>
    <p:extLst>
      <p:ext uri="{BB962C8B-B14F-4D97-AF65-F5344CB8AC3E}">
        <p14:creationId xmlns:p14="http://schemas.microsoft.com/office/powerpoint/2010/main" val="37240473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A59D4-019D-E510-BD91-36B917A98D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AD01D9-14D0-D0B7-CC80-0730F9531B6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A091D3-09B8-C6F3-6B64-AD3B29CE158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2074CF-0EAD-56FE-B759-52CBB343480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4C6E2057-25EF-EF88-93FC-E856FD3DEA74}"/>
              </a:ext>
            </a:extLst>
          </p:cNvPr>
          <p:cNvSpPr txBox="1">
            <a:spLocks/>
          </p:cNvSpPr>
          <p:nvPr/>
        </p:nvSpPr>
        <p:spPr>
          <a:xfrm>
            <a:off x="152400" y="11430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B — Restrict to unmanaged types (best for primitives)</a:t>
            </a:r>
          </a:p>
          <a:p>
            <a:pPr marL="12700" marR="5080"/>
            <a:r>
              <a:rPr lang="en-US" sz="2000" kern="0" spc="-220" dirty="0">
                <a:solidFill>
                  <a:schemeClr val="accent2"/>
                </a:solidFill>
              </a:rPr>
              <a:t>Example:</a:t>
            </a:r>
          </a:p>
          <a:p>
            <a:pPr marL="12700" marR="5080"/>
            <a:r>
              <a:rPr lang="en-US" sz="2000" kern="0" spc="-220" dirty="0">
                <a:solidFill>
                  <a:schemeClr val="accent6"/>
                </a:solidFill>
              </a:rPr>
              <a:t>public class </a:t>
            </a:r>
            <a:r>
              <a:rPr lang="en-US" sz="2000" kern="0" spc="-220" dirty="0" err="1">
                <a:solidFill>
                  <a:schemeClr val="accent6"/>
                </a:solidFill>
              </a:rPr>
              <a:t>MathOps</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    public T Add(T a, T b)</a:t>
            </a:r>
          </a:p>
          <a:p>
            <a:pPr marL="12700" marR="5080"/>
            <a:r>
              <a:rPr lang="en-US" sz="2000" kern="0" spc="-220" dirty="0">
                <a:solidFill>
                  <a:schemeClr val="accent6"/>
                </a:solidFill>
              </a:rPr>
              <a:t>    {</a:t>
            </a:r>
          </a:p>
          <a:p>
            <a:pPr marL="12700" marR="5080"/>
            <a:r>
              <a:rPr lang="en-US" sz="2000" kern="0" spc="-220" dirty="0">
                <a:solidFill>
                  <a:schemeClr val="accent6"/>
                </a:solidFill>
              </a:rPr>
              <a:t>        dynamic x = a;</a:t>
            </a:r>
          </a:p>
          <a:p>
            <a:pPr marL="12700" marR="5080"/>
            <a:r>
              <a:rPr lang="en-US" sz="2000" kern="0" spc="-220" dirty="0">
                <a:solidFill>
                  <a:schemeClr val="accent6"/>
                </a:solidFill>
              </a:rPr>
              <a:t>        dynamic y = b;</a:t>
            </a:r>
          </a:p>
          <a:p>
            <a:pPr marL="12700" marR="5080"/>
            <a:r>
              <a:rPr lang="en-US" sz="2000" kern="0" spc="-220" dirty="0">
                <a:solidFill>
                  <a:schemeClr val="accent6"/>
                </a:solidFill>
              </a:rPr>
              <a:t>        return x + y;</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2"/>
                </a:solidFill>
              </a:rPr>
              <a:t>Usage:</a:t>
            </a:r>
          </a:p>
          <a:p>
            <a:pPr marL="12700" marR="5080"/>
            <a:r>
              <a:rPr lang="en-US" sz="2000" kern="0" spc="-220" dirty="0">
                <a:solidFill>
                  <a:schemeClr val="accent6"/>
                </a:solidFill>
              </a:rPr>
              <a:t>var ops = new </a:t>
            </a:r>
            <a:r>
              <a:rPr lang="en-US" sz="2000" kern="0" spc="-220" dirty="0" err="1">
                <a:solidFill>
                  <a:schemeClr val="accent6"/>
                </a:solidFill>
              </a:rPr>
              <a:t>MathOps</a:t>
            </a:r>
            <a:r>
              <a:rPr lang="en-US" sz="2000" kern="0" spc="-220" dirty="0">
                <a:solidFill>
                  <a:schemeClr val="accent6"/>
                </a:solidFill>
              </a:rPr>
              <a:t>&lt;int&gt;();</a:t>
            </a:r>
          </a:p>
          <a:p>
            <a:pPr marL="12700" marR="5080"/>
            <a:r>
              <a:rPr lang="en-US" sz="2000" kern="0" spc="-220" dirty="0" err="1">
                <a:solidFill>
                  <a:schemeClr val="accent6"/>
                </a:solidFill>
              </a:rPr>
              <a:t>Console.WriteLine</a:t>
            </a:r>
            <a:r>
              <a:rPr lang="en-US" sz="2000" kern="0" spc="-220" dirty="0">
                <a:solidFill>
                  <a:schemeClr val="accent6"/>
                </a:solidFill>
              </a:rPr>
              <a:t>(</a:t>
            </a:r>
            <a:r>
              <a:rPr lang="en-US" sz="2000" kern="0" spc="-220" dirty="0" err="1">
                <a:solidFill>
                  <a:schemeClr val="accent6"/>
                </a:solidFill>
              </a:rPr>
              <a:t>ops.Add</a:t>
            </a:r>
            <a:r>
              <a:rPr lang="en-US" sz="2000" kern="0" spc="-220" dirty="0">
                <a:solidFill>
                  <a:schemeClr val="accent6"/>
                </a:solidFill>
              </a:rPr>
              <a:t>(10, 20));</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1522172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4425-B676-38FC-5FEF-3144ACE284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8D450B-D47D-23D9-777C-182303D10D3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2FC34D-E6C7-52CD-DD75-2ED5A4AECC8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9CCD50-C6D9-B205-B723-6062C88C29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534BEF94-01B9-2C87-BD07-8466EC3F4E77}"/>
              </a:ext>
            </a:extLst>
          </p:cNvPr>
          <p:cNvSpPr txBox="1">
            <a:spLocks/>
          </p:cNvSpPr>
          <p:nvPr/>
        </p:nvSpPr>
        <p:spPr>
          <a:xfrm>
            <a:off x="152400" y="1143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2"/>
                </a:solidFill>
              </a:rPr>
              <a:t>If you want exactly only primitive types, do:</a:t>
            </a:r>
          </a:p>
          <a:p>
            <a:pPr marL="12700" marR="5080"/>
            <a:r>
              <a:rPr lang="en-US" sz="2000" kern="0" spc="-220" dirty="0">
                <a:solidFill>
                  <a:schemeClr val="accent6"/>
                </a:solidFill>
              </a:rPr>
              <a:t>public class </a:t>
            </a:r>
            <a:r>
              <a:rPr lang="en-US" sz="2000" kern="0" spc="-220" dirty="0" err="1">
                <a:solidFill>
                  <a:schemeClr val="accent6"/>
                </a:solidFill>
              </a:rPr>
              <a:t>PrimitiveOnly</a:t>
            </a:r>
            <a:r>
              <a:rPr lang="en-US" sz="2000" kern="0" spc="-220" dirty="0">
                <a:solidFill>
                  <a:schemeClr val="accent6"/>
                </a:solidFill>
              </a:rPr>
              <a:t>&lt;T&gt;</a:t>
            </a:r>
          </a:p>
          <a:p>
            <a:pPr marL="12700" marR="5080"/>
            <a:r>
              <a:rPr lang="en-US" sz="2000" kern="0" spc="-220" dirty="0">
                <a:solidFill>
                  <a:schemeClr val="accent6"/>
                </a:solidFill>
              </a:rPr>
              <a:t>{</a:t>
            </a:r>
          </a:p>
          <a:p>
            <a:pPr marL="12700" marR="5080"/>
            <a:r>
              <a:rPr lang="en-US" sz="2000" kern="0" spc="-220" dirty="0">
                <a:solidFill>
                  <a:schemeClr val="accent6"/>
                </a:solidFill>
              </a:rPr>
              <a:t>    static </a:t>
            </a:r>
            <a:r>
              <a:rPr lang="en-US" sz="2000" kern="0" spc="-220" dirty="0" err="1">
                <a:solidFill>
                  <a:schemeClr val="accent6"/>
                </a:solidFill>
              </a:rPr>
              <a:t>PrimitiveOnly</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        var t = </a:t>
            </a:r>
            <a:r>
              <a:rPr lang="en-US" sz="2000" kern="0" spc="-220" dirty="0" err="1">
                <a:solidFill>
                  <a:schemeClr val="accent6"/>
                </a:solidFill>
              </a:rPr>
              <a:t>typeof</a:t>
            </a:r>
            <a:r>
              <a:rPr lang="en-US" sz="2000" kern="0" spc="-220" dirty="0">
                <a:solidFill>
                  <a:schemeClr val="accent6"/>
                </a:solidFill>
              </a:rPr>
              <a:t>(T);</a:t>
            </a:r>
          </a:p>
          <a:p>
            <a:pPr marL="12700" marR="5080"/>
            <a:endParaRPr lang="en-US" sz="2000" kern="0" spc="-220" dirty="0">
              <a:solidFill>
                <a:schemeClr val="accent6"/>
              </a:solidFill>
            </a:endParaRPr>
          </a:p>
          <a:p>
            <a:pPr marL="12700" marR="5080"/>
            <a:r>
              <a:rPr lang="en-US" sz="2000" kern="0" spc="-220" dirty="0">
                <a:solidFill>
                  <a:schemeClr val="accent6"/>
                </a:solidFill>
              </a:rPr>
              <a:t>        if (t != </a:t>
            </a:r>
            <a:r>
              <a:rPr lang="en-US" sz="2000" kern="0" spc="-220" dirty="0" err="1">
                <a:solidFill>
                  <a:schemeClr val="accent6"/>
                </a:solidFill>
              </a:rPr>
              <a:t>typeof</a:t>
            </a:r>
            <a:r>
              <a:rPr lang="en-US" sz="2000" kern="0" spc="-220" dirty="0">
                <a:solidFill>
                  <a:schemeClr val="accent6"/>
                </a:solidFill>
              </a:rPr>
              <a:t>(int)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(float)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(double)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(long)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(short)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(byte) &amp;&amp;</a:t>
            </a:r>
          </a:p>
          <a:p>
            <a:pPr marL="12700" marR="5080"/>
            <a:r>
              <a:rPr lang="en-US" sz="2000" kern="0" spc="-220" dirty="0">
                <a:solidFill>
                  <a:schemeClr val="accent6"/>
                </a:solidFill>
              </a:rPr>
              <a:t>           </a:t>
            </a:r>
          </a:p>
        </p:txBody>
      </p:sp>
    </p:spTree>
    <p:extLst>
      <p:ext uri="{BB962C8B-B14F-4D97-AF65-F5344CB8AC3E}">
        <p14:creationId xmlns:p14="http://schemas.microsoft.com/office/powerpoint/2010/main" val="948663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ED2EC-98DA-D110-C3DC-ECDF08478E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71C934-CE10-30AA-4265-20D7D4DBA09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933D5D-4E24-AC53-F279-E2965C55484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088299-48EA-5898-6304-7FBFE16C8E9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05F112C-F411-377D-21C4-B81DD22ABFA0}"/>
              </a:ext>
            </a:extLst>
          </p:cNvPr>
          <p:cNvSpPr txBox="1">
            <a:spLocks/>
          </p:cNvSpPr>
          <p:nvPr/>
        </p:nvSpPr>
        <p:spPr>
          <a:xfrm>
            <a:off x="152400" y="114300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6"/>
                </a:solidFill>
              </a:rPr>
              <a:t>t != </a:t>
            </a:r>
            <a:r>
              <a:rPr lang="en-US" sz="2000" kern="0" spc="-220" dirty="0" err="1">
                <a:solidFill>
                  <a:schemeClr val="accent6"/>
                </a:solidFill>
              </a:rPr>
              <a:t>typeof</a:t>
            </a:r>
            <a:r>
              <a:rPr lang="en-US" sz="2000" kern="0" spc="-220" dirty="0">
                <a:solidFill>
                  <a:schemeClr val="accent6"/>
                </a:solidFill>
              </a:rPr>
              <a:t>(char))</a:t>
            </a:r>
          </a:p>
          <a:p>
            <a:pPr marL="12700" marR="5080"/>
            <a:r>
              <a:rPr lang="en-US" sz="2000" kern="0" spc="-220" dirty="0">
                <a:solidFill>
                  <a:schemeClr val="accent6"/>
                </a:solidFill>
              </a:rPr>
              <a:t>        {</a:t>
            </a:r>
          </a:p>
          <a:p>
            <a:pPr marL="12700" marR="5080"/>
            <a:r>
              <a:rPr lang="en-US" sz="2000" kern="0" spc="-220" dirty="0">
                <a:solidFill>
                  <a:schemeClr val="accent6"/>
                </a:solidFill>
              </a:rPr>
              <a:t>            throw new </a:t>
            </a:r>
            <a:r>
              <a:rPr lang="en-US" sz="2000" kern="0" spc="-220" dirty="0" err="1">
                <a:solidFill>
                  <a:schemeClr val="accent6"/>
                </a:solidFill>
              </a:rPr>
              <a:t>InvalidOperationException</a:t>
            </a:r>
            <a:r>
              <a:rPr lang="en-US" sz="2000" kern="0" spc="-220" dirty="0">
                <a:solidFill>
                  <a:schemeClr val="accent6"/>
                </a:solidFill>
              </a:rPr>
              <a:t>("T must be a primitive type.");</a:t>
            </a:r>
          </a:p>
          <a:p>
            <a:pPr marL="12700" marR="5080"/>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3088699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same 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p:txBody>
      </p:sp>
    </p:spTree>
    <p:extLst>
      <p:ext uri="{BB962C8B-B14F-4D97-AF65-F5344CB8AC3E}">
        <p14:creationId xmlns:p14="http://schemas.microsoft.com/office/powerpoint/2010/main" val="163710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r>
              <a:rPr lang="en-IN" sz="1600" dirty="0">
                <a:hlinkClick r:id="rId7"/>
              </a:rPr>
              <a:t>Descriptor Pattern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it’s pretty funny how Tom is applying “Sweep Algorithm” in 3 ways without marking anything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1500" kern="0" spc="-220" dirty="0">
                <a:solidFill>
                  <a:schemeClr val="accent6"/>
                </a:solidFill>
              </a:rPr>
              <a:t>)</a:t>
            </a:r>
          </a:p>
          <a:p>
            <a:pPr algn="just" fontAlgn="base"/>
            <a:r>
              <a:rPr lang="en-US" sz="15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15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200" kern="0" spc="-220" dirty="0">
                <a:solidFill>
                  <a:schemeClr val="accent2"/>
                </a:solidFill>
              </a:rPr>
              <a:t>For Further Exploration – </a:t>
            </a:r>
          </a:p>
          <a:p>
            <a:pPr algn="just" fontAlgn="base"/>
            <a:r>
              <a:rPr lang="en-US" sz="1100" dirty="0" err="1">
                <a:hlinkClick r:id="rId10"/>
              </a:rPr>
              <a:t>MultithreadingwithCSharpCookbook</a:t>
            </a:r>
            <a:endParaRPr lang="en-US" sz="1100" dirty="0"/>
          </a:p>
          <a:p>
            <a:pPr algn="just" fontAlgn="base"/>
            <a:r>
              <a:rPr lang="en-US" sz="1100" dirty="0" err="1">
                <a:hlinkClick r:id="rId11"/>
              </a:rPr>
              <a:t>c#</a:t>
            </a:r>
            <a:r>
              <a:rPr lang="en-US" sz="1100" dirty="0">
                <a:hlinkClick r:id="rId11"/>
              </a:rPr>
              <a:t> - Check the Number of threads available in </a:t>
            </a:r>
            <a:r>
              <a:rPr lang="en-US" sz="1100" dirty="0" err="1">
                <a:hlinkClick r:id="rId11"/>
              </a:rPr>
              <a:t>ThreadPool</a:t>
            </a:r>
            <a:r>
              <a:rPr lang="en-US" sz="1100" dirty="0">
                <a:hlinkClick r:id="rId11"/>
              </a:rPr>
              <a:t> at any time - Stack Overflow</a:t>
            </a:r>
            <a:endParaRPr lang="en-US" sz="1100" dirty="0"/>
          </a:p>
          <a:p>
            <a:pPr algn="just" fontAlgn="base"/>
            <a:r>
              <a:rPr lang="en-US" sz="1100" dirty="0">
                <a:hlinkClick r:id="rId12"/>
              </a:rPr>
              <a:t>Concurrency-in-</a:t>
            </a:r>
            <a:r>
              <a:rPr lang="en-US" sz="1100" dirty="0" err="1">
                <a:hlinkClick r:id="rId12"/>
              </a:rPr>
              <a:t>csharp</a:t>
            </a:r>
            <a:r>
              <a:rPr lang="en-US" sz="1100" dirty="0">
                <a:hlinkClick r:id="rId12"/>
              </a:rPr>
              <a:t>-cookbook</a:t>
            </a:r>
            <a:endParaRPr lang="en-US" sz="1100" dirty="0"/>
          </a:p>
          <a:p>
            <a:pPr algn="just" fontAlgn="base"/>
            <a:r>
              <a:rPr lang="en-US" sz="1100" dirty="0" err="1">
                <a:hlinkClick r:id="rId13"/>
              </a:rPr>
              <a:t>PowerThreading</a:t>
            </a:r>
            <a:r>
              <a:rPr lang="en-US" sz="1100" dirty="0">
                <a:hlinkClick r:id="rId13"/>
              </a:rPr>
              <a:t>: Jeffrey Richter's Power Threading Library</a:t>
            </a:r>
            <a:endParaRPr lang="en-US" sz="1100" dirty="0"/>
          </a:p>
          <a:p>
            <a:pPr algn="just" fontAlgn="base"/>
            <a:r>
              <a:rPr lang="en-US" sz="1100" dirty="0">
                <a:hlinkClick r:id="rId14"/>
              </a:rPr>
              <a:t>Web Servers Succinctly</a:t>
            </a:r>
            <a:endParaRPr lang="en-US" sz="1100" dirty="0"/>
          </a:p>
          <a:p>
            <a:pPr algn="just" fontAlgn="base"/>
            <a:r>
              <a:rPr lang="en-IN" sz="1100">
                <a:hlinkClick r:id="rId15"/>
              </a:rPr>
              <a:t>Web server implementations in ASP.NET Core | Microsoft Learn</a:t>
            </a:r>
            <a:endParaRPr lang="en-US" sz="1100" dirty="0"/>
          </a:p>
          <a:p>
            <a:pPr algn="just" fontAlgn="base"/>
            <a:r>
              <a:rPr lang="en-US" sz="1100" dirty="0">
                <a:hlinkClick r:id="rId16"/>
              </a:rPr>
              <a:t>Compendium of Community Knowledge on Game Design and Development</a:t>
            </a:r>
            <a:endParaRPr lang="en-US" sz="1100" dirty="0"/>
          </a:p>
          <a:p>
            <a:pPr algn="just" fontAlgn="base"/>
            <a:r>
              <a:rPr lang="en-US" sz="1100" dirty="0" err="1">
                <a:hlinkClick r:id="rId17"/>
              </a:rPr>
              <a:t>FConcBook</a:t>
            </a:r>
            <a:r>
              <a:rPr lang="en-US" sz="1100" dirty="0">
                <a:hlinkClick r:id="rId17"/>
              </a:rPr>
              <a:t>: Source code for "Concurrency in .NET" book Manning publisher</a:t>
            </a:r>
            <a:endParaRPr lang="en-US" sz="1100" dirty="0"/>
          </a:p>
          <a:p>
            <a:pPr algn="just" fontAlgn="base"/>
            <a:r>
              <a:rPr lang="en-IN" sz="1100" dirty="0">
                <a:hlinkClick r:id="rId18"/>
              </a:rPr>
              <a:t>Multithreading Principles and Patterns</a:t>
            </a:r>
            <a:endParaRPr lang="en-IN" sz="1100" dirty="0"/>
          </a:p>
          <a:p>
            <a:pPr algn="just" fontAlgn="base"/>
            <a:r>
              <a:rPr lang="en-US" sz="1100" dirty="0">
                <a:hlinkClick r:id="rId19"/>
              </a:rPr>
              <a:t>Multithreading and Patterns - DEV Community</a:t>
            </a:r>
            <a:endParaRPr lang="en-US" sz="1100" dirty="0"/>
          </a:p>
          <a:p>
            <a:pPr algn="just" fontAlgn="base"/>
            <a:r>
              <a:rPr lang="en-IN" sz="1100" dirty="0">
                <a:hlinkClick r:id="rId20"/>
              </a:rPr>
              <a:t>web.stanford.edu/class/archive/cs/cs110/cs110.1202/static/lectures/12-multithreading-patterns-data-structures.pdf</a:t>
            </a:r>
            <a:endParaRPr lang="en-IN" sz="1100" dirty="0"/>
          </a:p>
          <a:p>
            <a:pPr algn="just" fontAlgn="base"/>
            <a:r>
              <a:rPr lang="en-US" sz="1100" dirty="0">
                <a:hlinkClick r:id="rId21"/>
              </a:rPr>
              <a:t>Common patterns for poorly-behaved multithreaded apps - Visual Studio (Windows) | Microsoft Learn</a:t>
            </a:r>
            <a:endParaRPr lang="en-US" sz="1100" dirty="0"/>
          </a:p>
          <a:p>
            <a:pPr algn="just" fontAlgn="base"/>
            <a:r>
              <a:rPr lang="en-US" sz="1100" dirty="0">
                <a:hlinkClick r:id="rId22"/>
              </a:rPr>
              <a:t>Part B (ADVANCE) Multithreading Design Patterns ( </a:t>
            </a:r>
            <a:r>
              <a:rPr lang="en-US" sz="1100" dirty="0" err="1">
                <a:hlinkClick r:id="rId22"/>
              </a:rPr>
              <a:t>pthreads</a:t>
            </a:r>
            <a:r>
              <a:rPr lang="en-US" sz="1100" dirty="0">
                <a:hlinkClick r:id="rId22"/>
              </a:rPr>
              <a:t> ) | Udemy</a:t>
            </a:r>
            <a:endParaRPr lang="en-US" sz="1100" dirty="0"/>
          </a:p>
          <a:p>
            <a:pPr algn="just" fontAlgn="base"/>
            <a:r>
              <a:rPr lang="en-IN" sz="1100" dirty="0">
                <a:hlinkClick r:id="rId23"/>
              </a:rPr>
              <a:t>Embedded C Programming Design Patterns</a:t>
            </a:r>
            <a:endParaRPr lang="en-IN" sz="1100" dirty="0"/>
          </a:p>
          <a:p>
            <a:pPr algn="just" fontAlgn="base"/>
            <a:r>
              <a:rPr lang="en-IN" sz="1100" dirty="0">
                <a:hlinkClick r:id="rId24"/>
              </a:rPr>
              <a:t>Design-Patterns-For-Embedded-system-in-c</a:t>
            </a:r>
            <a:endParaRPr lang="en-IN" sz="1100" dirty="0"/>
          </a:p>
          <a:p>
            <a:pPr algn="just" fontAlgn="base"/>
            <a:r>
              <a:rPr lang="en-US" sz="1100" dirty="0">
                <a:hlinkClick r:id="rId25"/>
              </a:rPr>
              <a:t>Seven Concurrency Models in Seven Weeks: When Threads Unravel by Paul Butcher</a:t>
            </a:r>
            <a:endParaRPr lang="en-US" sz="1100" dirty="0"/>
          </a:p>
          <a:p>
            <a:pPr algn="just" fontAlgn="base"/>
            <a:r>
              <a:rPr lang="en-US" sz="1100" dirty="0">
                <a:hlinkClick r:id="rId26"/>
              </a:rPr>
              <a:t>List of concurrency models - Stack Overflow</a:t>
            </a:r>
            <a:endParaRPr lang="en-US" sz="1100" dirty="0"/>
          </a:p>
          <a:p>
            <a:pPr algn="just" fontAlgn="base"/>
            <a:endParaRPr lang="en-IN" sz="1000" dirty="0"/>
          </a:p>
        </p:txBody>
      </p:sp>
    </p:spTree>
    <p:extLst>
      <p:ext uri="{BB962C8B-B14F-4D97-AF65-F5344CB8AC3E}">
        <p14:creationId xmlns:p14="http://schemas.microsoft.com/office/powerpoint/2010/main" val="1399390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3921948"/>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US" sz="1000" dirty="0"/>
          </a:p>
          <a:p>
            <a:r>
              <a:rPr lang="en-IN" sz="1000" dirty="0">
                <a:hlinkClick r:id="rId12"/>
              </a:rPr>
              <a:t>Head First Networking[Book]</a:t>
            </a:r>
            <a:endParaRPr lang="en-IN" sz="1000" dirty="0"/>
          </a:p>
          <a:p>
            <a:pPr algn="l"/>
            <a:r>
              <a:rPr lang="en-US" sz="1000" dirty="0">
                <a:hlinkClick r:id="rId13"/>
              </a:rPr>
              <a:t>Computer-Networking-Top-Down-Approach-notes</a:t>
            </a:r>
            <a:endParaRPr lang="en-US" sz="1000" dirty="0"/>
          </a:p>
          <a:p>
            <a:pPr algn="l"/>
            <a:r>
              <a:rPr lang="en-US" sz="1000" dirty="0">
                <a:hlinkClick r:id="rId14"/>
              </a:rPr>
              <a:t>Hands-On-Network-Programming-with-CSharp-and-.NET-Core</a:t>
            </a:r>
            <a:endParaRPr lang="en-US" sz="1000" dirty="0"/>
          </a:p>
          <a:p>
            <a:pPr algn="l"/>
            <a:r>
              <a:rPr lang="nl-NL" sz="1000" dirty="0">
                <a:hlinkClick r:id="rId15"/>
              </a:rPr>
              <a:t>Network programming in .NET - .NET | Microsoft Learn</a:t>
            </a:r>
            <a:endParaRPr lang="nl-NL" sz="1000" dirty="0"/>
          </a:p>
          <a:p>
            <a:pPr algn="l"/>
            <a:r>
              <a:rPr lang="en-US" sz="1000" dirty="0">
                <a:hlinkClick r:id="rId16"/>
              </a:rPr>
              <a:t>High Performance Browser Networking (O'Reilly)</a:t>
            </a:r>
            <a:endParaRPr lang="en-US" sz="1000" dirty="0"/>
          </a:p>
          <a:p>
            <a:pPr algn="l"/>
            <a:r>
              <a:rPr lang="en-US" sz="1000" dirty="0">
                <a:hlinkClick r:id="rId17"/>
              </a:rPr>
              <a:t>What Is Checksum? Guide to Learn Checksum | Simplilearn</a:t>
            </a:r>
            <a:endParaRPr lang="en-US" sz="1000" dirty="0"/>
          </a:p>
          <a:p>
            <a:pPr algn="l"/>
            <a:r>
              <a:rPr lang="en-IN" sz="1000" dirty="0">
                <a:hlinkClick r:id="rId18"/>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5731235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Locating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9975529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3751397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7"/>
              </a:rPr>
              <a:t>Code Generation Technology-</a:t>
            </a:r>
            <a:r>
              <a:rPr lang="en-IN" sz="1500" dirty="0" err="1">
                <a:hlinkClick r:id="rId7"/>
              </a:rPr>
              <a:t>CodeDom</a:t>
            </a:r>
            <a:r>
              <a:rPr lang="en-IN" sz="1500" dirty="0">
                <a:hlinkClick r:id="rId7"/>
              </a:rPr>
              <a:t> VS T4</a:t>
            </a:r>
            <a:endParaRPr lang="en-IN" sz="1500" dirty="0"/>
          </a:p>
          <a:p>
            <a:pPr algn="l"/>
            <a:r>
              <a:rPr lang="en-IN" sz="1500" dirty="0" err="1">
                <a:hlinkClick r:id="rId8"/>
              </a:rPr>
              <a:t>c#</a:t>
            </a:r>
            <a:r>
              <a:rPr lang="en-IN" sz="1500" dirty="0">
                <a:hlinkClick r:id="rId8"/>
              </a:rPr>
              <a:t> - </a:t>
            </a:r>
            <a:r>
              <a:rPr lang="en-IN" sz="1500" dirty="0" err="1">
                <a:hlinkClick r:id="rId8"/>
              </a:rPr>
              <a:t>Reflection.Emit</a:t>
            </a:r>
            <a:r>
              <a:rPr lang="en-IN" sz="1500" dirty="0">
                <a:hlinkClick r:id="rId8"/>
              </a:rPr>
              <a:t> vs </a:t>
            </a:r>
            <a:r>
              <a:rPr lang="en-IN" sz="1500" dirty="0" err="1">
                <a:hlinkClick r:id="rId8"/>
              </a:rPr>
              <a:t>CodeDOM</a:t>
            </a:r>
            <a:r>
              <a:rPr lang="en-IN" sz="1500" dirty="0">
                <a:hlinkClick r:id="rId8"/>
              </a:rPr>
              <a:t> - Stack Overflow</a:t>
            </a:r>
            <a:endParaRPr lang="en-IN" sz="1500" dirty="0"/>
          </a:p>
          <a:p>
            <a:pPr algn="l"/>
            <a:r>
              <a:rPr lang="en-US" sz="1500" dirty="0">
                <a:hlinkClick r:id="rId9"/>
              </a:rPr>
              <a:t>Using Roslyn for Runtime Code Generation in Marten – The Shade Tree Developer</a:t>
            </a:r>
            <a:endParaRPr lang="en-US" sz="1500" dirty="0"/>
          </a:p>
          <a:p>
            <a:pPr algn="l"/>
            <a:endParaRPr lang="en-US" sz="1500" kern="0" spc="-220" dirty="0">
              <a:solidFill>
                <a:schemeClr val="accent6"/>
              </a:solidFill>
            </a:endParaRPr>
          </a:p>
          <a:p>
            <a:r>
              <a:rPr lang="en-US" sz="2000" kern="0" spc="-220" dirty="0">
                <a:solidFill>
                  <a:schemeClr val="accent2"/>
                </a:solidFill>
              </a:rPr>
              <a:t>T4 Template – </a:t>
            </a:r>
          </a:p>
          <a:p>
            <a:r>
              <a:rPr lang="en-IN" sz="1500" dirty="0">
                <a:hlinkClick r:id="rId10"/>
              </a:rPr>
              <a:t>T4 (Text Template Transformation Toolkit) Code Generation - Best Kept Visual Studio Secret - Scott Hanselman's Blog</a:t>
            </a:r>
            <a:endParaRPr lang="en-IN" sz="1500" dirty="0"/>
          </a:p>
          <a:p>
            <a:r>
              <a:rPr lang="en-IN" sz="1500" dirty="0">
                <a:hlinkClick r:id="rId11"/>
              </a:rPr>
              <a:t>Free </a:t>
            </a:r>
            <a:r>
              <a:rPr lang="en-IN" sz="1500" dirty="0" err="1">
                <a:hlinkClick r:id="rId11"/>
              </a:rPr>
              <a:t>Ebook</a:t>
            </a:r>
            <a:r>
              <a:rPr lang="en-IN" sz="1500" dirty="0">
                <a:hlinkClick r:id="rId11"/>
              </a:rPr>
              <a:t> - T4 Succinctly</a:t>
            </a:r>
            <a:endParaRPr lang="en-IN" sz="1500" dirty="0"/>
          </a:p>
          <a:p>
            <a:endParaRPr lang="en-IN" sz="1500" kern="0" spc="-220" dirty="0">
              <a:solidFill>
                <a:schemeClr val="accent6"/>
              </a:solidFill>
            </a:endParaRPr>
          </a:p>
          <a:p>
            <a:r>
              <a:rPr lang="en-US" sz="2000" kern="0" spc="-220" dirty="0" err="1">
                <a:solidFill>
                  <a:schemeClr val="accent2"/>
                </a:solidFill>
              </a:rPr>
              <a:t>CodeDom</a:t>
            </a:r>
            <a:r>
              <a:rPr lang="en-US" sz="2000" kern="0" spc="-220" dirty="0">
                <a:solidFill>
                  <a:schemeClr val="accent2"/>
                </a:solidFill>
              </a:rPr>
              <a:t> – </a:t>
            </a:r>
          </a:p>
          <a:p>
            <a:r>
              <a:rPr lang="en-US" sz="1500" dirty="0" err="1">
                <a:hlinkClick r:id="rId12"/>
              </a:rPr>
              <a:t>CodeDOM</a:t>
            </a:r>
            <a:r>
              <a:rPr lang="en-US" sz="1500" dirty="0">
                <a:hlinkClick r:id="rId12"/>
              </a:rPr>
              <a:t> Go Kit: The </a:t>
            </a:r>
            <a:r>
              <a:rPr lang="en-US" sz="1500" dirty="0" err="1">
                <a:hlinkClick r:id="rId12"/>
              </a:rPr>
              <a:t>CodeDOM</a:t>
            </a:r>
            <a:r>
              <a:rPr lang="en-US" sz="1500" dirty="0">
                <a:hlinkClick r:id="rId12"/>
              </a:rPr>
              <a:t> is Dead, Long Live the </a:t>
            </a:r>
            <a:r>
              <a:rPr lang="en-US" sz="1500" dirty="0" err="1">
                <a:hlinkClick r:id="rId12"/>
              </a:rPr>
              <a:t>CodeDOM</a:t>
            </a:r>
            <a:r>
              <a:rPr lang="en-US" sz="1500" dirty="0">
                <a:hlinkClick r:id="rId12"/>
              </a:rPr>
              <a:t>- </a:t>
            </a:r>
            <a:r>
              <a:rPr lang="en-US" sz="1500" dirty="0" err="1">
                <a:hlinkClick r:id="rId12"/>
              </a:rPr>
              <a:t>CodeProject</a:t>
            </a:r>
            <a:endParaRPr lang="en-US" sz="1500" dirty="0"/>
          </a:p>
          <a:p>
            <a:endParaRPr lang="en-US" sz="1500" kern="0" spc="-220" dirty="0">
              <a:solidFill>
                <a:schemeClr val="accent6"/>
              </a:solidFill>
            </a:endParaRPr>
          </a:p>
          <a:p>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dirty="0"/>
          </a:p>
          <a:p>
            <a:endParaRPr lang="en-US" sz="1500" kern="0" spc="-220" dirty="0">
              <a:solidFill>
                <a:schemeClr val="accent6"/>
              </a:solidFill>
            </a:endParaRPr>
          </a:p>
          <a:p>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dirty="0"/>
          </a:p>
          <a:p>
            <a:r>
              <a:rPr lang="en-US" sz="1600" dirty="0">
                <a:hlinkClick r:id="rId15"/>
              </a:rPr>
              <a:t>What is the best resource for learning C# expression trees in depth</a:t>
            </a:r>
            <a:endParaRPr lang="en-US" sz="1500" dirty="0"/>
          </a:p>
          <a:p>
            <a:endParaRPr lang="en-US" sz="15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436343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500" kern="0" spc="-220" dirty="0">
                <a:solidFill>
                  <a:schemeClr val="accent2"/>
                </a:solidFill>
              </a:rPr>
              <a:t>Roslyn API/ Source Generators– </a:t>
            </a:r>
          </a:p>
          <a:p>
            <a:pPr algn="l"/>
            <a:r>
              <a:rPr lang="en-US" sz="1500" dirty="0">
                <a:hlinkClick r:id="rId7"/>
              </a:rPr>
              <a:t>Incremental Roslyn Source Generators In .NET 6: Code Sharing Of The Future - Part 1 - </a:t>
            </a:r>
            <a:r>
              <a:rPr lang="en-US" sz="1500" dirty="0" err="1">
                <a:hlinkClick r:id="rId7"/>
              </a:rPr>
              <a:t>Thinktecture</a:t>
            </a:r>
            <a:r>
              <a:rPr lang="en-US" sz="1500" dirty="0">
                <a:hlinkClick r:id="rId7"/>
              </a:rPr>
              <a:t> AG</a:t>
            </a:r>
            <a:endParaRPr lang="en-US" sz="1500" dirty="0"/>
          </a:p>
          <a:p>
            <a:pPr algn="l"/>
            <a:r>
              <a:rPr lang="en-IN" sz="1500" dirty="0">
                <a:hlinkClick r:id="rId8"/>
              </a:rPr>
              <a:t>Source Generators in C#</a:t>
            </a:r>
            <a:endParaRPr lang="en-IN" sz="1500" dirty="0"/>
          </a:p>
          <a:p>
            <a:pPr algn="l"/>
            <a:r>
              <a:rPr lang="en-US" sz="1500" dirty="0">
                <a:hlinkClick r:id="rId9"/>
              </a:rPr>
              <a:t>Deep dive into Source Generators | </a:t>
            </a:r>
            <a:r>
              <a:rPr lang="en-US" sz="1500" dirty="0" err="1">
                <a:hlinkClick r:id="rId9"/>
              </a:rPr>
              <a:t>TheCodeMan</a:t>
            </a:r>
            <a:endParaRPr lang="en-IN" sz="1500" dirty="0"/>
          </a:p>
          <a:p>
            <a:pPr algn="l"/>
            <a:r>
              <a:rPr lang="en-IN" sz="1500" dirty="0">
                <a:hlinkClick r:id="rId10"/>
              </a:rPr>
              <a:t>The .NET Compiler Platform SDK (Roslyn APIs) - C# | Microsoft Learn</a:t>
            </a:r>
            <a:endParaRPr lang="en-IN" sz="1500" dirty="0"/>
          </a:p>
          <a:p>
            <a:pPr algn="l"/>
            <a:r>
              <a:rPr lang="en-IN" sz="1500" dirty="0">
                <a:hlinkClick r:id="rId11"/>
              </a:rPr>
              <a:t>Free </a:t>
            </a:r>
            <a:r>
              <a:rPr lang="en-IN" sz="1500" dirty="0" err="1">
                <a:hlinkClick r:id="rId11"/>
              </a:rPr>
              <a:t>Ebook</a:t>
            </a:r>
            <a:r>
              <a:rPr lang="en-IN" sz="1500" dirty="0">
                <a:hlinkClick r:id="rId11"/>
              </a:rPr>
              <a:t> - Roslyn Succinctly</a:t>
            </a:r>
            <a:endParaRPr lang="en-IN" sz="1500" dirty="0"/>
          </a:p>
          <a:p>
            <a:pPr algn="l"/>
            <a:endParaRPr lang="en-IN" sz="1500" kern="0" spc="-220" dirty="0">
              <a:solidFill>
                <a:schemeClr val="accent6"/>
              </a:solidFill>
            </a:endParaRPr>
          </a:p>
          <a:p>
            <a:r>
              <a:rPr lang="en-US" sz="1500" kern="0" spc="-220" dirty="0">
                <a:solidFill>
                  <a:schemeClr val="accent2"/>
                </a:solidFill>
              </a:rPr>
              <a:t>Code Snippets(more used as VS Plugin rather than for Application) –</a:t>
            </a:r>
          </a:p>
          <a:p>
            <a:r>
              <a:rPr lang="en-US" sz="1500" dirty="0">
                <a:hlinkClick r:id="rId12"/>
              </a:rPr>
              <a:t>How to Automatically Generate C# Code Snippets in Visual Studio</a:t>
            </a:r>
            <a:endParaRPr lang="en-US" sz="1500" dirty="0"/>
          </a:p>
          <a:p>
            <a:endParaRPr lang="en-US" sz="1500" kern="0" spc="-220" dirty="0">
              <a:solidFill>
                <a:schemeClr val="accent6"/>
              </a:solidFill>
            </a:endParaRPr>
          </a:p>
          <a:p>
            <a:r>
              <a:rPr lang="en-US" sz="1500" kern="0" spc="-220" dirty="0">
                <a:solidFill>
                  <a:schemeClr val="accent2"/>
                </a:solidFill>
              </a:rPr>
              <a:t>Code Generation Performance Improvement –</a:t>
            </a:r>
          </a:p>
          <a:p>
            <a:r>
              <a:rPr lang="en-US" sz="1500" kern="0" spc="-220" dirty="0">
                <a:solidFill>
                  <a:schemeClr val="accent6"/>
                </a:solidFill>
              </a:rPr>
              <a:t>Mainly done via some In-Memory Caching </a:t>
            </a:r>
          </a:p>
          <a:p>
            <a:r>
              <a:rPr lang="en-US" sz="1500" kern="0" spc="-220" dirty="0">
                <a:solidFill>
                  <a:schemeClr val="accent6"/>
                </a:solidFill>
              </a:rPr>
              <a:t>By the way, </a:t>
            </a:r>
            <a:r>
              <a:rPr lang="en-US" sz="1500" kern="0" spc="-220" dirty="0" err="1">
                <a:solidFill>
                  <a:schemeClr val="accent6"/>
                </a:solidFill>
              </a:rPr>
              <a:t>Automapper</a:t>
            </a:r>
            <a:r>
              <a:rPr lang="en-US" sz="15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5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for further details around the same.</a:t>
            </a:r>
          </a:p>
          <a:p>
            <a:endParaRPr lang="en-US" sz="1500" kern="0" spc="-220" dirty="0">
              <a:solidFill>
                <a:schemeClr val="accent2"/>
              </a:solidFill>
            </a:endParaRPr>
          </a:p>
          <a:p>
            <a:endParaRPr lang="en-US" sz="1500" kern="0" spc="-220" dirty="0">
              <a:solidFill>
                <a:schemeClr val="accent2"/>
              </a:solidFill>
            </a:endParaRPr>
          </a:p>
          <a:p>
            <a:r>
              <a:rPr lang="en-US" sz="1500" kern="0" spc="-220" dirty="0">
                <a:solidFill>
                  <a:schemeClr val="accent2"/>
                </a:solidFill>
              </a:rPr>
              <a:t>For Further Exploration – </a:t>
            </a:r>
          </a:p>
          <a:p>
            <a:r>
              <a:rPr lang="en-IN" sz="1500" dirty="0">
                <a:hlinkClick r:id="rId15"/>
              </a:rPr>
              <a:t>ProgramGeneration_Trennung.PDF</a:t>
            </a:r>
            <a:endParaRPr lang="en-IN" sz="1500" dirty="0"/>
          </a:p>
          <a:p>
            <a:endParaRPr lang="en-US" sz="1400" kern="0" spc="-220" dirty="0">
              <a:solidFill>
                <a:schemeClr val="accent6"/>
              </a:solidFill>
            </a:endParaRPr>
          </a:p>
          <a:p>
            <a:pPr algn="l"/>
            <a:endParaRPr lang="en-US" sz="13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4340647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var vs dynamic – </a:t>
            </a:r>
          </a:p>
          <a:p>
            <a:pPr algn="l"/>
            <a:r>
              <a:rPr lang="en-US" sz="2400" kern="0" spc="-220" dirty="0">
                <a:solidFill>
                  <a:schemeClr val="accent6"/>
                </a:solidFill>
              </a:rPr>
              <a:t> var says “Let the compiler figure out the type”</a:t>
            </a:r>
          </a:p>
          <a:p>
            <a:pPr algn="l"/>
            <a:r>
              <a:rPr lang="en-US" sz="2400" kern="0" spc="-220" dirty="0">
                <a:solidFill>
                  <a:schemeClr val="accent6"/>
                </a:solidFill>
              </a:rPr>
              <a:t> dynamic says “Let the runtime figure out the type”</a:t>
            </a:r>
          </a:p>
          <a:p>
            <a:pPr algn="l"/>
            <a:endParaRPr lang="en-US" sz="2400" kern="0" spc="-220" dirty="0">
              <a:solidFill>
                <a:schemeClr val="accent6"/>
              </a:solidFill>
            </a:endParaRPr>
          </a:p>
          <a:p>
            <a:r>
              <a:rPr lang="en-US" sz="2400" kern="0" spc="-220" dirty="0">
                <a:solidFill>
                  <a:schemeClr val="accent2"/>
                </a:solidFill>
              </a:rPr>
              <a:t>Late Binding And Doing That using Reflection – </a:t>
            </a:r>
          </a:p>
          <a:p>
            <a:r>
              <a:rPr lang="en-US" sz="2400" dirty="0">
                <a:hlinkClick r:id="rId7"/>
              </a:rPr>
              <a:t>Early vs Late Binding, reflection, and type dynamic in C#</a:t>
            </a:r>
            <a:r>
              <a:rPr lang="en-US" sz="2400" kern="0" spc="-220" dirty="0">
                <a:solidFill>
                  <a:schemeClr val="accent6"/>
                </a:solidFill>
              </a:rPr>
              <a:t> </a:t>
            </a:r>
          </a:p>
          <a:p>
            <a:endParaRPr lang="en-US" sz="2400" kern="0" spc="-220" dirty="0">
              <a:solidFill>
                <a:schemeClr val="accent6"/>
              </a:solidFill>
            </a:endParaRPr>
          </a:p>
          <a:p>
            <a:r>
              <a:rPr lang="en-US" sz="2400" kern="0" spc="-220" dirty="0">
                <a:solidFill>
                  <a:schemeClr val="accent2"/>
                </a:solidFill>
              </a:rPr>
              <a:t>Simplifying Late Binding Using dynamic – </a:t>
            </a:r>
          </a:p>
          <a:p>
            <a:r>
              <a:rPr lang="en-US" sz="2400" dirty="0">
                <a:hlinkClick r:id="rId8"/>
              </a:rPr>
              <a:t>Understanding Late Binding: Dynamic Objects and Reflection in C# .NET | LinkedIn</a:t>
            </a:r>
            <a:endParaRPr lang="en-US" sz="2400" kern="0" spc="-220" dirty="0">
              <a:solidFill>
                <a:schemeClr val="accent6"/>
              </a:solidFill>
            </a:endParaRPr>
          </a:p>
          <a:p>
            <a:endParaRPr lang="en-US" sz="2400" kern="0" spc="-220" dirty="0">
              <a:solidFill>
                <a:schemeClr val="accent6"/>
              </a:solidFill>
            </a:endParaRPr>
          </a:p>
          <a:p>
            <a:pPr algn="l"/>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903228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20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2000" kern="0" spc="-220" dirty="0">
              <a:solidFill>
                <a:schemeClr val="accent6"/>
              </a:solidFill>
            </a:endParaRPr>
          </a:p>
          <a:p>
            <a:pPr algn="l"/>
            <a:r>
              <a:rPr lang="en-US" sz="2000" dirty="0">
                <a:hlinkClick r:id="rId7"/>
              </a:rPr>
              <a:t>The Visitor Pattern and dynamic in C# 4 — </a:t>
            </a:r>
            <a:r>
              <a:rPr lang="en-US" sz="2000" dirty="0" err="1">
                <a:hlinkClick r:id="rId7"/>
              </a:rPr>
              <a:t>Faithlife</a:t>
            </a:r>
            <a:r>
              <a:rPr lang="en-US" sz="2000" dirty="0">
                <a:hlinkClick r:id="rId7"/>
              </a:rPr>
              <a:t> Code Blog</a:t>
            </a:r>
            <a:endParaRPr lang="en-US" sz="2000" dirty="0"/>
          </a:p>
          <a:p>
            <a:pPr algn="l"/>
            <a:endParaRPr lang="en-US" sz="20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a:p>
            <a:pPr algn="l"/>
            <a:endParaRPr lang="en-US" sz="2000" kern="0" spc="-220" dirty="0">
              <a:solidFill>
                <a:schemeClr val="accent1"/>
              </a:solidFill>
            </a:endParaRPr>
          </a:p>
          <a:p>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r>
              <a:rPr lang="en-US" sz="2000" dirty="0" err="1">
                <a:hlinkClick r:id="rId8"/>
              </a:rPr>
              <a:t>c#</a:t>
            </a:r>
            <a:r>
              <a:rPr lang="en-US" sz="2000" dirty="0">
                <a:hlinkClick r:id="rId8"/>
              </a:rPr>
              <a:t> - Differences between </a:t>
            </a:r>
            <a:r>
              <a:rPr lang="en-US" sz="2000" dirty="0" err="1">
                <a:hlinkClick r:id="rId8"/>
              </a:rPr>
              <a:t>ExpandoObject</a:t>
            </a:r>
            <a:r>
              <a:rPr lang="en-US" sz="2000" dirty="0">
                <a:hlinkClick r:id="rId8"/>
              </a:rPr>
              <a:t>, </a:t>
            </a:r>
            <a:r>
              <a:rPr lang="en-US" sz="2000" dirty="0" err="1">
                <a:hlinkClick r:id="rId8"/>
              </a:rPr>
              <a:t>DynamicObject</a:t>
            </a:r>
            <a:r>
              <a:rPr lang="en-US" sz="2000" dirty="0">
                <a:hlinkClick r:id="rId8"/>
              </a:rPr>
              <a:t> and dynamic - Stack Overflow</a:t>
            </a:r>
            <a:endParaRPr lang="en-US" sz="2000" kern="0" spc="-220" dirty="0">
              <a:solidFill>
                <a:schemeClr val="accent6"/>
              </a:solidFill>
            </a:endParaRPr>
          </a:p>
          <a:p>
            <a:pPr algn="l"/>
            <a:endParaRPr lang="en-US" sz="2000" kern="0" spc="-220" dirty="0">
              <a:solidFill>
                <a:schemeClr val="accent1"/>
              </a:solidFill>
            </a:endParaRPr>
          </a:p>
        </p:txBody>
      </p:sp>
    </p:spTree>
    <p:extLst>
      <p:ext uri="{BB962C8B-B14F-4D97-AF65-F5344CB8AC3E}">
        <p14:creationId xmlns:p14="http://schemas.microsoft.com/office/powerpoint/2010/main" val="29910089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727460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14263" y="1114961"/>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err="1">
                <a:solidFill>
                  <a:schemeClr val="accent2"/>
                </a:solidFill>
              </a:rPr>
              <a:t>AoP</a:t>
            </a:r>
            <a:r>
              <a:rPr lang="en-US" sz="1800" kern="0" spc="-220" dirty="0">
                <a:solidFill>
                  <a:schemeClr val="accent2"/>
                </a:solidFill>
              </a:rPr>
              <a:t>(Aspect Oriented Programming)</a:t>
            </a:r>
          </a:p>
          <a:p>
            <a:pPr marL="12700" marR="5080"/>
            <a:endParaRPr lang="en-US" sz="1800" kern="0" spc="-220" dirty="0">
              <a:solidFill>
                <a:schemeClr val="accent2"/>
              </a:solidFill>
            </a:endParaRPr>
          </a:p>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800" dirty="0">
                <a:hlinkClick r:id="rId7"/>
              </a:rPr>
              <a:t>jot.fm/issues/issue_2007_03/article1/</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800" dirty="0">
                <a:hlinkClick r:id="rId8"/>
              </a:rPr>
              <a:t>MSIL Rewriting – </a:t>
            </a:r>
            <a:r>
              <a:rPr lang="en-IN" sz="1800" dirty="0" err="1">
                <a:hlinkClick r:id="rId8"/>
              </a:rPr>
              <a:t>PostSharp</a:t>
            </a:r>
            <a:r>
              <a:rPr lang="en-IN" sz="1800" dirty="0">
                <a:hlinkClick r:id="rId8"/>
              </a:rPr>
              <a:t> Technologies</a:t>
            </a:r>
            <a:endParaRPr lang="en-IN" sz="1800" dirty="0"/>
          </a:p>
          <a:p>
            <a:pPr marL="12700" marR="5080"/>
            <a:endParaRPr lang="en-IN" sz="1800" kern="0" spc="-220" dirty="0">
              <a:solidFill>
                <a:schemeClr val="accent6"/>
              </a:solidFill>
            </a:endParaRPr>
          </a:p>
          <a:p>
            <a:pPr marL="12700" marR="5080"/>
            <a:r>
              <a:rPr lang="en-US" sz="1800" kern="0" spc="-220" dirty="0">
                <a:solidFill>
                  <a:schemeClr val="accent2"/>
                </a:solidFill>
              </a:rPr>
              <a:t>Run -Time Weaving Techniques in .NET – </a:t>
            </a:r>
          </a:p>
          <a:p>
            <a:pPr marL="12700" marR="5080"/>
            <a:r>
              <a:rPr lang="en-US" sz="1800" dirty="0">
                <a:hlinkClick r:id="rId9"/>
              </a:rPr>
              <a:t>Middleware and Dependency Injection – </a:t>
            </a:r>
            <a:r>
              <a:rPr lang="en-US" sz="1800" dirty="0" err="1">
                <a:hlinkClick r:id="rId9"/>
              </a:rPr>
              <a:t>PostSharp</a:t>
            </a:r>
            <a:r>
              <a:rPr lang="en-US" sz="1800" dirty="0">
                <a:hlinkClick r:id="rId9"/>
              </a:rPr>
              <a:t> Technologies</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 A Generic Example Using MS Unity – </a:t>
            </a:r>
          </a:p>
          <a:p>
            <a:pPr marL="12700" marR="5080"/>
            <a:r>
              <a:rPr lang="en-US" sz="1800" dirty="0">
                <a:hlinkClick r:id="rId10"/>
              </a:rPr>
              <a:t>DDD-Based-Enterprise-Application-Framework/Infrastructure/</a:t>
            </a:r>
            <a:r>
              <a:rPr lang="en-US" sz="1800" dirty="0" err="1">
                <a:hlinkClick r:id="rId10"/>
              </a:rPr>
              <a:t>AoP</a:t>
            </a:r>
            <a:r>
              <a:rPr lang="en-US" sz="1800" dirty="0">
                <a:hlinkClick r:id="rId10"/>
              </a:rPr>
              <a:t> at master · sandipray63in/DDD-Based-Enterprise-Application-Framework · GitHub</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For Further Exploration – </a:t>
            </a:r>
          </a:p>
          <a:p>
            <a:pPr marL="12700" marR="5080"/>
            <a:r>
              <a:rPr lang="en-US" sz="1800" dirty="0">
                <a:hlinkClick r:id="rId11"/>
              </a:rPr>
              <a:t>Aspect-Oriented Programming (AOP) - Microsoft Unity Succinctly </a:t>
            </a:r>
            <a:r>
              <a:rPr lang="en-US" sz="1800" dirty="0" err="1">
                <a:hlinkClick r:id="rId11"/>
              </a:rPr>
              <a:t>Ebook</a:t>
            </a:r>
            <a:endParaRPr lang="en-US" sz="18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1821-126B-D20D-5553-B39CCF6417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A66D0-85DD-4299-89DC-B0C8B3FE2F4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0CB82F-EF6C-6A08-43BF-D9E528CBEC1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8E2897-06C5-D092-1F54-C745A9DD05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CD14E3-C71B-06EE-3F51-753DF361BD89}"/>
              </a:ext>
            </a:extLst>
          </p:cNvPr>
          <p:cNvSpPr txBox="1">
            <a:spLocks/>
          </p:cNvSpPr>
          <p:nvPr/>
        </p:nvSpPr>
        <p:spPr>
          <a:xfrm>
            <a:off x="214263" y="111496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US" sz="1800" dirty="0">
                <a:hlinkClick r:id="rId7"/>
              </a:rPr>
              <a:t>Metaprogramming-in-C-Sharp</a:t>
            </a:r>
            <a:endParaRPr lang="en-US" sz="1800" kern="0" spc="-220" dirty="0">
              <a:solidFill>
                <a:schemeClr val="accent6"/>
              </a:solidFill>
            </a:endParaRPr>
          </a:p>
          <a:p>
            <a:pPr marL="12700" marR="5080"/>
            <a:r>
              <a:rPr lang="nl-NL" sz="1800" dirty="0">
                <a:hlinkClick r:id="rId8"/>
              </a:rPr>
              <a:t>Metaprogramming in .NET</a:t>
            </a:r>
            <a:endParaRPr lang="en-US" sz="18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1BAAE56E-4231-B5A0-C760-3045C2862152}"/>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8390631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    Intro to SOLID Principles – </a:t>
            </a:r>
          </a:p>
          <a:p>
            <a:pPr marL="12700" marR="5080"/>
            <a:r>
              <a:rPr lang="en-US" sz="1600" kern="0" spc="-220" dirty="0">
                <a:solidFill>
                  <a:schemeClr val="accent6"/>
                </a:solidFill>
              </a:rPr>
              <a:t>     </a:t>
            </a:r>
            <a:r>
              <a:rPr lang="en-US" sz="1600" dirty="0">
                <a:hlinkClick r:id="rId7"/>
              </a:rPr>
              <a:t>A Solid Guide to SOLID Principles | </a:t>
            </a:r>
            <a:r>
              <a:rPr lang="en-US" sz="1600" dirty="0" err="1">
                <a:hlinkClick r:id="rId7"/>
              </a:rPr>
              <a:t>Baeldung</a:t>
            </a:r>
            <a:endParaRPr lang="en-US" sz="16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76200" y="178842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6"/>
                </a:solidFill>
              </a:rPr>
              <a:t>  </a:t>
            </a:r>
            <a:r>
              <a:rPr lang="en-US" sz="1600" kern="0" spc="-220" dirty="0">
                <a:solidFill>
                  <a:schemeClr val="accent2"/>
                </a:solidFill>
              </a:rPr>
              <a:t>SRP vs ISP</a:t>
            </a:r>
          </a:p>
          <a:p>
            <a:pPr marL="12700" marR="5080"/>
            <a:r>
              <a:rPr lang="en-US" sz="1600" kern="0" spc="-220" dirty="0">
                <a:solidFill>
                  <a:schemeClr val="accent2"/>
                </a:solidFill>
              </a:rPr>
              <a:t>   </a:t>
            </a:r>
            <a:r>
              <a:rPr lang="en-US" sz="1600" kern="0" spc="-220" dirty="0">
                <a:solidFill>
                  <a:schemeClr val="accent6"/>
                </a:solidFill>
              </a:rPr>
              <a:t>They both care about avoiding unnecessary responsibility and keeping things clean and clear. But they tackle different kinds of “too much responsibility”. SRP asks “Is this class doing more than one job?” &amp; if yes, suggests to break classes into smaller ones while ISP asks “Is this interface forcing clients to depend on stuff they don't use?” &amp; if yes, split interfaces into smaller ones.</a:t>
            </a:r>
          </a:p>
          <a:p>
            <a:pPr marL="12700" marR="5080"/>
            <a:r>
              <a:rPr lang="en-US" sz="1600" kern="0" spc="-220" dirty="0">
                <a:solidFill>
                  <a:schemeClr val="accent2"/>
                </a:solidFill>
              </a:rPr>
              <a:t>   In Short – </a:t>
            </a:r>
          </a:p>
          <a:p>
            <a:pPr marL="12700" marR="5080"/>
            <a:r>
              <a:rPr lang="en-US" sz="1600" kern="0" spc="-220" dirty="0">
                <a:solidFill>
                  <a:schemeClr val="accent2"/>
                </a:solidFill>
              </a:rPr>
              <a:t>    SRP </a:t>
            </a:r>
            <a:r>
              <a:rPr lang="en-US" sz="1600" kern="0" spc="-220" dirty="0">
                <a:solidFill>
                  <a:schemeClr val="accent6"/>
                </a:solidFill>
              </a:rPr>
              <a:t>- Don’t give one class multiple jobs </a:t>
            </a:r>
          </a:p>
          <a:p>
            <a:pPr marL="12700" marR="5080"/>
            <a:r>
              <a:rPr lang="en-US" sz="1600" kern="0" spc="-220" dirty="0">
                <a:solidFill>
                  <a:schemeClr val="accent2"/>
                </a:solidFill>
              </a:rPr>
              <a:t>    ISP</a:t>
            </a:r>
            <a:r>
              <a:rPr lang="en-US" sz="1600" kern="0" spc="-220" dirty="0">
                <a:solidFill>
                  <a:schemeClr val="accent6"/>
                </a:solidFill>
              </a:rPr>
              <a:t> -  Don’t give one interface multiple purposes </a:t>
            </a:r>
          </a:p>
          <a:p>
            <a:pPr marL="12700" marR="5080"/>
            <a:r>
              <a:rPr lang="en-US" sz="1600" kern="0" spc="-220" dirty="0">
                <a:solidFill>
                  <a:schemeClr val="accent6"/>
                </a:solidFill>
              </a:rPr>
              <a:t>   </a:t>
            </a:r>
            <a:r>
              <a:rPr lang="en-US" sz="1600" kern="0" spc="-220" dirty="0">
                <a:solidFill>
                  <a:schemeClr val="accent2"/>
                </a:solidFill>
              </a:rPr>
              <a:t>Or more playfully: </a:t>
            </a:r>
          </a:p>
          <a:p>
            <a:pPr marL="12700" marR="5080"/>
            <a:r>
              <a:rPr lang="en-US" sz="1600" kern="0" spc="-220" dirty="0">
                <a:solidFill>
                  <a:schemeClr val="accent2"/>
                </a:solidFill>
              </a:rPr>
              <a:t>    SRP: </a:t>
            </a:r>
            <a:r>
              <a:rPr lang="en-US" sz="1600" kern="0" spc="-220" dirty="0">
                <a:solidFill>
                  <a:schemeClr val="accent6"/>
                </a:solidFill>
              </a:rPr>
              <a:t>“One employee should have one role.” </a:t>
            </a:r>
          </a:p>
          <a:p>
            <a:pPr marL="12700" marR="5080"/>
            <a:r>
              <a:rPr lang="en-US" sz="1600" kern="0" spc="-220" dirty="0">
                <a:solidFill>
                  <a:schemeClr val="accent6"/>
                </a:solidFill>
              </a:rPr>
              <a:t>    </a:t>
            </a:r>
            <a:r>
              <a:rPr lang="en-US" sz="1600" kern="0" spc="-220" dirty="0">
                <a:solidFill>
                  <a:schemeClr val="accent2"/>
                </a:solidFill>
              </a:rPr>
              <a:t>ISP: </a:t>
            </a:r>
            <a:r>
              <a:rPr lang="en-US" sz="1600" kern="0" spc="-220" dirty="0">
                <a:solidFill>
                  <a:schemeClr val="accent6"/>
                </a:solidFill>
              </a:rPr>
              <a:t>“Don’t give employees tools they don’t need for that role.”</a:t>
            </a:r>
          </a:p>
          <a:p>
            <a:pPr marL="12700" marR="5080"/>
            <a:r>
              <a:rPr lang="en-US" sz="1600" kern="0" spc="-220" dirty="0">
                <a:solidFill>
                  <a:schemeClr val="accent6"/>
                </a:solidFill>
              </a:rPr>
              <a:t>  </a:t>
            </a:r>
          </a:p>
          <a:p>
            <a:pPr marL="12700" marR="5080"/>
            <a:r>
              <a:rPr lang="en-US" sz="1600" kern="0" spc="-220" dirty="0">
                <a:solidFill>
                  <a:schemeClr val="accent2"/>
                </a:solidFill>
              </a:rPr>
              <a:t>  Some concepts related to SOLID– </a:t>
            </a:r>
          </a:p>
          <a:p>
            <a:pPr marL="12700" marR="5080"/>
            <a:r>
              <a:rPr lang="en-US" sz="1600" kern="0" spc="-220" dirty="0">
                <a:solidFill>
                  <a:schemeClr val="accent6"/>
                </a:solidFill>
              </a:rPr>
              <a:t>   </a:t>
            </a:r>
            <a:r>
              <a:rPr lang="en-US" sz="1600" kern="0" spc="-220" dirty="0">
                <a:solidFill>
                  <a:schemeClr val="tx2">
                    <a:lumMod val="60000"/>
                    <a:lumOff val="40000"/>
                  </a:schemeClr>
                </a:solidFill>
              </a:rPr>
              <a:t>D of SOLID is Dependency Inversion &amp; Not Dependency Injection</a:t>
            </a:r>
          </a:p>
          <a:p>
            <a:pPr marL="12700" marR="5080"/>
            <a:r>
              <a:rPr lang="en-US" sz="1600" kern="0" spc="-220" dirty="0">
                <a:solidFill>
                  <a:schemeClr val="accent6"/>
                </a:solidFill>
              </a:rPr>
              <a:t>   How .NET Extension Methods follows OCP by default</a:t>
            </a:r>
          </a:p>
          <a:p>
            <a:pPr marL="12700" marR="5080"/>
            <a:r>
              <a:rPr lang="en-US" sz="1600" kern="0" spc="-220" dirty="0">
                <a:solidFill>
                  <a:schemeClr val="accent6"/>
                </a:solidFill>
              </a:rPr>
              <a:t>   </a:t>
            </a:r>
            <a:r>
              <a:rPr lang="en-US" sz="1600" kern="0" spc="-220" dirty="0" err="1">
                <a:solidFill>
                  <a:schemeClr val="accent6"/>
                </a:solidFill>
              </a:rPr>
              <a:t>Liskuv</a:t>
            </a:r>
            <a:r>
              <a:rPr lang="en-US" sz="1600" kern="0" spc="-220" dirty="0">
                <a:solidFill>
                  <a:schemeClr val="accent6"/>
                </a:solidFill>
              </a:rPr>
              <a:t> Substitution principle can be applied to all types of Abstractions in .NET(</a:t>
            </a:r>
            <a:r>
              <a:rPr lang="en-US" sz="1600" kern="0" spc="-220" dirty="0">
                <a:solidFill>
                  <a:schemeClr val="tx2">
                    <a:lumMod val="60000"/>
                    <a:lumOff val="40000"/>
                  </a:schemeClr>
                </a:solidFill>
              </a:rPr>
              <a:t>next slide</a:t>
            </a:r>
            <a:r>
              <a:rPr lang="en-US" sz="1600" kern="0" spc="-220" dirty="0">
                <a:solidFill>
                  <a:schemeClr val="accent6"/>
                </a:solidFill>
              </a:rPr>
              <a:t>)</a:t>
            </a:r>
          </a:p>
          <a:p>
            <a:pPr marL="12700" marR="5080"/>
            <a:r>
              <a:rPr lang="en-US" sz="1600" kern="0" spc="-220" dirty="0">
                <a:solidFill>
                  <a:schemeClr val="accent6"/>
                </a:solidFill>
              </a:rPr>
              <a:t>   ISP(Interface Segregation Principle) &amp; its relation to Microservices   </a:t>
            </a:r>
          </a:p>
          <a:p>
            <a:pPr marL="12700" marR="5080"/>
            <a:endParaRPr lang="en-US" sz="1600" kern="0" spc="-220" dirty="0">
              <a:solidFill>
                <a:schemeClr val="accent6"/>
              </a:solidFill>
            </a:endParaRPr>
          </a:p>
        </p:txBody>
      </p:sp>
    </p:spTree>
    <p:extLst>
      <p:ext uri="{BB962C8B-B14F-4D97-AF65-F5344CB8AC3E}">
        <p14:creationId xmlns:p14="http://schemas.microsoft.com/office/powerpoint/2010/main" val="10693562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5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dirty="0"/>
          </a:p>
          <a:p>
            <a:pPr marL="12700" marR="5080"/>
            <a:r>
              <a:rPr lang="en-US" sz="1500" kern="0" spc="-220" dirty="0">
                <a:solidFill>
                  <a:schemeClr val="accent6"/>
                </a:solidFill>
              </a:rPr>
              <a:t>  </a:t>
            </a:r>
            <a:r>
              <a:rPr lang="en-US" sz="1500" dirty="0">
                <a:hlinkClick r:id="rId9"/>
              </a:rPr>
              <a:t>SOLID, CUPID, GRASP Principles of Object-Oriented Design</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dirty="0"/>
          </a:p>
          <a:p>
            <a:pPr marL="12700" marR="5080"/>
            <a:r>
              <a:rPr lang="en-US" sz="1600" dirty="0" err="1">
                <a:hlinkClick r:id="rId8"/>
              </a:rPr>
              <a:t>c#</a:t>
            </a:r>
            <a:r>
              <a:rPr lang="en-US" sz="1600" dirty="0">
                <a:hlinkClick r:id="rId8"/>
              </a:rPr>
              <a:t> - ASP.NET Core middleware vs filters - Stack Overflow</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9"/>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10"/>
              </a:rPr>
              <a:t>gRPC</a:t>
            </a:r>
            <a:r>
              <a:rPr lang="en-IN" sz="1500" dirty="0">
                <a:hlinkClick r:id="rId10"/>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dirty="0"/>
          </a:p>
          <a:p>
            <a:pPr marL="12700" marR="5080"/>
            <a:endParaRPr lang="en-US" sz="1500" kern="0" spc="-220" dirty="0">
              <a:solidFill>
                <a:schemeClr val="accent6"/>
              </a:solidFill>
            </a:endParaRPr>
          </a:p>
          <a:p>
            <a:pPr marL="12700" marR="5080"/>
            <a:endParaRPr lang="en-US" sz="1500" kern="0" spc="-220" dirty="0">
              <a:solidFill>
                <a:schemeClr val="accent6"/>
              </a:solidFill>
            </a:endParaRPr>
          </a:p>
          <a:p>
            <a:pPr marL="12700" marR="5080"/>
            <a:r>
              <a:rPr lang="en-US" sz="2400" kern="0" spc="-220">
                <a:solidFill>
                  <a:schemeClr val="accent2"/>
                </a:solidFill>
              </a:rPr>
              <a:t>For Further </a:t>
            </a:r>
            <a:r>
              <a:rPr lang="en-US" sz="2400" kern="0" spc="-220" dirty="0">
                <a:solidFill>
                  <a:schemeClr val="accent2"/>
                </a:solidFill>
              </a:rPr>
              <a:t>Exploration</a:t>
            </a:r>
          </a:p>
          <a:p>
            <a:pPr marL="12700" marR="5080"/>
            <a:r>
              <a:rPr lang="en-IN" sz="1600" dirty="0">
                <a:hlinkClick r:id="rId11"/>
              </a:rPr>
              <a:t>ASP.NET Web API | Microsoft Learn</a:t>
            </a:r>
            <a:r>
              <a:rPr lang="en-IN" sz="1600" dirty="0"/>
              <a:t> </a:t>
            </a:r>
            <a:r>
              <a:rPr lang="en-IN" sz="1800" kern="0" spc="-220" dirty="0">
                <a:solidFill>
                  <a:schemeClr val="accent6"/>
                </a:solidFill>
              </a:rPr>
              <a:t>(specifically check the Web API posters)</a:t>
            </a:r>
          </a:p>
          <a:p>
            <a:pPr marL="12700" marR="5080"/>
            <a:r>
              <a:rPr lang="en-US" sz="1800" dirty="0">
                <a:hlinkClick r:id="rId12"/>
              </a:rPr>
              <a:t>ASP.NET Core Succinctly Books | </a:t>
            </a:r>
            <a:r>
              <a:rPr lang="en-US" sz="1800" dirty="0" err="1">
                <a:hlinkClick r:id="rId12"/>
              </a:rPr>
              <a:t>Syncfusion</a:t>
            </a:r>
            <a:r>
              <a:rPr lang="en-US" sz="1800" dirty="0">
                <a:hlinkClick r:id="rId12"/>
              </a:rPr>
              <a:t>®</a:t>
            </a:r>
            <a:endParaRPr lang="en-US" sz="18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359545664"/>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extLst>
              <p:ext uri="{D42A27DB-BD31-4B8C-83A1-F6EECF244321}">
                <p14:modId xmlns:p14="http://schemas.microsoft.com/office/powerpoint/2010/main" val="389536020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extLst>
              <p:ext uri="{D42A27DB-BD31-4B8C-83A1-F6EECF244321}">
                <p14:modId xmlns:p14="http://schemas.microsoft.com/office/powerpoint/2010/main" val="3811726676"/>
              </p:ext>
            </p:extLst>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145448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extLst>
              <p:ext uri="{D42A27DB-BD31-4B8C-83A1-F6EECF244321}">
                <p14:modId xmlns:p14="http://schemas.microsoft.com/office/powerpoint/2010/main" val="9033458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2736538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extLst>
              <p:ext uri="{D42A27DB-BD31-4B8C-83A1-F6EECF244321}">
                <p14:modId xmlns:p14="http://schemas.microsoft.com/office/powerpoint/2010/main" val="279869535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20449079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extLst>
              <p:ext uri="{D42A27DB-BD31-4B8C-83A1-F6EECF244321}">
                <p14:modId xmlns:p14="http://schemas.microsoft.com/office/powerpoint/2010/main" val="412170977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353257452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extLst>
              <p:ext uri="{D42A27DB-BD31-4B8C-83A1-F6EECF244321}">
                <p14:modId xmlns:p14="http://schemas.microsoft.com/office/powerpoint/2010/main" val="258465143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9191523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extLst>
              <p:ext uri="{D42A27DB-BD31-4B8C-83A1-F6EECF244321}">
                <p14:modId xmlns:p14="http://schemas.microsoft.com/office/powerpoint/2010/main" val="20319508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9502060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extLst>
              <p:ext uri="{D42A27DB-BD31-4B8C-83A1-F6EECF244321}">
                <p14:modId xmlns:p14="http://schemas.microsoft.com/office/powerpoint/2010/main" val="225304791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0170615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extLst>
              <p:ext uri="{D42A27DB-BD31-4B8C-83A1-F6EECF244321}">
                <p14:modId xmlns:p14="http://schemas.microsoft.com/office/powerpoint/2010/main" val="180929640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355600" marR="5080" indent="-342900">
              <a:buAutoNum type="arabicPeriod"/>
            </a:pPr>
            <a:r>
              <a:rPr lang="en-US" sz="1800" kern="0" spc="-220" dirty="0">
                <a:solidFill>
                  <a:schemeClr val="accent2"/>
                </a:solidFill>
              </a:rPr>
              <a:t>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endParaRPr lang="en-US" sz="1800" kern="0" spc="-220" dirty="0">
              <a:solidFill>
                <a:schemeClr val="accent2"/>
              </a:solidFill>
            </a:endParaRP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98832594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extLst>
              <p:ext uri="{D42A27DB-BD31-4B8C-83A1-F6EECF244321}">
                <p14:modId xmlns:p14="http://schemas.microsoft.com/office/powerpoint/2010/main" val="985694402"/>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158676630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extLst>
              <p:ext uri="{D42A27DB-BD31-4B8C-83A1-F6EECF244321}">
                <p14:modId xmlns:p14="http://schemas.microsoft.com/office/powerpoint/2010/main" val="24599065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5094295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extLst>
              <p:ext uri="{D42A27DB-BD31-4B8C-83A1-F6EECF244321}">
                <p14:modId xmlns:p14="http://schemas.microsoft.com/office/powerpoint/2010/main" val="53537138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362351545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extLst>
              <p:ext uri="{D42A27DB-BD31-4B8C-83A1-F6EECF244321}">
                <p14:modId xmlns:p14="http://schemas.microsoft.com/office/powerpoint/2010/main" val="382554399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303343893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extLst>
              <p:ext uri="{D42A27DB-BD31-4B8C-83A1-F6EECF244321}">
                <p14:modId xmlns:p14="http://schemas.microsoft.com/office/powerpoint/2010/main" val="42908297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52820914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extLst>
              <p:ext uri="{D42A27DB-BD31-4B8C-83A1-F6EECF244321}">
                <p14:modId xmlns:p14="http://schemas.microsoft.com/office/powerpoint/2010/main" val="393002112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369757795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extLst>
              <p:ext uri="{D42A27DB-BD31-4B8C-83A1-F6EECF244321}">
                <p14:modId xmlns:p14="http://schemas.microsoft.com/office/powerpoint/2010/main" val="8570868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a:p>
            <a:pPr marL="12700" marR="5080"/>
            <a:r>
              <a:rPr lang="en-IN" sz="1800" dirty="0">
                <a:hlinkClick r:id="rId12"/>
              </a:rPr>
              <a:t>Resource Constrained Programming</a:t>
            </a:r>
            <a:endParaRPr lang="en-IN" sz="1800" dirty="0"/>
          </a:p>
          <a:p>
            <a:pPr marL="12700" marR="5080"/>
            <a:r>
              <a:rPr lang="en-IN" sz="1800" dirty="0">
                <a:hlinkClick r:id="rId13"/>
              </a:rPr>
              <a:t>Mechanical Sympathy</a:t>
            </a:r>
            <a:endParaRPr lang="en-IN" sz="1800" dirty="0"/>
          </a:p>
          <a:p>
            <a:pPr marL="12700" marR="5080"/>
            <a:r>
              <a:rPr lang="en-US" sz="1800">
                <a:hlinkClick r:id="rId14"/>
              </a:rPr>
              <a:t>Resource Constrained Programming vs Mechanical Sympathy</a:t>
            </a:r>
            <a:endParaRPr lang="en-US" sz="1800" kern="0" spc="-220" dirty="0">
              <a:solidFill>
                <a:schemeClr val="accent2"/>
              </a:solidFill>
            </a:endParaRPr>
          </a:p>
        </p:txBody>
      </p:sp>
    </p:spTree>
    <p:extLst>
      <p:ext uri="{BB962C8B-B14F-4D97-AF65-F5344CB8AC3E}">
        <p14:creationId xmlns:p14="http://schemas.microsoft.com/office/powerpoint/2010/main" val="240512892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COM </a:t>
            </a:r>
            <a:r>
              <a:rPr lang="en-US" sz="1600" kern="0" spc="-220" dirty="0" err="1">
                <a:solidFill>
                  <a:schemeClr val="accent2"/>
                </a:solidFill>
              </a:rPr>
              <a:t>InterOperability</a:t>
            </a:r>
            <a:r>
              <a:rPr lang="en-US" sz="1600" kern="0" spc="-220" dirty="0">
                <a:solidFill>
                  <a:schemeClr val="accent2"/>
                </a:solidFill>
              </a:rPr>
              <a:t> - </a:t>
            </a:r>
            <a:r>
              <a:rPr lang="en-US" sz="1600" kern="0" spc="-220" dirty="0">
                <a:solidFill>
                  <a:schemeClr val="accent6"/>
                </a:solidFill>
              </a:rPr>
              <a:t>fetch as much data as possible from COM  into RAM (memory) &amp; then do further processing .If needed use </a:t>
            </a:r>
            <a:r>
              <a:rPr lang="en-US" sz="1600" kern="0" spc="-220" dirty="0" err="1">
                <a:solidFill>
                  <a:schemeClr val="accent6"/>
                </a:solidFill>
              </a:rPr>
              <a:t>chunking.This</a:t>
            </a:r>
            <a:r>
              <a:rPr lang="en-US" sz="1600" kern="0" spc="-220" dirty="0">
                <a:solidFill>
                  <a:schemeClr val="accent6"/>
                </a:solidFill>
              </a:rPr>
              <a:t> is needed mainly to improve performance since COM calls are pretty slow.</a:t>
            </a:r>
          </a:p>
          <a:p>
            <a:pPr marL="12700" marR="5080"/>
            <a:endParaRPr lang="en-US" sz="1600" kern="0" spc="-220" dirty="0">
              <a:solidFill>
                <a:schemeClr val="accent6"/>
              </a:solidFill>
            </a:endParaRPr>
          </a:p>
          <a:p>
            <a:pPr marL="12700" marR="5080"/>
            <a:r>
              <a:rPr lang="en-US" sz="1600" kern="0" spc="-220" dirty="0" err="1">
                <a:solidFill>
                  <a:schemeClr val="accent2"/>
                </a:solidFill>
              </a:rPr>
              <a:t>NodeJs</a:t>
            </a:r>
            <a:r>
              <a:rPr lang="en-US" sz="1600" kern="0" spc="-220" dirty="0">
                <a:solidFill>
                  <a:schemeClr val="accent2"/>
                </a:solidFill>
              </a:rPr>
              <a:t> - </a:t>
            </a:r>
            <a:r>
              <a:rPr lang="en-US" sz="16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600" kern="0" spc="-220" dirty="0">
              <a:solidFill>
                <a:schemeClr val="accent6"/>
              </a:solidFill>
            </a:endParaRPr>
          </a:p>
          <a:p>
            <a:pPr marL="12700" marR="5080"/>
            <a:r>
              <a:rPr lang="en-US" sz="1600" kern="0" spc="-220" dirty="0">
                <a:solidFill>
                  <a:schemeClr val="accent2"/>
                </a:solidFill>
              </a:rPr>
              <a:t>Python – </a:t>
            </a:r>
            <a:r>
              <a:rPr lang="en-US" sz="1600" kern="0" spc="-220" dirty="0">
                <a:solidFill>
                  <a:schemeClr val="accent6"/>
                </a:solidFill>
              </a:rPr>
              <a:t>check List (&amp; Dictionary) Comprehension &amp; </a:t>
            </a:r>
            <a:r>
              <a:rPr lang="en-US" sz="1600" kern="0" spc="-220" dirty="0" err="1">
                <a:solidFill>
                  <a:schemeClr val="accent6"/>
                </a:solidFill>
              </a:rPr>
              <a:t>Numpy</a:t>
            </a:r>
            <a:r>
              <a:rPr lang="en-US" sz="1600" kern="0" spc="-220" dirty="0">
                <a:solidFill>
                  <a:schemeClr val="accent6"/>
                </a:solidFill>
              </a:rPr>
              <a:t> Multi-Dimensional Array.</a:t>
            </a:r>
          </a:p>
          <a:p>
            <a:pPr marL="12700" marR="5080"/>
            <a:endParaRPr lang="en-US" sz="1600" kern="0" spc="-220" dirty="0">
              <a:solidFill>
                <a:schemeClr val="accent6"/>
              </a:solidFill>
            </a:endParaRPr>
          </a:p>
          <a:p>
            <a:pPr marL="12700" marR="5080"/>
            <a:r>
              <a:rPr lang="en-US" sz="1600" kern="0" spc="-220" dirty="0">
                <a:solidFill>
                  <a:schemeClr val="accent2"/>
                </a:solidFill>
              </a:rPr>
              <a:t>Java - </a:t>
            </a:r>
            <a:r>
              <a:rPr lang="en-US" sz="1600" kern="0" spc="-220" dirty="0">
                <a:solidFill>
                  <a:schemeClr val="accent6"/>
                </a:solidFill>
              </a:rPr>
              <a:t>doesn’t have Exception Bubbling &amp; async-await </a:t>
            </a:r>
            <a:r>
              <a:rPr lang="en-US" sz="1600" kern="0" spc="-220" dirty="0">
                <a:solidFill>
                  <a:schemeClr val="tx2">
                    <a:lumMod val="60000"/>
                    <a:lumOff val="40000"/>
                  </a:schemeClr>
                </a:solidFill>
              </a:rPr>
              <a:t>by default</a:t>
            </a:r>
            <a:r>
              <a:rPr lang="en-US" sz="1600" kern="0" spc="-220" dirty="0">
                <a:solidFill>
                  <a:schemeClr val="accent6"/>
                </a:solidFill>
              </a:rPr>
              <a:t>. But I love 1 thing in Java compared to  .NET &amp;  that’s that Java has only one generic argument equivalent of Action&lt;T&gt; &amp; Func&lt;T&gt; while .NET has  Action&lt;T1&gt;/Func&lt;T1&gt; till Action&lt;T1, T2,…….T16&gt;/Func&lt;T1,T2,……T16.&gt;. Although Action&lt;T&gt;/Func&lt;T&gt;/Action&lt;T1&gt;/Func&lt;T1&gt; should  suffice  but not sure why the .NET Language Designers opted to support till T16  (although tomorrow I may need T17 or more &amp; all such T1 till T16 or more can be wrapped into a single  “T” class as properties &amp; then processed further) . </a:t>
            </a:r>
            <a:r>
              <a:rPr lang="en-US" sz="1600" kern="0" spc="-220" dirty="0">
                <a:solidFill>
                  <a:schemeClr val="accent2"/>
                </a:solidFill>
              </a:rPr>
              <a:t>Also SL4J and Lombok are 2 cool frameworks from the Java world.</a:t>
            </a:r>
          </a:p>
          <a:p>
            <a:pPr marL="12700" marR="5080"/>
            <a:endParaRPr lang="en-US" sz="1600" kern="0" spc="-220" dirty="0">
              <a:solidFill>
                <a:schemeClr val="accent6"/>
              </a:solidFill>
            </a:endParaRPr>
          </a:p>
          <a:p>
            <a:pPr marL="12700" marR="5080"/>
            <a:r>
              <a:rPr lang="en-US" sz="1600" kern="0" spc="-220" dirty="0">
                <a:solidFill>
                  <a:schemeClr val="accent2"/>
                </a:solidFill>
              </a:rPr>
              <a:t>C++ - </a:t>
            </a:r>
            <a:r>
              <a:rPr lang="en-US" sz="1600" kern="0" spc="-220" dirty="0">
                <a:solidFill>
                  <a:schemeClr val="accent6"/>
                </a:solidFill>
              </a:rPr>
              <a:t>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600" dirty="0">
                <a:hlinkClick r:id="rId7"/>
              </a:rPr>
              <a:t>Free </a:t>
            </a:r>
            <a:r>
              <a:rPr lang="en-IN" sz="1600" dirty="0" err="1">
                <a:hlinkClick r:id="rId7"/>
              </a:rPr>
              <a:t>Ebook</a:t>
            </a:r>
            <a:r>
              <a:rPr lang="en-IN" sz="1600" dirty="0">
                <a:hlinkClick r:id="rId7"/>
              </a:rPr>
              <a:t> - C++ Succinctly</a:t>
            </a:r>
            <a:endParaRPr lang="en-US" sz="16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7924118"/>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57708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500" dirty="0">
                <a:hlinkClick r:id="rId7"/>
              </a:rPr>
              <a:t>Essential Algorithms</a:t>
            </a:r>
            <a:endParaRPr lang="en-IN" sz="1500" dirty="0"/>
          </a:p>
          <a:p>
            <a:pPr marL="12700" marR="5080"/>
            <a:r>
              <a:rPr lang="en-US" sz="1500" dirty="0">
                <a:hlinkClick r:id="rId8"/>
              </a:rPr>
              <a:t>Learn to program. For free. - Invent with Python</a:t>
            </a:r>
            <a:endParaRPr lang="en-US" sz="1500" dirty="0"/>
          </a:p>
          <a:p>
            <a:pPr marL="12700" marR="5080"/>
            <a:r>
              <a:rPr lang="en-US" sz="1500" dirty="0">
                <a:hlinkClick r:id="rId9"/>
              </a:rPr>
              <a:t>Fabulous Adventures in Data Structures and Algorithms</a:t>
            </a:r>
            <a:endParaRPr lang="en-US" sz="1500" dirty="0"/>
          </a:p>
          <a:p>
            <a:pPr marL="12700" marR="5080"/>
            <a:r>
              <a:rPr lang="en-US" sz="1500" dirty="0">
                <a:hlinkClick r:id="rId10"/>
              </a:rPr>
              <a:t>Dynamic Programming in Python : William Smith</a:t>
            </a:r>
            <a:endParaRPr lang="en-US" sz="1500" dirty="0"/>
          </a:p>
          <a:p>
            <a:pPr marL="12700" marR="5080"/>
            <a:r>
              <a:rPr lang="en-US" sz="1500" dirty="0">
                <a:hlinkClick r:id="rId11"/>
              </a:rPr>
              <a:t>Data-Structures-And-Algorithms-Made-Easy-In-Java</a:t>
            </a:r>
            <a:endParaRPr lang="en-US" sz="1500" dirty="0"/>
          </a:p>
          <a:p>
            <a:pPr marL="12700" marR="5080"/>
            <a:r>
              <a:rPr lang="en-IN" sz="1500" dirty="0">
                <a:hlinkClick r:id="rId12"/>
              </a:rPr>
              <a:t>20 Patterns to Master Dynamic Programming</a:t>
            </a:r>
            <a:endParaRPr lang="en-IN" sz="1500" dirty="0"/>
          </a:p>
          <a:p>
            <a:pPr marL="12700" marR="5080"/>
            <a:r>
              <a:rPr lang="en-IN" sz="1500" dirty="0">
                <a:hlinkClick r:id="rId13"/>
              </a:rPr>
              <a:t>Must Know Data Structures | LinkedIn</a:t>
            </a:r>
            <a:endParaRPr lang="en-IN" sz="1500" dirty="0"/>
          </a:p>
          <a:p>
            <a:pPr marL="12700" marR="5080"/>
            <a:r>
              <a:rPr lang="en-US" sz="1500" dirty="0">
                <a:hlinkClick r:id="rId14"/>
              </a:rPr>
              <a:t>Data Structures and Algorithms Roadmap</a:t>
            </a:r>
            <a:endParaRPr lang="en-IN" sz="1500" dirty="0"/>
          </a:p>
          <a:p>
            <a:pPr marL="12700" marR="5080"/>
            <a:r>
              <a:rPr lang="en-IN" sz="1500" dirty="0">
                <a:hlinkClick r:id="rId15"/>
              </a:rPr>
              <a:t>Coding-Interview-Patterns</a:t>
            </a:r>
            <a:endParaRPr lang="en-IN" sz="1500" dirty="0"/>
          </a:p>
          <a:p>
            <a:pPr marL="12700" marR="5080"/>
            <a:r>
              <a:rPr lang="en-IN" sz="1500" dirty="0">
                <a:hlinkClick r:id="rId16"/>
              </a:rPr>
              <a:t>Coding Problems Patterns | LinkedIn</a:t>
            </a:r>
            <a:endParaRPr lang="en-IN" sz="1500" dirty="0"/>
          </a:p>
          <a:p>
            <a:pPr marL="12700" marR="5080"/>
            <a:r>
              <a:rPr lang="en-US" sz="1500" dirty="0">
                <a:hlinkClick r:id="rId17"/>
              </a:rPr>
              <a:t>Awesome-</a:t>
            </a:r>
            <a:r>
              <a:rPr lang="en-US" sz="1500" dirty="0" err="1">
                <a:hlinkClick r:id="rId17"/>
              </a:rPr>
              <a:t>Leetcode</a:t>
            </a:r>
            <a:r>
              <a:rPr lang="en-US" sz="1500" dirty="0">
                <a:hlinkClick r:id="rId17"/>
              </a:rPr>
              <a:t>-Resources </a:t>
            </a:r>
          </a:p>
          <a:p>
            <a:pPr marL="12700" marR="5080"/>
            <a:r>
              <a:rPr lang="en-US" sz="1500" dirty="0">
                <a:hlinkClick r:id="rId18"/>
              </a:rPr>
              <a:t>Coding-Interview-University</a:t>
            </a:r>
            <a:endParaRPr lang="en-US" sz="1500" dirty="0"/>
          </a:p>
          <a:p>
            <a:pPr marL="12700" marR="5080"/>
            <a:r>
              <a:rPr lang="en-US" sz="1500" dirty="0">
                <a:hlinkClick r:id="rId17"/>
              </a:rPr>
              <a:t>Algorithms and prepare for Coding Interviews.</a:t>
            </a:r>
            <a:endParaRPr lang="en-US" sz="1500" dirty="0"/>
          </a:p>
          <a:p>
            <a:pPr marL="12700" marR="5080"/>
            <a:r>
              <a:rPr lang="en-US" sz="1500" dirty="0">
                <a:hlinkClick r:id="rId19"/>
              </a:rPr>
              <a:t>Technical Interview Guide for Busy Engineers | Tech Interview Handbook</a:t>
            </a:r>
            <a:r>
              <a:rPr lang="en-US" sz="1500" dirty="0"/>
              <a:t> </a:t>
            </a:r>
            <a:endParaRPr lang="en-IN" sz="1500" dirty="0"/>
          </a:p>
          <a:p>
            <a:pPr marL="12700" marR="5080"/>
            <a:r>
              <a:rPr lang="en-IN" sz="1500" dirty="0">
                <a:hlinkClick r:id="rId20"/>
              </a:rPr>
              <a:t>C# in a Nutshell</a:t>
            </a:r>
            <a:endParaRPr lang="en-US" sz="1500" dirty="0"/>
          </a:p>
          <a:p>
            <a:pPr marL="12700" marR="5080"/>
            <a:r>
              <a:rPr lang="en-IN" sz="1500" dirty="0" err="1">
                <a:hlinkClick r:id="rId21"/>
              </a:rPr>
              <a:t>MarkJPrice</a:t>
            </a:r>
            <a:r>
              <a:rPr lang="en-IN" sz="1500" dirty="0">
                <a:hlinkClick r:id="rId21"/>
              </a:rPr>
              <a:t>/Repositories</a:t>
            </a:r>
            <a:endParaRPr lang="en-IN" sz="1500" dirty="0"/>
          </a:p>
          <a:p>
            <a:pPr marL="12700" marR="5080"/>
            <a:r>
              <a:rPr lang="en-IN" sz="1500" dirty="0">
                <a:hlinkClick r:id="rId22"/>
              </a:rPr>
              <a:t>C# | Version History </a:t>
            </a:r>
            <a:r>
              <a:rPr lang="en-IN" sz="1500" dirty="0">
                <a:hlinkClick r:id="rId23"/>
              </a:rPr>
              <a:t>–</a:t>
            </a:r>
            <a:r>
              <a:rPr lang="en-IN" sz="1500" dirty="0">
                <a:hlinkClick r:id="rId22"/>
              </a:rPr>
              <a:t> </a:t>
            </a:r>
            <a:r>
              <a:rPr lang="en-IN" sz="1500" dirty="0" err="1">
                <a:hlinkClick r:id="rId22"/>
              </a:rPr>
              <a:t>GeeksforGeeks</a:t>
            </a:r>
            <a:endParaRPr lang="en-IN" sz="1500" dirty="0"/>
          </a:p>
          <a:p>
            <a:pPr marL="12700" marR="5080"/>
            <a:r>
              <a:rPr lang="en-US" sz="1500" dirty="0">
                <a:hlinkClick r:id="rId24"/>
              </a:rPr>
              <a:t>What's new in C# 13 | Microsoft Learn</a:t>
            </a:r>
            <a:endParaRPr lang="en-IN" sz="1500" dirty="0"/>
          </a:p>
          <a:p>
            <a:pPr marL="12700" marR="5080"/>
            <a:r>
              <a:rPr lang="en-US" sz="1500" dirty="0">
                <a:hlinkClick r:id="rId25"/>
              </a:rPr>
              <a:t>How do I chunk an enumerable? - Stack Overflow</a:t>
            </a:r>
            <a:endParaRPr lang="en-US" sz="1500" dirty="0"/>
          </a:p>
          <a:p>
            <a:pPr marL="12700" marR="5080"/>
            <a:r>
              <a:rPr lang="en-US" sz="1500" dirty="0">
                <a:hlinkClick r:id="rId26"/>
              </a:rPr>
              <a:t>How To Write Elegant Code with C# Switch Expressions</a:t>
            </a:r>
            <a:endParaRPr lang="en-US" sz="1500" dirty="0"/>
          </a:p>
          <a:p>
            <a:pPr marL="12700" marR="5080"/>
            <a:r>
              <a:rPr lang="en-US" sz="1500" dirty="0">
                <a:hlinkClick r:id="rId27"/>
              </a:rPr>
              <a:t>Declare and use C# primary constructors in classes and structs | Microsoft Learn</a:t>
            </a:r>
            <a:endParaRPr lang="en-US" sz="1500" dirty="0"/>
          </a:p>
          <a:p>
            <a:pPr marL="12700" marR="5080"/>
            <a:r>
              <a:rPr lang="en-US" sz="1500" dirty="0">
                <a:hlinkClick r:id="rId28"/>
              </a:rPr>
              <a:t>Deconstructing tuples and other types - C# | Microsoft Learn</a:t>
            </a:r>
            <a:endParaRPr lang="en-US" sz="1500" dirty="0"/>
          </a:p>
          <a:p>
            <a:pPr marL="12700" marR="5080"/>
            <a:r>
              <a:rPr lang="en-US" sz="1500" dirty="0">
                <a:hlinkClick r:id="rId29"/>
              </a:rPr>
              <a:t>Asynchronous - Why would one use Task&lt;T&gt; over </a:t>
            </a:r>
            <a:r>
              <a:rPr lang="en-US" sz="1500" dirty="0" err="1">
                <a:hlinkClick r:id="rId29"/>
              </a:rPr>
              <a:t>ValueTask</a:t>
            </a:r>
            <a:r>
              <a:rPr lang="en-US" sz="1500" dirty="0">
                <a:hlinkClick r:id="rId29"/>
              </a:rPr>
              <a:t>&lt;T&gt; in C#? - Stack Overflow</a:t>
            </a:r>
            <a:endParaRPr lang="en-US" sz="1500" dirty="0"/>
          </a:p>
          <a:p>
            <a:pPr marL="12700" marR="5080"/>
            <a:r>
              <a:rPr lang="en-US" sz="1500" dirty="0">
                <a:hlinkClick r:id="rId30"/>
              </a:rPr>
              <a:t>C# — Optimize Performance with Span and Memory | by Keyur </a:t>
            </a:r>
            <a:r>
              <a:rPr lang="en-US" sz="1500" dirty="0" err="1">
                <a:hlinkClick r:id="rId30"/>
              </a:rPr>
              <a:t>Ramoliya</a:t>
            </a:r>
            <a:r>
              <a:rPr lang="en-US" sz="1500" dirty="0">
                <a:hlinkClick r:id="rId30"/>
              </a:rPr>
              <a:t> | Medium</a:t>
            </a:r>
            <a:endParaRPr lang="en-US" sz="1500" dirty="0"/>
          </a:p>
        </p:txBody>
      </p:sp>
    </p:spTree>
    <p:extLst>
      <p:ext uri="{BB962C8B-B14F-4D97-AF65-F5344CB8AC3E}">
        <p14:creationId xmlns:p14="http://schemas.microsoft.com/office/powerpoint/2010/main" val="32358572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3D1F-30BE-2EA7-BD28-5BE469FA362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2200573-CDB1-3F2D-7876-8AAFCED24015}"/>
              </a:ext>
            </a:extLst>
          </p:cNvPr>
          <p:cNvGraphicFramePr/>
          <p:nvPr>
            <p:extLst>
              <p:ext uri="{D42A27DB-BD31-4B8C-83A1-F6EECF244321}">
                <p14:modId xmlns:p14="http://schemas.microsoft.com/office/powerpoint/2010/main" val="2604141565"/>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7E1568A1-4753-5EB0-67C3-7805AB3A2C32}"/>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C5F7279-6F62-F375-27F5-5E1A986C96E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E958F33-0668-171B-5247-F4D0AD0CB0A4}"/>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dirty="0" err="1">
                <a:hlinkClick r:id="rId7"/>
              </a:rPr>
              <a:t>NSpecifications</a:t>
            </a:r>
            <a:r>
              <a:rPr lang="en-US" sz="1400" dirty="0">
                <a:hlinkClick r:id="rId7"/>
              </a:rPr>
              <a:t>: Specification Pattern for </a:t>
            </a:r>
            <a:r>
              <a:rPr lang="en-US" sz="1400" dirty="0" err="1">
                <a:hlinkClick r:id="rId7"/>
              </a:rPr>
              <a:t>.Net</a:t>
            </a:r>
            <a:endParaRPr lang="en-US" sz="1400" dirty="0"/>
          </a:p>
          <a:p>
            <a:pPr marL="12700" marR="5080"/>
            <a:r>
              <a:rPr lang="en-US" sz="1400" dirty="0">
                <a:hlinkClick r:id="rId8"/>
              </a:rPr>
              <a:t>Specification Pattern vs (Fluent) Validation</a:t>
            </a:r>
            <a:endParaRPr lang="en-US" sz="1400" dirty="0"/>
          </a:p>
          <a:p>
            <a:pPr marL="12700" marR="5080"/>
            <a:r>
              <a:rPr lang="en-US" sz="1400" dirty="0">
                <a:hlinkClick r:id="rId9"/>
              </a:rPr>
              <a:t>Building-CLI-Applications-with-C-Sharp-and-.NET</a:t>
            </a:r>
            <a:endParaRPr lang="en-US" sz="1400" dirty="0"/>
          </a:p>
          <a:p>
            <a:pPr marL="12700" marR="5080"/>
            <a:r>
              <a:rPr lang="en-US" sz="1400" dirty="0">
                <a:hlinkClick r:id="rId10"/>
              </a:rPr>
              <a:t>Creating a .NET Cron Job for Kubernetes | </a:t>
            </a:r>
            <a:r>
              <a:rPr lang="en-US" sz="1400" dirty="0" err="1">
                <a:hlinkClick r:id="rId10"/>
              </a:rPr>
              <a:t>benbrougher.tech</a:t>
            </a:r>
            <a:endParaRPr lang="en-US" sz="1400" dirty="0"/>
          </a:p>
          <a:p>
            <a:pPr marL="12700" marR="5080"/>
            <a:r>
              <a:rPr lang="en-IN" sz="1400" dirty="0">
                <a:hlinkClick r:id="rId11"/>
              </a:rPr>
              <a:t>The Ultimate Kubernetes </a:t>
            </a:r>
            <a:r>
              <a:rPr lang="en-IN" sz="1400" dirty="0" err="1">
                <a:hlinkClick r:id="rId11"/>
              </a:rPr>
              <a:t>CronJob</a:t>
            </a:r>
            <a:r>
              <a:rPr lang="en-IN" sz="1400" dirty="0">
                <a:hlinkClick r:id="rId11"/>
              </a:rPr>
              <a:t> Guide</a:t>
            </a:r>
            <a:endParaRPr lang="en-IN" sz="1400" dirty="0"/>
          </a:p>
          <a:p>
            <a:pPr marL="12700" marR="5080"/>
            <a:r>
              <a:rPr lang="en-US" sz="1400" dirty="0">
                <a:hlinkClick r:id="rId12"/>
              </a:rPr>
              <a:t>Systems-Programming-with-C-Sharp-and-.NET</a:t>
            </a:r>
            <a:endParaRPr lang="en-US" sz="1400" dirty="0"/>
          </a:p>
          <a:p>
            <a:pPr marL="12700" marR="5080"/>
            <a:r>
              <a:rPr lang="it-IT" sz="1400" dirty="0">
                <a:hlinkClick r:id="rId13"/>
              </a:rPr>
              <a:t>Native interoperability - .NET | Microsoft Learn</a:t>
            </a:r>
            <a:endParaRPr lang="it-IT" sz="1400" dirty="0"/>
          </a:p>
          <a:p>
            <a:pPr marL="12700" marR="5080"/>
            <a:r>
              <a:rPr lang="en-US" sz="1400" dirty="0">
                <a:hlinkClick r:id="rId14"/>
              </a:rPr>
              <a:t>Learn-regex: Learn regex the easy way</a:t>
            </a:r>
            <a:endParaRPr lang="en-US" sz="1400" dirty="0"/>
          </a:p>
          <a:p>
            <a:pPr marL="12700" marR="5080"/>
            <a:r>
              <a:rPr lang="en-US" sz="1400" dirty="0">
                <a:hlinkClick r:id="rId15"/>
              </a:rPr>
              <a:t>Free Programming Books – GoalKicker.com</a:t>
            </a:r>
            <a:r>
              <a:rPr lang="en-US" sz="1400" dirty="0"/>
              <a:t> </a:t>
            </a:r>
          </a:p>
          <a:p>
            <a:pPr marL="12700" marR="5080"/>
            <a:r>
              <a:rPr lang="en-US" sz="1400" dirty="0">
                <a:hlinkClick r:id="rId16"/>
              </a:rPr>
              <a:t>Regular Expressions Cookbook, 2nd Edition[Book]</a:t>
            </a:r>
            <a:endParaRPr lang="en-US" sz="1400" dirty="0"/>
          </a:p>
          <a:p>
            <a:pPr marL="12700" marR="5080"/>
            <a:r>
              <a:rPr lang="en-IN" sz="1400" dirty="0">
                <a:hlinkClick r:id="rId17"/>
              </a:rPr>
              <a:t>High-Performance-Programming-in-C-Sharp-and-.NET</a:t>
            </a:r>
            <a:endParaRPr lang="en-IN" sz="1400" dirty="0"/>
          </a:p>
          <a:p>
            <a:pPr marL="12700" marR="5080"/>
            <a:r>
              <a:rPr lang="en-IN" sz="1400" dirty="0">
                <a:hlinkClick r:id="rId18"/>
              </a:rPr>
              <a:t>C# Interview Questions | LinkedIn</a:t>
            </a:r>
            <a:endParaRPr lang="en-IN" sz="1400" dirty="0"/>
          </a:p>
          <a:p>
            <a:pPr marL="12700" marR="5080"/>
            <a:r>
              <a:rPr lang="en-US" sz="1400" dirty="0" err="1">
                <a:hlinkClick r:id="rId19"/>
              </a:rPr>
              <a:t>DotNet</a:t>
            </a:r>
            <a:r>
              <a:rPr lang="en-US" sz="1400" dirty="0">
                <a:hlinkClick r:id="rId19"/>
              </a:rPr>
              <a:t>-Developer-Roadmap.</a:t>
            </a:r>
            <a:endParaRPr lang="en-US" sz="1400" dirty="0"/>
          </a:p>
          <a:p>
            <a:pPr marL="12700" marR="5080"/>
            <a:r>
              <a:rPr lang="en-IN" sz="1400" dirty="0" err="1">
                <a:hlinkClick r:id="rId20"/>
              </a:rPr>
              <a:t>Postgre</a:t>
            </a:r>
            <a:r>
              <a:rPr lang="en-IN" sz="1400" dirty="0">
                <a:hlinkClick r:id="rId20"/>
              </a:rPr>
              <a:t> </a:t>
            </a:r>
            <a:r>
              <a:rPr lang="en-IN" sz="1400" dirty="0" err="1">
                <a:hlinkClick r:id="rId20"/>
              </a:rPr>
              <a:t>Sql</a:t>
            </a:r>
            <a:r>
              <a:rPr lang="en-IN" sz="1400" dirty="0">
                <a:hlinkClick r:id="rId20"/>
              </a:rPr>
              <a:t> Query Execution Flow| LinkedIn</a:t>
            </a:r>
            <a:endParaRPr lang="en-IN" sz="1400" dirty="0"/>
          </a:p>
          <a:p>
            <a:pPr marL="12700" marR="5080"/>
            <a:r>
              <a:rPr lang="en-IN" sz="1400" dirty="0">
                <a:hlinkClick r:id="rId21"/>
              </a:rPr>
              <a:t>Free Postgres SQL Internals Book </a:t>
            </a:r>
            <a:endParaRPr lang="en-IN" sz="1400" dirty="0"/>
          </a:p>
          <a:p>
            <a:pPr marL="12700" marR="5080"/>
            <a:r>
              <a:rPr lang="en-US" sz="1400" dirty="0">
                <a:hlinkClick r:id="rId22"/>
              </a:rPr>
              <a:t>GATE CS Notes (According to GATE 2025 Syllabus) </a:t>
            </a:r>
            <a:r>
              <a:rPr lang="en-US" sz="1400" dirty="0">
                <a:hlinkClick r:id="rId23"/>
              </a:rPr>
              <a:t>–</a:t>
            </a:r>
            <a:r>
              <a:rPr lang="en-US" sz="1400" dirty="0">
                <a:hlinkClick r:id="rId22"/>
              </a:rPr>
              <a:t> </a:t>
            </a:r>
            <a:r>
              <a:rPr lang="en-US" sz="1400" dirty="0" err="1">
                <a:hlinkClick r:id="rId22"/>
              </a:rPr>
              <a:t>GeeksforGeeks</a:t>
            </a:r>
            <a:endParaRPr lang="en-US" sz="1400" dirty="0"/>
          </a:p>
          <a:p>
            <a:pPr marL="12700" marR="5080"/>
            <a:r>
              <a:rPr lang="en-US" sz="1400" dirty="0">
                <a:hlinkClick r:id="rId24"/>
              </a:rPr>
              <a:t>Computer Science Roadmap: Curriculum for the self taught developer</a:t>
            </a:r>
            <a:endParaRPr lang="en-US" sz="1400" dirty="0"/>
          </a:p>
          <a:p>
            <a:pPr marL="12700" marR="5080"/>
            <a:r>
              <a:rPr lang="en-US" sz="1400" dirty="0">
                <a:hlinkClick r:id="rId25"/>
              </a:rPr>
              <a:t>The Modern C# Challenge | Web Development | Paperback</a:t>
            </a:r>
            <a:endParaRPr lang="en-IN" sz="1400" dirty="0"/>
          </a:p>
          <a:p>
            <a:pPr marL="12700" marR="5080"/>
            <a:r>
              <a:rPr lang="en-IN" sz="1400" dirty="0" err="1">
                <a:hlinkClick r:id="rId26"/>
              </a:rPr>
              <a:t>Category:Programming</a:t>
            </a:r>
            <a:r>
              <a:rPr lang="en-IN" sz="1400" dirty="0">
                <a:hlinkClick r:id="rId26"/>
              </a:rPr>
              <a:t> Tasks - Rosetta Code</a:t>
            </a:r>
            <a:r>
              <a:rPr lang="en-US" sz="1400" kern="0" spc="-220" dirty="0">
                <a:solidFill>
                  <a:schemeClr val="accent6"/>
                </a:solidFill>
              </a:rPr>
              <a:t> </a:t>
            </a:r>
          </a:p>
          <a:p>
            <a:pPr marL="12700" marR="5080"/>
            <a:r>
              <a:rPr lang="en-US" sz="1400" dirty="0">
                <a:hlinkClick r:id="rId27"/>
              </a:rPr>
              <a:t>Coding Challenges | John Crickett | Substack</a:t>
            </a:r>
            <a:endParaRPr lang="en-US" sz="1400" dirty="0"/>
          </a:p>
          <a:p>
            <a:pPr marL="12700" marR="5080"/>
            <a:r>
              <a:rPr lang="en-US" sz="1400" dirty="0">
                <a:hlinkClick r:id="rId28"/>
              </a:rPr>
              <a:t>Awesome-Katas</a:t>
            </a:r>
            <a:endParaRPr lang="en-US" sz="1400" dirty="0"/>
          </a:p>
          <a:p>
            <a:pPr marL="12700" marR="5080"/>
            <a:r>
              <a:rPr lang="en-US" sz="1400" dirty="0">
                <a:hlinkClick r:id="rId29"/>
              </a:rPr>
              <a:t>Clean Code Cheat Sheet – planetgeek.ch</a:t>
            </a:r>
            <a:endParaRPr lang="en-US" sz="1400" dirty="0"/>
          </a:p>
          <a:p>
            <a:pPr marL="12700" marR="5080"/>
            <a:r>
              <a:rPr lang="en-US" sz="1400" dirty="0">
                <a:hlinkClick r:id="rId30"/>
              </a:rPr>
              <a:t>Awesome-Low-Level-Design</a:t>
            </a:r>
            <a:endParaRPr lang="en-US" sz="1400" dirty="0"/>
          </a:p>
          <a:p>
            <a:pPr marL="12700" marR="5080"/>
            <a:r>
              <a:rPr lang="en-US" sz="1400" dirty="0">
                <a:hlinkClick r:id="rId31"/>
              </a:rPr>
              <a:t>Low-Level-Design-Primer</a:t>
            </a:r>
            <a:endParaRPr lang="en-US" sz="1400" dirty="0"/>
          </a:p>
          <a:p>
            <a:pPr marL="12700" marR="5080"/>
            <a:r>
              <a:rPr lang="en-IN" sz="1400" dirty="0">
                <a:hlinkClick r:id="rId32"/>
              </a:rPr>
              <a:t>Build Your Own X</a:t>
            </a:r>
            <a:endParaRPr lang="en-IN" sz="1400" dirty="0"/>
          </a:p>
          <a:p>
            <a:pPr marL="12700" marR="5080"/>
            <a:r>
              <a:rPr lang="en-US" sz="1400">
                <a:hlinkClick r:id="rId33"/>
              </a:rPr>
              <a:t>Making .NET Framework and .NET Core Code Work Together</a:t>
            </a:r>
            <a:endParaRPr lang="en-IN" sz="1400" dirty="0"/>
          </a:p>
        </p:txBody>
      </p:sp>
    </p:spTree>
    <p:extLst>
      <p:ext uri="{BB962C8B-B14F-4D97-AF65-F5344CB8AC3E}">
        <p14:creationId xmlns:p14="http://schemas.microsoft.com/office/powerpoint/2010/main" val="26066941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16380</TotalTime>
  <Words>11681</Words>
  <Application>Microsoft Office PowerPoint</Application>
  <PresentationFormat>Custom</PresentationFormat>
  <Paragraphs>1657</Paragraphs>
  <Slides>122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1342</cp:revision>
  <dcterms:created xsi:type="dcterms:W3CDTF">2020-11-03T17:16:52Z</dcterms:created>
  <dcterms:modified xsi:type="dcterms:W3CDTF">2025-11-30T12:55:00Z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