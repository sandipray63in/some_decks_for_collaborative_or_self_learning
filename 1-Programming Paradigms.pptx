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0"/>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70" r:id="rId83"/>
    <p:sldId id="541" r:id="rId84"/>
    <p:sldId id="369" r:id="rId85"/>
    <p:sldId id="393" r:id="rId86"/>
    <p:sldId id="371" r:id="rId87"/>
    <p:sldId id="372" r:id="rId88"/>
    <p:sldId id="377" r:id="rId89"/>
    <p:sldId id="373" r:id="rId90"/>
    <p:sldId id="374" r:id="rId91"/>
    <p:sldId id="528" r:id="rId92"/>
    <p:sldId id="376" r:id="rId93"/>
    <p:sldId id="529" r:id="rId94"/>
    <p:sldId id="375" r:id="rId95"/>
    <p:sldId id="381" r:id="rId96"/>
    <p:sldId id="379" r:id="rId97"/>
    <p:sldId id="521" r:id="rId98"/>
    <p:sldId id="523" r:id="rId99"/>
    <p:sldId id="542" r:id="rId100"/>
    <p:sldId id="543" r:id="rId101"/>
    <p:sldId id="544" r:id="rId102"/>
    <p:sldId id="545" r:id="rId103"/>
    <p:sldId id="546" r:id="rId104"/>
    <p:sldId id="547" r:id="rId105"/>
    <p:sldId id="548" r:id="rId106"/>
    <p:sldId id="549" r:id="rId107"/>
    <p:sldId id="550" r:id="rId108"/>
    <p:sldId id="551" r:id="rId109"/>
    <p:sldId id="552" r:id="rId110"/>
    <p:sldId id="553" r:id="rId111"/>
    <p:sldId id="554" r:id="rId112"/>
    <p:sldId id="555" r:id="rId113"/>
    <p:sldId id="556" r:id="rId114"/>
    <p:sldId id="380" r:id="rId115"/>
    <p:sldId id="527" r:id="rId116"/>
    <p:sldId id="539" r:id="rId117"/>
    <p:sldId id="540" r:id="rId118"/>
    <p:sldId id="294" r:id="rId119"/>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4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viewProps" Target="viewProp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theme" Target="theme/theme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notesMaster" Target="notesMasters/notesMaster1.xml"/><Relationship Id="rId125"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commentAuthors" Target="commentAuthor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 </a:t>
          </a:r>
          <a:r>
            <a:rPr lang="en-US" sz="2000" dirty="0" err="1"/>
            <a:t>contd</a:t>
          </a:r>
          <a:r>
            <a:rPr lang="en-US" sz="2000"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a:t>
          </a:r>
        </a:p>
      </dsp:txBody>
      <dsp:txXfrm>
        <a:off x="14864" y="14864"/>
        <a:ext cx="8686572" cy="27476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 </a:t>
          </a:r>
          <a:r>
            <a:rPr lang="en-US" sz="2000" kern="1200" dirty="0" err="1"/>
            <a:t>contd</a:t>
          </a:r>
          <a:r>
            <a:rPr lang="en-US" sz="2000" kern="1200" dirty="0"/>
            <a:t>…</a:t>
          </a:r>
        </a:p>
      </dsp:txBody>
      <dsp:txXfrm>
        <a:off x="14864" y="14864"/>
        <a:ext cx="8686572" cy="27476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11/6/2025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ww.packtpub.com/en-us/product/functional-programming-with-c-9781805128939?srsltid=AfmBOootm9AeF1S1FKnAQEpZ1FvCm8vQXO4vjkpWXCegMOeBsKNC4FTa"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12" Type="http://schemas.openxmlformats.org/officeDocument/2006/relationships/hyperlink" Target="https://fsharpforfunandprofit.com/fppattern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caiorss/Functional-Programming/blob/master/haskell/Functional_Programming_Concepts.org" TargetMode="External"/><Relationship Id="rId5" Type="http://schemas.openxmlformats.org/officeDocument/2006/relationships/diagramColors" Target="../diagrams/colors21.xml"/><Relationship Id="rId10" Type="http://schemas.openxmlformats.org/officeDocument/2006/relationships/hyperlink" Target="https://weblogs.asp.net/dixin/category-theory-via-csharp-2-monoid" TargetMode="External"/><Relationship Id="rId4" Type="http://schemas.openxmlformats.org/officeDocument/2006/relationships/diagramQuickStyle" Target="../diagrams/quickStyle21.xml"/><Relationship Id="rId9" Type="http://schemas.openxmlformats.org/officeDocument/2006/relationships/hyperlink" Target="https://functionalprogrammingcsharp.com/functors-monad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448c197d9a6af1b7c1621e2857294075"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5" Type="http://schemas.openxmlformats.org/officeDocument/2006/relationships/hyperlink" Target="https://stackoverflow.com/questions/4153118/list-of-concurrency-model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pragprog.com/titles/pb7con/seven-concurrency-models-in-seven-weeks/"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VasanthVanan/computer-networking-top-down-approach-notes"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www.oreilly.com/library/view/head-first-networking/9780596804398/"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72.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learn.microsoft.com/en-us/dotnet/fundamentals/networking/overview"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github.com/PacktPublishing/Hands-On-Network-Programming-with-CSharp-and-.NET-Core"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stackoverflow.com/questions/2366921/reflection-emit-vs-codedom"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topic.alibabacloud.com/a/code-generation-technology-codedom-vs-t4_8_8_32071393.html" TargetMode="External"/><Relationship Id="rId12" Type="http://schemas.openxmlformats.org/officeDocument/2006/relationships/hyperlink" Target="https://www.codeproject.com/Articles/5253617/CodeDOM-Go-Kit-The-CodeDOM-is-Dead-Long-Live-the-C"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www.syncfusion.com/succinctly-free-ebooks/t4succinctly" TargetMode="External"/><Relationship Id="rId5" Type="http://schemas.openxmlformats.org/officeDocument/2006/relationships/diagramColors" Target="../diagrams/colors75.xml"/><Relationship Id="rId15" Type="http://schemas.openxmlformats.org/officeDocument/2006/relationships/hyperlink" Target="https://stackoverflow.com/questions/683620/what-is-the-best-resource-for-learning-c-sharp-expression-trees-in-depth" TargetMode="External"/><Relationship Id="rId10" Type="http://schemas.openxmlformats.org/officeDocument/2006/relationships/hyperlink" Target="https://www.hanselman.com/blog/t4-text-template-transformation-toolkit-code-generation-best-kept-visual-studio-secret" TargetMode="External"/><Relationship Id="rId4" Type="http://schemas.openxmlformats.org/officeDocument/2006/relationships/diagramQuickStyle" Target="../diagrams/quickStyle75.xml"/><Relationship Id="rId9" Type="http://schemas.openxmlformats.org/officeDocument/2006/relationships/hyperlink" Target="https://jeremydmiller.com/2015/11/11/using-roslyn-for-runtime-code-generation-in-marten/" TargetMode="External"/><Relationship Id="rId14" Type="http://schemas.openxmlformats.org/officeDocument/2006/relationships/hyperlink" Target="https://bagoum.medium.com/dynamic-code-generation-in-c-with-expression-trees-2ec4eebcb8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76.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79.xml"/><Relationship Id="rId7" Type="http://schemas.openxmlformats.org/officeDocument/2006/relationships/hyperlink" Target="https://www.jot.fm/issues/issue_2007_03/article1/"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79.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79.xml"/><Relationship Id="rId9" Type="http://schemas.openxmlformats.org/officeDocument/2006/relationships/hyperlink" Target="https://www.postsharp.net/solutions/middleware"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manning.com/books/metaprogramming-in-dot-net" TargetMode="External"/><Relationship Id="rId3" Type="http://schemas.openxmlformats.org/officeDocument/2006/relationships/diagramLayout" Target="../diagrams/layout80.xml"/><Relationship Id="rId7" Type="http://schemas.openxmlformats.org/officeDocument/2006/relationships/hyperlink" Target="https://github.com/PacktPublishing/Metaprogramming-in-C-Sharp"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81.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81.xml"/><Relationship Id="rId9" Type="http://schemas.openxmlformats.org/officeDocument/2006/relationships/hyperlink" Target="https://stackoverflow.com/questions/49288920/net-use-application-config-file-to-load-an-assembly-that-is-referenced-by-anoth"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2.xml"/><Relationship Id="rId7" Type="http://schemas.openxmlformats.org/officeDocument/2006/relationships/image" Target="../media/image16.jpe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 Id="rId9" Type="http://schemas.openxmlformats.org/officeDocument/2006/relationships/hyperlink" Target="https://medium.com/@heytherewill/rx-net-in-the-real-world-be61e0287a93" TargetMode="Externa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3.xml"/><Relationship Id="rId7" Type="http://schemas.openxmlformats.org/officeDocument/2006/relationships/hyperlink" Target="https://www.baeldung.com/solid-principles"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4.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5.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6.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6.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87.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en.wikipedia.org/wiki/Decorator_pattern" TargetMode="External"/><Relationship Id="rId5" Type="http://schemas.openxmlformats.org/officeDocument/2006/relationships/diagramColors" Target="../diagrams/colors87.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7.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88.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en.wikipedia.org/wiki/Aggregate_pattern" TargetMode="External"/><Relationship Id="rId5" Type="http://schemas.openxmlformats.org/officeDocument/2006/relationships/diagramColors" Target="../diagrams/colors88.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command"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9.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9.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9.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9.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90.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90.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90.xml"/><Relationship Id="rId9" Type="http://schemas.openxmlformats.org/officeDocument/2006/relationships/hyperlink" Target="https://en.wikipedia.org/wiki/Software_design_pattern"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1.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learn.microsoft.com/en-us/aspnet/core/grpc/interceptors?view=aspnetcore-8.0"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2.xml"/><Relationship Id="rId7" Type="http://schemas.openxmlformats.org/officeDocument/2006/relationships/hyperlink" Target="https://www.infoq.com/news/2011/04/WCF-Extensibility/"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2.xml"/><Relationship Id="rId9" Type="http://schemas.openxmlformats.org/officeDocument/2006/relationships/hyperlink" Target="https://stackoverflow.com/questions/6449132/http-handler-vs-http-module" TargetMode="External"/></Relationships>
</file>

<file path=ppt/slides/_rels/slide93.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3.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anuraj.dev/blog/using-mef-in-dotnet-core/" TargetMode="External"/><Relationship Id="rId5" Type="http://schemas.openxmlformats.org/officeDocument/2006/relationships/diagramColors" Target="../diagrams/colors93.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3.xml"/><Relationship Id="rId9" Type="http://schemas.openxmlformats.org/officeDocument/2006/relationships/hyperlink" Target="https://stackoverflow.com/questions/59019761/does-assemblyloadcontext-isolate-static-variables" TargetMode="Externa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17.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5.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5.xml"/><Relationship Id="rId7" Type="http://schemas.openxmlformats.org/officeDocument/2006/relationships/hyperlink" Target="https://en.wikipedia.org/wiki/Language_workbench"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 Id="rId9" Type="http://schemas.openxmlformats.org/officeDocument/2006/relationships/hyperlink" Target="https://medium.com/@rajeshdavid/how-does-a-graphql-service-work-internally-496dc9264096" TargetMode="Externa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6.xm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3" Type="http://schemas.openxmlformats.org/officeDocument/2006/relationships/diagramLayout" Target="../diagrams/layout110.xml"/><Relationship Id="rId7" Type="http://schemas.openxmlformats.org/officeDocument/2006/relationships/hyperlink" Target="https://www.orientsoftware.com/blog/dod-programming/" TargetMode="External"/><Relationship Id="rId12" Type="http://schemas.openxmlformats.org/officeDocument/2006/relationships/hyperlink" Target="https://github.com/bugzmanov/mechanical_sympathy"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0.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0.xml"/><Relationship Id="rId9" Type="http://schemas.openxmlformats.org/officeDocument/2006/relationships/hyperlink" Target="https://learn.unity.com/course/dots-best-practices/tutorial/part-1-understand-data-oriented-design?version=2022.3" TargetMode="Externa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8" Type="http://schemas.openxmlformats.org/officeDocument/2006/relationships/hyperlink" Target="https://inventwithpython.com/" TargetMode="External"/><Relationship Id="rId13" Type="http://schemas.openxmlformats.org/officeDocument/2006/relationships/hyperlink" Target="https://www.linkedin.com/posts/ray-rahul_%3F%3F%3F%3F%3F-%3F%3F%3F%3F%3F%3F%3F%3F-%3F%3F%3F%3F-%3F%3F-activity-7231616658820251651-FMD-/" TargetMode="External"/><Relationship Id="rId18" Type="http://schemas.openxmlformats.org/officeDocument/2006/relationships/hyperlink" Target="https://github.com/jwasham/coding-interview-university" TargetMode="External"/><Relationship Id="rId26" Type="http://schemas.openxmlformats.org/officeDocument/2006/relationships/hyperlink" Target="https://antondevtips.com/blog/how-to-write-elegant-code-with-csharp-switch-expressions" TargetMode="External"/><Relationship Id="rId3" Type="http://schemas.openxmlformats.org/officeDocument/2006/relationships/diagramLayout" Target="../diagrams/layout113.xml"/><Relationship Id="rId21" Type="http://schemas.openxmlformats.org/officeDocument/2006/relationships/hyperlink" Target="https://github.com/markjprice?tab=repositories" TargetMode="External"/><Relationship Id="rId7" Type="http://schemas.openxmlformats.org/officeDocument/2006/relationships/hyperlink" Target="https://www.amazon.in/Essential-Algorithms-Practical-Approach-Computer-ebook/dp/B07SD76KLH?ref_=ast_author_dp&amp;dib=eyJ2IjoiMSJ9.KhacNmZT1UWK494bJbL8asH_MUpAbYJxVjNSBUfWLokwMsDmlcBzPndfOoWLBQnrYiUr66U_8717ArH8VEU1Jo-mZYSZicie2RjxkjWn0K-_DcCxAYFrBC6XXaUpJje6tHaeA3J76maEx-Nl_E0EPM17j1YQ70rYi85saR75Rmkl0Eh2Rivw-KWfy8isBIp0rZSmUhfwv3m3n7ZgUDG4QAe7Z0xES7Ooe95vlvJhb24.WrTF3eXgo0eb-XUyVTJ_0FrTZ0zR2MKcXb3W6qkMqww&amp;dib_tag=AUTHOR" TargetMode="External"/><Relationship Id="rId12" Type="http://schemas.openxmlformats.org/officeDocument/2006/relationships/hyperlink" Target="https://blog.algomaster.io/p/20-patterns-to-master-dynamic-programming" TargetMode="External"/><Relationship Id="rId17" Type="http://schemas.openxmlformats.org/officeDocument/2006/relationships/hyperlink" Target="https://github.com/ashishps1/awesome-leetcode-resources" TargetMode="External"/><Relationship Id="rId25" Type="http://schemas.openxmlformats.org/officeDocument/2006/relationships/hyperlink" Target="https://stackoverflow.com/questions/12389203/how-do-i-chunk-an-enumerable" TargetMode="External"/><Relationship Id="rId2" Type="http://schemas.openxmlformats.org/officeDocument/2006/relationships/diagramData" Target="../diagrams/data113.xml"/><Relationship Id="rId16" Type="http://schemas.openxmlformats.org/officeDocument/2006/relationships/hyperlink" Target="https://www.linkedin.com/posts/akashsinnghh_dsa-dsaquestions-datastructures-activity-7231521586510479361-hTqM/?utm_source=share&amp;utm_medium=member_desktop" TargetMode="External"/><Relationship Id="rId20" Type="http://schemas.openxmlformats.org/officeDocument/2006/relationships/hyperlink" Target="https://www.albahari.com/nutshell/" TargetMode="External"/><Relationship Id="rId29" Type="http://schemas.openxmlformats.org/officeDocument/2006/relationships/hyperlink" Target="https://stackoverflow.com/questions/43000520/why-would-one-use-taskt-over-valuetaskt-in-c" TargetMode="External"/><Relationship Id="rId1" Type="http://schemas.openxmlformats.org/officeDocument/2006/relationships/slideLayout" Target="../slideLayouts/slideLayout2.xml"/><Relationship Id="rId6" Type="http://schemas.microsoft.com/office/2007/relationships/diagramDrawing" Target="../diagrams/drawing113.xml"/><Relationship Id="rId11" Type="http://schemas.openxmlformats.org/officeDocument/2006/relationships/hyperlink" Target="https://github.com/careermonk/data-structures-and-algorithms-made-easy-in-java" TargetMode="External"/><Relationship Id="rId24" Type="http://schemas.openxmlformats.org/officeDocument/2006/relationships/hyperlink" Target="https://learn.microsoft.com/en-us/dotnet/csharp/whats-new/csharp-13" TargetMode="External"/><Relationship Id="rId32" Type="http://schemas.openxmlformats.org/officeDocument/2006/relationships/hyperlink" Target="https://stackoverflow.com/questions/65585395/specification-pattern-vs-fluent-validation" TargetMode="External"/><Relationship Id="rId5" Type="http://schemas.openxmlformats.org/officeDocument/2006/relationships/diagramColors" Target="../diagrams/colors113.xml"/><Relationship Id="rId15" Type="http://schemas.openxmlformats.org/officeDocument/2006/relationships/hyperlink" Target="https://github.com/ByteByteGoHq/coding-interview-patterns" TargetMode="External"/><Relationship Id="rId23" Type="http://schemas.openxmlformats.org/officeDocument/2006/relationships/hyperlink" Target="https://rosettacode.org/wiki/Category:Programming_Tasks" TargetMode="External"/><Relationship Id="rId28" Type="http://schemas.openxmlformats.org/officeDocument/2006/relationships/hyperlink" Target="https://learn.microsoft.com/en-us/dotnet/csharp/fundamentals/functional/deconstruct" TargetMode="External"/><Relationship Id="rId10" Type="http://schemas.openxmlformats.org/officeDocument/2006/relationships/hyperlink" Target="https://www.amazon.in/Dynamic-Programming-Python-William-Smith/dp/1964899486" TargetMode="External"/><Relationship Id="rId19" Type="http://schemas.openxmlformats.org/officeDocument/2006/relationships/hyperlink" Target="https://www.techinterviewhandbook.org/" TargetMode="External"/><Relationship Id="rId31" Type="http://schemas.openxmlformats.org/officeDocument/2006/relationships/hyperlink" Target="https://github.com/miholler/NSpecifications" TargetMode="External"/><Relationship Id="rId4" Type="http://schemas.openxmlformats.org/officeDocument/2006/relationships/diagramQuickStyle" Target="../diagrams/quickStyle113.xml"/><Relationship Id="rId9" Type="http://schemas.openxmlformats.org/officeDocument/2006/relationships/hyperlink" Target="https://github.com/ericlippert/FabulousAdventures" TargetMode="External"/><Relationship Id="rId14" Type="http://schemas.openxmlformats.org/officeDocument/2006/relationships/hyperlink" Target="https://roadmap.sh/datastructures-and-algorithms" TargetMode="External"/><Relationship Id="rId22" Type="http://schemas.openxmlformats.org/officeDocument/2006/relationships/hyperlink" Target="https://www.geeksforgeeks.org/c-sharp-version-history/" TargetMode="External"/><Relationship Id="rId27" Type="http://schemas.openxmlformats.org/officeDocument/2006/relationships/hyperlink" Target="https://learn.microsoft.com/en-us/dotnet/csharp/whats-new/tutorials/primary-constructors" TargetMode="External"/><Relationship Id="rId30" Type="http://schemas.openxmlformats.org/officeDocument/2006/relationships/hyperlink" Target="https://medium.com/@KeyurRamoliya/c-optimize-performance-with-span-and-memory-84c3e6583885" TargetMode="External"/></Relationships>
</file>

<file path=ppt/slides/_rels/slide114.xml.rels><?xml version="1.0" encoding="UTF-8" standalone="yes"?>
<Relationships xmlns="http://schemas.openxmlformats.org/package/2006/relationships"><Relationship Id="rId13" Type="http://schemas.openxmlformats.org/officeDocument/2006/relationships/hyperlink" Target="https://books.goalkicker.com/" TargetMode="External"/><Relationship Id="rId18" Type="http://schemas.openxmlformats.org/officeDocument/2006/relationships/hyperlink" Target="https://www.linkedin.com/posts/maheshma_postgresql-sql-systemdesign-activity-7167707514266996736-HqMi/" TargetMode="External"/><Relationship Id="rId26" Type="http://schemas.openxmlformats.org/officeDocument/2006/relationships/hyperlink" Target="https://github.com/gamontal/awesome-katas" TargetMode="External"/><Relationship Id="rId3" Type="http://schemas.openxmlformats.org/officeDocument/2006/relationships/diagramLayout" Target="../diagrams/layout114.xml"/><Relationship Id="rId21" Type="http://schemas.openxmlformats.org/officeDocument/2006/relationships/hyperlink" Target="https://en.wikipedia.org/wiki/Automata_theory" TargetMode="External"/><Relationship Id="rId7" Type="http://schemas.openxmlformats.org/officeDocument/2006/relationships/hyperlink" Target="https://github.com/PacktPublishing/Building-CLI-Applications-with-C-Sharp-and-.NET" TargetMode="External"/><Relationship Id="rId12" Type="http://schemas.openxmlformats.org/officeDocument/2006/relationships/hyperlink" Target="https://github.com/ziishaned/learn-regex" TargetMode="External"/><Relationship Id="rId17" Type="http://schemas.openxmlformats.org/officeDocument/2006/relationships/hyperlink" Target="https://github.com/milanm/DotNet-Developer-Roadmap" TargetMode="External"/><Relationship Id="rId25" Type="http://schemas.openxmlformats.org/officeDocument/2006/relationships/hyperlink" Target="https://codingchallenges.substack.com/" TargetMode="External"/><Relationship Id="rId33" Type="http://schemas.openxmlformats.org/officeDocument/2006/relationships/hyperlink" Target="https://stackoverflow.com/questions/790542/replacing-net-webbrowser-control-with-a-better-browser-like-chrome" TargetMode="External"/><Relationship Id="rId2" Type="http://schemas.openxmlformats.org/officeDocument/2006/relationships/diagramData" Target="../diagrams/data114.xml"/><Relationship Id="rId16" Type="http://schemas.openxmlformats.org/officeDocument/2006/relationships/hyperlink" Target="https://www.linkedin.com/posts/shivkoirala_200-c-interview-questions-ugcPost-7285626212419325954-8zyj/" TargetMode="External"/><Relationship Id="rId20" Type="http://schemas.openxmlformats.org/officeDocument/2006/relationships/hyperlink" Target="https://www.geeksforgeeks.org/gate-cs-notes-gq/" TargetMode="External"/><Relationship Id="rId29" Type="http://schemas.openxmlformats.org/officeDocument/2006/relationships/hyperlink" Target="https://github.com/prasadgujar/low-level-design-primer" TargetMode="External"/><Relationship Id="rId1" Type="http://schemas.openxmlformats.org/officeDocument/2006/relationships/slideLayout" Target="../slideLayouts/slideLayout2.xml"/><Relationship Id="rId6" Type="http://schemas.microsoft.com/office/2007/relationships/diagramDrawing" Target="../diagrams/drawing114.xml"/><Relationship Id="rId11" Type="http://schemas.openxmlformats.org/officeDocument/2006/relationships/hyperlink" Target="https://learn.microsoft.com/en-us/dotnet/standard/native-interop/" TargetMode="External"/><Relationship Id="rId24" Type="http://schemas.openxmlformats.org/officeDocument/2006/relationships/hyperlink" Target="https://rosettacode.org/wiki/Category:Programming_Tasks" TargetMode="External"/><Relationship Id="rId32" Type="http://schemas.openxmlformats.org/officeDocument/2006/relationships/hyperlink" Target="https://browser.engineering/" TargetMode="External"/><Relationship Id="rId5" Type="http://schemas.openxmlformats.org/officeDocument/2006/relationships/diagramColors" Target="../diagrams/colors114.xml"/><Relationship Id="rId15" Type="http://schemas.openxmlformats.org/officeDocument/2006/relationships/hyperlink" Target="https://github.com/PacktPublishing/High-Performance-Programming-in-C-Sharp-and-.NET" TargetMode="External"/><Relationship Id="rId23" Type="http://schemas.openxmlformats.org/officeDocument/2006/relationships/hyperlink" Target="https://www.packtpub.com/en-cy/product/the-modern-c-challenge-9781789535426?srsltid=AfmBOoobJhK3ev4UwfO5ecLJyJXJpKJZWaNgRdcaTNnoCNF7CeyPbQY_" TargetMode="External"/><Relationship Id="rId28" Type="http://schemas.openxmlformats.org/officeDocument/2006/relationships/hyperlink" Target="https://github.com/ashishps1/awesome-low-level-design" TargetMode="External"/><Relationship Id="rId10" Type="http://schemas.openxmlformats.org/officeDocument/2006/relationships/hyperlink" Target="https://github.com/PacktPublishing/Systems-Programming-with-C-Sharp-and-.NET" TargetMode="External"/><Relationship Id="rId19" Type="http://schemas.openxmlformats.org/officeDocument/2006/relationships/hyperlink" Target="https://postgrespro.com/community/books/internals" TargetMode="External"/><Relationship Id="rId31" Type="http://schemas.openxmlformats.org/officeDocument/2006/relationships/hyperlink" Target="https://daily.dev/blog/make-a-web-browser-beginners-guide" TargetMode="External"/><Relationship Id="rId4" Type="http://schemas.openxmlformats.org/officeDocument/2006/relationships/diagramQuickStyle" Target="../diagrams/quickStyle114.xml"/><Relationship Id="rId9" Type="http://schemas.openxmlformats.org/officeDocument/2006/relationships/hyperlink" Target="https://cronitor.io/guides/kubernetes-cron-jobs" TargetMode="External"/><Relationship Id="rId14" Type="http://schemas.openxmlformats.org/officeDocument/2006/relationships/hyperlink" Target="https://www.oreilly.com/library/view/regular-expressions-cookbook/9781449327453/" TargetMode="External"/><Relationship Id="rId22" Type="http://schemas.openxmlformats.org/officeDocument/2006/relationships/hyperlink" Target="https://roadmap.sh/computer-science" TargetMode="External"/><Relationship Id="rId27" Type="http://schemas.openxmlformats.org/officeDocument/2006/relationships/hyperlink" Target="https://www.planetgeek.ch/2013/06/05/clean-code-cheat-sheet/" TargetMode="External"/><Relationship Id="rId30" Type="http://schemas.openxmlformats.org/officeDocument/2006/relationships/hyperlink" Target="https://build-your-own-x.vercel.app/" TargetMode="External"/><Relationship Id="rId8" Type="http://schemas.openxmlformats.org/officeDocument/2006/relationships/hyperlink" Target="https://benbrougher.tech/posts/kubernetes-cron-job/"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p>
          <a:p>
            <a:pPr marL="12700" marR="5080"/>
            <a:r>
              <a:rPr lang="en-US" sz="1400" dirty="0"/>
              <a:t>                                                                                      </a:t>
            </a:r>
          </a:p>
          <a:p>
            <a:pPr marL="12700" marR="5080"/>
            <a:r>
              <a:rPr lang="en-US" sz="1400" kern="0" spc="-220" dirty="0">
                <a:solidFill>
                  <a:schemeClr val="accent2"/>
                </a:solidFill>
              </a:rPr>
              <a:t> </a:t>
            </a:r>
            <a:r>
              <a:rPr lang="en-US" sz="1400" dirty="0">
                <a:hlinkClick r:id="rId8"/>
              </a:rPr>
              <a:t>Functional Programming with C#</a:t>
            </a:r>
            <a:endParaRPr lang="en-US" sz="1400" dirty="0"/>
          </a:p>
          <a:p>
            <a:pPr marL="12700" marR="5080"/>
            <a:endParaRPr lang="en-US" sz="2400" kern="0" spc="-220" dirty="0">
              <a:solidFill>
                <a:schemeClr val="accent2"/>
              </a:solidFill>
            </a:endParaRPr>
          </a:p>
          <a:p>
            <a:pPr marL="12700" marR="5080"/>
            <a:r>
              <a:rPr lang="en-US" sz="2000" kern="0" spc="-220" dirty="0">
                <a:solidFill>
                  <a:schemeClr val="accent6"/>
                </a:solidFill>
              </a:rPr>
              <a:t> </a:t>
            </a:r>
            <a:r>
              <a:rPr lang="en-US" sz="1500" dirty="0">
                <a:hlinkClick r:id="rId9"/>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10"/>
              </a:rPr>
              <a:t>Dixin's</a:t>
            </a:r>
            <a:r>
              <a:rPr lang="en-US" sz="1500" dirty="0">
                <a:hlinkClick r:id="rId10"/>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1"/>
              </a:rPr>
              <a:t>Functional-Programming/haskell/Functional_Programming_Concepts.org at master · </a:t>
            </a:r>
            <a:r>
              <a:rPr lang="en-IN" sz="1500" dirty="0" err="1">
                <a:hlinkClick r:id="rId11"/>
              </a:rPr>
              <a:t>caiorss</a:t>
            </a:r>
            <a:r>
              <a:rPr lang="en-IN" sz="1500" dirty="0">
                <a:hlinkClick r:id="rId11"/>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2"/>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same 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r>
              <a:rPr lang="en-IN" sz="1600" dirty="0">
                <a:hlinkClick r:id="rId7"/>
              </a:rPr>
              <a:t>Descriptor Pattern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
            </a:r>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1500" kern="0" spc="-220" dirty="0">
                <a:solidFill>
                  <a:schemeClr val="accent6"/>
                </a:solidFill>
              </a:rPr>
              <a:t>)</a:t>
            </a:r>
          </a:p>
          <a:p>
            <a:pPr algn="just" fontAlgn="base"/>
            <a:r>
              <a:rPr lang="en-US" sz="15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15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200" kern="0" spc="-220" dirty="0">
                <a:solidFill>
                  <a:schemeClr val="accent2"/>
                </a:solidFill>
              </a:rPr>
              <a:t>For Further Exploration – </a:t>
            </a:r>
          </a:p>
          <a:p>
            <a:pPr algn="just" fontAlgn="base"/>
            <a:r>
              <a:rPr lang="en-US" sz="1100" dirty="0" err="1">
                <a:hlinkClick r:id="rId10"/>
              </a:rPr>
              <a:t>MultithreadingwithCSharpCookbook</a:t>
            </a:r>
            <a:endParaRPr lang="en-US" sz="1100" dirty="0"/>
          </a:p>
          <a:p>
            <a:pPr algn="just" fontAlgn="base"/>
            <a:r>
              <a:rPr lang="en-US" sz="1100" dirty="0" err="1">
                <a:hlinkClick r:id="rId11"/>
              </a:rPr>
              <a:t>c#</a:t>
            </a:r>
            <a:r>
              <a:rPr lang="en-US" sz="1100" dirty="0">
                <a:hlinkClick r:id="rId11"/>
              </a:rPr>
              <a:t> - Check the Number of threads available in </a:t>
            </a:r>
            <a:r>
              <a:rPr lang="en-US" sz="1100" dirty="0" err="1">
                <a:hlinkClick r:id="rId11"/>
              </a:rPr>
              <a:t>ThreadPool</a:t>
            </a:r>
            <a:r>
              <a:rPr lang="en-US" sz="1100" dirty="0">
                <a:hlinkClick r:id="rId11"/>
              </a:rPr>
              <a:t> at any time - Stack Overflow</a:t>
            </a:r>
            <a:endParaRPr lang="en-US" sz="1100" dirty="0"/>
          </a:p>
          <a:p>
            <a:pPr algn="just" fontAlgn="base"/>
            <a:r>
              <a:rPr lang="en-US" sz="1100" dirty="0">
                <a:hlinkClick r:id="rId12"/>
              </a:rPr>
              <a:t>Concurrency-in-</a:t>
            </a:r>
            <a:r>
              <a:rPr lang="en-US" sz="1100" dirty="0" err="1">
                <a:hlinkClick r:id="rId12"/>
              </a:rPr>
              <a:t>csharp</a:t>
            </a:r>
            <a:r>
              <a:rPr lang="en-US" sz="1100" dirty="0">
                <a:hlinkClick r:id="rId12"/>
              </a:rPr>
              <a:t>-cookbook</a:t>
            </a:r>
            <a:endParaRPr lang="en-US" sz="1100" dirty="0"/>
          </a:p>
          <a:p>
            <a:pPr algn="just" fontAlgn="base"/>
            <a:r>
              <a:rPr lang="en-US" sz="1100" dirty="0" err="1">
                <a:hlinkClick r:id="rId13"/>
              </a:rPr>
              <a:t>PowerThreading</a:t>
            </a:r>
            <a:r>
              <a:rPr lang="en-US" sz="1100" dirty="0">
                <a:hlinkClick r:id="rId13"/>
              </a:rPr>
              <a:t>: Jeffrey Richter's Power Threading Library</a:t>
            </a:r>
            <a:endParaRPr lang="en-US" sz="1100" dirty="0"/>
          </a:p>
          <a:p>
            <a:pPr algn="just" fontAlgn="base"/>
            <a:r>
              <a:rPr lang="en-US" sz="1100" dirty="0">
                <a:hlinkClick r:id="rId14"/>
              </a:rPr>
              <a:t>Web Servers Succinctly</a:t>
            </a:r>
            <a:endParaRPr lang="en-US" sz="1100" dirty="0"/>
          </a:p>
          <a:p>
            <a:pPr algn="just" fontAlgn="base"/>
            <a:r>
              <a:rPr lang="en-US" sz="1100" dirty="0">
                <a:hlinkClick r:id="rId15"/>
              </a:rPr>
              <a:t>Compendium of Community Knowledge on Game Design and Development</a:t>
            </a:r>
            <a:endParaRPr lang="en-US" sz="1100" dirty="0"/>
          </a:p>
          <a:p>
            <a:pPr algn="just" fontAlgn="base"/>
            <a:r>
              <a:rPr lang="en-US" sz="1100" dirty="0" err="1">
                <a:hlinkClick r:id="rId16"/>
              </a:rPr>
              <a:t>FConcBook</a:t>
            </a:r>
            <a:r>
              <a:rPr lang="en-US" sz="1100" dirty="0">
                <a:hlinkClick r:id="rId16"/>
              </a:rPr>
              <a:t>: Source code for "Concurrency in .NET" book Manning publisher</a:t>
            </a:r>
            <a:endParaRPr lang="en-US" sz="1100" dirty="0"/>
          </a:p>
          <a:p>
            <a:pPr algn="just" fontAlgn="base"/>
            <a:r>
              <a:rPr lang="en-IN" sz="1100" dirty="0">
                <a:hlinkClick r:id="rId17"/>
              </a:rPr>
              <a:t>Multithreading Principles and Patterns</a:t>
            </a:r>
            <a:endParaRPr lang="en-IN" sz="1100" dirty="0"/>
          </a:p>
          <a:p>
            <a:pPr algn="just" fontAlgn="base"/>
            <a:r>
              <a:rPr lang="en-US" sz="1100" dirty="0">
                <a:hlinkClick r:id="rId18"/>
              </a:rPr>
              <a:t>Multithreading and Patterns - DEV Community</a:t>
            </a:r>
            <a:endParaRPr lang="en-US" sz="1100" dirty="0"/>
          </a:p>
          <a:p>
            <a:pPr algn="just" fontAlgn="base"/>
            <a:r>
              <a:rPr lang="en-IN" sz="1100" dirty="0">
                <a:hlinkClick r:id="rId19"/>
              </a:rPr>
              <a:t>web.stanford.edu/class/archive/cs/cs110/cs110.1202/static/lectures/12-multithreading-patterns-data-structures.pdf</a:t>
            </a:r>
            <a:endParaRPr lang="en-IN" sz="1100" dirty="0"/>
          </a:p>
          <a:p>
            <a:pPr algn="just" fontAlgn="base"/>
            <a:r>
              <a:rPr lang="en-US" sz="1100" dirty="0">
                <a:hlinkClick r:id="rId20"/>
              </a:rPr>
              <a:t>Common patterns for poorly-behaved multithreaded apps - Visual Studio (Windows) | Microsoft Learn</a:t>
            </a:r>
            <a:endParaRPr lang="en-US" sz="1100" dirty="0"/>
          </a:p>
          <a:p>
            <a:pPr algn="just" fontAlgn="base"/>
            <a:r>
              <a:rPr lang="en-US" sz="1100" dirty="0">
                <a:hlinkClick r:id="rId21"/>
              </a:rPr>
              <a:t>Part B (ADVANCE) Multithreading Design Patterns ( </a:t>
            </a:r>
            <a:r>
              <a:rPr lang="en-US" sz="1100" dirty="0" err="1">
                <a:hlinkClick r:id="rId21"/>
              </a:rPr>
              <a:t>pthreads</a:t>
            </a:r>
            <a:r>
              <a:rPr lang="en-US" sz="1100" dirty="0">
                <a:hlinkClick r:id="rId21"/>
              </a:rPr>
              <a:t> ) | Udemy</a:t>
            </a:r>
            <a:endParaRPr lang="en-US" sz="1100" dirty="0"/>
          </a:p>
          <a:p>
            <a:pPr algn="just" fontAlgn="base"/>
            <a:r>
              <a:rPr lang="en-IN" sz="1100" dirty="0">
                <a:hlinkClick r:id="rId22"/>
              </a:rPr>
              <a:t>Embedded C Programming Design Patterns</a:t>
            </a:r>
            <a:endParaRPr lang="en-IN" sz="1100" dirty="0"/>
          </a:p>
          <a:p>
            <a:pPr algn="just" fontAlgn="base"/>
            <a:r>
              <a:rPr lang="en-IN" sz="1100" dirty="0">
                <a:hlinkClick r:id="rId23"/>
              </a:rPr>
              <a:t>Design-Patterns-For-Embedded-system-in-c</a:t>
            </a:r>
            <a:endParaRPr lang="en-IN" sz="1100" dirty="0"/>
          </a:p>
          <a:p>
            <a:pPr algn="just" fontAlgn="base"/>
            <a:r>
              <a:rPr lang="en-US" sz="1100" dirty="0">
                <a:hlinkClick r:id="rId24"/>
              </a:rPr>
              <a:t>Seven Concurrency Models in Seven Weeks: When Threads Unravel by Paul Butcher</a:t>
            </a:r>
            <a:endParaRPr lang="en-US" sz="1100" dirty="0"/>
          </a:p>
          <a:p>
            <a:pPr algn="just" fontAlgn="base"/>
            <a:r>
              <a:rPr lang="en-US" sz="1100" dirty="0">
                <a:hlinkClick r:id="rId25"/>
              </a:rPr>
              <a:t>List of concurrency models - Stack Overflow</a:t>
            </a:r>
            <a:endParaRPr lang="en-US" sz="1100" dirty="0"/>
          </a:p>
          <a:p>
            <a:pPr algn="just" fontAlgn="base"/>
            <a:endParaRPr lang="en-IN" sz="1000" dirty="0"/>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3921948"/>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US" sz="1000" dirty="0"/>
          </a:p>
          <a:p>
            <a:r>
              <a:rPr lang="en-IN" sz="1000" dirty="0">
                <a:hlinkClick r:id="rId12"/>
              </a:rPr>
              <a:t>Head First Networking[Book]</a:t>
            </a:r>
            <a:endParaRPr lang="en-IN" sz="1000" dirty="0"/>
          </a:p>
          <a:p>
            <a:pPr algn="l"/>
            <a:r>
              <a:rPr lang="en-US" sz="1000" dirty="0">
                <a:hlinkClick r:id="rId13"/>
              </a:rPr>
              <a:t>Computer-Networking-Top-Down-Approach-notes</a:t>
            </a:r>
            <a:endParaRPr lang="en-US" sz="1000" dirty="0"/>
          </a:p>
          <a:p>
            <a:pPr algn="l"/>
            <a:r>
              <a:rPr lang="en-US" sz="1000" dirty="0">
                <a:hlinkClick r:id="rId14"/>
              </a:rPr>
              <a:t>Hands-On-Network-Programming-with-CSharp-and-.NET-Core</a:t>
            </a:r>
            <a:endParaRPr lang="en-US" sz="1000" dirty="0"/>
          </a:p>
          <a:p>
            <a:pPr algn="l"/>
            <a:r>
              <a:rPr lang="nl-NL" sz="1000" dirty="0">
                <a:hlinkClick r:id="rId15"/>
              </a:rPr>
              <a:t>Network programming in .NET - .NET | Microsoft Learn</a:t>
            </a:r>
            <a:endParaRPr lang="nl-NL" sz="1000" dirty="0"/>
          </a:p>
          <a:p>
            <a:pPr algn="l"/>
            <a:r>
              <a:rPr lang="en-US" sz="1000" dirty="0">
                <a:hlinkClick r:id="rId16"/>
              </a:rPr>
              <a:t>High Performance Browser Networking (O'Reilly)</a:t>
            </a:r>
            <a:endParaRPr lang="en-US" sz="1000" dirty="0"/>
          </a:p>
          <a:p>
            <a:pPr algn="l"/>
            <a:r>
              <a:rPr lang="en-US" sz="1000" dirty="0">
                <a:hlinkClick r:id="rId17"/>
              </a:rPr>
              <a:t>What Is Checksum? Guide to Learn Checksum | Simplilearn</a:t>
            </a:r>
            <a:endParaRPr lang="en-US" sz="1000" dirty="0"/>
          </a:p>
          <a:p>
            <a:pPr algn="l"/>
            <a:r>
              <a:rPr lang="en-IN" sz="1000" dirty="0">
                <a:hlinkClick r:id="rId18"/>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5731235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Locating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9975529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3751397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7"/>
              </a:rPr>
              <a:t>Code Generation Technology-</a:t>
            </a:r>
            <a:r>
              <a:rPr lang="en-IN" sz="1500" dirty="0" err="1">
                <a:hlinkClick r:id="rId7"/>
              </a:rPr>
              <a:t>CodeDom</a:t>
            </a:r>
            <a:r>
              <a:rPr lang="en-IN" sz="1500" dirty="0">
                <a:hlinkClick r:id="rId7"/>
              </a:rPr>
              <a:t> VS T4</a:t>
            </a:r>
            <a:endParaRPr lang="en-IN" sz="1500" dirty="0"/>
          </a:p>
          <a:p>
            <a:pPr algn="l"/>
            <a:r>
              <a:rPr lang="en-IN" sz="1500" dirty="0" err="1">
                <a:hlinkClick r:id="rId8"/>
              </a:rPr>
              <a:t>c#</a:t>
            </a:r>
            <a:r>
              <a:rPr lang="en-IN" sz="1500" dirty="0">
                <a:hlinkClick r:id="rId8"/>
              </a:rPr>
              <a:t> - </a:t>
            </a:r>
            <a:r>
              <a:rPr lang="en-IN" sz="1500" dirty="0" err="1">
                <a:hlinkClick r:id="rId8"/>
              </a:rPr>
              <a:t>Reflection.Emit</a:t>
            </a:r>
            <a:r>
              <a:rPr lang="en-IN" sz="1500" dirty="0">
                <a:hlinkClick r:id="rId8"/>
              </a:rPr>
              <a:t> vs </a:t>
            </a:r>
            <a:r>
              <a:rPr lang="en-IN" sz="1500" dirty="0" err="1">
                <a:hlinkClick r:id="rId8"/>
              </a:rPr>
              <a:t>CodeDOM</a:t>
            </a:r>
            <a:r>
              <a:rPr lang="en-IN" sz="1500" dirty="0">
                <a:hlinkClick r:id="rId8"/>
              </a:rPr>
              <a:t> - Stack Overflow</a:t>
            </a:r>
            <a:endParaRPr lang="en-IN" sz="1500" dirty="0"/>
          </a:p>
          <a:p>
            <a:pPr algn="l"/>
            <a:r>
              <a:rPr lang="en-US" sz="1500" dirty="0">
                <a:hlinkClick r:id="rId9"/>
              </a:rPr>
              <a:t>Using Roslyn for Runtime Code Generation in Marten – The Shade Tree Developer</a:t>
            </a:r>
            <a:endParaRPr lang="en-US" sz="1500" dirty="0"/>
          </a:p>
          <a:p>
            <a:pPr algn="l"/>
            <a:endParaRPr lang="en-US" sz="1500" kern="0" spc="-220" dirty="0">
              <a:solidFill>
                <a:schemeClr val="accent6"/>
              </a:solidFill>
            </a:endParaRPr>
          </a:p>
          <a:p>
            <a:r>
              <a:rPr lang="en-US" sz="2000" kern="0" spc="-220" dirty="0">
                <a:solidFill>
                  <a:schemeClr val="accent2"/>
                </a:solidFill>
              </a:rPr>
              <a:t>T4 Template – </a:t>
            </a:r>
          </a:p>
          <a:p>
            <a:r>
              <a:rPr lang="en-IN" sz="1500" dirty="0">
                <a:hlinkClick r:id="rId10"/>
              </a:rPr>
              <a:t>T4 (Text Template Transformation Toolkit) Code Generation - Best Kept Visual Studio Secret - Scott Hanselman's Blog</a:t>
            </a:r>
            <a:endParaRPr lang="en-IN" sz="1500" dirty="0"/>
          </a:p>
          <a:p>
            <a:r>
              <a:rPr lang="en-IN" sz="1500" dirty="0">
                <a:hlinkClick r:id="rId11"/>
              </a:rPr>
              <a:t>Free </a:t>
            </a:r>
            <a:r>
              <a:rPr lang="en-IN" sz="1500" dirty="0" err="1">
                <a:hlinkClick r:id="rId11"/>
              </a:rPr>
              <a:t>Ebook</a:t>
            </a:r>
            <a:r>
              <a:rPr lang="en-IN" sz="1500" dirty="0">
                <a:hlinkClick r:id="rId11"/>
              </a:rPr>
              <a:t> - T4 Succinctly</a:t>
            </a:r>
            <a:endParaRPr lang="en-IN" sz="1500" dirty="0"/>
          </a:p>
          <a:p>
            <a:endParaRPr lang="en-IN" sz="1500" kern="0" spc="-220" dirty="0">
              <a:solidFill>
                <a:schemeClr val="accent6"/>
              </a:solidFill>
            </a:endParaRPr>
          </a:p>
          <a:p>
            <a:r>
              <a:rPr lang="en-US" sz="2000" kern="0" spc="-220" dirty="0" err="1">
                <a:solidFill>
                  <a:schemeClr val="accent2"/>
                </a:solidFill>
              </a:rPr>
              <a:t>CodeDom</a:t>
            </a:r>
            <a:r>
              <a:rPr lang="en-US" sz="2000" kern="0" spc="-220" dirty="0">
                <a:solidFill>
                  <a:schemeClr val="accent2"/>
                </a:solidFill>
              </a:rPr>
              <a:t> – </a:t>
            </a:r>
          </a:p>
          <a:p>
            <a:r>
              <a:rPr lang="en-US" sz="1500" dirty="0" err="1">
                <a:hlinkClick r:id="rId12"/>
              </a:rPr>
              <a:t>CodeDOM</a:t>
            </a:r>
            <a:r>
              <a:rPr lang="en-US" sz="1500" dirty="0">
                <a:hlinkClick r:id="rId12"/>
              </a:rPr>
              <a:t> Go Kit: The </a:t>
            </a:r>
            <a:r>
              <a:rPr lang="en-US" sz="1500" dirty="0" err="1">
                <a:hlinkClick r:id="rId12"/>
              </a:rPr>
              <a:t>CodeDOM</a:t>
            </a:r>
            <a:r>
              <a:rPr lang="en-US" sz="1500" dirty="0">
                <a:hlinkClick r:id="rId12"/>
              </a:rPr>
              <a:t> is Dead, Long Live the </a:t>
            </a:r>
            <a:r>
              <a:rPr lang="en-US" sz="1500" dirty="0" err="1">
                <a:hlinkClick r:id="rId12"/>
              </a:rPr>
              <a:t>CodeDOM</a:t>
            </a:r>
            <a:r>
              <a:rPr lang="en-US" sz="1500" dirty="0">
                <a:hlinkClick r:id="rId12"/>
              </a:rPr>
              <a:t>- </a:t>
            </a:r>
            <a:r>
              <a:rPr lang="en-US" sz="1500" dirty="0" err="1">
                <a:hlinkClick r:id="rId12"/>
              </a:rPr>
              <a:t>CodeProject</a:t>
            </a:r>
            <a:endParaRPr lang="en-US" sz="1500" dirty="0"/>
          </a:p>
          <a:p>
            <a:endParaRPr lang="en-US" sz="1500" kern="0" spc="-220" dirty="0">
              <a:solidFill>
                <a:schemeClr val="accent6"/>
              </a:solidFill>
            </a:endParaRPr>
          </a:p>
          <a:p>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dirty="0"/>
          </a:p>
          <a:p>
            <a:endParaRPr lang="en-US" sz="1500" kern="0" spc="-220" dirty="0">
              <a:solidFill>
                <a:schemeClr val="accent6"/>
              </a:solidFill>
            </a:endParaRPr>
          </a:p>
          <a:p>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dirty="0"/>
          </a:p>
          <a:p>
            <a:r>
              <a:rPr lang="en-US" sz="1600" dirty="0">
                <a:hlinkClick r:id="rId15"/>
              </a:rPr>
              <a:t>What is the best resource for learning C# expression trees in depth</a:t>
            </a:r>
            <a:endParaRPr lang="en-US" sz="1500" dirty="0"/>
          </a:p>
          <a:p>
            <a:endParaRPr lang="en-US" sz="15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436343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500" kern="0" spc="-220" dirty="0">
                <a:solidFill>
                  <a:schemeClr val="accent2"/>
                </a:solidFill>
              </a:rPr>
              <a:t>Roslyn API/ Source Generators– </a:t>
            </a:r>
          </a:p>
          <a:p>
            <a:pPr algn="l"/>
            <a:r>
              <a:rPr lang="en-US" sz="1500" dirty="0">
                <a:hlinkClick r:id="rId7"/>
              </a:rPr>
              <a:t>Incremental Roslyn Source Generators In .NET 6: Code Sharing Of The Future - Part 1 - </a:t>
            </a:r>
            <a:r>
              <a:rPr lang="en-US" sz="1500" dirty="0" err="1">
                <a:hlinkClick r:id="rId7"/>
              </a:rPr>
              <a:t>Thinktecture</a:t>
            </a:r>
            <a:r>
              <a:rPr lang="en-US" sz="1500" dirty="0">
                <a:hlinkClick r:id="rId7"/>
              </a:rPr>
              <a:t> AG</a:t>
            </a:r>
            <a:endParaRPr lang="en-US" sz="1500" dirty="0"/>
          </a:p>
          <a:p>
            <a:pPr algn="l"/>
            <a:r>
              <a:rPr lang="en-IN" sz="1500" dirty="0">
                <a:hlinkClick r:id="rId8"/>
              </a:rPr>
              <a:t>Source Generators in C#</a:t>
            </a:r>
            <a:endParaRPr lang="en-IN" sz="1500" dirty="0"/>
          </a:p>
          <a:p>
            <a:pPr algn="l"/>
            <a:r>
              <a:rPr lang="en-US" sz="1500" dirty="0">
                <a:hlinkClick r:id="rId9"/>
              </a:rPr>
              <a:t>Deep dive into Source Generators | </a:t>
            </a:r>
            <a:r>
              <a:rPr lang="en-US" sz="1500" dirty="0" err="1">
                <a:hlinkClick r:id="rId9"/>
              </a:rPr>
              <a:t>TheCodeMan</a:t>
            </a:r>
            <a:endParaRPr lang="en-IN" sz="1500" dirty="0"/>
          </a:p>
          <a:p>
            <a:pPr algn="l"/>
            <a:r>
              <a:rPr lang="en-IN" sz="1500" dirty="0">
                <a:hlinkClick r:id="rId10"/>
              </a:rPr>
              <a:t>The .NET Compiler Platform SDK (Roslyn APIs) - C# | Microsoft Learn</a:t>
            </a:r>
            <a:endParaRPr lang="en-IN" sz="1500" dirty="0"/>
          </a:p>
          <a:p>
            <a:pPr algn="l"/>
            <a:r>
              <a:rPr lang="en-IN" sz="1500" dirty="0">
                <a:hlinkClick r:id="rId11"/>
              </a:rPr>
              <a:t>Free </a:t>
            </a:r>
            <a:r>
              <a:rPr lang="en-IN" sz="1500" dirty="0" err="1">
                <a:hlinkClick r:id="rId11"/>
              </a:rPr>
              <a:t>Ebook</a:t>
            </a:r>
            <a:r>
              <a:rPr lang="en-IN" sz="1500" dirty="0">
                <a:hlinkClick r:id="rId11"/>
              </a:rPr>
              <a:t> - Roslyn Succinctly</a:t>
            </a:r>
            <a:endParaRPr lang="en-IN" sz="1500" dirty="0"/>
          </a:p>
          <a:p>
            <a:pPr algn="l"/>
            <a:endParaRPr lang="en-IN" sz="1500" kern="0" spc="-220" dirty="0">
              <a:solidFill>
                <a:schemeClr val="accent6"/>
              </a:solidFill>
            </a:endParaRPr>
          </a:p>
          <a:p>
            <a:r>
              <a:rPr lang="en-US" sz="1500" kern="0" spc="-220" dirty="0">
                <a:solidFill>
                  <a:schemeClr val="accent2"/>
                </a:solidFill>
              </a:rPr>
              <a:t>Code Snippets(more used as VS Plugin rather than for Application) –</a:t>
            </a:r>
          </a:p>
          <a:p>
            <a:r>
              <a:rPr lang="en-US" sz="1500" dirty="0">
                <a:hlinkClick r:id="rId12"/>
              </a:rPr>
              <a:t>How to Automatically Generate C# Code Snippets in Visual Studio</a:t>
            </a:r>
            <a:endParaRPr lang="en-US" sz="1500" dirty="0"/>
          </a:p>
          <a:p>
            <a:endParaRPr lang="en-US" sz="1500" kern="0" spc="-220" dirty="0">
              <a:solidFill>
                <a:schemeClr val="accent6"/>
              </a:solidFill>
            </a:endParaRPr>
          </a:p>
          <a:p>
            <a:r>
              <a:rPr lang="en-US" sz="1500" kern="0" spc="-220" dirty="0">
                <a:solidFill>
                  <a:schemeClr val="accent2"/>
                </a:solidFill>
              </a:rPr>
              <a:t>Code Generation Performance Improvement –</a:t>
            </a:r>
          </a:p>
          <a:p>
            <a:r>
              <a:rPr lang="en-US" sz="1500" kern="0" spc="-220" dirty="0">
                <a:solidFill>
                  <a:schemeClr val="accent6"/>
                </a:solidFill>
              </a:rPr>
              <a:t>Mainly done via some In-Memory Caching </a:t>
            </a:r>
          </a:p>
          <a:p>
            <a:r>
              <a:rPr lang="en-US" sz="1500" kern="0" spc="-220" dirty="0">
                <a:solidFill>
                  <a:schemeClr val="accent6"/>
                </a:solidFill>
              </a:rPr>
              <a:t>By the way, </a:t>
            </a:r>
            <a:r>
              <a:rPr lang="en-US" sz="1500" kern="0" spc="-220" dirty="0" err="1">
                <a:solidFill>
                  <a:schemeClr val="accent6"/>
                </a:solidFill>
              </a:rPr>
              <a:t>Automapper</a:t>
            </a:r>
            <a:r>
              <a:rPr lang="en-US" sz="15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5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for further details around the same.</a:t>
            </a:r>
          </a:p>
          <a:p>
            <a:endParaRPr lang="en-US" sz="1500" kern="0" spc="-220" dirty="0">
              <a:solidFill>
                <a:schemeClr val="accent2"/>
              </a:solidFill>
            </a:endParaRPr>
          </a:p>
          <a:p>
            <a:endParaRPr lang="en-US" sz="1500" kern="0" spc="-220" dirty="0">
              <a:solidFill>
                <a:schemeClr val="accent2"/>
              </a:solidFill>
            </a:endParaRPr>
          </a:p>
          <a:p>
            <a:r>
              <a:rPr lang="en-US" sz="1500" kern="0" spc="-220" dirty="0">
                <a:solidFill>
                  <a:schemeClr val="accent2"/>
                </a:solidFill>
              </a:rPr>
              <a:t>For Further Exploration – </a:t>
            </a:r>
          </a:p>
          <a:p>
            <a:r>
              <a:rPr lang="en-IN" sz="1500" dirty="0">
                <a:hlinkClick r:id="rId15"/>
              </a:rPr>
              <a:t>ProgramGeneration_Trennung.PDF</a:t>
            </a:r>
            <a:endParaRPr lang="en-IN" sz="1500" dirty="0"/>
          </a:p>
          <a:p>
            <a:endParaRPr lang="en-US" sz="1400" kern="0" spc="-220" dirty="0">
              <a:solidFill>
                <a:schemeClr val="accent6"/>
              </a:solidFill>
            </a:endParaRPr>
          </a:p>
          <a:p>
            <a:pPr algn="l"/>
            <a:endParaRPr lang="en-US" sz="13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4340647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var vs dynamic – </a:t>
            </a:r>
          </a:p>
          <a:p>
            <a:pPr algn="l"/>
            <a:r>
              <a:rPr lang="en-US" sz="2400" kern="0" spc="-220" dirty="0">
                <a:solidFill>
                  <a:schemeClr val="accent6"/>
                </a:solidFill>
              </a:rPr>
              <a:t> var says “Let the compiler figure out the type”</a:t>
            </a:r>
          </a:p>
          <a:p>
            <a:pPr algn="l"/>
            <a:r>
              <a:rPr lang="en-US" sz="2400" kern="0" spc="-220" dirty="0">
                <a:solidFill>
                  <a:schemeClr val="accent6"/>
                </a:solidFill>
              </a:rPr>
              <a:t> dynamic says “Let the runtime figure out the type”</a:t>
            </a:r>
          </a:p>
          <a:p>
            <a:pPr algn="l"/>
            <a:endParaRPr lang="en-US" sz="2400" kern="0" spc="-220" dirty="0">
              <a:solidFill>
                <a:schemeClr val="accent6"/>
              </a:solidFill>
            </a:endParaRPr>
          </a:p>
          <a:p>
            <a:r>
              <a:rPr lang="en-US" sz="2400" kern="0" spc="-220" dirty="0">
                <a:solidFill>
                  <a:schemeClr val="accent2"/>
                </a:solidFill>
              </a:rPr>
              <a:t>Late Binding And Doing That using Reflection – </a:t>
            </a:r>
          </a:p>
          <a:p>
            <a:r>
              <a:rPr lang="en-US" sz="2400" dirty="0">
                <a:hlinkClick r:id="rId7"/>
              </a:rPr>
              <a:t>Early vs Late Binding, reflection, and type dynamic in C#</a:t>
            </a:r>
            <a:r>
              <a:rPr lang="en-US" sz="2400" kern="0" spc="-220" dirty="0">
                <a:solidFill>
                  <a:schemeClr val="accent6"/>
                </a:solidFill>
              </a:rPr>
              <a:t> </a:t>
            </a:r>
          </a:p>
          <a:p>
            <a:endParaRPr lang="en-US" sz="2400" kern="0" spc="-220" dirty="0">
              <a:solidFill>
                <a:schemeClr val="accent6"/>
              </a:solidFill>
            </a:endParaRPr>
          </a:p>
          <a:p>
            <a:r>
              <a:rPr lang="en-US" sz="2400" kern="0" spc="-220" dirty="0">
                <a:solidFill>
                  <a:schemeClr val="accent2"/>
                </a:solidFill>
              </a:rPr>
              <a:t>Simplifying Late Binding Using dynamic – </a:t>
            </a:r>
          </a:p>
          <a:p>
            <a:r>
              <a:rPr lang="en-US" sz="2400" dirty="0">
                <a:hlinkClick r:id="rId8"/>
              </a:rPr>
              <a:t>Understanding Late Binding: Dynamic Objects and Reflection in C# .NET | LinkedIn</a:t>
            </a:r>
            <a:endParaRPr lang="en-US" sz="2400" kern="0" spc="-220" dirty="0">
              <a:solidFill>
                <a:schemeClr val="accent6"/>
              </a:solidFill>
            </a:endParaRPr>
          </a:p>
          <a:p>
            <a:endParaRPr lang="en-US" sz="2400" kern="0" spc="-220" dirty="0">
              <a:solidFill>
                <a:schemeClr val="accent6"/>
              </a:solidFill>
            </a:endParaRPr>
          </a:p>
          <a:p>
            <a:pPr algn="l"/>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903228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20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2000" kern="0" spc="-220" dirty="0">
              <a:solidFill>
                <a:schemeClr val="accent6"/>
              </a:solidFill>
            </a:endParaRPr>
          </a:p>
          <a:p>
            <a:pPr algn="l"/>
            <a:r>
              <a:rPr lang="en-US" sz="2000" dirty="0">
                <a:hlinkClick r:id="rId7"/>
              </a:rPr>
              <a:t>The Visitor Pattern and dynamic in C# 4 — </a:t>
            </a:r>
            <a:r>
              <a:rPr lang="en-US" sz="2000" dirty="0" err="1">
                <a:hlinkClick r:id="rId7"/>
              </a:rPr>
              <a:t>Faithlife</a:t>
            </a:r>
            <a:r>
              <a:rPr lang="en-US" sz="2000" dirty="0">
                <a:hlinkClick r:id="rId7"/>
              </a:rPr>
              <a:t> Code Blog</a:t>
            </a:r>
            <a:endParaRPr lang="en-US" sz="2000" dirty="0"/>
          </a:p>
          <a:p>
            <a:pPr algn="l"/>
            <a:endParaRPr lang="en-US" sz="20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a:p>
            <a:pPr algn="l"/>
            <a:endParaRPr lang="en-US" sz="2000" kern="0" spc="-220" dirty="0">
              <a:solidFill>
                <a:schemeClr val="accent1"/>
              </a:solidFill>
            </a:endParaRPr>
          </a:p>
          <a:p>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r>
              <a:rPr lang="en-US" sz="2000" dirty="0" err="1">
                <a:hlinkClick r:id="rId8"/>
              </a:rPr>
              <a:t>c#</a:t>
            </a:r>
            <a:r>
              <a:rPr lang="en-US" sz="2000" dirty="0">
                <a:hlinkClick r:id="rId8"/>
              </a:rPr>
              <a:t> - Differences between </a:t>
            </a:r>
            <a:r>
              <a:rPr lang="en-US" sz="2000" dirty="0" err="1">
                <a:hlinkClick r:id="rId8"/>
              </a:rPr>
              <a:t>ExpandoObject</a:t>
            </a:r>
            <a:r>
              <a:rPr lang="en-US" sz="2000" dirty="0">
                <a:hlinkClick r:id="rId8"/>
              </a:rPr>
              <a:t>, </a:t>
            </a:r>
            <a:r>
              <a:rPr lang="en-US" sz="2000" dirty="0" err="1">
                <a:hlinkClick r:id="rId8"/>
              </a:rPr>
              <a:t>DynamicObject</a:t>
            </a:r>
            <a:r>
              <a:rPr lang="en-US" sz="2000" dirty="0">
                <a:hlinkClick r:id="rId8"/>
              </a:rPr>
              <a:t> and dynamic - Stack Overflow</a:t>
            </a:r>
            <a:endParaRPr lang="en-US" sz="2000" kern="0" spc="-220" dirty="0">
              <a:solidFill>
                <a:schemeClr val="accent6"/>
              </a:solidFill>
            </a:endParaRPr>
          </a:p>
          <a:p>
            <a:pPr algn="l"/>
            <a:endParaRPr lang="en-US" sz="2000" kern="0" spc="-220" dirty="0">
              <a:solidFill>
                <a:schemeClr val="accent1"/>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727460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14263" y="1114961"/>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err="1">
                <a:solidFill>
                  <a:schemeClr val="accent2"/>
                </a:solidFill>
              </a:rPr>
              <a:t>AoP</a:t>
            </a:r>
            <a:r>
              <a:rPr lang="en-US" sz="1800" kern="0" spc="-220" dirty="0">
                <a:solidFill>
                  <a:schemeClr val="accent2"/>
                </a:solidFill>
              </a:rPr>
              <a:t>(Aspect Oriented Programming)</a:t>
            </a:r>
          </a:p>
          <a:p>
            <a:pPr marL="12700" marR="5080"/>
            <a:endParaRPr lang="en-US" sz="1800" kern="0" spc="-220" dirty="0">
              <a:solidFill>
                <a:schemeClr val="accent2"/>
              </a:solidFill>
            </a:endParaRPr>
          </a:p>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800" dirty="0">
                <a:hlinkClick r:id="rId7"/>
              </a:rPr>
              <a:t>jot.fm/issues/issue_2007_03/article1/</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800" dirty="0">
                <a:hlinkClick r:id="rId8"/>
              </a:rPr>
              <a:t>MSIL Rewriting – </a:t>
            </a:r>
            <a:r>
              <a:rPr lang="en-IN" sz="1800" dirty="0" err="1">
                <a:hlinkClick r:id="rId8"/>
              </a:rPr>
              <a:t>PostSharp</a:t>
            </a:r>
            <a:r>
              <a:rPr lang="en-IN" sz="1800" dirty="0">
                <a:hlinkClick r:id="rId8"/>
              </a:rPr>
              <a:t> Technologies</a:t>
            </a:r>
            <a:endParaRPr lang="en-IN" sz="1800" dirty="0"/>
          </a:p>
          <a:p>
            <a:pPr marL="12700" marR="5080"/>
            <a:endParaRPr lang="en-IN" sz="1800" kern="0" spc="-220" dirty="0">
              <a:solidFill>
                <a:schemeClr val="accent6"/>
              </a:solidFill>
            </a:endParaRPr>
          </a:p>
          <a:p>
            <a:pPr marL="12700" marR="5080"/>
            <a:r>
              <a:rPr lang="en-US" sz="1800" kern="0" spc="-220" dirty="0">
                <a:solidFill>
                  <a:schemeClr val="accent2"/>
                </a:solidFill>
              </a:rPr>
              <a:t>Run -Time Weaving Techniques in .NET – </a:t>
            </a:r>
          </a:p>
          <a:p>
            <a:pPr marL="12700" marR="5080"/>
            <a:r>
              <a:rPr lang="en-US" sz="1800" dirty="0">
                <a:hlinkClick r:id="rId9"/>
              </a:rPr>
              <a:t>Middleware and Dependency Injection – </a:t>
            </a:r>
            <a:r>
              <a:rPr lang="en-US" sz="1800" dirty="0" err="1">
                <a:hlinkClick r:id="rId9"/>
              </a:rPr>
              <a:t>PostSharp</a:t>
            </a:r>
            <a:r>
              <a:rPr lang="en-US" sz="1800" dirty="0">
                <a:hlinkClick r:id="rId9"/>
              </a:rPr>
              <a:t> Technologies</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 A Generic Example Using MS Unity – </a:t>
            </a:r>
          </a:p>
          <a:p>
            <a:pPr marL="12700" marR="5080"/>
            <a:r>
              <a:rPr lang="en-US" sz="1800" dirty="0">
                <a:hlinkClick r:id="rId10"/>
              </a:rPr>
              <a:t>DDD-Based-Enterprise-Application-Framework/Infrastructure/</a:t>
            </a:r>
            <a:r>
              <a:rPr lang="en-US" sz="1800" dirty="0" err="1">
                <a:hlinkClick r:id="rId10"/>
              </a:rPr>
              <a:t>AoP</a:t>
            </a:r>
            <a:r>
              <a:rPr lang="en-US" sz="1800" dirty="0">
                <a:hlinkClick r:id="rId10"/>
              </a:rPr>
              <a:t> at master · sandipray63in/DDD-Based-Enterprise-Application-Framework · GitHub</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For Further Exploration – </a:t>
            </a:r>
          </a:p>
          <a:p>
            <a:pPr marL="12700" marR="5080"/>
            <a:r>
              <a:rPr lang="en-US" sz="1800" dirty="0">
                <a:hlinkClick r:id="rId11"/>
              </a:rPr>
              <a:t>Aspect-Oriented Programming (AOP) - Microsoft Unity Succinctly </a:t>
            </a:r>
            <a:r>
              <a:rPr lang="en-US" sz="1800" dirty="0" err="1">
                <a:hlinkClick r:id="rId11"/>
              </a:rPr>
              <a:t>Ebook</a:t>
            </a:r>
            <a:endParaRPr lang="en-US" sz="18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1821-126B-D20D-5553-B39CCF6417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A66D0-85DD-4299-89DC-B0C8B3FE2F4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0CB82F-EF6C-6A08-43BF-D9E528CBEC1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8E2897-06C5-D092-1F54-C745A9DD05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CD14E3-C71B-06EE-3F51-753DF361BD89}"/>
              </a:ext>
            </a:extLst>
          </p:cNvPr>
          <p:cNvSpPr txBox="1">
            <a:spLocks/>
          </p:cNvSpPr>
          <p:nvPr/>
        </p:nvSpPr>
        <p:spPr>
          <a:xfrm>
            <a:off x="214263" y="111496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US" sz="1800" dirty="0">
                <a:hlinkClick r:id="rId7"/>
              </a:rPr>
              <a:t>Metaprogramming-in-C-Sharp</a:t>
            </a:r>
            <a:endParaRPr lang="en-US" sz="1800" kern="0" spc="-220" dirty="0">
              <a:solidFill>
                <a:schemeClr val="accent6"/>
              </a:solidFill>
            </a:endParaRPr>
          </a:p>
          <a:p>
            <a:pPr marL="12700" marR="5080"/>
            <a:r>
              <a:rPr lang="nl-NL" sz="1800" dirty="0">
                <a:hlinkClick r:id="rId8"/>
              </a:rPr>
              <a:t>Metaprogramming in .NET</a:t>
            </a:r>
            <a:endParaRPr lang="en-US" sz="18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1BAAE56E-4231-B5A0-C760-3045C2862152}"/>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83906310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90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principle can be applied to all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extLst>
              <p:ext uri="{D42A27DB-BD31-4B8C-83A1-F6EECF244321}">
                <p14:modId xmlns:p14="http://schemas.microsoft.com/office/powerpoint/2010/main" val="389536020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extLst>
              <p:ext uri="{D42A27DB-BD31-4B8C-83A1-F6EECF244321}">
                <p14:modId xmlns:p14="http://schemas.microsoft.com/office/powerpoint/2010/main" val="3811726676"/>
              </p:ext>
            </p:extLst>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1454485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extLst>
              <p:ext uri="{D42A27DB-BD31-4B8C-83A1-F6EECF244321}">
                <p14:modId xmlns:p14="http://schemas.microsoft.com/office/powerpoint/2010/main" val="9033458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27365386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extLst>
              <p:ext uri="{D42A27DB-BD31-4B8C-83A1-F6EECF244321}">
                <p14:modId xmlns:p14="http://schemas.microsoft.com/office/powerpoint/2010/main" val="279869535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20449079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extLst>
              <p:ext uri="{D42A27DB-BD31-4B8C-83A1-F6EECF244321}">
                <p14:modId xmlns:p14="http://schemas.microsoft.com/office/powerpoint/2010/main" val="412170977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353257452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extLst>
              <p:ext uri="{D42A27DB-BD31-4B8C-83A1-F6EECF244321}">
                <p14:modId xmlns:p14="http://schemas.microsoft.com/office/powerpoint/2010/main" val="258465143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9191523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extLst>
              <p:ext uri="{D42A27DB-BD31-4B8C-83A1-F6EECF244321}">
                <p14:modId xmlns:p14="http://schemas.microsoft.com/office/powerpoint/2010/main" val="20319508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95020604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extLst>
              <p:ext uri="{D42A27DB-BD31-4B8C-83A1-F6EECF244321}">
                <p14:modId xmlns:p14="http://schemas.microsoft.com/office/powerpoint/2010/main" val="225304791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01706158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extLst>
              <p:ext uri="{D42A27DB-BD31-4B8C-83A1-F6EECF244321}">
                <p14:modId xmlns:p14="http://schemas.microsoft.com/office/powerpoint/2010/main" val="180929640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355600" marR="5080" indent="-342900">
              <a:buAutoNum type="arabicPeriod"/>
            </a:pPr>
            <a:r>
              <a:rPr lang="en-US" sz="1800" kern="0" spc="-220" dirty="0">
                <a:solidFill>
                  <a:schemeClr val="accent2"/>
                </a:solidFill>
              </a:rPr>
              <a:t>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endParaRPr lang="en-US" sz="1800" kern="0" spc="-220" dirty="0">
              <a:solidFill>
                <a:schemeClr val="accent2"/>
              </a:solidFill>
            </a:endParaRP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98832594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extLst>
              <p:ext uri="{D42A27DB-BD31-4B8C-83A1-F6EECF244321}">
                <p14:modId xmlns:p14="http://schemas.microsoft.com/office/powerpoint/2010/main" val="985694402"/>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158676630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extLst>
              <p:ext uri="{D42A27DB-BD31-4B8C-83A1-F6EECF244321}">
                <p14:modId xmlns:p14="http://schemas.microsoft.com/office/powerpoint/2010/main" val="24599065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5094295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extLst>
              <p:ext uri="{D42A27DB-BD31-4B8C-83A1-F6EECF244321}">
                <p14:modId xmlns:p14="http://schemas.microsoft.com/office/powerpoint/2010/main" val="53537138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36235154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extLst>
              <p:ext uri="{D42A27DB-BD31-4B8C-83A1-F6EECF244321}">
                <p14:modId xmlns:p14="http://schemas.microsoft.com/office/powerpoint/2010/main" val="382554399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303343893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extLst>
              <p:ext uri="{D42A27DB-BD31-4B8C-83A1-F6EECF244321}">
                <p14:modId xmlns:p14="http://schemas.microsoft.com/office/powerpoint/2010/main" val="42908297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5282091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extLst>
              <p:ext uri="{D42A27DB-BD31-4B8C-83A1-F6EECF244321}">
                <p14:modId xmlns:p14="http://schemas.microsoft.com/office/powerpoint/2010/main" val="393002112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369757795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extLst>
              <p:ext uri="{D42A27DB-BD31-4B8C-83A1-F6EECF244321}">
                <p14:modId xmlns:p14="http://schemas.microsoft.com/office/powerpoint/2010/main" val="8570868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a:p>
            <a:pPr marL="12700" marR="5080"/>
            <a:r>
              <a:rPr lang="en-US" sz="1800">
                <a:hlinkClick r:id="rId12"/>
              </a:rPr>
              <a:t>Mechanical Sympathy</a:t>
            </a:r>
            <a:endParaRPr lang="en-US" sz="1800" kern="0" spc="-220" dirty="0">
              <a:solidFill>
                <a:schemeClr val="accent2"/>
              </a:solidFill>
            </a:endParaRPr>
          </a:p>
        </p:txBody>
      </p:sp>
    </p:spTree>
    <p:extLst>
      <p:ext uri="{BB962C8B-B14F-4D97-AF65-F5344CB8AC3E}">
        <p14:creationId xmlns:p14="http://schemas.microsoft.com/office/powerpoint/2010/main" val="240512892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 - fetch as much data as possible from COM  into RAM (memory) &amp; then do further processing .If needed use </a:t>
            </a:r>
            <a:r>
              <a:rPr lang="en-US" sz="1700" kern="0" spc="-220" dirty="0" err="1">
                <a:solidFill>
                  <a:schemeClr val="accent6"/>
                </a:solidFill>
              </a:rPr>
              <a:t>chunking.This</a:t>
            </a:r>
            <a:r>
              <a:rPr lang="en-US" sz="1700" kern="0" spc="-220" dirty="0">
                <a:solidFill>
                  <a:schemeClr val="accent6"/>
                </a:solidFill>
              </a:rPr>
              <a:t>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 - 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 – check List (&amp; Dictionary)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 - doesn’t have Exception Bubbling &amp; async-await </a:t>
            </a:r>
            <a:r>
              <a:rPr lang="en-US" sz="1700" kern="0" spc="-220">
                <a:solidFill>
                  <a:schemeClr val="tx2">
                    <a:lumMod val="60000"/>
                    <a:lumOff val="40000"/>
                  </a:schemeClr>
                </a:solidFill>
              </a:rPr>
              <a:t>by default</a:t>
            </a:r>
            <a:r>
              <a:rPr lang="en-US" sz="1700" kern="0" spc="-220" dirty="0">
                <a:solidFill>
                  <a:schemeClr val="accent6"/>
                </a:solidFill>
              </a:rPr>
              <a:t>.</a:t>
            </a:r>
            <a:r>
              <a:rPr lang="en-US" sz="1700" kern="0" spc="-220">
                <a:solidFill>
                  <a:schemeClr val="accent6"/>
                </a:solidFill>
              </a:rPr>
              <a:t> </a:t>
            </a:r>
            <a:r>
              <a:rPr lang="en-US" sz="1700" kern="0" spc="-220" dirty="0">
                <a:solidFill>
                  <a:schemeClr val="accent6"/>
                </a:solidFill>
              </a:rPr>
              <a:t>But I love 1 thing in Java compared to  .NET &amp;  that’s that Java has only one generic argument equivalent of Action&lt;T&gt; &amp; Func&lt;T&gt; while .NET has  Action&lt;T1&gt;/Func&lt;T1&gt; till Action&lt;T1, T2,…….T16&gt;/Func&lt;T1,T2,……T16.&gt;. Although Action&lt;T&gt;/Func&lt;T&gt;/Action&lt;T1&gt;/Func&lt;T1&gt; should  suffice  but not sure why the .NET Language Designers opted to support till T16  (although tomorrow I may need T17 or more &amp; all such T1 till T16 or more can be wrapped into a single  “T” class as properties &amp; then processed further) .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7924118"/>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400" dirty="0">
                <a:hlinkClick r:id="rId7"/>
              </a:rPr>
              <a:t>Essential Algorithms</a:t>
            </a:r>
            <a:endParaRPr lang="en-IN" sz="1400" dirty="0"/>
          </a:p>
          <a:p>
            <a:pPr marL="12700" marR="5080"/>
            <a:r>
              <a:rPr lang="en-US" sz="1400" dirty="0">
                <a:hlinkClick r:id="rId8"/>
              </a:rPr>
              <a:t>Learn to program. For free. - Invent with Python</a:t>
            </a:r>
            <a:endParaRPr lang="en-US" sz="1400" dirty="0"/>
          </a:p>
          <a:p>
            <a:pPr marL="12700" marR="5080"/>
            <a:r>
              <a:rPr lang="en-US" sz="1400" dirty="0">
                <a:hlinkClick r:id="rId9"/>
              </a:rPr>
              <a:t>Fabulous Adventures in Data Structures and Algorithms</a:t>
            </a:r>
            <a:endParaRPr lang="en-US" sz="1400" dirty="0"/>
          </a:p>
          <a:p>
            <a:pPr marL="12700" marR="5080"/>
            <a:r>
              <a:rPr lang="en-US" sz="1400" dirty="0">
                <a:hlinkClick r:id="rId10"/>
              </a:rPr>
              <a:t>Dynamic Programming in Python : William Smith</a:t>
            </a:r>
            <a:endParaRPr lang="en-US" sz="1400" dirty="0"/>
          </a:p>
          <a:p>
            <a:pPr marL="12700" marR="5080"/>
            <a:r>
              <a:rPr lang="en-US" sz="1400" dirty="0">
                <a:hlinkClick r:id="rId11"/>
              </a:rPr>
              <a:t>Data-Structures-And-Algorithms-Made-Easy-In-Java</a:t>
            </a:r>
            <a:endParaRPr lang="en-US" sz="1400" dirty="0"/>
          </a:p>
          <a:p>
            <a:pPr marL="12700" marR="5080"/>
            <a:r>
              <a:rPr lang="en-IN" sz="1400" dirty="0">
                <a:hlinkClick r:id="rId12"/>
              </a:rPr>
              <a:t>20 Patterns to Master Dynamic Programming</a:t>
            </a:r>
            <a:endParaRPr lang="en-IN" sz="1400" dirty="0"/>
          </a:p>
          <a:p>
            <a:pPr marL="12700" marR="5080"/>
            <a:r>
              <a:rPr lang="en-IN" sz="1400" dirty="0">
                <a:hlinkClick r:id="rId13"/>
              </a:rPr>
              <a:t>Must Know Data Structures | LinkedIn</a:t>
            </a:r>
            <a:endParaRPr lang="en-IN" sz="1400" dirty="0"/>
          </a:p>
          <a:p>
            <a:pPr marL="12700" marR="5080"/>
            <a:r>
              <a:rPr lang="en-US" sz="1400" dirty="0">
                <a:hlinkClick r:id="rId14"/>
              </a:rPr>
              <a:t>Data Structures and Algorithms Roadmap</a:t>
            </a:r>
            <a:endParaRPr lang="en-IN" sz="1400" dirty="0"/>
          </a:p>
          <a:p>
            <a:pPr marL="12700" marR="5080"/>
            <a:r>
              <a:rPr lang="en-IN" sz="1400" dirty="0">
                <a:hlinkClick r:id="rId15"/>
              </a:rPr>
              <a:t>Coding-Interview-Patterns</a:t>
            </a:r>
            <a:endParaRPr lang="en-IN" sz="1400" dirty="0"/>
          </a:p>
          <a:p>
            <a:pPr marL="12700" marR="5080"/>
            <a:r>
              <a:rPr lang="en-IN" sz="1400" dirty="0">
                <a:hlinkClick r:id="rId16"/>
              </a:rPr>
              <a:t>Coding Problems Patterns | LinkedIn</a:t>
            </a:r>
            <a:endParaRPr lang="en-IN" sz="1400" dirty="0"/>
          </a:p>
          <a:p>
            <a:pPr marL="12700" marR="5080"/>
            <a:r>
              <a:rPr lang="en-US" sz="1400" dirty="0">
                <a:hlinkClick r:id="rId17"/>
              </a:rPr>
              <a:t>Awesome-</a:t>
            </a:r>
            <a:r>
              <a:rPr lang="en-US" sz="1400" dirty="0" err="1">
                <a:hlinkClick r:id="rId17"/>
              </a:rPr>
              <a:t>Leetcode</a:t>
            </a:r>
            <a:r>
              <a:rPr lang="en-US" sz="1400" dirty="0">
                <a:hlinkClick r:id="rId17"/>
              </a:rPr>
              <a:t>-Resources </a:t>
            </a:r>
          </a:p>
          <a:p>
            <a:pPr marL="12700" marR="5080"/>
            <a:r>
              <a:rPr lang="en-US" sz="1400" dirty="0">
                <a:hlinkClick r:id="rId18"/>
              </a:rPr>
              <a:t>Coding-Interview-University</a:t>
            </a:r>
            <a:endParaRPr lang="en-US" sz="1400" dirty="0"/>
          </a:p>
          <a:p>
            <a:pPr marL="12700" marR="5080"/>
            <a:r>
              <a:rPr lang="en-US" sz="1400" dirty="0">
                <a:hlinkClick r:id="rId17"/>
              </a:rPr>
              <a:t>Algorithms and prepare for Coding Interviews.</a:t>
            </a:r>
            <a:endParaRPr lang="en-US" sz="1400" dirty="0"/>
          </a:p>
          <a:p>
            <a:pPr marL="12700" marR="5080"/>
            <a:r>
              <a:rPr lang="en-US" sz="1400" dirty="0">
                <a:hlinkClick r:id="rId19"/>
              </a:rPr>
              <a:t>Technical Interview Guide for Busy Engineers | Tech Interview Handbook</a:t>
            </a:r>
            <a:r>
              <a:rPr lang="en-US" sz="1400" dirty="0"/>
              <a:t> </a:t>
            </a:r>
            <a:endParaRPr lang="en-IN" sz="1400" dirty="0"/>
          </a:p>
          <a:p>
            <a:pPr marL="12700" marR="5080"/>
            <a:r>
              <a:rPr lang="en-IN" sz="1400" dirty="0">
                <a:hlinkClick r:id="rId20"/>
              </a:rPr>
              <a:t>C# in a Nutshell</a:t>
            </a:r>
            <a:endParaRPr lang="en-US" sz="1400" dirty="0"/>
          </a:p>
          <a:p>
            <a:pPr marL="12700" marR="5080"/>
            <a:r>
              <a:rPr lang="en-IN" sz="1400" dirty="0" err="1">
                <a:hlinkClick r:id="rId21"/>
              </a:rPr>
              <a:t>MarkJPrice</a:t>
            </a:r>
            <a:r>
              <a:rPr lang="en-IN" sz="1400" dirty="0">
                <a:hlinkClick r:id="rId21"/>
              </a:rPr>
              <a:t>/Repositories</a:t>
            </a:r>
            <a:endParaRPr lang="en-IN" sz="1400" dirty="0"/>
          </a:p>
          <a:p>
            <a:pPr marL="12700" marR="5080"/>
            <a:r>
              <a:rPr lang="en-IN" sz="1400" dirty="0">
                <a:hlinkClick r:id="rId22"/>
              </a:rPr>
              <a:t>C# | Version History </a:t>
            </a:r>
            <a:r>
              <a:rPr lang="en-IN" sz="1400" dirty="0">
                <a:hlinkClick r:id="rId23"/>
              </a:rPr>
              <a:t>–</a:t>
            </a:r>
            <a:r>
              <a:rPr lang="en-IN" sz="1400" dirty="0">
                <a:hlinkClick r:id="rId22"/>
              </a:rPr>
              <a:t> </a:t>
            </a:r>
            <a:r>
              <a:rPr lang="en-IN" sz="1400" dirty="0" err="1">
                <a:hlinkClick r:id="rId22"/>
              </a:rPr>
              <a:t>GeeksforGeeks</a:t>
            </a:r>
            <a:endParaRPr lang="en-IN" sz="1400" dirty="0"/>
          </a:p>
          <a:p>
            <a:pPr marL="12700" marR="5080"/>
            <a:r>
              <a:rPr lang="en-US" sz="1400" dirty="0">
                <a:hlinkClick r:id="rId24"/>
              </a:rPr>
              <a:t>What's new in C# 13 | Microsoft Learn</a:t>
            </a:r>
            <a:endParaRPr lang="en-IN" sz="1400" dirty="0"/>
          </a:p>
          <a:p>
            <a:pPr marL="12700" marR="5080"/>
            <a:r>
              <a:rPr lang="en-US" sz="1400" dirty="0">
                <a:hlinkClick r:id="rId25"/>
              </a:rPr>
              <a:t>How do I chunk an enumerable? - Stack Overflow</a:t>
            </a:r>
            <a:endParaRPr lang="en-US" sz="1400" dirty="0"/>
          </a:p>
          <a:p>
            <a:pPr marL="12700" marR="5080"/>
            <a:r>
              <a:rPr lang="en-US" sz="1400" dirty="0">
                <a:hlinkClick r:id="rId26"/>
              </a:rPr>
              <a:t>How To Write Elegant Code with C# Switch Expressions</a:t>
            </a:r>
            <a:endParaRPr lang="en-US" sz="1400" dirty="0"/>
          </a:p>
          <a:p>
            <a:pPr marL="12700" marR="5080"/>
            <a:r>
              <a:rPr lang="en-US" sz="1400" dirty="0">
                <a:hlinkClick r:id="rId27"/>
              </a:rPr>
              <a:t>Declare and use C# primary constructors in classes and structs | Microsoft Learn</a:t>
            </a:r>
            <a:endParaRPr lang="en-US" sz="1400" dirty="0"/>
          </a:p>
          <a:p>
            <a:pPr marL="12700" marR="5080"/>
            <a:r>
              <a:rPr lang="en-US" sz="1400" dirty="0">
                <a:hlinkClick r:id="rId28"/>
              </a:rPr>
              <a:t>Deconstructing tuples and other types - C# | Microsoft Learn</a:t>
            </a:r>
            <a:endParaRPr lang="en-US" sz="1400" dirty="0"/>
          </a:p>
          <a:p>
            <a:pPr marL="12700" marR="5080"/>
            <a:r>
              <a:rPr lang="en-US" sz="1400" dirty="0">
                <a:hlinkClick r:id="rId29"/>
              </a:rPr>
              <a:t>Asynchronous - Why would one use Task&lt;T&gt; over </a:t>
            </a:r>
            <a:r>
              <a:rPr lang="en-US" sz="1400" dirty="0" err="1">
                <a:hlinkClick r:id="rId29"/>
              </a:rPr>
              <a:t>ValueTask</a:t>
            </a:r>
            <a:r>
              <a:rPr lang="en-US" sz="1400" dirty="0">
                <a:hlinkClick r:id="rId29"/>
              </a:rPr>
              <a:t>&lt;T&gt; in C#? - Stack Overflow</a:t>
            </a:r>
            <a:endParaRPr lang="en-US" sz="1400" dirty="0"/>
          </a:p>
          <a:p>
            <a:pPr marL="12700" marR="5080"/>
            <a:r>
              <a:rPr lang="en-US" sz="1400" dirty="0">
                <a:hlinkClick r:id="rId30"/>
              </a:rPr>
              <a:t>C# — Optimize Performance with Span and Memory | by Keyur </a:t>
            </a:r>
            <a:r>
              <a:rPr lang="en-US" sz="1400" dirty="0" err="1">
                <a:hlinkClick r:id="rId30"/>
              </a:rPr>
              <a:t>Ramoliya</a:t>
            </a:r>
            <a:r>
              <a:rPr lang="en-US" sz="1400" dirty="0">
                <a:hlinkClick r:id="rId30"/>
              </a:rPr>
              <a:t> | Medium</a:t>
            </a:r>
            <a:endParaRPr lang="en-US" sz="1400" dirty="0"/>
          </a:p>
          <a:p>
            <a:pPr marL="12700" marR="5080"/>
            <a:r>
              <a:rPr lang="en-US" sz="1400" dirty="0" err="1">
                <a:hlinkClick r:id="rId31"/>
              </a:rPr>
              <a:t>NSpecifications</a:t>
            </a:r>
            <a:r>
              <a:rPr lang="en-US" sz="1400" dirty="0">
                <a:hlinkClick r:id="rId31"/>
              </a:rPr>
              <a:t>: Specification Pattern for </a:t>
            </a:r>
            <a:r>
              <a:rPr lang="en-US" sz="1400" dirty="0" err="1">
                <a:hlinkClick r:id="rId31"/>
              </a:rPr>
              <a:t>.Net</a:t>
            </a:r>
            <a:endParaRPr lang="en-US" sz="1400" dirty="0"/>
          </a:p>
          <a:p>
            <a:pPr marL="12700" marR="5080"/>
            <a:r>
              <a:rPr lang="en-US" sz="1400" dirty="0">
                <a:hlinkClick r:id="rId32"/>
              </a:rPr>
              <a:t>Specification Pattern vs (Fluent) Validation</a:t>
            </a:r>
            <a:endParaRPr lang="en-US" sz="1400" dirty="0"/>
          </a:p>
        </p:txBody>
      </p:sp>
    </p:spTree>
    <p:extLst>
      <p:ext uri="{BB962C8B-B14F-4D97-AF65-F5344CB8AC3E}">
        <p14:creationId xmlns:p14="http://schemas.microsoft.com/office/powerpoint/2010/main" val="323585720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3D1F-30BE-2EA7-BD28-5BE469FA362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2200573-CDB1-3F2D-7876-8AAFCED24015}"/>
              </a:ext>
            </a:extLst>
          </p:cNvPr>
          <p:cNvGraphicFramePr/>
          <p:nvPr>
            <p:extLst>
              <p:ext uri="{D42A27DB-BD31-4B8C-83A1-F6EECF244321}">
                <p14:modId xmlns:p14="http://schemas.microsoft.com/office/powerpoint/2010/main" val="2604141565"/>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7E1568A1-4753-5EB0-67C3-7805AB3A2C32}"/>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C5F7279-6F62-F375-27F5-5E1A986C96E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E958F33-0668-171B-5247-F4D0AD0CB0A4}"/>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dirty="0">
                <a:hlinkClick r:id="rId7"/>
              </a:rPr>
              <a:t>Building-CLI-Applications-with-C-Sharp-and-.NET</a:t>
            </a:r>
            <a:endParaRPr lang="en-US" sz="1400" dirty="0"/>
          </a:p>
          <a:p>
            <a:pPr marL="12700" marR="5080"/>
            <a:r>
              <a:rPr lang="en-US" sz="1400" dirty="0">
                <a:hlinkClick r:id="rId8"/>
              </a:rPr>
              <a:t>Creating a .NET Cron Job for Kubernetes | </a:t>
            </a:r>
            <a:r>
              <a:rPr lang="en-US" sz="1400" dirty="0" err="1">
                <a:hlinkClick r:id="rId8"/>
              </a:rPr>
              <a:t>benbrougher.tech</a:t>
            </a:r>
            <a:endParaRPr lang="en-US" sz="1400" dirty="0"/>
          </a:p>
          <a:p>
            <a:pPr marL="12700" marR="5080"/>
            <a:r>
              <a:rPr lang="en-IN" sz="1400" dirty="0">
                <a:hlinkClick r:id="rId9"/>
              </a:rPr>
              <a:t>The Ultimate Kubernetes </a:t>
            </a:r>
            <a:r>
              <a:rPr lang="en-IN" sz="1400" dirty="0" err="1">
                <a:hlinkClick r:id="rId9"/>
              </a:rPr>
              <a:t>CronJob</a:t>
            </a:r>
            <a:r>
              <a:rPr lang="en-IN" sz="1400" dirty="0">
                <a:hlinkClick r:id="rId9"/>
              </a:rPr>
              <a:t> Guide</a:t>
            </a:r>
            <a:endParaRPr lang="en-IN" sz="1400" dirty="0"/>
          </a:p>
          <a:p>
            <a:pPr marL="12700" marR="5080"/>
            <a:r>
              <a:rPr lang="en-US" sz="1400" dirty="0">
                <a:hlinkClick r:id="rId10"/>
              </a:rPr>
              <a:t>Systems-Programming-with-C-Sharp-and-.NET</a:t>
            </a:r>
            <a:endParaRPr lang="en-US" sz="1400" dirty="0"/>
          </a:p>
          <a:p>
            <a:pPr marL="12700" marR="5080"/>
            <a:r>
              <a:rPr lang="it-IT" sz="1400" dirty="0">
                <a:hlinkClick r:id="rId11"/>
              </a:rPr>
              <a:t>Native interoperability - .NET | Microsoft Learn</a:t>
            </a:r>
            <a:endParaRPr lang="it-IT" sz="1400" dirty="0"/>
          </a:p>
          <a:p>
            <a:pPr marL="12700" marR="5080"/>
            <a:r>
              <a:rPr lang="en-US" sz="1400" dirty="0">
                <a:hlinkClick r:id="rId12"/>
              </a:rPr>
              <a:t>Learn-regex: Learn regex the easy way</a:t>
            </a:r>
            <a:endParaRPr lang="en-US" sz="1400" dirty="0"/>
          </a:p>
          <a:p>
            <a:pPr marL="12700" marR="5080"/>
            <a:r>
              <a:rPr lang="en-US" sz="1400" dirty="0">
                <a:hlinkClick r:id="rId13"/>
              </a:rPr>
              <a:t>Free Programming Books – GoalKicker.com</a:t>
            </a:r>
            <a:r>
              <a:rPr lang="en-US" sz="1400" dirty="0"/>
              <a:t> </a:t>
            </a:r>
          </a:p>
          <a:p>
            <a:pPr marL="12700" marR="5080"/>
            <a:r>
              <a:rPr lang="en-US" sz="1400" dirty="0">
                <a:hlinkClick r:id="rId14"/>
              </a:rPr>
              <a:t>Regular Expressions Cookbook, 2nd Edition[Book]</a:t>
            </a:r>
            <a:endParaRPr lang="en-US" sz="1400" dirty="0"/>
          </a:p>
          <a:p>
            <a:pPr marL="12700" marR="5080"/>
            <a:r>
              <a:rPr lang="en-IN" sz="1400" dirty="0">
                <a:hlinkClick r:id="rId15"/>
              </a:rPr>
              <a:t>High-Performance-Programming-in-C-Sharp-and-.NET</a:t>
            </a:r>
            <a:endParaRPr lang="en-IN" sz="1400" dirty="0"/>
          </a:p>
          <a:p>
            <a:pPr marL="12700" marR="5080"/>
            <a:r>
              <a:rPr lang="en-IN" sz="1400" dirty="0">
                <a:hlinkClick r:id="rId16"/>
              </a:rPr>
              <a:t>C# Interview Questions | LinkedIn</a:t>
            </a:r>
            <a:endParaRPr lang="en-IN" sz="1400" dirty="0"/>
          </a:p>
          <a:p>
            <a:pPr marL="12700" marR="5080"/>
            <a:r>
              <a:rPr lang="en-US" sz="1400" dirty="0" err="1">
                <a:hlinkClick r:id="rId17"/>
              </a:rPr>
              <a:t>DotNet</a:t>
            </a:r>
            <a:r>
              <a:rPr lang="en-US" sz="1400" dirty="0">
                <a:hlinkClick r:id="rId17"/>
              </a:rPr>
              <a:t>-Developer-Roadmap.</a:t>
            </a:r>
            <a:endParaRPr lang="en-US" sz="1400" dirty="0"/>
          </a:p>
          <a:p>
            <a:pPr marL="12700" marR="5080"/>
            <a:r>
              <a:rPr lang="en-IN" sz="1400" dirty="0" err="1">
                <a:hlinkClick r:id="rId18"/>
              </a:rPr>
              <a:t>Postgre</a:t>
            </a:r>
            <a:r>
              <a:rPr lang="en-IN" sz="1400" dirty="0">
                <a:hlinkClick r:id="rId18"/>
              </a:rPr>
              <a:t> </a:t>
            </a:r>
            <a:r>
              <a:rPr lang="en-IN" sz="1400" dirty="0" err="1">
                <a:hlinkClick r:id="rId18"/>
              </a:rPr>
              <a:t>Sql</a:t>
            </a:r>
            <a:r>
              <a:rPr lang="en-IN" sz="1400" dirty="0">
                <a:hlinkClick r:id="rId18"/>
              </a:rPr>
              <a:t> Query Execution Flow| LinkedIn</a:t>
            </a:r>
            <a:endParaRPr lang="en-IN" sz="1400" dirty="0"/>
          </a:p>
          <a:p>
            <a:pPr marL="12700" marR="5080"/>
            <a:r>
              <a:rPr lang="en-IN" sz="1400" dirty="0">
                <a:hlinkClick r:id="rId19"/>
              </a:rPr>
              <a:t>Free Postgres SQL Internals Book </a:t>
            </a:r>
            <a:endParaRPr lang="en-IN" sz="1400" dirty="0"/>
          </a:p>
          <a:p>
            <a:pPr marL="12700" marR="5080"/>
            <a:r>
              <a:rPr lang="en-US" sz="1400" dirty="0">
                <a:hlinkClick r:id="rId20"/>
              </a:rPr>
              <a:t>GATE CS Notes (According to GATE 2025 Syllabus) </a:t>
            </a:r>
            <a:r>
              <a:rPr lang="en-US" sz="1400" dirty="0">
                <a:hlinkClick r:id="rId21"/>
              </a:rPr>
              <a:t>–</a:t>
            </a:r>
            <a:r>
              <a:rPr lang="en-US" sz="1400" dirty="0">
                <a:hlinkClick r:id="rId20"/>
              </a:rPr>
              <a:t> </a:t>
            </a:r>
            <a:r>
              <a:rPr lang="en-US" sz="1400" dirty="0" err="1">
                <a:hlinkClick r:id="rId20"/>
              </a:rPr>
              <a:t>GeeksforGeeks</a:t>
            </a:r>
            <a:endParaRPr lang="en-US" sz="1400" dirty="0"/>
          </a:p>
          <a:p>
            <a:pPr marL="12700" marR="5080"/>
            <a:r>
              <a:rPr lang="en-US" sz="1400" dirty="0">
                <a:hlinkClick r:id="rId22"/>
              </a:rPr>
              <a:t>Computer Science Roadmap: Curriculum for the self taught developer</a:t>
            </a:r>
            <a:endParaRPr lang="en-US" sz="1400" dirty="0"/>
          </a:p>
          <a:p>
            <a:pPr marL="12700" marR="5080"/>
            <a:r>
              <a:rPr lang="en-US" sz="1400" dirty="0">
                <a:hlinkClick r:id="rId23"/>
              </a:rPr>
              <a:t>The Modern C# Challenge | Web Development | Paperback</a:t>
            </a:r>
            <a:endParaRPr lang="en-IN" sz="1400" dirty="0"/>
          </a:p>
          <a:p>
            <a:pPr marL="12700" marR="5080"/>
            <a:r>
              <a:rPr lang="en-IN" sz="1400" dirty="0" err="1">
                <a:hlinkClick r:id="rId24"/>
              </a:rPr>
              <a:t>Category:Programming</a:t>
            </a:r>
            <a:r>
              <a:rPr lang="en-IN" sz="1400" dirty="0">
                <a:hlinkClick r:id="rId24"/>
              </a:rPr>
              <a:t> Tasks - Rosetta Code</a:t>
            </a:r>
            <a:r>
              <a:rPr lang="en-US" sz="1400" kern="0" spc="-220" dirty="0">
                <a:solidFill>
                  <a:schemeClr val="accent6"/>
                </a:solidFill>
              </a:rPr>
              <a:t> </a:t>
            </a:r>
          </a:p>
          <a:p>
            <a:pPr marL="12700" marR="5080"/>
            <a:r>
              <a:rPr lang="en-US" sz="1400" dirty="0">
                <a:hlinkClick r:id="rId25"/>
              </a:rPr>
              <a:t>Coding Challenges | John Crickett | Substack</a:t>
            </a:r>
            <a:endParaRPr lang="en-US" sz="1400" dirty="0"/>
          </a:p>
          <a:p>
            <a:pPr marL="12700" marR="5080"/>
            <a:r>
              <a:rPr lang="en-US" sz="1400" dirty="0">
                <a:hlinkClick r:id="rId26"/>
              </a:rPr>
              <a:t>Awesome-Katas</a:t>
            </a:r>
            <a:endParaRPr lang="en-US" sz="1400" dirty="0"/>
          </a:p>
          <a:p>
            <a:pPr marL="12700" marR="5080"/>
            <a:r>
              <a:rPr lang="en-US" sz="1400" dirty="0">
                <a:hlinkClick r:id="rId27"/>
              </a:rPr>
              <a:t>Clean Code Cheat Sheet – planetgeek.ch</a:t>
            </a:r>
            <a:endParaRPr lang="en-US" sz="1400" dirty="0"/>
          </a:p>
          <a:p>
            <a:pPr marL="12700" marR="5080"/>
            <a:r>
              <a:rPr lang="en-US" sz="1400" dirty="0">
                <a:hlinkClick r:id="rId28"/>
              </a:rPr>
              <a:t>Awesome-Low-Level-Design</a:t>
            </a:r>
            <a:endParaRPr lang="en-US" sz="1400" dirty="0"/>
          </a:p>
          <a:p>
            <a:pPr marL="12700" marR="5080"/>
            <a:r>
              <a:rPr lang="en-US" sz="1400" dirty="0">
                <a:hlinkClick r:id="rId29"/>
              </a:rPr>
              <a:t>Low-Level-Design-Primer</a:t>
            </a:r>
            <a:endParaRPr lang="en-US" sz="1400" dirty="0"/>
          </a:p>
          <a:p>
            <a:pPr marL="12700" marR="5080"/>
            <a:r>
              <a:rPr lang="en-IN" sz="1400" dirty="0">
                <a:hlinkClick r:id="rId30"/>
              </a:rPr>
              <a:t>Build Your Own X</a:t>
            </a:r>
            <a:endParaRPr lang="en-IN" sz="1400" dirty="0"/>
          </a:p>
          <a:p>
            <a:pPr marL="12700" marR="5080"/>
            <a:r>
              <a:rPr lang="en-US" sz="1400" dirty="0">
                <a:hlinkClick r:id="rId31"/>
              </a:rPr>
              <a:t>Make a Web Browser: Beginner's Guide</a:t>
            </a:r>
            <a:endParaRPr lang="en-US" sz="1400" dirty="0"/>
          </a:p>
          <a:p>
            <a:pPr marL="12700" marR="5080"/>
            <a:r>
              <a:rPr lang="en-IN" sz="1400" dirty="0">
                <a:hlinkClick r:id="rId32"/>
              </a:rPr>
              <a:t>Web Browser Engineering</a:t>
            </a:r>
            <a:endParaRPr lang="en-IN" sz="1400" dirty="0"/>
          </a:p>
          <a:p>
            <a:pPr marL="12700" marR="5080"/>
            <a:r>
              <a:rPr lang="en-US" sz="1400" dirty="0">
                <a:hlinkClick r:id="rId33"/>
              </a:rPr>
              <a:t>Replacing .NET </a:t>
            </a:r>
            <a:r>
              <a:rPr lang="en-US" sz="1400" dirty="0" err="1">
                <a:hlinkClick r:id="rId33"/>
              </a:rPr>
              <a:t>WebBrowser</a:t>
            </a:r>
            <a:r>
              <a:rPr lang="en-US" sz="1400" dirty="0">
                <a:hlinkClick r:id="rId33"/>
              </a:rPr>
              <a:t> control with a better browser, like Chrome? - Stack Overflow</a:t>
            </a:r>
            <a:endParaRPr lang="en-US" sz="1400" dirty="0"/>
          </a:p>
        </p:txBody>
      </p:sp>
    </p:spTree>
    <p:extLst>
      <p:ext uri="{BB962C8B-B14F-4D97-AF65-F5344CB8AC3E}">
        <p14:creationId xmlns:p14="http://schemas.microsoft.com/office/powerpoint/2010/main" val="26066941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16144</TotalTime>
  <Words>11038</Words>
  <Application>Microsoft Office PowerPoint</Application>
  <PresentationFormat>Custom</PresentationFormat>
  <Paragraphs>1561</Paragraphs>
  <Slides>115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115</vt:i4>
      </vt:variant>
    </vt:vector>
  </HeadingPairs>
  <TitlesOfParts>
    <vt:vector size="124"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1308</cp:revision>
  <dcterms:created xsi:type="dcterms:W3CDTF">2020-11-03T17:16:52Z</dcterms:created>
  <dcterms:modified xsi:type="dcterms:W3CDTF">2025-11-06T05:52:05Z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